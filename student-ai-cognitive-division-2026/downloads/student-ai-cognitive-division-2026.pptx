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c1fba53bab4c5b" /><Relationship Type="http://schemas.openxmlformats.org/officeDocument/2006/relationships/extended-properties" Target="/docProps/app.xml" Id="Rc4782132eb0b42e5" /><Relationship Type="http://schemas.openxmlformats.org/officeDocument/2006/relationships/officeDocument" Target="/ppt/presentation.xml" Id="Re956962116bb49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c01a63dd7f4fe6"/>
  </p:sldMasterIdLst>
  <p:notesMasterIdLst>
    <p:notesMasterId xmlns:r="http://schemas.openxmlformats.org/officeDocument/2006/relationships" r:id="Ra67df50c482e473f"/>
  </p:notesMasterIdLst>
  <p:sldIdLst>
    <p:sldId xmlns:r="http://schemas.openxmlformats.org/officeDocument/2006/relationships" id="256" r:id="Rcdab0d0146474189"/>
    <p:sldId xmlns:r="http://schemas.openxmlformats.org/officeDocument/2006/relationships" id="257" r:id="Rcca436f0d8c94796"/>
    <p:sldId xmlns:r="http://schemas.openxmlformats.org/officeDocument/2006/relationships" id="258" r:id="R88247ff13cd34d54"/>
    <p:sldId xmlns:r="http://schemas.openxmlformats.org/officeDocument/2006/relationships" id="259" r:id="R37abdda3214445e2"/>
    <p:sldId xmlns:r="http://schemas.openxmlformats.org/officeDocument/2006/relationships" id="260" r:id="Ra8e4e5b3e6824892"/>
    <p:sldId xmlns:r="http://schemas.openxmlformats.org/officeDocument/2006/relationships" id="261" r:id="R10bc129dbe4a44ee"/>
    <p:sldId xmlns:r="http://schemas.openxmlformats.org/officeDocument/2006/relationships" id="262" r:id="R6d58aa7c10f34472"/>
    <p:sldId xmlns:r="http://schemas.openxmlformats.org/officeDocument/2006/relationships" id="263" r:id="R6bcc6395c6cb4add"/>
    <p:sldId xmlns:r="http://schemas.openxmlformats.org/officeDocument/2006/relationships" id="264" r:id="R0ebdb06489704fa2"/>
    <p:sldId xmlns:r="http://schemas.openxmlformats.org/officeDocument/2006/relationships" id="265" r:id="R9651c48f71fb433d"/>
    <p:sldId xmlns:r="http://schemas.openxmlformats.org/officeDocument/2006/relationships" id="266" r:id="R788608b8687c4db4"/>
    <p:sldId xmlns:r="http://schemas.openxmlformats.org/officeDocument/2006/relationships" id="267" r:id="Rd12d3f9df1f74629"/>
    <p:sldId xmlns:r="http://schemas.openxmlformats.org/officeDocument/2006/relationships" id="268" r:id="Ra9bb2c24e31446fe"/>
    <p:sldId xmlns:r="http://schemas.openxmlformats.org/officeDocument/2006/relationships" id="269" r:id="R5785fb5f8f454851"/>
    <p:sldId xmlns:r="http://schemas.openxmlformats.org/officeDocument/2006/relationships" id="270" r:id="R59fe67f4a01e4722"/>
    <p:sldId xmlns:r="http://schemas.openxmlformats.org/officeDocument/2006/relationships" id="271" r:id="R01cbe86dec69409b"/>
    <p:sldId xmlns:r="http://schemas.openxmlformats.org/officeDocument/2006/relationships" id="272" r:id="R14de55520ada4969"/>
    <p:sldId xmlns:r="http://schemas.openxmlformats.org/officeDocument/2006/relationships" id="273" r:id="R74bd2928aaa54a84"/>
    <p:sldId xmlns:r="http://schemas.openxmlformats.org/officeDocument/2006/relationships" id="274" r:id="Re1bf9f54c8b4484c"/>
    <p:sldId xmlns:r="http://schemas.openxmlformats.org/officeDocument/2006/relationships" id="275" r:id="R587213b37d644a73"/>
    <p:sldId xmlns:r="http://schemas.openxmlformats.org/officeDocument/2006/relationships" id="276" r:id="R77fb0c4eebc64d9b"/>
    <p:sldId xmlns:r="http://schemas.openxmlformats.org/officeDocument/2006/relationships" id="277" r:id="R5b787176ad86456f"/>
    <p:sldId xmlns:r="http://schemas.openxmlformats.org/officeDocument/2006/relationships" id="278" r:id="Rd58c860c65674c3b"/>
    <p:sldId xmlns:r="http://schemas.openxmlformats.org/officeDocument/2006/relationships" id="279" r:id="R6251c18a309143cd"/>
    <p:sldId xmlns:r="http://schemas.openxmlformats.org/officeDocument/2006/relationships" id="280" r:id="R9331967df70c4a33"/>
    <p:sldId xmlns:r="http://schemas.openxmlformats.org/officeDocument/2006/relationships" id="281" r:id="R2a92e48ee2be4e4d"/>
    <p:sldId xmlns:r="http://schemas.openxmlformats.org/officeDocument/2006/relationships" id="282" r:id="R4c50bf4c6d6b4b2b"/>
    <p:sldId xmlns:r="http://schemas.openxmlformats.org/officeDocument/2006/relationships" id="283" r:id="R6474a34847594473"/>
    <p:sldId xmlns:r="http://schemas.openxmlformats.org/officeDocument/2006/relationships" id="284" r:id="R7db4f6004c344254"/>
    <p:sldId xmlns:r="http://schemas.openxmlformats.org/officeDocument/2006/relationships" id="285" r:id="R385b648be1cf4863"/>
    <p:sldId xmlns:r="http://schemas.openxmlformats.org/officeDocument/2006/relationships" id="286" r:id="R465032fd42ac4d45"/>
    <p:sldId xmlns:r="http://schemas.openxmlformats.org/officeDocument/2006/relationships" id="287" r:id="Radb2ffb700b34e72"/>
    <p:sldId xmlns:r="http://schemas.openxmlformats.org/officeDocument/2006/relationships" id="288" r:id="R6617804103a94c53"/>
    <p:sldId xmlns:r="http://schemas.openxmlformats.org/officeDocument/2006/relationships" id="289" r:id="Rfc73734b9966467e"/>
    <p:sldId xmlns:r="http://schemas.openxmlformats.org/officeDocument/2006/relationships" id="290" r:id="R902aeb244bd04f0e"/>
    <p:sldId xmlns:r="http://schemas.openxmlformats.org/officeDocument/2006/relationships" id="291" r:id="Re89eb36dd56b427a"/>
    <p:sldId xmlns:r="http://schemas.openxmlformats.org/officeDocument/2006/relationships" id="292" r:id="Rccafe706b4d54270"/>
    <p:sldId xmlns:r="http://schemas.openxmlformats.org/officeDocument/2006/relationships" id="293" r:id="R55ff911325ad4744"/>
    <p:sldId xmlns:r="http://schemas.openxmlformats.org/officeDocument/2006/relationships" id="294" r:id="R215ae1373dac4c9e"/>
    <p:sldId xmlns:r="http://schemas.openxmlformats.org/officeDocument/2006/relationships" id="295" r:id="R155c7683af7b4ca8"/>
    <p:sldId xmlns:r="http://schemas.openxmlformats.org/officeDocument/2006/relationships" id="296" r:id="Rd3592da2ab544fae"/>
    <p:sldId xmlns:r="http://schemas.openxmlformats.org/officeDocument/2006/relationships" id="297" r:id="Re91b464dea404832"/>
    <p:sldId xmlns:r="http://schemas.openxmlformats.org/officeDocument/2006/relationships" id="298" r:id="R54b975ada0ae413b"/>
    <p:sldId xmlns:r="http://schemas.openxmlformats.org/officeDocument/2006/relationships" id="299" r:id="R9f08fef8479647ca"/>
    <p:sldId xmlns:r="http://schemas.openxmlformats.org/officeDocument/2006/relationships" id="300" r:id="R1b6e3575dde4493b"/>
    <p:sldId xmlns:r="http://schemas.openxmlformats.org/officeDocument/2006/relationships" id="301" r:id="R8e38d57ef78c4dbf"/>
    <p:sldId xmlns:r="http://schemas.openxmlformats.org/officeDocument/2006/relationships" id="302" r:id="Re0b78486237742c8"/>
    <p:sldId xmlns:r="http://schemas.openxmlformats.org/officeDocument/2006/relationships" id="303" r:id="Rad71cdc15422434e"/>
    <p:sldId xmlns:r="http://schemas.openxmlformats.org/officeDocument/2006/relationships" id="304" r:id="R067908cdf8be42c8"/>
    <p:sldId xmlns:r="http://schemas.openxmlformats.org/officeDocument/2006/relationships" id="305" r:id="R6ed42c9a99194ae3"/>
    <p:sldId xmlns:r="http://schemas.openxmlformats.org/officeDocument/2006/relationships" id="306" r:id="Rd6b970c0578f4527"/>
    <p:sldId xmlns:r="http://schemas.openxmlformats.org/officeDocument/2006/relationships" id="307" r:id="Rff5d5ef566e64db1"/>
    <p:sldId xmlns:r="http://schemas.openxmlformats.org/officeDocument/2006/relationships" id="308" r:id="R0da655bea41747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0ee69b20b4399" /><Relationship Type="http://schemas.openxmlformats.org/officeDocument/2006/relationships/slideMaster" Target="/ppt/slideMasters/slideMaster1.xml" Id="Rfcc01a63dd7f4fe6" /><Relationship Type="http://schemas.openxmlformats.org/officeDocument/2006/relationships/notesMaster" Target="/ppt/notesMasters/notesMaster1.xml" Id="Ra67df50c482e473f" /><Relationship Type="http://schemas.openxmlformats.org/officeDocument/2006/relationships/presProps" Target="/ppt/presProps.xml" Id="Rdab30dcb092a493c" /><Relationship Type="http://schemas.openxmlformats.org/officeDocument/2006/relationships/viewProps" Target="/ppt/viewProps.xml" Id="R3b51867112284cef" /><Relationship Type="http://schemas.openxmlformats.org/officeDocument/2006/relationships/tableStyles" Target="/ppt/tableStyles.xml" Id="Rbff9eac0f51048b1" /><Relationship Type="http://schemas.openxmlformats.org/officeDocument/2006/relationships/slide" Target="/ppt/slides/slide1.xml" Id="Rcdab0d0146474189" /><Relationship Type="http://schemas.openxmlformats.org/officeDocument/2006/relationships/slide" Target="/ppt/slides/slide2.xml" Id="Rcca436f0d8c94796" /><Relationship Type="http://schemas.openxmlformats.org/officeDocument/2006/relationships/slide" Target="/ppt/slides/slide3.xml" Id="R88247ff13cd34d54" /><Relationship Type="http://schemas.openxmlformats.org/officeDocument/2006/relationships/slide" Target="/ppt/slides/slide4.xml" Id="R37abdda3214445e2" /><Relationship Type="http://schemas.openxmlformats.org/officeDocument/2006/relationships/slide" Target="/ppt/slides/slide5.xml" Id="Ra8e4e5b3e6824892" /><Relationship Type="http://schemas.openxmlformats.org/officeDocument/2006/relationships/slide" Target="/ppt/slides/slide6.xml" Id="R10bc129dbe4a44ee" /><Relationship Type="http://schemas.openxmlformats.org/officeDocument/2006/relationships/slide" Target="/ppt/slides/slide7.xml" Id="R6d58aa7c10f34472" /><Relationship Type="http://schemas.openxmlformats.org/officeDocument/2006/relationships/slide" Target="/ppt/slides/slide8.xml" Id="R6bcc6395c6cb4add" /><Relationship Type="http://schemas.openxmlformats.org/officeDocument/2006/relationships/slide" Target="/ppt/slides/slide9.xml" Id="R0ebdb06489704fa2" /><Relationship Type="http://schemas.openxmlformats.org/officeDocument/2006/relationships/slide" Target="/ppt/slides/slide10.xml" Id="R9651c48f71fb433d" /><Relationship Type="http://schemas.openxmlformats.org/officeDocument/2006/relationships/slide" Target="/ppt/slides/slide11.xml" Id="R788608b8687c4db4" /><Relationship Type="http://schemas.openxmlformats.org/officeDocument/2006/relationships/slide" Target="/ppt/slides/slide12.xml" Id="Rd12d3f9df1f74629" /><Relationship Type="http://schemas.openxmlformats.org/officeDocument/2006/relationships/slide" Target="/ppt/slides/slide13.xml" Id="Ra9bb2c24e31446fe" /><Relationship Type="http://schemas.openxmlformats.org/officeDocument/2006/relationships/slide" Target="/ppt/slides/slide14.xml" Id="R5785fb5f8f454851" /><Relationship Type="http://schemas.openxmlformats.org/officeDocument/2006/relationships/slide" Target="/ppt/slides/slide15.xml" Id="R59fe67f4a01e4722" /><Relationship Type="http://schemas.openxmlformats.org/officeDocument/2006/relationships/slide" Target="/ppt/slides/slide16.xml" Id="R01cbe86dec69409b" /><Relationship Type="http://schemas.openxmlformats.org/officeDocument/2006/relationships/slide" Target="/ppt/slides/slide17.xml" Id="R14de55520ada4969" /><Relationship Type="http://schemas.openxmlformats.org/officeDocument/2006/relationships/slide" Target="/ppt/slides/slide18.xml" Id="R74bd2928aaa54a84" /><Relationship Type="http://schemas.openxmlformats.org/officeDocument/2006/relationships/slide" Target="/ppt/slides/slide19.xml" Id="Re1bf9f54c8b4484c" /><Relationship Type="http://schemas.openxmlformats.org/officeDocument/2006/relationships/slide" Target="/ppt/slides/slide20.xml" Id="R587213b37d644a73" /><Relationship Type="http://schemas.openxmlformats.org/officeDocument/2006/relationships/slide" Target="/ppt/slides/slide21.xml" Id="R77fb0c4eebc64d9b" /><Relationship Type="http://schemas.openxmlformats.org/officeDocument/2006/relationships/slide" Target="/ppt/slides/slide22.xml" Id="R5b787176ad86456f" /><Relationship Type="http://schemas.openxmlformats.org/officeDocument/2006/relationships/slide" Target="/ppt/slides/slide23.xml" Id="Rd58c860c65674c3b" /><Relationship Type="http://schemas.openxmlformats.org/officeDocument/2006/relationships/slide" Target="/ppt/slides/slide24.xml" Id="R6251c18a309143cd" /><Relationship Type="http://schemas.openxmlformats.org/officeDocument/2006/relationships/slide" Target="/ppt/slides/slide25.xml" Id="R9331967df70c4a33" /><Relationship Type="http://schemas.openxmlformats.org/officeDocument/2006/relationships/slide" Target="/ppt/slides/slide26.xml" Id="R2a92e48ee2be4e4d" /><Relationship Type="http://schemas.openxmlformats.org/officeDocument/2006/relationships/slide" Target="/ppt/slides/slide27.xml" Id="R4c50bf4c6d6b4b2b" /><Relationship Type="http://schemas.openxmlformats.org/officeDocument/2006/relationships/slide" Target="/ppt/slides/slide28.xml" Id="R6474a34847594473" /><Relationship Type="http://schemas.openxmlformats.org/officeDocument/2006/relationships/slide" Target="/ppt/slides/slide29.xml" Id="R7db4f6004c344254" /><Relationship Type="http://schemas.openxmlformats.org/officeDocument/2006/relationships/slide" Target="/ppt/slides/slide30.xml" Id="R385b648be1cf4863" /><Relationship Type="http://schemas.openxmlformats.org/officeDocument/2006/relationships/slide" Target="/ppt/slides/slide31.xml" Id="R465032fd42ac4d45" /><Relationship Type="http://schemas.openxmlformats.org/officeDocument/2006/relationships/slide" Target="/ppt/slides/slide32.xml" Id="Radb2ffb700b34e72" /><Relationship Type="http://schemas.openxmlformats.org/officeDocument/2006/relationships/slide" Target="/ppt/slides/slide33.xml" Id="R6617804103a94c53" /><Relationship Type="http://schemas.openxmlformats.org/officeDocument/2006/relationships/slide" Target="/ppt/slides/slide34.xml" Id="Rfc73734b9966467e" /><Relationship Type="http://schemas.openxmlformats.org/officeDocument/2006/relationships/slide" Target="/ppt/slides/slide35.xml" Id="R902aeb244bd04f0e" /><Relationship Type="http://schemas.openxmlformats.org/officeDocument/2006/relationships/slide" Target="/ppt/slides/slide36.xml" Id="Re89eb36dd56b427a" /><Relationship Type="http://schemas.openxmlformats.org/officeDocument/2006/relationships/slide" Target="/ppt/slides/slide37.xml" Id="Rccafe706b4d54270" /><Relationship Type="http://schemas.openxmlformats.org/officeDocument/2006/relationships/slide" Target="/ppt/slides/slide38.xml" Id="R55ff911325ad4744" /><Relationship Type="http://schemas.openxmlformats.org/officeDocument/2006/relationships/slide" Target="/ppt/slides/slide39.xml" Id="R215ae1373dac4c9e" /><Relationship Type="http://schemas.openxmlformats.org/officeDocument/2006/relationships/slide" Target="/ppt/slides/slide40.xml" Id="R155c7683af7b4ca8" /><Relationship Type="http://schemas.openxmlformats.org/officeDocument/2006/relationships/slide" Target="/ppt/slides/slide41.xml" Id="Rd3592da2ab544fae" /><Relationship Type="http://schemas.openxmlformats.org/officeDocument/2006/relationships/slide" Target="/ppt/slides/slide42.xml" Id="Re91b464dea404832" /><Relationship Type="http://schemas.openxmlformats.org/officeDocument/2006/relationships/slide" Target="/ppt/slides/slide43.xml" Id="R54b975ada0ae413b" /><Relationship Type="http://schemas.openxmlformats.org/officeDocument/2006/relationships/slide" Target="/ppt/slides/slide44.xml" Id="R9f08fef8479647ca" /><Relationship Type="http://schemas.openxmlformats.org/officeDocument/2006/relationships/slide" Target="/ppt/slides/slide45.xml" Id="R1b6e3575dde4493b" /><Relationship Type="http://schemas.openxmlformats.org/officeDocument/2006/relationships/slide" Target="/ppt/slides/slide46.xml" Id="R8e38d57ef78c4dbf" /><Relationship Type="http://schemas.openxmlformats.org/officeDocument/2006/relationships/slide" Target="/ppt/slides/slide47.xml" Id="Re0b78486237742c8" /><Relationship Type="http://schemas.openxmlformats.org/officeDocument/2006/relationships/slide" Target="/ppt/slides/slide48.xml" Id="Rad71cdc15422434e" /><Relationship Type="http://schemas.openxmlformats.org/officeDocument/2006/relationships/slide" Target="/ppt/slides/slide49.xml" Id="R067908cdf8be42c8" /><Relationship Type="http://schemas.openxmlformats.org/officeDocument/2006/relationships/slide" Target="/ppt/slides/slide50.xml" Id="R6ed42c9a99194ae3" /><Relationship Type="http://schemas.openxmlformats.org/officeDocument/2006/relationships/slide" Target="/ppt/slides/slide51.xml" Id="Rd6b970c0578f4527" /><Relationship Type="http://schemas.openxmlformats.org/officeDocument/2006/relationships/slide" Target="/ppt/slides/slide52.xml" Id="Rff5d5ef566e64db1" /><Relationship Type="http://schemas.openxmlformats.org/officeDocument/2006/relationships/slide" Target="/ppt/slides/slide53.xml" Id="R0da655bea41747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21f7dd56e44d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ccf5293a204e6f" /><Relationship Type="http://schemas.openxmlformats.org/officeDocument/2006/relationships/notesMaster" Target="/ppt/notesMasters/notesMaster1.xml" Id="R8a29bcd44baf45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f227c733344277" /><Relationship Type="http://schemas.openxmlformats.org/officeDocument/2006/relationships/notesMaster" Target="/ppt/notesMasters/notesMaster1.xml" Id="R0968c7f2279c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81f181f2747af" /><Relationship Type="http://schemas.openxmlformats.org/officeDocument/2006/relationships/notesMaster" Target="/ppt/notesMasters/notesMaster1.xml" Id="Rdf2b9fe6dd71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9abc97056340d8" /><Relationship Type="http://schemas.openxmlformats.org/officeDocument/2006/relationships/notesMaster" Target="/ppt/notesMasters/notesMaster1.xml" Id="R2bc85af3a36f45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08070c8d6a4cd9" /><Relationship Type="http://schemas.openxmlformats.org/officeDocument/2006/relationships/notesMaster" Target="/ppt/notesMasters/notesMaster1.xml" Id="R21f7e5d15742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d1d3b1cd744b9" /><Relationship Type="http://schemas.openxmlformats.org/officeDocument/2006/relationships/notesMaster" Target="/ppt/notesMasters/notesMaster1.xml" Id="R468d0295974a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401e2f8c6a4c2d" /><Relationship Type="http://schemas.openxmlformats.org/officeDocument/2006/relationships/notesMaster" Target="/ppt/notesMasters/notesMaster1.xml" Id="R0b22687788b643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d42e962ed247ac" /><Relationship Type="http://schemas.openxmlformats.org/officeDocument/2006/relationships/notesMaster" Target="/ppt/notesMasters/notesMaster1.xml" Id="R46b5bbcb9ff44b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cf015bd26a4ffa" /><Relationship Type="http://schemas.openxmlformats.org/officeDocument/2006/relationships/notesMaster" Target="/ppt/notesMasters/notesMaster1.xml" Id="Rbad96cba446340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2e961c6cda407d" /><Relationship Type="http://schemas.openxmlformats.org/officeDocument/2006/relationships/notesMaster" Target="/ppt/notesMasters/notesMaster1.xml" Id="Rd8f41942fd9743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a2fd2bf9846d6" /><Relationship Type="http://schemas.openxmlformats.org/officeDocument/2006/relationships/notesMaster" Target="/ppt/notesMasters/notesMaster1.xml" Id="R4bf5508c2f9f41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299175db44410b" /><Relationship Type="http://schemas.openxmlformats.org/officeDocument/2006/relationships/notesMaster" Target="/ppt/notesMasters/notesMaster1.xml" Id="R7d8b3c4433284d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8f6c9b42a343fd" /><Relationship Type="http://schemas.openxmlformats.org/officeDocument/2006/relationships/notesMaster" Target="/ppt/notesMasters/notesMaster1.xml" Id="R126535d7ae5d42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65260816da4a43" /><Relationship Type="http://schemas.openxmlformats.org/officeDocument/2006/relationships/notesMaster" Target="/ppt/notesMasters/notesMaster1.xml" Id="Rcd05a8c1eb0f48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4170155f58416a" /><Relationship Type="http://schemas.openxmlformats.org/officeDocument/2006/relationships/notesMaster" Target="/ppt/notesMasters/notesMaster1.xml" Id="Rb6d5ad246fc448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e25fea5072460e" /><Relationship Type="http://schemas.openxmlformats.org/officeDocument/2006/relationships/notesMaster" Target="/ppt/notesMasters/notesMaster1.xml" Id="R8a49a564ed5345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022225cc3541ba" /><Relationship Type="http://schemas.openxmlformats.org/officeDocument/2006/relationships/notesMaster" Target="/ppt/notesMasters/notesMaster1.xml" Id="R10a7170cf39940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8e39899fd04722" /><Relationship Type="http://schemas.openxmlformats.org/officeDocument/2006/relationships/notesMaster" Target="/ppt/notesMasters/notesMaster1.xml" Id="Rf6504a7ce17f4f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3be71a38d7493b" /><Relationship Type="http://schemas.openxmlformats.org/officeDocument/2006/relationships/notesMaster" Target="/ppt/notesMasters/notesMaster1.xml" Id="R8f8828e01d464e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6224108bd9416b" /><Relationship Type="http://schemas.openxmlformats.org/officeDocument/2006/relationships/notesMaster" Target="/ppt/notesMasters/notesMaster1.xml" Id="R3f3dc4180a7049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dfd0b9f0ee4c04" /><Relationship Type="http://schemas.openxmlformats.org/officeDocument/2006/relationships/notesMaster" Target="/ppt/notesMasters/notesMaster1.xml" Id="Rea0f8aac28c14c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c8b5fc68424ef6" /><Relationship Type="http://schemas.openxmlformats.org/officeDocument/2006/relationships/notesMaster" Target="/ppt/notesMasters/notesMaster1.xml" Id="R53928297792d493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d1f0dec1d44eb0" /><Relationship Type="http://schemas.openxmlformats.org/officeDocument/2006/relationships/notesMaster" Target="/ppt/notesMasters/notesMaster1.xml" Id="Rf4287203831740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5fbe8032ae4316" /><Relationship Type="http://schemas.openxmlformats.org/officeDocument/2006/relationships/notesMaster" Target="/ppt/notesMasters/notesMaster1.xml" Id="R7619893a24b8471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6c7ff4ecae4e32" /><Relationship Type="http://schemas.openxmlformats.org/officeDocument/2006/relationships/notesMaster" Target="/ppt/notesMasters/notesMaster1.xml" Id="Rb64bfb5e72c14ed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3c221a3a694b70" /><Relationship Type="http://schemas.openxmlformats.org/officeDocument/2006/relationships/notesMaster" Target="/ppt/notesMasters/notesMaster1.xml" Id="R2a57cc61cf3d466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82758936654e0f" /><Relationship Type="http://schemas.openxmlformats.org/officeDocument/2006/relationships/notesMaster" Target="/ppt/notesMasters/notesMaster1.xml" Id="R04530c233cb44e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8d430df3d2467f" /><Relationship Type="http://schemas.openxmlformats.org/officeDocument/2006/relationships/notesMaster" Target="/ppt/notesMasters/notesMaster1.xml" Id="Rd89fd6cdaf1e4e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7d2ab04ff54a9c" /><Relationship Type="http://schemas.openxmlformats.org/officeDocument/2006/relationships/notesMaster" Target="/ppt/notesMasters/notesMaster1.xml" Id="R349c298a21a54af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0d04881a494e8b" /><Relationship Type="http://schemas.openxmlformats.org/officeDocument/2006/relationships/notesMaster" Target="/ppt/notesMasters/notesMaster1.xml" Id="R0ccb0a3cf0ab4d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27e2abd51e4704" /><Relationship Type="http://schemas.openxmlformats.org/officeDocument/2006/relationships/notesMaster" Target="/ppt/notesMasters/notesMaster1.xml" Id="Rb79d4d9fa4e94d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8240e6d34b540e5" /><Relationship Type="http://schemas.openxmlformats.org/officeDocument/2006/relationships/notesMaster" Target="/ppt/notesMasters/notesMaster1.xml" Id="R1ac33af8dd2c448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d979d4ed1604808" /><Relationship Type="http://schemas.openxmlformats.org/officeDocument/2006/relationships/notesMaster" Target="/ppt/notesMasters/notesMaster1.xml" Id="R35dd1285135c45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83ccdcfe84242fd" /><Relationship Type="http://schemas.openxmlformats.org/officeDocument/2006/relationships/notesMaster" Target="/ppt/notesMasters/notesMaster1.xml" Id="Ra44b52f7f48646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354d12a0fb4fcf" /><Relationship Type="http://schemas.openxmlformats.org/officeDocument/2006/relationships/notesMaster" Target="/ppt/notesMasters/notesMaster1.xml" Id="R95f51263e7c04d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adce100b3a643fe" /><Relationship Type="http://schemas.openxmlformats.org/officeDocument/2006/relationships/notesMaster" Target="/ppt/notesMasters/notesMaster1.xml" Id="R9584d476227d4b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2e7d64e15784156" /><Relationship Type="http://schemas.openxmlformats.org/officeDocument/2006/relationships/notesMaster" Target="/ppt/notesMasters/notesMaster1.xml" Id="R99e55e74e61d4d4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ed74785cc8e4ec1" /><Relationship Type="http://schemas.openxmlformats.org/officeDocument/2006/relationships/notesMaster" Target="/ppt/notesMasters/notesMaster1.xml" Id="Rcf987f208b7f4b6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1042f130ae64083" /><Relationship Type="http://schemas.openxmlformats.org/officeDocument/2006/relationships/notesMaster" Target="/ppt/notesMasters/notesMaster1.xml" Id="Red81451f2bea43c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7e6b00be6bb4344" /><Relationship Type="http://schemas.openxmlformats.org/officeDocument/2006/relationships/notesMaster" Target="/ppt/notesMasters/notesMaster1.xml" Id="Rfeec1db9d3e54d1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d9f27cbccd40b5" /><Relationship Type="http://schemas.openxmlformats.org/officeDocument/2006/relationships/notesMaster" Target="/ppt/notesMasters/notesMaster1.xml" Id="Ra1f5afe818b5487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994054d8bce479a" /><Relationship Type="http://schemas.openxmlformats.org/officeDocument/2006/relationships/notesMaster" Target="/ppt/notesMasters/notesMaster1.xml" Id="R966510fe84e84ab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474cd1ce0614c90" /><Relationship Type="http://schemas.openxmlformats.org/officeDocument/2006/relationships/notesMaster" Target="/ppt/notesMasters/notesMaster1.xml" Id="R271db0e1024147a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551b5ff3dc14472" /><Relationship Type="http://schemas.openxmlformats.org/officeDocument/2006/relationships/notesMaster" Target="/ppt/notesMasters/notesMaster1.xml" Id="Red81d2243fb1405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f221b6a97204bc8" /><Relationship Type="http://schemas.openxmlformats.org/officeDocument/2006/relationships/notesMaster" Target="/ppt/notesMasters/notesMaster1.xml" Id="R136ef8f3c3cc4e1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a028b33de64498d" /><Relationship Type="http://schemas.openxmlformats.org/officeDocument/2006/relationships/notesMaster" Target="/ppt/notesMasters/notesMaster1.xml" Id="R6a10c44db377472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54b5d252d264a2a" /><Relationship Type="http://schemas.openxmlformats.org/officeDocument/2006/relationships/notesMaster" Target="/ppt/notesMasters/notesMaster1.xml" Id="Rf491f95ab092489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7acde8fa5424e59" /><Relationship Type="http://schemas.openxmlformats.org/officeDocument/2006/relationships/notesMaster" Target="/ppt/notesMasters/notesMaster1.xml" Id="R10ccc871987f479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a905e2c8f324c7f" /><Relationship Type="http://schemas.openxmlformats.org/officeDocument/2006/relationships/notesMaster" Target="/ppt/notesMasters/notesMaster1.xml" Id="R2ee5f75dfa4549c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84bf6bbe6374263" /><Relationship Type="http://schemas.openxmlformats.org/officeDocument/2006/relationships/notesMaster" Target="/ppt/notesMasters/notesMaster1.xml" Id="Ra0d2edee633542b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0416af7077b433b" /><Relationship Type="http://schemas.openxmlformats.org/officeDocument/2006/relationships/notesMaster" Target="/ppt/notesMasters/notesMaster1.xml" Id="R4b8e765f0671407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c4324935d3f4e06" /><Relationship Type="http://schemas.openxmlformats.org/officeDocument/2006/relationships/notesMaster" Target="/ppt/notesMasters/notesMaster1.xml" Id="R5744dda101a34cc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7af7e4de7bc417a" /><Relationship Type="http://schemas.openxmlformats.org/officeDocument/2006/relationships/notesMaster" Target="/ppt/notesMasters/notesMaster1.xml" Id="R7365649355f44c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开场提出讲座的主要判断：原型生产门槛下降后，教育工作的重心更多落在目标、判断与责任上。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章节封面：当“做出来”不再困难。从家庭学习原型、教师共创到个人AI团队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作者判断与本页内容整理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以教师提出的具体问题作为讲座起点。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/Users/tonyxin/Downloads/深技大教学楼.txt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三个案例共同说明价值位置随生产条件变化而移动。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案例来自家庭教育需要，截图呈现产品当前界面与功能组织。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  <a:p xmlns:a="http://schemas.openxmlformats.org/drawingml/2006/main">
            <a:r>
              <a:t>- /Users/tonyxin/Documents/Codex/2026-08-26/ai-45-ppt-pptx/work/v2/assets/yoyo-english-tutor.png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本页区分系统执行能力与人的教育责任。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三张照片分别记录教师共创、机房实践和学科调试。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/Users/tonyxin/Documents/Codex/2026-08-26/ai-45-ppt-pptx/work/v2/assets/pingshan-training.png</a:t>
            </a:r>
            <a:endParaRPr/>
          </a:p>
          <a:p xmlns:a="http://schemas.openxmlformats.org/drawingml/2006/main">
            <a:r>
              <a:t>- /Users/tonyxin/Documents/Codex/2026-08-26/ai-45-ppt-pptx/work/v2/assets/teacher-creators.jpeg</a:t>
            </a:r>
            <a:endParaRPr/>
          </a:p>
          <a:p xmlns:a="http://schemas.openxmlformats.org/drawingml/2006/main">
            <a:r>
              <a:t>- /Users/tonyxin/Documents/Codex/2026-08-26/ai-45-ppt-pptx/work/v2/assets/it-training.jpeg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左侧为UNESCO Digital Learning Week 2026邀请函，右侧为2026年8月27日抓取的法语申报支持页。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/Users/tonyxin/Documents/Codex/2026-08-26/ai-45-ppt-pptx/work/v2/assets/unesco-invitation.jpg</a:t>
            </a:r>
            <a:endParaRPr/>
          </a:p>
          <a:p xmlns:a="http://schemas.openxmlformats.org/drawingml/2006/main">
            <a:r>
              <a:t>- https://cocorobo.hk/unesco2026/teacher/#fr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Speaking Lab是英语演讲练习原型。截图证明功能与界面状态，不作为英语学习效果证据。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/Users/tonyxin/Documents/Codex/2026-08-25/speaking-lab/evidence/</a:t>
            </a:r>
            <a:endParaRPr/>
          </a:p>
          <a:p xmlns:a="http://schemas.openxmlformats.org/drawingml/2006/main">
            <a:r>
              <a:t>- https://www.moe.gov.cn/srcsite/A26/s8001/202204/t20220420_619921.html</a:t>
            </a:r>
            <a:endParaRPr/>
          </a:p>
          <a:p xmlns:a="http://schemas.openxmlformats.org/drawingml/2006/main">
            <a:r>
              <a:t>- https://www.moe.gov.cn/jyb_xxgk/xxgk_jyta/jyta_jiaocaiju/202209/t20220923_664174.html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该过程可概括为问题界定、规则表达、证据观察和持续修订。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https://cocorobo.hk/unesco2026/teacher/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这里的AI团队指按任务类型分工的一组AI角色。四个工作空间保留各自的项目范围、上下文和检查机制。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/Users/tonyxin/Documents/Codex/2026-08-09/ni-ke-y/agent-os/tasks/completed/upgrade-agentos-dashboard-system-v0.1/evidence/team-mission-control-desktop.png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四类工作空间对应研究与内容、软件开发、设计体验和商业策略。它们可以承担前期工作，但不能自行替代人的采用决定和外部行动授权。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/Users/tonyxin/Documents/Codex/2026-08-09/ni-ke-y/agent-os/tasks/completed/upgrade-agentos-dashboard-system-v0.1/evidence/team-mission-control-desktop.png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曲线表示任务结构变化。所谓前端与后端，分别指生成之前的问题选择，以及生成之后的核验、采用、维护和责任承担。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本部分的结论是：制作能力扩大并未减少人的工作，而是提高了问题选择、资源配置、交接核查和结果责任的重要性。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章节封面：未来人才的核心能力。学科深度、完整任务与认知责任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作者判断与本页内容整理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照片与书封来自作者文章导出的PDF，本页用于说明建构论的历史主张。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/Users/tonyxin/Downloads/当原型不再稀缺：GenAI 时代，重新“读懂”帕佩特与建构论.pdf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保留“稀缺性迁移”这一概念，同时用课堂可理解的语言说明：生产门槛下降后，判断、取舍、署名与责任的相对重要性上升。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/Users/tonyxin/Downloads/当原型不再稀缺：GenAI 时代，重新“读懂”帕佩特与建构论.pdf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本页区分作品完成与能力形成。语文学科例子用于说明，作品质量提高不等于立意、论证和作者声音已经发展。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/Users/tonyxin/Downloads/当原型不再稀缺：GenAI 时代，重新“读懂”帕佩特与建构论.pdf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任务条件的变化具体表现为意图形成、核验比较、完整表达和共同负责。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该判断回应培训现场美术与语文教师提出的问题。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/Users/tonyxin/Downloads/深技大教学楼.txt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这里的完整任务能力包括目标形成、执行交接、结果核验与责任承担，提示词只是其中一种操作手段。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这些能力与资源配置、行动启动和停止条件直接相关。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/Users/tonyxin/Downloads/博汇集团_AI时代教育集团如何培养人组织工作_WorkflowPortfolio与AgenticAI实践_2026-08-26.pptx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三层能力分别回答：凭什么判断、怎样完成复杂任务，以及由谁决定和负责。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章节封面：领域进展与我们的研究。从即时效果转向学习系统的组织方式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作者判断与本页内容整理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六类问题为后续案例提供共同的分析框架。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  <a:p xmlns:a="http://schemas.openxmlformats.org/drawingml/2006/main">
            <a:r>
              <a:t>- https://cocorobo.cn/research/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本页从学习证据、教师与学校、协作与实践三个层面概括研究问题的变化。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共同备课、低风险试用、数据边界和持续技术支持构成基本条件。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Lumilo等研究可用于说明信息聚合与教师注意分配之间的关系。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教师工作包括目标管理、过程编排、证据解释和边界设置。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AI-TPACK在本研究中指教师把学科内容、教学方法和AI功能放在同一项课堂设计中处理。结论适用于本项目的教师样本与设计任务。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https://cocorobo.cn/research/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理论名称予以保留，同时说明它们在本研究中的解释范围。研究将持续使用问题放在技术、规则、时间和协作结构中解释。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https://cocorobo.cn/research/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该循环将培训产出与课堂活动、学生证据和同伴审议连接起来。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/Users/tonyxin/Downloads/深技大教学楼.txt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本页从个性化对象和决定权主体两个维度分解概念。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三条传统分别强调效率、学习者发展和动态生成，并形成不同的价值取向。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三个概念分别约束支持位置、学习者自我管理和基本心理需要。数学例子说明，支持的目标是独立完成而不是持续依赖提示。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本页保留认知主权概念，并将其解释为学习者保留目标权、判断权、解释权和拒绝权。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  <a:p xmlns:a="http://schemas.openxmlformats.org/drawingml/2006/main">
            <a:r>
              <a:t>- /Users/tonyxin/Downloads/Beyond the Personalization Paradox ACM SUBMISSION named.docx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样本、测量、支架撤除和外推范围构成研究阅读的基本检查项。英语演讲例子说明即时作品质量与独立能力需要分开测量。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三个维度分别检查目标窄化、决策权配置和学习活动替代。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/Users/tonyxin/Downloads/Beyond the Personalization Paradox ACM SUBMISSION named.docx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共同调节要求成员共同规划、监控进展、协商分歧并承担责任；多人分别使用工具并不能自动形成共同调节。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社会性学习包含向同伴解释、提出异议、协调分歧和共同负责。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三个阶段分别涉及共享空间、社会共享调节和多智能体支持机制。MIRACLE是项目名称，不将架构本身表述为已经普遍验证的学习效果。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https://cocorobo.cn/research/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2025研究报告协作结果，2026 MIRACLE论文主要讨论架构与设计机制。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/Users/tonyxin/Documents/Codex/2026-08-10/referenced-chatgpt-conversation-this-is-an/work/slides-ainative2-v5/ai-native-learning-research-0715/assets/awards.png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本部分的共同判断是：AI教育研究需要同时观察学习活动、教师编排、决策权配置和协作结构。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/Users/tonyxin/Downloads/携手之外：国际学习科学年会（ISLS） 2026 的五条主线.pdf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章节封面：课堂上的可为与不可为。按学习目标、介入时机和学习证据配置AI角色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作者判断与本页内容整理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学生、同伴、AI系统和教师分别承担不同的认知活动与责任。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  <a:p xmlns:a="http://schemas.openxmlformats.org/drawingml/2006/main">
            <a:r>
              <a:t>- /Users/tonyxin/Downloads/Beyond the Personalization Paradox ACM SUBMISSION named.docx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生成性努力指学习者为形成解释、判断和策略而必须经历的认知活动。它不同于可以减少的机械操作负担。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六个阶段沿用综合实践活动框架。科学课例说明，系统介入位置应由该阶段需要形成的核心素养决定。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方案质疑员可迁移到需要保留学生决策权的学科任务。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ICAP用于区分接受、操作、形成新解释和基于彼此观点共同建构。语文例子用于说明互动质量不能由对话轮数替代。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https://doi.org/10.1080/00461520.2014.965823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系统角色接近关键判断时，需要明确权限、复核方式和撤除条件。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/Users/tonyxin/Downloads/个性化学习讲座 完整版 54页-1.pptx</a:t>
            </a:r>
            <a:endParaRPr/>
          </a:p>
          <a:p xmlns:a="http://schemas.openxmlformats.org/drawingml/2006/main">
            <a:r>
              <a:t>- /Users/tonyxin/Downloads/AERA 2026 AI教育研究专业解读：给学校、教师与家长的启示.pdf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独立迁移指撤除原有支持后，学习者能够在新的任务或情境中运用已经形成的能力。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本页依据义务教育课程方案和相关学科课程标准，将AI介入方式与学科核心素养对应。综合实践一行采用课程方案中的真实问题解决、跨学科实践和责任要求，不作为独立学科核心素养名称。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/Users/tonyxin/Downloads/深技大教学楼.txt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  <a:p xmlns:a="http://schemas.openxmlformats.org/drawingml/2006/main">
            <a:r>
              <a:t>- https://www.moe.gov.cn/srcsite/A26/s8001/202204/t20220420_619921.html</a:t>
            </a:r>
            <a:endParaRPr/>
          </a:p>
          <a:p xmlns:a="http://schemas.openxmlformats.org/drawingml/2006/main">
            <a:r>
              <a:t>- https://www.moe.gov.cn/srcsite/A26/s8001/202204/W020220420582346895190.pdf</a:t>
            </a:r>
            <a:endParaRPr/>
          </a:p>
          <a:p xmlns:a="http://schemas.openxmlformats.org/drawingml/2006/main">
            <a:r>
              <a:t>- https://www.moe.gov.cn/srcsite/A26/s8001/202204/W020220420582354066450.pdf</a:t>
            </a:r>
            <a:endParaRPr/>
          </a:p>
          <a:p xmlns:a="http://schemas.openxmlformats.org/drawingml/2006/main">
            <a:r>
              <a:t>- https://www.moe.gov.cn/srcsite/A29/202501/t20250122_1176589.html</a:t>
            </a:r>
            <a:endParaRPr/>
          </a:p>
          <a:p xmlns:a="http://schemas.openxmlformats.org/drawingml/2006/main">
            <a:r>
              <a:t>- https://www.moe.gov.cn/fbh/live/2022/54382/twwd/202204/t20220421_620224.html</a:t>
            </a:r>
            <a:endParaRPr/>
          </a:p>
          <a:p xmlns:a="http://schemas.openxmlformats.org/drawingml/2006/main">
            <a:r>
              <a:t>- https://www.moe.gov.cn/jyb_xxgk/xxgk_jyta/jyta_jiaocaiju/202209/t20220923_664174.html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结论回到课程标准的素养导向，并衔接下午工作坊。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/Users/tonyxin/Documents/Codex/2026-08-22/https-github-com-tonyxinvip-slides-https/outputs/做中学与综合实践活动-专业语体修订版.pptx</a:t>
            </a:r>
            <a:endParaRPr/>
          </a:p>
          <a:p xmlns:a="http://schemas.openxmlformats.org/drawingml/2006/main">
            <a:r>
              <a:t>- /Users/tonyxin/Downloads/Beyond the Personalization Paradox ACM SUBMISSION named.docx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d06a5ea6247f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efe181cd4f4012" /><Relationship Type="http://schemas.openxmlformats.org/officeDocument/2006/relationships/slideLayout" Target="/ppt/slideLayouts/slideLayout1.xml" Id="R7e2e715eff964ab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2e715eff964ab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ee4f65bf34b4c" /><Relationship Type="http://schemas.openxmlformats.org/officeDocument/2006/relationships/notesSlide" Target="/ppt/notesSlides/notesSlide1.xml" Id="R8612be644a1a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ab0062def46e7" /><Relationship Type="http://schemas.openxmlformats.org/officeDocument/2006/relationships/notesSlide" Target="/ppt/notesSlides/notesSlide2.xml" Id="Re21488b7ca6248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805a443944894" /><Relationship Type="http://schemas.openxmlformats.org/officeDocument/2006/relationships/notesSlide" Target="/ppt/notesSlides/notesSlide3.xml" Id="Rb6597529bf9e4d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5b8dda73544e0" /><Relationship Type="http://schemas.openxmlformats.org/officeDocument/2006/relationships/notesSlide" Target="/ppt/notesSlides/notesSlide4.xml" Id="R78da98e470e3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897bed13e47c9" /><Relationship Type="http://schemas.openxmlformats.org/officeDocument/2006/relationships/image" Target="/ppt/media/image.png" Id="R980b5d9f7e6d4298" /><Relationship Type="http://schemas.openxmlformats.org/officeDocument/2006/relationships/hyperlink" Target="https://codex-2-4n8yzjf32-cocorobo.vercel.app/" TargetMode="External" Id="Recdd36b347a74c53" /><Relationship Type="http://schemas.openxmlformats.org/officeDocument/2006/relationships/notesSlide" Target="/ppt/notesSlides/notesSlide5.xml" Id="R004a290bfa844a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db2d5dc1742b4" /><Relationship Type="http://schemas.openxmlformats.org/officeDocument/2006/relationships/notesSlide" Target="/ppt/notesSlides/notesSlide6.xml" Id="Re9c2a8f83095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a5a74c4e24ec4" /><Relationship Type="http://schemas.openxmlformats.org/officeDocument/2006/relationships/image" Target="/ppt/media/image2.png" Id="R3addace93b9d4cdc" /><Relationship Type="http://schemas.openxmlformats.org/officeDocument/2006/relationships/notesSlide" Target="/ppt/notesSlides/notesSlide7.xml" Id="Rd459e45cd45640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d72acfd564244" /><Relationship Type="http://schemas.openxmlformats.org/officeDocument/2006/relationships/image" Target="/ppt/media/image3.png" Id="R5bbd816bc7bd422b" /><Relationship Type="http://schemas.openxmlformats.org/officeDocument/2006/relationships/notesSlide" Target="/ppt/notesSlides/notesSlide8.xml" Id="Rc2ed8237c1ef46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252ec1ab94e71" /><Relationship Type="http://schemas.openxmlformats.org/officeDocument/2006/relationships/image" Target="/ppt/media/image4.png" Id="R0dc287e70e6747c7" /><Relationship Type="http://schemas.openxmlformats.org/officeDocument/2006/relationships/hyperlink" Target="https://speaking-9wnc88nmj-cocorobo.vercel.app/demo" TargetMode="External" Id="R8dcdda035eaf4cad" /><Relationship Type="http://schemas.openxmlformats.org/officeDocument/2006/relationships/notesSlide" Target="/ppt/notesSlides/notesSlide9.xml" Id="R981082521c6f40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8b35eb1fd41b2" /><Relationship Type="http://schemas.openxmlformats.org/officeDocument/2006/relationships/notesSlide" Target="/ppt/notesSlides/notesSlide10.xml" Id="Rd8b86f58d1f14e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0ce6430444eb6" /><Relationship Type="http://schemas.openxmlformats.org/officeDocument/2006/relationships/image" Target="/ppt/media/image5.png" Id="Rd99633217a014548" /><Relationship Type="http://schemas.openxmlformats.org/officeDocument/2006/relationships/notesSlide" Target="/ppt/notesSlides/notesSlide11.xml" Id="R0b0f8f3fb1874e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7992210384886" /><Relationship Type="http://schemas.openxmlformats.org/officeDocument/2006/relationships/image" Target="/ppt/media/image6.png" Id="R01d60a83d42a46c1" /><Relationship Type="http://schemas.openxmlformats.org/officeDocument/2006/relationships/notesSlide" Target="/ppt/notesSlides/notesSlide12.xml" Id="R0054dd74af534c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71d29e7db4f6d" /><Relationship Type="http://schemas.openxmlformats.org/officeDocument/2006/relationships/image" Target="/ppt/media/image7.png" Id="R56b9e472e4584868" /><Relationship Type="http://schemas.openxmlformats.org/officeDocument/2006/relationships/notesSlide" Target="/ppt/notesSlides/notesSlide13.xml" Id="Rb2d49fefe01b4c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9ef939644461c" /><Relationship Type="http://schemas.openxmlformats.org/officeDocument/2006/relationships/notesSlide" Target="/ppt/notesSlides/notesSlide14.xml" Id="Rfffd612c5d5545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baef5ebce4773" /><Relationship Type="http://schemas.openxmlformats.org/officeDocument/2006/relationships/notesSlide" Target="/ppt/notesSlides/notesSlide15.xml" Id="R5e64e297acd942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2d291a8f44a37" /><Relationship Type="http://schemas.openxmlformats.org/officeDocument/2006/relationships/image" Target="/ppt/media/image8.png" Id="R0d4d058238654fb0" /><Relationship Type="http://schemas.openxmlformats.org/officeDocument/2006/relationships/notesSlide" Target="/ppt/notesSlides/notesSlide16.xml" Id="Rdba21b6219de4c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a7a03c5394873" /><Relationship Type="http://schemas.openxmlformats.org/officeDocument/2006/relationships/image" Target="/ppt/media/image9.png" Id="R19dbbc7cb30040d3" /><Relationship Type="http://schemas.openxmlformats.org/officeDocument/2006/relationships/notesSlide" Target="/ppt/notesSlides/notesSlide17.xml" Id="R579e260044644d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678ffca7843b4" /><Relationship Type="http://schemas.openxmlformats.org/officeDocument/2006/relationships/image" Target="/ppt/media/image10.png" Id="R1d355bb737374f7d" /><Relationship Type="http://schemas.openxmlformats.org/officeDocument/2006/relationships/notesSlide" Target="/ppt/notesSlides/notesSlide18.xml" Id="R8cf73269a25547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11daf40d24a92" /><Relationship Type="http://schemas.openxmlformats.org/officeDocument/2006/relationships/notesSlide" Target="/ppt/notesSlides/notesSlide19.xml" Id="Raf2248d98a7746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c7835c0c34177" /><Relationship Type="http://schemas.openxmlformats.org/officeDocument/2006/relationships/notesSlide" Target="/ppt/notesSlides/notesSlide20.xml" Id="Ra13874182ba243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8745819474f38" /><Relationship Type="http://schemas.openxmlformats.org/officeDocument/2006/relationships/notesSlide" Target="/ppt/notesSlides/notesSlide21.xml" Id="R16305a7cd5af47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e5f6f2605475d" /><Relationship Type="http://schemas.openxmlformats.org/officeDocument/2006/relationships/notesSlide" Target="/ppt/notesSlides/notesSlide22.xml" Id="Rd302f106da6a4b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cf3fb41594701" /><Relationship Type="http://schemas.openxmlformats.org/officeDocument/2006/relationships/image" Target="/ppt/media/image11.png" Id="R4feee9939c15476f" /><Relationship Type="http://schemas.openxmlformats.org/officeDocument/2006/relationships/notesSlide" Target="/ppt/notesSlides/notesSlide23.xml" Id="R33988da838dd45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1ef30b9574b50" /><Relationship Type="http://schemas.openxmlformats.org/officeDocument/2006/relationships/notesSlide" Target="/ppt/notesSlides/notesSlide24.xml" Id="Ra2f5da3496c442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fdc8eb4434f48" /><Relationship Type="http://schemas.openxmlformats.org/officeDocument/2006/relationships/image" Target="/ppt/media/image12.png" Id="Rcf3a20a19b7b4123" /><Relationship Type="http://schemas.openxmlformats.org/officeDocument/2006/relationships/notesSlide" Target="/ppt/notesSlides/notesSlide25.xml" Id="R43aeb1a699f546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38e2c4bc4587" /><Relationship Type="http://schemas.openxmlformats.org/officeDocument/2006/relationships/notesSlide" Target="/ppt/notesSlides/notesSlide26.xml" Id="R0cf00d2f991245e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16f4217ce4cbd" /><Relationship Type="http://schemas.openxmlformats.org/officeDocument/2006/relationships/notesSlide" Target="/ppt/notesSlides/notesSlide27.xml" Id="R9692e8e8150b4ee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cebfa2c034506" /><Relationship Type="http://schemas.openxmlformats.org/officeDocument/2006/relationships/notesSlide" Target="/ppt/notesSlides/notesSlide28.xml" Id="R05986bedd7ab43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c56a24e134957" /><Relationship Type="http://schemas.openxmlformats.org/officeDocument/2006/relationships/image" Target="/ppt/media/image13.png" Id="R4b354d730f3f44e6" /><Relationship Type="http://schemas.openxmlformats.org/officeDocument/2006/relationships/notesSlide" Target="/ppt/notesSlides/notesSlide29.xml" Id="Rb5a7232d88a64e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4793cd62a4263" /><Relationship Type="http://schemas.openxmlformats.org/officeDocument/2006/relationships/notesSlide" Target="/ppt/notesSlides/notesSlide30.xml" Id="R12ef3ff769af4d7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f5aecfc34480c" /><Relationship Type="http://schemas.openxmlformats.org/officeDocument/2006/relationships/notesSlide" Target="/ppt/notesSlides/notesSlide31.xml" Id="R2c6f37b4311149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1f0e41a034f20" /><Relationship Type="http://schemas.openxmlformats.org/officeDocument/2006/relationships/notesSlide" Target="/ppt/notesSlides/notesSlide32.xml" Id="Rfa28c7bd922f43a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b4a79e7dc42fa" /><Relationship Type="http://schemas.openxmlformats.org/officeDocument/2006/relationships/notesSlide" Target="/ppt/notesSlides/notesSlide33.xml" Id="R2893cd0b1a48480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3565b37cd49b4" /><Relationship Type="http://schemas.openxmlformats.org/officeDocument/2006/relationships/notesSlide" Target="/ppt/notesSlides/notesSlide34.xml" Id="Rb18a1bad969840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1292a56ab47d7" /><Relationship Type="http://schemas.openxmlformats.org/officeDocument/2006/relationships/notesSlide" Target="/ppt/notesSlides/notesSlide35.xml" Id="R8a7164db7d254a7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3ff3ff2ce4372" /><Relationship Type="http://schemas.openxmlformats.org/officeDocument/2006/relationships/image" Target="/ppt/media/image14.png" Id="R57d8f0813d0640dc" /><Relationship Type="http://schemas.openxmlformats.org/officeDocument/2006/relationships/notesSlide" Target="/ppt/notesSlides/notesSlide36.xml" Id="R59ae87b6b7c8465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7846982fc46e1" /><Relationship Type="http://schemas.openxmlformats.org/officeDocument/2006/relationships/notesSlide" Target="/ppt/notesSlides/notesSlide37.xml" Id="R1fba77dd177f48c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154d653e14b33" /><Relationship Type="http://schemas.openxmlformats.org/officeDocument/2006/relationships/image" Target="/ppt/media/image15.png" Id="Re5f3557459ba4f87" /><Relationship Type="http://schemas.openxmlformats.org/officeDocument/2006/relationships/notesSlide" Target="/ppt/notesSlides/notesSlide38.xml" Id="R22ddce1faefc4e1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9e7fa13dc4a62" /><Relationship Type="http://schemas.openxmlformats.org/officeDocument/2006/relationships/notesSlide" Target="/ppt/notesSlides/notesSlide39.xml" Id="R2c998644c2b34f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76976328f4332" /><Relationship Type="http://schemas.openxmlformats.org/officeDocument/2006/relationships/image" Target="/ppt/media/image16.png" Id="R09d19d201232404e" /><Relationship Type="http://schemas.openxmlformats.org/officeDocument/2006/relationships/notesSlide" Target="/ppt/notesSlides/notesSlide40.xml" Id="R78d021723219491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f9ad97f16481d" /><Relationship Type="http://schemas.openxmlformats.org/officeDocument/2006/relationships/notesSlide" Target="/ppt/notesSlides/notesSlide41.xml" Id="R59a4b5d66720417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28fa12aa64d35" /><Relationship Type="http://schemas.openxmlformats.org/officeDocument/2006/relationships/image" Target="/ppt/media/image17.png" Id="R5764d3bd046e4f69" /><Relationship Type="http://schemas.openxmlformats.org/officeDocument/2006/relationships/notesSlide" Target="/ppt/notesSlides/notesSlide42.xml" Id="Reae766dfc4a0496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a374d5a214f3e" /><Relationship Type="http://schemas.openxmlformats.org/officeDocument/2006/relationships/notesSlide" Target="/ppt/notesSlides/notesSlide43.xml" Id="R644c582a03634b6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d6d5a7c554123" /><Relationship Type="http://schemas.openxmlformats.org/officeDocument/2006/relationships/notesSlide" Target="/ppt/notesSlides/notesSlide44.xml" Id="R2eb783899e4f4d4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eb70d51f24d74" /><Relationship Type="http://schemas.openxmlformats.org/officeDocument/2006/relationships/image" Target="/ppt/media/image18.png" Id="R5c2b4f579a534b78" /><Relationship Type="http://schemas.openxmlformats.org/officeDocument/2006/relationships/notesSlide" Target="/ppt/notesSlides/notesSlide45.xml" Id="R60b29be218444ff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66b3b862d4581" /><Relationship Type="http://schemas.openxmlformats.org/officeDocument/2006/relationships/notesSlide" Target="/ppt/notesSlides/notesSlide46.xml" Id="R43e1d6f38be74c9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0d7c07d3e4a86" /><Relationship Type="http://schemas.openxmlformats.org/officeDocument/2006/relationships/notesSlide" Target="/ppt/notesSlides/notesSlide47.xml" Id="R80dea1f950cc49d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706b34f2e4317" /><Relationship Type="http://schemas.openxmlformats.org/officeDocument/2006/relationships/notesSlide" Target="/ppt/notesSlides/notesSlide48.xml" Id="R727217646be04a2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0305f81fd4ec9" /><Relationship Type="http://schemas.openxmlformats.org/officeDocument/2006/relationships/notesSlide" Target="/ppt/notesSlides/notesSlide49.xml" Id="Rc33783bc5277473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38373b6b64160" /><Relationship Type="http://schemas.openxmlformats.org/officeDocument/2006/relationships/image" Target="/ppt/media/image19.png" Id="R4d59b37adfae42d8" /><Relationship Type="http://schemas.openxmlformats.org/officeDocument/2006/relationships/notesSlide" Target="/ppt/notesSlides/notesSlide50.xml" Id="R2d333327d0124cf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1f8ace49e46d8" /><Relationship Type="http://schemas.openxmlformats.org/officeDocument/2006/relationships/notesSlide" Target="/ppt/notesSlides/notesSlide51.xml" Id="Rf6166f8e4f8e493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b50fc18414f16" /><Relationship Type="http://schemas.openxmlformats.org/officeDocument/2006/relationships/notesSlide" Target="/ppt/notesSlides/notesSlide52.xml" Id="R014a97934a92473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6fa9e612c4919" /><Relationship Type="http://schemas.openxmlformats.org/officeDocument/2006/relationships/notesSlide" Target="/ppt/notesSlides/notesSlide53.xml" Id="Re5af647f8c9b48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ECEAD0-B58A-43CA-9D87-582BBCB5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02B9FA-54C1-4FF9-AD56-35068264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C06F6D-4E6F-46B9-B4D3-4DB22E89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023152B-ABEC-4678-AF12-72FDB38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5A18454-1A45-44F3-AAC4-46866814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2676B2D-89C8-4D6E-8EF1-BD1CCBD6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9F66BD1-1473-4C6B-B6AE-D3337A8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48B3AF3-5B6A-4FEB-B94A-3566970F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F3F1191-177F-4E8D-9ECC-791941EE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6B63B6D-2AD6-4EBD-8F42-A51666D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80A33E9-237F-4119-9E2E-42E3CE8A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开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场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DACEB5-3C21-4923-8552-C87D85C2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7AAE232-BC27-49D0-A525-D5BC48BF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E2B74D8-DD7A-40D2-A5CF-25648B7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556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深圳外国语学校全学科教师培训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1D61EDC-8EB7-4CBB-912A-80C80F1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99616"/>
            <a:ext cx="9981895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当人人都有一支AI团队</a:t>
            </a:r>
            <a:endParaRPr sz="5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933E9F3-3DFE-4F02-8BD2-BDECE571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96896"/>
            <a:ext cx="998189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BFD3EA"/>
                </a:solidFill>
                <a:latin typeface="Microsoft YaHei"/>
                <a:ea typeface="Microsoft YaHei"/>
                <a:cs typeface="Microsoft YaHei"/>
              </a:rPr>
              <a:t>学生与AI的认知分工</a:t>
            </a:r>
            <a:endParaRPr sz="1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01E2190-2D29-4342-B465-B1CE651F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08" y="3456432"/>
            <a:ext cx="93966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7888BB4-F433-442B-8604-B53CFC82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56" y="33924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A719FFE-D9C2-4E03-B2EB-942F4FC4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21024"/>
            <a:ext cx="1481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个人原型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6046B3C-27D7-438A-83E4-A9888942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264" y="33924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72E9F30-488B-4BF0-AF8A-0A197D6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608" y="3621024"/>
            <a:ext cx="1481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教师智能体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EFB162C-5CF6-4E92-AF5C-EDDB956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72" y="33924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B99C99-31C6-45B8-B785-05F195F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16" y="3621024"/>
            <a:ext cx="1481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AI团队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F40EDF3-E87F-4ECD-A259-6E7AA0A9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680" y="33924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BDD6ACD-2E88-4FA2-BE6E-31FBD7F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8024" y="3621024"/>
            <a:ext cx="1481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领域地图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E3EDA7-39DC-475F-9D18-319DAF21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888" y="33924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695FE44-06A1-405A-9E75-D9C4052C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232" y="3621024"/>
            <a:ext cx="1481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课堂分工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1D3FAA0-B803-45A5-B92C-9F0D1C50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096" y="3392424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4E7EE1D-599D-434E-8036-DCEBC334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6440" y="3621024"/>
            <a:ext cx="14813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工作坊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15F9FE-7313-42B0-8FC9-0C96942B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43984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3CD4DC4-2EA6-41D5-9010-3CA9854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2103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主讲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2A4234A-05B1-4004-9C4B-7942F14E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2803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辛海洋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C6EB8CF-A2AE-422A-8A3A-8A8B78D9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72000"/>
            <a:ext cx="2103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日期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DFF49A1-5C03-4DF1-8E92-C92FAA7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2803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年 8 月 27 日</a:t>
            </a:r>
            <a:endParaRPr sz="13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21DE41B-B2D2-4E6B-B757-928BEAA8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72000"/>
            <a:ext cx="2103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时长</a:t>
            </a:r>
            <a:endParaRPr sz="10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6580A60-4E69-4478-B85B-1222F713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28032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962659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7B298B-C941-4D97-A4CB-BCAB69B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83E116-4972-42A9-B426-077DF65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6DA9C-C6C5-4C89-9102-82F57547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94FF4B-9AA2-4426-A604-40B1A23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9928AE-0CF9-4F99-9CC9-FFCA40D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C33E4A1-0C2B-49E2-95AB-5CD17E2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8012C5-9757-480B-8E44-89DEE19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B24598B-5AB8-4712-9CD5-EA0162B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19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2D1DCD-2673-461E-AD29-DA242EB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91CD416-1FB1-4229-94E4-CA864D0C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94FE5C-BCF6-470C-A5F5-2079551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F4FDE-707D-486C-B487-7EB0318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809C1F-2114-4485-9E66-20645A8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364415-8FD2-42BC-9B46-8745CD0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284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7DE9D3-96A2-41EA-90CF-330D8A5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176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AB1532-205A-437C-A165-8AC10BA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615184"/>
            <a:ext cx="8902903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当“做出来”不再困难</a:t>
            </a:r>
            <a:endParaRPr sz="2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D206B3-54CB-4C3B-9023-FCF95D9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4078224"/>
            <a:ext cx="89029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FD3EA"/>
                </a:solidFill>
                <a:latin typeface="Microsoft YaHei"/>
                <a:ea typeface="Microsoft YaHei"/>
                <a:cs typeface="Microsoft YaHei"/>
              </a:rPr>
              <a:t>从家庭学习原型、教师共创到个人AI团队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21978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0A2ABE-0215-4C16-9045-37A3320E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CF3B59-179F-4F64-A772-2BD9E1E7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E1495F-8B10-4C73-9356-821F38AB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B8CDBBC-89CD-4320-82C2-87F569C2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4BBE73-8524-49BB-B698-48C57EE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DCB919F-C277-4F5F-9E8D-3BA53B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C9772E-CB5A-4FFB-ADDF-DF0804D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5BC17CE-7705-497D-B5C2-57ADB2A3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77DDCE6-A664-4864-8E77-FFF30C1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D849EA5-E8AB-4FBB-9554-88EB77AD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44FBC3C-C4FD-4C0B-B665-92FD1DFF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E8959E4-9F00-4D96-A2B0-D459467D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3DDEDCE-A750-4B4E-84ED-8200BD88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F110A5-0726-49DE-961E-8130464B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284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一位教师的困惑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78DF75-8A7F-4123-8095-0AE78BA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176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A92E836-67C9-4325-B0CD-80D5694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615184"/>
            <a:ext cx="8902903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学生用AI完成的作文更成熟了，但这是否意味着他的写作能力也在发展？</a:t>
            </a:r>
            <a:endParaRPr sz="2500"/>
          </a:p>
        </p:txBody>
      </p:sp>
    </p:spTree>
    <p:extLst>
      <p:ext uri="{BB962C8B-B14F-4D97-AF65-F5344CB8AC3E}">
        <p14:creationId xmlns:p14="http://schemas.microsoft.com/office/powerpoint/2010/main" val="77027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D57681-C5F1-44B7-8D6E-362B06D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E2AFBD-DC55-4E7B-9AD7-B7E4261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923D58-920F-4662-95FD-7C1A2B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1A1CA6-DBAD-4FF8-977B-4BB6D8E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462D28B-2D94-4809-8C91-EB35C46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516211C-7634-4668-A868-F82A86A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620701-58C0-480D-9AFC-6621815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FB22F2-5E75-46B5-8A63-607D5C2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71CF46-2E95-45EA-8F00-1C7F638C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1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E62DADD-6AA5-40AE-96CC-92A515E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64AE65-F3E0-42EF-B3D5-A84958C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9F6182C-76B4-425C-BC94-A1EC129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04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6F7061-ABBD-4B59-9C45-3862462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D6C9A0-01AF-4626-8CB4-192F09F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86B80C-9F0C-4CD9-88FB-FE2B21B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三类实践中的共同变化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BEEEB1A-2B06-45BE-9195-5E3A4A31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775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737C15E-B68F-466B-9225-8012717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A43136-2A63-4110-A543-C2817E1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754DA4-9802-470A-96FE-0FE0CD0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家庭学习原型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15402A9-F860-44DE-9E9C-F1111C7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C89067-A023-4617-A785-EB962BD9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具体学习需求可在较短时间内形成可试用原型。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44D398A-0237-46F8-B603-5B4D813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67B92A-4F5D-4F42-99FF-393576C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DE386CA-03B2-4A70-ACEA-88E8DED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教师智能体共创</a:t>
            </a:r>
            <a:endParaRPr sz="17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C3BB938-158A-4778-AD39-BCFCF19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13443CC-2747-4458-9E96-390CA8BE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教师将教学判断转化为角色、规则和接管条件。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D9E2C-11A4-4F39-AF88-1BE869E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C0FFC0-4923-44BF-AB82-A6C8C9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D99C55-5CD5-42A5-9744-92AD677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AI团队协作</a:t>
            </a:r>
            <a:endParaRPr sz="1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E9414AF-629E-497A-87E6-ABE8CAB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4DA772F-8B0A-4ABE-A23A-FC5EE61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生成、审查、运行和确认被分配给不同主体。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F733F1B-AFF5-40AF-871A-5511CD7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F9892E-0713-47A9-B189-48E86DC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随着制作门槛降低，问题定义、专业判断和结果验证所占比重上升。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41845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05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YoYo English Tutor：从家庭学习需求到可试用原型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b5d9f7e6d4298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Link divider 5">
            <a:extLst xmlns:a="http://schemas.openxmlformats.org/drawingml/2006/main">
              <a:ext uri="{FF2B5EF4-FFF2-40B4-BE49-F238E27FC236}">
                <a16:creationId xmlns:a16="http://schemas.microsoft.com/office/drawing/2014/main" id="{01FADB19-AD9A-40D0-8B0D-86780AF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62600"/>
            <a:ext cx="99819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Experience link 5">
            <a:extLst xmlns:a="http://schemas.openxmlformats.org/drawingml/2006/main">
              <a:ext uri="{FF2B5EF4-FFF2-40B4-BE49-F238E27FC236}">
                <a16:creationId xmlns:a16="http://schemas.microsoft.com/office/drawing/2014/main" id="{C0968FD4-400D-42B7-A128-B0F42998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29275"/>
            <a:ext cx="9981914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体验入口　</a:t>
            </a:r>
            <a:r>
              <a:rPr sz="1300" u="sng">
                <a:solidFill>
                  <a:srgbClr val="2F66F5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cdd36b347a74c53"/>
              </a:rPr>
              <a:t>codex-2-4n8yzjf32-cocorobo.vercel.app</a:t>
            </a:r>
          </a:p>
        </p:txBody>
      </p:sp>
      <p:sp>
        <p:nvSpPr>
          <p:cNvPr id="20" name="Link summary 5">
            <a:extLst xmlns:a="http://schemas.openxmlformats.org/drawingml/2006/main">
              <a:ext uri="{FF2B5EF4-FFF2-40B4-BE49-F238E27FC236}">
                <a16:creationId xmlns:a16="http://schemas.microsoft.com/office/drawing/2014/main" id="{CE292472-2BE5-42AD-B1F2-12E6825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05500"/>
            <a:ext cx="99819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家庭学习产品首先要回答三个问题：目标是否合适、使用边界是否清楚、孩子是否愿意持续使用。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BB50076-B2EB-4270-A0C8-C11A991E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50D276-7629-4F55-BC2E-26F79F9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27A05A-2202-4CFA-8DD2-E6CDD89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FD64603-FF43-48FB-9C8E-F62DE7D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1ECFF9-3CD2-4E74-9434-1C82C73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9D9CF77-C83F-495E-867F-DDD45F6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04F007-E538-4A96-B045-D7230240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076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357808-080E-4ED2-A6D8-8C8424E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2BB14B-C228-4EB1-A992-355A59A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581B4B-F7DD-42B6-A4A9-9FCEDB4E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D2629D-D252-4A85-8481-DF9B1FC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C6BB1B-FE42-4335-9B8C-0F91803E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06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9797E3-90AF-42AC-95CC-348A29B9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EDBC96-10C7-4A5D-A9A1-904DF851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640350-94B1-4DC9-BAD2-E7C5EE3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原型开发提速后，教育判断更早介入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5FDE1FA-E6A1-46FF-A994-784FA82F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4881220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957F37E-A69D-4C70-B66C-B4B2CDB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186080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925818D-A7D1-40D9-A4FD-1D3C520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043684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系统支持</a:t>
            </a:r>
            <a:endParaRPr sz="1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326333E-89D9-42BA-9B2C-3CA078D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409444"/>
            <a:ext cx="44788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执行工作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1E2441-E423-4787-827F-F84007F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683764"/>
            <a:ext cx="447888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生成内容、界面与练习草稿。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2247E9F-8751-4A29-A337-9513215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195828"/>
            <a:ext cx="4478884" cy="1453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• 依据明确规则完成低风险任务</a:t>
            </a:r>
            <a:endParaRPr sz="950"/>
          </a:p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• 加速版本修改</a:t>
            </a:r>
            <a:endParaRPr sz="950"/>
          </a:p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• 整理反馈与基础数据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009130F-3374-46D4-9390-775711A4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76" y="1860804"/>
            <a:ext cx="4881220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9AA15A6-F32E-4F97-8B92-33FAD98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084" y="186080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532811-6B59-4E59-913E-2370AEC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043684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人工承担</a:t>
            </a:r>
            <a:endParaRPr sz="1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D8AD80D-8118-4172-A94F-81C4A72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409444"/>
            <a:ext cx="44788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教育判断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353B017-20D0-4B53-84AF-C332261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683764"/>
            <a:ext cx="447888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教育目标、儿童边界与实际效果。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3AC34A5-5E99-469A-9E93-661C9DAC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3195828"/>
            <a:ext cx="4478884" cy="1453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• 判断目标是否值得实现</a:t>
            </a:r>
            <a:endParaRPr sz="950"/>
          </a:p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• 观察是否形成依赖</a:t>
            </a:r>
            <a:endParaRPr sz="950"/>
          </a:p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• 检查是否出现预期变化</a:t>
            </a:r>
            <a:endParaRPr sz="9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B867CE7-2BD0-4B90-9926-1BF330C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15DDE11-C3B6-4485-878B-452C872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实现速度提高后，目的、边界和效果判断贯穿开发过程。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69374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DDF86E-DEE2-40EC-86BE-9CC7E7ED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55B7FA-8284-401D-B3FF-048B8F9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E1F0AF-D3F3-4964-854A-FAAF4070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D43EAE-7AE4-4A09-AAE7-CA67023B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716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8B0353F-ECE1-4F73-A228-11DD241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526913D-7465-48DC-9CDF-3304D41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C551860-7D8A-475F-BFB6-E43B9A2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F78458-D5AC-47DB-B8A9-970DB0F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E9F2041-84E5-4AA0-BA5F-8DFBE5A9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3CE6DAF-2ED6-4496-953F-CFDDA2C3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D9C6C34-646B-4070-A75A-B41B3C82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A8862E-1CC7-4199-9CAB-A68A4A2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07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0D86C14-6360-43AE-8C76-40080930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F3F5D0-E916-449B-BAF9-F3F200F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75DDA-B1FE-4BC8-912D-9304E71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教师智能体设计进入培训与共创现场</a:t>
            </a:r>
            <a:endParaRPr sz="3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E0094B1-C30A-49D7-B47E-D7AD41E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E7AB843-3E4D-4A94-96AE-64FF3597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照片记录教师设计、调试和展示智能体的过程；后续判断应结合课堂活动与学生证据。</a:t>
            </a:r>
            <a:endParaRPr sz="1000"/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ace93b9d4cdc"/>
          <a:stretch xmlns:a="http://schemas.openxmlformats.org/drawingml/2006/main"/>
        </p:blipFill>
        <p:spPr>
          <a:xfrm xmlns:a="http://schemas.openxmlformats.org/drawingml/2006/main">
            <a:off x="1778257" y="2080260"/>
            <a:ext cx="9016181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0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08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UNESCO交流与申报材料构成项目的外部背景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816bc7bd422b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8">
            <a:extLst xmlns:a="http://schemas.openxmlformats.org/drawingml/2006/main">
              <a:ext uri="{FF2B5EF4-FFF2-40B4-BE49-F238E27FC236}">
                <a16:creationId xmlns:a16="http://schemas.microsoft.com/office/drawing/2014/main" id="{A7C5818E-0479-4F1E-8091-087252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8">
            <a:extLst xmlns:a="http://schemas.openxmlformats.org/drawingml/2006/main">
              <a:ext uri="{FF2B5EF4-FFF2-40B4-BE49-F238E27FC236}">
                <a16:creationId xmlns:a16="http://schemas.microsoft.com/office/drawing/2014/main" id="{7C18AA26-0414-4B76-85BF-02DA85F4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8">
            <a:extLst xmlns:a="http://schemas.openxmlformats.org/drawingml/2006/main">
              <a:ext uri="{FF2B5EF4-FFF2-40B4-BE49-F238E27FC236}">
                <a16:creationId xmlns:a16="http://schemas.microsoft.com/office/drawing/2014/main" id="{6C60C0AD-858F-42F6-AC68-F97DC01C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外部交流的价值，是把项目目标、教师角色与实施边界讲清楚，并接受同行检验。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09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Speaking Lab支持演讲稿的分阶段练习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287e70e6747c7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Link divider 9">
            <a:extLst xmlns:a="http://schemas.openxmlformats.org/drawingml/2006/main">
              <a:ext uri="{FF2B5EF4-FFF2-40B4-BE49-F238E27FC236}">
                <a16:creationId xmlns:a16="http://schemas.microsoft.com/office/drawing/2014/main" id="{B5855292-92C8-4785-9942-00BDB9B1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62600"/>
            <a:ext cx="99819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9" name="Experience link 9">
            <a:extLst xmlns:a="http://schemas.openxmlformats.org/drawingml/2006/main">
              <a:ext uri="{FF2B5EF4-FFF2-40B4-BE49-F238E27FC236}">
                <a16:creationId xmlns:a16="http://schemas.microsoft.com/office/drawing/2014/main" id="{153C73E5-3489-4B0A-B3FF-C5AAF2C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29275"/>
            <a:ext cx="9981914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体验入口　</a:t>
            </a:r>
            <a:r>
              <a:rPr sz="1300" u="sng">
                <a:solidFill>
                  <a:srgbClr val="2F66F5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dcdda035eaf4cad"/>
              </a:rPr>
              <a:t>speaking-9wnc88nmj-cocorobo.vercel.app/demo</a:t>
            </a:r>
          </a:p>
        </p:txBody>
      </p:sp>
      <p:sp>
        <p:nvSpPr>
          <p:cNvPr id="20" name="Link summary 9">
            <a:extLst xmlns:a="http://schemas.openxmlformats.org/drawingml/2006/main">
              <a:ext uri="{FF2B5EF4-FFF2-40B4-BE49-F238E27FC236}">
                <a16:creationId xmlns:a16="http://schemas.microsoft.com/office/drawing/2014/main" id="{35EC975B-5574-4F03-87C0-C2B8019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05500"/>
            <a:ext cx="998191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63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英语学习需保留内容选择、听众意识与现场表达；稿件润色和节奏提示只是辅助环节。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14EEA8-4474-41D8-B98A-C4B3B48C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3E7EB9-D3CA-42BB-8413-8CDA91E6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FFD6A8-56CB-491B-9051-C63CAB0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E85BEB-5C45-4EF6-BCA5-2A8973B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F16D712-4FFC-47BD-AE46-35E2BE80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53FDFD-281D-4860-B625-F1D40A6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A9DC157-67B4-4C27-A1E5-8B538649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6D99BF0-43B3-4133-BE0E-9305254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9B7B50C-D214-4B0C-867B-38105FB6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C11EAC8-3229-453B-B7F8-7EE00063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8F6F5C-8B72-4258-9441-933A7C68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877883-B0EE-4353-8AC3-464378F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10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37F58-2749-4C5F-9BFB-0A4F79C4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136178-6D48-44EC-8AEF-551EC36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E0A312-0BAD-4C82-9F5C-D3E7F85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智能体设计使部分教学判断得到显性表达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0DAC0A-5707-4C1B-92EE-A766EC0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734056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391F31D-2EED-479D-AC77-FB84741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8716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A2F4983-535F-4E2A-AB64-B3231E4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8716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2FA9BF3-31B1-44D4-A5A7-6A8DE559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307126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界定真实教学问题</a:t>
            </a:r>
            <a:endParaRPr sz="18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9E57C3-707F-40B1-B139-3284E81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48716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724A17-0D7A-4248-9A28-6A104BF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48716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二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5AF2BF-AED4-4FF5-922E-C3F5363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200400"/>
            <a:ext cx="307126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把专业判断转化为可执行规则</a:t>
            </a:r>
            <a:endParaRPr sz="18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F8638F5-515F-463D-A85B-CA1336D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48716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BB8F9E-BD2B-44F1-87FD-1C624261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48716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三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6D4F068-B46F-4A6B-BBDC-8FED8FF3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200400"/>
            <a:ext cx="307126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依据输出、失败与人工接管持续修订</a:t>
            </a:r>
            <a:endParaRPr sz="18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F2CB886-DB19-4F85-9E47-4225084F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D6DF72A-4F87-4E73-81DE-9F41A21C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设计过程要求教师明确教学问题、执行规则、观察指标和修订依据。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0179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11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AI团队以四个分工明确的工作空间运行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633217a014548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11">
            <a:extLst xmlns:a="http://schemas.openxmlformats.org/drawingml/2006/main">
              <a:ext uri="{FF2B5EF4-FFF2-40B4-BE49-F238E27FC236}">
                <a16:creationId xmlns:a16="http://schemas.microsoft.com/office/drawing/2014/main" id="{F63DA534-1DDB-4EA4-AE8F-F497B67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11">
            <a:extLst xmlns:a="http://schemas.openxmlformats.org/drawingml/2006/main">
              <a:ext uri="{FF2B5EF4-FFF2-40B4-BE49-F238E27FC236}">
                <a16:creationId xmlns:a16="http://schemas.microsoft.com/office/drawing/2014/main" id="{57779D5D-EFF3-4BA1-80F0-8CA321CF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11">
            <a:extLst xmlns:a="http://schemas.openxmlformats.org/drawingml/2006/main">
              <a:ext uri="{FF2B5EF4-FFF2-40B4-BE49-F238E27FC236}">
                <a16:creationId xmlns:a16="http://schemas.microsoft.com/office/drawing/2014/main" id="{84DED300-E3D3-4DCD-BEA1-0C22E2F6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分开设置工作空间，是为了保留不同任务的上下文、权限边界和检查标准。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8CC5C8-3449-45DF-A2C7-EE697BA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F311CD2-D21B-4346-ADD3-4470EA1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919040-D8CE-436A-975C-7667FC42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CFD385-13BD-4952-A498-994F2E0F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716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F9ED3A9-2A71-4FCC-9DCE-22484BA9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EFD0CB-84F7-4845-BDF6-92805E46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852497D-53B0-410A-8A32-CC4908B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35C6781-3B5F-4714-80E4-D46C7E23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7F9EB-9E11-441D-871A-3042A285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270A509-75CD-45F0-87B7-77EAD0E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5C44D9-D091-4005-8883-A2438133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EC5F2EF-9953-479B-BAD3-BCDE8D2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12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339845-1CD1-4C99-A3CA-C34630BC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59E716-2208-4EBA-B80D-B21B296A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AFD649-5578-4AAA-B274-425B6235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四个AI团队按任务分工，最终采用由人批准</a:t>
            </a:r>
            <a:endParaRPr sz="3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4EF2BD-DFEE-481A-B611-A3544758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44084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研究与内容、软件开发、设计体验、商业策略四类工作空间保留独立上下文和检查机制。</a:t>
            </a:r>
            <a:endParaRPr sz="15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60a83d42a46c1"/>
          <a:stretch xmlns:a="http://schemas.openxmlformats.org/drawingml/2006/main"/>
        </p:blipFill>
        <p:spPr>
          <a:xfrm xmlns:a="http://schemas.openxmlformats.org/drawingml/2006/main">
            <a:off x="1778257" y="1879092"/>
            <a:ext cx="9016181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64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DDF86E-DEE2-40EC-86BE-9CC7E7ED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55B7FA-8284-401D-B3FF-048B8F9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E1F0AF-D3F3-4964-854A-FAAF4070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D43EAE-7AE4-4A09-AAE7-CA67023B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716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8B0353F-ECE1-4F73-A228-11DD241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526913D-7465-48DC-9CDF-3304D41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C551860-7D8A-475F-BFB6-E43B9A2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F78458-D5AC-47DB-B8A9-970DB0F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E9F2041-84E5-4AA0-BA5F-8DFBE5A9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3CE6DAF-2ED6-4496-953F-CFDDA2C3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D9C6C34-646B-4070-A75A-B41B3C82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A8862E-1CC7-4199-9CAB-A68A4A2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13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0D86C14-6360-43AE-8C76-40080930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F3F5D0-E916-449B-BAF9-F3F200F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75DDA-B1FE-4BC8-912D-9304E71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任务前端与运行后端承担更多价值判断</a:t>
            </a:r>
            <a:endParaRPr sz="32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E0094B1-C30A-49D7-B47E-D7AD41E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E7AB843-3E4D-4A94-96AE-64FF3597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答案更容易生成后，难点转向选题、核验、采用与责任。</a:t>
            </a:r>
            <a:endParaRPr sz="1000"/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9e472e4584868"/>
          <a:stretch xmlns:a="http://schemas.openxmlformats.org/drawingml/2006/main"/>
        </p:blipFill>
        <p:spPr>
          <a:xfrm xmlns:a="http://schemas.openxmlformats.org/drawingml/2006/main">
            <a:off x="1778257" y="2080260"/>
            <a:ext cx="9016181" cy="3200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08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D57681-C5F1-44B7-8D6E-362B06D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E2AFBD-DC55-4E7B-9AD7-B7E4261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923D58-920F-4662-95FD-7C1A2B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1A1CA6-DBAD-4FF8-977B-4BB6D8E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462D28B-2D94-4809-8C91-EB35C46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516211C-7634-4668-A868-F82A86A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620701-58C0-480D-9AFC-6621815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FB22F2-5E75-46B5-8A63-607D5C2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71CF46-2E95-45EA-8F00-1C7F638C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1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E62DADD-6AA5-40AE-96CC-92A515E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64AE65-F3E0-42EF-B3D5-A84958C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探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索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9F6182C-76B4-425C-BC94-A1EC129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14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6F7061-ABBD-4B59-9C45-3862462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D6C9A0-01AF-4626-8CB4-192F09F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第一部分　·　三个探索：当‘做出来’不再困难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86B80C-9F0C-4CD9-88FB-FE2B21B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第一部分小结：任务范围扩大，判断与责任随之增加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BEEEB1A-2B06-45BE-9195-5E3A4A31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775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737C15E-B68F-466B-9225-8012717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A43136-2A63-4110-A543-C2817E1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754DA4-9802-470A-96FE-0FE0CD0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资源配置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15402A9-F860-44DE-9E9C-F1111C7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C89067-A023-4617-A785-EB962BD9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把有限的系统调用额度、时间与注意力优先投入重要问题。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44D398A-0237-46F8-B603-5B4D813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67B92A-4F5D-4F42-99FF-393576C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DE386CA-03B2-4A70-ACEA-88E8DED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交接与核查</a:t>
            </a:r>
            <a:endParaRPr sz="17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C3BB938-158A-4778-AD39-BCFCF19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13443CC-2747-4458-9E96-390CA8BE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交接背景、标准、证据和失败状态。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D9E2C-11A4-4F39-AF88-1BE869E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C0FFC0-4923-44BF-AB82-A6C8C9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D99C55-5CD5-42A5-9744-92AD677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结果责任</a:t>
            </a:r>
            <a:endParaRPr sz="1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E9414AF-629E-497A-87E6-ABE8CAB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4DA772F-8B0A-4ABE-A23A-FC5EE61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停止生成、进入行动，并承担实际后果。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F733F1B-AFF5-40AF-871A-5511CD7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F9892E-0713-47A9-B189-48E86DC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AI团队扩大个人可参与的任务范围，但专业知识、交接核查和结果责任仍由人承担。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418458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7B298B-C941-4D97-A4CB-BCAB69B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83E116-4972-42A9-B426-077DF65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6DA9C-C6C5-4C89-9102-82F57547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94FF4B-9AA2-4426-A604-40B1A23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9928AE-0CF9-4F99-9CC9-FFCA40D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C33E4A1-0C2B-49E2-95AB-5CD17E2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8012C5-9757-480B-8E44-89DEE19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B24598B-5AB8-4712-9CD5-EA0162B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19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2D1DCD-2673-461E-AD29-DA242EB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91CD416-1FB1-4229-94E4-CA864D0C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94FE5C-BCF6-470C-A5F5-2079551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F4FDE-707D-486C-B487-7EB0318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809C1F-2114-4485-9E66-20645A8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364415-8FD2-42BC-9B46-8745CD0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284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7DE9D3-96A2-41EA-90CF-330D8A5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176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AB1532-205A-437C-A165-8AC10BA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615184"/>
            <a:ext cx="8902903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未来人才的核心能力</a:t>
            </a:r>
            <a:endParaRPr sz="2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D206B3-54CB-4C3B-9023-FCF95D9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4078224"/>
            <a:ext cx="89029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FD3EA"/>
                </a:solidFill>
                <a:latin typeface="Microsoft YaHei"/>
                <a:ea typeface="Microsoft YaHei"/>
                <a:cs typeface="Microsoft YaHei"/>
              </a:rPr>
              <a:t>学科深度、完整任务与认知责任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219789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16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帕佩特将‘造物’视为思考过程的一部分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d058238654fb0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16">
            <a:extLst xmlns:a="http://schemas.openxmlformats.org/drawingml/2006/main">
              <a:ext uri="{FF2B5EF4-FFF2-40B4-BE49-F238E27FC236}">
                <a16:creationId xmlns:a16="http://schemas.microsoft.com/office/drawing/2014/main" id="{7B298E04-62D9-475A-8246-5C16AA7C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16">
            <a:extLst xmlns:a="http://schemas.openxmlformats.org/drawingml/2006/main">
              <a:ext uri="{FF2B5EF4-FFF2-40B4-BE49-F238E27FC236}">
                <a16:creationId xmlns:a16="http://schemas.microsoft.com/office/drawing/2014/main" id="{63A9F924-8849-4FE2-BBD2-28C638F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16">
            <a:extLst xmlns:a="http://schemas.openxmlformats.org/drawingml/2006/main">
              <a:ext uri="{FF2B5EF4-FFF2-40B4-BE49-F238E27FC236}">
                <a16:creationId xmlns:a16="http://schemas.microsoft.com/office/drawing/2014/main" id="{6A5BE9BC-0A8C-4340-BDFE-1351D15E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作品更快出现之后，更要保留学生制作、检验和修正的过程。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17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“稀缺性迁移”指难点从生产转向判断与责任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bbc7cb30040d3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17">
            <a:extLst xmlns:a="http://schemas.openxmlformats.org/drawingml/2006/main">
              <a:ext uri="{FF2B5EF4-FFF2-40B4-BE49-F238E27FC236}">
                <a16:creationId xmlns:a16="http://schemas.microsoft.com/office/drawing/2014/main" id="{AE2D8F9E-967B-496F-B520-6E1D0225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17">
            <a:extLst xmlns:a="http://schemas.openxmlformats.org/drawingml/2006/main">
              <a:ext uri="{FF2B5EF4-FFF2-40B4-BE49-F238E27FC236}">
                <a16:creationId xmlns:a16="http://schemas.microsoft.com/office/drawing/2014/main" id="{6884BF0B-7CBB-4834-927D-3E5B036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17">
            <a:extLst xmlns:a="http://schemas.openxmlformats.org/drawingml/2006/main">
              <a:ext uri="{FF2B5EF4-FFF2-40B4-BE49-F238E27FC236}">
                <a16:creationId xmlns:a16="http://schemas.microsoft.com/office/drawing/2014/main" id="{416294E0-F754-4C07-BD8C-CB8A3DD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作品更容易生成后，较难替代的是选择什么、相信什么，以及为何这样选择。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18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AI可以直接生成作品，但学习仍需保留构造过程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55bb737374f7d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18">
            <a:extLst xmlns:a="http://schemas.openxmlformats.org/drawingml/2006/main">
              <a:ext uri="{FF2B5EF4-FFF2-40B4-BE49-F238E27FC236}">
                <a16:creationId xmlns:a16="http://schemas.microsoft.com/office/drawing/2014/main" id="{B5CE1B45-DF03-4FA5-B417-FDCA7421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18">
            <a:extLst xmlns:a="http://schemas.openxmlformats.org/drawingml/2006/main">
              <a:ext uri="{FF2B5EF4-FFF2-40B4-BE49-F238E27FC236}">
                <a16:creationId xmlns:a16="http://schemas.microsoft.com/office/drawing/2014/main" id="{C7A3F485-F882-41C3-9E06-A64CF3D9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18">
            <a:extLst xmlns:a="http://schemas.openxmlformats.org/drawingml/2006/main">
              <a:ext uri="{FF2B5EF4-FFF2-40B4-BE49-F238E27FC236}">
                <a16:creationId xmlns:a16="http://schemas.microsoft.com/office/drawing/2014/main" id="{402B2B47-31D1-45D2-B282-CAAD68B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语文课中，系统可协助整理材料；立意、证据取舍与修改理由仍需由学生形成。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895BE5-D706-4FB5-A030-7C236F87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D5790FF-1887-437D-8764-0B842FC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686FA1-CE6C-4CB8-9D07-E613346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F2E43D-E39F-47AB-ABE2-356E1CE7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167298-61BF-4A80-B3FC-7365E80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376C4C2-8A4F-4836-A34C-E65E1F1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2804F4-94A9-4291-8038-5CEE45C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DD330CD-3664-48FE-B52E-02F1E289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40F653E-ED43-4BB3-A434-3270AD2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72D7C-5062-4365-BB1A-A7BE339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CD0A835-1319-4589-A109-15057B7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8B825B-0CF9-4108-BE82-7D6D30D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19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705F8A-DDCE-44A2-9377-E098E76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CBA1666-4CF9-4EF5-AAD4-4E89B7E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119F44-A998-4963-B3A6-416C184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4C对应AI协作中的新任务要求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BC3AE1-2075-4F0D-9E8E-DA2E92F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47623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8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AI改变的任务条件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88428F8-3482-4388-9053-FFB1CE6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ACB420-4DB8-4820-910B-2A78474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232410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一般性产出大量增加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5EC29A-BBA7-486E-95E3-8577B725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2417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9DA2371-10D7-4F78-ACFB-CD4E8E5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292417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流畅答案更容易得到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DE9272-C0AC-40D0-92FE-C63817F7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9020BF-3D03-4B22-9B88-844CEBF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352425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人机表达与交接增多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D1500E5-9F0E-48BE-B24C-8EC3CD2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2432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66A326F-57CF-4C50-BFD3-C403933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412432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团队成员可以包括AI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876F79-767E-49EF-9504-14E3257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1971675"/>
            <a:ext cx="47623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8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学生必须承担的新任务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307E4EE-C685-454B-90E3-8495B53F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232410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D29308-F815-4B08-903B-43B0F34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232410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形成意图与作出取舍</a:t>
            </a:r>
            <a:endParaRPr sz="14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8A5E734-915C-4785-A8E4-C196183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292417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7B70366-FC9D-49FD-9D96-DF8D1F0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292417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核验、比较、质疑和拒绝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64B7F70-A565-4778-9F0E-9E7498C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352425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1E621E-53A1-4BFA-96A6-9B0DFFCB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352425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说明目标、理由与限制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25F125E-F870-4C0A-9EFC-38FF8A5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412432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D65DEFE-77A9-4498-9058-9A6A5EE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412432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处理冲突并共同负责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1F2ED3A-1962-441A-9ABB-716122C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43600"/>
            <a:ext cx="998189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学科知识仍是形成判断和核验系统输出的基础。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18987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FA7F997-910F-4AE0-BA52-E9A1E336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0475CE-F855-44B6-8A4D-AF904B9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4894187-F17E-44E6-B265-3AF9DFCC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5FC9E3A-C5C1-47AA-82E8-CA913E5C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599517F-9D9B-4FC8-AF96-E0A6A61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133A7FB-6B5B-4A6C-84F2-24602D7B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024ADA1-EB90-4007-921C-2D1388E3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076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0393D63-48E6-4011-947D-75D2227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2EC2632-E102-498D-A264-F2011B48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F5A93F7-B894-4BB3-B55A-111E820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9A358B-C39A-46A3-B48D-148AFF1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F05AE5-9DE0-41D6-93FE-C2C4B6D2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20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10DBB5A-CE73-4D9E-B298-B80C6EB6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AF1760-F9AA-4409-8282-BF0647D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47D6247-6E12-4843-B09C-355DE7D6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AI介入时机影响创造与批判性思维活动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B58E2C9-687D-4A01-91E5-F238D8B1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00884"/>
            <a:ext cx="4881220" cy="1755648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56A12A9-838E-4192-B757-E926A7BC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250088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462B00B-06DA-47E5-8702-C41492FF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683764"/>
            <a:ext cx="44788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在生成前形成初始判断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8C05134-F756-4872-8479-50990463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031236"/>
            <a:ext cx="44788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美术与写作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B8CF21-649F-4F03-AED1-C6E93C27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268980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学生先留下自己的初始想象或观点。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C6D2870-FC0E-4579-BB3A-C9B8E62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653028"/>
            <a:ext cx="44788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系统在初步判断形成后用于扩展、比较与反思。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FBF2181-4A03-4A4D-B218-E66F8F6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76" y="2500884"/>
            <a:ext cx="4881220" cy="1755648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25E4A34-2E33-4825-B014-223F4304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084" y="250088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93EB718-B30F-4B3D-85E6-0B5F5C9D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683764"/>
            <a:ext cx="44788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在评价前建立标准</a:t>
            </a:r>
            <a:endParaRPr sz="16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8D8598F-5D36-4CEB-AE00-7AB0802C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3031236"/>
            <a:ext cx="44788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基础薄弱学生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A6AD9C-5818-417E-AEFA-400DB77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3268980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3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评价系统输出需要领域知识和明确标准。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80D047E-9DBB-4BC3-92B4-05CE621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3653028"/>
            <a:ext cx="44788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另一个系统可提供评价参考，评价依据仍由学生形成。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40561CF-0418-4227-9ABA-85DAE46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5A7FA13-0566-47B9-ACC2-FECD2AE9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教学设计需要同时考虑介入时机和学生已有的评价基础。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245528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4C1676-55C5-449E-9245-E0D1A73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9DE3626-EA51-42DB-94EA-795C3E8A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E29A84-6F2B-4425-A65D-98345956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E5243C-286B-410A-9417-CE7A1CC1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3C89968-D443-408A-B190-D5758A53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C59A1E-0CBD-454A-99CD-FD27DA3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EEC1AC-CEF5-49D2-9D2C-0D5205AB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CE92C45-141D-4CF4-9583-5348C3F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EBC2AA-34AD-4D29-95B9-2780626C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D57CDC-A3CE-4888-A077-B4F4F42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B156B8-D65D-4A9F-9F2D-F2DF3FD9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751A585-C003-4086-BDB2-1A083D45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21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7ADF8A-3ECD-44EE-A7C0-CFB4877B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857402-ABA3-4890-B48E-98D24071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7E30E61-B22B-4C7F-9354-457F163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完整任务能力要求说明目标、标准、限制与责任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1EFCFF2-F05C-48F9-BA56-ABE6C46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5940"/>
            <a:ext cx="9981895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完整任务沟通需要背景、目标、标准、限制与责任。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2B0F9CE-F803-4F7D-9B81-AB24CAC7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1428"/>
            <a:ext cx="3205378" cy="22860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D67B0D2-46D8-474E-836E-8C2B7A2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2281428"/>
            <a:ext cx="30773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1FD39DB-5D87-4A73-BE1B-E47ECAC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464308"/>
            <a:ext cx="283961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表达完整任务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F8BC60-B60D-4839-9E4F-7042E3C0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848356"/>
            <a:ext cx="283961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2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说明前序决定与质量标准，明确需要传递的上下文。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66BAE9D-3485-4C71-8527-A28B01C5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3616452"/>
            <a:ext cx="28396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5CA3C76-FF1A-41F9-A160-DFA5E0B0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3726180"/>
            <a:ext cx="283961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05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约束　关键限制必须显式。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010E5F4-0C46-4018-A88D-A4386DC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4146804"/>
            <a:ext cx="283961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留痕　记录目标版本。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0DE6B3D-0BA4-4F90-AC9F-9EB28574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658" y="2281428"/>
            <a:ext cx="3205378" cy="22860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3223ADF-B1FA-4D6B-9F0D-A91416BC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666" y="2281428"/>
            <a:ext cx="30773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9AFAC8E-AA0D-4D12-92E1-84278DF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38" y="2464308"/>
            <a:ext cx="283961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检查交接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5E1081-D9F9-4E3F-B18B-34E032D2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38" y="2848356"/>
            <a:ext cx="283961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2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核对角色之间是否丢失证据、边界和失败状态。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4A7F36-4537-413F-AD56-54F23EC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38" y="3616452"/>
            <a:ext cx="28396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0B7C9D6-F99E-420F-84CB-0764453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38" y="3726180"/>
            <a:ext cx="283961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05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约束　生成与审查分离。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A39640F-A54B-4C69-8CFF-D9588934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6538" y="4146804"/>
            <a:ext cx="283961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留痕　保存审查意见。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83370C2-C03F-411A-9175-F36C436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917" y="2281428"/>
            <a:ext cx="3205378" cy="22860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A84DD67-B38F-49B3-842A-93C7075E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925" y="2281428"/>
            <a:ext cx="307736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4D9E4E7-B158-45D7-95B8-43F9BB2C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97" y="2464308"/>
            <a:ext cx="283961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保留人际协商</a:t>
            </a:r>
            <a:endParaRPr sz="15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C7AA7E7-49FC-4444-B436-9F896DDB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97" y="2848356"/>
            <a:ext cx="283961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2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不同意见、冲突处理与共同承诺由小组成员完成。</a:t>
            </a:r>
            <a:endParaRPr sz="12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A9BBFAE-CBDB-4093-97F2-5C25EB0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97" y="3616452"/>
            <a:ext cx="28396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ECE7360-3BD8-4B40-A82D-94AEC54D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97" y="3726180"/>
            <a:ext cx="283961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05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约束　小组成员作出最终决定。</a:t>
            </a:r>
            <a:endParaRPr sz="10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8BEBF2E-695E-448B-BF42-2BCFD79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97" y="4146804"/>
            <a:ext cx="283961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留痕　记录决策理由。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73D304F-BC90-4B5E-8C30-A6CC294C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F719C46-19C6-44DF-A38E-82E5987C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学科任务不止是提出问题，还包括交代证据标准、检查结果并说明采用理由。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932908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BB50076-B2EB-4270-A0C8-C11A991E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50D276-7629-4F55-BC2E-26F79F9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27A05A-2202-4CFA-8DD2-E6CDD89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FD64603-FF43-48FB-9C8E-F62DE7D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1ECFF9-3CD2-4E74-9434-1C82C73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9D9CF77-C83F-495E-867F-DDD45F6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04F007-E538-4A96-B045-D7230240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076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357808-080E-4ED2-A6D8-8C8424E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2BB14B-C228-4EB1-A992-355A59A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581B4B-F7DD-42B6-A4A9-9FCEDB4E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D2629D-D252-4A85-8481-DF9B1FC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C6BB1B-FE42-4335-9B8C-0F91803E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22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9797E3-90AF-42AC-95CC-348A29B9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EDBC96-10C7-4A5D-A9A1-904DF851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640350-94B1-4DC9-BAD2-E7C5EE3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完整任务中的企业家精神与领导力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5FDE1FA-E6A1-46FF-A994-784FA82F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4881220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957F37E-A69D-4C70-B66C-B4B2CDB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186080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925818D-A7D1-40D9-A4FD-1D3C520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043684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企业家精神</a:t>
            </a:r>
            <a:endParaRPr sz="1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326333E-89D9-42BA-9B2C-3CA078D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409444"/>
            <a:ext cx="44788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发现与验证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1E2441-E423-4787-827F-F84007F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683764"/>
            <a:ext cx="447888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主动发现具体问题，在不确定中启动行动。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2247E9F-8751-4A29-A337-9513215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195828"/>
            <a:ext cx="4478884" cy="1453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组织资源、形成原型，并根据采用和反馈持续调整。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009130F-3374-46D4-9390-775711A4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76" y="1860804"/>
            <a:ext cx="4881220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9AA15A6-F32E-4F97-8B92-33FAD98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084" y="186080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532811-6B59-4E59-913E-2370AEC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043684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领导力</a:t>
            </a:r>
            <a:endParaRPr sz="1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D8AD80D-8118-4172-A94F-81C4A72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409444"/>
            <a:ext cx="44788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配置与负责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353B017-20D0-4B53-84AF-C332261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683764"/>
            <a:ext cx="447888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给AI团队设定方向、角色、标准和停止条件。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3AC34A5-5E99-469A-9E93-661C9DAC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3195828"/>
            <a:ext cx="4478884" cy="1453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处理意见冲突，并为系统输出承担人的责任。</a:t>
            </a:r>
            <a:endParaRPr sz="9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B867CE7-2BD0-4B90-9926-1BF330C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15DDE11-C3B6-4485-878B-452C872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企业家精神与领导力分别对应问题发现、资源组织、方向设定和结果责任。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693745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力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23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第二部分　·　未来人才的核心能力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第二部分小结：完整任务需要专业深度、协作与责任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ee9939c15476f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23">
            <a:extLst xmlns:a="http://schemas.openxmlformats.org/drawingml/2006/main">
              <a:ext uri="{FF2B5EF4-FFF2-40B4-BE49-F238E27FC236}">
                <a16:creationId xmlns:a16="http://schemas.microsoft.com/office/drawing/2014/main" id="{2B6DBE94-8ED6-4B1A-AE78-8B3D0E99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23">
            <a:extLst xmlns:a="http://schemas.openxmlformats.org/drawingml/2006/main">
              <a:ext uri="{FF2B5EF4-FFF2-40B4-BE49-F238E27FC236}">
                <a16:creationId xmlns:a16="http://schemas.microsoft.com/office/drawing/2014/main" id="{B5D73727-D35B-458A-AB30-4B72265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23">
            <a:extLst xmlns:a="http://schemas.openxmlformats.org/drawingml/2006/main">
              <a:ext uri="{FF2B5EF4-FFF2-40B4-BE49-F238E27FC236}">
                <a16:creationId xmlns:a16="http://schemas.microsoft.com/office/drawing/2014/main" id="{47A097E6-6BC7-4C7B-BD64-DB0BE4BF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学生不仅要会使用工具，还要能依靠学科知识作判断、组织协作并承担结果责任。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7B298B-C941-4D97-A4CB-BCAB69B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83E116-4972-42A9-B426-077DF65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6DA9C-C6C5-4C89-9102-82F57547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94FF4B-9AA2-4426-A604-40B1A23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9928AE-0CF9-4F99-9CC9-FFCA40D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C33E4A1-0C2B-49E2-95AB-5CD17E2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8012C5-9757-480B-8E44-89DEE19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B24598B-5AB8-4712-9CD5-EA0162B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19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2D1DCD-2673-461E-AD29-DA242EB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91CD416-1FB1-4229-94E4-CA864D0C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94FE5C-BCF6-470C-A5F5-2079551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F4FDE-707D-486C-B487-7EB0318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809C1F-2114-4485-9E66-20645A8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364415-8FD2-42BC-9B46-8745CD0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284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7DE9D3-96A2-41EA-90CF-330D8A5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176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AB1532-205A-437C-A165-8AC10BA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615184"/>
            <a:ext cx="8902903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领域进展与我们的研究</a:t>
            </a:r>
            <a:endParaRPr sz="2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D206B3-54CB-4C3B-9023-FCF95D9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4078224"/>
            <a:ext cx="89029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FD3EA"/>
                </a:solidFill>
                <a:latin typeface="Microsoft YaHei"/>
                <a:ea typeface="Microsoft YaHei"/>
                <a:cs typeface="Microsoft YaHei"/>
              </a:rPr>
              <a:t>从即时效果转向学习系统的组织方式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219789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25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后续研究案例围绕六类问题展开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a20a19b7b4123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25">
            <a:extLst xmlns:a="http://schemas.openxmlformats.org/drawingml/2006/main">
              <a:ext uri="{FF2B5EF4-FFF2-40B4-BE49-F238E27FC236}">
                <a16:creationId xmlns:a16="http://schemas.microsoft.com/office/drawing/2014/main" id="{1066F17A-6754-4E09-B4D9-DA187ABD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25">
            <a:extLst xmlns:a="http://schemas.openxmlformats.org/drawingml/2006/main">
              <a:ext uri="{FF2B5EF4-FFF2-40B4-BE49-F238E27FC236}">
                <a16:creationId xmlns:a16="http://schemas.microsoft.com/office/drawing/2014/main" id="{41B787E4-71DF-41B1-9712-C57C82A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25">
            <a:extLst xmlns:a="http://schemas.openxmlformats.org/drawingml/2006/main">
              <a:ext uri="{FF2B5EF4-FFF2-40B4-BE49-F238E27FC236}">
                <a16:creationId xmlns:a16="http://schemas.microsoft.com/office/drawing/2014/main" id="{FFE15B0A-C743-40BE-8308-2ED3CE54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研究从单次互动与即时成绩，扩展到教师编排、证据解释、协作结构和学校运行条件。</a:t>
            </a:r>
          </a:p>
          <a:p xmlns:a="http://schemas.openxmlformats.org/drawingml/2006/main">
            <a:pPr>
              <a:defRPr sz="1313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研究线索｜AERA 2026议题观察 · ISLS 2026会议主线 · 本团队研究档案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6F1AAB-273C-4F28-BC2E-71BD423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553045-53EE-4038-A3A9-90FD027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AE831C-D81C-42E2-8004-9ABBD823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0C7F1E9-DA65-4CF6-8FDD-6591FFD8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705223-D7BF-4120-9FEC-4D1ECA12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836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87CE2E-0AA3-4BC1-A872-40500308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9DC1A0E-A127-41E6-98C7-7AB46CD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B05B58-E249-4750-9059-BA314AF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A47218B-3F11-4D53-9EAC-54A6EF2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2181A64-13CE-4632-8C6F-D4A1257D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1BDD3E-EBC0-4CE5-97A2-C334DFF4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AE3725-205D-4FFB-B3D6-B8542E6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26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09C3897-49AB-436F-9ECC-AA833930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EA8A69-AAE4-4600-B77C-6FB81A62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97DDC1A-96C4-4CAF-A831-9F487706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研究问题从即时效果扩展到学习系统的组织方式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089B8E3-ED91-402F-9E1C-A14BEA13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A8421F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CF0617-809C-4631-824C-C4D9A628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25396"/>
            <a:ext cx="311393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学习与证据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6C6F2FD-51C6-4979-A6F6-E63187D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38628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421F">
                <a:alpha val="65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57F82D-D75E-4D0F-8E7C-551F200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555748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即时成绩 → 撤除支架后的迁移</a:t>
            </a:r>
            <a:endParaRPr sz="13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FC9A715-38AA-4F27-9BA5-39B04851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812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8324224-348C-44E6-AA7B-7DA80806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42132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421F">
                <a:alpha val="6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391B5F-8CAA-408F-8A55-115FB8CA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159252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最终作品 → 过程与解释证据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3BD2184-C079-4513-A5FE-38C7D940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1316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AFFF95D-5FF2-4230-9BD5-C4802317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5636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421F">
                <a:alpha val="6500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04D8057-1AB9-45DD-A1A2-C57642D9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762756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互动次数 → 认知参与质量</a:t>
            </a:r>
            <a:endParaRPr sz="13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9CB72D-8E5D-4D1D-A79A-290672EA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4820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2BDCBE0-7685-4FBC-BEF9-609E933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49140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421F">
                <a:alpha val="65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364E9E2-3180-4536-B517-1209B423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366260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系统建议 → 可质疑与可修改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59F1312-2C16-4A7B-98E8-D9D86300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1860804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D4ED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7AC68C9-5119-492E-8907-40C3944D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2025396"/>
            <a:ext cx="311393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教师与学校</a:t>
            </a:r>
            <a:endParaRPr sz="17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848F9B9-3E78-43D7-B2E3-CCA35A68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2738628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>
                <a:alpha val="6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49B3DB1-5CA7-46F1-AC90-609CB4D3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546" y="2555748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是否使用 → 如何编排与治理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D7F3EBD-4C11-480A-99EF-A68CD71A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3067812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147C120B-F597-4EC1-8914-C28804EA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3342132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>
                <a:alpha val="65000"/>
              </a:srgbClr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7A1134C-3C84-44E6-9ABA-4EA182B7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546" y="3159252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一次培训 → 持续设计循环</a:t>
            </a:r>
            <a:endParaRPr sz="13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F8EA7C2A-E375-4454-A3D8-53DCF7C0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3671316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6F19BE3-8EA5-4AD3-9E4E-C9442AD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3945636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>
                <a:alpha val="65000"/>
              </a:srgbClr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302D07D-FD00-4D67-9098-B3A9EF7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546" y="3762756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工具采购 → 时间、规则与支持结构</a:t>
            </a:r>
            <a:endParaRPr sz="13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7CB7851-416C-4CE6-9CBD-34F376A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4274820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8D0D23F-C03A-41B4-9F55-CA5285F7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378" y="4549140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4ED8">
                <a:alpha val="65000"/>
              </a:srgbClr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2A402B3-41FC-4F6F-8DF9-13F16BD3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546" y="4366260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节省时间 → 专业注意力如何重新分配</a:t>
            </a:r>
            <a:endParaRPr sz="13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292E154-19E5-44FF-B993-A5624A7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1860804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7A7B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4D23860-AF88-469D-8B28-FBA2ABB0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2025396"/>
            <a:ext cx="311393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b="1">
                <a:solidFill>
                  <a:srgbClr val="2C7A7B"/>
                </a:solidFill>
              </a:defRPr>
            </a:pPr>
            <a:r>
              <a:rPr sz="1700" b="1">
                <a:solidFill>
                  <a:srgbClr val="2C7A7B"/>
                </a:solidFill>
                <a:latin typeface="Microsoft YaHei"/>
                <a:ea typeface="Microsoft YaHei"/>
                <a:cs typeface="Microsoft YaHei"/>
              </a:rPr>
              <a:t>协作与实践</a:t>
            </a:r>
            <a:endParaRPr sz="170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C8F2A29-42E3-4857-BBEE-BFD37EC1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2738628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7A7B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DF94F52-3248-4E32-89EA-215422C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525" y="2555748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27364A"/>
                </a:solidFill>
              </a:defRPr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个人对话 → 群体共同调节</a:t>
            </a:r>
            <a:endParaRPr sz="13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AACB1AD-DBF8-41B1-AA60-1D44014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3067812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AA9448F-9415-452E-BE96-F69BA9B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3342132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7A7B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AE927CB-B6EE-44E6-A436-F7C62DEC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525" y="3159252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27364A"/>
                </a:solidFill>
              </a:defRPr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完成作品 → 保留协商与共同负责</a:t>
            </a:r>
            <a:endParaRPr sz="13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561AE210-1591-4776-9365-B42CEB60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3671316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4AA4BB94-F9E2-41D8-94BB-E1A14BD1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3945636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7A7B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BEE03C6E-515A-4D01-B445-2EFA015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525" y="3762756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27364A"/>
                </a:solidFill>
              </a:defRPr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短期试点 → 安全、低成本持续运行</a:t>
            </a:r>
            <a:endParaRPr sz="13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A2933F8-1459-4DF6-BB01-DBE92215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4274820"/>
            <a:ext cx="311393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4F36FDF-A58B-4EEE-ABBD-06DC00AA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57" y="4549140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7A7B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2E1AFFF3-8E72-45ED-8211-A9C301DD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525" y="4366260"/>
            <a:ext cx="291277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27364A"/>
                </a:solidFill>
              </a:defRPr>
            </a:pPr>
            <a:r>
              <a:rPr sz="13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模型能力 → 课堂角色与评价组合</a:t>
            </a:r>
            <a:endParaRPr sz="1300"/>
          </a:p>
        </p:txBody>
      </p:sp>
      <p:sp>
        <p:nvSpPr>
          <p:cNvPr id="56" name="Summary background 26">
            <a:extLst xmlns:a="http://schemas.openxmlformats.org/drawingml/2006/main">
              <a:ext uri="{FF2B5EF4-FFF2-40B4-BE49-F238E27FC236}">
                <a16:creationId xmlns:a16="http://schemas.microsoft.com/office/drawing/2014/main" id="{5C1B8816-3107-46CB-8B64-08668510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57" name="Summary accent 26">
            <a:extLst xmlns:a="http://schemas.openxmlformats.org/drawingml/2006/main">
              <a:ext uri="{FF2B5EF4-FFF2-40B4-BE49-F238E27FC236}">
                <a16:creationId xmlns:a16="http://schemas.microsoft.com/office/drawing/2014/main" id="{365BE389-A618-47DF-9B58-785AB2D4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ummary 26">
            <a:extLst xmlns:a="http://schemas.openxmlformats.org/drawingml/2006/main">
              <a:ext uri="{FF2B5EF4-FFF2-40B4-BE49-F238E27FC236}">
                <a16:creationId xmlns:a16="http://schemas.microsoft.com/office/drawing/2014/main" id="{19477957-B3ED-4DC7-9058-6FEE95B0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9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研究问题正在从“是否有效”转向“如何组织学习系统”。</a:t>
            </a:r>
          </a:p>
          <a:p xmlns:a="http://schemas.openxmlformats.org/drawingml/2006/main">
            <a:pPr>
              <a:defRPr sz="1425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3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会议线索｜AERA 2026学校实施研究 · ISLS 2026会议分享</a:t>
            </a:r>
          </a:p>
        </p:txBody>
      </p:sp>
    </p:spTree>
    <p:extLst>
      <p:ext uri="{BB962C8B-B14F-4D97-AF65-F5344CB8AC3E}">
        <p14:creationId xmlns:p14="http://schemas.microsoft.com/office/powerpoint/2010/main" val="3990538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D997FA-FD95-4055-9B32-9533C72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5D7E02-0BBF-4DF0-A193-7EB2A28F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4BC3299-BD7C-4EF0-95F7-C9C0EBDD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7F2930-712E-4C02-9976-429B686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B06BAC6-9E38-4D35-820B-D3D5FF83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836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CBC53B-3B67-455B-B74A-D2DBBB3E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32B5A9-737B-4E78-B2DE-6744A6E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C098694-FA42-45C0-80DD-C7890346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B78C96E-DECD-46D4-87B1-1D9DF0D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687870-EF6E-468F-97D7-D7712FA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A077DD-02D6-43EC-9873-18E20EAD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AE2AB0-FDDF-4D41-9F1B-1DCE018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27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83ACB6-510A-4BFB-AEB3-6F28F1A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20386C9-F716-4A2A-87F8-C647A029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12411DF-708C-4646-80A3-9A726E3F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学校AI建设的组织支持条件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2CA0278-180F-45D7-B47E-BFDCD22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5940"/>
            <a:ext cx="99818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学校层面的AI应用需要共同的时间、规则和支持结构。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DE2BEFD-D5EB-4E92-B3A7-623C158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2656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5812F3-93A7-44B8-9422-C75E2C69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222656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079BA0-B6A6-418F-8D40-39C403B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37286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共同备课时间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82C312-39FF-415E-9692-3E092B8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70205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教师把学科问题转化为可试用设计。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3C1575-DD09-4A50-80EE-5E723771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19582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BE3F71-E7F0-4248-826B-75D5141E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25983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支持　时间进入制度安排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B31EEB-1533-4CAA-B583-721BD687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8" y="222656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6987B0C-8905-40CC-9B1B-74D03E35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96" y="222656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875CDC-486B-4AB3-99F7-46C0CB8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237286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低风险试用空间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4CC67D-730C-4178-9FBA-B36DA42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270205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允许小范围失败、人工接管与复盘。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D54FFB5-574B-40A4-855A-E72154C4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319582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C80C01A-55D6-47A1-97F0-F8B2E16B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325983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支持　课堂试用机会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531F838-D50E-4F0B-BB08-54573C8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960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0FD4C89-403B-44D7-86E4-1E170AA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368960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039E20D-440E-4118-9DAB-C784351D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83590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数据与责任边界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869A52B-EF4A-4890-931C-8ED9014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16509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列明数据上传范围、确认者和发布权限。</a:t>
            </a:r>
            <a:endParaRPr sz="11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B3319B7-E039-4DAF-ABC3-0230B13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65886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72EFB9D-4993-44CB-9C97-D460598C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72287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支持　规则与权限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761A3D-D2A9-43AB-A662-248D965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8" y="368960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CCEEFCB-E0EF-44B3-91E5-25C6527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96" y="368960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A68B563-4C71-49ED-AA5C-D355606D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383590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工作量与持续支持</a:t>
            </a:r>
            <a:endParaRPr sz="15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D893854-50CF-4751-AAB0-F0EC963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416509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评估新增的技术与协调工作量。</a:t>
            </a:r>
            <a:endParaRPr sz="11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E64ACC1-099C-45D1-9DD5-DBA28BD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465886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EDEA68D-23ED-4835-92E9-3332680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472287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支持　同伴共同体与技术服务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19F8EC5-509F-455C-82FB-5402256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BB70D4B-E973-4784-96D2-9C0E6256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72150"/>
            <a:ext cx="99819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71450" tIns="76200" rIns="152400" bIns="7620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  <a:defRPr sz="1125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会议线索：AERA 2026学校实施研究；学校AI建设涉及共同备课、低风险试用、数据边界与持续支持。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02651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D997FA-FD95-4055-9B32-9533C72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5D7E02-0BBF-4DF0-A193-7EB2A28F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4BC3299-BD7C-4EF0-95F7-C9C0EBDD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7F2930-712E-4C02-9976-429B686D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B06BAC6-9E38-4D35-820B-D3D5FF83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836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CBC53B-3B67-455B-B74A-D2DBBB3E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832B5A9-737B-4E78-B2DE-6744A6E1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C098694-FA42-45C0-80DD-C7890346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B78C96E-DECD-46D4-87B1-1D9DF0D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1687870-EF6E-468F-97D7-D7712FA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A077DD-02D6-43EC-9873-18E20EAD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AE2AB0-FDDF-4D41-9F1B-1DCE0183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28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83ACB6-510A-4BFB-AEB3-6F28F1A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20386C9-F716-4A2A-87F8-C647A029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12411DF-708C-4646-80A3-9A726E3F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教师侧AI应用与专业注意力配置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2CA0278-180F-45D7-B47E-BFDCD22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5940"/>
            <a:ext cx="99818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节省出的时间需要回到学生观察、困难诊断和关系支持。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DE2BEFD-D5EB-4E92-B3A7-623C158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2656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5812F3-93A7-44B8-9422-C75E2C69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222656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079BA0-B6A6-418F-8D40-39C403B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37286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材料与表格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82C312-39FF-415E-9692-3E092B8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70205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整理常规材料、数据和行政文本。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3C1575-DD09-4A50-80EE-5E723771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19582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BE3F71-E7F0-4248-826B-75D5141E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25983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作用　减少低价值重复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B31EEB-1533-4CAA-B583-721BD687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8" y="222656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6987B0C-8905-40CC-9B1B-74D03E35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96" y="222656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875CDC-486B-4AB3-99F7-46C0CB8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237286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学情聚合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44CC67D-730C-4178-9FBA-B36DA42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270205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呈现需要支持的学生与异常状态。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5D54FFB5-574B-40A4-855A-E72154C4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319582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C80C01A-55D6-47A1-97F0-F8B2E16B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325983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作用　改善注意分配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531F838-D50E-4F0B-BB08-54573C8B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960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0FD4C89-403B-44D7-86E4-1E170AA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368960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039E20D-440E-4118-9DAB-C784351D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83590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常规反馈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869A52B-EF4A-4890-931C-8ED9014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16509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形成可由教师复核的反馈草稿。</a:t>
            </a:r>
            <a:endParaRPr sz="11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B3319B7-E039-4DAF-ABC3-0230B13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65886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72EFB9D-4993-44CB-9C97-D460598C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472287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作用　释放观察时间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761A3D-D2A9-43AB-A662-248D965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8" y="3689604"/>
            <a:ext cx="4899508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CCEEFCB-E0EF-44B3-91E5-25C6527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796" y="3689604"/>
            <a:ext cx="477149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A68B563-4C71-49ED-AA5C-D355606D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3835908"/>
            <a:ext cx="44971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资源匹配</a:t>
            </a:r>
            <a:endParaRPr sz="15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D893854-50CF-4751-AAB0-F0EC9632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4165092"/>
            <a:ext cx="44971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1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按目标与学生起点组织资源。</a:t>
            </a:r>
            <a:endParaRPr sz="11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2E64ACC1-099C-45D1-9DD5-DBA28BD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4658868"/>
            <a:ext cx="44971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EDEA68D-23ED-4835-92E9-3332680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956" y="4722876"/>
            <a:ext cx="44971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作用　支持差异化准备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19F8EC5-509F-455C-82FB-5402256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BB70D4B-E973-4784-96D2-9C0E6256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72150"/>
            <a:ext cx="998191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71450" tIns="76200" rIns="152400" bIns="7620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  <a:defRPr sz="1125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会议线索：AERA 2026教师研究；节省的时间应回到学生观察、困难诊断与关系支持。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02651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29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教师负责学习系统的目标、编排与证据解释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54d730f3f44e6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29">
            <a:extLst xmlns:a="http://schemas.openxmlformats.org/drawingml/2006/main">
              <a:ext uri="{FF2B5EF4-FFF2-40B4-BE49-F238E27FC236}">
                <a16:creationId xmlns:a16="http://schemas.microsoft.com/office/drawing/2014/main" id="{21099FF8-F33A-42C3-8D90-C21F94D5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29">
            <a:extLst xmlns:a="http://schemas.openxmlformats.org/drawingml/2006/main">
              <a:ext uri="{FF2B5EF4-FFF2-40B4-BE49-F238E27FC236}">
                <a16:creationId xmlns:a16="http://schemas.microsoft.com/office/drawing/2014/main" id="{EDCFC3E2-B398-42E1-ABCF-8D383D19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29">
            <a:extLst xmlns:a="http://schemas.openxmlformats.org/drawingml/2006/main">
              <a:ext uri="{FF2B5EF4-FFF2-40B4-BE49-F238E27FC236}">
                <a16:creationId xmlns:a16="http://schemas.microsoft.com/office/drawing/2014/main" id="{FDA487F3-0780-4C1F-BE0E-02445F95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教师侧工具需要可配置、可观察、可调整、可追溯，并保留人工接管。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4103C4-3A4F-4737-A4AA-E9E6AFB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C55DB32-158B-4163-BD60-4EAFE805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1C24EA-F441-4E44-A14B-BB8D4B3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02515D-02E7-4616-B677-8A0A8A0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064E883-74E0-4201-B4B3-8968DDB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836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36E434-E553-48B4-B3FD-C8A60C1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8AFEB9-54E2-4248-9A9C-3974F7A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2857F3-8BE0-490D-B9F8-AA0E317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7A9EC6-10EB-4907-8CEF-56EFF65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B62148-7997-41E4-957A-B642663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0D51B7-430C-4A37-A725-5A39331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3AE03E-0052-4D48-BE02-0E452CFD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30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8F96C5-8173-4CEA-BE7B-0537B516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BB113C-23F1-4EDA-A9EA-52FDCE2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AE98D40-37E6-4409-B6E7-37522ADA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AI-TPACK连接学科内容、教学方法与AI功能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5137D41-7A26-40D2-9253-143D865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99818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3E1D66-2489-4BC5-9474-8C68CE3E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1860804"/>
            <a:ext cx="985387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18F52F-1240-44EF-BAEB-88FC5A5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043684"/>
            <a:ext cx="946983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课堂含义：教师需要同时判断教什么、怎样教，以及AI在哪一步提供何种支持。</a:t>
            </a:r>
            <a:endParaRPr sz="16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37BEDDA-EAD2-4628-B9EE-735BEE9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1917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E40A66-C98E-42FF-8759-3E511B1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3180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样本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E41252-EA61-4CA8-95C6-C822692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2564892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61名教师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AD80511-2E2C-48DA-AEB6-5991DFF9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866644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98AE1BD-FAE0-4803-BCAB-3C4559F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930652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21633C-A64C-4416-B8AF-6B4F638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2912364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8,000余条设计行为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72A40D3-0AB7-4AD2-A557-EC83D4E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214116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DDC1FE6-84AF-4963-9602-A9E29244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278124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分析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051BA63-FC56-4B41-A43A-EEF0257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3259836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识别三类编排模式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73FCC32-86FE-4C88-B91C-5F2F1359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561588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2375379-8C93-45D0-8E18-676108B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625596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状态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1D4AB15-3030-41EC-81E5-EBA0D37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3607308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ISLS 2026短文</a:t>
            </a:r>
            <a:endParaRPr sz="12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BE5526-942A-4A6B-8C97-BED2BA3A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9981914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13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合作研究｜Sun, Xin, Li, Niu, Chai, Huang &amp; Chen · ISLS 2026短文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6738F3E-9238-4366-B76E-FA334F71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F497AEB-58A2-475A-83C2-8BE1C0B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981914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8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教师差异不仅在“是否使用AI”，更在角色分配、任务顺序、检查机制与边界设计。</a:t>
            </a:r>
          </a:p>
        </p:txBody>
      </p:sp>
      <p:sp>
        <p:nvSpPr>
          <p:cNvPr id="35" name="Research conclusion accent 30">
            <a:extLst xmlns:a="http://schemas.openxmlformats.org/drawingml/2006/main">
              <a:ext uri="{FF2B5EF4-FFF2-40B4-BE49-F238E27FC236}">
                <a16:creationId xmlns:a16="http://schemas.microsoft.com/office/drawing/2014/main" id="{755CC3F9-C16E-4E79-8D20-77A1577E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40670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4103C4-3A4F-4737-A4AA-E9E6AFB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C55DB32-158B-4163-BD60-4EAFE805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1C24EA-F441-4E44-A14B-BB8D4B3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02515D-02E7-4616-B677-8A0A8A0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064E883-74E0-4201-B4B3-8968DDB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836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36E434-E553-48B4-B3FD-C8A60C1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8AFEB9-54E2-4248-9A9C-3974F7A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2857F3-8BE0-490D-B9F8-AA0E317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7A9EC6-10EB-4907-8CEF-56EFF65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B62148-7997-41E4-957A-B642663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0D51B7-430C-4A37-A725-5A39331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3AE03E-0052-4D48-BE02-0E452CFD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31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8F96C5-8173-4CEA-BE7B-0537B516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BB113C-23F1-4EDA-A9EA-52FDCE2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AE98D40-37E6-4409-B6E7-37522ADA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研究案例二：持续设计依赖技术、规则、时间与分工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5137D41-7A26-40D2-9253-143D865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99818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3E1D66-2489-4BC5-9474-8C68CE3E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1860804"/>
            <a:ext cx="985387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18F52F-1240-44EF-BAEB-88FC5A5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043684"/>
            <a:ext cx="946983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课堂含义：工具改变的不只是制作速度，也会改变备课时间、学校规则和教师分工。</a:t>
            </a:r>
            <a:endParaRPr sz="16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37BEDDA-EAD2-4628-B9EE-735BEE9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1917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E40A66-C98E-42FF-8759-3E511B1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3180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诊断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E41252-EA61-4CA8-95C6-C822692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2564892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技术、规则、时间与分工的结构性矛盾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AD80511-2E2C-48DA-AEB6-5991DFF9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866644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98AE1BD-FAE0-4803-BCAB-3C4559F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930652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理论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21633C-A64C-4416-B8AF-6B4F638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2912364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文化—历史活动理论 + 自我决定理论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72A40D3-0AB7-4AD2-A557-EC83D4E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214116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DDC1FE6-84AF-4963-9602-A9E29244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278124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干预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051BA63-FC56-4B41-A43A-EEF0257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3259836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两轮结构化支持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73FCC32-86FE-4C88-B91C-5F2F1359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561588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2375379-8C93-45D0-8E18-676108B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625596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结果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1D4AB15-3030-41EC-81E5-EBA0D37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3607308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AI融入式设计、AI-TPACK与态度改善</a:t>
            </a:r>
            <a:endParaRPr sz="12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BE5526-942A-4A6B-8C97-BED2BA3A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9981914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013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合作研究｜Xin, Niu, Li, Sun, Chai, Huang &amp; Chen · ISLS 2026长文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6738F3E-9238-4366-B76E-FA334F71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F497AEB-58A2-475A-83C2-8BE1C0B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981914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8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持续设计的关键不只是培训，还要同时处理技术、规则、时间与分工的结构性条件。</a:t>
            </a:r>
          </a:p>
        </p:txBody>
      </p:sp>
      <p:sp>
        <p:nvSpPr>
          <p:cNvPr id="35" name="Research conclusion accent 31">
            <a:extLst xmlns:a="http://schemas.openxmlformats.org/drawingml/2006/main">
              <a:ext uri="{FF2B5EF4-FFF2-40B4-BE49-F238E27FC236}">
                <a16:creationId xmlns:a16="http://schemas.microsoft.com/office/drawing/2014/main" id="{698EE10C-ED5A-4DC8-BA7C-4796E03A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40670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492F1D-FF7B-40CC-B3D8-557A59D5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EAC88A7-103E-4AD7-8313-C071A4D5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7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78DD6D9-5415-4093-96A6-931094B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ABC09DD-B3CE-4AFE-BEE1-581659A1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C491F67-E683-4414-B7E5-358B3D61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DDE4F71-ED61-4F71-98CF-2AA21837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D947F33-84F8-47A4-BED5-65F53EF9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34B3206-141F-4AB2-95AE-76CF1D80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C021A5-6214-4191-B20E-16CD5DA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E5CA7C-16EF-47FA-8FF8-9866771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F56BE7A-FC5D-4950-B8DA-631F0104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D3606B0-29D7-4AA7-B160-F5CDBBAC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32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F236757-7618-4F23-8F9B-F5AAE838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8EBEB9B-1ACD-4647-AFF2-6BE199F0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C0CC0D6-B556-4EDB-ABBB-C48BA8FF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教师专业发展的设计—试用—审议循环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48D83AB-5E99-40AE-8154-A367264B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9981895" cy="1298448"/>
          </a:xfrm>
          <a:prstGeom xmlns:a="http://schemas.openxmlformats.org/drawingml/2006/main" prst="roundRect">
            <a:avLst>
              <a:gd name="adj" fmla="val 6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673A30A-8959-410B-8848-F113D913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5668"/>
            <a:ext cx="381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ED81F7D-2AEA-4D42-9AB0-BC8FCDB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007108"/>
            <a:ext cx="9469831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60000"/>
              </a:lnSpc>
              <a:buNone/>
            </a:pPr>
            <a:r>
              <a: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理解工具和完成单件作品只是起点。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7E0363D-FBC9-446F-B0FF-15196456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7268"/>
            <a:ext cx="998189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持续循环还包括课堂试用、学生证据和同伴审议。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4F9B03C-2835-482D-8A26-F7C9B3DE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13632"/>
            <a:ext cx="1549349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EC3CF04-383F-4187-8CA0-88299023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3913632"/>
            <a:ext cx="14213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D26853-A5E0-4437-A22C-3FC78D73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" y="4059936"/>
            <a:ext cx="12933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ED2A70-22BA-4852-8A2B-0DFCEBCD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416" y="4261104"/>
            <a:ext cx="129331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具体问题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EB89923-8179-4930-B237-C6CEC915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909" y="3913632"/>
            <a:ext cx="1549349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407BAB0-184E-4718-9671-EA6FBC14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917" y="3913632"/>
            <a:ext cx="14213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1F68B1D-2FFE-4967-B317-509E35D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25" y="4059936"/>
            <a:ext cx="12933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二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81EC876-D212-4208-B122-FB6FCE5C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25" y="4261104"/>
            <a:ext cx="129331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教学设计</a:t>
            </a:r>
            <a:endParaRPr sz="11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42AD78B-8D44-40C1-BC18-24426CA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418" y="3913632"/>
            <a:ext cx="1549349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891392F-9852-44F0-A035-52CFE17F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426" y="3913632"/>
            <a:ext cx="14213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DF7CE51-DB3A-44AB-9F0D-BC235E6B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434" y="4059936"/>
            <a:ext cx="12933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三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2DAD353-B8A8-4FB0-B068-F061B4F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434" y="4261104"/>
            <a:ext cx="129331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小规模试用</a:t>
            </a:r>
            <a:endParaRPr sz="11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610924E-2FA0-4B30-8378-7F884A4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928" y="3913632"/>
            <a:ext cx="1549349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6694200-8F09-4D6F-B70B-F68CAC48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936" y="3913632"/>
            <a:ext cx="14213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46A175F-FA52-4590-A0C1-DF75B6BA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44" y="4059936"/>
            <a:ext cx="12933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四</a:t>
            </a:r>
            <a:endParaRPr sz="9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1C904ED-12B7-4A76-9DF2-DAD99FCF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44" y="4261104"/>
            <a:ext cx="129331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学生证据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A82B45F-84C0-4B9E-908F-E01952C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437" y="3913632"/>
            <a:ext cx="1549349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AE12A93-7537-4FA6-B5DF-059BCEF0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445" y="3913632"/>
            <a:ext cx="14213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47A6CD9-44EA-401D-B003-DFA6C4C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453" y="4059936"/>
            <a:ext cx="12933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五</a:t>
            </a:r>
            <a:endParaRPr sz="9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89E0425-37A9-48FE-8DD1-6C30318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453" y="4261104"/>
            <a:ext cx="129331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同伴审议</a:t>
            </a:r>
            <a:endParaRPr sz="11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0BBF55E-1497-4F7E-AC13-E4D44B6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946" y="3913632"/>
            <a:ext cx="1549349" cy="786384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62CEC3A-93F0-42CD-83F1-DDB49336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954" y="3913632"/>
            <a:ext cx="142133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1BD77C9-902C-48B1-AA4F-F0D9DAD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62" y="4059936"/>
            <a:ext cx="12933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六</a:t>
            </a:r>
            <a:endParaRPr sz="95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B00E52F-F592-4D43-A833-7C5FBEFD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62" y="4261104"/>
            <a:ext cx="129331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1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修改再用</a:t>
            </a:r>
            <a:endParaRPr sz="11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A082361-7BD1-46F7-AD73-5037045F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47F233D0-9A3C-45C9-ADEC-EA7C5C8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下午工作坊的作品需明确准备改变的学习活动。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956211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895BE5-D706-4FB5-A030-7C236F87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D5790FF-1887-437D-8764-0B842FC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686FA1-CE6C-4CB8-9D07-E613346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F2E43D-E39F-47AB-ABE2-356E1CE7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167298-61BF-4A80-B3FC-7365E80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376C4C2-8A4F-4836-A34C-E65E1F1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2804F4-94A9-4291-8038-5CEE45C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DD330CD-3664-48FE-B52E-02F1E289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40F653E-ED43-4BB3-A434-3270AD2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72D7C-5062-4365-BB1A-A7BE339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CD0A835-1319-4589-A109-15057B7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8B825B-0CF9-4108-BE82-7D6D30D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33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705F8A-DDCE-44A2-9377-E098E76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CBA1666-4CF9-4EF5-AAD4-4E89B7E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119F44-A998-4963-B3A6-416C184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个性化学习由一组教学决策构成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BC3AE1-2075-4F0D-9E8E-DA2E92F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47623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8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个性化的对象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88428F8-3482-4388-9053-FFB1CE6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2410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ACB420-4DB8-4820-910B-2A78474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232410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5EC29A-BBA7-486E-95E3-8577B725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2417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9DA2371-10D7-4F78-ACFB-CD4E8E5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292417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路径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DE9272-C0AC-40D0-92FE-C63817F7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9020BF-3D03-4B22-9B88-844CEBF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352425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节奏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D1500E5-9F0E-48BE-B24C-8EC3CD2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2432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66A326F-57CF-4C50-BFD3-C403933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412432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876F79-767E-49EF-9504-14E3257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1971675"/>
            <a:ext cx="47623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8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决定权的主体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307E4EE-C685-454B-90E3-8495B53F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232410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D29308-F815-4B08-903B-43B0F34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232410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14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8A5E734-915C-4785-A8E4-C196183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292417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7B70366-FC9D-49FD-9D96-DF8D1F0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292417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教师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64B7F70-A565-4778-9F0E-9E7498C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3524250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1E621E-53A1-4BFA-96A6-9B0DFFCB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3524250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人机共同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25F125E-F870-4C0A-9EFC-38FF8A5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4124325"/>
            <a:ext cx="4762348" cy="4953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D65DEFE-77A9-4498-9058-9A6A5EE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4124325"/>
            <a:ext cx="4433164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/>
            </a:pPr>
            <a:r>
              <a:rPr sz="16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学生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1F2ED3A-1962-441A-9ABB-716122C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43600"/>
            <a:ext cx="998189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个性化设计需要明确谁决定目标、路径、节奏和介入方式。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18987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D57681-C5F1-44B7-8D6E-362B06D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E2AFBD-DC55-4E7B-9AD7-B7E4261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923D58-920F-4662-95FD-7C1A2B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1A1CA6-DBAD-4FF8-977B-4BB6D8E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462D28B-2D94-4809-8C91-EB35C46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516211C-7634-4668-A868-F82A86A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620701-58C0-480D-9AFC-6621815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FB22F2-5E75-46B5-8A63-607D5C2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71CF46-2E95-45EA-8F00-1C7F638C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1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E62DADD-6AA5-40AE-96CC-92A515E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64AE65-F3E0-42EF-B3D5-A84958C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9F6182C-76B4-425C-BC94-A1EC129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34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6F7061-ABBD-4B59-9C45-3862462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D6C9A0-01AF-4626-8CB4-192F09F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86B80C-9F0C-4CD9-88FB-FE2B21B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个性化学习的理论传统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BEEEB1A-2B06-45BE-9195-5E3A4A31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81635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737C15E-B68F-466B-9225-8012717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694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A43136-2A63-4110-A543-C2817E1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694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754DA4-9802-470A-96FE-0FE0CD0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26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效率传统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15402A9-F860-44DE-9E9C-F1111C7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27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C89067-A023-4617-A785-EB962BD9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07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诊断差异、匹配内容，并提高掌握效率。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44D398A-0237-46F8-B603-5B4D813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5694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67B92A-4F5D-4F42-99FF-393576C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5694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DE386CA-03B2-4A70-ACEA-88E8DED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2826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人本与建构传统</a:t>
            </a:r>
            <a:endParaRPr sz="17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C3BB938-158A-4778-AD39-BCFCF19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9227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13443CC-2747-4458-9E96-390CA8BE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40507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支持兴趣、选择、身份、意义建构与自我导向。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D9E2C-11A4-4F39-AF88-1BE869E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5694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C0FFC0-4923-44BF-AB82-A6C8C9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5694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D99C55-5CD5-42A5-9744-92AD677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2826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生成式AI传统</a:t>
            </a:r>
            <a:endParaRPr sz="1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E9414AF-629E-497A-87E6-ABE8CAB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9227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4DA772F-8B0A-4ABE-A23A-FC5EE61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40507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以对话动态生成解释、反馈和任务，也可能替代学习过程。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F733F1B-AFF5-40AF-871A-5511CD7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F9892E-0713-47A9-B189-48E86DC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推荐精度与学生的认知能动性，需要分别评价。</a:t>
            </a:r>
          </a:p>
          <a:p xmlns:a="http://schemas.openxmlformats.org/drawingml/2006/main"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理论线索｜Bloom（1984） · Papert（1980） · Bastani et al.（2025）</a:t>
            </a:r>
          </a:p>
        </p:txBody>
      </p:sp>
      <p:sp>
        <p:nvSpPr>
          <p:cNvPr id="35" name="Research conclusion accent 34">
            <a:extLst xmlns:a="http://schemas.openxmlformats.org/drawingml/2006/main">
              <a:ext uri="{FF2B5EF4-FFF2-40B4-BE49-F238E27FC236}">
                <a16:creationId xmlns:a16="http://schemas.microsoft.com/office/drawing/2014/main" id="{889DFFCC-85D7-4EA8-AFBF-0D1B25ED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8458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0D57681-C5F1-44B7-8D6E-362B06D3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E2AFBD-DC55-4E7B-9AD7-B7E42611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923D58-920F-4662-95FD-7C1A2B6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1A1CA6-DBAD-4FF8-977B-4BB6D8E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462D28B-2D94-4809-8C91-EB35C46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516211C-7634-4668-A868-F82A86A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620701-58C0-480D-9AFC-6621815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FB22F2-5E75-46B5-8A63-607D5C2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571CF46-2E95-45EA-8F00-1C7F638C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1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E62DADD-6AA5-40AE-96CC-92A515E6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64AE65-F3E0-42EF-B3D5-A84958C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9F6182C-76B4-425C-BC94-A1EC129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35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6F7061-ABBD-4B59-9C45-3862462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D6C9A0-01AF-4626-8CB4-192F09F8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86B80C-9F0C-4CD9-88FB-FE2B21B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个性化学习的三个学习科学支点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BEEEB1A-2B06-45BE-9195-5E3A4A31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81635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737C15E-B68F-466B-9225-8012717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694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A43136-2A63-4110-A543-C2817E1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694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ZPD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754DA4-9802-470A-96FE-0FE0CD0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26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最近发展区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15402A9-F860-44DE-9E9C-F1111C7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27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C89067-A023-4617-A785-EB962BD9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07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学生独立做不到，在有限帮助下可以完成。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44D398A-0237-46F8-B603-5B4D813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5694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967B92A-4F5D-4F42-99FF-393576C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5694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SRL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DE386CA-03B2-4A70-ACEA-88E8DED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2826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自我调节学习</a:t>
            </a:r>
            <a:endParaRPr sz="17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C3BB938-158A-4778-AD39-BCFCF19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9227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13443CC-2747-4458-9E96-390CA8BE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40507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学生逐渐能够定目标、看进度并调整方法。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D9E2C-11A4-4F39-AF88-1BE869E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5694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C0FFC0-4923-44BF-AB82-A6C8C9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5694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SDT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D99C55-5CD5-42A5-9744-92AD677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2826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自我决定理论</a:t>
            </a:r>
            <a:endParaRPr sz="1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E9414AF-629E-497A-87E6-ABE8CAB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9227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4DA772F-8B0A-4ABE-A23A-FC5EE61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40507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学生保留选择，并形成胜任感和关系支持。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F733F1B-AFF5-40AF-871A-5511CD7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F9892E-0713-47A9-B189-48E86DC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有效支架不仅提供帮助，还要随着学生能力发展逐步撤除。</a:t>
            </a:r>
          </a:p>
          <a:p xmlns:a="http://schemas.openxmlformats.org/drawingml/2006/main"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理论出处｜Vygotsky（1978） · Zimmerman（2000） · Deci &amp; Ryan（2000）</a:t>
            </a:r>
          </a:p>
        </p:txBody>
      </p:sp>
      <p:sp>
        <p:nvSpPr>
          <p:cNvPr id="35" name="Research conclusion accent 35">
            <a:extLst xmlns:a="http://schemas.openxmlformats.org/drawingml/2006/main">
              <a:ext uri="{FF2B5EF4-FFF2-40B4-BE49-F238E27FC236}">
                <a16:creationId xmlns:a16="http://schemas.microsoft.com/office/drawing/2014/main" id="{999C0ABF-7FA7-410D-A5D8-670AAA9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8458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36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效率与认知主权共同构成评价维度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8f0813d0640dc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36">
            <a:extLst xmlns:a="http://schemas.openxmlformats.org/drawingml/2006/main">
              <a:ext uri="{FF2B5EF4-FFF2-40B4-BE49-F238E27FC236}">
                <a16:creationId xmlns:a16="http://schemas.microsoft.com/office/drawing/2014/main" id="{D1DBD89D-7ED0-4ABE-BC50-DEF43E59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36">
            <a:extLst xmlns:a="http://schemas.openxmlformats.org/drawingml/2006/main">
              <a:ext uri="{FF2B5EF4-FFF2-40B4-BE49-F238E27FC236}">
                <a16:creationId xmlns:a16="http://schemas.microsoft.com/office/drawing/2014/main" id="{C1930FD4-7C0E-4722-AF7B-DA5B3CEB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36">
            <a:extLst xmlns:a="http://schemas.openxmlformats.org/drawingml/2006/main">
              <a:ext uri="{FF2B5EF4-FFF2-40B4-BE49-F238E27FC236}">
                <a16:creationId xmlns:a16="http://schemas.microsoft.com/office/drawing/2014/main" id="{7E4FF3C0-F327-46EE-AB76-94977AEA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认知主权表现为学生仍能设定目标、作出判断、说明理由，并拒绝不合适的系统建议。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4103C4-3A4F-4737-A4AA-E9E6AFB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C55DB32-158B-4163-BD60-4EAFE805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1C24EA-F441-4E44-A14B-BB8D4B3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02515D-02E7-4616-B677-8A0A8A07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064E883-74E0-4201-B4B3-8968DDB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83669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336E434-E553-48B4-B3FD-C8A60C1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8AFEB9-54E2-4248-9A9C-3974F7A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2857F3-8BE0-490D-B9F8-AA0E317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7A9EC6-10EB-4907-8CEF-56EFF652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B62148-7997-41E4-957A-B642663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0D51B7-430C-4A37-A725-5A39331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3AE03E-0052-4D48-BE02-0E452CFD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37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8F96C5-8173-4CEA-BE7B-0537B516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BB113C-23F1-4EDA-A9EA-52FDCE2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AE98D40-37E6-4409-B6E7-37522ADA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评估AI学习效果先核对证据结构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5137D41-7A26-40D2-9253-143D865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9981895" cy="214884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3E1D66-2489-4BC5-9474-8C68CE3E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1860804"/>
            <a:ext cx="9853879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18F52F-1240-44EF-BAEB-88FC5A5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043684"/>
            <a:ext cx="9469831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教学干预包括模型、角色、时机、活动与评价的组合。</a:t>
            </a:r>
            <a:endParaRPr sz="16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37BEDDA-EAD2-4628-B9EE-735BEE9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1917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E40A66-C98E-42FF-8759-3E511B1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3180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样本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E41252-EA61-4CA8-95C6-C822692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2564892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谁参加了研究？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AD80511-2E2C-48DA-AEB6-5991DFF9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866644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98AE1BD-FAE0-4803-BCAB-3C4559F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930652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测量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21633C-A64C-4416-B8AF-6B4F638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2912364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即时成绩还是长期迁移？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72A40D3-0AB7-4AD2-A557-EC83D4E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214116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DDC1FE6-84AF-4963-9602-A9E29244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278124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撤除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051BA63-FC56-4B41-A43A-EEF02571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3259836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没有AI时怎样？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73FCC32-86FE-4C88-B91C-5F2F1359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561588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2375379-8C93-45D0-8E18-676108B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625596"/>
            <a:ext cx="868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外推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1D4AB15-3030-41EC-81E5-EBA0D37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984" y="3607308"/>
            <a:ext cx="8482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适用于我的学科和学生吗？</a:t>
            </a:r>
            <a:endParaRPr sz="12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BE5526-942A-4A6B-8C97-BED2BA3A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5948"/>
            <a:ext cx="998189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保留样本、学科与时间边界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6738F3E-9238-4366-B76E-FA334F71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F497AEB-58A2-475A-83C2-8BE1C0B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评估AI学习效果，要看撤除支架后的独立表现与迁移。</a:t>
            </a:r>
          </a:p>
          <a:p xmlns:a="http://schemas.openxmlformats.org/drawingml/2006/main">
            <a:r>
              <a:rPr sz="112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证据线索｜Bastani et al.（2025） · Kestin et al.（2025） · Pane et al.（2014/2017）</a:t>
            </a:r>
          </a:p>
        </p:txBody>
      </p:sp>
      <p:sp>
        <p:nvSpPr>
          <p:cNvPr id="35" name="Research conclusion accent 37">
            <a:extLst xmlns:a="http://schemas.openxmlformats.org/drawingml/2006/main">
              <a:ext uri="{FF2B5EF4-FFF2-40B4-BE49-F238E27FC236}">
                <a16:creationId xmlns:a16="http://schemas.microsoft.com/office/drawing/2014/main" id="{EF0D5442-D20D-4B5F-AD21-DA404E49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40670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38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个性化学习审计包含目的、决策权与参与</a:t>
            </a:r>
            <a:endParaRPr sz="3200"/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3557459ba4f87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ource line 38">
            <a:extLst xmlns:a="http://schemas.openxmlformats.org/drawingml/2006/main">
              <a:ext uri="{FF2B5EF4-FFF2-40B4-BE49-F238E27FC236}">
                <a16:creationId xmlns:a16="http://schemas.microsoft.com/office/drawing/2014/main" id="{F834F00F-397C-45F5-BCB2-8654B4C9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99819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合作研究｜Chee-Kit Looi 教授（香港教育大学） × 辛海洋 · ACM AI Letters Opinion（审稿中）</a:t>
            </a:r>
          </a:p>
        </p:txBody>
      </p:sp>
      <p:sp>
        <p:nvSpPr>
          <p:cNvPr id="19" name="Summary background 38">
            <a:extLst xmlns:a="http://schemas.openxmlformats.org/drawingml/2006/main">
              <a:ext uri="{FF2B5EF4-FFF2-40B4-BE49-F238E27FC236}">
                <a16:creationId xmlns:a16="http://schemas.microsoft.com/office/drawing/2014/main" id="{B65ADE4F-0AE1-4D10-9A59-B5CF6594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43575"/>
            <a:ext cx="9981914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20" name="Summary accent 38">
            <a:extLst xmlns:a="http://schemas.openxmlformats.org/drawingml/2006/main">
              <a:ext uri="{FF2B5EF4-FFF2-40B4-BE49-F238E27FC236}">
                <a16:creationId xmlns:a16="http://schemas.microsoft.com/office/drawing/2014/main" id="{443FDC62-25FB-4306-92D2-B58884E5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43575"/>
            <a:ext cx="666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mmary 38">
            <a:extLst xmlns:a="http://schemas.openxmlformats.org/drawingml/2006/main">
              <a:ext uri="{FF2B5EF4-FFF2-40B4-BE49-F238E27FC236}">
                <a16:creationId xmlns:a16="http://schemas.microsoft.com/office/drawing/2014/main" id="{FEF22A25-592F-43EC-AB0A-1CBC1D81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912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个性化不能只看推荐是否准确，还要审计目的、决策权，以及学生是否仍在完成关键学习活动。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0F43CFB-6FB8-44C1-A07C-58EE67CA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8649D8F-DA55-421F-AE3E-703392F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DCD3E6-B1AF-43AB-9BA8-77FD8A35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1CFE38-0536-4092-9D91-0AF5102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0605C53-EA54-4E38-B58A-3EABF2E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3E3177-82D4-4667-A5D8-68F5219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2CEFDF-1FEF-4441-8BCD-2F8C4CC7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2EC6E0-D716-4280-8448-90AFEBF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87A9A2-80B6-478A-AE36-547BA071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1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7CF9013-B1B5-4DF2-AF59-1F93396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0C3E6-0953-4BD1-BA7C-B859910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2BA041-9CCA-4E54-B93D-BFB887A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39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D9A3B6-FB00-4807-AA6E-3D78B58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851DB2-1379-4702-B916-DA05E579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7E39EC-1D2C-4D96-B0B5-A9FEBBB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“共同调节”指小组共同计划、监控并处理分歧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92C0E34-B8D0-4E2B-A0D8-1917D90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775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61BF05A-9D05-44AC-97ED-D63F18A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74A64AC-D976-4AEF-AED7-71F05D8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单人交互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9E9D26C-CA86-41E9-8158-40B7A24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学生与一个聊天机器人互动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0AACA6D-ED60-40B3-A630-61D07574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2016A5B-0BB0-4ECE-AB9B-697806B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主要处理解释、反馈和个人自我调节。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A4D86AA-FD2C-4A32-9363-D29E89D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24C9AEB-7F9E-45A4-908C-6CDBCB5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多角色支持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BD04027-688D-4F5A-923F-D5D6B54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不同角色支持计划、监控、反思与知识建构</a:t>
            </a:r>
            <a:endParaRPr sz="17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D9F7E4F-166A-4F0E-B22B-FDC89F85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6D8E7FE-C36B-4AE0-9D8C-D663103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系统开始根据任务阶段分配支持。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A4E6F21-374E-4404-B9DC-1CC33D0B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1197ADE-63D4-4264-8BD3-F3204BD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共同调节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9B6D979-C6F9-487F-9B62-5BA37A0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关注同伴互动、参与失衡与认知权威流动</a:t>
            </a:r>
            <a:endParaRPr sz="1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3FF8E4C-2E87-43ED-A111-83839B64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8F780BA-3CE5-4909-964D-CCC7FBE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目标是支持小组共同规划、协商和负责。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9B1F018-3EC3-4F43-A171-7E6EDACA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C0D7F1C-2D98-46ED-B04A-691C821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共同调节要求小组共同计划、监控进展、处理分歧并形成决定。</a:t>
            </a:r>
          </a:p>
          <a:p xmlns:a="http://schemas.openxmlformats.org/drawingml/2006/main"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理论出处｜Hadwin、Järvelä &amp; Miller（2018）</a:t>
            </a:r>
          </a:p>
        </p:txBody>
      </p:sp>
      <p:sp>
        <p:nvSpPr>
          <p:cNvPr id="35" name="Research conclusion accent 39">
            <a:extLst xmlns:a="http://schemas.openxmlformats.org/drawingml/2006/main">
              <a:ext uri="{FF2B5EF4-FFF2-40B4-BE49-F238E27FC236}">
                <a16:creationId xmlns:a16="http://schemas.microsoft.com/office/drawing/2014/main" id="{69BE66A9-ACC3-4DCB-B97B-DDBCC5D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70331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40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个人效率提高可能压缩社会性学习活动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19d201232404e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40">
            <a:extLst xmlns:a="http://schemas.openxmlformats.org/drawingml/2006/main">
              <a:ext uri="{FF2B5EF4-FFF2-40B4-BE49-F238E27FC236}">
                <a16:creationId xmlns:a16="http://schemas.microsoft.com/office/drawing/2014/main" id="{66240BAA-550E-48E0-9EAB-D68EA7A0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40">
            <a:extLst xmlns:a="http://schemas.openxmlformats.org/drawingml/2006/main">
              <a:ext uri="{FF2B5EF4-FFF2-40B4-BE49-F238E27FC236}">
                <a16:creationId xmlns:a16="http://schemas.microsoft.com/office/drawing/2014/main" id="{C3F92FD2-A338-4310-BDE5-4A47D2B2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40">
            <a:extLst xmlns:a="http://schemas.openxmlformats.org/drawingml/2006/main">
              <a:ext uri="{FF2B5EF4-FFF2-40B4-BE49-F238E27FC236}">
                <a16:creationId xmlns:a16="http://schemas.microsoft.com/office/drawing/2014/main" id="{C720397B-1493-4080-8CEA-0E2AFC6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88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8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个人效率不能以减少同伴协商、观点解释和共同决策为代价。</a:t>
            </a:r>
          </a:p>
          <a:p xmlns:a="http://schemas.openxmlformats.org/drawingml/2006/main">
            <a:pPr>
              <a:defRPr sz="1388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研究线索｜AERA 2026高丽大学协作学习系统综述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0F43CFB-6FB8-44C1-A07C-58EE67CA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8649D8F-DA55-421F-AE3E-703392F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DCD3E6-B1AF-43AB-9BA8-77FD8A35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1CFE38-0536-4092-9D91-0AF51029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0605C53-EA54-4E38-B58A-3EABF2E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3E3177-82D4-4667-A5D8-68F5219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2CEFDF-1FEF-4441-8BCD-2F8C4CC7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2EC6E0-D716-4280-8448-90AFEBF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B87A9A2-80B6-478A-AE36-547BA071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315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7CF9013-B1B5-4DF2-AF59-1F93396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0C3E6-0953-4BD1-BA7C-B859910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2BA041-9CCA-4E54-B93D-BFB887A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41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D9A3B6-FB00-4807-AA6E-3D78B58D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D851DB2-1379-4702-B916-DA05E579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A7E39EC-1D2C-4D96-B0B5-A9FEBBB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协作研究逐步转向共同调节机制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92C0E34-B8D0-4E2B-A0D8-1917D90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587752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61BF05A-9D05-44AC-97ED-D63F18A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74A64AC-D976-4AEF-AED7-71F05D8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2024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9E9D26C-CA86-41E9-8158-40B7A24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共享空间进入项目学习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0AACA6D-ED60-40B3-A630-61D07574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2016A5B-0BB0-4ECE-AB9B-697806B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CocoNote支持资料、想法与任务状态共享。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A4D86AA-FD2C-4A32-9363-D29E89D0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24C9AEB-7F9E-45A4-908C-6CDBCB56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2025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BD04027-688D-4F5A-923F-D5D6B544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共同调节实证研究</a:t>
            </a:r>
            <a:endParaRPr sz="17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D9F7E4F-166A-4F0E-B22B-FDC89F85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6D8E7FE-C36B-4AE0-9D8C-D663103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CocoNote相关研究获得CSCL优秀短论文奖。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A4E6F21-374E-4404-B9DC-1CC33D0B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1197ADE-63D4-4264-8BD3-F3204BD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340864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2026</a:t>
            </a:r>
            <a:endParaRPr sz="12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9B6D979-C6F9-487F-9B62-5BA37A0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054096"/>
            <a:ext cx="307126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多个AI角色协同</a:t>
            </a:r>
            <a:endParaRPr sz="1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3FF8E4C-2E87-43ED-A111-83839B64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694176"/>
            <a:ext cx="30712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8F780BA-3CE5-4909-964D-CCC7FBE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822192"/>
            <a:ext cx="307126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规划、进度检查、反思、知识梳理与灵感提示分工协同。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9B1F018-3EC3-4F43-A171-7E6EDACA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C0D7F1C-2D98-46ED-B04A-691C821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981914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  <p:txBody>
          <a:bodyPr xmlns:a="http://schemas.openxmlformats.org/drawingml/2006/main" wrap="square" lIns="190500" tIns="66675" rIns="152400" bIns="66675" anchor="ctr"/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共同调节不是让每个人各自与AI互动，而是让小组共同计划、监控、处理分歧并形成决定。</a:t>
            </a:r>
          </a:p>
        </p:txBody>
      </p:sp>
      <p:sp>
        <p:nvSpPr>
          <p:cNvPr id="35" name="Source line 41">
            <a:extLst xmlns:a="http://schemas.openxmlformats.org/drawingml/2006/main">
              <a:ext uri="{FF2B5EF4-FFF2-40B4-BE49-F238E27FC236}">
                <a16:creationId xmlns:a16="http://schemas.microsoft.com/office/drawing/2014/main" id="{1EEA5AAF-65DD-4B8F-8346-023A7E9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998191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9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合作研究｜辛海洋 × Gaowei Chen 教授 × Ching Sing Chai 教授及跨校研究团队（CSCL 2025–2026）</a:t>
            </a:r>
          </a:p>
        </p:txBody>
      </p:sp>
      <p:sp>
        <p:nvSpPr>
          <p:cNvPr id="36" name="Research conclusion accent 41">
            <a:extLst xmlns:a="http://schemas.openxmlformats.org/drawingml/2006/main">
              <a:ext uri="{FF2B5EF4-FFF2-40B4-BE49-F238E27FC236}">
                <a16:creationId xmlns:a16="http://schemas.microsoft.com/office/drawing/2014/main" id="{E6B7C8EA-85F9-4A65-BF8F-841C2931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703316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42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两项同行评审奖项记录阶段性研究成果</a:t>
            </a:r>
            <a:endParaRPr sz="3200"/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4d3bd046e4f69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ource line 42">
            <a:extLst xmlns:a="http://schemas.openxmlformats.org/drawingml/2006/main">
              <a:ext uri="{FF2B5EF4-FFF2-40B4-BE49-F238E27FC236}">
                <a16:creationId xmlns:a16="http://schemas.microsoft.com/office/drawing/2014/main" id="{53CE1DA1-C277-4A9C-9F8A-E68DD4BF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998191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合作团队｜2025：辛海洋、Shuang Li、Lingyun Huang 等 · 2026：Shuang Li、辛海洋、Gaowei Chen 教授、Ching Sing Chai 教授等</a:t>
            </a:r>
          </a:p>
        </p:txBody>
      </p:sp>
      <p:sp>
        <p:nvSpPr>
          <p:cNvPr id="19" name="Summary background 42">
            <a:extLst xmlns:a="http://schemas.openxmlformats.org/drawingml/2006/main">
              <a:ext uri="{FF2B5EF4-FFF2-40B4-BE49-F238E27FC236}">
                <a16:creationId xmlns:a16="http://schemas.microsoft.com/office/drawing/2014/main" id="{9EEC555C-A0A5-44A3-B789-B5401841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9981914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20" name="Summary accent 42">
            <a:extLst xmlns:a="http://schemas.openxmlformats.org/drawingml/2006/main">
              <a:ext uri="{FF2B5EF4-FFF2-40B4-BE49-F238E27FC236}">
                <a16:creationId xmlns:a16="http://schemas.microsoft.com/office/drawing/2014/main" id="{B56B3009-661D-4F26-86D4-8E8888F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ummary 42">
            <a:extLst xmlns:a="http://schemas.openxmlformats.org/drawingml/2006/main">
              <a:ext uri="{FF2B5EF4-FFF2-40B4-BE49-F238E27FC236}">
                <a16:creationId xmlns:a16="http://schemas.microsoft.com/office/drawing/2014/main" id="{A2F04256-64B5-4833-94E4-FA929E8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62625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13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5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>研究结论｜</a:t>
            </a:r>
            <a:r>
              <a:rPr sz="175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研究把共同计划、过程监控、分歧处理与结果反思，转化为可以设计和观察的课堂活动。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BB50076-B2EB-4270-A0C8-C11A991E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50D276-7629-4F55-BC2E-26F79F90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27A05A-2202-4CFA-8DD2-E6CDD89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FD64603-FF43-48FB-9C8E-F62DE7D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A1ECFF9-3CD2-4E74-9434-1C82C730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9D9CF77-C83F-495E-867F-DDD45F6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04F007-E538-4A96-B045-D7230240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076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357808-080E-4ED2-A6D8-8C8424E9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2BB14B-C228-4EB1-A992-355A59A0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581B4B-F7DD-42B6-A4A9-9FCEDB4E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D2629D-D252-4A85-8481-DF9B1FC0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研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究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C6BB1B-FE42-4335-9B8C-0F91803E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43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9797E3-90AF-42AC-95CC-348A29B9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EDBC96-10C7-4A5D-A9A1-904DF851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第三部分　·　领域进展与我们的研究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640350-94B1-4DC9-BAD2-E7C5EE34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第三部分小结：系统提供支持，小组成员保留共同决策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5FDE1FA-E6A1-46FF-A994-784FA82F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4881220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957F37E-A69D-4C70-B66C-B4B2CDB3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408" y="186080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925818D-A7D1-40D9-A4FD-1D3C5200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043684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系统支持</a:t>
            </a:r>
            <a:endParaRPr sz="1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326333E-89D9-42BA-9B2C-3CA078DA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409444"/>
            <a:ext cx="44788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状态与提示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1E2441-E423-4787-827F-F84007F3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2683764"/>
            <a:ext cx="447888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呈现参与状态、记录观点变化、提示计划与进度。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2247E9F-8751-4A29-A337-9513215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568" y="3195828"/>
            <a:ext cx="4478884" cy="1453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在停滞时提出调节性问题，帮助教师定位需要介入的小组。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009130F-3374-46D4-9390-775711A4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76" y="1860804"/>
            <a:ext cx="4881220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9AA15A6-F32E-4F97-8B92-33FAD989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084" y="1860804"/>
            <a:ext cx="47532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532811-6B59-4E59-913E-2370AEC2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043684"/>
            <a:ext cx="44788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学生协作</a:t>
            </a:r>
            <a:endParaRPr sz="1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D8AD80D-8118-4172-A94F-81C4A72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409444"/>
            <a:ext cx="44788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协商与责任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353B017-20D0-4B53-84AF-C332261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2683764"/>
            <a:ext cx="447888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表达和解释观点、倾听不同意见、处理分歧。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3AC34A5-5E99-469A-9E93-661C9DAC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244" y="3195828"/>
            <a:ext cx="4478884" cy="1453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sz="9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分配责任、修复冲突并形成共同决定。</a:t>
            </a:r>
            <a:endParaRPr sz="9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B867CE7-2BD0-4B90-9926-1BF330C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15DDE11-C3B6-4485-878B-452C872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系统可以呈现状态与提出调节性问题；协商、冲突处理和责任分配仍由小组成员完成。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693745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7B298B-C941-4D97-A4CB-BCAB69B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83E116-4972-42A9-B426-077DF65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6DA9C-C6C5-4C89-9102-82F57547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94FF4B-9AA2-4426-A604-40B1A23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9928AE-0CF9-4F99-9CC9-FFCA40D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C33E4A1-0C2B-49E2-95AB-5CD17E2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8012C5-9757-480B-8E44-89DEE19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B24598B-5AB8-4712-9CD5-EA0162B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19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2D1DCD-2673-461E-AD29-DA242EB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91CD416-1FB1-4229-94E4-CA864D0C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94FE5C-BCF6-470C-A5F5-2079551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F4FDE-707D-486C-B487-7EB0318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44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809C1F-2114-4485-9E66-20645A8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364415-8FD2-42BC-9B46-8745CD0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284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第四部分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7DE9D3-96A2-41EA-90CF-330D8A5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176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AB1532-205A-437C-A165-8AC10BA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615184"/>
            <a:ext cx="8902903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课堂上的可为与不可为</a:t>
            </a:r>
            <a:endParaRPr sz="2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D206B3-54CB-4C3B-9023-FCF95D9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4078224"/>
            <a:ext cx="89029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FD3EA"/>
                </a:solidFill>
                <a:latin typeface="Microsoft YaHei"/>
                <a:ea typeface="Microsoft YaHei"/>
                <a:cs typeface="Microsoft YaHei"/>
              </a:rPr>
              <a:t>按学习目标、介入时机和学习证据配置AI角色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2197894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45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课堂认知活动分布在四类主体之间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b4f579a534b78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45">
            <a:extLst xmlns:a="http://schemas.openxmlformats.org/drawingml/2006/main">
              <a:ext uri="{FF2B5EF4-FFF2-40B4-BE49-F238E27FC236}">
                <a16:creationId xmlns:a16="http://schemas.microsoft.com/office/drawing/2014/main" id="{16F33F5A-9F7D-4835-B1D2-40DA85B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45">
            <a:extLst xmlns:a="http://schemas.openxmlformats.org/drawingml/2006/main">
              <a:ext uri="{FF2B5EF4-FFF2-40B4-BE49-F238E27FC236}">
                <a16:creationId xmlns:a16="http://schemas.microsoft.com/office/drawing/2014/main" id="{F3F2A2E5-A7C8-4D09-B4DD-FC1C9516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45">
            <a:extLst xmlns:a="http://schemas.openxmlformats.org/drawingml/2006/main">
              <a:ext uri="{FF2B5EF4-FFF2-40B4-BE49-F238E27FC236}">
                <a16:creationId xmlns:a16="http://schemas.microsoft.com/office/drawing/2014/main" id="{A6BDA9D4-C8DB-4A42-97DC-EC51D0A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课堂设计需要明确分配目标、解释、决策、评价与结果责任。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14EEA8-4474-41D8-B98A-C4B3B48C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3E7EB9-D3CA-42BB-8413-8CDA91E6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FFD6A8-56CB-491B-9051-C63CAB0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E85BEB-5C45-4EF6-BCA5-2A8973B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F16D712-4FFC-47BD-AE46-35E2BE80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53FDFD-281D-4860-B625-F1D40A6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A9DC157-67B4-4C27-A1E5-8B538649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6D99BF0-43B3-4133-BE0E-9305254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9B7B50C-D214-4B0C-867B-38105FB6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C11EAC8-3229-453B-B7F8-7EE00063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E8F6F5C-8B72-4258-9441-933A7C68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877883-B0EE-4353-8AC3-464378F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46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37F58-2749-4C5F-9BFB-0A4F79C4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136178-6D48-44EC-8AEF-551EC36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E0A312-0BAD-4C82-9F5C-D3E7F85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AI介入的三项判断：能力目标、过程影响与证据设计</a:t>
            </a:r>
            <a:endParaRPr sz="3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0DAC0A-5707-4C1B-92EE-A766EC0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3191256"/>
            <a:ext cx="94698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3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391F31D-2EED-479D-AC77-FB84741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4436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A2F4983-535F-4E2A-AB64-B3231E4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4436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2FA9BF3-31B1-44D4-A5A7-6A8DE559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307126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明确该环节所训练的能力</a:t>
            </a:r>
            <a:endParaRPr sz="18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9E57C3-707F-40B1-B139-3284E813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94436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724A17-0D7A-4248-9A28-6A104BF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294436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二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45AF2BF-AED4-4FF5-922E-C3F5363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138" y="3657600"/>
            <a:ext cx="307126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判断AI是否替代能力形成过程</a:t>
            </a:r>
            <a:endParaRPr sz="18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F8638F5-515F-463D-A85B-CA1336D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94436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21590">
            <a:solidFill>
              <a:srgbClr val="C2552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BB8F9E-BD2B-44F1-87FD-1C624261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2944368"/>
            <a:ext cx="493776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三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6D4F068-B46F-4A6B-BBDC-8FED8FF3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77" y="3657600"/>
            <a:ext cx="3071266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8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重新设计活动、AI角色与学习证据</a:t>
            </a:r>
            <a:endParaRPr sz="18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F2CB886-DB19-4F85-9E47-4225084F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D6DF72A-4F87-4E73-81DE-9F41A21C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有些困难正是能力形成的过程，不宜由AI系统直接消除。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6017975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36E29BF-A469-4FE8-B0D4-9A5D29E2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902974-70F7-46E0-B41E-34D85C16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D2C1DAB-2566-4022-AA40-55A2DBE9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CA552A2-F5EB-415F-85F3-2AD26C0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A63E27-170F-4488-9BDC-C2894902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85CE7D3-EF5A-4A27-926E-08BCB5F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613EE5A-1D93-436B-B130-3C75BB29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711F1A-71E8-4747-A55C-729D4FC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9D491A3-415E-4A75-82BF-110266A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2B9434B-AE1F-486E-9259-74B66A88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43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0214299-19B3-470C-BB67-4DA08FC9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213268-20A0-4836-8F9B-60D94CB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47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F234853-5F05-4EC5-A52A-7A1C5D7A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3E35D27-D380-470E-BBA1-4625A21E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8D3B317-967C-447E-AC43-6189CEE6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74420"/>
            <a:ext cx="9981895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6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课堂设计框架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CFE2F4-3338-46F5-B64F-413872C2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12164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‘做中学’六个阶段中的AI介入方式</a:t>
            </a:r>
            <a:endParaRPr sz="25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E0E9D88-CAAE-4E66-94C9-D96167D4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88820"/>
            <a:ext cx="9981895" cy="3666744"/>
          </a:xfrm>
          <a:prstGeom xmlns:a="http://schemas.openxmlformats.org/drawingml/2006/main" prst="roundRect">
            <a:avLst>
              <a:gd name="adj" fmla="val 17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8C55B7D-2182-4EFB-ADF9-E503F126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688" y="2007108"/>
            <a:ext cx="9945319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F7FAF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A95BB91-4E5F-445A-AE78-30E9E06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1988820"/>
            <a:ext cx="171907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阶段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77EE07A-9BD6-4CE6-B732-5A2C5B1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1988820"/>
            <a:ext cx="37490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学生必须保留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0EB4E57-48F1-403C-985C-8BDD855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1988820"/>
            <a:ext cx="3690823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AI适当角色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73C9791-3DC1-4898-BBB0-69AEACA9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1428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F2E2A4F-41FF-470F-95D1-E2288F1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2281428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ECE4673-6276-4531-9995-796811D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2281428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84DAB73-FA89-4BC2-B6FB-9D8EF822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2363724"/>
            <a:ext cx="1719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提出问题和假设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860074E-1767-45D7-A226-ACEF3EB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2610612"/>
            <a:ext cx="324612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C10"/>
          </a:solidFill>
          <a:ln xmlns:a="http://schemas.openxmlformats.org/drawingml/2006/main" w="12700">
            <a:solidFill>
              <a:srgbClr val="7A2C1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F87016C-B630-4CC2-A1F1-D0A86AB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2610612"/>
            <a:ext cx="3246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限制介入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2011801-D2A0-40DC-B3A8-9B9FC60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2354580"/>
            <a:ext cx="3730752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观察、提出初始问题并形成猜想。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4069524-1531-4C13-B051-8B005625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2354580"/>
            <a:ext cx="3672535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在初步想法后提供比较。</a:t>
            </a:r>
            <a:endParaRPr sz="10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65CAF4E-AAFC-4176-95C4-F873CCFA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43784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5FFD7FE-2B23-401D-833B-D5158D3D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2843784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7D0BA90-9EB9-411F-8CC3-565DBD21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2843784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2454E4D-C477-4A39-B83D-BD9E1C01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2926080"/>
            <a:ext cx="1719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设计方案</a:t>
            </a:r>
            <a:endParaRPr sz="12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643FEED-5C8F-4CB8-BCFD-5F5641E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3172968"/>
            <a:ext cx="429768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A93E592-5F9C-4A45-B6A5-25C6206B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3172968"/>
            <a:ext cx="4297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有限介入</a:t>
            </a:r>
            <a:endParaRPr sz="8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E18CA21-D0FF-491F-8193-CE8DA032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2916936"/>
            <a:ext cx="3730752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作出关键选择并说明理由。</a:t>
            </a:r>
            <a:endParaRPr sz="10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3972E28-DD77-47AB-9573-0A2EBB89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2916936"/>
            <a:ext cx="3672535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功能限于质疑方案缺口。</a:t>
            </a:r>
            <a:endParaRPr sz="10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24B78E6-DDE3-441D-8CD1-45F72CDA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6140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DB17ED7-FA3D-45CB-B516-4214AE45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3406140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3713159A-7799-4242-9F8F-192A8EC4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3406140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A3AA15D-CECB-46E1-9F6B-2CCF804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3488436"/>
            <a:ext cx="1719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搜集分析证据</a:t>
            </a:r>
            <a:endParaRPr sz="12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C5709CF1-31D7-45D7-BBD9-09F6A959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3735324"/>
            <a:ext cx="955548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CBBB"/>
          </a:solidFill>
          <a:ln xmlns:a="http://schemas.openxmlformats.org/drawingml/2006/main" w="12700">
            <a:solidFill>
              <a:srgbClr val="DFB09C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3E1F00E7-5977-4E34-92E5-3F20C85C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3735324"/>
            <a:ext cx="9555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采集限制，处理开放</a:t>
            </a:r>
            <a:endParaRPr sz="8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0FB0AD9-0743-4233-8B20-F89EEF50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3479292"/>
            <a:ext cx="3730752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亲自获得原始材料与数据。</a:t>
            </a:r>
            <a:endParaRPr sz="10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BBADB4F-A0EE-4CB7-ADB3-E5FF18A2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3479292"/>
            <a:ext cx="3672535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整理、分类、计算和可视化。</a:t>
            </a:r>
            <a:endParaRPr sz="10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5A05A309-50FF-4D91-B507-FC430560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849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5D09B6B-7FF7-4AF4-B30F-3B645E8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3968496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086CCC4F-0CE3-4EA7-A107-D552564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3968496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0D688F53-57B0-4651-B3B5-A9150F6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4050792"/>
            <a:ext cx="1719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得出结论并解释</a:t>
            </a:r>
            <a:endParaRPr sz="120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19138D23-CA31-4B90-92DD-1EFA449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4297680"/>
            <a:ext cx="324612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C10"/>
          </a:solidFill>
          <a:ln xmlns:a="http://schemas.openxmlformats.org/drawingml/2006/main" w="12700">
            <a:solidFill>
              <a:srgbClr val="7A2C10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93C208E7-2BDA-4E6E-898B-145BBF5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4297680"/>
            <a:ext cx="3246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延后介入</a:t>
            </a:r>
            <a:endParaRPr sz="8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6AB3939C-9000-4D61-B8C0-DB92D45F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4041648"/>
            <a:ext cx="3730752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建立证据与结论之间的联系。</a:t>
            </a:r>
            <a:endParaRPr sz="105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2F1883B-FD55-4C51-993B-B74BAA4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4041648"/>
            <a:ext cx="3672535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优先完成独立解释。</a:t>
            </a:r>
            <a:endParaRPr sz="105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AD01D660-4DDE-46EC-81BB-0FBE662D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0852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221DCF8-907E-45F7-8FE4-5F1DBB2C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4530852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15FF5888-B9A4-4180-BA25-C1D63C0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4530852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95D8983-A2B7-490C-9255-BCEA4C83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4613148"/>
            <a:ext cx="1719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制作、测试与改进</a:t>
            </a:r>
            <a:endParaRPr sz="120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583A0EE-8398-4EF4-AF81-E103134B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4860036"/>
            <a:ext cx="429768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CBBB"/>
          </a:solidFill>
          <a:ln xmlns:a="http://schemas.openxmlformats.org/drawingml/2006/main" w="12700">
            <a:solidFill>
              <a:srgbClr val="DFB09C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30747E1D-1114-4AFE-A835-894665C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4860036"/>
            <a:ext cx="4297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有限介入</a:t>
            </a:r>
            <a:endParaRPr sz="80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ABA1E129-75E6-4157-8784-2CA1B2E7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4604004"/>
            <a:ext cx="3730752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测试、发现问题并修正方案。</a:t>
            </a:r>
            <a:endParaRPr sz="105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15BD5D7F-A31F-482F-8585-ACCB4D94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4604004"/>
            <a:ext cx="3672535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提供材料信息与替代方案。</a:t>
            </a:r>
            <a:endParaRPr sz="105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0C2CDCBB-D686-4678-A1CA-DF61682B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93208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BBA1F37C-E520-48BF-B215-C32BEB93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093208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436627C5-AD9E-4A54-8F46-2E296B1A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5093208"/>
            <a:ext cx="0" cy="5623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187C9F7C-138A-422D-85F4-340888F2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5175504"/>
            <a:ext cx="17190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交流反思</a:t>
            </a:r>
            <a:endParaRPr sz="120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6BA12279-4687-49E0-B6B0-BC3423BD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5422392"/>
            <a:ext cx="324612" cy="182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567A79E0-A4A5-45EB-AC3F-AA1AFBF1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04" y="5422392"/>
            <a:ext cx="3246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表达支持</a:t>
            </a:r>
            <a:endParaRPr sz="80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3156EA89-348A-4F18-AD90-0722F38C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96" y="5166360"/>
            <a:ext cx="3730752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解释过程、限制和个人贡献。</a:t>
            </a:r>
            <a:endParaRPr sz="1050"/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A9834E6C-35E0-460A-81CE-DAF4AFD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456" y="5166360"/>
            <a:ext cx="3672535" cy="4160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协助表达并披露使用方式。</a:t>
            </a:r>
            <a:endParaRPr sz="1050"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D36CC101-AD8A-48C3-9234-778183AC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C4EC7BF0-7426-4B58-B5B2-EC38668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科学课中，学生提出假设并取得原始数据；系统可在整理和可视化阶段提供支持。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6298960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7B7D80-569A-4676-BEEC-3F576EB3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920ED5-E801-46F6-ABA1-D1B633FA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58469E-FDDC-4799-99FC-0ED97E3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F93940C-A8C7-4DE4-B6CC-D9F9D91B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1594D2B-87DB-44AD-BA0C-46E0438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9D8D094-A22E-4C33-AF2C-9A01D5C3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0B691FF-6EE0-4082-B3A8-510BA44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076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06562ED-B11C-4796-83F4-A5751A5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212C1C8-E893-4ED3-80AD-B2D53C6C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5F8A102-05C7-47BC-A0C7-C169C0E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DB4A40-A8D4-4438-8DBD-0579D805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033F6B1-E72C-4EDC-B4B0-C57EBEA5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48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FE91029-A828-4DE0-B285-A571059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5E083A-9AF3-42B3-A88F-FF25A8B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64360E2-9A5A-42FD-B80D-31B83B5B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‘方案质疑员’的功能是提出问题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6056FA6-AF8D-4BFD-B9C9-935A05B7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5940"/>
            <a:ext cx="99818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学生先提交方案；AI系统提出质疑问题，教师和学生决定是否采纳与修改。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252760A-F4E1-46DE-BFCC-28F93562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26564"/>
            <a:ext cx="9981895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8C72647-DF7D-49D7-BA71-4C56A16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72284"/>
            <a:ext cx="381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2700">
            <a:solidFill>
              <a:srgbClr val="1D4ED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13FBA6-E3B0-44C5-ABAE-DB1BCDFF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2354580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学生方案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8885DE1-4DD1-4A9A-ABDF-E41D5F87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136" y="2336292"/>
            <a:ext cx="840912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我们计划比较两种材料，但还没有说明变量、数据来源与判断标准。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A573AD6-47B7-4454-A110-4253294A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0964"/>
            <a:ext cx="9981895" cy="896112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A9775D0-A261-4E50-85F8-6970D68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6684"/>
            <a:ext cx="3810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BC41E2-7080-45C0-B868-EE5311D6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3268980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C2552F"/>
                </a:solidFill>
                <a:latin typeface="Microsoft YaHei"/>
                <a:ea typeface="Microsoft YaHei"/>
                <a:cs typeface="Microsoft YaHei"/>
              </a:rPr>
              <a:t>AI质疑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28A62A-8465-4B3D-8485-B530CECA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136" y="32506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EF2ECE3-1C8D-4A8A-AC22-FBA9312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168" y="3250692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?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2E13DDC-F113-4E4B-9023-6301E79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250692"/>
            <a:ext cx="787877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变量是否得到控制？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D2A4FE-12C9-4CB9-8F5E-DABBDBD6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136" y="350672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二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4133A8-A917-444C-A811-3D18F74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168" y="3506724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?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8893132-B5A7-42B6-94E6-75C3EF74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506724"/>
            <a:ext cx="787877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证据来自哪里？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D127C5D-301C-43CD-A719-F89082F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136" y="376275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三</a:t>
            </a:r>
            <a:endParaRPr sz="10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A09723E-561D-40E1-8710-3AFA8C8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168" y="3762756"/>
            <a:ext cx="21945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?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C846A2F-95E8-4520-8C39-73A60E26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762756"/>
            <a:ext cx="787877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结论能否由这些数据支持？</a:t>
            </a:r>
            <a:endParaRPr sz="12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A1506DB-84C6-4C04-9C4E-3BDCBAB2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65092"/>
            <a:ext cx="9981895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CF2EC"/>
          </a:solidFill>
          <a:ln xmlns:a="http://schemas.openxmlformats.org/drawingml/2006/main" w="12700">
            <a:solidFill>
              <a:srgbClr val="DFB09C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99EF993-FC08-455A-B482-ADC6B7F5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812"/>
            <a:ext cx="381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21F"/>
          </a:solidFill>
          <a:ln xmlns:a="http://schemas.openxmlformats.org/drawingml/2006/main" w="12700">
            <a:solidFill>
              <a:srgbClr val="A8421F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46D4642-7249-4634-87E7-803411A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4293108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学生决定</a:t>
            </a:r>
            <a:endParaRPr sz="10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3C8B52A-9C8F-403A-89B7-42C1CAA5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136" y="4274820"/>
            <a:ext cx="8409127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125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保留、修改或拒绝建议，并说明理由。</a:t>
            </a:r>
            <a:endParaRPr sz="12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97BCD59-CCD8-45E4-A256-9D6F4882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79492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系统功能限于质疑；修改建议逐条由人工判断。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A38E6E6-3B7C-45D6-B09A-E99E430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A0E0BAD-434A-4D30-9CE2-0767E78F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该角色适用于方案形成后的有限介入阶段。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0166823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895BE5-D706-4FB5-A030-7C236F87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D5790FF-1887-437D-8764-0B842FC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686FA1-CE6C-4CB8-9D07-E6133466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AF2E43D-E39F-47AB-ABE2-356E1CE7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167298-61BF-4A80-B3FC-7365E80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376C4C2-8A4F-4836-A34C-E65E1F1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2804F4-94A9-4291-8038-5CEE45CD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DD330CD-3664-48FE-B52E-02F1E289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40F653E-ED43-4BB3-A434-3270AD2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72D7C-5062-4365-BB1A-A7BE339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CD0A835-1319-4589-A109-15057B7B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8B825B-0CF9-4108-BE82-7D6D30D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49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705F8A-DDCE-44A2-9377-E098E76B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CBA1666-4CF9-4EF5-AAD4-4E89B7E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119F44-A998-4963-B3A6-416C184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ICAP：对话次数不等于认知参与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BC3AE1-2075-4F0D-9E8E-DA2E92F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0804"/>
            <a:ext cx="47623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8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认知参与层级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88428F8-3482-4388-9053-FFB1CE6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71700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ACB420-4DB8-4820-910B-2A78474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2171700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Passive｜接受AI答案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5EC29A-BBA7-486E-95E3-8577B725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6332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9DA2371-10D7-4F78-ACFB-CD4E8E5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2656332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Active｜选择、标注和执行</a:t>
            </a:r>
            <a:endParaRPr sz="14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3DE9272-C0AC-40D0-92FE-C63817F7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0964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9020BF-3D03-4B22-9B88-844CEBF3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3140964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Constructive｜形成新的解释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D1500E5-9F0E-48BE-B24C-8EC3CD2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25596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66A326F-57CF-4C50-BFD3-C403933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992" y="3625596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Interactive｜基于彼此观点共同建构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876F79-767E-49EF-9504-14E3257E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1860804"/>
            <a:ext cx="47623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spc="8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教师观察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307E4EE-C685-454B-90E3-8495B53F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2171700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D29308-F815-4B08-903B-43B0F344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2171700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是否形成自己的解释</a:t>
            </a:r>
            <a:endParaRPr sz="14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8A5E734-915C-4785-A8E4-C196183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2656332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7B70366-FC9D-49FD-9D96-DF8D1F0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2656332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是否判断并修改系统输出</a:t>
            </a:r>
            <a:endParaRPr sz="14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64B7F70-A565-4778-9F0E-9E7498C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3140964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1E621E-53A1-4BFA-96A6-9B0DFFCB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3140964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是否回应同伴实际表达的观点</a:t>
            </a:r>
            <a:endParaRPr sz="14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25F125E-F870-4C0A-9EFC-38FF8A5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948" y="3625596"/>
            <a:ext cx="4762348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D65DEFE-77A9-4498-9058-9A6A5EE9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540" y="3625596"/>
            <a:ext cx="4433164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是否能够说明不同意系统建议的理由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1F2ED3A-1962-441A-9ABB-716122C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43600"/>
            <a:ext cx="998189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语文课中，学生回应同伴观点并修正论证，比连续追问系统更接近高水平互动。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189875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904A0-2A17-484E-BDF2-5F3B229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8207E78-9682-4C44-A6B5-0C9D997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DF5D5-A041-4EEA-8078-68F918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597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F0914E-EFA7-4859-9A02-81B9DC6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3B0B83-F03F-4AA0-87A1-5BB970D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203A91-62C8-4792-8CE3-E6B521C4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0AB7CB-957F-4340-AE4B-30F8F33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2B8E24-AA48-4AFB-86F0-59E0B0DF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39E284-84B9-4FC2-A509-9BA1D59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C4F8DE-4224-469E-B98F-1702F69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D9E2E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B0AD62F-62E6-475E-8291-CF5E3CC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5BDDB5-4FEA-4DB0-8256-226215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50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35263-BEAA-4B56-9017-33E9A9DA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13526B-8CF6-4247-BEF9-83F5F5C7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0BD48C8-91F0-4609-9D98-23A2F16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AI导师包含多种功能角色</a:t>
            </a:r>
            <a:endParaRPr sz="3200"/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9b37adfae42d8"/>
          <a:stretch xmlns:a="http://schemas.openxmlformats.org/drawingml/2006/main"/>
        </p:blipFill>
        <p:spPr>
          <a:xfrm xmlns:a="http://schemas.openxmlformats.org/drawingml/2006/main">
            <a:off x="1295400" y="1952244"/>
            <a:ext cx="9981895" cy="3543192"/>
          </a:xfrm>
          <a:prstGeom xmlns:a="http://schemas.openxmlformats.org/drawingml/2006/main" prst="rect">
            <a:avLst/>
          </a:prstGeom>
        </p:spPr>
      </p:pic>
      <p:sp>
        <p:nvSpPr>
          <p:cNvPr id="18" name="Summary background 50">
            <a:extLst xmlns:a="http://schemas.openxmlformats.org/drawingml/2006/main">
              <a:ext uri="{FF2B5EF4-FFF2-40B4-BE49-F238E27FC236}">
                <a16:creationId xmlns:a16="http://schemas.microsoft.com/office/drawing/2014/main" id="{EE9FE3B2-EA38-4599-B809-02CDB157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9981914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3C8B7"/>
            </a:solidFill>
            <a:prstDash val="solid"/>
          </a:ln>
        </p:spPr>
      </p:sp>
      <p:sp>
        <p:nvSpPr>
          <p:cNvPr id="19" name="Summary accent 50">
            <a:extLst xmlns:a="http://schemas.openxmlformats.org/drawingml/2006/main">
              <a:ext uri="{FF2B5EF4-FFF2-40B4-BE49-F238E27FC236}">
                <a16:creationId xmlns:a16="http://schemas.microsoft.com/office/drawing/2014/main" id="{8596713F-83D1-4A0B-823A-6FB2BBDB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E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mmary 50">
            <a:extLst xmlns:a="http://schemas.openxmlformats.org/drawingml/2006/main">
              <a:ext uri="{FF2B5EF4-FFF2-40B4-BE49-F238E27FC236}">
                <a16:creationId xmlns:a16="http://schemas.microsoft.com/office/drawing/2014/main" id="{029845C5-16D6-4B44-AEBC-6C90BA4B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95950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C74E22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2000" b="1">
                <a:solidFill>
                  <a:srgbClr val="27364A"/>
                </a:solidFill>
                <a:latin typeface="Microsoft YaHei"/>
                <a:ea typeface="Microsoft YaHei"/>
                <a:cs typeface="Microsoft YaHei"/>
              </a:rPr>
              <a:t>AI导师的角色应依据教学目标配置，并随学生独立能力发展逐步撤除。</a:t>
            </a:r>
          </a:p>
        </p:txBody>
      </p:sp>
    </p:spTree>
    <p:extLst>
      <p:ext uri="{BB962C8B-B14F-4D97-AF65-F5344CB8AC3E}">
        <p14:creationId xmlns:p14="http://schemas.microsoft.com/office/powerpoint/2010/main" val="146734747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1E7AF2-0980-4DCF-BB67-9429AAF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C3D627-7A47-4C94-B83F-5552112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608337-5C56-4C5E-9380-7813B42A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CB9511-904A-4917-B444-E405F56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2E4A77-C3EE-414F-8817-5D2199B7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9B87579-AEC7-4BA6-A0F0-7B2E7FD0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919195-CC06-448F-B15D-D212FB9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69297D7-A02E-4C53-A798-D4F4471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0B2314-B660-4F5F-85A5-FC35707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387EA79-5626-4028-8984-189CBB8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43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410E70-3870-466C-A72D-8D4ABAC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EB2EB2-A06A-474E-8D37-D6E54EF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51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50D636-E91B-45D2-825F-07158E2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B461A3-E6F2-49DF-B29B-8C23570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1116197-C783-4934-B78B-7B1E560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学习证据覆盖作品、过程与独立迁移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99FA4E-AF76-4114-A3EE-2C0CF1C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5940"/>
            <a:ext cx="998189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D22B20-B4C9-4B64-AF9A-7A4C922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180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B6F7EF-79C2-4798-B17C-26E689B7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545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73F33BF-B880-41A8-A94F-6EA942E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23180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证据类型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7A5BA7D-6C29-47B7-A473-644BB53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318004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609258C-9170-49CA-B70C-0623842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2318004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用于判断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AABCEF0-2988-4073-822E-4210F2C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55" y="2318004"/>
            <a:ext cx="822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形成阶段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12E2806-99A0-401E-9F98-46A0BBB5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752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3EFB4CA-B80D-4BAF-94C9-2E02003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17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2BF8057-42B2-47B5-86A7-595CD97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27752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初始想法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C872CED-6EF6-4FB2-93C9-43ACAFD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775204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AI介入前的判断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6105649-77D5-434D-B2F8-92FCD26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2775204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目标与起点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DD582DF-0754-4EFE-AFAE-212DDD4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55" y="2775204"/>
            <a:ext cx="822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任务开始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26AEAFD-5339-4187-9C80-E076D2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24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624E9D6E-6447-4728-9759-FC2D2236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689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FAF6F86-4FF9-4BBF-A9B1-9C2067B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32324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使用记录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09132BB-F38E-44F5-B879-08E1617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232404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AI在哪一步提供什么</a:t>
            </a:r>
            <a:endParaRPr sz="13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C561D5F-1BA7-49C7-A3B2-03E96D2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3232404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支持范围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31213B6-689F-4295-B20B-6217C2B5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55" y="3232404"/>
            <a:ext cx="822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使用当时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03C478C-EFC5-45EF-8198-CD01F2D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96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C3598C9-12B4-48A7-B599-6965962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61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78E3E6F-580E-4A8B-BA8E-C0C7AD7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36896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关键决策</a:t>
            </a:r>
            <a:endParaRPr sz="11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628A942-BB74-42DE-93A3-F7814ED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689604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采纳、拒绝与修改理由</a:t>
            </a:r>
            <a:endParaRPr sz="13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342E656-3F3E-414C-8607-0BF113E8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3689604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判断能力</a:t>
            </a:r>
            <a:endParaRPr sz="10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31E117F-28B5-4EA2-B974-6D53AC6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55" y="3689604"/>
            <a:ext cx="822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每次修改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26401EA-023E-4B76-BBEE-7ECBEC2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68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32A1390-0E55-4CA1-9605-E22FC43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33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EC8A058-DB84-4A8D-AFF5-00A44D5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41468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版本与口述</a:t>
            </a:r>
            <a:endParaRPr sz="11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7C838F4-BA1B-494B-9ACD-2DB4E6D2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146804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阶段版本、证据与限制</a:t>
            </a:r>
            <a:endParaRPr sz="13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9879D98-0E31-4C63-A1A0-38BDFC78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4146804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理解与作者身份</a:t>
            </a:r>
            <a:endParaRPr sz="10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4EB8C2B-1A8F-410D-8487-D0A80741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55" y="4146804"/>
            <a:ext cx="822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过程与答辩</a:t>
            </a:r>
            <a:endParaRPr sz="10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C609917-F4B7-4757-8309-32884F8E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40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B4A6003-3C51-4210-9053-1CB3721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05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29072198-102A-4A8A-B711-1F2A3FAB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46040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独立迁移</a:t>
            </a:r>
            <a:endParaRPr sz="11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CD523D3-4BBA-49FF-980B-43B720D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604004"/>
            <a:ext cx="5120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撤除AI后在新情境完成</a:t>
            </a:r>
            <a:endParaRPr sz="135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ECB692C-EFDB-4B08-A43F-6DAE245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960" y="4604004"/>
            <a:ext cx="1371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能力与迁移</a:t>
            </a:r>
            <a:endParaRPr sz="10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E1A919D1-A4F6-4E49-816C-0155E5C3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455" y="4604004"/>
            <a:ext cx="822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任务之后</a:t>
            </a:r>
            <a:endParaRPr sz="10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761FC7D5-2CC3-4ACA-B19E-649B2A6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52644"/>
            <a:ext cx="99818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过程证据在任务实施期间同步形成。</a:t>
            </a:r>
            <a:endParaRPr sz="105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AFF5C378-BEE2-4A2B-8FE3-2037EF9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7CF83C-CAFA-429F-8551-641DB714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数学换题、科学换情境和英语脱稿表达，都可用于检验能力是否保留。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5109446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91E7AF2-0980-4DCF-BB67-9429AAF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2E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C3D627-7A47-4C94-B83F-5552112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608337-5C56-4C5E-9380-7813B42A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CB9511-904A-4917-B444-E405F56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62E4A77-C3EE-414F-8817-5D2199B7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9B87579-AEC7-4BA6-A0F0-7B2E7FD0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2919195-CC06-448F-B15D-D212FB9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69297D7-A02E-4C53-A798-D4F4471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386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0B2314-B660-4F5F-85A5-FC35707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387EA79-5626-4028-8984-189CBB88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43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410E70-3870-466C-A72D-8D4ABAC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分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EB2EB2-A06A-474E-8D37-D6E54EF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52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50D636-E91B-45D2-825F-07158E2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B461A3-E6F2-49DF-B29B-8C23570B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00100"/>
            <a:ext cx="9981895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A8421F"/>
                </a:solidFill>
                <a:latin typeface="Microsoft YaHei"/>
                <a:ea typeface="Microsoft YaHei"/>
                <a:cs typeface="Microsoft YaHei"/>
              </a:rPr>
              <a:t>第四部分　·　课堂上的可为与不可为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1116197-C783-4934-B78B-7B1E5609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10996"/>
            <a:ext cx="998189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学科核心素养决定AI可以介入哪些活动</a:t>
            </a:r>
            <a:endParaRPr sz="3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99FA4E-AF76-4114-A3EE-2C0CF1C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5940"/>
            <a:ext cx="998189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1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BD22B20-B4C9-4B64-AF9A-7A4C922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180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B6F7EF-79C2-4798-B17C-26E689B7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545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73F33BF-B880-41A8-A94F-6EA942E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23180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数学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7A5BA7D-6C29-47B7-A473-644BB53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318004"/>
            <a:ext cx="333375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变式、有限提示、解法比较</a:t>
            </a:r>
            <a:endParaRPr sz="13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609258C-9170-49CA-B70C-0623842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8004"/>
            <a:ext cx="24288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建模、推理、错误解释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AABCEF0-2988-4073-822E-4210F2C7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18004"/>
            <a:ext cx="2121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数学眼光、思维与语言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12E2806-99A0-401E-9F98-46A0BBB5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752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3EFB4CA-B80D-4BAF-94C9-2E02003E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17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2BF8057-42B2-47B5-86A7-595CD97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27752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科学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C872CED-6EF6-4FB2-93C9-43ACAFD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775204"/>
            <a:ext cx="333375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数据整理、模拟、可视化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6105649-77D5-434D-B2F8-92FCD26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75204"/>
            <a:ext cx="24288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假设、原始证据、因果解释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DD582DF-0754-4EFE-AFAE-212DDD4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5204"/>
            <a:ext cx="2121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科学观念、思维、探究与责任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26AEAFD-5339-4187-9C80-E076D2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24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624E9D6E-6447-4728-9759-FC2D2236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689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FAF6F86-4FF9-4BBF-A9B1-9C2067B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32324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语文</a:t>
            </a:r>
            <a:endParaRPr sz="11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09132BB-F38E-44F5-B879-08E1617F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232404"/>
            <a:ext cx="333375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文本比较、背景资料、表达反馈</a:t>
            </a:r>
            <a:endParaRPr sz="13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C561D5F-1BA7-49C7-A3B2-03E96D2D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2404"/>
            <a:ext cx="24288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立意、细读、论证与作者声音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31213B6-689F-4295-B20B-6217C2B5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2404"/>
            <a:ext cx="2121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文化自信、语言、思维与审美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03C478C-EFC5-45EF-8198-CD01F2D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96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C3598C9-12B4-48A7-B599-6965962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61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78E3E6F-580E-4A8B-BA8E-C0C7AD7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36896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英语</a:t>
            </a:r>
            <a:endParaRPr sz="11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628A942-BB74-42DE-93A3-F7814ED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689604"/>
            <a:ext cx="333375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词句反馈、发音提示、练习记录</a:t>
            </a:r>
            <a:endParaRPr sz="13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342E656-3F3E-414C-8607-0BF113E8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89604"/>
            <a:ext cx="24288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内容选择、听众意识、现场表达</a:t>
            </a:r>
            <a:endParaRPr sz="10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31E117F-28B5-4EA2-B974-6D53AC6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89604"/>
            <a:ext cx="2121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语言、文化、思维与学习能力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26401EA-023E-4B76-BBEE-7ECBEC2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68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32A1390-0E55-4CA1-9605-E22FC43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33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EC8A058-DB84-4A8D-AFF5-00A44D5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41468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地理</a:t>
            </a:r>
            <a:endParaRPr sz="11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7C838F4-BA1B-494B-9ACD-2DB4E6D2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146804"/>
            <a:ext cx="333375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资料与地图信息辅助</a:t>
            </a:r>
            <a:endParaRPr sz="13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9879D98-0E31-4C63-A1A0-38BDFC78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46804"/>
            <a:ext cx="24288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空间判断、来源核验、实地调查</a:t>
            </a:r>
            <a:endParaRPr sz="10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84EB8C2B-1A8F-410D-8487-D0A80741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46804"/>
            <a:ext cx="2121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人地协调、综合与区域思维、实践力</a:t>
            </a:r>
            <a:endParaRPr sz="10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C609917-F4B7-4757-8309-32884F8E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04004"/>
            <a:ext cx="9981895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B4A6003-3C51-4210-9053-1CB3721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0580"/>
            <a:ext cx="3810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29072198-102A-4A8A-B711-1F2A3FAB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4604004"/>
            <a:ext cx="12070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综合实践</a:t>
            </a:r>
            <a:endParaRPr sz="11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0CD523D3-4BBA-49FF-980B-43B720D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604004"/>
            <a:ext cx="333375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81B3A"/>
                </a:solidFill>
                <a:latin typeface="Microsoft YaHei"/>
                <a:ea typeface="Microsoft YaHei"/>
                <a:cs typeface="Microsoft YaHei"/>
              </a:rPr>
              <a:t>资料整理、方案质疑、技术制作</a:t>
            </a:r>
            <a:endParaRPr sz="135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AECB692C-EFDB-4B08-A43F-6DAE245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04004"/>
            <a:ext cx="2428875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真实调查、决策、测试改进</a:t>
            </a:r>
            <a:endParaRPr sz="10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E1A919D1-A4F6-4E49-816C-0155E5C3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04004"/>
            <a:ext cx="21218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真实问题解决、跨学科实践、责任</a:t>
            </a:r>
            <a:endParaRPr sz="10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761FC7D5-2CC3-4ACA-B19E-649B2A6B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52644"/>
            <a:ext cx="99818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buNone/>
            </a:pPr>
            <a:r>
              <a:rPr sz="105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学科核心素养为系统输出的选择、核验和评价提供标准。</a:t>
            </a:r>
            <a:endParaRPr sz="105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AFF5C378-BEE2-4A2B-8FE3-2037EF97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88736"/>
            <a:ext cx="99818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F"/>
            </a:solidFill>
            <a:prstDash val="solid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7CF83C-CAFA-429F-8551-641DB714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61888"/>
            <a:ext cx="9981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000">
                <a:solidFill>
                  <a:srgbClr val="5F7088"/>
                </a:solidFill>
                <a:latin typeface="Microsoft YaHei"/>
                <a:ea typeface="Microsoft YaHei"/>
                <a:cs typeface="Microsoft YaHei"/>
              </a:rPr>
              <a:t>同一种AI功能进入不同学科时，需要服从该学科的思维方式、实践过程与评价证据。</a:t>
            </a:r>
            <a:endParaRPr sz="1000"/>
          </a:p>
        </p:txBody>
      </p:sp>
      <p:sp>
        <p:nvSpPr>
          <p:cNvPr id="57" name="Subject table header 1">
            <a:extLst xmlns:a="http://schemas.openxmlformats.org/drawingml/2006/main">
              <a:ext uri="{FF2B5EF4-FFF2-40B4-BE49-F238E27FC236}">
                <a16:creationId xmlns:a16="http://schemas.microsoft.com/office/drawing/2014/main" id="{E67265B8-2EF9-4102-AF6B-E3CE12F3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1805940"/>
            <a:ext cx="12070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61738F"/>
                </a:solidFill>
              </a:defRPr>
            </a:pPr>
            <a:r>
              <a:rPr sz="1163">
                <a:solidFill>
                  <a:srgbClr val="61738F"/>
                </a:solidFill>
              </a:rPr>
              <a:t>学科</a:t>
            </a:r>
          </a:p>
        </p:txBody>
      </p:sp>
      <p:sp>
        <p:nvSpPr>
          <p:cNvPr id="58" name="Subject table header 2">
            <a:extLst xmlns:a="http://schemas.openxmlformats.org/drawingml/2006/main">
              <a:ext uri="{FF2B5EF4-FFF2-40B4-BE49-F238E27FC236}">
                <a16:creationId xmlns:a16="http://schemas.microsoft.com/office/drawing/2014/main" id="{13D71226-A608-4309-A4E7-0FAF278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80594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61738F"/>
                </a:solidFill>
              </a:defRPr>
            </a:pPr>
            <a:r>
              <a:rPr sz="1163">
                <a:solidFill>
                  <a:srgbClr val="61738F"/>
                </a:solidFill>
              </a:rPr>
              <a:t>AI可支持的活动</a:t>
            </a:r>
          </a:p>
        </p:txBody>
      </p:sp>
      <p:sp>
        <p:nvSpPr>
          <p:cNvPr id="59" name="Subject table header 3">
            <a:extLst xmlns:a="http://schemas.openxmlformats.org/drawingml/2006/main">
              <a:ext uri="{FF2B5EF4-FFF2-40B4-BE49-F238E27FC236}">
                <a16:creationId xmlns:a16="http://schemas.microsoft.com/office/drawing/2014/main" id="{0A4864AD-A6EB-4880-A268-FC01E5DD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594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61738F"/>
                </a:solidFill>
              </a:defRPr>
            </a:pPr>
            <a:r>
              <a:rPr sz="1163">
                <a:solidFill>
                  <a:srgbClr val="61738F"/>
                </a:solidFill>
              </a:rPr>
              <a:t>学生必须完成的活动</a:t>
            </a:r>
          </a:p>
        </p:txBody>
      </p:sp>
      <p:sp>
        <p:nvSpPr>
          <p:cNvPr id="60" name="Subject table header 4">
            <a:extLst xmlns:a="http://schemas.openxmlformats.org/drawingml/2006/main">
              <a:ext uri="{FF2B5EF4-FFF2-40B4-BE49-F238E27FC236}">
                <a16:creationId xmlns:a16="http://schemas.microsoft.com/office/drawing/2014/main" id="{739571B1-521F-4A2E-AEB6-F1824F34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5940"/>
            <a:ext cx="212188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61738F"/>
                </a:solidFill>
              </a:defRPr>
            </a:pPr>
            <a:r>
              <a:rPr sz="1163">
                <a:solidFill>
                  <a:srgbClr val="61738F"/>
                </a:solidFill>
              </a:rPr>
              <a:t>核心素养指向</a:t>
            </a:r>
          </a:p>
        </p:txBody>
      </p:sp>
    </p:spTree>
    <p:extLst>
      <p:ext uri="{BB962C8B-B14F-4D97-AF65-F5344CB8AC3E}">
        <p14:creationId xmlns:p14="http://schemas.microsoft.com/office/powerpoint/2010/main" val="155109446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8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7B298B-C941-4D97-A4CB-BCAB69B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0" cy="489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088">
                <a:alpha val="45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83E116-4972-42A9-B426-077DF65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6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6DA9C-C6C5-4C89-9102-82F57547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7875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494FF4B-9AA2-4426-A604-40B1A23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9073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29928AE-0CF9-4F99-9CC9-FFCA40D1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27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C33E4A1-0C2B-49E2-95AB-5CD17E2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8012C5-9757-480B-8E44-89DEE19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266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3EA"/>
          </a:solidFill>
          <a:ln xmlns:a="http://schemas.openxmlformats.org/drawingml/2006/main" w="25400">
            <a:solidFill>
              <a:srgbClr val="BFD3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B24598B-5AB8-4712-9CD5-EA0162B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196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25400">
            <a:solidFill>
              <a:srgbClr val="C2552F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2D1DCD-2673-461E-AD29-DA242EBF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5064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91CD416-1FB1-4229-94E4-CA864D0C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762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B3A"/>
          </a:solidFill>
          <a:ln xmlns:a="http://schemas.openxmlformats.org/drawingml/2006/main" w="25400">
            <a:solidFill>
              <a:srgbClr val="5F708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94FE5C-BCF6-470C-A5F5-2079551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880360"/>
            <a:ext cx="2857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收</a:t>
            </a:r>
            <a:endParaRPr sz="900"/>
          </a:p>
          <a:p xmlns:a="http://schemas.openxmlformats.org/drawingml/2006/main">
            <a:pPr marL="0" indent="0" algn="ctr">
              <a:lnSpc>
                <a:spcPct val="135000"/>
              </a:lnSpc>
              <a:buNone/>
            </a:pPr>
            <a:r>
              <a:rPr sz="90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束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9F4FDE-707D-486C-B487-7EB0318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9107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53 / 53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809C1F-2114-4485-9E66-20645A8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35" y="629107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spc="140">
                <a:solidFill>
                  <a:srgbClr val="8FA3BE"/>
                </a:solidFill>
                <a:latin typeface="Microsoft YaHei"/>
                <a:ea typeface="Microsoft YaHei"/>
                <a:cs typeface="Microsoft YaHei"/>
              </a:rPr>
              <a:t>45 分钟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364415-8FD2-42BC-9B46-8745CD04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2848"/>
            <a:ext cx="998189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20">
                <a:solidFill>
                  <a:srgbClr val="F0CBBB"/>
                </a:solidFill>
                <a:latin typeface="Microsoft YaHei"/>
                <a:ea typeface="Microsoft YaHei"/>
                <a:cs typeface="Microsoft YaHei"/>
              </a:rPr>
              <a:t>AI可以减轻部分操作负担，但不能替学生经历必要的思考，也不能替教师解释证据、承担责任。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7DE9D3-96A2-41EA-90CF-330D8A59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51760"/>
            <a:ext cx="457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2F"/>
          </a:solidFill>
          <a:ln xmlns:a="http://schemas.openxmlformats.org/drawingml/2006/main" w="12700">
            <a:solidFill>
              <a:srgbClr val="C2552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5AB1532-205A-437C-A165-8AC10BA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2857500"/>
            <a:ext cx="8902903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5000"/>
              </a:lnSpc>
              <a:buNone/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下午工作坊将设计学生、同伴、AI系统与教师的认知分工</a:t>
            </a:r>
            <a:endParaRPr sz="2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8D206B3-54CB-4C3B-9023-FCF95D9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432" y="4248150"/>
            <a:ext cx="8902903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FD3EA"/>
                </a:solidFill>
                <a:latin typeface="Microsoft YaHei"/>
                <a:ea typeface="Microsoft YaHei"/>
                <a:cs typeface="Microsoft YaHei"/>
              </a:rPr>
              <a:t>每组需明确学习目标、学生必须完成的活动、AI介入方式和学习证据。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2197894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2026-08-27T01:03:08.5780000Z</dcterms:created>
  <dcterms:modified xsi:type="dcterms:W3CDTF">2026-08-27T01:03:08.5780000Z</dcterms:modified>
</coreProperties>
</file>