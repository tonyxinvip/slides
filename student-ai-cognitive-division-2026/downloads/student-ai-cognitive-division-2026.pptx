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66f3a2329e46f7" /><Relationship Type="http://schemas.openxmlformats.org/officeDocument/2006/relationships/extended-properties" Target="/docProps/app.xml" Id="Rd593846145d3436f" /><Relationship Type="http://schemas.openxmlformats.org/officeDocument/2006/relationships/officeDocument" Target="/ppt/presentation.xml" Id="R48999ca79d6c4c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8ba92563384246"/>
  </p:sldMasterIdLst>
  <p:notesMasterIdLst>
    <p:notesMasterId xmlns:r="http://schemas.openxmlformats.org/officeDocument/2006/relationships" r:id="Rbe2c1cbd56e0414d"/>
  </p:notesMasterIdLst>
  <p:sldIdLst>
    <p:sldId xmlns:r="http://schemas.openxmlformats.org/officeDocument/2006/relationships" id="256" r:id="R24a700bdf74c4044"/>
    <p:sldId xmlns:r="http://schemas.openxmlformats.org/officeDocument/2006/relationships" id="257" r:id="R9ef4be6a0ebc4ce7"/>
    <p:sldId xmlns:r="http://schemas.openxmlformats.org/officeDocument/2006/relationships" id="258" r:id="Rafe57fd965504580"/>
    <p:sldId xmlns:r="http://schemas.openxmlformats.org/officeDocument/2006/relationships" id="259" r:id="Raf620d078b8c4182"/>
    <p:sldId xmlns:r="http://schemas.openxmlformats.org/officeDocument/2006/relationships" id="260" r:id="Rd48c8978fbfb4818"/>
    <p:sldId xmlns:r="http://schemas.openxmlformats.org/officeDocument/2006/relationships" id="261" r:id="R0bc77c5421814515"/>
    <p:sldId xmlns:r="http://schemas.openxmlformats.org/officeDocument/2006/relationships" id="262" r:id="R5ff29672382d4b06"/>
    <p:sldId xmlns:r="http://schemas.openxmlformats.org/officeDocument/2006/relationships" id="263" r:id="R2748d9373ff94a5f"/>
    <p:sldId xmlns:r="http://schemas.openxmlformats.org/officeDocument/2006/relationships" id="264" r:id="Rd66f356e2d2d4b5f"/>
    <p:sldId xmlns:r="http://schemas.openxmlformats.org/officeDocument/2006/relationships" id="265" r:id="Rbc6e4fc07c264dbe"/>
    <p:sldId xmlns:r="http://schemas.openxmlformats.org/officeDocument/2006/relationships" id="266" r:id="R02923a44e83c4af2"/>
    <p:sldId xmlns:r="http://schemas.openxmlformats.org/officeDocument/2006/relationships" id="267" r:id="R711a3d1fe20b464c"/>
    <p:sldId xmlns:r="http://schemas.openxmlformats.org/officeDocument/2006/relationships" id="268" r:id="R404ea533df5a40c5"/>
    <p:sldId xmlns:r="http://schemas.openxmlformats.org/officeDocument/2006/relationships" id="269" r:id="R0b87d4801fa6425a"/>
    <p:sldId xmlns:r="http://schemas.openxmlformats.org/officeDocument/2006/relationships" id="270" r:id="R3b3df88eca334a2f"/>
    <p:sldId xmlns:r="http://schemas.openxmlformats.org/officeDocument/2006/relationships" id="271" r:id="R60da4d9786594f86"/>
    <p:sldId xmlns:r="http://schemas.openxmlformats.org/officeDocument/2006/relationships" id="272" r:id="Rb62c47328f9640ee"/>
    <p:sldId xmlns:r="http://schemas.openxmlformats.org/officeDocument/2006/relationships" id="273" r:id="Ra787fe5d7c0b4534"/>
    <p:sldId xmlns:r="http://schemas.openxmlformats.org/officeDocument/2006/relationships" id="274" r:id="R2cd28f54eb554acf"/>
    <p:sldId xmlns:r="http://schemas.openxmlformats.org/officeDocument/2006/relationships" id="275" r:id="Racaafae84db8451b"/>
    <p:sldId xmlns:r="http://schemas.openxmlformats.org/officeDocument/2006/relationships" id="276" r:id="R3d2cdb5f3a1c4ff9"/>
    <p:sldId xmlns:r="http://schemas.openxmlformats.org/officeDocument/2006/relationships" id="277" r:id="R385985aa518b449a"/>
    <p:sldId xmlns:r="http://schemas.openxmlformats.org/officeDocument/2006/relationships" id="278" r:id="R60f1eb2f2e994a56"/>
    <p:sldId xmlns:r="http://schemas.openxmlformats.org/officeDocument/2006/relationships" id="279" r:id="Rcfea3a1da78c4781"/>
    <p:sldId xmlns:r="http://schemas.openxmlformats.org/officeDocument/2006/relationships" id="280" r:id="Rda0cd2c54ada42ed"/>
    <p:sldId xmlns:r="http://schemas.openxmlformats.org/officeDocument/2006/relationships" id="281" r:id="Rb6c416f588ff43f9"/>
    <p:sldId xmlns:r="http://schemas.openxmlformats.org/officeDocument/2006/relationships" id="282" r:id="R506a82539e364da5"/>
    <p:sldId xmlns:r="http://schemas.openxmlformats.org/officeDocument/2006/relationships" id="283" r:id="R81a76dffafcc4e19"/>
    <p:sldId xmlns:r="http://schemas.openxmlformats.org/officeDocument/2006/relationships" id="284" r:id="R16bfcd6e1ef743d9"/>
    <p:sldId xmlns:r="http://schemas.openxmlformats.org/officeDocument/2006/relationships" id="285" r:id="Rdd3139e8534a4e58"/>
    <p:sldId xmlns:r="http://schemas.openxmlformats.org/officeDocument/2006/relationships" id="286" r:id="Rf40f17b7601849a9"/>
    <p:sldId xmlns:r="http://schemas.openxmlformats.org/officeDocument/2006/relationships" id="287" r:id="Rd3cf13fcaff04fc2"/>
    <p:sldId xmlns:r="http://schemas.openxmlformats.org/officeDocument/2006/relationships" id="288" r:id="Rdf5f5568b6984411"/>
    <p:sldId xmlns:r="http://schemas.openxmlformats.org/officeDocument/2006/relationships" id="289" r:id="R966c050e75c94f7a"/>
    <p:sldId xmlns:r="http://schemas.openxmlformats.org/officeDocument/2006/relationships" id="290" r:id="Rb8eb313ba05f4db6"/>
    <p:sldId xmlns:r="http://schemas.openxmlformats.org/officeDocument/2006/relationships" id="291" r:id="Rfe68fae8b58a46ac"/>
    <p:sldId xmlns:r="http://schemas.openxmlformats.org/officeDocument/2006/relationships" id="292" r:id="R2608aa4f824744c0"/>
    <p:sldId xmlns:r="http://schemas.openxmlformats.org/officeDocument/2006/relationships" id="293" r:id="Rff12796028c14e94"/>
    <p:sldId xmlns:r="http://schemas.openxmlformats.org/officeDocument/2006/relationships" id="294" r:id="R4336f9280f544371"/>
    <p:sldId xmlns:r="http://schemas.openxmlformats.org/officeDocument/2006/relationships" id="295" r:id="Rf7b7dbd1c534487a"/>
    <p:sldId xmlns:r="http://schemas.openxmlformats.org/officeDocument/2006/relationships" id="296" r:id="R0bde760c152c4ea4"/>
    <p:sldId xmlns:r="http://schemas.openxmlformats.org/officeDocument/2006/relationships" id="297" r:id="R0027b7ca3cab493a"/>
    <p:sldId xmlns:r="http://schemas.openxmlformats.org/officeDocument/2006/relationships" id="298" r:id="R62d23c0145cd4cf3"/>
    <p:sldId xmlns:r="http://schemas.openxmlformats.org/officeDocument/2006/relationships" id="299" r:id="Rda15dcda7abd4d7d"/>
    <p:sldId xmlns:r="http://schemas.openxmlformats.org/officeDocument/2006/relationships" id="300" r:id="R2335f566b2a64601"/>
    <p:sldId xmlns:r="http://schemas.openxmlformats.org/officeDocument/2006/relationships" id="301" r:id="R3048e119d0d14708"/>
    <p:sldId xmlns:r="http://schemas.openxmlformats.org/officeDocument/2006/relationships" id="302" r:id="R3893f14cadf44236"/>
    <p:sldId xmlns:r="http://schemas.openxmlformats.org/officeDocument/2006/relationships" id="303" r:id="Rd54759304a3f4129"/>
    <p:sldId xmlns:r="http://schemas.openxmlformats.org/officeDocument/2006/relationships" id="304" r:id="R0d38dbe67dfd439c"/>
    <p:sldId xmlns:r="http://schemas.openxmlformats.org/officeDocument/2006/relationships" id="305" r:id="R2592156c77af4e1b"/>
    <p:sldId xmlns:r="http://schemas.openxmlformats.org/officeDocument/2006/relationships" id="306" r:id="Rb00c27e94ab14551"/>
    <p:sldId xmlns:r="http://schemas.openxmlformats.org/officeDocument/2006/relationships" id="307" r:id="R412d7e25519846a2"/>
    <p:sldId xmlns:r="http://schemas.openxmlformats.org/officeDocument/2006/relationships" id="308" r:id="R63c281bf8a16451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ff4f001ecf446a" /><Relationship Type="http://schemas.openxmlformats.org/officeDocument/2006/relationships/slideMaster" Target="/ppt/slideMasters/slideMaster1.xml" Id="R7b8ba92563384246" /><Relationship Type="http://schemas.openxmlformats.org/officeDocument/2006/relationships/notesMaster" Target="/ppt/notesMasters/notesMaster1.xml" Id="Rbe2c1cbd56e0414d" /><Relationship Type="http://schemas.openxmlformats.org/officeDocument/2006/relationships/presProps" Target="/ppt/presProps.xml" Id="R9c2ab7c22d6e4433" /><Relationship Type="http://schemas.openxmlformats.org/officeDocument/2006/relationships/viewProps" Target="/ppt/viewProps.xml" Id="R5cd8e79b91294bba" /><Relationship Type="http://schemas.openxmlformats.org/officeDocument/2006/relationships/tableStyles" Target="/ppt/tableStyles.xml" Id="Rec83fa2f79f04e28" /><Relationship Type="http://schemas.openxmlformats.org/officeDocument/2006/relationships/slide" Target="/ppt/slides/slide1.xml" Id="R24a700bdf74c4044" /><Relationship Type="http://schemas.openxmlformats.org/officeDocument/2006/relationships/slide" Target="/ppt/slides/slide2.xml" Id="R9ef4be6a0ebc4ce7" /><Relationship Type="http://schemas.openxmlformats.org/officeDocument/2006/relationships/slide" Target="/ppt/slides/slide3.xml" Id="Rafe57fd965504580" /><Relationship Type="http://schemas.openxmlformats.org/officeDocument/2006/relationships/slide" Target="/ppt/slides/slide4.xml" Id="Raf620d078b8c4182" /><Relationship Type="http://schemas.openxmlformats.org/officeDocument/2006/relationships/slide" Target="/ppt/slides/slide5.xml" Id="Rd48c8978fbfb4818" /><Relationship Type="http://schemas.openxmlformats.org/officeDocument/2006/relationships/slide" Target="/ppt/slides/slide6.xml" Id="R0bc77c5421814515" /><Relationship Type="http://schemas.openxmlformats.org/officeDocument/2006/relationships/slide" Target="/ppt/slides/slide7.xml" Id="R5ff29672382d4b06" /><Relationship Type="http://schemas.openxmlformats.org/officeDocument/2006/relationships/slide" Target="/ppt/slides/slide8.xml" Id="R2748d9373ff94a5f" /><Relationship Type="http://schemas.openxmlformats.org/officeDocument/2006/relationships/slide" Target="/ppt/slides/slide9.xml" Id="Rd66f356e2d2d4b5f" /><Relationship Type="http://schemas.openxmlformats.org/officeDocument/2006/relationships/slide" Target="/ppt/slides/slide10.xml" Id="Rbc6e4fc07c264dbe" /><Relationship Type="http://schemas.openxmlformats.org/officeDocument/2006/relationships/slide" Target="/ppt/slides/slide11.xml" Id="R02923a44e83c4af2" /><Relationship Type="http://schemas.openxmlformats.org/officeDocument/2006/relationships/slide" Target="/ppt/slides/slide12.xml" Id="R711a3d1fe20b464c" /><Relationship Type="http://schemas.openxmlformats.org/officeDocument/2006/relationships/slide" Target="/ppt/slides/slide13.xml" Id="R404ea533df5a40c5" /><Relationship Type="http://schemas.openxmlformats.org/officeDocument/2006/relationships/slide" Target="/ppt/slides/slide14.xml" Id="R0b87d4801fa6425a" /><Relationship Type="http://schemas.openxmlformats.org/officeDocument/2006/relationships/slide" Target="/ppt/slides/slide15.xml" Id="R3b3df88eca334a2f" /><Relationship Type="http://schemas.openxmlformats.org/officeDocument/2006/relationships/slide" Target="/ppt/slides/slide16.xml" Id="R60da4d9786594f86" /><Relationship Type="http://schemas.openxmlformats.org/officeDocument/2006/relationships/slide" Target="/ppt/slides/slide17.xml" Id="Rb62c47328f9640ee" /><Relationship Type="http://schemas.openxmlformats.org/officeDocument/2006/relationships/slide" Target="/ppt/slides/slide18.xml" Id="Ra787fe5d7c0b4534" /><Relationship Type="http://schemas.openxmlformats.org/officeDocument/2006/relationships/slide" Target="/ppt/slides/slide19.xml" Id="R2cd28f54eb554acf" /><Relationship Type="http://schemas.openxmlformats.org/officeDocument/2006/relationships/slide" Target="/ppt/slides/slide20.xml" Id="Racaafae84db8451b" /><Relationship Type="http://schemas.openxmlformats.org/officeDocument/2006/relationships/slide" Target="/ppt/slides/slide21.xml" Id="R3d2cdb5f3a1c4ff9" /><Relationship Type="http://schemas.openxmlformats.org/officeDocument/2006/relationships/slide" Target="/ppt/slides/slide22.xml" Id="R385985aa518b449a" /><Relationship Type="http://schemas.openxmlformats.org/officeDocument/2006/relationships/slide" Target="/ppt/slides/slide23.xml" Id="R60f1eb2f2e994a56" /><Relationship Type="http://schemas.openxmlformats.org/officeDocument/2006/relationships/slide" Target="/ppt/slides/slide24.xml" Id="Rcfea3a1da78c4781" /><Relationship Type="http://schemas.openxmlformats.org/officeDocument/2006/relationships/slide" Target="/ppt/slides/slide25.xml" Id="Rda0cd2c54ada42ed" /><Relationship Type="http://schemas.openxmlformats.org/officeDocument/2006/relationships/slide" Target="/ppt/slides/slide26.xml" Id="Rb6c416f588ff43f9" /><Relationship Type="http://schemas.openxmlformats.org/officeDocument/2006/relationships/slide" Target="/ppt/slides/slide27.xml" Id="R506a82539e364da5" /><Relationship Type="http://schemas.openxmlformats.org/officeDocument/2006/relationships/slide" Target="/ppt/slides/slide28.xml" Id="R81a76dffafcc4e19" /><Relationship Type="http://schemas.openxmlformats.org/officeDocument/2006/relationships/slide" Target="/ppt/slides/slide29.xml" Id="R16bfcd6e1ef743d9" /><Relationship Type="http://schemas.openxmlformats.org/officeDocument/2006/relationships/slide" Target="/ppt/slides/slide30.xml" Id="Rdd3139e8534a4e58" /><Relationship Type="http://schemas.openxmlformats.org/officeDocument/2006/relationships/slide" Target="/ppt/slides/slide31.xml" Id="Rf40f17b7601849a9" /><Relationship Type="http://schemas.openxmlformats.org/officeDocument/2006/relationships/slide" Target="/ppt/slides/slide32.xml" Id="Rd3cf13fcaff04fc2" /><Relationship Type="http://schemas.openxmlformats.org/officeDocument/2006/relationships/slide" Target="/ppt/slides/slide33.xml" Id="Rdf5f5568b6984411" /><Relationship Type="http://schemas.openxmlformats.org/officeDocument/2006/relationships/slide" Target="/ppt/slides/slide34.xml" Id="R966c050e75c94f7a" /><Relationship Type="http://schemas.openxmlformats.org/officeDocument/2006/relationships/slide" Target="/ppt/slides/slide35.xml" Id="Rb8eb313ba05f4db6" /><Relationship Type="http://schemas.openxmlformats.org/officeDocument/2006/relationships/slide" Target="/ppt/slides/slide36.xml" Id="Rfe68fae8b58a46ac" /><Relationship Type="http://schemas.openxmlformats.org/officeDocument/2006/relationships/slide" Target="/ppt/slides/slide37.xml" Id="R2608aa4f824744c0" /><Relationship Type="http://schemas.openxmlformats.org/officeDocument/2006/relationships/slide" Target="/ppt/slides/slide38.xml" Id="Rff12796028c14e94" /><Relationship Type="http://schemas.openxmlformats.org/officeDocument/2006/relationships/slide" Target="/ppt/slides/slide39.xml" Id="R4336f9280f544371" /><Relationship Type="http://schemas.openxmlformats.org/officeDocument/2006/relationships/slide" Target="/ppt/slides/slide40.xml" Id="Rf7b7dbd1c534487a" /><Relationship Type="http://schemas.openxmlformats.org/officeDocument/2006/relationships/slide" Target="/ppt/slides/slide41.xml" Id="R0bde760c152c4ea4" /><Relationship Type="http://schemas.openxmlformats.org/officeDocument/2006/relationships/slide" Target="/ppt/slides/slide42.xml" Id="R0027b7ca3cab493a" /><Relationship Type="http://schemas.openxmlformats.org/officeDocument/2006/relationships/slide" Target="/ppt/slides/slide43.xml" Id="R62d23c0145cd4cf3" /><Relationship Type="http://schemas.openxmlformats.org/officeDocument/2006/relationships/slide" Target="/ppt/slides/slide44.xml" Id="Rda15dcda7abd4d7d" /><Relationship Type="http://schemas.openxmlformats.org/officeDocument/2006/relationships/slide" Target="/ppt/slides/slide45.xml" Id="R2335f566b2a64601" /><Relationship Type="http://schemas.openxmlformats.org/officeDocument/2006/relationships/slide" Target="/ppt/slides/slide46.xml" Id="R3048e119d0d14708" /><Relationship Type="http://schemas.openxmlformats.org/officeDocument/2006/relationships/slide" Target="/ppt/slides/slide47.xml" Id="R3893f14cadf44236" /><Relationship Type="http://schemas.openxmlformats.org/officeDocument/2006/relationships/slide" Target="/ppt/slides/slide48.xml" Id="Rd54759304a3f4129" /><Relationship Type="http://schemas.openxmlformats.org/officeDocument/2006/relationships/slide" Target="/ppt/slides/slide49.xml" Id="R0d38dbe67dfd439c" /><Relationship Type="http://schemas.openxmlformats.org/officeDocument/2006/relationships/slide" Target="/ppt/slides/slide50.xml" Id="R2592156c77af4e1b" /><Relationship Type="http://schemas.openxmlformats.org/officeDocument/2006/relationships/slide" Target="/ppt/slides/slide51.xml" Id="Rb00c27e94ab14551" /><Relationship Type="http://schemas.openxmlformats.org/officeDocument/2006/relationships/slide" Target="/ppt/slides/slide52.xml" Id="R412d7e25519846a2" /><Relationship Type="http://schemas.openxmlformats.org/officeDocument/2006/relationships/slide" Target="/ppt/slides/slide53.xml" Id="R63c281bf8a1645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f02fbaa0ef4d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45ad1176bb4efc" /><Relationship Type="http://schemas.openxmlformats.org/officeDocument/2006/relationships/notesMaster" Target="/ppt/notesMasters/notesMaster1.xml" Id="R2e3469fbc5714d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7bba7783484a19" /><Relationship Type="http://schemas.openxmlformats.org/officeDocument/2006/relationships/notesMaster" Target="/ppt/notesMasters/notesMaster1.xml" Id="R9cc2c945345244f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cbb34749eb4548" /><Relationship Type="http://schemas.openxmlformats.org/officeDocument/2006/relationships/notesMaster" Target="/ppt/notesMasters/notesMaster1.xml" Id="Rdb839050039642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ee16fcbfb249a8" /><Relationship Type="http://schemas.openxmlformats.org/officeDocument/2006/relationships/notesMaster" Target="/ppt/notesMasters/notesMaster1.xml" Id="R8f01c496e12c48a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bb683e9c724b70" /><Relationship Type="http://schemas.openxmlformats.org/officeDocument/2006/relationships/notesMaster" Target="/ppt/notesMasters/notesMaster1.xml" Id="R4bbd8429b55544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567f8128b641ac" /><Relationship Type="http://schemas.openxmlformats.org/officeDocument/2006/relationships/notesMaster" Target="/ppt/notesMasters/notesMaster1.xml" Id="Rc88058f9c1e448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22bb16989bc405f" /><Relationship Type="http://schemas.openxmlformats.org/officeDocument/2006/relationships/notesMaster" Target="/ppt/notesMasters/notesMaster1.xml" Id="R9a1e2ab13b9445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88a1c07df64e44" /><Relationship Type="http://schemas.openxmlformats.org/officeDocument/2006/relationships/notesMaster" Target="/ppt/notesMasters/notesMaster1.xml" Id="R7d69a0ddf5ac474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c9e2b7161554740" /><Relationship Type="http://schemas.openxmlformats.org/officeDocument/2006/relationships/notesMaster" Target="/ppt/notesMasters/notesMaster1.xml" Id="Re20057bfb7954c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be95f381d0c46d8" /><Relationship Type="http://schemas.openxmlformats.org/officeDocument/2006/relationships/notesMaster" Target="/ppt/notesMasters/notesMaster1.xml" Id="R8c7d4323188141b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ca7ef60034a43ef" /><Relationship Type="http://schemas.openxmlformats.org/officeDocument/2006/relationships/notesMaster" Target="/ppt/notesMasters/notesMaster1.xml" Id="R6168afda82cf409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d74365c09794432" /><Relationship Type="http://schemas.openxmlformats.org/officeDocument/2006/relationships/notesMaster" Target="/ppt/notesMasters/notesMaster1.xml" Id="Rf9cc1cf5237342e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f7a48e664394df6" /><Relationship Type="http://schemas.openxmlformats.org/officeDocument/2006/relationships/notesMaster" Target="/ppt/notesMasters/notesMaster1.xml" Id="Re4c5f9e2298344e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5e86412617b4778" /><Relationship Type="http://schemas.openxmlformats.org/officeDocument/2006/relationships/notesMaster" Target="/ppt/notesMasters/notesMaster1.xml" Id="Rc4501f3bc2fa453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2135fd0a04c4b2a" /><Relationship Type="http://schemas.openxmlformats.org/officeDocument/2006/relationships/notesMaster" Target="/ppt/notesMasters/notesMaster1.xml" Id="R397702eefad1489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76be8bcc9b1486d" /><Relationship Type="http://schemas.openxmlformats.org/officeDocument/2006/relationships/notesMaster" Target="/ppt/notesMasters/notesMaster1.xml" Id="Re01adb6e905b438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d7f319afa994179" /><Relationship Type="http://schemas.openxmlformats.org/officeDocument/2006/relationships/notesMaster" Target="/ppt/notesMasters/notesMaster1.xml" Id="Rfae1e5d98fb3486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6d38246a93143bd" /><Relationship Type="http://schemas.openxmlformats.org/officeDocument/2006/relationships/notesMaster" Target="/ppt/notesMasters/notesMaster1.xml" Id="R44f0a6455cad4e5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d7dec8fa21c465d" /><Relationship Type="http://schemas.openxmlformats.org/officeDocument/2006/relationships/notesMaster" Target="/ppt/notesMasters/notesMaster1.xml" Id="R0a2af1ce7ed24dc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9b35ee73ae44e92" /><Relationship Type="http://schemas.openxmlformats.org/officeDocument/2006/relationships/notesMaster" Target="/ppt/notesMasters/notesMaster1.xml" Id="R6b9d52c2585845b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ccbb3830ee343ce" /><Relationship Type="http://schemas.openxmlformats.org/officeDocument/2006/relationships/notesMaster" Target="/ppt/notesMasters/notesMaster1.xml" Id="Ra03f276c9bf748f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a22492db33d433a" /><Relationship Type="http://schemas.openxmlformats.org/officeDocument/2006/relationships/notesMaster" Target="/ppt/notesMasters/notesMaster1.xml" Id="Rb1290ca52904464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91631b1d7ed4acd" /><Relationship Type="http://schemas.openxmlformats.org/officeDocument/2006/relationships/notesMaster" Target="/ppt/notesMasters/notesMaster1.xml" Id="Rea7e59b5f9604c6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f524aeff0c54e30" /><Relationship Type="http://schemas.openxmlformats.org/officeDocument/2006/relationships/notesMaster" Target="/ppt/notesMasters/notesMaster1.xml" Id="R1716a132949b460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dc20bb9c5be4556" /><Relationship Type="http://schemas.openxmlformats.org/officeDocument/2006/relationships/notesMaster" Target="/ppt/notesMasters/notesMaster1.xml" Id="R2c4da2a1532948e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78e40e27962456a" /><Relationship Type="http://schemas.openxmlformats.org/officeDocument/2006/relationships/notesMaster" Target="/ppt/notesMasters/notesMaster1.xml" Id="Rf30dd3e255754c5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5132cfcc6ff4d7b" /><Relationship Type="http://schemas.openxmlformats.org/officeDocument/2006/relationships/notesMaster" Target="/ppt/notesMasters/notesMaster1.xml" Id="Rbc4edcd0c67b4e5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8e08da81b2f41d9" /><Relationship Type="http://schemas.openxmlformats.org/officeDocument/2006/relationships/notesMaster" Target="/ppt/notesMasters/notesMaster1.xml" Id="R8919640912d842f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8b0867c29c8428f" /><Relationship Type="http://schemas.openxmlformats.org/officeDocument/2006/relationships/notesMaster" Target="/ppt/notesMasters/notesMaster1.xml" Id="R79e09f067caa4e1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4203ef018cb49f3" /><Relationship Type="http://schemas.openxmlformats.org/officeDocument/2006/relationships/notesMaster" Target="/ppt/notesMasters/notesMaster1.xml" Id="Rc4a865b253814c5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6b54351f2d84757" /><Relationship Type="http://schemas.openxmlformats.org/officeDocument/2006/relationships/notesMaster" Target="/ppt/notesMasters/notesMaster1.xml" Id="Rd1bf6a83f22e42e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68ca98362af4195" /><Relationship Type="http://schemas.openxmlformats.org/officeDocument/2006/relationships/notesMaster" Target="/ppt/notesMasters/notesMaster1.xml" Id="R2a5843a862e04ae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24455564ceb45bb" /><Relationship Type="http://schemas.openxmlformats.org/officeDocument/2006/relationships/notesMaster" Target="/ppt/notesMasters/notesMaster1.xml" Id="Ra40836be45dd451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041f8607f0b4fe7" /><Relationship Type="http://schemas.openxmlformats.org/officeDocument/2006/relationships/notesMaster" Target="/ppt/notesMasters/notesMaster1.xml" Id="R93ea3fbe9b90468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a96b20d375843d4" /><Relationship Type="http://schemas.openxmlformats.org/officeDocument/2006/relationships/notesMaster" Target="/ppt/notesMasters/notesMaster1.xml" Id="R6e7256656f404e0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75989f605ca4865" /><Relationship Type="http://schemas.openxmlformats.org/officeDocument/2006/relationships/notesMaster" Target="/ppt/notesMasters/notesMaster1.xml" Id="Rad3c9c5c2e7e45f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9c9a358b1844307" /><Relationship Type="http://schemas.openxmlformats.org/officeDocument/2006/relationships/notesMaster" Target="/ppt/notesMasters/notesMaster1.xml" Id="R048a9868efc24d9e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63afe6ccd63d4072" /><Relationship Type="http://schemas.openxmlformats.org/officeDocument/2006/relationships/notesMaster" Target="/ppt/notesMasters/notesMaster1.xml" Id="R6906ff70093a4b6e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bf3458e3d2b4fcf" /><Relationship Type="http://schemas.openxmlformats.org/officeDocument/2006/relationships/notesMaster" Target="/ppt/notesMasters/notesMaster1.xml" Id="R2fcdc28130b84a7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6898f164bf4497b" /><Relationship Type="http://schemas.openxmlformats.org/officeDocument/2006/relationships/notesMaster" Target="/ppt/notesMasters/notesMaster1.xml" Id="R6e069a0594ed4b9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faf46b7f983496a" /><Relationship Type="http://schemas.openxmlformats.org/officeDocument/2006/relationships/notesMaster" Target="/ppt/notesMasters/notesMaster1.xml" Id="R86cd5be8c42c4cf5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207a28ca401f4a33" /><Relationship Type="http://schemas.openxmlformats.org/officeDocument/2006/relationships/notesMaster" Target="/ppt/notesMasters/notesMaster1.xml" Id="R9ae745e2180c42c7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89a644bccf424070" /><Relationship Type="http://schemas.openxmlformats.org/officeDocument/2006/relationships/notesMaster" Target="/ppt/notesMasters/notesMaster1.xml" Id="R68710e1433a548af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96c39b06a28d40bf" /><Relationship Type="http://schemas.openxmlformats.org/officeDocument/2006/relationships/notesMaster" Target="/ppt/notesMasters/notesMaster1.xml" Id="R2dc4a04f33ff4e9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19528f85be44285" /><Relationship Type="http://schemas.openxmlformats.org/officeDocument/2006/relationships/notesMaster" Target="/ppt/notesMasters/notesMaster1.xml" Id="R255ffc3854ee43cb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cbdbbc9c2a4e4329" /><Relationship Type="http://schemas.openxmlformats.org/officeDocument/2006/relationships/notesMaster" Target="/ppt/notesMasters/notesMaster1.xml" Id="R1fd1eb6e849a4609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242c1ccad38e444d" /><Relationship Type="http://schemas.openxmlformats.org/officeDocument/2006/relationships/notesMaster" Target="/ppt/notesMasters/notesMaster1.xml" Id="R08c80150293940c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0199ad152a8949ee" /><Relationship Type="http://schemas.openxmlformats.org/officeDocument/2006/relationships/notesMaster" Target="/ppt/notesMasters/notesMaster1.xml" Id="Rdb54448185984cf9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5b087376f1a54b09" /><Relationship Type="http://schemas.openxmlformats.org/officeDocument/2006/relationships/notesMaster" Target="/ppt/notesMasters/notesMaster1.xml" Id="R133532b2d8934145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a9622530647144f7" /><Relationship Type="http://schemas.openxmlformats.org/officeDocument/2006/relationships/notesMaster" Target="/ppt/notesMasters/notesMaster1.xml" Id="R08367d6f87524a57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3faf4339b74f4778" /><Relationship Type="http://schemas.openxmlformats.org/officeDocument/2006/relationships/notesMaster" Target="/ppt/notesMasters/notesMaster1.xml" Id="R8c047dc4a030469e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3b278dc5bf5046f5" /><Relationship Type="http://schemas.openxmlformats.org/officeDocument/2006/relationships/notesMaster" Target="/ppt/notesMasters/notesMaster1.xml" Id="R0ab7f6f2d93a46bc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ce586bd96a234195" /><Relationship Type="http://schemas.openxmlformats.org/officeDocument/2006/relationships/notesMaster" Target="/ppt/notesMasters/notesMaster1.xml" Id="R1bf0e88b8fda4a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开场提出讲座的主要判断：原型生产门槛下降后，教育工作的重心更多落在目标、判断与责任上。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/Users/tonyxin/Downloads/博汇集团_AI时代教育集团如何培养人组织工作_WorkflowPortfolio与AgenticAI实践_2026-08-26.pptx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章节封面：当“做出来”不再困难。从家庭学习原型、教师共创到个人AI团队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作者判断与本页内容整理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以教师提出的具体问题作为讲座起点。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/Users/tonyxin/Downloads/深技大教学楼.txt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三个案例共同说明价值位置随生产条件变化而移动。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/Users/tonyxin/Downloads/博汇集团_AI时代教育集团如何培养人组织工作_WorkflowPortfolio与AgenticAI实践_2026-08-26.pptx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案例来自家庭教育需要，截图呈现产品当前界面与功能组织。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/Users/tonyxin/Downloads/博汇集团_AI时代教育集团如何培养人组织工作_WorkflowPortfolio与AgenticAI实践_2026-08-26.pptx</a:t>
            </a:r>
            <a:endParaRPr/>
          </a:p>
          <a:p xmlns:a="http://schemas.openxmlformats.org/drawingml/2006/main">
            <a:r>
              <a:t>- /Users/tonyxin/Documents/Codex/2026-08-26/ai-45-ppt-pptx/work/v2/assets/yoyo-english-tutor.png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本页区分系统执行能力与人的教育责任。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/Users/tonyxin/Downloads/博汇集团_AI时代教育集团如何培养人组织工作_WorkflowPortfolio与AgenticAI实践_2026-08-26.pptx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三张照片分别记录教师共创、机房实践和学科调试。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/Users/tonyxin/Documents/Codex/2026-08-26/ai-45-ppt-pptx/work/v2/assets/pingshan-training.png</a:t>
            </a:r>
            <a:endParaRPr/>
          </a:p>
          <a:p xmlns:a="http://schemas.openxmlformats.org/drawingml/2006/main">
            <a:r>
              <a:t>- /Users/tonyxin/Documents/Codex/2026-08-26/ai-45-ppt-pptx/work/v2/assets/teacher-creators.jpeg</a:t>
            </a:r>
            <a:endParaRPr/>
          </a:p>
          <a:p xmlns:a="http://schemas.openxmlformats.org/drawingml/2006/main">
            <a:r>
              <a:t>- /Users/tonyxin/Documents/Codex/2026-08-26/ai-45-ppt-pptx/work/v2/assets/it-training.jpeg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左侧为UNESCO Digital Learning Week 2026邀请函，右侧为2026年8月27日抓取的法语申报支持页。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/Users/tonyxin/Documents/Codex/2026-08-26/ai-45-ppt-pptx/work/v2/assets/unesco-invitation.jpg</a:t>
            </a:r>
            <a:endParaRPr/>
          </a:p>
          <a:p xmlns:a="http://schemas.openxmlformats.org/drawingml/2006/main">
            <a:r>
              <a:t>- https://cocorobo.hk/unesco2026/teacher/#fr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Speaking Lab是英语演讲练习原型。截图证明功能与界面状态，不作为英语学习效果证据。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/Users/tonyxin/Documents/Codex/2026-08-25/speaking-lab/evidence/</a:t>
            </a:r>
            <a:endParaRPr/>
          </a:p>
          <a:p xmlns:a="http://schemas.openxmlformats.org/drawingml/2006/main">
            <a:r>
              <a:t>- https://www.moe.gov.cn/srcsite/A26/s8001/202204/t20220420_619921.html</a:t>
            </a:r>
            <a:endParaRPr/>
          </a:p>
          <a:p xmlns:a="http://schemas.openxmlformats.org/drawingml/2006/main">
            <a:r>
              <a:t>- https://www.moe.gov.cn/jyb_xxgk/xxgk_jyta/jyta_jiaocaiju/202209/t20220923_664174.html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该过程可概括为问题界定、规则表达、证据观察和持续修订。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https://cocorobo.hk/unesco2026/teacher/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这里的AI团队指按任务类型分工的一组AI角色。四个工作空间保留各自的项目范围、上下文和检查机制。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/Users/tonyxin/Documents/Codex/2026-08-09/ni-ke-y/agent-os/tasks/completed/upgrade-agentos-dashboard-system-v0.1/evidence/team-mission-control-desktop.png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四类工作空间对应研究与内容、软件开发、设计体验和商业策略。它们可以承担前期工作，但不能自行替代人的采用决定和外部行动授权。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/Users/tonyxin/Documents/Codex/2026-08-09/ni-ke-y/agent-os/tasks/completed/upgrade-agentos-dashboard-system-v0.1/evidence/team-mission-control-desktop.png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曲线表示任务结构变化。所谓前端与后端，分别指生成之前的问题选择，以及生成之后的核验、采用、维护和责任承担。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/Users/tonyxin/Downloads/博汇集团_AI时代教育集团如何培养人组织工作_WorkflowPortfolio与AgenticAI实践_2026-08-26.pptx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本部分的结论是：制作能力扩大并未减少人的工作，而是提高了问题选择、资源配置、交接核查和结果责任的重要性。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/Users/tonyxin/Downloads/博汇集团_AI时代教育集团如何培养人组织工作_WorkflowPortfolio与AgenticAI实践_2026-08-26.pptx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章节封面：未来人才的核心能力。学科深度、完整任务与认知责任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作者判断与本页内容整理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照片与书封来自作者文章导出的PDF，本页用于说明建构论的历史主张。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/Users/tonyxin/Downloads/当原型不再稀缺：GenAI 时代，重新“读懂”帕佩特与建构论.pdf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保留“稀缺性迁移”这一概念，同时用课堂可理解的语言说明：生产门槛下降后，判断、取舍、署名与责任的相对重要性上升。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/Users/tonyxin/Downloads/当原型不再稀缺：GenAI 时代，重新“读懂”帕佩特与建构论.pdf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本页区分作品完成与能力形成。语文学科例子用于说明，作品质量提高不等于立意、论证和作者声音已经发展。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/Users/tonyxin/Downloads/当原型不再稀缺：GenAI 时代，重新“读懂”帕佩特与建构论.pdf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任务条件的变化具体表现为意图形成、核验比较、完整表达和共同负责。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该判断回应培训现场美术与语文教师提出的问题。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/Users/tonyxin/Downloads/深技大教学楼.txt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这里的完整任务能力包括目标形成、执行交接、结果核验与责任承担，提示词只是其中一种操作手段。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这些能力与资源配置、行动启动和停止条件直接相关。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/Users/tonyxin/Downloads/博汇集团_AI时代教育集团如何培养人组织工作_WorkflowPortfolio与AgenticAI实践_2026-08-26.pptx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三层能力分别回答：凭什么判断、怎样完成复杂任务，以及由谁决定和负责。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章节封面：领域进展与我们的研究。从即时效果转向学习系统的组织方式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作者判断与本页内容整理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六类问题为后续案例提供共同的分析框架。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  <a:p xmlns:a="http://schemas.openxmlformats.org/drawingml/2006/main">
            <a:r>
              <a:t>- https://cocorobo.cn/research/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本页从学习证据、教师与学校、协作与实践三个层面概括研究问题的变化。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共同备课、低风险试用、数据边界和持续技术支持构成基本条件。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Lumilo等研究可用于说明信息聚合与教师注意分配之间的关系。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教师工作包括目标管理、过程编排、证据解释和边界设置。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AI-TPACK在本研究中指教师把学科内容、教学方法和AI功能放在同一项课堂设计中处理。结论适用于本项目的教师样本与设计任务。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https://cocorobo.cn/research/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理论名称予以保留，同时说明它们在本研究中的解释范围。研究将持续使用问题放在技术、规则、时间和协作结构中解释。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https://cocorobo.cn/research/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该循环将培训产出与课堂活动、学生证据和同伴审议连接起来。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/Users/tonyxin/Downloads/深技大教学楼.txt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本页从个性化对象和决定权主体两个维度分解概念。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三条传统分别强调效率、学习者发展和动态生成，并形成不同的价值取向。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三个概念分别约束支持位置、学习者自我管理和基本心理需要。数学例子说明，支持的目标是独立完成而不是持续依赖提示。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本页保留认知主权概念，并将其解释为学习者保留目标权、判断权、解释权和拒绝权。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  <a:p xmlns:a="http://schemas.openxmlformats.org/drawingml/2006/main">
            <a:r>
              <a:t>- /Users/tonyxin/Downloads/Beyond the Personalization Paradox ACM SUBMISSION named.docx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样本、测量、支架撤除和外推范围构成研究阅读的基本检查项。英语演讲例子说明即时作品质量与独立能力需要分开测量。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三个维度分别检查目标窄化、决策权配置和学习活动替代。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/Users/tonyxin/Downloads/Beyond the Personalization Paradox ACM SUBMISSION named.docx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共同调节要求成员共同规划、监控进展、协商分歧并承担责任；多人分别使用工具并不能自动形成共同调节。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社会性学习包含向同伴解释、提出异议、协调分歧和共同负责。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三个阶段分别涉及共享空间、社会共享调节和多智能体支持机制。MIRACLE是项目名称，不将架构本身表述为已经普遍验证的学习效果。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https://cocorobo.cn/research/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2025研究报告协作结果，2026 MIRACLE论文主要讨论架构与设计机制。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/Users/tonyxin/Documents/Codex/2026-08-10/referenced-chatgpt-conversation-this-is-an/work/slides-ainative2-v5/ai-native-learning-research-0715/assets/awards.png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本部分的共同判断是：AI教育研究需要同时观察学习活动、教师编排、决策权配置和协作结构。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章节封面：课堂上的可为与不可为。按学习目标、介入时机和学习证据配置AI角色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作者判断与本页内容整理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学生、同伴、AI系统和教师分别承担不同的认知活动与责任。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/Users/tonyxin/Documents/Codex/2026-08-22/https-github-com-tonyxinvip-slides-https/outputs/做中学与综合实践活动-专业语体修订版.pptx</a:t>
            </a:r>
            <a:endParaRPr/>
          </a:p>
          <a:p xmlns:a="http://schemas.openxmlformats.org/drawingml/2006/main">
            <a:r>
              <a:t>- /Users/tonyxin/Downloads/Beyond the Personalization Paradox ACM SUBMISSION named.docx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生成性努力指学习者为形成解释、判断和策略而必须经历的认知活动。它不同于可以减少的机械操作负担。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/Users/tonyxin/Documents/Codex/2026-08-22/https-github-com-tonyxinvip-slides-https/outputs/做中学与综合实践活动-专业语体修订版.pptx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六个阶段沿用综合实践活动框架。科学课例说明，系统介入位置应由该阶段需要形成的核心素养决定。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/Users/tonyxin/Documents/Codex/2026-08-22/https-github-com-tonyxinvip-slides-https/outputs/做中学与综合实践活动-专业语体修订版.pptx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方案质疑员可迁移到需要保留学生决策权的学科任务。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/Users/tonyxin/Documents/Codex/2026-08-22/https-github-com-tonyxinvip-slides-https/outputs/做中学与综合实践活动-专业语体修订版.pptx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ICAP用于区分接受、操作、形成新解释和基于彼此观点共同建构。语文例子用于说明互动质量不能由对话轮数替代。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https://doi.org/10.1080/00461520.2014.965823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系统角色接近关键判断时，需要明确权限、复核方式和撤除条件。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独立迁移指撤除原有支持后，学习者能够在新的任务或情境中运用已经形成的能力。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/Users/tonyxin/Documents/Codex/2026-08-22/https-github-com-tonyxinvip-slides-https/outputs/做中学与综合实践活动-专业语体修订版.pptx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本页依据义务教育课程方案和相关学科课程标准，将AI介入方式与学科核心素养对应。综合实践一行采用课程方案中的真实问题解决、跨学科实践和责任要求，不作为独立学科核心素养名称。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/Users/tonyxin/Downloads/深技大教学楼.txt</a:t>
            </a:r>
            <a:endParaRPr/>
          </a:p>
          <a:p xmlns:a="http://schemas.openxmlformats.org/drawingml/2006/main">
            <a:r>
              <a:t>- /Users/tonyxin/Documents/Codex/2026-08-22/https-github-com-tonyxinvip-slides-https/outputs/做中学与综合实践活动-专业语体修订版.pptx</a:t>
            </a:r>
            <a:endParaRPr/>
          </a:p>
          <a:p xmlns:a="http://schemas.openxmlformats.org/drawingml/2006/main">
            <a:r>
              <a:t>- https://www.moe.gov.cn/srcsite/A26/s8001/202204/t20220420_619921.html</a:t>
            </a:r>
            <a:endParaRPr/>
          </a:p>
          <a:p xmlns:a="http://schemas.openxmlformats.org/drawingml/2006/main">
            <a:r>
              <a:t>- https://www.moe.gov.cn/srcsite/A26/s8001/202204/W020220420582346895190.pdf</a:t>
            </a:r>
            <a:endParaRPr/>
          </a:p>
          <a:p xmlns:a="http://schemas.openxmlformats.org/drawingml/2006/main">
            <a:r>
              <a:t>- https://www.moe.gov.cn/srcsite/A26/s8001/202204/W020220420582354066450.pdf</a:t>
            </a:r>
            <a:endParaRPr/>
          </a:p>
          <a:p xmlns:a="http://schemas.openxmlformats.org/drawingml/2006/main">
            <a:r>
              <a:t>- https://www.moe.gov.cn/srcsite/A29/202501/t20250122_1176589.html</a:t>
            </a:r>
            <a:endParaRPr/>
          </a:p>
          <a:p xmlns:a="http://schemas.openxmlformats.org/drawingml/2006/main">
            <a:r>
              <a:t>- https://www.moe.gov.cn/fbh/live/2022/54382/twwd/202204/t20220421_620224.html</a:t>
            </a:r>
            <a:endParaRPr/>
          </a:p>
          <a:p xmlns:a="http://schemas.openxmlformats.org/drawingml/2006/main">
            <a:r>
              <a:t>- https://www.moe.gov.cn/jyb_xxgk/xxgk_jyta/jyta_jiaocaiju/202209/t20220923_664174.html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结论回到课程标准的素养导向，并衔接下午工作坊。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/Users/tonyxin/Documents/Codex/2026-08-22/https-github-com-tonyxinvip-slides-https/outputs/做中学与综合实践活动-专业语体修订版.pptx</a:t>
            </a:r>
            <a:endParaRPr/>
          </a:p>
          <a:p xmlns:a="http://schemas.openxmlformats.org/drawingml/2006/main">
            <a:r>
              <a:t>- /Users/tonyxin/Downloads/Beyond the Personalization Paradox ACM SUBMISSION named.docx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9fdac2c5ed42be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053d6db99aa43e0" /><Relationship Type="http://schemas.openxmlformats.org/officeDocument/2006/relationships/slideLayout" Target="/ppt/slideLayouts/slideLayout1.xml" Id="R057c330a45524d61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7c330a45524d61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e315821d549aa" /><Relationship Type="http://schemas.openxmlformats.org/officeDocument/2006/relationships/notesSlide" Target="/ppt/notesSlides/notesSlide1.xml" Id="R4abad69cde5c4a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a8e27596904210" /><Relationship Type="http://schemas.openxmlformats.org/officeDocument/2006/relationships/notesSlide" Target="/ppt/notesSlides/notesSlide2.xml" Id="R836f2672a9d344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52059fcda4e85" /><Relationship Type="http://schemas.openxmlformats.org/officeDocument/2006/relationships/notesSlide" Target="/ppt/notesSlides/notesSlide3.xml" Id="R596ed0f6197f47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03b22d9ff540c4" /><Relationship Type="http://schemas.openxmlformats.org/officeDocument/2006/relationships/notesSlide" Target="/ppt/notesSlides/notesSlide4.xml" Id="Re0e376e527704c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ba82cbe43f46e8" /><Relationship Type="http://schemas.openxmlformats.org/officeDocument/2006/relationships/image" Target="/ppt/media/image.png" Id="R725ee0651a2e48e7" /><Relationship Type="http://schemas.openxmlformats.org/officeDocument/2006/relationships/notesSlide" Target="/ppt/notesSlides/notesSlide5.xml" Id="R4227e5e9cd914c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ddd810613f4241" /><Relationship Type="http://schemas.openxmlformats.org/officeDocument/2006/relationships/notesSlide" Target="/ppt/notesSlides/notesSlide6.xml" Id="R7e6488ab95ce40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70e1e4b07e4c15" /><Relationship Type="http://schemas.openxmlformats.org/officeDocument/2006/relationships/image" Target="/ppt/media/image2.png" Id="R3aa1952304004b1d" /><Relationship Type="http://schemas.openxmlformats.org/officeDocument/2006/relationships/notesSlide" Target="/ppt/notesSlides/notesSlide7.xml" Id="Rfaab89835b5c48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acc232bf44433" /><Relationship Type="http://schemas.openxmlformats.org/officeDocument/2006/relationships/image" Target="/ppt/media/image3.png" Id="R22786eb14f5f4833" /><Relationship Type="http://schemas.openxmlformats.org/officeDocument/2006/relationships/notesSlide" Target="/ppt/notesSlides/notesSlide8.xml" Id="Recef4b51237541f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f1581527a84fcc" /><Relationship Type="http://schemas.openxmlformats.org/officeDocument/2006/relationships/image" Target="/ppt/media/image4.png" Id="R4166ccc8e1b04acb" /><Relationship Type="http://schemas.openxmlformats.org/officeDocument/2006/relationships/notesSlide" Target="/ppt/notesSlides/notesSlide9.xml" Id="Rf2ea86521b194a2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c087443fa347fc" /><Relationship Type="http://schemas.openxmlformats.org/officeDocument/2006/relationships/notesSlide" Target="/ppt/notesSlides/notesSlide10.xml" Id="R75e3b118d16e449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65e6cd3524e89" /><Relationship Type="http://schemas.openxmlformats.org/officeDocument/2006/relationships/image" Target="/ppt/media/image5.png" Id="R10f6a3dd9ca34623" /><Relationship Type="http://schemas.openxmlformats.org/officeDocument/2006/relationships/notesSlide" Target="/ppt/notesSlides/notesSlide11.xml" Id="R80368cb33e4c45f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1a1da65236471d" /><Relationship Type="http://schemas.openxmlformats.org/officeDocument/2006/relationships/image" Target="/ppt/media/image6.png" Id="Rc81b4a7b474e493b" /><Relationship Type="http://schemas.openxmlformats.org/officeDocument/2006/relationships/notesSlide" Target="/ppt/notesSlides/notesSlide12.xml" Id="Rc41217eeb05b40b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b9fd86859e4067" /><Relationship Type="http://schemas.openxmlformats.org/officeDocument/2006/relationships/image" Target="/ppt/media/image7.png" Id="R5e861ecf86974c73" /><Relationship Type="http://schemas.openxmlformats.org/officeDocument/2006/relationships/notesSlide" Target="/ppt/notesSlides/notesSlide13.xml" Id="Re4cb4c65cfe545f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41360aa24e40a7" /><Relationship Type="http://schemas.openxmlformats.org/officeDocument/2006/relationships/notesSlide" Target="/ppt/notesSlides/notesSlide14.xml" Id="Rbff9758cbf66441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8db34580ff45bd" /><Relationship Type="http://schemas.openxmlformats.org/officeDocument/2006/relationships/notesSlide" Target="/ppt/notesSlides/notesSlide15.xml" Id="R1ff9b5b10f734c3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31e1e8393449af" /><Relationship Type="http://schemas.openxmlformats.org/officeDocument/2006/relationships/image" Target="/ppt/media/image8.png" Id="R72d39f6b666c491a" /><Relationship Type="http://schemas.openxmlformats.org/officeDocument/2006/relationships/notesSlide" Target="/ppt/notesSlides/notesSlide16.xml" Id="Reb7a9224084f464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5daef90a7a46ce" /><Relationship Type="http://schemas.openxmlformats.org/officeDocument/2006/relationships/image" Target="/ppt/media/image9.png" Id="R9b7e7fe98b72434f" /><Relationship Type="http://schemas.openxmlformats.org/officeDocument/2006/relationships/notesSlide" Target="/ppt/notesSlides/notesSlide17.xml" Id="R00bd4d4a40b54b5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af968644cc437a" /><Relationship Type="http://schemas.openxmlformats.org/officeDocument/2006/relationships/image" Target="/ppt/media/image10.png" Id="R549d79c659eb4aaa" /><Relationship Type="http://schemas.openxmlformats.org/officeDocument/2006/relationships/notesSlide" Target="/ppt/notesSlides/notesSlide18.xml" Id="R943e47b1a893413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6f3534f3b84ef2" /><Relationship Type="http://schemas.openxmlformats.org/officeDocument/2006/relationships/notesSlide" Target="/ppt/notesSlides/notesSlide19.xml" Id="Rfa2cce5f9fe243d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2082c5b767482a" /><Relationship Type="http://schemas.openxmlformats.org/officeDocument/2006/relationships/notesSlide" Target="/ppt/notesSlides/notesSlide20.xml" Id="R152ed04e1220486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fcbeb44ca444fb" /><Relationship Type="http://schemas.openxmlformats.org/officeDocument/2006/relationships/notesSlide" Target="/ppt/notesSlides/notesSlide21.xml" Id="R358c19821cf645f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c78c5d4ec749f9" /><Relationship Type="http://schemas.openxmlformats.org/officeDocument/2006/relationships/notesSlide" Target="/ppt/notesSlides/notesSlide22.xml" Id="R4c90f7d3eaf74fb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0bf037e2fa4f6f" /><Relationship Type="http://schemas.openxmlformats.org/officeDocument/2006/relationships/image" Target="/ppt/media/image11.png" Id="R7d161bbfc18d4da7" /><Relationship Type="http://schemas.openxmlformats.org/officeDocument/2006/relationships/notesSlide" Target="/ppt/notesSlides/notesSlide23.xml" Id="R8aaf4b9abe754d8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0ef01c8504f67" /><Relationship Type="http://schemas.openxmlformats.org/officeDocument/2006/relationships/notesSlide" Target="/ppt/notesSlides/notesSlide24.xml" Id="R04dcc2824e0747e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bf798b27204bbf" /><Relationship Type="http://schemas.openxmlformats.org/officeDocument/2006/relationships/image" Target="/ppt/media/image12.png" Id="Rc3394133b07a4dcf" /><Relationship Type="http://schemas.openxmlformats.org/officeDocument/2006/relationships/notesSlide" Target="/ppt/notesSlides/notesSlide25.xml" Id="R9ad1ae692dfb4fb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b7a2abaebf43bf" /><Relationship Type="http://schemas.openxmlformats.org/officeDocument/2006/relationships/notesSlide" Target="/ppt/notesSlides/notesSlide26.xml" Id="Rffe96652423241a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7ad92b64504dd7" /><Relationship Type="http://schemas.openxmlformats.org/officeDocument/2006/relationships/notesSlide" Target="/ppt/notesSlides/notesSlide27.xml" Id="Rc0574673ebeb4e4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566259003a4ca8" /><Relationship Type="http://schemas.openxmlformats.org/officeDocument/2006/relationships/notesSlide" Target="/ppt/notesSlides/notesSlide28.xml" Id="R25144660521b4c6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bdb1a2e0414648" /><Relationship Type="http://schemas.openxmlformats.org/officeDocument/2006/relationships/image" Target="/ppt/media/image13.png" Id="R14681d82720c4887" /><Relationship Type="http://schemas.openxmlformats.org/officeDocument/2006/relationships/notesSlide" Target="/ppt/notesSlides/notesSlide29.xml" Id="R386d63e29cb744c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e94df093d64aab" /><Relationship Type="http://schemas.openxmlformats.org/officeDocument/2006/relationships/notesSlide" Target="/ppt/notesSlides/notesSlide30.xml" Id="R0c2a6e5b012f431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ee74213694a6f" /><Relationship Type="http://schemas.openxmlformats.org/officeDocument/2006/relationships/notesSlide" Target="/ppt/notesSlides/notesSlide31.xml" Id="Rfbd3dddea17d437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afb296ee9542b6" /><Relationship Type="http://schemas.openxmlformats.org/officeDocument/2006/relationships/notesSlide" Target="/ppt/notesSlides/notesSlide32.xml" Id="R80dcfdef14654a5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dc183d96a94c23" /><Relationship Type="http://schemas.openxmlformats.org/officeDocument/2006/relationships/notesSlide" Target="/ppt/notesSlides/notesSlide33.xml" Id="R1847b7a549d64bb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d49a6cf9ff47d5" /><Relationship Type="http://schemas.openxmlformats.org/officeDocument/2006/relationships/notesSlide" Target="/ppt/notesSlides/notesSlide34.xml" Id="Rd9178364466240e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9b9e483864b8d" /><Relationship Type="http://schemas.openxmlformats.org/officeDocument/2006/relationships/notesSlide" Target="/ppt/notesSlides/notesSlide35.xml" Id="R84194a00de7d453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9057a0c6245e1" /><Relationship Type="http://schemas.openxmlformats.org/officeDocument/2006/relationships/image" Target="/ppt/media/image14.png" Id="R40bb902ef7344d8d" /><Relationship Type="http://schemas.openxmlformats.org/officeDocument/2006/relationships/notesSlide" Target="/ppt/notesSlides/notesSlide36.xml" Id="R62015ba2470843c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65641a0e0446e7" /><Relationship Type="http://schemas.openxmlformats.org/officeDocument/2006/relationships/notesSlide" Target="/ppt/notesSlides/notesSlide37.xml" Id="Rc398db66ae4f41ae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76d964664e456f" /><Relationship Type="http://schemas.openxmlformats.org/officeDocument/2006/relationships/image" Target="/ppt/media/image15.png" Id="R9e6f223959604925" /><Relationship Type="http://schemas.openxmlformats.org/officeDocument/2006/relationships/notesSlide" Target="/ppt/notesSlides/notesSlide38.xml" Id="R327ee0985bb04504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c43336e8bb4e5f" /><Relationship Type="http://schemas.openxmlformats.org/officeDocument/2006/relationships/notesSlide" Target="/ppt/notesSlides/notesSlide39.xml" Id="R266cd2aadebb4c9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87a288fa6d4790" /><Relationship Type="http://schemas.openxmlformats.org/officeDocument/2006/relationships/image" Target="/ppt/media/image16.png" Id="Rcfd72d38f1e64efe" /><Relationship Type="http://schemas.openxmlformats.org/officeDocument/2006/relationships/notesSlide" Target="/ppt/notesSlides/notesSlide40.xml" Id="Rcb3516b1a7674c9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477cdf39c478e" /><Relationship Type="http://schemas.openxmlformats.org/officeDocument/2006/relationships/notesSlide" Target="/ppt/notesSlides/notesSlide41.xml" Id="R969d076ff60444a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1ac4972b3e4609" /><Relationship Type="http://schemas.openxmlformats.org/officeDocument/2006/relationships/image" Target="/ppt/media/image17.png" Id="Rea8d6a605d0143bc" /><Relationship Type="http://schemas.openxmlformats.org/officeDocument/2006/relationships/notesSlide" Target="/ppt/notesSlides/notesSlide42.xml" Id="R0e54489e0cbf45a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f106bcfbf145c2" /><Relationship Type="http://schemas.openxmlformats.org/officeDocument/2006/relationships/notesSlide" Target="/ppt/notesSlides/notesSlide43.xml" Id="Rde07f6c7969649dd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a3c98cab7f43b7" /><Relationship Type="http://schemas.openxmlformats.org/officeDocument/2006/relationships/notesSlide" Target="/ppt/notesSlides/notesSlide44.xml" Id="R011b4753203149e4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b075adc69d4c5b" /><Relationship Type="http://schemas.openxmlformats.org/officeDocument/2006/relationships/image" Target="/ppt/media/image18.png" Id="Re8ad7a6c0d7c4423" /><Relationship Type="http://schemas.openxmlformats.org/officeDocument/2006/relationships/notesSlide" Target="/ppt/notesSlides/notesSlide45.xml" Id="Rdbb4ee26ad4745f5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d784f491b4578" /><Relationship Type="http://schemas.openxmlformats.org/officeDocument/2006/relationships/notesSlide" Target="/ppt/notesSlides/notesSlide46.xml" Id="R78d2cceed78141ff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06f2b6279542d9" /><Relationship Type="http://schemas.openxmlformats.org/officeDocument/2006/relationships/notesSlide" Target="/ppt/notesSlides/notesSlide47.xml" Id="R23d2f33d99a64e90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e952f01cc7409e" /><Relationship Type="http://schemas.openxmlformats.org/officeDocument/2006/relationships/notesSlide" Target="/ppt/notesSlides/notesSlide48.xml" Id="Reb9baa70d73748ed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73bda2bd354551" /><Relationship Type="http://schemas.openxmlformats.org/officeDocument/2006/relationships/notesSlide" Target="/ppt/notesSlides/notesSlide49.xml" Id="R8b7dcaeeff2c41ea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5b8059a2aa4d9a" /><Relationship Type="http://schemas.openxmlformats.org/officeDocument/2006/relationships/image" Target="/ppt/media/image19.png" Id="R08203a59a26c4f82" /><Relationship Type="http://schemas.openxmlformats.org/officeDocument/2006/relationships/notesSlide" Target="/ppt/notesSlides/notesSlide50.xml" Id="R01cffae9270f4dd1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8bf4b697754ef9" /><Relationship Type="http://schemas.openxmlformats.org/officeDocument/2006/relationships/notesSlide" Target="/ppt/notesSlides/notesSlide51.xml" Id="R8ccde7ea7efb4023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f37d7cd5b4d4d" /><Relationship Type="http://schemas.openxmlformats.org/officeDocument/2006/relationships/notesSlide" Target="/ppt/notesSlides/notesSlide52.xml" Id="Rd194957fb70f425d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189f609f3c444a" /><Relationship Type="http://schemas.openxmlformats.org/officeDocument/2006/relationships/notesSlide" Target="/ppt/notesSlides/notesSlide53.xml" Id="R3daede2ef850481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0ECEAD0-B58A-43CA-9D87-582BBCB5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A02B9FA-54C1-4FF9-AD56-35068264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8477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C06F6D-4E6F-46B9-B4D3-4DB22E89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023152B-ABEC-4678-AF12-72FDB3894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5A18454-1A45-44F3-AAC4-46866814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2676B2D-89C8-4D6E-8EF1-BD1CCBD6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9F66BD1-1473-4C6B-B6AE-D3337A8B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48B3AF3-5B6A-4FEB-B94A-3566970F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F3F1191-177F-4E8D-9ECC-791941EE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6B63B6D-2AD6-4EBD-8F42-A51666D3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80A33E9-237F-4119-9E2E-42E3CE8A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开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场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6DACEB5-3C21-4923-8552-C87D85C2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7AAE232-BC27-49D0-A525-D5BC48BF3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E2B74D8-DD7A-40D2-A5CF-25648B74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5568"/>
            <a:ext cx="9981895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F0CBBB"/>
                </a:solidFill>
                <a:latin typeface="Microsoft YaHei"/>
                <a:ea typeface="Microsoft YaHei"/>
                <a:cs typeface="Microsoft YaHei"/>
              </a:rPr>
              <a:t>深圳外国语学校全学科教师培训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1D61EDC-8EB7-4CBB-912A-80C80F1D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499616"/>
            <a:ext cx="9981895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当人人都有一支AI团队</a:t>
            </a:r>
            <a:endParaRPr sz="5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933E9F3-3DFE-4F02-8BD2-BDECE5710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96896"/>
            <a:ext cx="9981895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>
                <a:solidFill>
                  <a:srgbClr val="BFD3EA"/>
                </a:solidFill>
                <a:latin typeface="Microsoft YaHei"/>
                <a:ea typeface="Microsoft YaHei"/>
                <a:cs typeface="Microsoft YaHei"/>
              </a:rPr>
              <a:t>学生与AI的认知分工</a:t>
            </a:r>
            <a:endParaRPr sz="19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01E2190-2D29-4342-B465-B1CE651F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8008" y="3456432"/>
            <a:ext cx="939667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7888BB4-F433-442B-8604-B53CFC82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2056" y="339242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905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A719FFE-D9C2-4E03-B2EB-942F4FC4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21024"/>
            <a:ext cx="1481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个人原型</a:t>
            </a:r>
            <a:endParaRPr sz="10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6046B3C-27D7-438A-83E4-A9888942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6264" y="339242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905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72E9F30-488B-4BF0-AF8A-0A197D62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9608" y="3621024"/>
            <a:ext cx="1481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教师智能体</a:t>
            </a:r>
            <a:endParaRPr sz="10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EFB162C-5CF6-4E92-AF5C-EDDB9565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472" y="339242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905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0B99C99-31C6-45B8-B785-05F195FA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3816" y="3621024"/>
            <a:ext cx="1481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AI团队</a:t>
            </a:r>
            <a:endParaRPr sz="10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F40EDF3-E87F-4ECD-A259-6E7AA0A9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4680" y="339242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905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BDD6ACD-2E88-4FA2-BE6E-31FBD7FF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024" y="3621024"/>
            <a:ext cx="1481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领域地图</a:t>
            </a:r>
            <a:endParaRPr sz="10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2DE3EDA7-39DC-475F-9D18-319DAF21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8888" y="339242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905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695FE44-06A1-405A-9E75-D9C4052C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2232" y="3621024"/>
            <a:ext cx="1481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课堂分工</a:t>
            </a:r>
            <a:endParaRPr sz="10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A1D3FAA0-B803-45A5-B92C-9F0D1C5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3096" y="339242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905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A4E7EE1D-599D-434E-8036-DCEBC334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6440" y="3621024"/>
            <a:ext cx="1481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工作坊</a:t>
            </a:r>
            <a:endParaRPr sz="105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B15F9FE-7313-42B0-8FC9-0C96942B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43984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B3CD4DC4-2EA6-41D5-9010-3CA98541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572000"/>
            <a:ext cx="2103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主讲</a:t>
            </a:r>
            <a:endParaRPr sz="10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2A4234A-05B1-4004-9C4B-7942F14E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28032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辛海洋</a:t>
            </a:r>
            <a:endParaRPr sz="13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1C6EB8CF-A2AE-422A-8A3A-8A8B78D9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572000"/>
            <a:ext cx="2103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日期</a:t>
            </a:r>
            <a:endParaRPr sz="10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6DFF49A1-5C03-4DF1-8E92-C92FAA7F6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828032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年 8 月 27 日</a:t>
            </a:r>
            <a:endParaRPr sz="13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121DE41B-B2D2-4E6B-B757-928BEAA8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572000"/>
            <a:ext cx="2103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时长</a:t>
            </a:r>
            <a:endParaRPr sz="100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E6580A60-4E69-4478-B85B-1222F713A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828032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9626597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7B298B-C941-4D97-A4CB-BCAB69BE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983E116-4972-42A9-B426-077DF655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B6DA9C-C6C5-4C89-9102-82F57547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494FF4B-9AA2-4426-A604-40B1A23D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29928AE-0CF9-4F99-9CC9-FFCA40D1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C33E4A1-0C2B-49E2-95AB-5CD17E21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48012C5-9757-480B-8E44-89DEE194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B24598B-5AB8-4712-9CD5-EA0162B8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519613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B2D1DCD-2673-461E-AD29-DA242EBF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1CD416-1FB1-4229-94E4-CA864D0C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94FE5C-BCF6-470C-A5F5-20795512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09F4FDE-707D-486C-B487-7EB03185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6809C1F-2114-4485-9E66-20645A82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8364415-8FD2-42BC-9B46-8745CD04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12848"/>
            <a:ext cx="9981895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F0CBBB"/>
                </a:solidFill>
                <a:latin typeface="Microsoft YaHei"/>
                <a:ea typeface="Microsoft YaHei"/>
                <a:cs typeface="Microsoft YaHei"/>
              </a:rPr>
              <a:t>第一部分</a:t>
            </a:r>
            <a:endParaRPr sz="1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87DE9D3-96A2-41EA-90CF-330D8A59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51760"/>
            <a:ext cx="457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5AB1532-205A-437C-A165-8AC10BA9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615184"/>
            <a:ext cx="8902903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当“做出来”不再困难</a:t>
            </a:r>
            <a:endParaRPr sz="2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8D206B3-54CB-4C3B-9023-FCF95D93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4078224"/>
            <a:ext cx="890290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BFD3EA"/>
                </a:solidFill>
                <a:latin typeface="Microsoft YaHei"/>
                <a:ea typeface="Microsoft YaHei"/>
                <a:cs typeface="Microsoft YaHei"/>
              </a:rPr>
              <a:t>从家庭学习原型、教师共创到个人AI团队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4219789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50A2ABE-0215-4C16-9045-37A3320E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DCF3B59-179F-4F64-A772-2BD9E1E7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6E1495F-8B10-4C73-9356-821F38AB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B8CDBBC-89CD-4320-82C2-87F569C2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F4BBE73-8524-49BB-B698-48C57EE8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DCB919F-C277-4F5F-9E8D-3BA53B3E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3C9772E-CB5A-4FFB-ADDF-DF0804D05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5BC17CE-7705-497D-B5C2-57ADB2A3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77DDCE6-A664-4864-8E77-FFF30C1C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D849EA5-E8AB-4FBB-9554-88EB77ADB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44FBC3C-C4FD-4C0B-B665-92FD1DFF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E8959E4-9F00-4D96-A2B0-D459467D9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3DDEDCE-A750-4B4E-84ED-8200BD88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AF110A5-0726-49DE-961E-8130464B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12848"/>
            <a:ext cx="9981895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F0CBBB"/>
                </a:solidFill>
                <a:latin typeface="Microsoft YaHei"/>
                <a:ea typeface="Microsoft YaHei"/>
                <a:cs typeface="Microsoft YaHei"/>
              </a:rPr>
              <a:t>一位教师的困惑</a:t>
            </a:r>
            <a:endParaRPr sz="1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CF78DF75-8A7F-4123-8095-0AE78BA1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51760"/>
            <a:ext cx="457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A92E836-67C9-4325-B0CD-80D56945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615184"/>
            <a:ext cx="8902903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学生用AI完成的作文更成熟了，但这是否意味着他的写作能力也在发展？</a:t>
            </a:r>
            <a:endParaRPr sz="2500"/>
          </a:p>
        </p:txBody>
      </p:sp>
    </p:spTree>
    <p:extLst>
      <p:ext uri="{BB962C8B-B14F-4D97-AF65-F5344CB8AC3E}">
        <p14:creationId xmlns:p14="http://schemas.microsoft.com/office/powerpoint/2010/main" val="770275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0D57681-C5F1-44B7-8D6E-362B06D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5E2AFBD-DC55-4E7B-9AD7-B7E42611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9923D58-920F-4662-95FD-7C1A2B66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61A1CA6-DBAD-4FF8-977B-4BB6D8EC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462D28B-2D94-4809-8C91-EB35C464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516211C-7634-4668-A868-F82A86AD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5620701-58C0-480D-9AFC-66218159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2FB22F2-5E75-46B5-8A63-607D5C22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571CF46-2E95-45EA-8F00-1C7F638C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3159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E62DADD-6AA5-40AE-96CC-92A515E6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564AE65-F3E0-42EF-B3D5-A84958C1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9F6182C-76B4-425C-BC94-A1EC129D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04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F6F7061-ABBD-4B59-9C45-3862462E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DD6C9A0-01AF-4626-8CB4-192F09F8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286B80C-9F0C-4CD9-88FB-FE2B21BC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三类实践中的共同变化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BEEEB1A-2B06-45BE-9195-5E3A4A31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8775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737C15E-B68F-466B-9225-80127174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AA43136-2A63-4110-A543-C2817E18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7754DA4-9802-470A-96FE-0FE0CD03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家庭学习原型</a:t>
            </a:r>
            <a:endParaRPr sz="17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15402A9-F860-44DE-9E9C-F1111C79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C89067-A023-4617-A785-EB962BD9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具体学习需求可在较短时间内形成可试用原型。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44D398A-0237-46F8-B603-5B4D8139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967B92A-4F5D-4F42-99FF-393576C9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DE386CA-03B2-4A70-ACEA-88E8DEDA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教师智能体共创</a:t>
            </a:r>
            <a:endParaRPr sz="17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C3BB938-158A-4778-AD39-BCFCF195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13443CC-2747-4458-9E96-390CA8BE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教师将教学判断转化为角色、规则和接管条件。</a:t>
            </a:r>
            <a:endParaRPr sz="1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25D9E2C-11A4-4F39-AF88-1BE869E9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5C0FFC0-4923-44BF-AB82-A6C8C997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2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ED99C55-5CD5-42A5-9744-92AD677F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AI团队协作</a:t>
            </a:r>
            <a:endParaRPr sz="17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2E9414AF-629E-497A-87E6-ABE8CAB0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4DA772F-8B0A-4ABE-A23A-FC5EE610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生成、审查、运行和确认被分配给不同主体。</a:t>
            </a:r>
            <a:endParaRPr sz="11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1F733F1B-AFF5-40AF-871A-5511CD76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FF9892E-0713-47A9-B189-48E86DC7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随着制作门槛降低，问题定义、专业判断和结果验证所占比重上升。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418458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05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YoYo English Tutor：从家庭学习需求到可试用原型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5ee0651a2e48e7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BB50076-B2EB-4270-A0C8-C11A991E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150D276-7629-4F55-BC2E-26F79F90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427A05A-2202-4CFA-8DD2-E6CDD89B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FD64603-FF43-48FB-9C8E-F62DE7D2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A1ECFF9-3CD2-4E74-9434-1C82C730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9D9CF77-C83F-495E-867F-DDD45F64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004F007-E538-4A96-B045-D7230240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907631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2357808-080E-4ED2-A6D8-8C8424E9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B2BB14B-C228-4EB1-A992-355A59A0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9581B4B-F7DD-42B6-A4A9-9FCEDB4E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FD2629D-D252-4A85-8481-DF9B1FC0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1C6BB1B-FE42-4335-9B8C-0F91803E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06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89797E3-90AF-42AC-95CC-348A29B9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AEDBC96-10C7-4A5D-A9A1-904DF851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4640350-94B1-4DC9-BAD2-E7C5EE34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原型开发提速后，教育判断更早介入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5FDE1FA-E6A1-46FF-A994-784FA82F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4881220" cy="2971800"/>
          </a:xfrm>
          <a:prstGeom xmlns:a="http://schemas.openxmlformats.org/drawingml/2006/main" prst="roundRect">
            <a:avLst>
              <a:gd name="adj" fmla="val 2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957F37E-A69D-4C70-B66C-B4B2CDB3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186080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925818D-A7D1-40D9-A4FD-1D3C5200D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043684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系统支持</a:t>
            </a:r>
            <a:endParaRPr sz="17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326333E-89D9-42BA-9B2C-3CA078DA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409444"/>
            <a:ext cx="44788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执行工作</a:t>
            </a:r>
            <a:endParaRPr sz="9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F1E2441-E423-4787-827F-F84007F3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683764"/>
            <a:ext cx="447888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生成内容、界面与练习草稿。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2247E9F-8751-4A29-A337-95132155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195828"/>
            <a:ext cx="4478884" cy="1453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• 依据明确规则完成低风险任务</a:t>
            </a:r>
            <a:endParaRPr sz="950"/>
          </a:p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• 加速版本修改</a:t>
            </a:r>
            <a:endParaRPr sz="950"/>
          </a:p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• 整理反馈与基础数据</a:t>
            </a:r>
            <a:endParaRPr sz="9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009130F-3374-46D4-9390-775711A4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6076" y="1860804"/>
            <a:ext cx="4881220" cy="2971800"/>
          </a:xfrm>
          <a:prstGeom xmlns:a="http://schemas.openxmlformats.org/drawingml/2006/main" prst="roundRect">
            <a:avLst>
              <a:gd name="adj" fmla="val 2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9AA15A6-F32E-4F97-8B92-33FAD989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0084" y="186080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B532811-6B59-4E59-913E-2370AEC2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043684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人工承担</a:t>
            </a:r>
            <a:endParaRPr sz="17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D8AD80D-8118-4172-A94F-81C4A726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409444"/>
            <a:ext cx="44788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教育判断</a:t>
            </a:r>
            <a:endParaRPr sz="9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353B017-20D0-4B53-84AF-C3322619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683764"/>
            <a:ext cx="447888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教育目标、儿童边界与实际效果。</a:t>
            </a:r>
            <a:endParaRPr sz="10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3AC34A5-5E99-469A-9E93-661C9DAC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3195828"/>
            <a:ext cx="4478884" cy="1453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• 判断目标是否值得实现</a:t>
            </a:r>
            <a:endParaRPr sz="950"/>
          </a:p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• 观察是否形成依赖</a:t>
            </a:r>
            <a:endParaRPr sz="950"/>
          </a:p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• 检查是否出现预期变化</a:t>
            </a:r>
            <a:endParaRPr sz="9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B867CE7-2BD0-4B90-9926-1BF330C0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E15DDE11-C3B6-4485-878B-452C872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实现速度提高后，目的、边界和效果判断贯穿开发过程。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693745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4DDF86E-DEE2-40EC-86BE-9CC7E7ED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55B7FA-8284-401D-B3FF-048B8F93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0E1F0AF-D3F3-4964-854A-FAAF4070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5D43EAE-7AE4-4A09-AAE7-CA67023B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71688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8B0353F-ECE1-4F73-A228-11DD241A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526913D-7465-48DC-9CDF-3304D41F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C551860-7D8A-475F-BFB6-E43B9A20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4F78458-D5AC-47DB-B8A9-970DB0F0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E9F2041-84E5-4AA0-BA5F-8DFBE5A9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3CE6DAF-2ED6-4496-953F-CFDDA2C3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D9C6C34-646B-4070-A75A-B41B3C82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2A8862E-1CC7-4199-9CAB-A68A4A21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07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0D86C14-6360-43AE-8C76-40080930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6F3F5D0-E916-449B-BAF9-F3F200F1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4475DDA-B1FE-4BC8-912D-9304E713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教师智能体设计进入培训与共创现场</a:t>
            </a:r>
            <a:endParaRPr sz="32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0E0094B1-C30A-49D7-B47E-D7AD41EA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E7AB843-3E4D-4A94-96AE-64FF3597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照片记录教师设计、调试和展示智能体的过程；后续判断应结合课堂活动与学生证据。</a:t>
            </a:r>
            <a:endParaRPr sz="1000"/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a1952304004b1d"/>
          <a:stretch xmlns:a="http://schemas.openxmlformats.org/drawingml/2006/main"/>
        </p:blipFill>
        <p:spPr>
          <a:xfrm xmlns:a="http://schemas.openxmlformats.org/drawingml/2006/main">
            <a:off x="1778257" y="2080260"/>
            <a:ext cx="9016181" cy="3200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108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08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UNESCO交流与申报材料构成项目的外部背景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786eb14f5f4833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09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Speaking Lab支持演讲稿的分阶段练习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66ccc8e1b04acb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B14EEA8-4474-41D8-B98A-C4B3B48C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3E7EB9-D3CA-42BB-8413-8CDA91E6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FFD6A8-56CB-491B-9051-C63CAB0E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1E85BEB-5C45-4EF6-BCA5-2A8973B8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F16D712-4FFC-47BD-AE46-35E2BE80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053FDFD-281D-4860-B625-F1D40A64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295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A9DC157-67B4-4C27-A1E5-8B538649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6D99BF0-43B3-4133-BE0E-93052548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9B7B50C-D214-4B0C-867B-38105FB6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C11EAC8-3229-453B-B7F8-7EE00063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E8F6F5C-8B72-4258-9441-933A7C68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9877883-B0EE-4353-8AC3-464378FE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10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7437F58-2749-4C5F-9BFB-0A4F79C4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2136178-6D48-44EC-8AEF-551EC366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8E0A312-0BAD-4C82-9F5C-D3E7F85D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智能体设计使部分教学判断得到显性表达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90DAC0A-5707-4C1B-92EE-A766EC03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734056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391F31D-2EED-479D-AC77-FB847415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87168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A2F4983-535F-4E2A-AB64-B3231E42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87168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一</a:t>
            </a:r>
            <a:endParaRPr sz="14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2FA9BF3-31B1-44D4-A5A7-6A8DE559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00400"/>
            <a:ext cx="307126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8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界定真实教学问题</a:t>
            </a:r>
            <a:endParaRPr sz="18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E99E57C3-707F-40B1-B139-3284E813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487168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8724A17-0D7A-4248-9A28-6A104BF2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487168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二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45AF2BF-AED4-4FF5-922E-C3F53631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200400"/>
            <a:ext cx="307126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8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把专业判断转化为可执行规则</a:t>
            </a:r>
            <a:endParaRPr sz="18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F8638F5-515F-463D-A85B-CA1336D2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487168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BBB8F9E-BD2B-44F1-87FD-1C624261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487168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三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6D4F068-B46F-4A6B-BBDC-8FED8FF3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200400"/>
            <a:ext cx="307126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8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依据输出、失败与人工接管持续修订</a:t>
            </a:r>
            <a:endParaRPr sz="18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F2CB886-DB19-4F85-9E47-4225084F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D6DF72A-4F87-4E73-81DE-9F41A21C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设计过程要求教师明确教学问题、执行规则、观察指标和修订依据。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601797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11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AI团队以四个分工明确的工作空间运行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f6a3dd9ca34623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A8CC5C8-3449-45DF-A2C7-EE697BA4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F311CD2-D21B-4346-ADD3-4470EA16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5919040-D8CE-436A-975C-7667FC42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6CFD385-13BD-4952-A498-994F2E0F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71688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F9ED3A9-2A71-4FCC-9DCE-22484BA9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2EFD0CB-84F7-4845-BDF6-92805E46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852497D-53B0-410A-8A32-CC4908BD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C35C6781-3B5F-4714-80E4-D46C7E23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7F9EB-9E11-441D-871A-3042A285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8270A509-75CD-45F0-87B7-77EAD0E2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E5C44D9-D091-4005-8883-A2438133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EC5F2EF-9953-479B-BAD3-BCDE8D25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12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8339845-1CD1-4C99-A3CA-C34630BCF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A59E716-2208-4EBA-B80D-B21B296A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DAFD649-5578-4AAA-B274-425B62355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四个AI团队按任务分工，最终采用由人批准</a:t>
            </a:r>
            <a:endParaRPr sz="32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A4EF2BD-DFEE-481A-B611-A3544758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244084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研究与内容、软件开发、设计体验、商业策略四类工作空间保留独立上下文和检查机制。</a:t>
            </a:r>
            <a:endParaRPr sz="1500"/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1b4a7b474e493b"/>
          <a:stretch xmlns:a="http://schemas.openxmlformats.org/drawingml/2006/main"/>
        </p:blipFill>
        <p:spPr>
          <a:xfrm xmlns:a="http://schemas.openxmlformats.org/drawingml/2006/main">
            <a:off x="1778257" y="1879092"/>
            <a:ext cx="9016181" cy="3200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8641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4DDF86E-DEE2-40EC-86BE-9CC7E7ED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55B7FA-8284-401D-B3FF-048B8F93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0E1F0AF-D3F3-4964-854A-FAAF4070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5D43EAE-7AE4-4A09-AAE7-CA67023B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71688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8B0353F-ECE1-4F73-A228-11DD241A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526913D-7465-48DC-9CDF-3304D41F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C551860-7D8A-475F-BFB6-E43B9A20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4F78458-D5AC-47DB-B8A9-970DB0F0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E9F2041-84E5-4AA0-BA5F-8DFBE5A9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3CE6DAF-2ED6-4496-953F-CFDDA2C3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D9C6C34-646B-4070-A75A-B41B3C82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2A8862E-1CC7-4199-9CAB-A68A4A21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13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0D86C14-6360-43AE-8C76-40080930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6F3F5D0-E916-449B-BAF9-F3F200F1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4475DDA-B1FE-4BC8-912D-9304E713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任务前端与运行后端承担更多价值判断</a:t>
            </a:r>
            <a:endParaRPr sz="32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0E0094B1-C30A-49D7-B47E-D7AD41EA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E7AB843-3E4D-4A94-96AE-64FF3597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答案更容易生成后，难点转向选题、核验、采用与责任。</a:t>
            </a:r>
            <a:endParaRPr sz="1000"/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861ecf86974c73"/>
          <a:stretch xmlns:a="http://schemas.openxmlformats.org/drawingml/2006/main"/>
        </p:blipFill>
        <p:spPr>
          <a:xfrm xmlns:a="http://schemas.openxmlformats.org/drawingml/2006/main">
            <a:off x="1778257" y="2080260"/>
            <a:ext cx="9016181" cy="3200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108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0D57681-C5F1-44B7-8D6E-362B06D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5E2AFBD-DC55-4E7B-9AD7-B7E42611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9923D58-920F-4662-95FD-7C1A2B66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61A1CA6-DBAD-4FF8-977B-4BB6D8EC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462D28B-2D94-4809-8C91-EB35C464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516211C-7634-4668-A868-F82A86AD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5620701-58C0-480D-9AFC-66218159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2FB22F2-5E75-46B5-8A63-607D5C22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571CF46-2E95-45EA-8F00-1C7F638C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3159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E62DADD-6AA5-40AE-96CC-92A515E6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564AE65-F3E0-42EF-B3D5-A84958C1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9F6182C-76B4-425C-BC94-A1EC129D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14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F6F7061-ABBD-4B59-9C45-3862462E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DD6C9A0-01AF-4626-8CB4-192F09F8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286B80C-9F0C-4CD9-88FB-FE2B21BC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第一部分小结：任务范围扩大，判断与责任随之增加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BEEEB1A-2B06-45BE-9195-5E3A4A31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8775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737C15E-B68F-466B-9225-80127174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AA43136-2A63-4110-A543-C2817E18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7754DA4-9802-470A-96FE-0FE0CD03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资源配置</a:t>
            </a:r>
            <a:endParaRPr sz="17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15402A9-F860-44DE-9E9C-F1111C79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C89067-A023-4617-A785-EB962BD9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把有限的系统调用额度、时间与注意力优先投入重要问题。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44D398A-0237-46F8-B603-5B4D8139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967B92A-4F5D-4F42-99FF-393576C9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DE386CA-03B2-4A70-ACEA-88E8DEDA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交接与核查</a:t>
            </a:r>
            <a:endParaRPr sz="17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C3BB938-158A-4778-AD39-BCFCF195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13443CC-2747-4458-9E96-390CA8BE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交接背景、标准、证据和失败状态。</a:t>
            </a:r>
            <a:endParaRPr sz="1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25D9E2C-11A4-4F39-AF88-1BE869E9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5C0FFC0-4923-44BF-AB82-A6C8C997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2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ED99C55-5CD5-42A5-9744-92AD677F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结果责任</a:t>
            </a:r>
            <a:endParaRPr sz="17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2E9414AF-629E-497A-87E6-ABE8CAB0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4DA772F-8B0A-4ABE-A23A-FC5EE610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停止生成、进入行动，并承担实际后果。</a:t>
            </a:r>
            <a:endParaRPr sz="11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1F733F1B-AFF5-40AF-871A-5511CD76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FF9892E-0713-47A9-B189-48E86DC7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AI团队扩大个人可参与的任务范围，但专业知识、交接核查和结果责任仍由人承担。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418458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8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7B298B-C941-4D97-A4CB-BCAB69BE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983E116-4972-42A9-B426-077DF655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B6DA9C-C6C5-4C89-9102-82F57547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494FF4B-9AA2-4426-A604-40B1A23D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29928AE-0CF9-4F99-9CC9-FFCA40D1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C33E4A1-0C2B-49E2-95AB-5CD17E21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48012C5-9757-480B-8E44-89DEE194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B24598B-5AB8-4712-9CD5-EA0162B8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519613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B2D1DCD-2673-461E-AD29-DA242EBF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1CD416-1FB1-4229-94E4-CA864D0C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94FE5C-BCF6-470C-A5F5-20795512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09F4FDE-707D-486C-B487-7EB03185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15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6809C1F-2114-4485-9E66-20645A82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8364415-8FD2-42BC-9B46-8745CD04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12848"/>
            <a:ext cx="9981895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F0CBBB"/>
                </a:solidFill>
                <a:latin typeface="Microsoft YaHei"/>
                <a:ea typeface="Microsoft YaHei"/>
                <a:cs typeface="Microsoft YaHei"/>
              </a:rPr>
              <a:t>第二部分</a:t>
            </a:r>
            <a:endParaRPr sz="1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87DE9D3-96A2-41EA-90CF-330D8A59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51760"/>
            <a:ext cx="457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5AB1532-205A-437C-A165-8AC10BA9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615184"/>
            <a:ext cx="8902903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未来人才的核心能力</a:t>
            </a:r>
            <a:endParaRPr sz="2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8D206B3-54CB-4C3B-9023-FCF95D93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4078224"/>
            <a:ext cx="890290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BFD3EA"/>
                </a:solidFill>
                <a:latin typeface="Microsoft YaHei"/>
                <a:ea typeface="Microsoft YaHei"/>
                <a:cs typeface="Microsoft YaHei"/>
              </a:rPr>
              <a:t>学科深度、完整任务与认知责任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42197894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16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帕佩特将‘造物’视为思考过程的一部分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d39f6b666c491a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17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“稀缺性迁移”指难点从生产转向判断与责任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7e7fe98b72434f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18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AI可以直接生成作品，但学习仍需保留构造过程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9d79c659eb4aaa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7895BE5-D706-4FB5-A030-7C236F87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D5790FF-1887-437D-8764-0B842FCD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9686FA1-CE6C-4CB8-9D07-E6133466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AF2E43D-E39F-47AB-ABE2-356E1CE7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0167298-61BF-4A80-B3FC-7365E80D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376C4C2-8A4F-4836-A34C-E65E1F15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52804F4-94A9-4291-8038-5CEE45CD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DD330CD-3664-48FE-B52E-02F1E289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40F653E-ED43-4BB3-A434-3270AD22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E072D7C-5062-4365-BB1A-A7BE3398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CD0A835-1319-4589-A109-15057B7B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28B825B-0CF9-4108-BE82-7D6D30D9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19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3705F8A-DDCE-44A2-9377-E098E76B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CBA1666-4CF9-4EF5-AAD4-4E89B7EAE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C119F44-A998-4963-B3A6-416C1846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4C对应AI协作中的新任务要求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2BC3AE1-2075-4F0D-9E8E-DA2E92F8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971675"/>
            <a:ext cx="47623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spc="8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AI改变的任务条件</a:t>
            </a:r>
            <a:endParaRPr sz="9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88428F8-3482-4388-9053-FFB1CE61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2410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CACB420-4DB8-4820-910B-2A784743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232410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一般性产出大量增加</a:t>
            </a:r>
            <a:endParaRPr sz="14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E5EC29A-BBA7-486E-95E3-8577B725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2417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9DA2371-10D7-4F78-ACFB-CD4E8E5D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292417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流畅答案更容易得到</a:t>
            </a:r>
            <a:endParaRPr sz="14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3DE9272-C0AC-40D0-92FE-C63817F7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2425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A9020BF-3D03-4B22-9B88-844CEBF3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352425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人机表达与交接增多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D1500E5-9F0E-48BE-B24C-8EC3CD29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2432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66A326F-57CF-4C50-BFD3-C4039330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412432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团队成员可以包括AI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4876F79-767E-49EF-9504-14E3257E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1971675"/>
            <a:ext cx="47623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spc="8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学生必须承担的新任务</a:t>
            </a:r>
            <a:endParaRPr sz="9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307E4EE-C685-454B-90E3-8495B53F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232410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BD29308-F815-4B08-903B-43B0F344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232410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形成意图与作出取舍</a:t>
            </a:r>
            <a:endParaRPr sz="14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8A5E734-915C-4785-A8E4-C196183A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292417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7B70366-FC9D-49FD-9D96-DF8D1F0E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292417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核验、比较、质疑和拒绝</a:t>
            </a:r>
            <a:endParaRPr sz="14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E64B7F70-A565-4778-9F0E-9E7498C6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352425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F1E621E-53A1-4BFA-96A6-9B0DFFCB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352425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说明目标、理由与限制</a:t>
            </a:r>
            <a:endParaRPr sz="14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825F125E-F870-4C0A-9EFC-38FF8A5B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412432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D65DEFE-77A9-4498-9058-9A6A5EE9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412432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处理冲突并共同负责</a:t>
            </a:r>
            <a:endParaRPr sz="14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1F2ED3A-1962-441A-9ABB-716122C27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43600"/>
            <a:ext cx="998189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学科知识仍是形成判断和核验系统输出的基础。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5189875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FA7F997-910F-4AE0-BA52-E9A1E336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0475CE-F855-44B6-8A4D-AF904B92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4894187-F17E-44E6-B265-3AF9DFCC5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5FC9E3A-C5C1-47AA-82E8-CA913E5C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599517F-9D9B-4FC8-AF96-E0A6A617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133A7FB-6B5B-4A6C-84F2-24602D7B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024ADA1-EB90-4007-921C-2D1388E3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907631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60393D63-48E6-4011-947D-75D22278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2EC2632-E102-498D-A264-F2011B48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F5A93F7-B894-4BB3-B55A-111E8204D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E9A358B-C39A-46A3-B48D-148AFF1D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BF05AE5-9DE0-41D6-93FE-C2C4B6D2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20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10DBB5A-CE73-4D9E-B298-B80C6EB6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9AF1760-F9AA-4409-8282-BF0647D3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47D6247-6E12-4843-B09C-355DE7D6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AI介入时机影响创造与批判性思维活动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B58E2C9-687D-4A01-91E5-F238D8B1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00884"/>
            <a:ext cx="4881220" cy="1755648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56A12A9-838E-4192-B757-E926A7BC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250088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462B00B-06DA-47E5-8702-C41492FF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683764"/>
            <a:ext cx="44788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在生成前形成初始判断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8C05134-F756-4872-8479-50990463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031236"/>
            <a:ext cx="447888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美术与写作</a:t>
            </a:r>
            <a:endParaRPr sz="9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2B8CF21-649F-4F03-AED1-C6E93C27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268980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300" b="1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学生先留下自己的初始想象或观点。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C6D2870-FC0E-4579-BB3A-C9B8E622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653028"/>
            <a:ext cx="447888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系统在初步判断形成后用于扩展、比较与反思。</a:t>
            </a:r>
            <a:endParaRPr sz="10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FBF2181-4A03-4A4D-B218-E66F8F6E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6076" y="2500884"/>
            <a:ext cx="4881220" cy="1755648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525E4A34-2E33-4825-B014-223F4304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0084" y="250088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93EB718-B30F-4B3D-85E6-0B5F5C9D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683764"/>
            <a:ext cx="44788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在评价前建立标准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8D8598F-5D36-4CEB-AE00-7AB0802C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3031236"/>
            <a:ext cx="447888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基础薄弱学生</a:t>
            </a:r>
            <a:endParaRPr sz="9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AA6AD9C-5818-417E-AEFA-400DB779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3268980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300" b="1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评价系统输出需要领域知识和明确标准。</a:t>
            </a:r>
            <a:endParaRPr sz="13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680D047E-9DBB-4BC3-92B4-05CE621E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3653028"/>
            <a:ext cx="447888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另一个系统可提供评价参考，评价依据仍由学生形成。</a:t>
            </a:r>
            <a:endParaRPr sz="10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40561CF-0418-4227-9ABA-85DAE46F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5A7FA13-0566-47B9-ACC2-FECD2AE9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教学设计需要同时考虑介入时机和学生已有的评价基础。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82455284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44C1676-55C5-449E-9245-E0D1A738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9DE3626-EA51-42DB-94EA-795C3E8A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2E29A84-6F2B-4425-A65D-98345956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0E5243C-286B-410A-9417-CE7A1CC1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3C89968-D443-408A-B190-D5758A53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7C59A1E-0CBD-454A-99CD-FD27DA33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295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9EEC1AC-CEF5-49D2-9D2C-0D5205AB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CE92C45-141D-4CF4-9583-5348C3F0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EEBC2AA-34AD-4D29-95B9-2780626C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0D57CDC-A3CE-4888-A077-B4F4F424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9B156B8-D65D-4A9F-9F2D-F2DF3FD99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751A585-C003-4086-BDB2-1A083D45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21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97ADF8A-3ECD-44EE-A7C0-CFB4877B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7857402-ABA3-4890-B48E-98D24071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7E30E61-B22B-4C7F-9354-457F163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完整任务能力要求说明目标、标准、限制与责任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1EFCFF2-F05C-48F9-BA56-ABE6C461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05940"/>
            <a:ext cx="9981895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完整任务沟通需要背景、目标、标准、限制与责任。</a:t>
            </a:r>
            <a:endParaRPr sz="11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2B0F9CE-F803-4F7D-9B81-AB24CAC7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81428"/>
            <a:ext cx="3205378" cy="22860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CD67B0D2-46D8-474E-836E-8C2B7A27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2281428"/>
            <a:ext cx="307736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1FD39DB-5D87-4A73-BE1B-E47ECAC0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464308"/>
            <a:ext cx="283961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表达完整任务</a:t>
            </a:r>
            <a:endParaRPr sz="15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3F8BC60-B60D-4839-9E4F-7042E3C0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848356"/>
            <a:ext cx="2839618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50000"/>
              </a:lnSpc>
              <a:buNone/>
            </a:pPr>
            <a:r>
              <a:rPr sz="12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说明前序决定与质量标准，明确需要传递的上下文。</a:t>
            </a:r>
            <a:endParaRPr sz="12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B66BAE9D-3485-4C71-8527-A28B01C5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3616452"/>
            <a:ext cx="283961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5CA3C76-FF1A-41F9-A160-DFA5E0B0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3726180"/>
            <a:ext cx="283961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05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约束　关键限制必须显式。</a:t>
            </a:r>
            <a:endParaRPr sz="10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010E5F4-0C46-4018-A88D-A4386DCA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4146804"/>
            <a:ext cx="283961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0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留痕　记录目标版本。</a:t>
            </a:r>
            <a:endParaRPr sz="10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0DE6B3D-0BA4-4F90-AC9F-9EB28574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3658" y="2281428"/>
            <a:ext cx="3205378" cy="22860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3223ADF-B1FA-4D6B-9F0D-A91416BC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7666" y="2281428"/>
            <a:ext cx="307736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9AFAC8E-AA0D-4D12-92E1-84278DF5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538" y="2464308"/>
            <a:ext cx="283961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检查交接</a:t>
            </a:r>
            <a:endParaRPr sz="15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C5E1081-D9F9-4E3F-B18B-34E032D2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538" y="2848356"/>
            <a:ext cx="2839618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50000"/>
              </a:lnSpc>
              <a:buNone/>
            </a:pPr>
            <a:r>
              <a:rPr sz="12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核对角色之间是否丢失证据、边界和失败状态。</a:t>
            </a:r>
            <a:endParaRPr sz="12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B4A7F36-4537-413F-AD56-54F23EC5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538" y="3616452"/>
            <a:ext cx="283961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0B7C9D6-F99E-420F-84CB-0764453F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538" y="3726180"/>
            <a:ext cx="283961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05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约束　生成与审查分离。</a:t>
            </a:r>
            <a:endParaRPr sz="105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A39640F-A54B-4C69-8CFF-D9588934B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538" y="4146804"/>
            <a:ext cx="283961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0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留痕　保存审查意见。</a:t>
            </a:r>
            <a:endParaRPr sz="10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283370C2-C03F-411A-9175-F36C436F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1917" y="2281428"/>
            <a:ext cx="3205378" cy="22860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BA84DD67-B38F-49B3-842A-93C7075E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5925" y="2281428"/>
            <a:ext cx="307736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4D9E4E7-B158-45D7-95B8-43F9BB2C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797" y="2464308"/>
            <a:ext cx="283961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保留人际协商</a:t>
            </a:r>
            <a:endParaRPr sz="15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C7AA7E7-49FC-4444-B436-9F896DDB0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797" y="2848356"/>
            <a:ext cx="2839618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50000"/>
              </a:lnSpc>
              <a:buNone/>
            </a:pPr>
            <a:r>
              <a:rPr sz="12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不同意见、冲突处理与共同承诺由小组成员完成。</a:t>
            </a:r>
            <a:endParaRPr sz="12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BA9BBFAE-CBDB-4093-97F2-5C25EB0A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797" y="3616452"/>
            <a:ext cx="283961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CECE7360-3BD8-4B40-A82D-94AEC54D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797" y="3726180"/>
            <a:ext cx="283961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05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约束　小组成员作出最终决定。</a:t>
            </a:r>
            <a:endParaRPr sz="105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38BEBF2E-695E-448B-BF42-2BCFD790D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797" y="4146804"/>
            <a:ext cx="283961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0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留痕　记录决策理由。</a:t>
            </a:r>
            <a:endParaRPr sz="105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473D304F-BC90-4B5E-8C30-A6CC294C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AF719C46-19C6-44DF-A38E-82E5987C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学科任务不止是提出问题，还包括交代证据标准、检查结果并说明采用理由。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59329084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BB50076-B2EB-4270-A0C8-C11A991E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150D276-7629-4F55-BC2E-26F79F90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427A05A-2202-4CFA-8DD2-E6CDD89B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FD64603-FF43-48FB-9C8E-F62DE7D2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A1ECFF9-3CD2-4E74-9434-1C82C730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9D9CF77-C83F-495E-867F-DDD45F64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004F007-E538-4A96-B045-D7230240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907631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2357808-080E-4ED2-A6D8-8C8424E9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B2BB14B-C228-4EB1-A992-355A59A0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9581B4B-F7DD-42B6-A4A9-9FCEDB4E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FD2629D-D252-4A85-8481-DF9B1FC0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1C6BB1B-FE42-4335-9B8C-0F91803E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22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89797E3-90AF-42AC-95CC-348A29B9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AEDBC96-10C7-4A5D-A9A1-904DF851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4640350-94B1-4DC9-BAD2-E7C5EE34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完整任务中的企业家精神与领导力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5FDE1FA-E6A1-46FF-A994-784FA82F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4881220" cy="2971800"/>
          </a:xfrm>
          <a:prstGeom xmlns:a="http://schemas.openxmlformats.org/drawingml/2006/main" prst="roundRect">
            <a:avLst>
              <a:gd name="adj" fmla="val 2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957F37E-A69D-4C70-B66C-B4B2CDB3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186080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925818D-A7D1-40D9-A4FD-1D3C5200D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043684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企业家精神</a:t>
            </a:r>
            <a:endParaRPr sz="17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326333E-89D9-42BA-9B2C-3CA078DA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409444"/>
            <a:ext cx="44788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发现与验证</a:t>
            </a:r>
            <a:endParaRPr sz="9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F1E2441-E423-4787-827F-F84007F3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683764"/>
            <a:ext cx="447888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主动发现具体问题，在不确定中启动行动。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2247E9F-8751-4A29-A337-95132155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195828"/>
            <a:ext cx="4478884" cy="1453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组织资源、形成原型，并根据采用和反馈持续调整。</a:t>
            </a:r>
            <a:endParaRPr sz="9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009130F-3374-46D4-9390-775711A4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6076" y="1860804"/>
            <a:ext cx="4881220" cy="2971800"/>
          </a:xfrm>
          <a:prstGeom xmlns:a="http://schemas.openxmlformats.org/drawingml/2006/main" prst="roundRect">
            <a:avLst>
              <a:gd name="adj" fmla="val 2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9AA15A6-F32E-4F97-8B92-33FAD989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0084" y="186080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B532811-6B59-4E59-913E-2370AEC2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043684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领导力</a:t>
            </a:r>
            <a:endParaRPr sz="17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D8AD80D-8118-4172-A94F-81C4A726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409444"/>
            <a:ext cx="44788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配置与负责</a:t>
            </a:r>
            <a:endParaRPr sz="9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353B017-20D0-4B53-84AF-C3322619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683764"/>
            <a:ext cx="447888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给AI团队设定方向、角色、标准和停止条件。</a:t>
            </a:r>
            <a:endParaRPr sz="10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3AC34A5-5E99-469A-9E93-661C9DAC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3195828"/>
            <a:ext cx="4478884" cy="1453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处理意见冲突，并为系统输出承担人的责任。</a:t>
            </a:r>
            <a:endParaRPr sz="9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B867CE7-2BD0-4B90-9926-1BF330C0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E15DDE11-C3B6-4485-878B-452C872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企业家精神与领导力分别对应问题发现、资源组织、方向设定和结果责任。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6937451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23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第二部分小结：完整任务需要专业深度、协作与责任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61bbfc18d4da7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8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7B298B-C941-4D97-A4CB-BCAB69BE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983E116-4972-42A9-B426-077DF655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B6DA9C-C6C5-4C89-9102-82F57547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494FF4B-9AA2-4426-A604-40B1A23D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29928AE-0CF9-4F99-9CC9-FFCA40D1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C33E4A1-0C2B-49E2-95AB-5CD17E21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48012C5-9757-480B-8E44-89DEE194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B24598B-5AB8-4712-9CD5-EA0162B8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519613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B2D1DCD-2673-461E-AD29-DA242EBF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1CD416-1FB1-4229-94E4-CA864D0C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94FE5C-BCF6-470C-A5F5-20795512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09F4FDE-707D-486C-B487-7EB03185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24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6809C1F-2114-4485-9E66-20645A82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8364415-8FD2-42BC-9B46-8745CD04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12848"/>
            <a:ext cx="9981895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F0CBBB"/>
                </a:solidFill>
                <a:latin typeface="Microsoft YaHei"/>
                <a:ea typeface="Microsoft YaHei"/>
                <a:cs typeface="Microsoft YaHei"/>
              </a:rPr>
              <a:t>第三部分</a:t>
            </a:r>
            <a:endParaRPr sz="1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87DE9D3-96A2-41EA-90CF-330D8A59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51760"/>
            <a:ext cx="457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5AB1532-205A-437C-A165-8AC10BA9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615184"/>
            <a:ext cx="8902903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领域进展与我们的研究</a:t>
            </a:r>
            <a:endParaRPr sz="2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8D206B3-54CB-4C3B-9023-FCF95D93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4078224"/>
            <a:ext cx="890290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BFD3EA"/>
                </a:solidFill>
                <a:latin typeface="Microsoft YaHei"/>
                <a:ea typeface="Microsoft YaHei"/>
                <a:cs typeface="Microsoft YaHei"/>
              </a:rPr>
              <a:t>从即时效果转向学习系统的组织方式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4219789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25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后续研究案例围绕六类问题展开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394133b07a4dcf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6F1AAB-273C-4F28-BC2E-71BD4234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553045-53EE-4038-A3A9-90FD02776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6AE831C-D81C-42E2-8004-9ABBD823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0C7F1E9-DA65-4CF6-8FDD-6591FFD8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4705223-D7BF-4120-9FEC-4D1ECA12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683669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687CE2E-0AA3-4BC1-A872-40500308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9DC1A0E-A127-41E6-98C7-7AB46CD7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8B05B58-E249-4750-9059-BA314AF7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A47218B-3F11-4D53-9EAC-54A6EF22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2181A64-13CE-4632-8C6F-D4A1257D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D1BDD3E-EBC0-4CE5-97A2-C334DFF4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BAE3725-205D-4FFB-B3D6-B8542E6A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26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09C3897-49AB-436F-9ECC-AA833930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7EA8A69-AAE4-4600-B77C-6FB81A62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97DDC1A-96C4-4CAF-A831-9F487706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研究问题从即时效果扩展到学习系统的组织方式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089B8E3-ED91-402F-9E1C-A14BEA13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A8421F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9CF0617-809C-4631-824C-C4D9A628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25396"/>
            <a:ext cx="311393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学习与证据</a:t>
            </a:r>
            <a:endParaRPr sz="17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6C6F2FD-51C6-4979-A6F6-E63187DF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38628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421F">
                <a:alpha val="6500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857F82D-D75E-4D0F-8E7C-551F200F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555748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即时成绩 → 撤除支架后的迁移</a:t>
            </a:r>
            <a:endParaRPr sz="13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8FC9A715-38AA-4F27-9BA5-39B04851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67812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B8324224-348C-44E6-AA7B-7DA80806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42132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421F">
                <a:alpha val="65000"/>
              </a:srgbClr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D391B5F-8CAA-408F-8A55-115FB8CA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159252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最终作品 → 过程与解释证据</a:t>
            </a:r>
            <a:endParaRPr sz="13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63BD2184-C079-4513-A5FE-38C7D940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71316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AFFF95D-5FF2-4230-9BD5-C48023176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45636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421F">
                <a:alpha val="65000"/>
              </a:srgbClr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04D8057-1AB9-45DD-A1A2-C57642D9C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762756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互动次数 → 认知参与质量</a:t>
            </a:r>
            <a:endParaRPr sz="13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9A9CB72D-8E5D-4D1D-A79A-290672EA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74820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42BDCBE0-7685-4FBC-BEF9-609E933C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549140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421F">
                <a:alpha val="65000"/>
              </a:srgbClr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364E9E2-3180-4536-B517-1209B423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4366260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系统建议 → 可质疑与可修改</a:t>
            </a:r>
            <a:endParaRPr sz="13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359F1312-2C16-4A7B-98E8-D9D86300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1860804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D4ED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7AC68C9-5119-492E-8907-40C3944D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2025396"/>
            <a:ext cx="311393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教师与学校</a:t>
            </a:r>
            <a:endParaRPr sz="17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B848F9B9-3E78-43D7-B2E3-CCA35A68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2738628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4ED8">
                <a:alpha val="65000"/>
              </a:srgbClr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549B3DB1-5CA7-46F1-AC90-609CB4D3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0546" y="2555748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是否使用 → 如何编排与治理</a:t>
            </a:r>
            <a:endParaRPr sz="13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9D7F3EBD-4C11-480A-99EF-A68CD71A7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3067812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147C120B-F597-4EC1-8914-C28804EA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3342132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4ED8">
                <a:alpha val="65000"/>
              </a:srgbClr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47A1134C-3C84-44E6-9ABA-4EA182B71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0546" y="3159252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一次培训 → 持续设计循环</a:t>
            </a:r>
            <a:endParaRPr sz="130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F8EA7C2A-E375-4454-A3D8-53DCF7C0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3671316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F6F19BE3-8EA5-4AD3-9E4E-C9442AD9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3945636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4ED8">
                <a:alpha val="65000"/>
              </a:srgbClr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302D07D-FD00-4D67-9098-B3A9EF7A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0546" y="3762756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工具采购 → 时间、规则与支持结构</a:t>
            </a:r>
            <a:endParaRPr sz="130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07CB7851-416C-4CE6-9CBD-34F376AE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4274820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58D0D23F-C03A-41B4-9F55-CA5285F70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4549140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4ED8">
                <a:alpha val="65000"/>
              </a:srgbClr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42A402B3-41FC-4F6F-8DF9-13F16BD3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0546" y="4366260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节省时间 → 专业注意力如何重新分配</a:t>
            </a:r>
            <a:endParaRPr sz="1300"/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F292E154-19E5-44FF-B993-A5624A74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1860804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D9E2EF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F4D23860-AF88-469D-8B28-FBA2ABB02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2025396"/>
            <a:ext cx="311393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协作与实践</a:t>
            </a:r>
            <a:endParaRPr sz="1700"/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BC8F2A29-42E3-4857-BBEE-BFD37EC1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2738628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65000"/>
              </a:srgbClr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6DF94F52-3248-4E32-89EA-215422C5A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525" y="2555748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个人对话 → 群体共同调节</a:t>
            </a:r>
            <a:endParaRPr sz="1300"/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2AACB1AD-DBF8-41B1-AA60-1D440148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3067812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2AA9448F-9415-452E-BE96-F69BA9BF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3342132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65000"/>
              </a:srgbClr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1AE927CB-B6EE-44E6-A436-F7C62DEC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525" y="3159252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完成作品 → 保留协商与共同负责</a:t>
            </a:r>
            <a:endParaRPr sz="130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561AE210-1591-4776-9365-B42CEB60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3671316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4AA4BB94-F9E2-41D8-94BB-E1A14BD1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3945636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65000"/>
              </a:srgbClr>
            </a:solidFill>
            <a:prstDash val="solid"/>
          </a:ln>
        </p:spPr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BEE03C6E-515A-4D01-B445-2EFA0158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525" y="3762756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短期试点 → 安全、低成本持续运行</a:t>
            </a:r>
            <a:endParaRPr sz="1300"/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BA2933F8-1459-4DF6-BB01-DBE92215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4274820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84F36FDF-A58B-4EEE-ABBD-06DC00AA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4549140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65000"/>
              </a:srgbClr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2E1AFFF3-8E72-45ED-8211-A9C301DD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525" y="4366260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模型能力 → 课堂角色与评价组合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39905381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ED997FA-FD95-4055-9B32-9533C72F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75D7E02-0BBF-4DF0-A193-7EB2A28F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4BC3299-BD7C-4EF0-95F7-C9C0EBDD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D7F2930-712E-4C02-9976-429B686D2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B06BAC6-9E38-4D35-820B-D3D5FF83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683669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3CBC53B-3B67-455B-B74A-D2DBBB3E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832B5A9-737B-4E78-B2DE-6744A6E1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C098694-FA42-45C0-80DD-C7890346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B78C96E-DECD-46D4-87B1-1D9DF0D6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1687870-EF6E-468F-97D7-D7712FA4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EA077DD-02D6-43EC-9873-18E20EAD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FAE2AB0-FDDF-4D41-9F1B-1DCE0183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27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983ACB6-510A-4BFB-AEB3-6F28F1A4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20386C9-F716-4A2A-87F8-C647A029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12411DF-708C-4646-80A3-9A726E3F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学校AI建设的组织支持条件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2CA0278-180F-45D7-B47E-BFDCD223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05940"/>
            <a:ext cx="99818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学校层面的AI应用需要共同的时间、规则和支持结构。</a:t>
            </a:r>
            <a:endParaRPr sz="11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DE2BEFD-D5EB-4E92-B3A7-623C1588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2656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25812F3-93A7-44B8-9422-C75E2C69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222656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4079BA0-B6A6-418F-8D40-39C403B7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37286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共同备课时间</a:t>
            </a:r>
            <a:endParaRPr sz="15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482C312-39FF-415E-9692-3E092B8A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70205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教师把学科问题转化为可试用设计。</a:t>
            </a:r>
            <a:endParaRPr sz="11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E3C1575-DD09-4A50-80EE-5E723771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19582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ABE3F71-E7F0-4248-826B-75D5141E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25983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支持　时间进入制度安排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8B31EEB-1533-4CAA-B583-721BD687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8" y="222656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6987B0C-8905-40CC-9B1B-74D03E35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796" y="222656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6875CDC-486B-4AB3-99F7-46C0CB84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237286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低风险试用空间</a:t>
            </a:r>
            <a:endParaRPr sz="15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4CC67D-730C-4178-9FBA-B36DA42D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270205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允许小范围失败、人工接管与复盘。</a:t>
            </a:r>
            <a:endParaRPr sz="11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D54FFB5-574B-40A4-855A-E72154C48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319582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C80C01A-55D6-47A1-97F0-F8B2E16B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325983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支持　课堂试用机会</a:t>
            </a:r>
            <a:endParaRPr sz="10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531F838-D50E-4F0B-BB08-54573C8B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8960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F0FD4C89-403B-44D7-86E4-1E170AA4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368960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039E20D-440E-4118-9DAB-C784351D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83590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数据与责任边界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8869A52B-EF4A-4890-931C-8ED90144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416509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列明数据上传范围、确认者和发布权限。</a:t>
            </a:r>
            <a:endParaRPr sz="11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3B3319B7-E039-4DAF-ABC3-0230B139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465886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72EFB9D-4993-44CB-9C97-D460598C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472287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支持　规则与权限</a:t>
            </a:r>
            <a:endParaRPr sz="10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B2761A3D-D2A9-43AB-A662-248D965A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8" y="368960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5CCEEFCB-E0EF-44B3-91E5-25C65272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796" y="368960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A68B563-4C71-49ED-AA5C-D355606D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383590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工作量与持续支持</a:t>
            </a:r>
            <a:endParaRPr sz="150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D893854-50CF-4751-AAB0-F0EC9632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416509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评估新增的技术与协调工作量。</a:t>
            </a:r>
            <a:endParaRPr sz="11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2E64ACC1-099C-45D1-9DD5-DBA28BD1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465886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3EDEA68D-23ED-4835-92E9-33326801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472287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支持　同伴共同体与技术服务</a:t>
            </a:r>
            <a:endParaRPr sz="100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719F8EC5-509F-455C-82FB-54022566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9BB70D4B-E973-4784-96D2-9C0E6256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学校层面的AI建设涉及时间、规则、协作机制和责任安排。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6026511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ED997FA-FD95-4055-9B32-9533C72F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75D7E02-0BBF-4DF0-A193-7EB2A28F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4BC3299-BD7C-4EF0-95F7-C9C0EBDD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D7F2930-712E-4C02-9976-429B686D2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B06BAC6-9E38-4D35-820B-D3D5FF83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683669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3CBC53B-3B67-455B-B74A-D2DBBB3E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832B5A9-737B-4E78-B2DE-6744A6E1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C098694-FA42-45C0-80DD-C7890346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B78C96E-DECD-46D4-87B1-1D9DF0D6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1687870-EF6E-468F-97D7-D7712FA4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EA077DD-02D6-43EC-9873-18E20EAD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FAE2AB0-FDDF-4D41-9F1B-1DCE0183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28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983ACB6-510A-4BFB-AEB3-6F28F1A4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20386C9-F716-4A2A-87F8-C647A029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12411DF-708C-4646-80A3-9A726E3F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教师侧AI应用与专业注意力配置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2CA0278-180F-45D7-B47E-BFDCD223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05940"/>
            <a:ext cx="99818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节省出的时间需要回到学生观察、困难诊断和关系支持。</a:t>
            </a:r>
            <a:endParaRPr sz="11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DE2BEFD-D5EB-4E92-B3A7-623C1588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2656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25812F3-93A7-44B8-9422-C75E2C69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222656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4079BA0-B6A6-418F-8D40-39C403B7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37286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材料与表格</a:t>
            </a:r>
            <a:endParaRPr sz="15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482C312-39FF-415E-9692-3E092B8A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70205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整理常规材料、数据和行政文本。</a:t>
            </a:r>
            <a:endParaRPr sz="11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E3C1575-DD09-4A50-80EE-5E723771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19582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ABE3F71-E7F0-4248-826B-75D5141E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25983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作用　减少低价值重复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8B31EEB-1533-4CAA-B583-721BD687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8" y="222656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6987B0C-8905-40CC-9B1B-74D03E35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796" y="222656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6875CDC-486B-4AB3-99F7-46C0CB84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237286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学情聚合</a:t>
            </a:r>
            <a:endParaRPr sz="15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4CC67D-730C-4178-9FBA-B36DA42D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270205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呈现需要支持的学生与异常状态。</a:t>
            </a:r>
            <a:endParaRPr sz="11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D54FFB5-574B-40A4-855A-E72154C48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319582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C80C01A-55D6-47A1-97F0-F8B2E16B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325983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作用　改善注意分配</a:t>
            </a:r>
            <a:endParaRPr sz="10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531F838-D50E-4F0B-BB08-54573C8B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8960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F0FD4C89-403B-44D7-86E4-1E170AA4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368960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039E20D-440E-4118-9DAB-C784351D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83590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常规反馈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8869A52B-EF4A-4890-931C-8ED90144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416509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形成可由教师复核的反馈草稿。</a:t>
            </a:r>
            <a:endParaRPr sz="11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3B3319B7-E039-4DAF-ABC3-0230B139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465886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72EFB9D-4993-44CB-9C97-D460598C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472287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作用　释放观察时间</a:t>
            </a:r>
            <a:endParaRPr sz="10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B2761A3D-D2A9-43AB-A662-248D965A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8" y="368960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5CCEEFCB-E0EF-44B3-91E5-25C65272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796" y="368960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A68B563-4C71-49ED-AA5C-D355606D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383590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资源匹配</a:t>
            </a:r>
            <a:endParaRPr sz="150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D893854-50CF-4751-AAB0-F0EC9632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416509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按目标与学生起点组织资源。</a:t>
            </a:r>
            <a:endParaRPr sz="11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2E64ACC1-099C-45D1-9DD5-DBA28BD1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465886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3EDEA68D-23ED-4835-92E9-33326801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472287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作用　支持差异化准备</a:t>
            </a:r>
            <a:endParaRPr sz="100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719F8EC5-509F-455C-82FB-54022566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9BB70D4B-E973-4784-96D2-9C0E6256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系统可以扩展信息处理范围，教师负责解释信息并决定行动。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6026511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29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教师负责学习系统的目标、编排与证据解释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681d82720c4887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D4103C4-3A4F-4737-A4AA-E9E6AFBB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C55DB32-158B-4163-BD60-4EAFE805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81C24EA-F441-4E44-A14B-BB8D4B30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202515D-02E7-4616-B677-8A0A8A07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064E883-74E0-4201-B4B3-8968DDBE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683669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336E434-E553-48B4-B3FD-C8A60C10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08AFEB9-54E2-4248-9A9C-3974F7AB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12857F3-8BE0-490D-B9F8-AA0E317F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B7A9EC6-10EB-4907-8CEF-56EFF652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AB62148-7997-41E4-957A-B6426637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0D51B7-430C-4A37-A725-5A393313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C3AE03E-0052-4D48-BE02-0E452CFD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30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18F96C5-8173-4CEA-BE7B-0537B516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DBB113C-23F1-4EDA-A9EA-52FDCE20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AE98D40-37E6-4409-B6E7-37522ADA4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AI-TPACK连接学科内容、教学方法与AI功能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5137D41-7A26-40D2-9253-143D865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9981895" cy="2148840"/>
          </a:xfrm>
          <a:prstGeom xmlns:a="http://schemas.openxmlformats.org/drawingml/2006/main" prst="roundRect">
            <a:avLst>
              <a:gd name="adj" fmla="val 38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B3E1D66-2489-4BC5-9474-8C68CE3E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1860804"/>
            <a:ext cx="9853879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818F52F-1240-44EF-BAEB-88FC5A59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043684"/>
            <a:ext cx="9469831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课堂含义：教师需要同时判断教什么、怎样教，以及AI在哪一步提供何种支持。</a:t>
            </a:r>
            <a:endParaRPr sz="16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37BEDDA-EAD2-4628-B9EE-735BEE9B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1917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AE40A66-C98E-42FF-8759-3E511B1D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83180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样本</a:t>
            </a:r>
            <a:endParaRPr sz="9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4E41252-EA61-4CA8-95C6-C8226927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2564892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61名教师</a:t>
            </a:r>
            <a:endParaRPr sz="12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AD80511-2E2C-48DA-AEB6-5991DFF9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866644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98AE1BD-FAE0-4803-BCAB-3C4559F6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930652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数据</a:t>
            </a:r>
            <a:endParaRPr sz="9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A21633C-A64C-4416-B8AF-6B4F6385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2912364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8,000余条设计行为</a:t>
            </a:r>
            <a:endParaRPr sz="12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72A40D3-0AB7-4AD2-A557-EC83D4E5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214116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DDC1FE6-84AF-4963-9602-A9E29244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278124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分析</a:t>
            </a:r>
            <a:endParaRPr sz="9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051BA63-FC56-4B41-A43A-EEF02571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3259836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识别三类编排模式</a:t>
            </a:r>
            <a:endParaRPr sz="12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073FCC32-86FE-4C88-B91C-5F2F1359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561588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2375379-8C93-45D0-8E18-676108B8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625596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状态</a:t>
            </a:r>
            <a:endParaRPr sz="95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1D4AB15-3030-41EC-81E5-EBA0D372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3607308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ISLS 2026短文</a:t>
            </a:r>
            <a:endParaRPr sz="12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6BE5526-942A-4A6B-8C97-BED2BA3A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55948"/>
            <a:ext cx="998189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CocoRobo Research研究档案</a:t>
            </a:r>
            <a:endParaRPr sz="10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26738F3E-9238-4366-B76E-FA334F71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AF497AEB-58A2-475A-83C2-8BE1C0B2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科学课中，系统可以整理数据；教师仍需设计假设形成、证据核验和结论解释。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1406709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D4103C4-3A4F-4737-A4AA-E9E6AFBB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C55DB32-158B-4163-BD60-4EAFE805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81C24EA-F441-4E44-A14B-BB8D4B30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202515D-02E7-4616-B677-8A0A8A07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064E883-74E0-4201-B4B3-8968DDBE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683669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336E434-E553-48B4-B3FD-C8A60C10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08AFEB9-54E2-4248-9A9C-3974F7AB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12857F3-8BE0-490D-B9F8-AA0E317F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B7A9EC6-10EB-4907-8CEF-56EFF652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AB62148-7997-41E4-957A-B6426637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0D51B7-430C-4A37-A725-5A393313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C3AE03E-0052-4D48-BE02-0E452CFD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31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18F96C5-8173-4CEA-BE7B-0537B516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DBB113C-23F1-4EDA-A9EA-52FDCE20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AE98D40-37E6-4409-B6E7-37522ADA4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研究案例二：持续设计依赖技术、规则、时间与分工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5137D41-7A26-40D2-9253-143D865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9981895" cy="2148840"/>
          </a:xfrm>
          <a:prstGeom xmlns:a="http://schemas.openxmlformats.org/drawingml/2006/main" prst="roundRect">
            <a:avLst>
              <a:gd name="adj" fmla="val 38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B3E1D66-2489-4BC5-9474-8C68CE3E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1860804"/>
            <a:ext cx="9853879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818F52F-1240-44EF-BAEB-88FC5A59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043684"/>
            <a:ext cx="9469831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课堂含义：工具改变的不只是制作速度，也会改变备课时间、学校规则和教师分工。</a:t>
            </a:r>
            <a:endParaRPr sz="16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37BEDDA-EAD2-4628-B9EE-735BEE9B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1917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AE40A66-C98E-42FF-8759-3E511B1D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83180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诊断</a:t>
            </a:r>
            <a:endParaRPr sz="9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4E41252-EA61-4CA8-95C6-C8226927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2564892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技术、规则、时间与分工的结构性矛盾</a:t>
            </a:r>
            <a:endParaRPr sz="12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AD80511-2E2C-48DA-AEB6-5991DFF9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866644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98AE1BD-FAE0-4803-BCAB-3C4559F6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930652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理论</a:t>
            </a:r>
            <a:endParaRPr sz="9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A21633C-A64C-4416-B8AF-6B4F6385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2912364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文化—历史活动理论 + 自我决定理论</a:t>
            </a:r>
            <a:endParaRPr sz="12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72A40D3-0AB7-4AD2-A557-EC83D4E5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214116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DDC1FE6-84AF-4963-9602-A9E29244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278124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干预</a:t>
            </a:r>
            <a:endParaRPr sz="9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051BA63-FC56-4B41-A43A-EEF02571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3259836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两轮结构化支持</a:t>
            </a:r>
            <a:endParaRPr sz="12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073FCC32-86FE-4C88-B91C-5F2F1359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561588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2375379-8C93-45D0-8E18-676108B8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625596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结果</a:t>
            </a:r>
            <a:endParaRPr sz="95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1D4AB15-3030-41EC-81E5-EBA0D372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3607308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AI融入式设计、AI-TPACK与态度改善</a:t>
            </a:r>
            <a:endParaRPr sz="12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6BE5526-942A-4A6B-8C97-BED2BA3A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55948"/>
            <a:ext cx="998189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ISLS 2026长文</a:t>
            </a:r>
            <a:endParaRPr sz="10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26738F3E-9238-4366-B76E-FA334F71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AF497AEB-58A2-475A-83C2-8BE1C0B2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活动理论关注工具、规则与分工；自我决定理论关注自主、胜任与关系需要。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1406709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7492F1D-FF7B-40CC-B3D8-557A59D54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EAC88A7-103E-4AD7-8313-C071A4D5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8477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78DD6D9-5415-4093-96A6-931094B3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ABC09DD-B3CE-4AFE-BEE1-581659A1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C491F67-E683-4414-B7E5-358B3D61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DDE4F71-ED61-4F71-98CF-2AA218376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D947F33-84F8-47A4-BED5-65F53EF9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34B3206-141F-4AB2-95AE-76CF1D80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1C021A5-6214-4191-B20E-16CD5DAE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5E5CA7C-16EF-47FA-8FF8-98667717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F56BE7A-FC5D-4950-B8DA-631F0104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D3606B0-29D7-4AA7-B160-F5CDBBAC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32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F236757-7618-4F23-8F9B-F5AAE838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8EBEB9B-1ACD-4647-AFF2-6BE199F0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C0CC0D6-B556-4EDB-ABBB-C48BA8FF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教师专业发展的设计—试用—审议循环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48D83AB-5E99-40AE-8154-A367264B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9981895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673A30A-8959-410B-8848-F113D913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915668"/>
            <a:ext cx="381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ED81F7D-2AEA-4D42-9AB0-BC8FCDBA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007108"/>
            <a:ext cx="9469831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60000"/>
              </a:lnSpc>
              <a:buNone/>
            </a:pPr>
            <a:r>
              <a:rPr sz="15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理解工具和完成单件作品只是起点。</a:t>
            </a:r>
            <a:endParaRPr sz="15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27E0363D-FBC9-446F-B0FF-15196456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87268"/>
            <a:ext cx="998189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持续循环还包括课堂试用、学生证据和同伴审议。</a:t>
            </a:r>
            <a:endParaRPr sz="10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14F9B03C-2835-482D-8A26-F7C9B3DE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13632"/>
            <a:ext cx="1549349" cy="786384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2EC3CF04-383F-4187-8CA0-88299023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3913632"/>
            <a:ext cx="1421333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0D26853-A5E0-4437-A22C-3FC78D73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416" y="4059936"/>
            <a:ext cx="12933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一</a:t>
            </a:r>
            <a:endParaRPr sz="9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6ED2A70-22BA-4852-8A2B-0DFCEBCD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416" y="4261104"/>
            <a:ext cx="1293317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具体问题</a:t>
            </a:r>
            <a:endParaRPr sz="11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AEB89923-8179-4930-B237-C6CEC91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909" y="3913632"/>
            <a:ext cx="1549349" cy="786384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B407BAB0-184E-4718-9671-EA6FBC14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5917" y="3913632"/>
            <a:ext cx="1421333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1F68B1D-2FFE-4967-B317-509E35D6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9925" y="4059936"/>
            <a:ext cx="12933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二</a:t>
            </a:r>
            <a:endParaRPr sz="9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881EC876-D212-4208-B122-FB6FCE5C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9925" y="4261104"/>
            <a:ext cx="1293317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教学设计</a:t>
            </a:r>
            <a:endParaRPr sz="11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542AD78B-8D44-40C1-BC18-24426CA0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418" y="3913632"/>
            <a:ext cx="1549349" cy="786384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891392F-9852-44F0-A035-52CFE17F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2426" y="3913632"/>
            <a:ext cx="1421333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DF7CE51-DB3A-44AB-9F0D-BC235E6B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6434" y="4059936"/>
            <a:ext cx="12933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三</a:t>
            </a:r>
            <a:endParaRPr sz="9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B2DAD353-B8A8-4FB0-B068-F061B4F2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6434" y="4261104"/>
            <a:ext cx="1293317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小规模试用</a:t>
            </a:r>
            <a:endParaRPr sz="115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0610924E-2FA0-4B30-8378-7F884A47B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4928" y="3913632"/>
            <a:ext cx="1549349" cy="786384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6694200-8F09-4D6F-B70B-F68CAC48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936" y="3913632"/>
            <a:ext cx="1421333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F46A175F-FA52-4590-A0C1-DF75B6BA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2944" y="4059936"/>
            <a:ext cx="12933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四</a:t>
            </a:r>
            <a:endParaRPr sz="95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C1C904ED-12B7-4A76-9DF2-DAD99FCF7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2944" y="4261104"/>
            <a:ext cx="1293317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学生证据</a:t>
            </a:r>
            <a:endParaRPr sz="115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8A82B45F-84C0-4B9E-908F-E01952C9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1437" y="3913632"/>
            <a:ext cx="1549349" cy="786384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6AE12A93-7537-4FA6-B5DF-059BCEF0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445" y="3913632"/>
            <a:ext cx="1421333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F47A6CD9-44EA-401D-B003-DFA6C4C6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9453" y="4059936"/>
            <a:ext cx="12933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五</a:t>
            </a:r>
            <a:endParaRPr sz="95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F89E0425-37A9-48FE-8DD1-6C3031844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9453" y="4261104"/>
            <a:ext cx="1293317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同伴审议</a:t>
            </a:r>
            <a:endParaRPr sz="1150"/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40BBF55E-1497-4F7E-AC13-E4D44B67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7946" y="3913632"/>
            <a:ext cx="1549349" cy="786384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B62CEC3A-93F0-42CD-83F1-DDB493362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954" y="3913632"/>
            <a:ext cx="1421333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31BD77C9-902C-48B1-AA4F-F0D9DAD6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962" y="4059936"/>
            <a:ext cx="12933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六</a:t>
            </a:r>
            <a:endParaRPr sz="950"/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7B00E52F-F592-4D43-A833-7C5FBEFD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962" y="4261104"/>
            <a:ext cx="1293317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修改再用</a:t>
            </a:r>
            <a:endParaRPr sz="1150"/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2A082361-7BD1-46F7-AD73-5037045F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47F233D0-9A3C-45C9-ADEC-EA7C5C87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下午工作坊的作品需明确准备改变的学习活动。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495621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7895BE5-D706-4FB5-A030-7C236F87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D5790FF-1887-437D-8764-0B842FCD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9686FA1-CE6C-4CB8-9D07-E6133466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AF2E43D-E39F-47AB-ABE2-356E1CE7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0167298-61BF-4A80-B3FC-7365E80D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376C4C2-8A4F-4836-A34C-E65E1F15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52804F4-94A9-4291-8038-5CEE45CD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DD330CD-3664-48FE-B52E-02F1E289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40F653E-ED43-4BB3-A434-3270AD22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E072D7C-5062-4365-BB1A-A7BE3398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CD0A835-1319-4589-A109-15057B7B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28B825B-0CF9-4108-BE82-7D6D30D9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33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3705F8A-DDCE-44A2-9377-E098E76B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CBA1666-4CF9-4EF5-AAD4-4E89B7EAE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C119F44-A998-4963-B3A6-416C1846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个性化学习由一组教学决策构成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2BC3AE1-2075-4F0D-9E8E-DA2E92F8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971675"/>
            <a:ext cx="47623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spc="8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个性化的对象</a:t>
            </a:r>
            <a:endParaRPr sz="9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88428F8-3482-4388-9053-FFB1CE61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2410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CACB420-4DB8-4820-910B-2A784743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232410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内容</a:t>
            </a:r>
            <a:endParaRPr sz="14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E5EC29A-BBA7-486E-95E3-8577B725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2417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9DA2371-10D7-4F78-ACFB-CD4E8E5D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292417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路径</a:t>
            </a:r>
            <a:endParaRPr sz="14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3DE9272-C0AC-40D0-92FE-C63817F7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2425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A9020BF-3D03-4B22-9B88-844CEBF3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352425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节奏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D1500E5-9F0E-48BE-B24C-8EC3CD29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2432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66A326F-57CF-4C50-BFD3-C4039330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412432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目标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4876F79-767E-49EF-9504-14E3257E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1971675"/>
            <a:ext cx="47623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spc="8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决定权的主体</a:t>
            </a:r>
            <a:endParaRPr sz="9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307E4EE-C685-454B-90E3-8495B53F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232410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BD29308-F815-4B08-903B-43B0F344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232410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系统</a:t>
            </a:r>
            <a:endParaRPr sz="14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8A5E734-915C-4785-A8E4-C196183A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292417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7B70366-FC9D-49FD-9D96-DF8D1F0E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292417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教师</a:t>
            </a:r>
            <a:endParaRPr sz="14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E64B7F70-A565-4778-9F0E-9E7498C6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352425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F1E621E-53A1-4BFA-96A6-9B0DFFCB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352425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人机共同</a:t>
            </a:r>
            <a:endParaRPr sz="14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825F125E-F870-4C0A-9EFC-38FF8A5B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412432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D65DEFE-77A9-4498-9058-9A6A5EE9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412432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学生</a:t>
            </a:r>
            <a:endParaRPr sz="14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1F2ED3A-1962-441A-9ABB-716122C27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43600"/>
            <a:ext cx="998189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个性化设计需要明确谁决定目标、路径、节奏和介入方式。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5189875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0D57681-C5F1-44B7-8D6E-362B06D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5E2AFBD-DC55-4E7B-9AD7-B7E42611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9923D58-920F-4662-95FD-7C1A2B66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61A1CA6-DBAD-4FF8-977B-4BB6D8EC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462D28B-2D94-4809-8C91-EB35C464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516211C-7634-4668-A868-F82A86AD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5620701-58C0-480D-9AFC-66218159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2FB22F2-5E75-46B5-8A63-607D5C22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571CF46-2E95-45EA-8F00-1C7F638C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3159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E62DADD-6AA5-40AE-96CC-92A515E6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564AE65-F3E0-42EF-B3D5-A84958C1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9F6182C-76B4-425C-BC94-A1EC129D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34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F6F7061-ABBD-4B59-9C45-3862462E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DD6C9A0-01AF-4626-8CB4-192F09F8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286B80C-9F0C-4CD9-88FB-FE2B21BC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个性化学习的理论传统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BEEEB1A-2B06-45BE-9195-5E3A4A31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81635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737C15E-B68F-466B-9225-80127174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694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AA43136-2A63-4110-A543-C2817E18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694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7754DA4-9802-470A-96FE-0FE0CD03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826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效率传统</a:t>
            </a:r>
            <a:endParaRPr sz="17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15402A9-F860-44DE-9E9C-F1111C79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227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C89067-A023-4617-A785-EB962BD9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07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诊断差异、匹配内容，并提高掌握效率。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44D398A-0237-46F8-B603-5B4D8139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5694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967B92A-4F5D-4F42-99FF-393576C9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5694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DE386CA-03B2-4A70-ACEA-88E8DEDA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2826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人本与建构传统</a:t>
            </a:r>
            <a:endParaRPr sz="17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C3BB938-158A-4778-AD39-BCFCF195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9227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13443CC-2747-4458-9E96-390CA8BE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40507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支持兴趣、选择、身份、意义建构与自我导向。</a:t>
            </a:r>
            <a:endParaRPr sz="1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25D9E2C-11A4-4F39-AF88-1BE869E9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5694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5C0FFC0-4923-44BF-AB82-A6C8C997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5694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2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ED99C55-5CD5-42A5-9744-92AD677F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2826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生成式AI传统</a:t>
            </a:r>
            <a:endParaRPr sz="17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2E9414AF-629E-497A-87E6-ABE8CAB0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9227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4DA772F-8B0A-4ABE-A23A-FC5EE610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40507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以对话动态生成解释、反馈和任务，也可能替代学习过程。</a:t>
            </a:r>
            <a:endParaRPr sz="11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1F733F1B-AFF5-40AF-871A-5511CD76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FF9892E-0713-47A9-B189-48E86DC7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推荐精度与学习者的认知能动性需要分别评价。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4184582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0D57681-C5F1-44B7-8D6E-362B06D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5E2AFBD-DC55-4E7B-9AD7-B7E42611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9923D58-920F-4662-95FD-7C1A2B66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61A1CA6-DBAD-4FF8-977B-4BB6D8EC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462D28B-2D94-4809-8C91-EB35C464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516211C-7634-4668-A868-F82A86AD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5620701-58C0-480D-9AFC-66218159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2FB22F2-5E75-46B5-8A63-607D5C22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571CF46-2E95-45EA-8F00-1C7F638C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3159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E62DADD-6AA5-40AE-96CC-92A515E6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564AE65-F3E0-42EF-B3D5-A84958C1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9F6182C-76B4-425C-BC94-A1EC129D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35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F6F7061-ABBD-4B59-9C45-3862462E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DD6C9A0-01AF-4626-8CB4-192F09F8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286B80C-9F0C-4CD9-88FB-FE2B21BC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个性化学习的三个学习科学支点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BEEEB1A-2B06-45BE-9195-5E3A4A31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81635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737C15E-B68F-466B-9225-80127174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694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AA43136-2A63-4110-A543-C2817E18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694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ZPD</a:t>
            </a:r>
            <a:endParaRPr sz="1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7754DA4-9802-470A-96FE-0FE0CD03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826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最近发展区</a:t>
            </a:r>
            <a:endParaRPr sz="17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15402A9-F860-44DE-9E9C-F1111C79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227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C89067-A023-4617-A785-EB962BD9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07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学生独立做不到，在有限帮助下可以完成。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44D398A-0237-46F8-B603-5B4D8139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5694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967B92A-4F5D-4F42-99FF-393576C9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5694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SRL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DE386CA-03B2-4A70-ACEA-88E8DEDA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2826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自我调节学习</a:t>
            </a:r>
            <a:endParaRPr sz="17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C3BB938-158A-4778-AD39-BCFCF195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9227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13443CC-2747-4458-9E96-390CA8BE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40507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学生逐渐能够定目标、看进度并调整方法。</a:t>
            </a:r>
            <a:endParaRPr sz="1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25D9E2C-11A4-4F39-AF88-1BE869E9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5694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5C0FFC0-4923-44BF-AB82-A6C8C997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5694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SDT</a:t>
            </a:r>
            <a:endParaRPr sz="12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ED99C55-5CD5-42A5-9744-92AD677F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2826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自我决定理论</a:t>
            </a:r>
            <a:endParaRPr sz="17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2E9414AF-629E-497A-87E6-ABE8CAB0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9227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4DA772F-8B0A-4ABE-A23A-FC5EE610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40507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学生保留选择，并形成胜任感和关系支持。</a:t>
            </a:r>
            <a:endParaRPr sz="11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1F733F1B-AFF5-40AF-871A-5511CD76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FF9892E-0713-47A9-B189-48E86DC7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数学课中，系统先给有限提示；学生说明下一步，并在新题中独立完成。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4184582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36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效率与认知主权共同构成评价维度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bb902ef7344d8d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D4103C4-3A4F-4737-A4AA-E9E6AFBB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C55DB32-158B-4163-BD60-4EAFE805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81C24EA-F441-4E44-A14B-BB8D4B30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202515D-02E7-4616-B677-8A0A8A07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064E883-74E0-4201-B4B3-8968DDBE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683669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336E434-E553-48B4-B3FD-C8A60C10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08AFEB9-54E2-4248-9A9C-3974F7AB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12857F3-8BE0-490D-B9F8-AA0E317F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B7A9EC6-10EB-4907-8CEF-56EFF652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AB62148-7997-41E4-957A-B6426637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0D51B7-430C-4A37-A725-5A393313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C3AE03E-0052-4D48-BE02-0E452CFD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37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18F96C5-8173-4CEA-BE7B-0537B516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DBB113C-23F1-4EDA-A9EA-52FDCE20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AE98D40-37E6-4409-B6E7-37522ADA4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评估AI学习效果先核对证据结构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5137D41-7A26-40D2-9253-143D865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9981895" cy="2148840"/>
          </a:xfrm>
          <a:prstGeom xmlns:a="http://schemas.openxmlformats.org/drawingml/2006/main" prst="roundRect">
            <a:avLst>
              <a:gd name="adj" fmla="val 38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B3E1D66-2489-4BC5-9474-8C68CE3E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1860804"/>
            <a:ext cx="9853879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818F52F-1240-44EF-BAEB-88FC5A59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043684"/>
            <a:ext cx="9469831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教学干预包括模型、角色、时机、活动与评价的组合。</a:t>
            </a:r>
            <a:endParaRPr sz="16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37BEDDA-EAD2-4628-B9EE-735BEE9B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1917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AE40A66-C98E-42FF-8759-3E511B1D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83180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样本</a:t>
            </a:r>
            <a:endParaRPr sz="9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4E41252-EA61-4CA8-95C6-C8226927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2564892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谁参加了研究？</a:t>
            </a:r>
            <a:endParaRPr sz="12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AD80511-2E2C-48DA-AEB6-5991DFF9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866644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98AE1BD-FAE0-4803-BCAB-3C4559F6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930652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测量</a:t>
            </a:r>
            <a:endParaRPr sz="9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A21633C-A64C-4416-B8AF-6B4F6385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2912364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即时成绩还是长期迁移？</a:t>
            </a:r>
            <a:endParaRPr sz="12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72A40D3-0AB7-4AD2-A557-EC83D4E5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214116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DDC1FE6-84AF-4963-9602-A9E29244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278124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撤除</a:t>
            </a:r>
            <a:endParaRPr sz="9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051BA63-FC56-4B41-A43A-EEF02571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3259836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没有AI时怎样？</a:t>
            </a:r>
            <a:endParaRPr sz="12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073FCC32-86FE-4C88-B91C-5F2F1359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561588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2375379-8C93-45D0-8E18-676108B8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625596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外推</a:t>
            </a:r>
            <a:endParaRPr sz="95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1D4AB15-3030-41EC-81E5-EBA0D372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3607308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适用于我的学科和学生吗？</a:t>
            </a:r>
            <a:endParaRPr sz="12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6BE5526-942A-4A6B-8C97-BED2BA3A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55948"/>
            <a:ext cx="998189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保留样本、学科与时间边界</a:t>
            </a:r>
            <a:endParaRPr sz="10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26738F3E-9238-4366-B76E-FA334F71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AF497AEB-58A2-475A-83C2-8BE1C0B2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英语演讲不能只看成稿流利度，还需比较修改记录、脱稿表达和无提示状态下的表现。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1406709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38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个性化学习审计包含目的、决策权与参与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f223959604925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0F43CFB-6FB8-44C1-A07C-58EE67CA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8649D8F-DA55-421F-AE3E-703392F6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2DCD3E6-B1AF-43AB-9BA8-77FD8A35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41CFE38-0536-4092-9D91-0AF51029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0605C53-EA54-4E38-B58A-3EABF2EC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63E3177-82D4-4667-A5D8-68F52195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B2CEFDF-1FEF-4441-8BCD-2F8C4CC7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52EC6E0-D716-4280-8448-90AFEBF2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B87A9A2-80B6-478A-AE36-547BA071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3159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7CF9013-B1B5-4DF2-AF59-1F933968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FB0C3E6-0953-4BD1-BA7C-B859910B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F2BA041-9CCA-4E54-B93D-BFB887A7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39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1D9A3B6-FB00-4807-AA6E-3D78B58D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D851DB2-1379-4702-B916-DA05E579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A7E39EC-1D2C-4D96-B0B5-A9FEBBBE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“共同调节”指小组共同计划、监控并处理分歧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C92C0E34-B8D0-4E2B-A0D8-1917D902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8775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61BF05A-9D05-44AC-97ED-D63F18A7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74A64AC-D976-4AEF-AED7-71F05D83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单人交互</a:t>
            </a:r>
            <a:endParaRPr sz="1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9E9D26C-CA86-41E9-8158-40B7A240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学生与一个聊天机器人互动</a:t>
            </a:r>
            <a:endParaRPr sz="17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0AACA6D-ED60-40B3-A630-61D07574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2016A5B-0BB0-4ECE-AB9B-697806BC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主要处理解释、反馈和个人自我调节。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A4D86AA-FD2C-4A32-9363-D29E89D0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24C9AEB-7F9E-45A4-908C-6CDBCB56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多角色支持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BD04027-688D-4F5A-923F-D5D6B544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不同角色支持计划、监控、反思与知识建构</a:t>
            </a:r>
            <a:endParaRPr sz="17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ED9F7E4F-166A-4F0E-B22B-FDC89F85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6D8E7FE-C36B-4AE0-9D8C-D6631031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系统开始根据任务阶段分配支持。</a:t>
            </a:r>
            <a:endParaRPr sz="1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0A4E6F21-374E-4404-B9DC-1CC33D0B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1197ADE-63D4-4264-8BD3-F3204BD9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共同调节</a:t>
            </a:r>
            <a:endParaRPr sz="12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A9B6D979-C6F9-487F-9B62-5BA37A0E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关注同伴互动、参与失衡与认知权威流动</a:t>
            </a:r>
            <a:endParaRPr sz="17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3FF8E4C-2E87-43ED-A111-83839B64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8F780BA-3CE5-4909-964D-CCC7FBEA0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目标是支持小组共同规划、协商和负责。</a:t>
            </a:r>
            <a:endParaRPr sz="11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D9B1F018-3EC3-4F43-A171-7E6EDACA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8C0D7F1C-2D98-46ED-B04A-691C8214B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综合实践中，小组共同决定调查问题、任务分工、证据标准与方案修改。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11703316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40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个人效率提高可能压缩社会性学习活动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72d38f1e64efe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0F43CFB-6FB8-44C1-A07C-58EE67CA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8649D8F-DA55-421F-AE3E-703392F6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2DCD3E6-B1AF-43AB-9BA8-77FD8A35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41CFE38-0536-4092-9D91-0AF51029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0605C53-EA54-4E38-B58A-3EABF2EC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63E3177-82D4-4667-A5D8-68F52195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B2CEFDF-1FEF-4441-8BCD-2F8C4CC7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52EC6E0-D716-4280-8448-90AFEBF2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B87A9A2-80B6-478A-AE36-547BA071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3159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7CF9013-B1B5-4DF2-AF59-1F933968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FB0C3E6-0953-4BD1-BA7C-B859910B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F2BA041-9CCA-4E54-B93D-BFB887A7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41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1D9A3B6-FB00-4807-AA6E-3D78B58D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D851DB2-1379-4702-B916-DA05E579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A7E39EC-1D2C-4D96-B0B5-A9FEBBBE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协作研究逐步转向共同调节机制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C92C0E34-B8D0-4E2B-A0D8-1917D902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8775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61BF05A-9D05-44AC-97ED-D63F18A7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74A64AC-D976-4AEF-AED7-71F05D83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2024</a:t>
            </a:r>
            <a:endParaRPr sz="1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9E9D26C-CA86-41E9-8158-40B7A240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共享空间进入项目学习</a:t>
            </a:r>
            <a:endParaRPr sz="17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0AACA6D-ED60-40B3-A630-61D07574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2016A5B-0BB0-4ECE-AB9B-697806BC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CocoNote支持资料、想法与任务状态共享。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A4D86AA-FD2C-4A32-9363-D29E89D0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24C9AEB-7F9E-45A4-908C-6CDBCB56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2025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BD04027-688D-4F5A-923F-D5D6B544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共同调节实证研究</a:t>
            </a:r>
            <a:endParaRPr sz="17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ED9F7E4F-166A-4F0E-B22B-FDC89F85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6D8E7FE-C36B-4AE0-9D8C-D6631031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CocoNote相关研究获得CSCL优秀短论文奖。</a:t>
            </a:r>
            <a:endParaRPr sz="1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0A4E6F21-374E-4404-B9DC-1CC33D0B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1197ADE-63D4-4264-8BD3-F3204BD9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2026</a:t>
            </a:r>
            <a:endParaRPr sz="12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A9B6D979-C6F9-487F-9B62-5BA37A0E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多个AI角色协同</a:t>
            </a:r>
            <a:endParaRPr sz="17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3FF8E4C-2E87-43ED-A111-83839B64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8F780BA-3CE5-4909-964D-CCC7FBEA0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规划、进度检查、反思、知识梳理与灵感提示分工协同。</a:t>
            </a:r>
            <a:endParaRPr sz="11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D9B1F018-3EC3-4F43-A171-7E6EDACA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8C0D7F1C-2D98-46ED-B04A-691C8214B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研究重点由个人助手转向小组共同计划、监控和反思；2026工作聚焦架构与机制。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117033166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42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两项同行评审奖项记录阶段性研究成果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8d6a605d0143bc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BB50076-B2EB-4270-A0C8-C11A991E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150D276-7629-4F55-BC2E-26F79F90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427A05A-2202-4CFA-8DD2-E6CDD89B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FD64603-FF43-48FB-9C8E-F62DE7D2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A1ECFF9-3CD2-4E74-9434-1C82C730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9D9CF77-C83F-495E-867F-DDD45F64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004F007-E538-4A96-B045-D7230240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907631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2357808-080E-4ED2-A6D8-8C8424E9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B2BB14B-C228-4EB1-A992-355A59A0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9581B4B-F7DD-42B6-A4A9-9FCEDB4E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FD2629D-D252-4A85-8481-DF9B1FC0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1C6BB1B-FE42-4335-9B8C-0F91803E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43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89797E3-90AF-42AC-95CC-348A29B9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AEDBC96-10C7-4A5D-A9A1-904DF851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4640350-94B1-4DC9-BAD2-E7C5EE34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第三部分小结：系统提供支持，小组成员保留共同决策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5FDE1FA-E6A1-46FF-A994-784FA82F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4881220" cy="2971800"/>
          </a:xfrm>
          <a:prstGeom xmlns:a="http://schemas.openxmlformats.org/drawingml/2006/main" prst="roundRect">
            <a:avLst>
              <a:gd name="adj" fmla="val 2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957F37E-A69D-4C70-B66C-B4B2CDB3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186080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925818D-A7D1-40D9-A4FD-1D3C5200D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043684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系统支持</a:t>
            </a:r>
            <a:endParaRPr sz="17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326333E-89D9-42BA-9B2C-3CA078DA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409444"/>
            <a:ext cx="44788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状态与提示</a:t>
            </a:r>
            <a:endParaRPr sz="9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F1E2441-E423-4787-827F-F84007F3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683764"/>
            <a:ext cx="447888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呈现参与状态、记录观点变化、提示计划与进度。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2247E9F-8751-4A29-A337-95132155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195828"/>
            <a:ext cx="4478884" cy="1453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在停滞时提出调节性问题，帮助教师定位需要介入的小组。</a:t>
            </a:r>
            <a:endParaRPr sz="9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009130F-3374-46D4-9390-775711A4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6076" y="1860804"/>
            <a:ext cx="4881220" cy="2971800"/>
          </a:xfrm>
          <a:prstGeom xmlns:a="http://schemas.openxmlformats.org/drawingml/2006/main" prst="roundRect">
            <a:avLst>
              <a:gd name="adj" fmla="val 2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9AA15A6-F32E-4F97-8B92-33FAD989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0084" y="186080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B532811-6B59-4E59-913E-2370AEC2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043684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学生协作</a:t>
            </a:r>
            <a:endParaRPr sz="17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D8AD80D-8118-4172-A94F-81C4A726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409444"/>
            <a:ext cx="44788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协商与责任</a:t>
            </a:r>
            <a:endParaRPr sz="9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353B017-20D0-4B53-84AF-C3322619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683764"/>
            <a:ext cx="447888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表达和解释观点、倾听不同意见、处理分歧。</a:t>
            </a:r>
            <a:endParaRPr sz="10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3AC34A5-5E99-469A-9E93-661C9DAC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3195828"/>
            <a:ext cx="4478884" cy="1453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分配责任、修复冲突并形成共同决定。</a:t>
            </a:r>
            <a:endParaRPr sz="9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B867CE7-2BD0-4B90-9926-1BF330C0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E15DDE11-C3B6-4485-878B-452C872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系统可以呈现状态与提出调节性问题；协商、冲突处理和责任分配仍由小组成员完成。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69374511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8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7B298B-C941-4D97-A4CB-BCAB69BE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983E116-4972-42A9-B426-077DF655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B6DA9C-C6C5-4C89-9102-82F57547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494FF4B-9AA2-4426-A604-40B1A23D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29928AE-0CF9-4F99-9CC9-FFCA40D1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C33E4A1-0C2B-49E2-95AB-5CD17E21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48012C5-9757-480B-8E44-89DEE194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B24598B-5AB8-4712-9CD5-EA0162B8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519613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B2D1DCD-2673-461E-AD29-DA242EBF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1CD416-1FB1-4229-94E4-CA864D0C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94FE5C-BCF6-470C-A5F5-20795512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09F4FDE-707D-486C-B487-7EB03185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44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6809C1F-2114-4485-9E66-20645A82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8364415-8FD2-42BC-9B46-8745CD04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12848"/>
            <a:ext cx="9981895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F0CBBB"/>
                </a:solidFill>
                <a:latin typeface="Microsoft YaHei"/>
                <a:ea typeface="Microsoft YaHei"/>
                <a:cs typeface="Microsoft YaHei"/>
              </a:rPr>
              <a:t>第四部分</a:t>
            </a:r>
            <a:endParaRPr sz="1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87DE9D3-96A2-41EA-90CF-330D8A59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51760"/>
            <a:ext cx="457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5AB1532-205A-437C-A165-8AC10BA9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615184"/>
            <a:ext cx="8902903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课堂上的可为与不可为</a:t>
            </a:r>
            <a:endParaRPr sz="2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8D206B3-54CB-4C3B-9023-FCF95D93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4078224"/>
            <a:ext cx="890290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BFD3EA"/>
                </a:solidFill>
                <a:latin typeface="Microsoft YaHei"/>
                <a:ea typeface="Microsoft YaHei"/>
                <a:cs typeface="Microsoft YaHei"/>
              </a:rPr>
              <a:t>按学习目标、介入时机和学习证据配置AI角色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421978945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45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课堂认知活动分布在四类主体之间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ad7a6c0d7c4423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B14EEA8-4474-41D8-B98A-C4B3B48C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3E7EB9-D3CA-42BB-8413-8CDA91E6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FFD6A8-56CB-491B-9051-C63CAB0E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1E85BEB-5C45-4EF6-BCA5-2A8973B8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F16D712-4FFC-47BD-AE46-35E2BE80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053FDFD-281D-4860-B625-F1D40A64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295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A9DC157-67B4-4C27-A1E5-8B538649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6D99BF0-43B3-4133-BE0E-93052548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9B7B50C-D214-4B0C-867B-38105FB6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C11EAC8-3229-453B-B7F8-7EE00063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E8F6F5C-8B72-4258-9441-933A7C68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9877883-B0EE-4353-8AC3-464378FE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46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7437F58-2749-4C5F-9BFB-0A4F79C4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2136178-6D48-44EC-8AEF-551EC366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8E0A312-0BAD-4C82-9F5C-D3E7F85D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AI介入的三项判断：能力目标、过程影响与证据设计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90DAC0A-5707-4C1B-92EE-A766EC03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191256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391F31D-2EED-479D-AC77-FB847415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44368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A2F4983-535F-4E2A-AB64-B3231E42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44368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一</a:t>
            </a:r>
            <a:endParaRPr sz="14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2FA9BF3-31B1-44D4-A5A7-6A8DE559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307126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8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明确该环节所训练的能力</a:t>
            </a:r>
            <a:endParaRPr sz="18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E99E57C3-707F-40B1-B139-3284E813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944368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8724A17-0D7A-4248-9A28-6A104BF2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944368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二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45AF2BF-AED4-4FF5-922E-C3F53631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657600"/>
            <a:ext cx="307126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8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判断AI是否替代能力形成过程</a:t>
            </a:r>
            <a:endParaRPr sz="18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F8638F5-515F-463D-A85B-CA1336D2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944368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BBB8F9E-BD2B-44F1-87FD-1C624261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944368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三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6D4F068-B46F-4A6B-BBDC-8FED8FF3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657600"/>
            <a:ext cx="307126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8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重新设计活动、AI角色与学习证据</a:t>
            </a:r>
            <a:endParaRPr sz="18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F2CB886-DB19-4F85-9E47-4225084F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D6DF72A-4F87-4E73-81DE-9F41A21C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有些困难正是能力形成的过程，不宜由AI系统直接消除。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60179756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36E29BF-A469-4FE8-B0D4-9A5D29E2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6902974-70F7-46E0-B41E-34D85C16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D2C1DAB-2566-4022-AA40-55A2DBE9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CA552A2-F5EB-415F-85F3-2AD26C05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3A63E27-170F-4488-9BDC-C2894902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85CE7D3-EF5A-4A27-926E-08BCB5F1A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613EE5A-1D93-436B-B130-3C75BB29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2711F1A-71E8-4747-A55C-729D4FC3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9D491A3-415E-4A75-82BF-110266AD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2B9434B-AE1F-486E-9259-74B66A88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7435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0214299-19B3-470C-BB67-4DA08FC9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9213268-20A0-4836-8F9B-60D94CB4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47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F234853-5F05-4EC5-A52A-7A1C5D7A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3E35D27-D380-470E-BBA1-4625A21EA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8D3B317-967C-447E-AC43-6189CEE6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074420"/>
            <a:ext cx="9981895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60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课堂设计框架</a:t>
            </a:r>
            <a:endParaRPr sz="10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6CFE2F4-3338-46F5-B64F-413872C2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312164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‘做中学’六个阶段中的AI介入方式</a:t>
            </a:r>
            <a:endParaRPr sz="25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E0E9D88-CAAE-4E66-94C9-D96167D47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988820"/>
            <a:ext cx="9981895" cy="3666744"/>
          </a:xfrm>
          <a:prstGeom xmlns:a="http://schemas.openxmlformats.org/drawingml/2006/main" prst="roundRect">
            <a:avLst>
              <a:gd name="adj" fmla="val 17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8C55B7D-2182-4EFB-ADF9-E503F126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88" y="2007108"/>
            <a:ext cx="9945319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12700">
            <a:solidFill>
              <a:srgbClr val="F7FAF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A95BB91-4E5F-445A-AE78-30E9E069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1988820"/>
            <a:ext cx="17190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阶段</a:t>
            </a:r>
            <a:endParaRPr sz="9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77EE07A-9BD6-4CE6-B732-5A2C5B15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96" y="1988820"/>
            <a:ext cx="37490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学生必须保留</a:t>
            </a:r>
            <a:endParaRPr sz="9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0EB4E57-48F1-403C-985C-8BDD8552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456" y="1988820"/>
            <a:ext cx="3690823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AI适当角色</a:t>
            </a:r>
            <a:endParaRPr sz="9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73C9791-3DC1-4898-BBB0-69AEACA9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81428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5F2E2A4F-41FF-470F-95D1-E2288F12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792" y="2281428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BECE4673-6276-4531-9995-796811DB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152" y="2281428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84DAB73-FA89-4BC2-B6FB-9D8EF822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2363724"/>
            <a:ext cx="17190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提出问题和假设</a:t>
            </a:r>
            <a:endParaRPr sz="12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0860074E-1767-45D7-A226-ACEF3EBB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2610612"/>
            <a:ext cx="324612" cy="18288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C10"/>
          </a:solidFill>
          <a:ln xmlns:a="http://schemas.openxmlformats.org/drawingml/2006/main" w="12700">
            <a:solidFill>
              <a:srgbClr val="7A2C10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F87016C-B630-4CC2-A1F1-D0A86ABD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2610612"/>
            <a:ext cx="3246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限制介入</a:t>
            </a:r>
            <a:endParaRPr sz="8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2011801-D2A0-40DC-B3A8-9B9FC60A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96" y="2354580"/>
            <a:ext cx="3730752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观察、提出初始问题并形成猜想。</a:t>
            </a:r>
            <a:endParaRPr sz="105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04069524-1531-4C13-B051-8B005625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456" y="2354580"/>
            <a:ext cx="3672535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在初步想法后提供比较。</a:t>
            </a:r>
            <a:endParaRPr sz="105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65CAF4E-AAFC-4176-95C4-F873CCFA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43784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75FFD7FE-2B23-401D-833B-D5158D3D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792" y="2843784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D7D0BA90-9EB9-411F-8CC3-565DBD21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152" y="2843784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2454E4D-C477-4A39-B83D-BD9E1C01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2926080"/>
            <a:ext cx="17190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设计方案</a:t>
            </a:r>
            <a:endParaRPr sz="120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3643FEED-5C8F-4CB8-BCFD-5F5641E2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3172968"/>
            <a:ext cx="429768" cy="18288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7A93E592-5F9C-4A45-B6A5-25C6206B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3172968"/>
            <a:ext cx="4297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有限介入</a:t>
            </a:r>
            <a:endParaRPr sz="80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E18CA21-D0FF-491F-8193-CE8DA032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96" y="2916936"/>
            <a:ext cx="3730752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作出关键选择并说明理由。</a:t>
            </a:r>
            <a:endParaRPr sz="105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93972E28-DD77-47AB-9573-0A2EBB89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456" y="2916936"/>
            <a:ext cx="3672535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功能限于质疑方案缺口。</a:t>
            </a:r>
            <a:endParaRPr sz="105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424B78E6-DDE3-441D-8CD1-45F72CDA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06140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7DB17ED7-FA3D-45CB-B516-4214AE45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792" y="3406140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3713159A-7799-4242-9F8F-192A8EC4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152" y="3406140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1A3AA15D-CECB-46E1-9F6B-2CCF804B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3488436"/>
            <a:ext cx="17190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搜集分析证据</a:t>
            </a:r>
            <a:endParaRPr sz="1200"/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C5709CF1-31D7-45D7-BBD9-09F6A959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3735324"/>
            <a:ext cx="955548" cy="18288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CBBB"/>
          </a:solidFill>
          <a:ln xmlns:a="http://schemas.openxmlformats.org/drawingml/2006/main" w="12700">
            <a:solidFill>
              <a:srgbClr val="DFB09C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3E1F00E7-5977-4E34-92E5-3F20C85C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3735324"/>
            <a:ext cx="9555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采集限制，处理开放</a:t>
            </a:r>
            <a:endParaRPr sz="80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00FB0AD9-0743-4233-8B20-F89EEF50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96" y="3479292"/>
            <a:ext cx="3730752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亲自获得原始材料与数据。</a:t>
            </a:r>
            <a:endParaRPr sz="105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ABBADB4F-A0EE-4CB7-ADB3-E5FF18A2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456" y="3479292"/>
            <a:ext cx="3672535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整理、分类、计算和可视化。</a:t>
            </a:r>
            <a:endParaRPr sz="1050"/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5A05A309-50FF-4D91-B507-FC430560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6849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35D09B6B-7FF7-4AF4-B30F-3B645E88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792" y="3968496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086CCC4F-0CE3-4EA7-A107-D552564DE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152" y="3968496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0D688F53-57B0-4651-B3B5-A9150F6E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4050792"/>
            <a:ext cx="17190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得出结论并解释</a:t>
            </a:r>
            <a:endParaRPr sz="1200"/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19138D23-CA31-4B90-92DD-1EFA449F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4297680"/>
            <a:ext cx="324612" cy="18288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C10"/>
          </a:solidFill>
          <a:ln xmlns:a="http://schemas.openxmlformats.org/drawingml/2006/main" w="12700">
            <a:solidFill>
              <a:srgbClr val="7A2C10"/>
            </a:solidFill>
            <a:prstDash val="solid"/>
          </a:ln>
        </p:spPr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93C208E7-2BDA-4E6E-898B-145BBF5A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4297680"/>
            <a:ext cx="3246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延后介入</a:t>
            </a:r>
            <a:endParaRPr sz="800"/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6AB3939C-9000-4D61-B8C0-DB92D45F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96" y="4041648"/>
            <a:ext cx="3730752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建立证据与结论之间的联系。</a:t>
            </a:r>
            <a:endParaRPr sz="1050"/>
          </a:p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D2F1883B-FD55-4C51-993B-B74BAA4E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456" y="4041648"/>
            <a:ext cx="3672535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优先完成独立解释。</a:t>
            </a:r>
            <a:endParaRPr sz="1050"/>
          </a:p>
        </p:txBody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AD01D660-4DDE-46EC-81BB-0FBE662D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530852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5221DCF8-907E-45F7-8FE4-5F1DBB2C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792" y="4530852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15FF5888-B9A4-4180-BA25-C1D63C0A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152" y="4530852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895D8983-A2B7-490C-9255-BCEA4C83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4613148"/>
            <a:ext cx="17190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制作、测试与改进</a:t>
            </a:r>
            <a:endParaRPr sz="1200"/>
          </a:p>
        </p:txBody>
      </p:sp>
      <p:sp>
        <p:nvSpPr>
          <p:cNvPr id="59" name="Shape 57">
            <a:extLst xmlns:a="http://schemas.openxmlformats.org/drawingml/2006/main">
              <a:ext uri="{FF2B5EF4-FFF2-40B4-BE49-F238E27FC236}">
                <a16:creationId xmlns:a16="http://schemas.microsoft.com/office/drawing/2014/main" id="{B583A0EE-8398-4EF4-AF81-E103134B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4860036"/>
            <a:ext cx="429768" cy="18288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CBBB"/>
          </a:solidFill>
          <a:ln xmlns:a="http://schemas.openxmlformats.org/drawingml/2006/main" w="12700">
            <a:solidFill>
              <a:srgbClr val="DFB09C"/>
            </a:solidFill>
            <a:prstDash val="solid"/>
          </a:ln>
        </p:spPr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30747E1D-1114-4AFE-A835-894665C8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4860036"/>
            <a:ext cx="4297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有限介入</a:t>
            </a:r>
            <a:endParaRPr sz="800"/>
          </a:p>
        </p:txBody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ABA1E129-75E6-4157-8784-2CA1B2E7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96" y="4604004"/>
            <a:ext cx="3730752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测试、发现问题并修正方案。</a:t>
            </a:r>
            <a:endParaRPr sz="1050"/>
          </a:p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15BD5D7F-A31F-482F-8585-ACCB4D94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456" y="4604004"/>
            <a:ext cx="3672535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提供材料信息与替代方案。</a:t>
            </a:r>
            <a:endParaRPr sz="1050"/>
          </a:p>
        </p:txBody>
      </p:sp>
      <p:sp>
        <p:nvSpPr>
          <p:cNvPr id="63" name="Shape 61">
            <a:extLst xmlns:a="http://schemas.openxmlformats.org/drawingml/2006/main">
              <a:ext uri="{FF2B5EF4-FFF2-40B4-BE49-F238E27FC236}">
                <a16:creationId xmlns:a16="http://schemas.microsoft.com/office/drawing/2014/main" id="{0C2CDCBB-D686-4678-A1CA-DF61682B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93208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BBA1F37C-E520-48BF-B215-C32BEB93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792" y="5093208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65" name="Shape 63">
            <a:extLst xmlns:a="http://schemas.openxmlformats.org/drawingml/2006/main">
              <a:ext uri="{FF2B5EF4-FFF2-40B4-BE49-F238E27FC236}">
                <a16:creationId xmlns:a16="http://schemas.microsoft.com/office/drawing/2014/main" id="{436627C5-AD9E-4A54-8F46-2E296B1A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152" y="5093208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66" name="Text 64">
            <a:extLst xmlns:a="http://schemas.openxmlformats.org/drawingml/2006/main">
              <a:ext uri="{FF2B5EF4-FFF2-40B4-BE49-F238E27FC236}">
                <a16:creationId xmlns:a16="http://schemas.microsoft.com/office/drawing/2014/main" id="{187C9F7C-138A-422D-85F4-340888F2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5175504"/>
            <a:ext cx="17190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交流反思</a:t>
            </a:r>
            <a:endParaRPr sz="1200"/>
          </a:p>
        </p:txBody>
      </p:sp>
      <p:sp>
        <p:nvSpPr>
          <p:cNvPr id="67" name="Shape 65">
            <a:extLst xmlns:a="http://schemas.openxmlformats.org/drawingml/2006/main">
              <a:ext uri="{FF2B5EF4-FFF2-40B4-BE49-F238E27FC236}">
                <a16:creationId xmlns:a16="http://schemas.microsoft.com/office/drawing/2014/main" id="{6BA12279-4687-49E0-B6B0-BC3423BD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5422392"/>
            <a:ext cx="324612" cy="18288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68" name="Text 66">
            <a:extLst xmlns:a="http://schemas.openxmlformats.org/drawingml/2006/main">
              <a:ext uri="{FF2B5EF4-FFF2-40B4-BE49-F238E27FC236}">
                <a16:creationId xmlns:a16="http://schemas.microsoft.com/office/drawing/2014/main" id="{567A79E0-A4A5-45EB-AC3F-AA1AFBF1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5422392"/>
            <a:ext cx="3246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表达支持</a:t>
            </a:r>
            <a:endParaRPr sz="800"/>
          </a:p>
        </p:txBody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3156EA89-348A-4F18-AD90-0722F38C4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96" y="5166360"/>
            <a:ext cx="3730752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解释过程、限制和个人贡献。</a:t>
            </a:r>
            <a:endParaRPr sz="1050"/>
          </a:p>
        </p:txBody>
      </p:sp>
      <p:sp>
        <p:nvSpPr>
          <p:cNvPr id="70" name="Text 68">
            <a:extLst xmlns:a="http://schemas.openxmlformats.org/drawingml/2006/main">
              <a:ext uri="{FF2B5EF4-FFF2-40B4-BE49-F238E27FC236}">
                <a16:creationId xmlns:a16="http://schemas.microsoft.com/office/drawing/2014/main" id="{A9834E6C-35E0-460A-81CE-DAF4AFDB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456" y="5166360"/>
            <a:ext cx="3672535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协助表达并披露使用方式。</a:t>
            </a:r>
            <a:endParaRPr sz="1050"/>
          </a:p>
        </p:txBody>
      </p:sp>
      <p:sp>
        <p:nvSpPr>
          <p:cNvPr id="71" name="Shape 69">
            <a:extLst xmlns:a="http://schemas.openxmlformats.org/drawingml/2006/main">
              <a:ext uri="{FF2B5EF4-FFF2-40B4-BE49-F238E27FC236}">
                <a16:creationId xmlns:a16="http://schemas.microsoft.com/office/drawing/2014/main" id="{D36CC101-AD8A-48C3-9234-778183AC5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C4EC7BF0-7426-4B58-B5B2-EC386687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科学课中，学生提出假设并取得原始数据；系统可在整理和可视化阶段提供支持。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56298960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D7B7D80-569A-4676-BEEC-3F576EB3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D920ED5-E801-46F6-ABA1-D1B633FA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258469E-FDDC-4799-99FC-0ED97E38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F93940C-A8C7-4DE4-B6CC-D9F9D91B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1594D2B-87DB-44AD-BA0C-46E04389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9D8D094-A22E-4C33-AF2C-9A01D5C3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0B691FF-6EE0-4082-B3A8-510BA442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907631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06562ED-B11C-4796-83F4-A5751A5D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212C1C8-E893-4ED3-80AD-B2D53C6C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5F8A102-05C7-47BC-A0C7-C169C0EE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6DB4A40-A8D4-4438-8DBD-0579D805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033F6B1-E72C-4EDC-B4B0-C57EBEA5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48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FE91029-A828-4DE0-B285-A5710594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75E083A-9AF3-42B3-A88F-FF25A8BA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64360E2-9A5A-42FD-B80D-31B83B5B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‘方案质疑员’的功能是提出问题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6056FA6-AF8D-4BFD-B9C9-935A05B7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05940"/>
            <a:ext cx="99818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学生先提交方案；AI系统提出质疑问题，教师和学生决定是否采纳与修改。</a:t>
            </a:r>
            <a:endParaRPr sz="11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252760A-F4E1-46DE-BFCC-28F93562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26564"/>
            <a:ext cx="9981895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8C72647-DF7D-49D7-BA71-4C56A165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72284"/>
            <a:ext cx="38100" cy="6949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C13FBA6-E3B0-44C5-ABAE-DB1BCDFF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2354580"/>
            <a:ext cx="960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学生方案</a:t>
            </a:r>
            <a:endParaRPr sz="10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8885DE1-4DD1-4A9A-ABDF-E41D5F87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2136" y="2336292"/>
            <a:ext cx="8409127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我们计划比较两种材料，但还没有说明变量、数据来源与判断标准。</a:t>
            </a:r>
            <a:endParaRPr sz="12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A573AD6-47B7-4454-A110-4253294A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40964"/>
            <a:ext cx="9981895" cy="896112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7FA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A9775D0-A261-4E50-85F8-6970D68D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6684"/>
            <a:ext cx="3810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F7BC41E2-7080-45C0-B868-EE5311D6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3268980"/>
            <a:ext cx="960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C2552F"/>
                </a:solidFill>
                <a:latin typeface="Microsoft YaHei"/>
                <a:ea typeface="Microsoft YaHei"/>
                <a:cs typeface="Microsoft YaHei"/>
              </a:rPr>
              <a:t>AI质疑</a:t>
            </a:r>
            <a:endParaRPr sz="10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228A62A-8465-4B3D-8485-B530CECA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2136" y="3250692"/>
            <a:ext cx="21945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一</a:t>
            </a:r>
            <a:endParaRPr sz="10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EF2ECE3-1C8D-4A8A-AC22-FBA9312B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8168" y="3250692"/>
            <a:ext cx="21945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?</a:t>
            </a:r>
            <a:endParaRPr sz="11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2E13DDC-F113-4E4B-9023-6301E791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2488" y="3250692"/>
            <a:ext cx="787877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变量是否得到控制？</a:t>
            </a:r>
            <a:endParaRPr sz="12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AD2A4FE-12C9-4CB9-8F5E-DABBDBD6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2136" y="3506724"/>
            <a:ext cx="21945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二</a:t>
            </a:r>
            <a:endParaRPr sz="10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44133A8-A917-444C-A811-3D18F74A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8168" y="3506724"/>
            <a:ext cx="21945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?</a:t>
            </a:r>
            <a:endParaRPr sz="11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8893132-B5A7-42B6-94E6-75C3EF74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2488" y="3506724"/>
            <a:ext cx="787877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证据来自哪里？</a:t>
            </a:r>
            <a:endParaRPr sz="12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D127C5D-301C-43CD-A719-F89082F8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2136" y="3762756"/>
            <a:ext cx="21945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三</a:t>
            </a:r>
            <a:endParaRPr sz="10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8A09723E-561D-40E1-8710-3AFA8C8B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8168" y="3762756"/>
            <a:ext cx="21945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?</a:t>
            </a:r>
            <a:endParaRPr sz="11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C846A2F-95E8-4520-8C39-73A60E26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2488" y="3762756"/>
            <a:ext cx="787877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结论能否由这些数据支持？</a:t>
            </a:r>
            <a:endParaRPr sz="12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CA1506DB-84C6-4C04-9C4E-3BDCBAB2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65092"/>
            <a:ext cx="9981895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CF2EC"/>
          </a:solidFill>
          <a:ln xmlns:a="http://schemas.openxmlformats.org/drawingml/2006/main" w="12700">
            <a:solidFill>
              <a:srgbClr val="DFB09C"/>
            </a:solidFill>
            <a:prstDash val="solid"/>
          </a:ln>
        </p:spPr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799EF993-FC08-455A-B482-ADC6B7F5B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10812"/>
            <a:ext cx="38100" cy="6949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21F"/>
          </a:solidFill>
          <a:ln xmlns:a="http://schemas.openxmlformats.org/drawingml/2006/main" w="12700">
            <a:solidFill>
              <a:srgbClr val="A8421F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946D4642-7249-4634-87E7-803411AC3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4293108"/>
            <a:ext cx="960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学生决定</a:t>
            </a:r>
            <a:endParaRPr sz="100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23C8B52A-9C8F-403A-89B7-42C1CAA5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2136" y="4274820"/>
            <a:ext cx="8409127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保留、修改或拒绝建议，并说明理由。</a:t>
            </a:r>
            <a:endParaRPr sz="125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397BCD59-CCD8-45E4-A256-9D6F4882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79492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系统功能限于质疑；修改建议逐条由人工判断。</a:t>
            </a:r>
            <a:endParaRPr sz="100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AA38E6E6-3B7C-45D6-B09A-E99E430B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CA0E0BAD-434A-4D30-9CE2-0767E78F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该角色适用于方案形成后的有限介入阶段。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50166823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7895BE5-D706-4FB5-A030-7C236F87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D5790FF-1887-437D-8764-0B842FCD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9686FA1-CE6C-4CB8-9D07-E6133466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AF2E43D-E39F-47AB-ABE2-356E1CE7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0167298-61BF-4A80-B3FC-7365E80D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376C4C2-8A4F-4836-A34C-E65E1F15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52804F4-94A9-4291-8038-5CEE45CD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DD330CD-3664-48FE-B52E-02F1E289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40F653E-ED43-4BB3-A434-3270AD22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E072D7C-5062-4365-BB1A-A7BE3398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CD0A835-1319-4589-A109-15057B7B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28B825B-0CF9-4108-BE82-7D6D30D9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49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3705F8A-DDCE-44A2-9377-E098E76B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CBA1666-4CF9-4EF5-AAD4-4E89B7EAE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C119F44-A998-4963-B3A6-416C1846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ICAP：对话次数不等于认知参与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2BC3AE1-2075-4F0D-9E8E-DA2E92F8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47623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spc="8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认知参与层级</a:t>
            </a:r>
            <a:endParaRPr sz="9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88428F8-3482-4388-9053-FFB1CE61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71700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CACB420-4DB8-4820-910B-2A784743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2171700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Passive｜接受AI答案</a:t>
            </a:r>
            <a:endParaRPr sz="14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E5EC29A-BBA7-486E-95E3-8577B725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56332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9DA2371-10D7-4F78-ACFB-CD4E8E5D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2656332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Active｜选择、标注和执行</a:t>
            </a:r>
            <a:endParaRPr sz="14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3DE9272-C0AC-40D0-92FE-C63817F7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40964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A9020BF-3D03-4B22-9B88-844CEBF3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3140964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Constructive｜形成新的解释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D1500E5-9F0E-48BE-B24C-8EC3CD29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25596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66A326F-57CF-4C50-BFD3-C4039330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3625596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Interactive｜基于彼此观点共同建构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4876F79-767E-49EF-9504-14E3257E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1860804"/>
            <a:ext cx="47623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spc="8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教师观察</a:t>
            </a:r>
            <a:endParaRPr sz="9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307E4EE-C685-454B-90E3-8495B53F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2171700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BD29308-F815-4B08-903B-43B0F344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2171700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是否形成自己的解释</a:t>
            </a:r>
            <a:endParaRPr sz="14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8A5E734-915C-4785-A8E4-C196183A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2656332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7B70366-FC9D-49FD-9D96-DF8D1F0E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2656332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是否判断并修改系统输出</a:t>
            </a:r>
            <a:endParaRPr sz="14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E64B7F70-A565-4778-9F0E-9E7498C6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3140964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F1E621E-53A1-4BFA-96A6-9B0DFFCB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3140964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是否回应同伴实际表达的观点</a:t>
            </a:r>
            <a:endParaRPr sz="14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825F125E-F870-4C0A-9EFC-38FF8A5B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3625596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D65DEFE-77A9-4498-9058-9A6A5EE9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3625596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是否能够说明不同意系统建议的理由</a:t>
            </a:r>
            <a:endParaRPr sz="14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1F2ED3A-1962-441A-9ABB-716122C27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43600"/>
            <a:ext cx="998189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语文课中，学生回应同伴观点并修正论证，比连续追问系统更接近高水平互动。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51898756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50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AI导师包含多种功能角色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03a59a26c4f82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91E7AF2-0980-4DCF-BB67-9429AAF5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2C3D627-7A47-4C94-B83F-5552112D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F608337-5C56-4C5E-9380-7813B42A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5CB9511-904A-4917-B444-E405F56B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62E4A77-C3EE-414F-8817-5D2199B7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9B87579-AEC7-4BA6-A0F0-7B2E7FD0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2919195-CC06-448F-B15D-D212FB99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69297D7-A02E-4C53-A798-D4F44710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00B2314-B660-4F5F-85A5-FC357070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387EA79-5626-4028-8984-189CBB88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7435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D410E70-3870-466C-A72D-8D4ABACE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7EB2EB2-A06A-474E-8D37-D6E54EFF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51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550D636-E91B-45D2-825F-07158E2B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4B461A3-E6F2-49DF-B29B-8C23570B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1116197-C783-4934-B78B-7B1E5609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学习证据覆盖作品、过程与独立迁移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999FA4E-AF76-4114-A3EE-2C0CF1C4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05940"/>
            <a:ext cx="998189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sz="11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BD22B20-B4C9-4B64-AF9A-7A4C922E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180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5DB6F7EF-79C2-4798-B17C-26E689B7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545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73F33BF-B880-41A8-A94F-6EA942E0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23180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证据类型</a:t>
            </a:r>
            <a:endParaRPr sz="11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7A5BA7D-6C29-47B7-A473-644BB539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318004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内容</a:t>
            </a:r>
            <a:endParaRPr sz="13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609258C-9170-49CA-B70C-06238420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1960" y="23180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用于判断</a:t>
            </a:r>
            <a:endParaRPr sz="10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AABCEF0-2988-4073-822E-4210F2C7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455" y="2318004"/>
            <a:ext cx="822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形成阶段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812E2806-99A0-401E-9F98-46A0BBB5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752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3EFB4CA-B80D-4BAF-94C9-2E02003E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17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2BF8057-42B2-47B5-86A7-595CD97C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27752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初始想法</a:t>
            </a:r>
            <a:endParaRPr sz="11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C872CED-6EF6-4FB2-93C9-43ACAFDF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775204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AI介入前的判断</a:t>
            </a:r>
            <a:endParaRPr sz="13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6105649-77D5-434D-B2F8-92FCD26B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1960" y="27752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目标与起点</a:t>
            </a:r>
            <a:endParaRPr sz="10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DD582DF-0754-4EFE-AFAE-212DDD43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455" y="2775204"/>
            <a:ext cx="822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任务开始</a:t>
            </a:r>
            <a:endParaRPr sz="10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26AEAFD-5339-4187-9C80-E076D2AB5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24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624E9D6E-6447-4728-9759-FC2D2236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689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FAF6F86-4FF9-4BBF-A9B1-9C2067B5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32324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使用记录</a:t>
            </a:r>
            <a:endParaRPr sz="11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09132BB-F38E-44F5-B879-08E1617F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3232404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AI在哪一步提供什么</a:t>
            </a:r>
            <a:endParaRPr sz="135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C561D5F-1BA7-49C7-A3B2-03E96D2D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1960" y="32324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支持范围</a:t>
            </a:r>
            <a:endParaRPr sz="10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31213B6-689F-4295-B20B-6217C2B5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455" y="3232404"/>
            <a:ext cx="822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使用当时</a:t>
            </a:r>
            <a:endParaRPr sz="10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403C478C-EFC5-45EF-8198-CD01F2D3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896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6C3598C9-12B4-48A7-B599-69659627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261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78E3E6F-580E-4A8B-BA8E-C0C7AD7F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36896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关键决策</a:t>
            </a:r>
            <a:endParaRPr sz="110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2628A942-BB74-42DE-93A3-F7814EDC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3689604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采纳、拒绝与修改理由</a:t>
            </a:r>
            <a:endParaRPr sz="135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0342E656-3F3E-414C-8607-0BF113E8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1960" y="36896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判断能力</a:t>
            </a:r>
            <a:endParaRPr sz="10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F31E117F-28B5-4EA2-B974-6D53AC61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455" y="3689604"/>
            <a:ext cx="822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每次修改</a:t>
            </a:r>
            <a:endParaRPr sz="100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526401EA-023E-4B76-BBEE-7ECBEC20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468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332A1390-0E55-4CA1-9605-E22FC430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833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4EC8A058-DB84-4A8D-AFF5-00A44D55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41468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版本与口述</a:t>
            </a:r>
            <a:endParaRPr sz="110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57C838F4-BA1B-494B-9ACD-2DB4E6D2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4146804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阶段版本、证据与限制</a:t>
            </a:r>
            <a:endParaRPr sz="135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A9879D98-0E31-4C63-A1A0-38BDFC78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1960" y="41468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理解与作者身份</a:t>
            </a:r>
            <a:endParaRPr sz="100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84EB8C2B-1A8F-410D-8487-D0A80741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455" y="4146804"/>
            <a:ext cx="822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过程与答辩</a:t>
            </a:r>
            <a:endParaRPr sz="100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CC609917-F4B7-4757-8309-32884F8E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6040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DB4A6003-3C51-4210-9053-1CB37216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6405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29072198-102A-4A8A-B711-1F2A3FAB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46040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独立迁移</a:t>
            </a:r>
            <a:endParaRPr sz="1100"/>
          </a:p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0CD523D3-4BBA-49FF-980B-43B720DB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4604004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撤除AI后在新情境完成</a:t>
            </a:r>
            <a:endParaRPr sz="1350"/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AECB692C-EFDB-4B08-A43F-6DAE245C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1960" y="46040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能力与迁移</a:t>
            </a:r>
            <a:endParaRPr sz="1000"/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E1A919D1-A4F6-4E49-816C-0155E5C3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455" y="4604004"/>
            <a:ext cx="822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任务之后</a:t>
            </a:r>
            <a:endParaRPr sz="1000"/>
          </a:p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761FC7D5-2CC3-4ACA-B19E-649B2A6B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52644"/>
            <a:ext cx="998189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过程证据在任务实施期间同步形成。</a:t>
            </a:r>
            <a:endParaRPr sz="1050"/>
          </a:p>
        </p:txBody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AFF5C378-BEE2-4A2B-8FE3-2037EF9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417CF83C-CAFA-429F-8551-641DB714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数学换题、科学换情境和英语脱稿表达，都可用于检验能力是否保留。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55109446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91E7AF2-0980-4DCF-BB67-9429AAF5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2C3D627-7A47-4C94-B83F-5552112D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F608337-5C56-4C5E-9380-7813B42A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5CB9511-904A-4917-B444-E405F56B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62E4A77-C3EE-414F-8817-5D2199B7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9B87579-AEC7-4BA6-A0F0-7B2E7FD0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2919195-CC06-448F-B15D-D212FB99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69297D7-A02E-4C53-A798-D4F44710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00B2314-B660-4F5F-85A5-FC357070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387EA79-5626-4028-8984-189CBB88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7435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D410E70-3870-466C-A72D-8D4ABACE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7EB2EB2-A06A-474E-8D37-D6E54EFF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52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550D636-E91B-45D2-825F-07158E2B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4B461A3-E6F2-49DF-B29B-8C23570B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1116197-C783-4934-B78B-7B1E5609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学科核心素养决定AI可以介入哪些活动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999FA4E-AF76-4114-A3EE-2C0CF1C4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05940"/>
            <a:ext cx="998189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sz="11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BD22B20-B4C9-4B64-AF9A-7A4C922E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180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5DB6F7EF-79C2-4798-B17C-26E689B7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545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73F33BF-B880-41A8-A94F-6EA942E0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23180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数学</a:t>
            </a:r>
            <a:endParaRPr sz="11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7A5BA7D-6C29-47B7-A473-644BB539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318004"/>
            <a:ext cx="333375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变式、有限提示、解法比较</a:t>
            </a:r>
            <a:endParaRPr sz="13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609258C-9170-49CA-B70C-06238420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18004"/>
            <a:ext cx="242887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建模、推理、错误解释</a:t>
            </a:r>
            <a:endParaRPr sz="10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AABCEF0-2988-4073-822E-4210F2C7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18004"/>
            <a:ext cx="21218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数学眼光、思维与语言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812E2806-99A0-401E-9F98-46A0BBB5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752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3EFB4CA-B80D-4BAF-94C9-2E02003E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17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2BF8057-42B2-47B5-86A7-595CD97C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27752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科学</a:t>
            </a:r>
            <a:endParaRPr sz="11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C872CED-6EF6-4FB2-93C9-43ACAFDF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775204"/>
            <a:ext cx="333375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数据整理、模拟、可视化</a:t>
            </a:r>
            <a:endParaRPr sz="13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6105649-77D5-434D-B2F8-92FCD26B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75204"/>
            <a:ext cx="242887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假设、原始证据、因果解释</a:t>
            </a:r>
            <a:endParaRPr sz="10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DD582DF-0754-4EFE-AFAE-212DDD43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75204"/>
            <a:ext cx="21218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科学观念、思维、探究与责任</a:t>
            </a:r>
            <a:endParaRPr sz="10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26AEAFD-5339-4187-9C80-E076D2AB5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24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624E9D6E-6447-4728-9759-FC2D2236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689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FAF6F86-4FF9-4BBF-A9B1-9C2067B5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32324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语文</a:t>
            </a:r>
            <a:endParaRPr sz="11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09132BB-F38E-44F5-B879-08E1617F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3232404"/>
            <a:ext cx="333375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文本比较、背景资料、表达反馈</a:t>
            </a:r>
            <a:endParaRPr sz="135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C561D5F-1BA7-49C7-A3B2-03E96D2D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32404"/>
            <a:ext cx="242887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立意、细读、论证与作者声音</a:t>
            </a:r>
            <a:endParaRPr sz="10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31213B6-689F-4295-B20B-6217C2B5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32404"/>
            <a:ext cx="21218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文化自信、语言、思维与审美</a:t>
            </a:r>
            <a:endParaRPr sz="10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403C478C-EFC5-45EF-8198-CD01F2D3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896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6C3598C9-12B4-48A7-B599-69659627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261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78E3E6F-580E-4A8B-BA8E-C0C7AD7F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36896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英语</a:t>
            </a:r>
            <a:endParaRPr sz="110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2628A942-BB74-42DE-93A3-F7814EDC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3689604"/>
            <a:ext cx="333375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词句反馈、发音提示、练习记录</a:t>
            </a:r>
            <a:endParaRPr sz="135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0342E656-3F3E-414C-8607-0BF113E8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89604"/>
            <a:ext cx="242887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内容选择、听众意识、现场表达</a:t>
            </a:r>
            <a:endParaRPr sz="10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F31E117F-28B5-4EA2-B974-6D53AC61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689604"/>
            <a:ext cx="21218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语言、文化、思维与学习能力</a:t>
            </a:r>
            <a:endParaRPr sz="100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526401EA-023E-4B76-BBEE-7ECBEC20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468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332A1390-0E55-4CA1-9605-E22FC430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833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4EC8A058-DB84-4A8D-AFF5-00A44D55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41468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地理</a:t>
            </a:r>
            <a:endParaRPr sz="110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57C838F4-BA1B-494B-9ACD-2DB4E6D2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4146804"/>
            <a:ext cx="333375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资料与地图信息辅助</a:t>
            </a:r>
            <a:endParaRPr sz="135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A9879D98-0E31-4C63-A1A0-38BDFC78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46804"/>
            <a:ext cx="242887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空间判断、来源核验、实地调查</a:t>
            </a:r>
            <a:endParaRPr sz="100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84EB8C2B-1A8F-410D-8487-D0A80741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46804"/>
            <a:ext cx="21218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人地协调、综合与区域思维、实践力</a:t>
            </a:r>
            <a:endParaRPr sz="100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CC609917-F4B7-4757-8309-32884F8E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6040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DB4A6003-3C51-4210-9053-1CB37216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6405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29072198-102A-4A8A-B711-1F2A3FAB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46040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综合实践</a:t>
            </a:r>
            <a:endParaRPr sz="1100"/>
          </a:p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0CD523D3-4BBA-49FF-980B-43B720DB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4604004"/>
            <a:ext cx="333375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资料整理、方案质疑、技术制作</a:t>
            </a:r>
            <a:endParaRPr sz="1350"/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AECB692C-EFDB-4B08-A43F-6DAE245C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04004"/>
            <a:ext cx="242887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真实调查、决策、测试改进</a:t>
            </a:r>
            <a:endParaRPr sz="1000"/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E1A919D1-A4F6-4E49-816C-0155E5C3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04004"/>
            <a:ext cx="21218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真实问题解决、跨学科实践、责任</a:t>
            </a:r>
            <a:endParaRPr sz="1000"/>
          </a:p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761FC7D5-2CC3-4ACA-B19E-649B2A6B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52644"/>
            <a:ext cx="998189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学科核心素养为系统输出的选择、核验和评价提供标准。</a:t>
            </a:r>
            <a:endParaRPr sz="1050"/>
          </a:p>
        </p:txBody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AFF5C378-BEE2-4A2B-8FE3-2037EF9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417CF83C-CAFA-429F-8551-641DB714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同一种AI功能进入不同学科时，需要服从该学科的思维方式、实践过程与评价证据。</a:t>
            </a:r>
            <a:endParaRPr sz="1000"/>
          </a:p>
        </p:txBody>
      </p:sp>
      <p:sp>
        <p:nvSpPr>
          <p:cNvPr id="57" name="Subject table header 1">
            <a:extLst xmlns:a="http://schemas.openxmlformats.org/drawingml/2006/main">
              <a:ext uri="{FF2B5EF4-FFF2-40B4-BE49-F238E27FC236}">
                <a16:creationId xmlns:a16="http://schemas.microsoft.com/office/drawing/2014/main" id="{E67265B8-2EF9-4102-AF6B-E3CE12F3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1805940"/>
            <a:ext cx="1207008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61738F"/>
                </a:solidFill>
              </a:defRPr>
            </a:pPr>
            <a:r>
              <a:rPr sz="1163">
                <a:solidFill>
                  <a:srgbClr val="61738F"/>
                </a:solidFill>
              </a:rPr>
              <a:t>学科</a:t>
            </a:r>
          </a:p>
        </p:txBody>
      </p:sp>
      <p:sp>
        <p:nvSpPr>
          <p:cNvPr id="58" name="Subject table header 2">
            <a:extLst xmlns:a="http://schemas.openxmlformats.org/drawingml/2006/main">
              <a:ext uri="{FF2B5EF4-FFF2-40B4-BE49-F238E27FC236}">
                <a16:creationId xmlns:a16="http://schemas.microsoft.com/office/drawing/2014/main" id="{13D71226-A608-4309-A4E7-0FAF278D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180594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61738F"/>
                </a:solidFill>
              </a:defRPr>
            </a:pPr>
            <a:r>
              <a:rPr sz="1163">
                <a:solidFill>
                  <a:srgbClr val="61738F"/>
                </a:solidFill>
              </a:rPr>
              <a:t>AI可支持的活动</a:t>
            </a:r>
          </a:p>
        </p:txBody>
      </p:sp>
      <p:sp>
        <p:nvSpPr>
          <p:cNvPr id="59" name="Subject table header 3">
            <a:extLst xmlns:a="http://schemas.openxmlformats.org/drawingml/2006/main">
              <a:ext uri="{FF2B5EF4-FFF2-40B4-BE49-F238E27FC236}">
                <a16:creationId xmlns:a16="http://schemas.microsoft.com/office/drawing/2014/main" id="{0A4864AD-A6EB-4880-A268-FC01E5DD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05940"/>
            <a:ext cx="2428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61738F"/>
                </a:solidFill>
              </a:defRPr>
            </a:pPr>
            <a:r>
              <a:rPr sz="1163">
                <a:solidFill>
                  <a:srgbClr val="61738F"/>
                </a:solidFill>
              </a:rPr>
              <a:t>学生必须完成的活动</a:t>
            </a:r>
          </a:p>
        </p:txBody>
      </p:sp>
      <p:sp>
        <p:nvSpPr>
          <p:cNvPr id="60" name="Subject table header 4">
            <a:extLst xmlns:a="http://schemas.openxmlformats.org/drawingml/2006/main">
              <a:ext uri="{FF2B5EF4-FFF2-40B4-BE49-F238E27FC236}">
                <a16:creationId xmlns:a16="http://schemas.microsoft.com/office/drawing/2014/main" id="{739571B1-521F-4A2E-AEB6-F1824F34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05940"/>
            <a:ext cx="212188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61738F"/>
                </a:solidFill>
              </a:defRPr>
            </a:pPr>
            <a:r>
              <a:rPr sz="1163">
                <a:solidFill>
                  <a:srgbClr val="61738F"/>
                </a:solidFill>
              </a:rPr>
              <a:t>核心素养指向</a:t>
            </a:r>
          </a:p>
        </p:txBody>
      </p:sp>
    </p:spTree>
    <p:extLst>
      <p:ext uri="{BB962C8B-B14F-4D97-AF65-F5344CB8AC3E}">
        <p14:creationId xmlns:p14="http://schemas.microsoft.com/office/powerpoint/2010/main" val="1551094460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08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7B298B-C941-4D97-A4CB-BCAB69BE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983E116-4972-42A9-B426-077DF655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B6DA9C-C6C5-4C89-9102-82F57547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494FF4B-9AA2-4426-A604-40B1A23D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29928AE-0CF9-4F99-9CC9-FFCA40D1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C33E4A1-0C2B-49E2-95AB-5CD17E21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48012C5-9757-480B-8E44-89DEE194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B24598B-5AB8-4712-9CD5-EA0162B8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519613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B2D1DCD-2673-461E-AD29-DA242EBF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1CD416-1FB1-4229-94E4-CA864D0C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94FE5C-BCF6-470C-A5F5-20795512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收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束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09F4FDE-707D-486C-B487-7EB03185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53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6809C1F-2114-4485-9E66-20645A82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8364415-8FD2-42BC-9B46-8745CD04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12848"/>
            <a:ext cx="9981895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F0CBBB"/>
                </a:solidFill>
                <a:latin typeface="Microsoft YaHei"/>
                <a:ea typeface="Microsoft YaHei"/>
                <a:cs typeface="Microsoft YaHei"/>
              </a:rPr>
              <a:t>AI可以减轻部分操作负担，但不能替学生经历必要的思考，也不能替教师解释证据、承担责任。</a:t>
            </a:r>
            <a:endParaRPr sz="1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87DE9D3-96A2-41EA-90CF-330D8A59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51760"/>
            <a:ext cx="457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5AB1532-205A-437C-A165-8AC10BA9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857500"/>
            <a:ext cx="8902903" cy="1238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下午工作坊将设计学生、同伴、AI系统与教师的认知分工</a:t>
            </a:r>
            <a:endParaRPr sz="2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8D206B3-54CB-4C3B-9023-FCF95D93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4248150"/>
            <a:ext cx="890290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BFD3EA"/>
                </a:solidFill>
                <a:latin typeface="Microsoft YaHei"/>
                <a:ea typeface="Microsoft YaHei"/>
                <a:cs typeface="Microsoft YaHei"/>
              </a:rPr>
              <a:t>每组需明确学习目标、学生必须完成的活动、AI介入方式和学习证据。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42197894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2026-08-26T23:30:58.9730000Z</dcterms:created>
  <dcterms:modified xsi:type="dcterms:W3CDTF">2026-08-26T23:30:58.9730000Z</dcterms:modified>
</coreProperties>
</file>