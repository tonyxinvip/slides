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8880365fdc46a2" /><Relationship Type="http://schemas.openxmlformats.org/officeDocument/2006/relationships/extended-properties" Target="/docProps/app.xml" Id="R55607cceed6f4509" /><Relationship Type="http://schemas.openxmlformats.org/officeDocument/2006/relationships/officeDocument" Target="/ppt/presentation.xml" Id="R2225f5a027fa4a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f5bcc8bba54f9b"/>
  </p:sldMasterIdLst>
  <p:notesMasterIdLst>
    <p:notesMasterId xmlns:r="http://schemas.openxmlformats.org/officeDocument/2006/relationships" r:id="Rc9729e2bc1af4b32"/>
  </p:notesMasterIdLst>
  <p:sldIdLst>
    <p:sldId xmlns:r="http://schemas.openxmlformats.org/officeDocument/2006/relationships" id="256" r:id="Rfdfa91275e984157"/>
    <p:sldId xmlns:r="http://schemas.openxmlformats.org/officeDocument/2006/relationships" id="257" r:id="R05ed22eb62d341b4"/>
    <p:sldId xmlns:r="http://schemas.openxmlformats.org/officeDocument/2006/relationships" id="258" r:id="Rd26ef5dad59946c4"/>
    <p:sldId xmlns:r="http://schemas.openxmlformats.org/officeDocument/2006/relationships" id="259" r:id="Re519fcf5a5a24df2"/>
    <p:sldId xmlns:r="http://schemas.openxmlformats.org/officeDocument/2006/relationships" id="260" r:id="Rbc51e1821c74460d"/>
    <p:sldId xmlns:r="http://schemas.openxmlformats.org/officeDocument/2006/relationships" id="261" r:id="R2f0c6adbd29347fe"/>
    <p:sldId xmlns:r="http://schemas.openxmlformats.org/officeDocument/2006/relationships" id="262" r:id="Rb6faca7f0a5c483b"/>
    <p:sldId xmlns:r="http://schemas.openxmlformats.org/officeDocument/2006/relationships" id="263" r:id="Rba90cfd2644448f7"/>
    <p:sldId xmlns:r="http://schemas.openxmlformats.org/officeDocument/2006/relationships" id="264" r:id="Rea70722c85364f8e"/>
    <p:sldId xmlns:r="http://schemas.openxmlformats.org/officeDocument/2006/relationships" id="265" r:id="R77d4fec2fa56450c"/>
    <p:sldId xmlns:r="http://schemas.openxmlformats.org/officeDocument/2006/relationships" id="266" r:id="R545f041c0e904e37"/>
    <p:sldId xmlns:r="http://schemas.openxmlformats.org/officeDocument/2006/relationships" id="267" r:id="R57b70f7dd3dd40be"/>
    <p:sldId xmlns:r="http://schemas.openxmlformats.org/officeDocument/2006/relationships" id="268" r:id="R979c3e0632ca491d"/>
    <p:sldId xmlns:r="http://schemas.openxmlformats.org/officeDocument/2006/relationships" id="269" r:id="R2bc1b52b198b41e4"/>
    <p:sldId xmlns:r="http://schemas.openxmlformats.org/officeDocument/2006/relationships" id="270" r:id="R630cdeaba0f6485c"/>
    <p:sldId xmlns:r="http://schemas.openxmlformats.org/officeDocument/2006/relationships" id="271" r:id="Rb502cce6f565418f"/>
    <p:sldId xmlns:r="http://schemas.openxmlformats.org/officeDocument/2006/relationships" id="272" r:id="Re9dd9172bd4e4951"/>
    <p:sldId xmlns:r="http://schemas.openxmlformats.org/officeDocument/2006/relationships" id="273" r:id="Ra2f9c0a570704806"/>
    <p:sldId xmlns:r="http://schemas.openxmlformats.org/officeDocument/2006/relationships" id="274" r:id="R0343c78dcbba46b0"/>
    <p:sldId xmlns:r="http://schemas.openxmlformats.org/officeDocument/2006/relationships" id="275" r:id="Ra4e8bee4af1644f7"/>
    <p:sldId xmlns:r="http://schemas.openxmlformats.org/officeDocument/2006/relationships" id="276" r:id="R0d346bf990514632"/>
    <p:sldId xmlns:r="http://schemas.openxmlformats.org/officeDocument/2006/relationships" id="277" r:id="Rc2a670a00f244830"/>
    <p:sldId xmlns:r="http://schemas.openxmlformats.org/officeDocument/2006/relationships" id="278" r:id="R3bc03204853245e9"/>
    <p:sldId xmlns:r="http://schemas.openxmlformats.org/officeDocument/2006/relationships" id="279" r:id="Rc77e435ad5c840f8"/>
    <p:sldId xmlns:r="http://schemas.openxmlformats.org/officeDocument/2006/relationships" id="280" r:id="R361495277a4e49e6"/>
    <p:sldId xmlns:r="http://schemas.openxmlformats.org/officeDocument/2006/relationships" id="281" r:id="Rb02b6016b8b2452e"/>
    <p:sldId xmlns:r="http://schemas.openxmlformats.org/officeDocument/2006/relationships" id="282" r:id="R2e34a8fb34984fe9"/>
    <p:sldId xmlns:r="http://schemas.openxmlformats.org/officeDocument/2006/relationships" id="283" r:id="R4288199df81d4a68"/>
    <p:sldId xmlns:r="http://schemas.openxmlformats.org/officeDocument/2006/relationships" id="284" r:id="R99c83f51dbdb4df0"/>
    <p:sldId xmlns:r="http://schemas.openxmlformats.org/officeDocument/2006/relationships" id="285" r:id="Rce0eba6dc63d46a9"/>
    <p:sldId xmlns:r="http://schemas.openxmlformats.org/officeDocument/2006/relationships" id="286" r:id="R6352afb7f12a477e"/>
    <p:sldId xmlns:r="http://schemas.openxmlformats.org/officeDocument/2006/relationships" id="287" r:id="R7c508f8fa20d447b"/>
    <p:sldId xmlns:r="http://schemas.openxmlformats.org/officeDocument/2006/relationships" id="288" r:id="R9b45078fe54e4997"/>
    <p:sldId xmlns:r="http://schemas.openxmlformats.org/officeDocument/2006/relationships" id="289" r:id="Rc44b4edee29b49eb"/>
    <p:sldId xmlns:r="http://schemas.openxmlformats.org/officeDocument/2006/relationships" id="290" r:id="R7b58c0e58a224939"/>
    <p:sldId xmlns:r="http://schemas.openxmlformats.org/officeDocument/2006/relationships" id="291" r:id="R6f2d8d6eca7c46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4c8ddedc344b92" /><Relationship Type="http://schemas.openxmlformats.org/officeDocument/2006/relationships/slideMaster" Target="/ppt/slideMasters/slideMaster1.xml" Id="Rd6f5bcc8bba54f9b" /><Relationship Type="http://schemas.openxmlformats.org/officeDocument/2006/relationships/notesMaster" Target="/ppt/notesMasters/notesMaster1.xml" Id="Rc9729e2bc1af4b32" /><Relationship Type="http://schemas.openxmlformats.org/officeDocument/2006/relationships/presProps" Target="/ppt/presProps.xml" Id="Rdabd1d01c42045f1" /><Relationship Type="http://schemas.openxmlformats.org/officeDocument/2006/relationships/tableStyles" Target="/ppt/tableStyles.xml" Id="R03176ae0e23b4632" /><Relationship Type="http://schemas.openxmlformats.org/officeDocument/2006/relationships/slide" Target="/ppt/slides/slide1.xml" Id="Rfdfa91275e984157" /><Relationship Type="http://schemas.openxmlformats.org/officeDocument/2006/relationships/slide" Target="/ppt/slides/slide2.xml" Id="R05ed22eb62d341b4" /><Relationship Type="http://schemas.openxmlformats.org/officeDocument/2006/relationships/slide" Target="/ppt/slides/slide3.xml" Id="Rd26ef5dad59946c4" /><Relationship Type="http://schemas.openxmlformats.org/officeDocument/2006/relationships/slide" Target="/ppt/slides/slide4.xml" Id="Re519fcf5a5a24df2" /><Relationship Type="http://schemas.openxmlformats.org/officeDocument/2006/relationships/slide" Target="/ppt/slides/slide5.xml" Id="Rbc51e1821c74460d" /><Relationship Type="http://schemas.openxmlformats.org/officeDocument/2006/relationships/slide" Target="/ppt/slides/slide6.xml" Id="R2f0c6adbd29347fe" /><Relationship Type="http://schemas.openxmlformats.org/officeDocument/2006/relationships/slide" Target="/ppt/slides/slide7.xml" Id="Rb6faca7f0a5c483b" /><Relationship Type="http://schemas.openxmlformats.org/officeDocument/2006/relationships/slide" Target="/ppt/slides/slide8.xml" Id="Rba90cfd2644448f7" /><Relationship Type="http://schemas.openxmlformats.org/officeDocument/2006/relationships/slide" Target="/ppt/slides/slide9.xml" Id="Rea70722c85364f8e" /><Relationship Type="http://schemas.openxmlformats.org/officeDocument/2006/relationships/slide" Target="/ppt/slides/slide10.xml" Id="R77d4fec2fa56450c" /><Relationship Type="http://schemas.openxmlformats.org/officeDocument/2006/relationships/slide" Target="/ppt/slides/slide11.xml" Id="R545f041c0e904e37" /><Relationship Type="http://schemas.openxmlformats.org/officeDocument/2006/relationships/slide" Target="/ppt/slides/slide12.xml" Id="R57b70f7dd3dd40be" /><Relationship Type="http://schemas.openxmlformats.org/officeDocument/2006/relationships/slide" Target="/ppt/slides/slide13.xml" Id="R979c3e0632ca491d" /><Relationship Type="http://schemas.openxmlformats.org/officeDocument/2006/relationships/slide" Target="/ppt/slides/slide14.xml" Id="R2bc1b52b198b41e4" /><Relationship Type="http://schemas.openxmlformats.org/officeDocument/2006/relationships/slide" Target="/ppt/slides/slide15.xml" Id="R630cdeaba0f6485c" /><Relationship Type="http://schemas.openxmlformats.org/officeDocument/2006/relationships/slide" Target="/ppt/slides/slide16.xml" Id="Rb502cce6f565418f" /><Relationship Type="http://schemas.openxmlformats.org/officeDocument/2006/relationships/slide" Target="/ppt/slides/slide17.xml" Id="Re9dd9172bd4e4951" /><Relationship Type="http://schemas.openxmlformats.org/officeDocument/2006/relationships/slide" Target="/ppt/slides/slide18.xml" Id="Ra2f9c0a570704806" /><Relationship Type="http://schemas.openxmlformats.org/officeDocument/2006/relationships/slide" Target="/ppt/slides/slide19.xml" Id="R0343c78dcbba46b0" /><Relationship Type="http://schemas.openxmlformats.org/officeDocument/2006/relationships/slide" Target="/ppt/slides/slide20.xml" Id="Ra4e8bee4af1644f7" /><Relationship Type="http://schemas.openxmlformats.org/officeDocument/2006/relationships/slide" Target="/ppt/slides/slide21.xml" Id="R0d346bf990514632" /><Relationship Type="http://schemas.openxmlformats.org/officeDocument/2006/relationships/slide" Target="/ppt/slides/slide22.xml" Id="Rc2a670a00f244830" /><Relationship Type="http://schemas.openxmlformats.org/officeDocument/2006/relationships/slide" Target="/ppt/slides/slide23.xml" Id="R3bc03204853245e9" /><Relationship Type="http://schemas.openxmlformats.org/officeDocument/2006/relationships/slide" Target="/ppt/slides/slide24.xml" Id="Rc77e435ad5c840f8" /><Relationship Type="http://schemas.openxmlformats.org/officeDocument/2006/relationships/slide" Target="/ppt/slides/slide25.xml" Id="R361495277a4e49e6" /><Relationship Type="http://schemas.openxmlformats.org/officeDocument/2006/relationships/slide" Target="/ppt/slides/slide26.xml" Id="Rb02b6016b8b2452e" /><Relationship Type="http://schemas.openxmlformats.org/officeDocument/2006/relationships/slide" Target="/ppt/slides/slide27.xml" Id="R2e34a8fb34984fe9" /><Relationship Type="http://schemas.openxmlformats.org/officeDocument/2006/relationships/slide" Target="/ppt/slides/slide28.xml" Id="R4288199df81d4a68" /><Relationship Type="http://schemas.openxmlformats.org/officeDocument/2006/relationships/slide" Target="/ppt/slides/slide29.xml" Id="R99c83f51dbdb4df0" /><Relationship Type="http://schemas.openxmlformats.org/officeDocument/2006/relationships/slide" Target="/ppt/slides/slide30.xml" Id="Rce0eba6dc63d46a9" /><Relationship Type="http://schemas.openxmlformats.org/officeDocument/2006/relationships/slide" Target="/ppt/slides/slide31.xml" Id="R6352afb7f12a477e" /><Relationship Type="http://schemas.openxmlformats.org/officeDocument/2006/relationships/slide" Target="/ppt/slides/slide32.xml" Id="R7c508f8fa20d447b" /><Relationship Type="http://schemas.openxmlformats.org/officeDocument/2006/relationships/slide" Target="/ppt/slides/slide33.xml" Id="R9b45078fe54e4997" /><Relationship Type="http://schemas.openxmlformats.org/officeDocument/2006/relationships/slide" Target="/ppt/slides/slide34.xml" Id="Rc44b4edee29b49eb" /><Relationship Type="http://schemas.openxmlformats.org/officeDocument/2006/relationships/slide" Target="/ppt/slides/slide35.xml" Id="R7b58c0e58a224939" /><Relationship Type="http://schemas.openxmlformats.org/officeDocument/2006/relationships/slide" Target="/ppt/slides/slide36.xml" Id="R6f2d8d6eca7c46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2015402fbf45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e5e3e4e29747d8" /><Relationship Type="http://schemas.openxmlformats.org/officeDocument/2006/relationships/notesMaster" Target="/ppt/notesMasters/notesMaster1.xml" Id="R6862e528df764d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5d0070c1e94cd0" /><Relationship Type="http://schemas.openxmlformats.org/officeDocument/2006/relationships/notesMaster" Target="/ppt/notesMasters/notesMaster1.xml" Id="R290f916069ee40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0232294c0f4123" /><Relationship Type="http://schemas.openxmlformats.org/officeDocument/2006/relationships/notesMaster" Target="/ppt/notesMasters/notesMaster1.xml" Id="Rad6ff37a3cb048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53073146d245a1" /><Relationship Type="http://schemas.openxmlformats.org/officeDocument/2006/relationships/notesMaster" Target="/ppt/notesMasters/notesMaster1.xml" Id="R549f2869926f44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865f2689304477" /><Relationship Type="http://schemas.openxmlformats.org/officeDocument/2006/relationships/notesMaster" Target="/ppt/notesMasters/notesMaster1.xml" Id="R2b626663cbd94d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799bfc7d0d4a3c" /><Relationship Type="http://schemas.openxmlformats.org/officeDocument/2006/relationships/notesMaster" Target="/ppt/notesMasters/notesMaster1.xml" Id="R6425427ce7344b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1a3586e5a647f1" /><Relationship Type="http://schemas.openxmlformats.org/officeDocument/2006/relationships/notesMaster" Target="/ppt/notesMasters/notesMaster1.xml" Id="R56f3a00e9a7e4d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b1047af8424943" /><Relationship Type="http://schemas.openxmlformats.org/officeDocument/2006/relationships/notesMaster" Target="/ppt/notesMasters/notesMaster1.xml" Id="R8c7b87332c3f4a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e3064a10224554" /><Relationship Type="http://schemas.openxmlformats.org/officeDocument/2006/relationships/notesMaster" Target="/ppt/notesMasters/notesMaster1.xml" Id="Rd1f947efebe845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fb170795114d52" /><Relationship Type="http://schemas.openxmlformats.org/officeDocument/2006/relationships/notesMaster" Target="/ppt/notesMasters/notesMaster1.xml" Id="R7dc6e929e68f46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776371cbf34f07" /><Relationship Type="http://schemas.openxmlformats.org/officeDocument/2006/relationships/notesMaster" Target="/ppt/notesMasters/notesMaster1.xml" Id="Rf8f4790514ef4a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26be43a72e41b1" /><Relationship Type="http://schemas.openxmlformats.org/officeDocument/2006/relationships/notesMaster" Target="/ppt/notesMasters/notesMaster1.xml" Id="R610fe637611c4d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46ec26e1b7411a" /><Relationship Type="http://schemas.openxmlformats.org/officeDocument/2006/relationships/notesMaster" Target="/ppt/notesMasters/notesMaster1.xml" Id="Ra16f3e2abd2744c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35950b94485429e" /><Relationship Type="http://schemas.openxmlformats.org/officeDocument/2006/relationships/notesMaster" Target="/ppt/notesMasters/notesMaster1.xml" Id="Rcecd791515c64b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0dc931037948ca" /><Relationship Type="http://schemas.openxmlformats.org/officeDocument/2006/relationships/notesMaster" Target="/ppt/notesMasters/notesMaster1.xml" Id="R8a1f0682015a47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1c72998b6c04f07" /><Relationship Type="http://schemas.openxmlformats.org/officeDocument/2006/relationships/notesMaster" Target="/ppt/notesMasters/notesMaster1.xml" Id="R5af5d74d005148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4ab9c705844607" /><Relationship Type="http://schemas.openxmlformats.org/officeDocument/2006/relationships/notesMaster" Target="/ppt/notesMasters/notesMaster1.xml" Id="R8a9a4a31a83f434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d261a42c0404cab" /><Relationship Type="http://schemas.openxmlformats.org/officeDocument/2006/relationships/notesMaster" Target="/ppt/notesMasters/notesMaster1.xml" Id="R92a7f8c778ff4d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047ec3dadb24b9e" /><Relationship Type="http://schemas.openxmlformats.org/officeDocument/2006/relationships/notesMaster" Target="/ppt/notesMasters/notesMaster1.xml" Id="R7571762e76894c9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02260134b3465f" /><Relationship Type="http://schemas.openxmlformats.org/officeDocument/2006/relationships/notesMaster" Target="/ppt/notesMasters/notesMaster1.xml" Id="Re66eebdf03f744e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dc3f38bd45e4df4" /><Relationship Type="http://schemas.openxmlformats.org/officeDocument/2006/relationships/notesMaster" Target="/ppt/notesMasters/notesMaster1.xml" Id="Rf07357113e8645f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86e02ac5b894ba7" /><Relationship Type="http://schemas.openxmlformats.org/officeDocument/2006/relationships/notesMaster" Target="/ppt/notesMasters/notesMaster1.xml" Id="R3e80ed5792f74f2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4ae51b4e1c54d81" /><Relationship Type="http://schemas.openxmlformats.org/officeDocument/2006/relationships/notesMaster" Target="/ppt/notesMasters/notesMaster1.xml" Id="Rd679527db34f42d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92f5437a72489f" /><Relationship Type="http://schemas.openxmlformats.org/officeDocument/2006/relationships/notesMaster" Target="/ppt/notesMasters/notesMaster1.xml" Id="R74034e910fce4da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170896d52054fdd" /><Relationship Type="http://schemas.openxmlformats.org/officeDocument/2006/relationships/notesMaster" Target="/ppt/notesMasters/notesMaster1.xml" Id="R557e8b37c9a941e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fd9a3c9a6f5464e" /><Relationship Type="http://schemas.openxmlformats.org/officeDocument/2006/relationships/notesMaster" Target="/ppt/notesMasters/notesMaster1.xml" Id="R92209539d1c74c3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460cb2447d741ae" /><Relationship Type="http://schemas.openxmlformats.org/officeDocument/2006/relationships/notesMaster" Target="/ppt/notesMasters/notesMaster1.xml" Id="Rb5292ab9d265447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cbcf092322248bc" /><Relationship Type="http://schemas.openxmlformats.org/officeDocument/2006/relationships/notesMaster" Target="/ppt/notesMasters/notesMaster1.xml" Id="R704e24adba2b4c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21731a09e3d4096" /><Relationship Type="http://schemas.openxmlformats.org/officeDocument/2006/relationships/notesMaster" Target="/ppt/notesMasters/notesMaster1.xml" Id="Rb6b0b3d5f5544e3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b5c1fa646664e5d" /><Relationship Type="http://schemas.openxmlformats.org/officeDocument/2006/relationships/notesMaster" Target="/ppt/notesMasters/notesMaster1.xml" Id="R4bc251f07f2b44e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4e8e54772a9400d" /><Relationship Type="http://schemas.openxmlformats.org/officeDocument/2006/relationships/notesMaster" Target="/ppt/notesMasters/notesMaster1.xml" Id="Rc04ba05295614cb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7cfa17808454e5f" /><Relationship Type="http://schemas.openxmlformats.org/officeDocument/2006/relationships/notesMaster" Target="/ppt/notesMasters/notesMaster1.xml" Id="Re776549a1a054da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6f4960a7c534ac1" /><Relationship Type="http://schemas.openxmlformats.org/officeDocument/2006/relationships/notesMaster" Target="/ppt/notesMasters/notesMaster1.xml" Id="R54d41d20c918485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fd97bea100941d5" /><Relationship Type="http://schemas.openxmlformats.org/officeDocument/2006/relationships/notesMaster" Target="/ppt/notesMasters/notesMaster1.xml" Id="R63b4e0c3f54b45a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14efca7419c4e3c" /><Relationship Type="http://schemas.openxmlformats.org/officeDocument/2006/relationships/notesMaster" Target="/ppt/notesMasters/notesMaster1.xml" Id="R67039fd12b2e4b0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d2077a0df444f7d" /><Relationship Type="http://schemas.openxmlformats.org/officeDocument/2006/relationships/notesMaster" Target="/ppt/notesMasters/notesMaster1.xml" Id="Rb5eee71d327e49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我们讨论一个教育问题：当AI能够参与越来越多认知工作，教师如何判断一种安排对学生有什么价值。请大家带着自己最近的一节课来听，尤其是一项学生用了AI、作品也完成得不错，但你仍不确定他们学到了什么的任务。我们会围绕同一个科学探究情境，三次补充信息、三次重新判断。讲座中的情境是为了讨论而构造的，不是某位教师课堂的实证结果。我们的目标，是带走一套能用于下一次备课和教研的追问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设想一个课堂，学生围绕光照条件与生态瓶变化开展探究。AI给出一份看起来完整的方案，小组直接采用，完成搭建和后续观察，报告也很整齐。这里没有提供真正的实验数据，我们暂时只知道作品和活动的外观。教师很容易迅速作出两种判断：有人觉得效率提高了，有人觉得学生被替代了。先保留这种直觉，下一页请大家说出还想知道的信息。生态瓶只是贯穿案例，各学科教师可以把它换成作文、数学解题或项目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给听众30秒独立想一想，再请两位教师各用一句话回应。追问时不急于评价答案，可以问：你为什么需要这条信息？它会怎样改变你的判断？听众可能提出学生年龄、此前经验、教学目标、是否比较方案、能否解释选择、以后能否运用。把这些回答口头归到目标、起点、过程和后续证据四类。强调当前信息不足以断定成功或失败。我们正在练习把一个笼统立场转化为可以进一步查明的教学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展示三种教学用途，避免把它们排成从低到高的等级。第一种可能让初学者进入原本无法把握的活动；第二种要求特别留意AI进入后学生是否仍有机会练习目标工作；第三种可能让比较的范围扩大。每一种都只是设计意图，需要进一步看学生实际做了什么。教师会知道，好的示范有时比连续追问更能帮助学生，开放任务有时也会使学生迷失。AI使这种判断更需要被说清楚，因为同一个界面很容易承担不同性质的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问是今天的主线。任务完成有实际价值，但人的理解和能力发生了什么，需要另行考察。Cukurova关于混合智能的概念论文已经提出这一层区分，因此我们把它作为思想基础，而不声称这是新的发现。我们进一步把它转成教师可以在具体课堂里运用的问题。人的发展包括独立理解、迁移，也可能包括借助AI提出更好的问题、开展原来难以完成的探究。接下来先讨论目标，再进入学习机会和具体人机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教师选一项自己所在学科长期保留的任务：它为什么值得学生亲历？答案可以是形成概念、练习判断、获得某种经验，也可以是为更复杂的实践打基础。原有任务并不因为存在多年就自动需要原样保留，也不因为AI能完成就失去价值。例如整理资料可能帮助初学者看见分类差异，但在另一个单元里也可能只是耗时环节。我们需要讨论其在这一学习阶段的作用。三种选择经常会在同一节课中并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用三个层次帮助我们组织观察，而不是提供一条已经被验证的自动因果链。好作品可能来自学生的理解、AI的贡献、同伴的帮助，或几者的共同作用。看到学生解释，也还需要判断解释是否进入了实际决定。后续表现则帮助我们考察变化是否超出当下支持条件。把三层连起来，能够避免只拿一个结果为整次教学背书。教师并不需要每节课都做大型研究，但可以围绕一个关键目标，有意识地多收集一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支持理解为帮助学生进入活动。例如学生已经观察到生态瓶的变化，却难以整理连续记录。AI协助整理后，学生可能有机会比较不同时间的变化，并提出解释。我们仍然需要看他们是否读懂整理结果，是否依据记录作出判断。对于阅读、表达或身体操作存在障碍的学生，支持还可能打开参与机会。不要把借助帮助一概理解为能力不足；重点是帮助如何与目标活动连接，以及下一步学生能够怎样参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绕过本身不等于教育损失。学生不需要在每个任务中亲自完成每一种操作。关键是被绕过的活动与当前目标有什么关系。如果目标是学习怎样解释证据，自动整理版式可能合适；如果目标是从杂乱信息中形成分类，自动整理就可能承担了需要练习的工作。即使是目标活动，也可以通过示范和后续练习分阶段安排。教师需要追问的是机会是否以其他形式重新出现，而不是简单计算AI替学生做了几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把目光从原有任务转向新的活动。AI能够帮助生成备选解释、转换表达形式、模拟不同立场。这样的条件可能使学生提出以前难以处理的问题。比如生态瓶研究不再止于完成一份方案，而可以讨论为什么不同方案得到不同证据、哪些解释还需要更多观察。我们不把可能性当成已经实现的学习结果，也不要求所有课堂都采用最复杂的任务。教师的作用是把技术提供的可能组织成学生能够进入、有意义且可持续的活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个例子是需要留意的可能情境，不是对学生的固定分类。某个学生在一个环节得到帮助，也可能在另一个环节失去发言空间。请资深教师回想小组合作中常见的分工：有人操作、有人记录、有人解释，参与方式未必相同。AI加入后还可能改变这种分工。我们需要观察机会怎样分布，并考虑是否允许不同的进入方式。学生主动改变任务方向也值得询问理由，不能仅因没有按预设路线走就判断学习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建议用时：75秒。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已有框架已经关注教学、人的能动性和教师专业学习。UNESCO提供规范性发展方向；Sun等的框架聚焦大学教师，通过文献综合和专家咨询形成，不能直接视作中小学成效验证。我们尊重这些基础，接着追问能力怎样在具体情境里被运用。教师能够配置复杂AI协作，并不意味着每节课都应采用相同的形式。专业判断需要说明此时为什么这样安排，期待学生经历什么，怎样知道实际发生了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能力框架进入课堂安排。我们通常用工具、助教、伙伴描述AI，但角色名称不能告诉我们每一个决定是谁作出的。教师、学生、同伴、AI以及平台设置，都可能影响问题、标准和行动顺序。这里不要求把所有决定都交给学生，而是看这些安排是否与当前目标相称。可以请一位听众举一个具体例子：学生选择了按钮，但真正的备选项是谁规定的？这个例子能帮助大家看见自由操作和有意义的选择之间的联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表是一种可讨论的教学安排，并非最优模板。请先沿着一项工作看：谁提出了想法，谁提供判断依据，谁作出决定，谁实际执行。不要仅依据最后是谁打字来归属全部工作。某些阶段教师直接规定标准很有必要，另一些阶段让学生形成和讨论标准更贴近目标。表格的第三列提醒我们检验安排是否真实产生了学习后果。教师也可以在备课时只选一项关键工作，减少记录负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、提示词、角色、流程、界面和课堂关系并不是同一类事物，但它们共同影响学生的经历。比如提示词要求AI先追问，界面却允许一键生成最终报告；或者流程要求同伴讨论，课堂时间却不足以完成。这些配置可能产生不同方向的作用。讲座不需要展开技术术语，只需让教师看见：一次教学选择通常要跨几个环节才能落实。我们可以把这理解为课堂的整体安排，再通过实际互动检查它的后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把完整示范理解为一种可选择的支持。它可能帮助初学者看见结构，也可能成为有经验学生批判比较的对象。我们不预设示范之后一定发生学习：学生可能机械复述比较结果，也可能真正用它来改动方案。教师可以观察解释是否有依据、迁移时是否能够调整。与其给所有课堂设定一个永远不能直接回答的规则，更有意义的是说明示范在此处的功能，并为后续活动留下清楚的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不批评提问法，而是提醒我们观察提问与实际思考之间的关系。结构化追问对一些学生可能非常有帮助；问题在于，我们不能仅凭对话轮数推断推理质量。假如AI已经规定所有步骤，学生只需要填出很小的答案，教师需要检验学生是否理解整体关系。相反，学生也可能主动改写问题、指出矛盾、选择另一条路线。我们要识别这些具体活动，并根据学生当前需要决定下一阶段是否改变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个阶段只是帮助讨论的一种安排，不能当作所有学生都要按同一节奏走的能力等级。有些学生需要回到示范，有些学生能较早进入开放任务，某些复杂工作则可能长期保留协作支持。逐步改变支持的目的，是让学生以更有理解、更有根据的方式参与。独立完成是一类可能目标，能够判断何时和怎样借助AI也是一类目标。下一页把这些思考放回生态瓶案例，比较不同组织方式的适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听众选一条路径，并说出自己的条件。鼓励他们提出第四种安排，例如教师示范一部分、同伴先比较、AI最后补充。每条路径都要说明预期活动与可观察证据之间的关系。不要把表中的证据要求变成机械打勾：学生说出解释之后，还需要关注解释质量与是否进入实践。这个表格也提示，比较两个课堂时要了解目标、起点、时间和支持条件，避免将所有差异归到AI角色名称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为教学讨论补充的两种假设过程，不是实测组间结果。请给听众40秒与邻座交流：新信息让你改变了什么判断？我们可以更有根据地说第二组发生了某些比较与修改活动，但还不能证明所有组员都形成了持久理解。第一组的复述也需要结合学生起点判断，它可能处于某种初步学习阶段。请追问后续会安排什么任务、观察什么表现。这样把判断推进一步，又保留尚不清楚的部分，进入教师专业判断的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面我们比较了几种人机安排。现在请大家把注意力移到选择背后的理由。同样让AI提供完整方案，对于刚接触实验设计的学生，教师可能希望先帮助他们读懂方案；对于正在练习控制变量的学生，教师则需要判断方案是否让他们绕过了关键决定。两种判断都必须联系具体目标和学生起点。第三项尤其容易被忽略：我预计学生会因此做什么？是解释方案、比较备选，还是主要照着执行？我们可以在备课时写下一个能够观察的预期，再在课后回看。专业判断允许不确定，但需要说清依据，也愿意接受课堂证据的修正。接下来，我们看哪些学生表现值得促使教师改变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仍然是我们设定的讨论情境，并非实际研究结果。假设教师听到学生正确说出“控制变量”，但在方案里没有发现两组条件的差异。我们第一反应可能是学生没有理解，不过还需要考虑其他解释：他们看到了却没有被问到，或者小组内只有一个人负责检查。面对这种情况，调整之前可以先增加一次有针对性的观察，例如请不同成员指出某一处差异，并解释它为什么重要。这能帮助我们决定接下来应补充示范、重新分配回应机会，还是让学生比较方案。请大家想一想，你通常依据什么判断“需要介入了”？完成速度、学生表情和作品正确率都可能有用，但各自只能支持一部分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大家先读一下这条句式。它本身可以很有帮助，尤其当学生已经形成一些想法，却不知道如何表达时。问题在于，同一句式也可能被学生或AI填得十分漂亮，而其中的因果关系仍然不清楚。我们不能根据文字更完整就断定推理提高，也不能因此否定句式支架。可以进一步请学生指出这句话来自哪一次观察，说明为什么这条观察支持结论，再提供一条不同的观察，让他解释判断是否需要改变。这样的检查仍然需要考虑语言能力，允许学生通过口述、指认、画图或操作表达。这里要辨认的是支架具体帮助了哪一步。下一页我们把这些零散线索放回一个完整的证据关系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每天都在接触证据，只是这些材料经常被混在一起使用。一个配置得很好的智能体，可以说明我们的设计意图；它不能单独说明学生经历了预期活动。课堂记录帮助我们看到互动，但学生也可能在纸上讨论、私下思考或接受了教师口头支持。作品版本能够显示发生了哪些修改，却未必说明是谁理解了修改的理由。后续任务又提供了另一种信息，但仍需要交代是否使用AI、间隔多久、任务改变了什么。我们不需要每节课都收集完整研究材料，可以围绕一个最关心的判断，选择两三种互相补充的线索。关键是让材料回答它能够回答的问题，避免从一张漂亮作品直接跳到每个人都掌握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描述的是一种探索思路，三个步骤仍是示例，不代表我们已经完成了这样的研究。课堂尝试的价值，有时在于让原来的问题变得更准确。最初我们可能问，怎样让AI给出更好的提示；观察之后发现，提示质量只解释了一部分，学生是否有回应机会、回应能否影响小组决定，也很关键。于是下一次改动会同时涉及教学安排与我们观察学习的方法。做教研时，可以简单留下四项记录：当时为什么这样做，预期发生什么，实际看到什么，下一次准备改变什么。也记录那些改变了安排却没有出现预期活动的情况。这些材料能让探索逐渐形成有条件的经验，并帮助同事判断哪些做法值得在自己的班级尝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刚才一直讨论学生，其实同样的问题也适用于教师。AI帮助我们更快形成教案，可能腾出时间分析学生，也可能让我们少经历一次认真推敲教学难点的过程。具体作用取决于后续怎样使用。例如，可以请AI为同一个目标提出不同安排，再由教师结合班级实际解释取舍；也可以回到几份学生原始作品，检查AI归纳的困难有没有遗漏。这里不要求教师记录所有操作，只需留下一个重要判断及其依据。下一次遇到新班级或新单元时，再看自己能否据此作出更合适的调整。教案写得更快、自信提高，都是有意义的信息；教师专业理解怎样变化，还需要通过判断理由与后续实践来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大家回想一项自己经常坚持让学生亲自完成的工作。我们保留它，是因为其中包含重要的理解过程，还是主要因为过去一直这样做？以生态瓶任务为例，如果重点是比较证据，AI帮助整理记录格式可能让学生更容易进入讨论；如果重点是理解怎样设计记录表，完整代做就改变了学习活动。同样，有价值的困难也需要处在学生能够获得支持并逐步参与的范围内。教师可以先示范，再共同完成，再给一次更独立的机会，也可以根据具体情况采用其他路径。我们无需把学生承担工作的数量当成统一标准，而应当解释这项承担与发展目标之间的关系。下面转到证据：当下做得更好，后续会发生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等在土耳其一所高中对近千名学生开展数学实验。两种AI设计都提高练习成绩；普通聊天界面组在随后无AI测验中表现更低，带教学保护的设计大幅减轻这一负面影响。教学保护组并未显示随后测验的显著正向收益，因此不能说它已经促进长期发展。其设计同时包含教师提供的答案、常见错误和反馈提示，不能把差异简单归因于苏格拉底提问。这是特定情境与短期结果。对教师的启发，是把支持在场的表现、改变支持条件后的表现，以及支持具体怎样设计一并交代。我们引用这一研究来说明证据区分的必要，不把它推广成所有AI课堂的统一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讨论AI教学时，我们很容易只追问撤去AI以后还能不能做。这个问题对某些目标十分重要，例如学生是否理解控制变量的理由。但我们也可能希望学生学会借助工具与同伴开展更复杂的探究，这时AI在场的表现同样值得研究。关键在于明确评价对象。如果评价个人理解，需要能够辨认个人解释与选择的证据；如果评价合作探究，需要观察问题怎样提出、贡献怎样被检查和组织，以及最终判断怎样形成。两类能力可以彼此促进，但一种表现不能自动证明另一种已经形成。讲座的目标不是给所有课堂设定统一的终点，而是帮助教师说明自己追求哪一种发展，并选择与之相配的观察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我们尝试一种新安排，并看到更好的作品时，通常很想把它归因于这次改动。这是一条值得继续检验的解释，但还要留意其他变化。例如，第二次学生更熟悉任务，教师也许增加了口头指导，小组成员的分工或练习时间发生了变化。日常教研不必每次都做严格实验，却可以把这些条件记录下来，让结论与证据相称。反例也很有价值：同样的安排为何没有帮助某些学生？有时它提醒我们需要改变支持，有时说明原先预期的作用过程并没有发生。请大家特别留意时间尺度。当堂的成功、下周的运用和跨单元的迁移，分别提供不同信息。我们可以先做一个小而清楚的后续检查，再逐步积累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使用平台数据时特别需要注意的一页。日志可以准确记录某些操作，却不会自动记录全部学习。学生没有在AI对话框里解释理由，可能是在纸上画图、与同伴讨论，或者已经得到教师的口头追问。另一方面，小组提交了很好的理由，也可能主要来自其中一位成员。我们需要同时避免两种跳跃：把记录里没有出现的活动判断为不存在，把集体产出归为每个人都已经掌握。可行的补充不一定很重，例如随机请不同成员解释一个决定，让学生独立标注方案中的一个问题，或者允许通过操作展示理解。尤其要给表达速度、语言背景不同的学生合适的表现机会。接下来，我们加入新材料，重新判断开场的课堂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注意，这两条是为讨论构造的材料，不是我们的研究结果。它们故意提供不完整且不同层面的证据。第一条来自个人无AI新任务，可以支持学生识别某种设计问题的判断，但还不能说明他能够解释或独立修改。第二条来自小组与AI共同探究，显示一个值得继续观察的提问方向，但我们还不知道每位成员怎样理解，也不知道补测是否真的进入后续决定。请和身边同伴交流一分钟：现在，你会保留开场时的判断吗？下一课首先需要改变哪一项安排，或者补充哪一种观察？我们不要求所有人选同一个方案。请说明自己的依据，并提出一条可能让你再次改变决定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四个入口分别对应讲座中的不同问题。UNESCO框架帮助我们理解教师需要发展的能力，Cukurova的讨论将注意力放在人类认知与发展的关系上，Sun等的框架把GenAI素养与课程设计、教学和评价连接起来，研究对象是大学教师，Bastani和同事的研究提示我们交代支持方式与测量条件。大家课后可以根据自己最关心的问题选择阅读。这些来源为讨论提供依据，也各自有适用范围。今天的五问卡是我们综合讨论形成的备课与教研工具，不是一套经过完整验证的测评量表，也不会直接给出课堂好坏的分数。接下来，我们把这些问题带回每个人熟悉的一节课，形成一个可以尝试的小改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卡可以单独保存，用于备课，也可以放在教研会议里。使用时不必写长篇回答，选一个关键环节就够了。第一问把目标说得具体，例如学生能够解释一个方案为什么能帮助比较，而不是只写“培养高阶思维”。第二问说明需要经历的活动。第三问追踪AI改变了什么，也容纳新的活动和目标。第四问提醒我们关注不同学生，不把小组平均表现当成所有人的经验。第五问让设计保持开放：我准备看见什么，如果没有发生，将怎样调整？教师之间最有价值的交流，往往出现在同一个目标下选择了不同安排的时候。五问卡可以让这些差异被说明，也帮助大家明确下一次共同观察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请选一节近期真的要上的课。范围可以很小，例如实验方案讨论、作文修改或一段阅读比较。第一分钟只写两句话：希望学生能够做什么，为此需要经历什么活动。第二分钟明确AI介入的位置，以及学生和同伴还会怎样参与，然后选一处最值得调整的安排。第三分钟请和身边同伴交换想法，重点听对方准备用什么观察来判断，而不急着推荐工具。如果某位教师暂时没有使用AI的计划，也可以讨论一个假设的介入点。最后请在纸上圈出一个下一周能够尝试的小改动。主持时可报两次时间，让讨论按步推进；如果有余量，邀请一位教师用二十秒分享他的改动和修订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建议用时：205秒。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我们的题目，这场讲座给出的是一个持续需要教师参与的问题。不同学科、学生和阶段，可以有不同的教育目标。我们共同追问的是，这些目标怎样进入真实的课堂安排，又怎样通过学生的活动和后续表现得到检验。AI提供了新的资源，也改变了谁提出问题、谁解释证据、谁决定下一步。教师的专业判断会在这些具体选择中发挥作用，并随着实践积累而发展。最后留一点时间，请大家提出一个仍然拿不准的问题，最好来自真实课堂。我们可以先讨论还需要知道哪些信息，再讨论采取什么行动。如果你只带走一个问题，我希望是：这项安排让学生获得了怎样的发展机会，我凭什么这样判断？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384c9cca1c45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f41a52d96d442c" /><Relationship Type="http://schemas.openxmlformats.org/officeDocument/2006/relationships/slideLayout" Target="/ppt/slideLayouts/slideLayout1.xml" Id="Rb1c47985622e49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c47985622e49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47f17c38b42ec" /><Relationship Type="http://schemas.openxmlformats.org/officeDocument/2006/relationships/image" Target="/ppt/media/image.png" Id="R6435e457b05a4f14" /><Relationship Type="http://schemas.openxmlformats.org/officeDocument/2006/relationships/notesSlide" Target="/ppt/notesSlides/notesSlide1.xml" Id="R4aa952a256a543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a2eb0be1b4aa0" /><Relationship Type="http://schemas.openxmlformats.org/officeDocument/2006/relationships/image" Target="/ppt/media/image2.png" Id="R4bfa3e4836c9417c" /><Relationship Type="http://schemas.openxmlformats.org/officeDocument/2006/relationships/notesSlide" Target="/ppt/notesSlides/notesSlide2.xml" Id="R3eda4165946b44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5b434d5ef4793" /><Relationship Type="http://schemas.openxmlformats.org/officeDocument/2006/relationships/image" Target="/ppt/media/image3.png" Id="R6d7375447d3e4283" /><Relationship Type="http://schemas.openxmlformats.org/officeDocument/2006/relationships/notesSlide" Target="/ppt/notesSlides/notesSlide3.xml" Id="R8e772b5060df4b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10679539e4b3a" /><Relationship Type="http://schemas.openxmlformats.org/officeDocument/2006/relationships/image" Target="/ppt/media/image4.png" Id="Red67761e1c964a6e" /><Relationship Type="http://schemas.openxmlformats.org/officeDocument/2006/relationships/notesSlide" Target="/ppt/notesSlides/notesSlide4.xml" Id="R9cd2e43e893d48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ae0679de34207" /><Relationship Type="http://schemas.openxmlformats.org/officeDocument/2006/relationships/image" Target="/ppt/media/image5.png" Id="R04158cc3d524437a" /><Relationship Type="http://schemas.openxmlformats.org/officeDocument/2006/relationships/notesSlide" Target="/ppt/notesSlides/notesSlide5.xml" Id="Rd66abbaacd0a4b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5d13889474d37" /><Relationship Type="http://schemas.openxmlformats.org/officeDocument/2006/relationships/image" Target="/ppt/media/image6.png" Id="R5ed6461dc6704e3c" /><Relationship Type="http://schemas.openxmlformats.org/officeDocument/2006/relationships/notesSlide" Target="/ppt/notesSlides/notesSlide6.xml" Id="Rf64ed5b57e1a4e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33f15ff564750" /><Relationship Type="http://schemas.openxmlformats.org/officeDocument/2006/relationships/image" Target="/ppt/media/image7.png" Id="Rae399868b1b64864" /><Relationship Type="http://schemas.openxmlformats.org/officeDocument/2006/relationships/notesSlide" Target="/ppt/notesSlides/notesSlide7.xml" Id="Rdc9554eafc764e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308dc070446e1" /><Relationship Type="http://schemas.openxmlformats.org/officeDocument/2006/relationships/image" Target="/ppt/media/image8.png" Id="R6202162da6804e5e" /><Relationship Type="http://schemas.openxmlformats.org/officeDocument/2006/relationships/notesSlide" Target="/ppt/notesSlides/notesSlide8.xml" Id="R63bb33e808cc40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c4d91e3a84ecf" /><Relationship Type="http://schemas.openxmlformats.org/officeDocument/2006/relationships/image" Target="/ppt/media/image9.png" Id="R1ab3358c3eae405f" /><Relationship Type="http://schemas.openxmlformats.org/officeDocument/2006/relationships/notesSlide" Target="/ppt/notesSlides/notesSlide9.xml" Id="R17154f3e35e049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7a74ece3d4bbd" /><Relationship Type="http://schemas.openxmlformats.org/officeDocument/2006/relationships/image" Target="/ppt/media/image10.png" Id="R2d29d5f5dccd4411" /><Relationship Type="http://schemas.openxmlformats.org/officeDocument/2006/relationships/notesSlide" Target="/ppt/notesSlides/notesSlide10.xml" Id="R1e8b0baa483945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191443bfe42ac" /><Relationship Type="http://schemas.openxmlformats.org/officeDocument/2006/relationships/image" Target="/ppt/media/image11.png" Id="Rf5677011befd48b9" /><Relationship Type="http://schemas.openxmlformats.org/officeDocument/2006/relationships/notesSlide" Target="/ppt/notesSlides/notesSlide11.xml" Id="R8f3bab39334c4b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2f783b9714ea0" /><Relationship Type="http://schemas.openxmlformats.org/officeDocument/2006/relationships/image" Target="/ppt/media/image12.png" Id="R5cbbfeb694f648e7" /><Relationship Type="http://schemas.openxmlformats.org/officeDocument/2006/relationships/notesSlide" Target="/ppt/notesSlides/notesSlide12.xml" Id="R3fce5541f1cd47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da2b86edf4144" /><Relationship Type="http://schemas.openxmlformats.org/officeDocument/2006/relationships/image" Target="/ppt/media/image13.png" Id="Rd9fdfc19ee2c420b" /><Relationship Type="http://schemas.openxmlformats.org/officeDocument/2006/relationships/notesSlide" Target="/ppt/notesSlides/notesSlide13.xml" Id="R3da33d2623e24f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a867041d94d19" /><Relationship Type="http://schemas.openxmlformats.org/officeDocument/2006/relationships/image" Target="/ppt/media/image14.png" Id="R884bbbd713c647fc" /><Relationship Type="http://schemas.openxmlformats.org/officeDocument/2006/relationships/notesSlide" Target="/ppt/notesSlides/notesSlide14.xml" Id="Rdc2601796b724c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b23f5b82c4678" /><Relationship Type="http://schemas.openxmlformats.org/officeDocument/2006/relationships/image" Target="/ppt/media/image15.png" Id="R70cb6648ed81431e" /><Relationship Type="http://schemas.openxmlformats.org/officeDocument/2006/relationships/notesSlide" Target="/ppt/notesSlides/notesSlide15.xml" Id="R39b3515a4963463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19abad947413a" /><Relationship Type="http://schemas.openxmlformats.org/officeDocument/2006/relationships/image" Target="/ppt/media/image16.png" Id="R2e3902c301714916" /><Relationship Type="http://schemas.openxmlformats.org/officeDocument/2006/relationships/notesSlide" Target="/ppt/notesSlides/notesSlide16.xml" Id="R786f9e499da0479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f493e1fe24a8b" /><Relationship Type="http://schemas.openxmlformats.org/officeDocument/2006/relationships/image" Target="/ppt/media/image17.png" Id="R62590751887e4ec7" /><Relationship Type="http://schemas.openxmlformats.org/officeDocument/2006/relationships/notesSlide" Target="/ppt/notesSlides/notesSlide17.xml" Id="R694d858dd4114c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9a09ef4914d76" /><Relationship Type="http://schemas.openxmlformats.org/officeDocument/2006/relationships/image" Target="/ppt/media/image18.png" Id="Rda26a5a9f3f94d58" /><Relationship Type="http://schemas.openxmlformats.org/officeDocument/2006/relationships/notesSlide" Target="/ppt/notesSlides/notesSlide18.xml" Id="R27ba81368ea4408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ad7165edd42a2" /><Relationship Type="http://schemas.openxmlformats.org/officeDocument/2006/relationships/image" Target="/ppt/media/image19.png" Id="R3e03c9e7434c4e04" /><Relationship Type="http://schemas.openxmlformats.org/officeDocument/2006/relationships/notesSlide" Target="/ppt/notesSlides/notesSlide19.xml" Id="Re969da2a9af9432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db7b7ccc7400c" /><Relationship Type="http://schemas.openxmlformats.org/officeDocument/2006/relationships/image" Target="/ppt/media/image20.png" Id="Rff4a8b9cf1ba43ca" /><Relationship Type="http://schemas.openxmlformats.org/officeDocument/2006/relationships/notesSlide" Target="/ppt/notesSlides/notesSlide20.xml" Id="Rc71f634de97748c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c8757c691493f" /><Relationship Type="http://schemas.openxmlformats.org/officeDocument/2006/relationships/image" Target="/ppt/media/image21.png" Id="R08dc472935a043f5" /><Relationship Type="http://schemas.openxmlformats.org/officeDocument/2006/relationships/notesSlide" Target="/ppt/notesSlides/notesSlide21.xml" Id="R68012b81ca7e4bd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15ecad82b4867" /><Relationship Type="http://schemas.openxmlformats.org/officeDocument/2006/relationships/image" Target="/ppt/media/image22.png" Id="Rdc268b93c07148a7" /><Relationship Type="http://schemas.openxmlformats.org/officeDocument/2006/relationships/notesSlide" Target="/ppt/notesSlides/notesSlide22.xml" Id="Ra58a0cf476fd41c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f5a81a7454f14" /><Relationship Type="http://schemas.openxmlformats.org/officeDocument/2006/relationships/image" Target="/ppt/media/image23.png" Id="R1076bf1937ed45e7" /><Relationship Type="http://schemas.openxmlformats.org/officeDocument/2006/relationships/notesSlide" Target="/ppt/notesSlides/notesSlide23.xml" Id="R9c4d4665fd44410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5b92f42d44c81" /><Relationship Type="http://schemas.openxmlformats.org/officeDocument/2006/relationships/image" Target="/ppt/media/image24.png" Id="R4a5ae649fe534ff4" /><Relationship Type="http://schemas.openxmlformats.org/officeDocument/2006/relationships/notesSlide" Target="/ppt/notesSlides/notesSlide24.xml" Id="R192862e0bcbf4af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ae67dc5144233" /><Relationship Type="http://schemas.openxmlformats.org/officeDocument/2006/relationships/image" Target="/ppt/media/image25.png" Id="Rf381ddeb138f4234" /><Relationship Type="http://schemas.openxmlformats.org/officeDocument/2006/relationships/notesSlide" Target="/ppt/notesSlides/notesSlide25.xml" Id="R886426a71502485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5df74ee254865" /><Relationship Type="http://schemas.openxmlformats.org/officeDocument/2006/relationships/image" Target="/ppt/media/image26.png" Id="R09d193b8120b4ce6" /><Relationship Type="http://schemas.openxmlformats.org/officeDocument/2006/relationships/notesSlide" Target="/ppt/notesSlides/notesSlide26.xml" Id="Rd1135014c3d0401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2da4a4e0b467b" /><Relationship Type="http://schemas.openxmlformats.org/officeDocument/2006/relationships/image" Target="/ppt/media/image27.png" Id="R615281ca422246ee" /><Relationship Type="http://schemas.openxmlformats.org/officeDocument/2006/relationships/notesSlide" Target="/ppt/notesSlides/notesSlide27.xml" Id="R1fc054b75bb3440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1972bb4854048" /><Relationship Type="http://schemas.openxmlformats.org/officeDocument/2006/relationships/image" Target="/ppt/media/image28.png" Id="R17dcb1aa7103471d" /><Relationship Type="http://schemas.openxmlformats.org/officeDocument/2006/relationships/notesSlide" Target="/ppt/notesSlides/notesSlide28.xml" Id="R7113d71bdfa948f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f0be50dab4214" /><Relationship Type="http://schemas.openxmlformats.org/officeDocument/2006/relationships/image" Target="/ppt/media/image29.png" Id="Rc64d419209664d66" /><Relationship Type="http://schemas.openxmlformats.org/officeDocument/2006/relationships/notesSlide" Target="/ppt/notesSlides/notesSlide29.xml" Id="Rd8d3f6803df94f7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8b3a6189c4a02" /><Relationship Type="http://schemas.openxmlformats.org/officeDocument/2006/relationships/image" Target="/ppt/media/image30.png" Id="R0ee110b6397b465c" /><Relationship Type="http://schemas.openxmlformats.org/officeDocument/2006/relationships/notesSlide" Target="/ppt/notesSlides/notesSlide30.xml" Id="R9dd76c7c54ab4f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8ddef299541bd" /><Relationship Type="http://schemas.openxmlformats.org/officeDocument/2006/relationships/image" Target="/ppt/media/image31.png" Id="R0b5c51af1af74937" /><Relationship Type="http://schemas.openxmlformats.org/officeDocument/2006/relationships/notesSlide" Target="/ppt/notesSlides/notesSlide31.xml" Id="Rc7760e8149a647f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5eb04003948ef" /><Relationship Type="http://schemas.openxmlformats.org/officeDocument/2006/relationships/image" Target="/ppt/media/image32.png" Id="Re9f4463f887543a3" /><Relationship Type="http://schemas.openxmlformats.org/officeDocument/2006/relationships/notesSlide" Target="/ppt/notesSlides/notesSlide32.xml" Id="R22638b56f43544e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b043212fd4caf" /><Relationship Type="http://schemas.openxmlformats.org/officeDocument/2006/relationships/image" Target="/ppt/media/image33.png" Id="R8b6b585e7d884f76" /><Relationship Type="http://schemas.openxmlformats.org/officeDocument/2006/relationships/notesSlide" Target="/ppt/notesSlides/notesSlide33.xml" Id="R8186dac958064be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8dd733b7147ee" /><Relationship Type="http://schemas.openxmlformats.org/officeDocument/2006/relationships/image" Target="/ppt/media/image34.png" Id="Rb0e1b5644ab242ad" /><Relationship Type="http://schemas.openxmlformats.org/officeDocument/2006/relationships/notesSlide" Target="/ppt/notesSlides/notesSlide34.xml" Id="R24232fd55255495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55b35240b4599" /><Relationship Type="http://schemas.openxmlformats.org/officeDocument/2006/relationships/image" Target="/ppt/media/image35.png" Id="R8d708ef885ac42f1" /><Relationship Type="http://schemas.openxmlformats.org/officeDocument/2006/relationships/notesSlide" Target="/ppt/notesSlides/notesSlide35.xml" Id="R473ab51014794f5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91007280c4852" /><Relationship Type="http://schemas.openxmlformats.org/officeDocument/2006/relationships/image" Target="/ppt/media/image36.png" Id="Rc44c969915ae414f" /><Relationship Type="http://schemas.openxmlformats.org/officeDocument/2006/relationships/notesSlide" Target="/ppt/notesSlides/notesSlide36.xml" Id="R49fe361206a147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5e457b05a4f1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42973"/>
            <a:ext cx="2028825" cy="466630"/>
          </a:xfrm>
          <a:prstGeom xmlns:a="http://schemas.openxmlformats.org/drawingml/2006/main" prst="rect">
            <a:avLst/>
          </a:prstGeom>
        </p:spPr>
      </p:pic>
      <p:sp>
        <p:nvSpPr>
          <p:cNvPr id="2" name="s1-text-1">
            <a:extLst xmlns:a="http://schemas.openxmlformats.org/drawingml/2006/main">
              <a:ext uri="{FF2B5EF4-FFF2-40B4-BE49-F238E27FC236}">
                <a16:creationId xmlns:a16="http://schemas.microsoft.com/office/drawing/2014/main" id="{3445122B-7725-49FE-9597-2106E7C3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学习的价值 · 人的成长 · 教师的判断</a:t>
            </a:r>
          </a:p>
        </p:txBody>
      </p:sp>
      <p:sp>
        <p:nvSpPr>
          <p:cNvPr id="3" name="s1-text-2">
            <a:extLst xmlns:a="http://schemas.openxmlformats.org/drawingml/2006/main">
              <a:ext uri="{FF2B5EF4-FFF2-40B4-BE49-F238E27FC236}">
                <a16:creationId xmlns:a16="http://schemas.microsoft.com/office/drawing/2014/main" id="{C5A9CC4C-6DA1-4829-B16B-06FA8DC8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108204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AI时代，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1-text-3">
            <a:extLst xmlns:a="http://schemas.openxmlformats.org/drawingml/2006/main">
              <a:ext uri="{FF2B5EF4-FFF2-40B4-BE49-F238E27FC236}">
                <a16:creationId xmlns:a16="http://schemas.microsoft.com/office/drawing/2014/main" id="{FE5C8B85-FED7-4F6F-B1C1-827749F8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重新理解学习、教学与教师的专业判断</a:t>
            </a:r>
          </a:p>
        </p:txBody>
      </p:sp>
      <p:sp>
        <p:nvSpPr>
          <p:cNvPr id="5" name="s1-rect-4">
            <a:extLst xmlns:a="http://schemas.openxmlformats.org/drawingml/2006/main">
              <a:ext uri="{FF2B5EF4-FFF2-40B4-BE49-F238E27FC236}">
                <a16:creationId xmlns:a16="http://schemas.microsoft.com/office/drawing/2014/main" id="{1CE5A31C-4377-4BEA-B53E-CC67CF98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-text-5">
            <a:extLst xmlns:a="http://schemas.openxmlformats.org/drawingml/2006/main">
              <a:ext uri="{FF2B5EF4-FFF2-40B4-BE49-F238E27FC236}">
                <a16:creationId xmlns:a16="http://schemas.microsoft.com/office/drawing/2014/main" id="{79102BD8-2525-4E02-9D02-CAF26AB1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辛海洋 Tony Xin</a:t>
            </a:r>
          </a:p>
        </p:txBody>
      </p:sp>
      <p:sp>
        <p:nvSpPr>
          <p:cNvPr id="7" name="s1-text-6">
            <a:extLst xmlns:a="http://schemas.openxmlformats.org/drawingml/2006/main">
              <a:ext uri="{FF2B5EF4-FFF2-40B4-BE49-F238E27FC236}">
                <a16:creationId xmlns:a16="http://schemas.microsoft.com/office/drawing/2014/main" id="{526EFF63-179B-46B2-B552-7C38099F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067425"/>
            <a:ext cx="3409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CocoRobo</a:t>
            </a:r>
          </a:p>
        </p:txBody>
      </p:sp>
    </p:spTree>
    <p:extLst>
      <p:ext uri="{BB962C8B-B14F-4D97-AF65-F5344CB8AC3E}">
        <p14:creationId xmlns:p14="http://schemas.microsoft.com/office/powerpoint/2010/main" val="10262670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-text-0">
            <a:extLst xmlns:a="http://schemas.openxmlformats.org/drawingml/2006/main">
              <a:ext uri="{FF2B5EF4-FFF2-40B4-BE49-F238E27FC236}">
                <a16:creationId xmlns:a16="http://schemas.microsoft.com/office/drawing/2014/main" id="{0669A9D4-DFF2-49C9-90FE-3D0D9124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第一次看见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a3e4836c9417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-title-2">
            <a:extLst xmlns:a="http://schemas.openxmlformats.org/drawingml/2006/main">
              <a:ext uri="{FF2B5EF4-FFF2-40B4-BE49-F238E27FC236}">
                <a16:creationId xmlns:a16="http://schemas.microsoft.com/office/drawing/2014/main" id="{4E809AF8-264E-4015-B0F5-585BC30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一份完整方案，学生直接采用</a:t>
            </a:r>
          </a:p>
        </p:txBody>
      </p:sp>
      <p:sp>
        <p:nvSpPr>
          <p:cNvPr id="4" name="s2-text-3">
            <a:extLst xmlns:a="http://schemas.openxmlformats.org/drawingml/2006/main">
              <a:ext uri="{FF2B5EF4-FFF2-40B4-BE49-F238E27FC236}">
                <a16:creationId xmlns:a16="http://schemas.microsoft.com/office/drawing/2014/main" id="{8843D173-0D22-4FE1-9539-59A5811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探究：光照条件与生态瓶的变化有什么关系？</a:t>
            </a:r>
          </a:p>
        </p:txBody>
      </p:sp>
      <p:sp>
        <p:nvSpPr>
          <p:cNvPr id="5" name="s2-text-4">
            <a:extLst xmlns:a="http://schemas.openxmlformats.org/drawingml/2006/main">
              <a:ext uri="{FF2B5EF4-FFF2-40B4-BE49-F238E27FC236}">
                <a16:creationId xmlns:a16="http://schemas.microsoft.com/office/drawing/2014/main" id="{EDD9768B-3874-4F2D-93A9-6634863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AI提供</a:t>
            </a:r>
          </a:p>
        </p:txBody>
      </p:sp>
      <p:sp>
        <p:nvSpPr>
          <p:cNvPr id="6" name="s2-text-5">
            <a:extLst xmlns:a="http://schemas.openxmlformats.org/drawingml/2006/main">
              <a:ext uri="{FF2B5EF4-FFF2-40B4-BE49-F238E27FC236}">
                <a16:creationId xmlns:a16="http://schemas.microsoft.com/office/drawing/2014/main" id="{9B63F50A-9668-4FDF-B4C2-2DFDB201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研究问题、对照安排、观察项目与记录表</a:t>
            </a:r>
          </a:p>
        </p:txBody>
      </p:sp>
      <p:sp>
        <p:nvSpPr>
          <p:cNvPr id="7" name="s2-text-6">
            <a:extLst xmlns:a="http://schemas.openxmlformats.org/drawingml/2006/main">
              <a:ext uri="{FF2B5EF4-FFF2-40B4-BE49-F238E27FC236}">
                <a16:creationId xmlns:a16="http://schemas.microsoft.com/office/drawing/2014/main" id="{875F8CE7-78C0-4EF0-A68A-43283FAC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学生完成</a:t>
            </a:r>
          </a:p>
        </p:txBody>
      </p:sp>
      <p:sp>
        <p:nvSpPr>
          <p:cNvPr id="8" name="s2-text-7">
            <a:extLst xmlns:a="http://schemas.openxmlformats.org/drawingml/2006/main">
              <a:ext uri="{FF2B5EF4-FFF2-40B4-BE49-F238E27FC236}">
                <a16:creationId xmlns:a16="http://schemas.microsoft.com/office/drawing/2014/main" id="{30D0C8CD-3A7F-4518-ADEC-C4D406D1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搭建生态瓶、持续观察、整理出完整报告</a:t>
            </a:r>
          </a:p>
        </p:txBody>
      </p:sp>
      <p:sp>
        <p:nvSpPr>
          <p:cNvPr id="9" name="s2-rect-8">
            <a:extLst xmlns:a="http://schemas.openxmlformats.org/drawingml/2006/main">
              <a:ext uri="{FF2B5EF4-FFF2-40B4-BE49-F238E27FC236}">
                <a16:creationId xmlns:a16="http://schemas.microsoft.com/office/drawing/2014/main" id="{F74DB35C-88F9-4FBE-8220-DC8D6A4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2-text-9">
            <a:extLst xmlns:a="http://schemas.openxmlformats.org/drawingml/2006/main">
              <a:ext uri="{FF2B5EF4-FFF2-40B4-BE49-F238E27FC236}">
                <a16:creationId xmlns:a16="http://schemas.microsoft.com/office/drawing/2014/main" id="{B36DA583-5BA6-4C1F-8487-D99E9BC0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仅凭这些信息，你会怎样评价这次学习？</a:t>
            </a:r>
          </a:p>
        </p:txBody>
      </p:sp>
      <p:sp>
        <p:nvSpPr>
          <p:cNvPr id="11" name="s2-footer-10">
            <a:extLst xmlns:a="http://schemas.openxmlformats.org/drawingml/2006/main">
              <a:ext uri="{FF2B5EF4-FFF2-40B4-BE49-F238E27FC236}">
                <a16:creationId xmlns:a16="http://schemas.microsoft.com/office/drawing/2014/main" id="{C88C875B-CCAF-46E3-8E78-0E0A786E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-footer-11">
            <a:extLst xmlns:a="http://schemas.openxmlformats.org/drawingml/2006/main">
              <a:ext uri="{FF2B5EF4-FFF2-40B4-BE49-F238E27FC236}">
                <a16:creationId xmlns:a16="http://schemas.microsoft.com/office/drawing/2014/main" id="{6F6E6439-E335-4115-AF8F-064986AF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02 / 36</a:t>
            </a:r>
          </a:p>
        </p:txBody>
      </p:sp>
    </p:spTree>
    <p:extLst>
      <p:ext uri="{BB962C8B-B14F-4D97-AF65-F5344CB8AC3E}">
        <p14:creationId xmlns:p14="http://schemas.microsoft.com/office/powerpoint/2010/main" val="801866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3-text-0">
            <a:extLst xmlns:a="http://schemas.openxmlformats.org/drawingml/2006/main">
              <a:ext uri="{FF2B5EF4-FFF2-40B4-BE49-F238E27FC236}">
                <a16:creationId xmlns:a16="http://schemas.microsoft.com/office/drawing/2014/main" id="{9CE2195F-49ED-49E0-943F-06D8814D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第一次判断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375447d3e428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-title-2">
            <a:extLst xmlns:a="http://schemas.openxmlformats.org/drawingml/2006/main">
              <a:ext uri="{FF2B5EF4-FFF2-40B4-BE49-F238E27FC236}">
                <a16:creationId xmlns:a16="http://schemas.microsoft.com/office/drawing/2014/main" id="{5D80EB6B-E575-485C-A20F-1B6B387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你还需要知道什么？</a:t>
            </a:r>
          </a:p>
        </p:txBody>
      </p:sp>
      <p:sp>
        <p:nvSpPr>
          <p:cNvPr id="4" name="s3-text-3">
            <a:extLst xmlns:a="http://schemas.openxmlformats.org/drawingml/2006/main">
              <a:ext uri="{FF2B5EF4-FFF2-40B4-BE49-F238E27FC236}">
                <a16:creationId xmlns:a16="http://schemas.microsoft.com/office/drawing/2014/main" id="{20C32DA2-F4E0-4B1F-850A-14D60626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这是在帮助学习，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还是绕过了有价值的活动？</a:t>
            </a:r>
          </a:p>
        </p:txBody>
      </p:sp>
      <p:sp>
        <p:nvSpPr>
          <p:cNvPr id="5" name="s3-rect-4">
            <a:extLst xmlns:a="http://schemas.openxmlformats.org/drawingml/2006/main">
              <a:ext uri="{FF2B5EF4-FFF2-40B4-BE49-F238E27FC236}">
                <a16:creationId xmlns:a16="http://schemas.microsoft.com/office/drawing/2014/main" id="{70FD2373-7CE9-4972-A71C-CC531256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-text-5">
            <a:extLst xmlns:a="http://schemas.openxmlformats.org/drawingml/2006/main">
              <a:ext uri="{FF2B5EF4-FFF2-40B4-BE49-F238E27FC236}">
                <a16:creationId xmlns:a16="http://schemas.microsoft.com/office/drawing/2014/main" id="{2D0914F9-7D47-4DD3-9831-A5DEB891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先写下判断，再补上一条你需要的证据。</a:t>
            </a:r>
          </a:p>
        </p:txBody>
      </p:sp>
      <p:sp>
        <p:nvSpPr>
          <p:cNvPr id="7" name="s3-footer-6">
            <a:extLst xmlns:a="http://schemas.openxmlformats.org/drawingml/2006/main">
              <a:ext uri="{FF2B5EF4-FFF2-40B4-BE49-F238E27FC236}">
                <a16:creationId xmlns:a16="http://schemas.microsoft.com/office/drawing/2014/main" id="{B78B98F0-2217-46E8-904E-5DE807A5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-footer-7">
            <a:extLst xmlns:a="http://schemas.openxmlformats.org/drawingml/2006/main">
              <a:ext uri="{FF2B5EF4-FFF2-40B4-BE49-F238E27FC236}">
                <a16:creationId xmlns:a16="http://schemas.microsoft.com/office/drawing/2014/main" id="{050EA567-B381-4CFE-83E2-005187D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03 / 36</a:t>
            </a:r>
          </a:p>
        </p:txBody>
      </p:sp>
    </p:spTree>
    <p:extLst>
      <p:ext uri="{BB962C8B-B14F-4D97-AF65-F5344CB8AC3E}">
        <p14:creationId xmlns:p14="http://schemas.microsoft.com/office/powerpoint/2010/main" val="748726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4-text-0">
            <a:extLst xmlns:a="http://schemas.openxmlformats.org/drawingml/2006/main">
              <a:ext uri="{FF2B5EF4-FFF2-40B4-BE49-F238E27FC236}">
                <a16:creationId xmlns:a16="http://schemas.microsoft.com/office/drawing/2014/main" id="{17E82A14-A381-41A3-8245-B5C9661C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从一节课开始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7761e1c964a6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4-title-2">
            <a:extLst xmlns:a="http://schemas.openxmlformats.org/drawingml/2006/main">
              <a:ext uri="{FF2B5EF4-FFF2-40B4-BE49-F238E27FC236}">
                <a16:creationId xmlns:a16="http://schemas.microsoft.com/office/drawing/2014/main" id="{F0947D1F-AE5D-4396-B7F7-F61B4CED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同一份方案，可以进入不同的课</a:t>
            </a:r>
          </a:p>
        </p:txBody>
      </p:sp>
      <p:sp>
        <p:nvSpPr>
          <p:cNvPr id="4" name="s4-text-3">
            <a:extLst xmlns:a="http://schemas.openxmlformats.org/drawingml/2006/main">
              <a:ext uri="{FF2B5EF4-FFF2-40B4-BE49-F238E27FC236}">
                <a16:creationId xmlns:a16="http://schemas.microsoft.com/office/drawing/2014/main" id="{145AB722-D55D-4DEB-B29F-E0894FE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目标和学生起点，会改变我们期待的学习活动。</a:t>
            </a:r>
          </a:p>
        </p:txBody>
      </p:sp>
      <p:sp>
        <p:nvSpPr>
          <p:cNvPr id="5" name="s4-rect-4">
            <a:extLst xmlns:a="http://schemas.openxmlformats.org/drawingml/2006/main">
              <a:ext uri="{FF2B5EF4-FFF2-40B4-BE49-F238E27FC236}">
                <a16:creationId xmlns:a16="http://schemas.microsoft.com/office/drawing/2014/main" id="{23847DA5-6E54-440E-8B8D-9A2A534A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4-text-5">
            <a:extLst xmlns:a="http://schemas.openxmlformats.org/drawingml/2006/main">
              <a:ext uri="{FF2B5EF4-FFF2-40B4-BE49-F238E27FC236}">
                <a16:creationId xmlns:a16="http://schemas.microsoft.com/office/drawing/2014/main" id="{F0BAE0D0-0733-4E39-AECC-777A2C1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认识方案结构</a:t>
            </a:r>
          </a:p>
        </p:txBody>
      </p:sp>
      <p:sp>
        <p:nvSpPr>
          <p:cNvPr id="7" name="s4-text-6">
            <a:extLst xmlns:a="http://schemas.openxmlformats.org/drawingml/2006/main">
              <a:ext uri="{FF2B5EF4-FFF2-40B4-BE49-F238E27FC236}">
                <a16:creationId xmlns:a16="http://schemas.microsoft.com/office/drawing/2014/main" id="{E8D466CD-7274-49AE-894E-37FA2D26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初学者借助完整示范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解释每一步为什么需要</a:t>
            </a:r>
          </a:p>
        </p:txBody>
      </p:sp>
      <p:sp>
        <p:nvSpPr>
          <p:cNvPr id="8" name="s4-rect-7">
            <a:extLst xmlns:a="http://schemas.openxmlformats.org/drawingml/2006/main">
              <a:ext uri="{FF2B5EF4-FFF2-40B4-BE49-F238E27FC236}">
                <a16:creationId xmlns:a16="http://schemas.microsoft.com/office/drawing/2014/main" id="{5032E87F-2016-4715-ADA8-05083427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4-text-8">
            <a:extLst xmlns:a="http://schemas.openxmlformats.org/drawingml/2006/main">
              <a:ext uri="{FF2B5EF4-FFF2-40B4-BE49-F238E27FC236}">
                <a16:creationId xmlns:a16="http://schemas.microsoft.com/office/drawing/2014/main" id="{0978749D-AF94-40ED-B8FD-350C5A9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练习设计实验</a:t>
            </a:r>
          </a:p>
        </p:txBody>
      </p:sp>
      <p:sp>
        <p:nvSpPr>
          <p:cNvPr id="10" name="s4-text-9">
            <a:extLst xmlns:a="http://schemas.openxmlformats.org/drawingml/2006/main">
              <a:ext uri="{FF2B5EF4-FFF2-40B4-BE49-F238E27FC236}">
                <a16:creationId xmlns:a16="http://schemas.microsoft.com/office/drawing/2014/main" id="{1878196B-7142-408F-B651-1674B19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学生需要提出假设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选择变量并说明理由</a:t>
            </a:r>
          </a:p>
        </p:txBody>
      </p:sp>
      <p:sp>
        <p:nvSpPr>
          <p:cNvPr id="11" name="s4-rect-10">
            <a:extLst xmlns:a="http://schemas.openxmlformats.org/drawingml/2006/main">
              <a:ext uri="{FF2B5EF4-FFF2-40B4-BE49-F238E27FC236}">
                <a16:creationId xmlns:a16="http://schemas.microsoft.com/office/drawing/2014/main" id="{13FB73DF-63F4-4CD6-BCD9-BAFB74FC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4-text-11">
            <a:extLst xmlns:a="http://schemas.openxmlformats.org/drawingml/2006/main">
              <a:ext uri="{FF2B5EF4-FFF2-40B4-BE49-F238E27FC236}">
                <a16:creationId xmlns:a16="http://schemas.microsoft.com/office/drawing/2014/main" id="{A5716C66-2D50-41EA-81A4-A7CF7C41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比较更多可能</a:t>
            </a:r>
          </a:p>
        </p:txBody>
      </p:sp>
      <p:sp>
        <p:nvSpPr>
          <p:cNvPr id="13" name="s4-text-12">
            <a:extLst xmlns:a="http://schemas.openxmlformats.org/drawingml/2006/main">
              <a:ext uri="{FF2B5EF4-FFF2-40B4-BE49-F238E27FC236}">
                <a16:creationId xmlns:a16="http://schemas.microsoft.com/office/drawing/2014/main" id="{24611653-1F21-4784-AAC3-2A516569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借AI展开多个方案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讨论约束与适用边界</a:t>
            </a:r>
          </a:p>
        </p:txBody>
      </p:sp>
      <p:sp>
        <p:nvSpPr>
          <p:cNvPr id="14" name="s4-rect-13">
            <a:extLst xmlns:a="http://schemas.openxmlformats.org/drawingml/2006/main">
              <a:ext uri="{FF2B5EF4-FFF2-40B4-BE49-F238E27FC236}">
                <a16:creationId xmlns:a16="http://schemas.microsoft.com/office/drawing/2014/main" id="{27DDC7EE-3819-430E-9FBE-65DD1DE4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4-text-14">
            <a:extLst xmlns:a="http://schemas.openxmlformats.org/drawingml/2006/main">
              <a:ext uri="{FF2B5EF4-FFF2-40B4-BE49-F238E27FC236}">
                <a16:creationId xmlns:a16="http://schemas.microsoft.com/office/drawing/2014/main" id="{BEE842DD-0208-4F8B-9553-D17EFF5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还要继续看：这些活动实际发生了吗？</a:t>
            </a:r>
          </a:p>
        </p:txBody>
      </p:sp>
      <p:sp>
        <p:nvSpPr>
          <p:cNvPr id="16" name="s4-footer-15">
            <a:extLst xmlns:a="http://schemas.openxmlformats.org/drawingml/2006/main">
              <a:ext uri="{FF2B5EF4-FFF2-40B4-BE49-F238E27FC236}">
                <a16:creationId xmlns:a16="http://schemas.microsoft.com/office/drawing/2014/main" id="{8A2B32C5-2901-4D19-A9E9-085C7B08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4-footer-16">
            <a:extLst xmlns:a="http://schemas.openxmlformats.org/drawingml/2006/main">
              <a:ext uri="{FF2B5EF4-FFF2-40B4-BE49-F238E27FC236}">
                <a16:creationId xmlns:a16="http://schemas.microsoft.com/office/drawing/2014/main" id="{208B718F-35BA-45BF-B077-F009EBFF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04 / 36</a:t>
            </a:r>
          </a:p>
        </p:txBody>
      </p:sp>
    </p:spTree>
    <p:extLst>
      <p:ext uri="{BB962C8B-B14F-4D97-AF65-F5344CB8AC3E}">
        <p14:creationId xmlns:p14="http://schemas.microsoft.com/office/powerpoint/2010/main" val="1127922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5-text-0">
            <a:extLst xmlns:a="http://schemas.openxmlformats.org/drawingml/2006/main">
              <a:ext uri="{FF2B5EF4-FFF2-40B4-BE49-F238E27FC236}">
                <a16:creationId xmlns:a16="http://schemas.microsoft.com/office/drawing/2014/main" id="{EF1B3657-3CD2-402C-9448-1ACE054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从一节课开始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58cc3d524437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5-title-2">
            <a:extLst xmlns:a="http://schemas.openxmlformats.org/drawingml/2006/main">
              <a:ext uri="{FF2B5EF4-FFF2-40B4-BE49-F238E27FC236}">
                <a16:creationId xmlns:a16="http://schemas.microsoft.com/office/drawing/2014/main" id="{F2A0FB02-8641-462F-B05F-4E4ECCFB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教学价值需要沿着学习过程判断</a:t>
            </a:r>
          </a:p>
        </p:txBody>
      </p:sp>
      <p:sp>
        <p:nvSpPr>
          <p:cNvPr id="4" name="s5-text-3">
            <a:extLst xmlns:a="http://schemas.openxmlformats.org/drawingml/2006/main">
              <a:ext uri="{FF2B5EF4-FFF2-40B4-BE49-F238E27FC236}">
                <a16:creationId xmlns:a16="http://schemas.microsoft.com/office/drawing/2014/main" id="{7F321F13-3DE5-4E65-A8EA-FE370CE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希望人获得什么发展？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怎样为这种发展创造机会？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依据什么证据调整安排？</a:t>
            </a:r>
          </a:p>
        </p:txBody>
      </p:sp>
      <p:sp>
        <p:nvSpPr>
          <p:cNvPr id="5" name="s5-rect-4">
            <a:extLst xmlns:a="http://schemas.openxmlformats.org/drawingml/2006/main">
              <a:ext uri="{FF2B5EF4-FFF2-40B4-BE49-F238E27FC236}">
                <a16:creationId xmlns:a16="http://schemas.microsoft.com/office/drawing/2014/main" id="{BA29A7C2-6E9B-4C69-A7FE-A4E8D0C7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5-text-5">
            <a:extLst xmlns:a="http://schemas.openxmlformats.org/drawingml/2006/main">
              <a:ext uri="{FF2B5EF4-FFF2-40B4-BE49-F238E27FC236}">
                <a16:creationId xmlns:a16="http://schemas.microsoft.com/office/drawing/2014/main" id="{0A782A61-00F6-416F-AB7D-C7F4C73C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AI承担了多少工作，仍需要放回这些问题中理解。</a:t>
            </a:r>
          </a:p>
        </p:txBody>
      </p:sp>
      <p:sp>
        <p:nvSpPr>
          <p:cNvPr id="7" name="s5-footer-6">
            <a:extLst xmlns:a="http://schemas.openxmlformats.org/drawingml/2006/main">
              <a:ext uri="{FF2B5EF4-FFF2-40B4-BE49-F238E27FC236}">
                <a16:creationId xmlns:a16="http://schemas.microsoft.com/office/drawing/2014/main" id="{23C5B05B-94B0-4351-864A-87AD48F3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8" name="s5-footer-7">
            <a:extLst xmlns:a="http://schemas.openxmlformats.org/drawingml/2006/main">
              <a:ext uri="{FF2B5EF4-FFF2-40B4-BE49-F238E27FC236}">
                <a16:creationId xmlns:a16="http://schemas.microsoft.com/office/drawing/2014/main" id="{6C1AF5C2-F204-4BD9-B83F-5E72347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05 / 36</a:t>
            </a:r>
          </a:p>
        </p:txBody>
      </p:sp>
    </p:spTree>
    <p:extLst>
      <p:ext uri="{BB962C8B-B14F-4D97-AF65-F5344CB8AC3E}">
        <p14:creationId xmlns:p14="http://schemas.microsoft.com/office/powerpoint/2010/main" val="1842387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6-text-0">
            <a:extLst xmlns:a="http://schemas.openxmlformats.org/drawingml/2006/main">
              <a:ext uri="{FF2B5EF4-FFF2-40B4-BE49-F238E27FC236}">
                <a16:creationId xmlns:a16="http://schemas.microsoft.com/office/drawing/2014/main" id="{7BF2EA85-EF9F-41AF-B6C5-F81D9E8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d6461dc6704e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6-title-2">
            <a:extLst xmlns:a="http://schemas.openxmlformats.org/drawingml/2006/main">
              <a:ext uri="{FF2B5EF4-FFF2-40B4-BE49-F238E27FC236}">
                <a16:creationId xmlns:a16="http://schemas.microsoft.com/office/drawing/2014/main" id="{2A6E20FB-6066-4E3B-8422-37D8210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学习目标本身，也值得重新审视</a:t>
            </a:r>
          </a:p>
        </p:txBody>
      </p:sp>
      <p:sp>
        <p:nvSpPr>
          <p:cNvPr id="4" name="s6-text-3">
            <a:extLst xmlns:a="http://schemas.openxmlformats.org/drawingml/2006/main">
              <a:ext uri="{FF2B5EF4-FFF2-40B4-BE49-F238E27FC236}">
                <a16:creationId xmlns:a16="http://schemas.microsoft.com/office/drawing/2014/main" id="{ADED716E-9A48-4F21-94B2-6CFFD7F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AI进入课堂后，三类教学选择都值得讨论。</a:t>
            </a:r>
          </a:p>
        </p:txBody>
      </p:sp>
      <p:sp>
        <p:nvSpPr>
          <p:cNvPr id="5" name="s6-rect-4">
            <a:extLst xmlns:a="http://schemas.openxmlformats.org/drawingml/2006/main">
              <a:ext uri="{FF2B5EF4-FFF2-40B4-BE49-F238E27FC236}">
                <a16:creationId xmlns:a16="http://schemas.microsoft.com/office/drawing/2014/main" id="{A9D0AFB8-067F-4379-A21D-682A2E4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6-text-5">
            <a:extLst xmlns:a="http://schemas.openxmlformats.org/drawingml/2006/main">
              <a:ext uri="{FF2B5EF4-FFF2-40B4-BE49-F238E27FC236}">
                <a16:creationId xmlns:a16="http://schemas.microsoft.com/office/drawing/2014/main" id="{1DA2FF0D-C76B-4469-A238-1406179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保留</a:t>
            </a:r>
          </a:p>
        </p:txBody>
      </p:sp>
      <p:sp>
        <p:nvSpPr>
          <p:cNvPr id="7" name="s6-text-6">
            <a:extLst xmlns:a="http://schemas.openxmlformats.org/drawingml/2006/main">
              <a:ext uri="{FF2B5EF4-FFF2-40B4-BE49-F238E27FC236}">
                <a16:creationId xmlns:a16="http://schemas.microsoft.com/office/drawing/2014/main" id="{F34DA3FD-3A1A-4A48-A776-DEFAAE92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为理解与判断打基础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例如解释证据的含义</a:t>
            </a:r>
          </a:p>
        </p:txBody>
      </p:sp>
      <p:sp>
        <p:nvSpPr>
          <p:cNvPr id="8" name="s6-rect-7">
            <a:extLst xmlns:a="http://schemas.openxmlformats.org/drawingml/2006/main">
              <a:ext uri="{FF2B5EF4-FFF2-40B4-BE49-F238E27FC236}">
                <a16:creationId xmlns:a16="http://schemas.microsoft.com/office/drawing/2014/main" id="{08A1D9A3-B9DF-4E17-8ADD-EF5C35C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6-text-8">
            <a:extLst xmlns:a="http://schemas.openxmlformats.org/drawingml/2006/main">
              <a:ext uri="{FF2B5EF4-FFF2-40B4-BE49-F238E27FC236}">
                <a16:creationId xmlns:a16="http://schemas.microsoft.com/office/drawing/2014/main" id="{048FDFB6-6BEF-4D3E-ABF9-4865C9F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调整</a:t>
            </a:r>
          </a:p>
        </p:txBody>
      </p:sp>
      <p:sp>
        <p:nvSpPr>
          <p:cNvPr id="10" name="s6-text-9">
            <a:extLst xmlns:a="http://schemas.openxmlformats.org/drawingml/2006/main">
              <a:ext uri="{FF2B5EF4-FFF2-40B4-BE49-F238E27FC236}">
                <a16:creationId xmlns:a16="http://schemas.microsoft.com/office/drawing/2014/main" id="{A9F18FDF-FFED-44B4-9804-7D393925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改变原任务的重心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例如从整理转向比较</a:t>
            </a:r>
          </a:p>
        </p:txBody>
      </p:sp>
      <p:sp>
        <p:nvSpPr>
          <p:cNvPr id="11" name="s6-rect-10">
            <a:extLst xmlns:a="http://schemas.openxmlformats.org/drawingml/2006/main">
              <a:ext uri="{FF2B5EF4-FFF2-40B4-BE49-F238E27FC236}">
                <a16:creationId xmlns:a16="http://schemas.microsoft.com/office/drawing/2014/main" id="{E29B4BB2-EB38-4656-9569-4E71C7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6-text-11">
            <a:extLst xmlns:a="http://schemas.openxmlformats.org/drawingml/2006/main">
              <a:ext uri="{FF2B5EF4-FFF2-40B4-BE49-F238E27FC236}">
                <a16:creationId xmlns:a16="http://schemas.microsoft.com/office/drawing/2014/main" id="{DAB1494C-9D14-4CCD-A044-139F0D7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创造</a:t>
            </a:r>
          </a:p>
        </p:txBody>
      </p:sp>
      <p:sp>
        <p:nvSpPr>
          <p:cNvPr id="13" name="s6-text-12">
            <a:extLst xmlns:a="http://schemas.openxmlformats.org/drawingml/2006/main">
              <a:ext uri="{FF2B5EF4-FFF2-40B4-BE49-F238E27FC236}">
                <a16:creationId xmlns:a16="http://schemas.microsoft.com/office/drawing/2014/main" id="{B1663F96-3CC0-4AAD-9FBB-E528743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提出原来难以开展的任务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例如检验多个竞争解释</a:t>
            </a:r>
          </a:p>
        </p:txBody>
      </p:sp>
      <p:sp>
        <p:nvSpPr>
          <p:cNvPr id="14" name="s6-rect-13">
            <a:extLst xmlns:a="http://schemas.openxmlformats.org/drawingml/2006/main">
              <a:ext uri="{FF2B5EF4-FFF2-40B4-BE49-F238E27FC236}">
                <a16:creationId xmlns:a16="http://schemas.microsoft.com/office/drawing/2014/main" id="{A7613B57-D5C9-4BA7-B14B-3545D68D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6-text-14">
            <a:extLst xmlns:a="http://schemas.openxmlformats.org/drawingml/2006/main">
              <a:ext uri="{FF2B5EF4-FFF2-40B4-BE49-F238E27FC236}">
                <a16:creationId xmlns:a16="http://schemas.microsoft.com/office/drawing/2014/main" id="{D1DF7643-EAE8-46DE-B14D-8FE5AA0C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具体保留什么，应当说明它对学生发展的意义。</a:t>
            </a:r>
          </a:p>
        </p:txBody>
      </p:sp>
      <p:sp>
        <p:nvSpPr>
          <p:cNvPr id="16" name="s6-footer-15">
            <a:extLst xmlns:a="http://schemas.openxmlformats.org/drawingml/2006/main">
              <a:ext uri="{FF2B5EF4-FFF2-40B4-BE49-F238E27FC236}">
                <a16:creationId xmlns:a16="http://schemas.microsoft.com/office/drawing/2014/main" id="{DA8E8E66-0E3A-4AB9-ABE9-CD1CECC5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6-footer-16">
            <a:extLst xmlns:a="http://schemas.openxmlformats.org/drawingml/2006/main">
              <a:ext uri="{FF2B5EF4-FFF2-40B4-BE49-F238E27FC236}">
                <a16:creationId xmlns:a16="http://schemas.microsoft.com/office/drawing/2014/main" id="{73DE2EBD-6387-4C60-B806-F8CF0A6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06 / 36</a:t>
            </a:r>
          </a:p>
        </p:txBody>
      </p:sp>
    </p:spTree>
    <p:extLst>
      <p:ext uri="{BB962C8B-B14F-4D97-AF65-F5344CB8AC3E}">
        <p14:creationId xmlns:p14="http://schemas.microsoft.com/office/powerpoint/2010/main" val="20769957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7-text-0">
            <a:extLst xmlns:a="http://schemas.openxmlformats.org/drawingml/2006/main">
              <a:ext uri="{FF2B5EF4-FFF2-40B4-BE49-F238E27FC236}">
                <a16:creationId xmlns:a16="http://schemas.microsoft.com/office/drawing/2014/main" id="{4245C944-0966-41E3-9606-3C609AC9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99868b1b648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7-title-2">
            <a:extLst xmlns:a="http://schemas.openxmlformats.org/drawingml/2006/main">
              <a:ext uri="{FF2B5EF4-FFF2-40B4-BE49-F238E27FC236}">
                <a16:creationId xmlns:a16="http://schemas.microsoft.com/office/drawing/2014/main" id="{3F11DC06-E337-49D0-86A4-5D7DE93C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作品、活动与发展，需要连起来看</a:t>
            </a:r>
          </a:p>
        </p:txBody>
      </p:sp>
      <p:sp>
        <p:nvSpPr>
          <p:cNvPr id="4" name="s7-rect-3">
            <a:extLst xmlns:a="http://schemas.openxmlformats.org/drawingml/2006/main">
              <a:ext uri="{FF2B5EF4-FFF2-40B4-BE49-F238E27FC236}">
                <a16:creationId xmlns:a16="http://schemas.microsoft.com/office/drawing/2014/main" id="{B9E7F6C7-E3A6-45EE-B344-23164C7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35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7-text-4">
            <a:extLst xmlns:a="http://schemas.openxmlformats.org/drawingml/2006/main">
              <a:ext uri="{FF2B5EF4-FFF2-40B4-BE49-F238E27FC236}">
                <a16:creationId xmlns:a16="http://schemas.microsoft.com/office/drawing/2014/main" id="{AC0DA047-0EDC-4F17-A285-0FC205FF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s7-text-5">
            <a:extLst xmlns:a="http://schemas.openxmlformats.org/drawingml/2006/main">
              <a:ext uri="{FF2B5EF4-FFF2-40B4-BE49-F238E27FC236}">
                <a16:creationId xmlns:a16="http://schemas.microsoft.com/office/drawing/2014/main" id="{79B9D00F-0363-4A1C-9E4E-990C54C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669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作品</a:t>
            </a:r>
          </a:p>
        </p:txBody>
      </p:sp>
      <p:sp>
        <p:nvSpPr>
          <p:cNvPr id="7" name="s7-text-6">
            <a:extLst xmlns:a="http://schemas.openxmlformats.org/drawingml/2006/main">
              <a:ext uri="{FF2B5EF4-FFF2-40B4-BE49-F238E27FC236}">
                <a16:creationId xmlns:a16="http://schemas.microsoft.com/office/drawing/2014/main" id="{1F571A6D-D39E-4573-A252-F6CA1201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完成了什么？质量怎样？</a:t>
            </a:r>
          </a:p>
        </p:txBody>
      </p:sp>
      <p:sp>
        <p:nvSpPr>
          <p:cNvPr id="8" name="s7-rect-7">
            <a:extLst xmlns:a="http://schemas.openxmlformats.org/drawingml/2006/main">
              <a:ext uri="{FF2B5EF4-FFF2-40B4-BE49-F238E27FC236}">
                <a16:creationId xmlns:a16="http://schemas.microsoft.com/office/drawing/2014/main" id="{FBCE4B72-E24D-405F-83CA-E90A30A7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7-text-8">
            <a:extLst xmlns:a="http://schemas.openxmlformats.org/drawingml/2006/main">
              <a:ext uri="{FF2B5EF4-FFF2-40B4-BE49-F238E27FC236}">
                <a16:creationId xmlns:a16="http://schemas.microsoft.com/office/drawing/2014/main" id="{1CBB674D-B5CD-478A-AA4C-6C6A66F6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0" name="s7-text-9">
            <a:extLst xmlns:a="http://schemas.openxmlformats.org/drawingml/2006/main">
              <a:ext uri="{FF2B5EF4-FFF2-40B4-BE49-F238E27FC236}">
                <a16:creationId xmlns:a16="http://schemas.microsoft.com/office/drawing/2014/main" id="{220E00C6-AB7C-4759-9461-7054164B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861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实际活动</a:t>
            </a:r>
          </a:p>
        </p:txBody>
      </p:sp>
      <p:sp>
        <p:nvSpPr>
          <p:cNvPr id="11" name="s7-text-10">
            <a:extLst xmlns:a="http://schemas.openxmlformats.org/drawingml/2006/main">
              <a:ext uri="{FF2B5EF4-FFF2-40B4-BE49-F238E27FC236}">
                <a16:creationId xmlns:a16="http://schemas.microsoft.com/office/drawing/2014/main" id="{8AD8E771-92B4-499B-90DF-79D9A849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242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学生解释、比较、决定了什么？</a:t>
            </a:r>
          </a:p>
        </p:txBody>
      </p:sp>
      <p:sp>
        <p:nvSpPr>
          <p:cNvPr id="12" name="s7-rect-11">
            <a:extLst xmlns:a="http://schemas.openxmlformats.org/drawingml/2006/main">
              <a:ext uri="{FF2B5EF4-FFF2-40B4-BE49-F238E27FC236}">
                <a16:creationId xmlns:a16="http://schemas.microsoft.com/office/drawing/2014/main" id="{CC7AEE31-0C68-40BC-B381-BB5CF2B8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7-text-12">
            <a:extLst xmlns:a="http://schemas.openxmlformats.org/drawingml/2006/main">
              <a:ext uri="{FF2B5EF4-FFF2-40B4-BE49-F238E27FC236}">
                <a16:creationId xmlns:a16="http://schemas.microsoft.com/office/drawing/2014/main" id="{E9B56F22-E675-4A03-8B83-4DED8FB2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4" name="s7-text-13">
            <a:extLst xmlns:a="http://schemas.openxmlformats.org/drawingml/2006/main">
              <a:ext uri="{FF2B5EF4-FFF2-40B4-BE49-F238E27FC236}">
                <a16:creationId xmlns:a16="http://schemas.microsoft.com/office/drawing/2014/main" id="{37C1AAF6-0F21-49E8-AC98-59EFE7E7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053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后续发展</a:t>
            </a:r>
          </a:p>
        </p:txBody>
      </p:sp>
      <p:sp>
        <p:nvSpPr>
          <p:cNvPr id="15" name="s7-text-14">
            <a:extLst xmlns:a="http://schemas.openxmlformats.org/drawingml/2006/main">
              <a:ext uri="{FF2B5EF4-FFF2-40B4-BE49-F238E27FC236}">
                <a16:creationId xmlns:a16="http://schemas.microsoft.com/office/drawing/2014/main" id="{F29AC9E7-67CA-4434-8D61-0CA81E10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434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之后能怎样理解、运用和参与？</a:t>
            </a:r>
          </a:p>
        </p:txBody>
      </p:sp>
      <p:sp>
        <p:nvSpPr>
          <p:cNvPr id="16" name="s7-rect-15">
            <a:extLst xmlns:a="http://schemas.openxmlformats.org/drawingml/2006/main">
              <a:ext uri="{FF2B5EF4-FFF2-40B4-BE49-F238E27FC236}">
                <a16:creationId xmlns:a16="http://schemas.microsoft.com/office/drawing/2014/main" id="{742AD92A-DBFF-4B52-AAE2-DF87B0E5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7-text-16">
            <a:extLst xmlns:a="http://schemas.openxmlformats.org/drawingml/2006/main">
              <a:ext uri="{FF2B5EF4-FFF2-40B4-BE49-F238E27FC236}">
                <a16:creationId xmlns:a16="http://schemas.microsoft.com/office/drawing/2014/main" id="{9FF78ECA-E0F2-472C-811D-CF4140F7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三者之间的联系，需要过程与后续证据支持。</a:t>
            </a:r>
          </a:p>
        </p:txBody>
      </p:sp>
      <p:sp>
        <p:nvSpPr>
          <p:cNvPr id="18" name="s7-footer-17">
            <a:extLst xmlns:a="http://schemas.openxmlformats.org/drawingml/2006/main">
              <a:ext uri="{FF2B5EF4-FFF2-40B4-BE49-F238E27FC236}">
                <a16:creationId xmlns:a16="http://schemas.microsoft.com/office/drawing/2014/main" id="{CD4FA2D3-A410-4FAA-BFE4-9CDB5199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19" name="s7-footer-18">
            <a:extLst xmlns:a="http://schemas.openxmlformats.org/drawingml/2006/main">
              <a:ext uri="{FF2B5EF4-FFF2-40B4-BE49-F238E27FC236}">
                <a16:creationId xmlns:a16="http://schemas.microsoft.com/office/drawing/2014/main" id="{C605A56C-E1F5-4E81-82B5-62E7669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07 / 36</a:t>
            </a:r>
          </a:p>
        </p:txBody>
      </p:sp>
    </p:spTree>
    <p:extLst>
      <p:ext uri="{BB962C8B-B14F-4D97-AF65-F5344CB8AC3E}">
        <p14:creationId xmlns:p14="http://schemas.microsoft.com/office/powerpoint/2010/main" val="979978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8-text-0">
            <a:extLst xmlns:a="http://schemas.openxmlformats.org/drawingml/2006/main">
              <a:ext uri="{FF2B5EF4-FFF2-40B4-BE49-F238E27FC236}">
                <a16:creationId xmlns:a16="http://schemas.microsoft.com/office/drawing/2014/main" id="{46EAC329-2B92-4F9E-B6F1-6AAE3AF9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可能的过程之一 · 支持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2162da6804e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8-title-2">
            <a:extLst xmlns:a="http://schemas.openxmlformats.org/drawingml/2006/main">
              <a:ext uri="{FF2B5EF4-FFF2-40B4-BE49-F238E27FC236}">
                <a16:creationId xmlns:a16="http://schemas.microsoft.com/office/drawing/2014/main" id="{055F6BE4-B3D2-46B2-B68A-AB717E14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支持：让学生进入有价值的活动</a:t>
            </a:r>
          </a:p>
        </p:txBody>
      </p:sp>
      <p:sp>
        <p:nvSpPr>
          <p:cNvPr id="4" name="s8-text-3">
            <a:extLst xmlns:a="http://schemas.openxmlformats.org/drawingml/2006/main">
              <a:ext uri="{FF2B5EF4-FFF2-40B4-BE49-F238E27FC236}">
                <a16:creationId xmlns:a16="http://schemas.microsoft.com/office/drawing/2014/main" id="{9B928901-E01C-4DA4-ABAE-D4B7AC23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AI帮助读懂材料、整理记录或比较方案。</a:t>
            </a:r>
          </a:p>
        </p:txBody>
      </p:sp>
      <p:sp>
        <p:nvSpPr>
          <p:cNvPr id="5" name="s8-text-4">
            <a:extLst xmlns:a="http://schemas.openxmlformats.org/drawingml/2006/main">
              <a:ext uri="{FF2B5EF4-FFF2-40B4-BE49-F238E27FC236}">
                <a16:creationId xmlns:a16="http://schemas.microsoft.com/office/drawing/2014/main" id="{48A9DDC6-FB8E-44E7-9006-7F923ECB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获得的机会</a:t>
            </a:r>
          </a:p>
        </p:txBody>
      </p:sp>
      <p:sp>
        <p:nvSpPr>
          <p:cNvPr id="6" name="s8-text-5">
            <a:extLst xmlns:a="http://schemas.openxmlformats.org/drawingml/2006/main">
              <a:ext uri="{FF2B5EF4-FFF2-40B4-BE49-F238E27FC236}">
                <a16:creationId xmlns:a16="http://schemas.microsoft.com/office/drawing/2014/main" id="{4D6DAFBF-60AA-494B-920B-C0719600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学生有条件解释差异、提出问题、检验想法</a:t>
            </a:r>
          </a:p>
        </p:txBody>
      </p:sp>
      <p:sp>
        <p:nvSpPr>
          <p:cNvPr id="7" name="s8-text-6">
            <a:extLst xmlns:a="http://schemas.openxmlformats.org/drawingml/2006/main">
              <a:ext uri="{FF2B5EF4-FFF2-40B4-BE49-F238E27FC236}">
                <a16:creationId xmlns:a16="http://schemas.microsoft.com/office/drawing/2014/main" id="{FC744D65-ADB8-4D03-B3E3-52235278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需要观察</a:t>
            </a:r>
          </a:p>
        </p:txBody>
      </p:sp>
      <p:sp>
        <p:nvSpPr>
          <p:cNvPr id="8" name="s8-text-7">
            <a:extLst xmlns:a="http://schemas.openxmlformats.org/drawingml/2006/main">
              <a:ext uri="{FF2B5EF4-FFF2-40B4-BE49-F238E27FC236}">
                <a16:creationId xmlns:a16="http://schemas.microsoft.com/office/drawing/2014/main" id="{66393147-EAA4-449A-8865-FC8F3521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这些支持是否真正进入学生的推理和决定？</a:t>
            </a:r>
          </a:p>
        </p:txBody>
      </p:sp>
      <p:sp>
        <p:nvSpPr>
          <p:cNvPr id="9" name="s8-rect-8">
            <a:extLst xmlns:a="http://schemas.openxmlformats.org/drawingml/2006/main">
              <a:ext uri="{FF2B5EF4-FFF2-40B4-BE49-F238E27FC236}">
                <a16:creationId xmlns:a16="http://schemas.microsoft.com/office/drawing/2014/main" id="{347DA9F3-A683-4681-BFC5-40127EC6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8-text-9">
            <a:extLst xmlns:a="http://schemas.openxmlformats.org/drawingml/2006/main">
              <a:ext uri="{FF2B5EF4-FFF2-40B4-BE49-F238E27FC236}">
                <a16:creationId xmlns:a16="http://schemas.microsoft.com/office/drawing/2014/main" id="{13DCFD89-78B6-4A08-890B-9F882F10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支持的价值，要看学生因此能够参与什么。</a:t>
            </a:r>
          </a:p>
        </p:txBody>
      </p:sp>
      <p:sp>
        <p:nvSpPr>
          <p:cNvPr id="11" name="s8-footer-10">
            <a:extLst xmlns:a="http://schemas.openxmlformats.org/drawingml/2006/main">
              <a:ext uri="{FF2B5EF4-FFF2-40B4-BE49-F238E27FC236}">
                <a16:creationId xmlns:a16="http://schemas.microsoft.com/office/drawing/2014/main" id="{2A6FDE01-128B-40D5-82C5-C891A16C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8-footer-11">
            <a:extLst xmlns:a="http://schemas.openxmlformats.org/drawingml/2006/main">
              <a:ext uri="{FF2B5EF4-FFF2-40B4-BE49-F238E27FC236}">
                <a16:creationId xmlns:a16="http://schemas.microsoft.com/office/drawing/2014/main" id="{AFD8F299-ADA4-48ED-AA49-B77F634F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08 / 36</a:t>
            </a:r>
          </a:p>
        </p:txBody>
      </p:sp>
    </p:spTree>
    <p:extLst>
      <p:ext uri="{BB962C8B-B14F-4D97-AF65-F5344CB8AC3E}">
        <p14:creationId xmlns:p14="http://schemas.microsoft.com/office/powerpoint/2010/main" val="238351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9-text-0">
            <a:extLst xmlns:a="http://schemas.openxmlformats.org/drawingml/2006/main">
              <a:ext uri="{FF2B5EF4-FFF2-40B4-BE49-F238E27FC236}">
                <a16:creationId xmlns:a16="http://schemas.microsoft.com/office/drawing/2014/main" id="{BFC74636-1E16-4F94-9A0F-1AECC283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可能的过程之二 · 绕过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b3358c3eae405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9-title-2">
            <a:extLst xmlns:a="http://schemas.openxmlformats.org/drawingml/2006/main">
              <a:ext uri="{FF2B5EF4-FFF2-40B4-BE49-F238E27FC236}">
                <a16:creationId xmlns:a16="http://schemas.microsoft.com/office/drawing/2014/main" id="{1E8BF6C0-5EEA-4753-8ADC-AB75F4CD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绕过了哪一步，才是关键</a:t>
            </a:r>
          </a:p>
        </p:txBody>
      </p:sp>
      <p:sp>
        <p:nvSpPr>
          <p:cNvPr id="4" name="s9-rect-3">
            <a:extLst xmlns:a="http://schemas.openxmlformats.org/drawingml/2006/main">
              <a:ext uri="{FF2B5EF4-FFF2-40B4-BE49-F238E27FC236}">
                <a16:creationId xmlns:a16="http://schemas.microsoft.com/office/drawing/2014/main" id="{20766C86-EDFA-4546-82D3-BDF8F588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9-text-4">
            <a:extLst xmlns:a="http://schemas.openxmlformats.org/drawingml/2006/main">
              <a:ext uri="{FF2B5EF4-FFF2-40B4-BE49-F238E27FC236}">
                <a16:creationId xmlns:a16="http://schemas.microsoft.com/office/drawing/2014/main" id="{2CE64438-D153-4BC2-868B-05098BA5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绕过非目标操作</a:t>
            </a:r>
          </a:p>
        </p:txBody>
      </p:sp>
      <p:sp>
        <p:nvSpPr>
          <p:cNvPr id="6" name="s9-text-5">
            <a:extLst xmlns:a="http://schemas.openxmlformats.org/drawingml/2006/main">
              <a:ext uri="{FF2B5EF4-FFF2-40B4-BE49-F238E27FC236}">
                <a16:creationId xmlns:a16="http://schemas.microsoft.com/office/drawing/2014/main" id="{337727A3-5AD9-4D81-B3E8-1C443096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例如整理版式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可能腾出时间讨论证据</a:t>
            </a:r>
          </a:p>
        </p:txBody>
      </p:sp>
      <p:sp>
        <p:nvSpPr>
          <p:cNvPr id="7" name="s9-rect-6">
            <a:extLst xmlns:a="http://schemas.openxmlformats.org/drawingml/2006/main">
              <a:ext uri="{FF2B5EF4-FFF2-40B4-BE49-F238E27FC236}">
                <a16:creationId xmlns:a16="http://schemas.microsoft.com/office/drawing/2014/main" id="{DE350972-473F-4832-95BB-7E300015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9-text-7">
            <a:extLst xmlns:a="http://schemas.openxmlformats.org/drawingml/2006/main">
              <a:ext uri="{FF2B5EF4-FFF2-40B4-BE49-F238E27FC236}">
                <a16:creationId xmlns:a16="http://schemas.microsoft.com/office/drawing/2014/main" id="{9923C920-C3EA-458E-B1EA-0C328CB8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绕过目标活动</a:t>
            </a:r>
          </a:p>
        </p:txBody>
      </p:sp>
      <p:sp>
        <p:nvSpPr>
          <p:cNvPr id="9" name="s9-text-8">
            <a:extLst xmlns:a="http://schemas.openxmlformats.org/drawingml/2006/main">
              <a:ext uri="{FF2B5EF4-FFF2-40B4-BE49-F238E27FC236}">
                <a16:creationId xmlns:a16="http://schemas.microsoft.com/office/drawing/2014/main" id="{E0D5B8C9-47AB-4806-BBEB-8E0C2D0F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例如直接决定实验变量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可能减少练习设计的机会</a:t>
            </a:r>
          </a:p>
        </p:txBody>
      </p:sp>
      <p:sp>
        <p:nvSpPr>
          <p:cNvPr id="10" name="s9-rect-9">
            <a:extLst xmlns:a="http://schemas.openxmlformats.org/drawingml/2006/main">
              <a:ext uri="{FF2B5EF4-FFF2-40B4-BE49-F238E27FC236}">
                <a16:creationId xmlns:a16="http://schemas.microsoft.com/office/drawing/2014/main" id="{B14D9666-A68D-4664-BED9-6C1381C5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9-text-10">
            <a:extLst xmlns:a="http://schemas.openxmlformats.org/drawingml/2006/main">
              <a:ext uri="{FF2B5EF4-FFF2-40B4-BE49-F238E27FC236}">
                <a16:creationId xmlns:a16="http://schemas.microsoft.com/office/drawing/2014/main" id="{56A54A05-61BB-4933-8976-A6915E94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同一步工作，对不同目标可能有不同意义。</a:t>
            </a:r>
          </a:p>
        </p:txBody>
      </p:sp>
      <p:sp>
        <p:nvSpPr>
          <p:cNvPr id="12" name="s9-footer-11">
            <a:extLst xmlns:a="http://schemas.openxmlformats.org/drawingml/2006/main">
              <a:ext uri="{FF2B5EF4-FFF2-40B4-BE49-F238E27FC236}">
                <a16:creationId xmlns:a16="http://schemas.microsoft.com/office/drawing/2014/main" id="{F89AF948-47A8-4364-8B22-A69155C8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9-footer-12">
            <a:extLst xmlns:a="http://schemas.openxmlformats.org/drawingml/2006/main">
              <a:ext uri="{FF2B5EF4-FFF2-40B4-BE49-F238E27FC236}">
                <a16:creationId xmlns:a16="http://schemas.microsoft.com/office/drawing/2014/main" id="{F3FC4334-59B8-4197-A578-E3F7CD5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09 / 36</a:t>
            </a:r>
          </a:p>
        </p:txBody>
      </p:sp>
    </p:spTree>
    <p:extLst>
      <p:ext uri="{BB962C8B-B14F-4D97-AF65-F5344CB8AC3E}">
        <p14:creationId xmlns:p14="http://schemas.microsoft.com/office/powerpoint/2010/main" val="15023413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10-text-0">
            <a:extLst xmlns:a="http://schemas.openxmlformats.org/drawingml/2006/main">
              <a:ext uri="{FF2B5EF4-FFF2-40B4-BE49-F238E27FC236}">
                <a16:creationId xmlns:a16="http://schemas.microsoft.com/office/drawing/2014/main" id="{95B3A3DF-882C-4623-A610-078AF598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可能的过程之三 · 拓展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9d5f5dccd441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0-title-2">
            <a:extLst xmlns:a="http://schemas.openxmlformats.org/drawingml/2006/main">
              <a:ext uri="{FF2B5EF4-FFF2-40B4-BE49-F238E27FC236}">
                <a16:creationId xmlns:a16="http://schemas.microsoft.com/office/drawing/2014/main" id="{F42E237B-C5A4-4AF8-9A96-C0EBD27F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AI也可能打开新的学习路径</a:t>
            </a:r>
          </a:p>
        </p:txBody>
      </p:sp>
      <p:sp>
        <p:nvSpPr>
          <p:cNvPr id="4" name="s10-text-3">
            <a:extLst xmlns:a="http://schemas.openxmlformats.org/drawingml/2006/main">
              <a:ext uri="{FF2B5EF4-FFF2-40B4-BE49-F238E27FC236}">
                <a16:creationId xmlns:a16="http://schemas.microsoft.com/office/drawing/2014/main" id="{54531FA9-4B53-466A-AB3B-B4CC10A7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提出更多假设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比较原来难以获得的解释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开展更复杂的探究与表达</a:t>
            </a:r>
          </a:p>
        </p:txBody>
      </p:sp>
      <p:sp>
        <p:nvSpPr>
          <p:cNvPr id="5" name="s10-rect-4">
            <a:extLst xmlns:a="http://schemas.openxmlformats.org/drawingml/2006/main">
              <a:ext uri="{FF2B5EF4-FFF2-40B4-BE49-F238E27FC236}">
                <a16:creationId xmlns:a16="http://schemas.microsoft.com/office/drawing/2014/main" id="{99503D0C-925B-4ECE-9D5C-F060C969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0-text-5">
            <a:extLst xmlns:a="http://schemas.openxmlformats.org/drawingml/2006/main">
              <a:ext uri="{FF2B5EF4-FFF2-40B4-BE49-F238E27FC236}">
                <a16:creationId xmlns:a16="http://schemas.microsoft.com/office/drawing/2014/main" id="{A3AD44B6-24BF-4145-9838-74F2A1F1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新的可能，仍需要学生实际参与才能成为学习机会。</a:t>
            </a:r>
          </a:p>
        </p:txBody>
      </p:sp>
      <p:sp>
        <p:nvSpPr>
          <p:cNvPr id="7" name="s10-footer-6">
            <a:extLst xmlns:a="http://schemas.openxmlformats.org/drawingml/2006/main">
              <a:ext uri="{FF2B5EF4-FFF2-40B4-BE49-F238E27FC236}">
                <a16:creationId xmlns:a16="http://schemas.microsoft.com/office/drawing/2014/main" id="{C12A1DB2-15E4-49F4-8787-BC973B24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10-footer-7">
            <a:extLst xmlns:a="http://schemas.openxmlformats.org/drawingml/2006/main">
              <a:ext uri="{FF2B5EF4-FFF2-40B4-BE49-F238E27FC236}">
                <a16:creationId xmlns:a16="http://schemas.microsoft.com/office/drawing/2014/main" id="{8CBFFD3C-B743-4327-9F36-36A887AA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10 / 36</a:t>
            </a:r>
          </a:p>
        </p:txBody>
      </p:sp>
    </p:spTree>
    <p:extLst>
      <p:ext uri="{BB962C8B-B14F-4D97-AF65-F5344CB8AC3E}">
        <p14:creationId xmlns:p14="http://schemas.microsoft.com/office/powerpoint/2010/main" val="1915087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1-text-0">
            <a:extLst xmlns:a="http://schemas.openxmlformats.org/drawingml/2006/main">
              <a:ext uri="{FF2B5EF4-FFF2-40B4-BE49-F238E27FC236}">
                <a16:creationId xmlns:a16="http://schemas.microsoft.com/office/drawing/2014/main" id="{10647033-B564-4E09-BBE6-AC1C7C56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77011befd48b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1-title-2">
            <a:extLst xmlns:a="http://schemas.openxmlformats.org/drawingml/2006/main">
              <a:ext uri="{FF2B5EF4-FFF2-40B4-BE49-F238E27FC236}">
                <a16:creationId xmlns:a16="http://schemas.microsoft.com/office/drawing/2014/main" id="{7384A8EB-C679-4C6B-B54A-B25B297A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同一种安排，机会可能分配不均</a:t>
            </a:r>
          </a:p>
        </p:txBody>
      </p:sp>
      <p:sp>
        <p:nvSpPr>
          <p:cNvPr id="4" name="s11-text-3">
            <a:extLst xmlns:a="http://schemas.openxmlformats.org/drawingml/2006/main">
              <a:ext uri="{FF2B5EF4-FFF2-40B4-BE49-F238E27FC236}">
                <a16:creationId xmlns:a16="http://schemas.microsoft.com/office/drawing/2014/main" id="{F165B632-3D64-46EF-A7E2-331589A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请同时看见每个学生，而不只看小组作品。</a:t>
            </a:r>
          </a:p>
        </p:txBody>
      </p:sp>
      <p:sp>
        <p:nvSpPr>
          <p:cNvPr id="5" name="s11-rect-4">
            <a:extLst xmlns:a="http://schemas.openxmlformats.org/drawingml/2006/main">
              <a:ext uri="{FF2B5EF4-FFF2-40B4-BE49-F238E27FC236}">
                <a16:creationId xmlns:a16="http://schemas.microsoft.com/office/drawing/2014/main" id="{2EAD8571-3080-4C92-BB8C-C9099734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1-text-5">
            <a:extLst xmlns:a="http://schemas.openxmlformats.org/drawingml/2006/main">
              <a:ext uri="{FF2B5EF4-FFF2-40B4-BE49-F238E27FC236}">
                <a16:creationId xmlns:a16="http://schemas.microsoft.com/office/drawing/2014/main" id="{17ABA2D4-818D-4FDF-A42A-F82DDA60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有人更容易进入</a:t>
            </a:r>
          </a:p>
        </p:txBody>
      </p:sp>
      <p:sp>
        <p:nvSpPr>
          <p:cNvPr id="7" name="s11-text-6">
            <a:extLst xmlns:a="http://schemas.openxmlformats.org/drawingml/2006/main">
              <a:ext uri="{FF2B5EF4-FFF2-40B4-BE49-F238E27FC236}">
                <a16:creationId xmlns:a16="http://schemas.microsoft.com/office/drawing/2014/main" id="{0E1C5E4B-4DED-42A6-A7CC-8DA443DE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借助语言和结构支持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第一次能够参与讨论</a:t>
            </a:r>
          </a:p>
        </p:txBody>
      </p:sp>
      <p:sp>
        <p:nvSpPr>
          <p:cNvPr id="8" name="s11-rect-7">
            <a:extLst xmlns:a="http://schemas.openxmlformats.org/drawingml/2006/main">
              <a:ext uri="{FF2B5EF4-FFF2-40B4-BE49-F238E27FC236}">
                <a16:creationId xmlns:a16="http://schemas.microsoft.com/office/drawing/2014/main" id="{80412BCE-D9B4-4F64-A458-743867CF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1-text-8">
            <a:extLst xmlns:a="http://schemas.openxmlformats.org/drawingml/2006/main">
              <a:ext uri="{FF2B5EF4-FFF2-40B4-BE49-F238E27FC236}">
                <a16:creationId xmlns:a16="http://schemas.microsoft.com/office/drawing/2014/main" id="{168A1921-E207-40A2-817F-983F724B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有人失去空间</a:t>
            </a:r>
          </a:p>
        </p:txBody>
      </p:sp>
      <p:sp>
        <p:nvSpPr>
          <p:cNvPr id="10" name="s11-text-9">
            <a:extLst xmlns:a="http://schemas.openxmlformats.org/drawingml/2006/main">
              <a:ext uri="{FF2B5EF4-FFF2-40B4-BE49-F238E27FC236}">
                <a16:creationId xmlns:a16="http://schemas.microsoft.com/office/drawing/2014/main" id="{E7E1FD02-EF19-4106-9EC5-F07E2157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AI或同伴过早定下方案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自己的问题没有被展开</a:t>
            </a:r>
          </a:p>
        </p:txBody>
      </p:sp>
      <p:sp>
        <p:nvSpPr>
          <p:cNvPr id="11" name="s11-rect-10">
            <a:extLst xmlns:a="http://schemas.openxmlformats.org/drawingml/2006/main">
              <a:ext uri="{FF2B5EF4-FFF2-40B4-BE49-F238E27FC236}">
                <a16:creationId xmlns:a16="http://schemas.microsoft.com/office/drawing/2014/main" id="{EA3CA2B6-9F2E-4D76-92FF-29D1F0D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1-text-11">
            <a:extLst xmlns:a="http://schemas.openxmlformats.org/drawingml/2006/main">
              <a:ext uri="{FF2B5EF4-FFF2-40B4-BE49-F238E27FC236}">
                <a16:creationId xmlns:a16="http://schemas.microsoft.com/office/drawing/2014/main" id="{46825E5E-851B-4BF3-9626-EB1533F7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有人始终在旁边</a:t>
            </a:r>
          </a:p>
        </p:txBody>
      </p:sp>
      <p:sp>
        <p:nvSpPr>
          <p:cNvPr id="13" name="s11-text-12">
            <a:extLst xmlns:a="http://schemas.openxmlformats.org/drawingml/2006/main">
              <a:ext uri="{FF2B5EF4-FFF2-40B4-BE49-F238E27FC236}">
                <a16:creationId xmlns:a16="http://schemas.microsoft.com/office/drawing/2014/main" id="{EE6E7378-92A7-4475-A8B3-A9865CC8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小组交出了好作品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个人参与仍然难以判断</a:t>
            </a:r>
          </a:p>
        </p:txBody>
      </p:sp>
      <p:sp>
        <p:nvSpPr>
          <p:cNvPr id="14" name="s11-rect-13">
            <a:extLst xmlns:a="http://schemas.openxmlformats.org/drawingml/2006/main">
              <a:ext uri="{FF2B5EF4-FFF2-40B4-BE49-F238E27FC236}">
                <a16:creationId xmlns:a16="http://schemas.microsoft.com/office/drawing/2014/main" id="{8903F5A3-2F05-41EE-AE36-287C3C28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1-text-14">
            <a:extLst xmlns:a="http://schemas.openxmlformats.org/drawingml/2006/main">
              <a:ext uri="{FF2B5EF4-FFF2-40B4-BE49-F238E27FC236}">
                <a16:creationId xmlns:a16="http://schemas.microsoft.com/office/drawing/2014/main" id="{C3EC0A93-21F7-4A60-93C6-807F23F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谁获得了什么机会？谁还需要另一种支持？</a:t>
            </a:r>
          </a:p>
        </p:txBody>
      </p:sp>
      <p:sp>
        <p:nvSpPr>
          <p:cNvPr id="16" name="s11-footer-15">
            <a:extLst xmlns:a="http://schemas.openxmlformats.org/drawingml/2006/main">
              <a:ext uri="{FF2B5EF4-FFF2-40B4-BE49-F238E27FC236}">
                <a16:creationId xmlns:a16="http://schemas.microsoft.com/office/drawing/2014/main" id="{EEBDD086-F6C1-49C3-9027-5884FAC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1-footer-16">
            <a:extLst xmlns:a="http://schemas.openxmlformats.org/drawingml/2006/main">
              <a:ext uri="{FF2B5EF4-FFF2-40B4-BE49-F238E27FC236}">
                <a16:creationId xmlns:a16="http://schemas.microsoft.com/office/drawing/2014/main" id="{C21CCB04-8AF0-4DF9-B865-9FC50812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11 / 36</a:t>
            </a:r>
          </a:p>
        </p:txBody>
      </p:sp>
    </p:spTree>
    <p:extLst>
      <p:ext uri="{BB962C8B-B14F-4D97-AF65-F5344CB8AC3E}">
        <p14:creationId xmlns:p14="http://schemas.microsoft.com/office/powerpoint/2010/main" val="7089930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12-text-0">
            <a:extLst xmlns:a="http://schemas.openxmlformats.org/drawingml/2006/main">
              <a:ext uri="{FF2B5EF4-FFF2-40B4-BE49-F238E27FC236}">
                <a16:creationId xmlns:a16="http://schemas.microsoft.com/office/drawing/2014/main" id="{00F1EBBE-5A29-4493-BB25-7E055D51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bfeb694f648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2-title-2">
            <a:extLst xmlns:a="http://schemas.openxmlformats.org/drawingml/2006/main">
              <a:ext uri="{FF2B5EF4-FFF2-40B4-BE49-F238E27FC236}">
                <a16:creationId xmlns:a16="http://schemas.microsoft.com/office/drawing/2014/main" id="{ABC2ADA4-2556-47C0-9782-8A32B04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能力框架，为具体判断提供基础</a:t>
            </a:r>
          </a:p>
        </p:txBody>
      </p:sp>
      <p:sp>
        <p:nvSpPr>
          <p:cNvPr id="4" name="s12-rect-3">
            <a:extLst xmlns:a="http://schemas.openxmlformats.org/drawingml/2006/main">
              <a:ext uri="{FF2B5EF4-FFF2-40B4-BE49-F238E27FC236}">
                <a16:creationId xmlns:a16="http://schemas.microsoft.com/office/drawing/2014/main" id="{816C5037-B9DC-4F5A-9006-737344FF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12-text-4">
            <a:extLst xmlns:a="http://schemas.openxmlformats.org/drawingml/2006/main">
              <a:ext uri="{FF2B5EF4-FFF2-40B4-BE49-F238E27FC236}">
                <a16:creationId xmlns:a16="http://schemas.microsoft.com/office/drawing/2014/main" id="{E5266E4B-714C-4282-9E0F-D3EAE953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UNESCO教师框架</a:t>
            </a:r>
          </a:p>
        </p:txBody>
      </p:sp>
      <p:sp>
        <p:nvSpPr>
          <p:cNvPr id="6" name="s12-text-5">
            <a:extLst xmlns:a="http://schemas.openxmlformats.org/drawingml/2006/main">
              <a:ext uri="{FF2B5EF4-FFF2-40B4-BE49-F238E27FC236}">
                <a16:creationId xmlns:a16="http://schemas.microsoft.com/office/drawing/2014/main" id="{AE736B02-21F6-4D0F-B6F0-1F2CABD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以人为本与伦理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AI基础与应用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AI教学法与专业学习</a:t>
            </a:r>
          </a:p>
        </p:txBody>
      </p:sp>
      <p:sp>
        <p:nvSpPr>
          <p:cNvPr id="7" name="s12-rect-6">
            <a:extLst xmlns:a="http://schemas.openxmlformats.org/drawingml/2006/main">
              <a:ext uri="{FF2B5EF4-FFF2-40B4-BE49-F238E27FC236}">
                <a16:creationId xmlns:a16="http://schemas.microsoft.com/office/drawing/2014/main" id="{9F05EE49-E33C-459B-8E19-F76EBD4B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12-text-7">
            <a:extLst xmlns:a="http://schemas.openxmlformats.org/drawingml/2006/main">
              <a:ext uri="{FF2B5EF4-FFF2-40B4-BE49-F238E27FC236}">
                <a16:creationId xmlns:a16="http://schemas.microsoft.com/office/drawing/2014/main" id="{996DCF0C-A9FD-4E78-A78A-E204C7AD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GenAI响应性框架</a:t>
            </a:r>
          </a:p>
        </p:txBody>
      </p:sp>
      <p:sp>
        <p:nvSpPr>
          <p:cNvPr id="9" name="s12-text-8">
            <a:extLst xmlns:a="http://schemas.openxmlformats.org/drawingml/2006/main">
              <a:ext uri="{FF2B5EF4-FFF2-40B4-BE49-F238E27FC236}">
                <a16:creationId xmlns:a16="http://schemas.microsoft.com/office/drawing/2014/main" id="{A23876A3-D00E-4DC7-A789-4FC998B8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GenAI素养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课程与学习设计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教与学、评价</a:t>
            </a:r>
          </a:p>
        </p:txBody>
      </p:sp>
      <p:sp>
        <p:nvSpPr>
          <p:cNvPr id="10" name="s12-rect-9">
            <a:extLst xmlns:a="http://schemas.openxmlformats.org/drawingml/2006/main">
              <a:ext uri="{FF2B5EF4-FFF2-40B4-BE49-F238E27FC236}">
                <a16:creationId xmlns:a16="http://schemas.microsoft.com/office/drawing/2014/main" id="{2CCB4D7F-9195-4572-AF2E-EA3B459B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12-text-10">
            <a:extLst xmlns:a="http://schemas.openxmlformats.org/drawingml/2006/main">
              <a:ext uri="{FF2B5EF4-FFF2-40B4-BE49-F238E27FC236}">
                <a16:creationId xmlns:a16="http://schemas.microsoft.com/office/drawing/2014/main" id="{CBCE22EF-D834-4731-AC12-460A480A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这些能力，怎样进入一次具体教学选择？</a:t>
            </a:r>
          </a:p>
        </p:txBody>
      </p:sp>
      <p:sp>
        <p:nvSpPr>
          <p:cNvPr id="12" name="s12-footer-11">
            <a:extLst xmlns:a="http://schemas.openxmlformats.org/drawingml/2006/main">
              <a:ext uri="{FF2B5EF4-FFF2-40B4-BE49-F238E27FC236}">
                <a16:creationId xmlns:a16="http://schemas.microsoft.com/office/drawing/2014/main" id="{2A888DAE-B783-426F-8B86-0BF1048B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UNESCO；Sun et al., 2026 · C&amp;E: AI</a:t>
            </a:r>
          </a:p>
        </p:txBody>
      </p:sp>
      <p:sp>
        <p:nvSpPr>
          <p:cNvPr id="13" name="s12-footer-12">
            <a:extLst xmlns:a="http://schemas.openxmlformats.org/drawingml/2006/main">
              <a:ext uri="{FF2B5EF4-FFF2-40B4-BE49-F238E27FC236}">
                <a16:creationId xmlns:a16="http://schemas.microsoft.com/office/drawing/2014/main" id="{AF2E3BC6-B077-4C65-A6E4-99B8922C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12 / 36</a:t>
            </a:r>
          </a:p>
        </p:txBody>
      </p:sp>
    </p:spTree>
    <p:extLst>
      <p:ext uri="{BB962C8B-B14F-4D97-AF65-F5344CB8AC3E}">
        <p14:creationId xmlns:p14="http://schemas.microsoft.com/office/powerpoint/2010/main" val="4364445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13-text-0">
            <a:extLst xmlns:a="http://schemas.openxmlformats.org/drawingml/2006/main">
              <a:ext uri="{FF2B5EF4-FFF2-40B4-BE49-F238E27FC236}">
                <a16:creationId xmlns:a16="http://schemas.microsoft.com/office/drawing/2014/main" id="{9786833B-B678-406F-A548-3CA151E0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dfc19ee2c420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3-title-2">
            <a:extLst xmlns:a="http://schemas.openxmlformats.org/drawingml/2006/main">
              <a:ext uri="{FF2B5EF4-FFF2-40B4-BE49-F238E27FC236}">
                <a16:creationId xmlns:a16="http://schemas.microsoft.com/office/drawing/2014/main" id="{DF04DDF2-8969-4AEF-B0C6-0B315106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课堂里的决定，正在由谁承担？</a:t>
            </a:r>
          </a:p>
        </p:txBody>
      </p:sp>
      <p:sp>
        <p:nvSpPr>
          <p:cNvPr id="4" name="s13-text-3">
            <a:extLst xmlns:a="http://schemas.openxmlformats.org/drawingml/2006/main">
              <a:ext uri="{FF2B5EF4-FFF2-40B4-BE49-F238E27FC236}">
                <a16:creationId xmlns:a16="http://schemas.microsoft.com/office/drawing/2014/main" id="{8490CF3B-7B67-4677-BAFF-8CF12FD8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谁提出值得研究的问题？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谁判断证据是否充分？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谁决定下一步与何时结束？</a:t>
            </a:r>
          </a:p>
        </p:txBody>
      </p:sp>
      <p:sp>
        <p:nvSpPr>
          <p:cNvPr id="5" name="s13-rect-4">
            <a:extLst xmlns:a="http://schemas.openxmlformats.org/drawingml/2006/main">
              <a:ext uri="{FF2B5EF4-FFF2-40B4-BE49-F238E27FC236}">
                <a16:creationId xmlns:a16="http://schemas.microsoft.com/office/drawing/2014/main" id="{339FF149-4D72-4B0A-B108-D45C5FE2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3-text-5">
            <a:extLst xmlns:a="http://schemas.openxmlformats.org/drawingml/2006/main">
              <a:ext uri="{FF2B5EF4-FFF2-40B4-BE49-F238E27FC236}">
                <a16:creationId xmlns:a16="http://schemas.microsoft.com/office/drawing/2014/main" id="{5609582B-C582-4553-9E46-1A9B0ED4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请想一想：学生能改变其中哪些决定？</a:t>
            </a:r>
          </a:p>
        </p:txBody>
      </p:sp>
      <p:sp>
        <p:nvSpPr>
          <p:cNvPr id="7" name="s13-footer-6">
            <a:extLst xmlns:a="http://schemas.openxmlformats.org/drawingml/2006/main">
              <a:ext uri="{FF2B5EF4-FFF2-40B4-BE49-F238E27FC236}">
                <a16:creationId xmlns:a16="http://schemas.microsoft.com/office/drawing/2014/main" id="{E9275399-FEC1-44BC-9287-0C79C55D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13-footer-7">
            <a:extLst xmlns:a="http://schemas.openxmlformats.org/drawingml/2006/main">
              <a:ext uri="{FF2B5EF4-FFF2-40B4-BE49-F238E27FC236}">
                <a16:creationId xmlns:a16="http://schemas.microsoft.com/office/drawing/2014/main" id="{E268A32C-C4CC-416F-9CCD-9829AA4B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13 / 36</a:t>
            </a:r>
          </a:p>
        </p:txBody>
      </p:sp>
    </p:spTree>
    <p:extLst>
      <p:ext uri="{BB962C8B-B14F-4D97-AF65-F5344CB8AC3E}">
        <p14:creationId xmlns:p14="http://schemas.microsoft.com/office/powerpoint/2010/main" val="11111759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14-text-0">
            <a:extLst xmlns:a="http://schemas.openxmlformats.org/drawingml/2006/main">
              <a:ext uri="{FF2B5EF4-FFF2-40B4-BE49-F238E27FC236}">
                <a16:creationId xmlns:a16="http://schemas.microsoft.com/office/drawing/2014/main" id="{B7C62FBE-75EF-42B5-ABBE-507FEA4C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bbbd713c647f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4-title-2">
            <a:extLst xmlns:a="http://schemas.openxmlformats.org/drawingml/2006/main">
              <a:ext uri="{FF2B5EF4-FFF2-40B4-BE49-F238E27FC236}">
                <a16:creationId xmlns:a16="http://schemas.microsoft.com/office/drawing/2014/main" id="{FE158567-59C4-4856-A396-B955CBA3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把人机合作展开成具体的工作</a:t>
            </a:r>
          </a:p>
        </p:txBody>
      </p:sp>
      <p:sp>
        <p:nvSpPr>
          <p:cNvPr id="4" name="s14-text-3">
            <a:extLst xmlns:a="http://schemas.openxmlformats.org/drawingml/2006/main">
              <a:ext uri="{FF2B5EF4-FFF2-40B4-BE49-F238E27FC236}">
                <a16:creationId xmlns:a16="http://schemas.microsoft.com/office/drawing/2014/main" id="{624CBC6D-D1B6-4611-85E4-632C1EC5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讨论示例：同一节课可以有不同承担方式。</a:t>
            </a:r>
          </a:p>
        </p:txBody>
      </p:sp>
      <p:sp>
        <p:nvSpPr>
          <p:cNvPr id="5" name="s14-rect-4">
            <a:extLst xmlns:a="http://schemas.openxmlformats.org/drawingml/2006/main">
              <a:ext uri="{FF2B5EF4-FFF2-40B4-BE49-F238E27FC236}">
                <a16:creationId xmlns:a16="http://schemas.microsoft.com/office/drawing/2014/main" id="{1DEF9726-F098-46C4-A6DB-74098A13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4-text-5">
            <a:extLst xmlns:a="http://schemas.openxmlformats.org/drawingml/2006/main">
              <a:ext uri="{FF2B5EF4-FFF2-40B4-BE49-F238E27FC236}">
                <a16:creationId xmlns:a16="http://schemas.microsoft.com/office/drawing/2014/main" id="{4DDDE351-F9B8-497D-A50F-7CAD5480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关键工作</a:t>
            </a:r>
          </a:p>
        </p:txBody>
      </p:sp>
      <p:sp>
        <p:nvSpPr>
          <p:cNvPr id="7" name="s14-text-6">
            <a:extLst xmlns:a="http://schemas.openxmlformats.org/drawingml/2006/main">
              <a:ext uri="{FF2B5EF4-FFF2-40B4-BE49-F238E27FC236}">
                <a16:creationId xmlns:a16="http://schemas.microsoft.com/office/drawing/2014/main" id="{FED8091A-10CC-456C-A113-4CFFE75E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一种可能的安排</a:t>
            </a:r>
          </a:p>
        </p:txBody>
      </p:sp>
      <p:sp>
        <p:nvSpPr>
          <p:cNvPr id="8" name="s14-text-7">
            <a:extLst xmlns:a="http://schemas.openxmlformats.org/drawingml/2006/main">
              <a:ext uri="{FF2B5EF4-FFF2-40B4-BE49-F238E27FC236}">
                <a16:creationId xmlns:a16="http://schemas.microsoft.com/office/drawing/2014/main" id="{8F697C25-F5FB-46A6-B914-4E335E85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继续追问</a:t>
            </a:r>
          </a:p>
        </p:txBody>
      </p:sp>
      <p:sp>
        <p:nvSpPr>
          <p:cNvPr id="9" name="s14-text-8">
            <a:extLst xmlns:a="http://schemas.openxmlformats.org/drawingml/2006/main">
              <a:ext uri="{FF2B5EF4-FFF2-40B4-BE49-F238E27FC236}">
                <a16:creationId xmlns:a16="http://schemas.microsoft.com/office/drawing/2014/main" id="{086DD3F6-3872-4FCB-9AC4-06D6049B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提出问题</a:t>
            </a:r>
          </a:p>
        </p:txBody>
      </p:sp>
      <p:sp>
        <p:nvSpPr>
          <p:cNvPr id="10" name="s14-text-9">
            <a:extLst xmlns:a="http://schemas.openxmlformats.org/drawingml/2006/main">
              <a:ext uri="{FF2B5EF4-FFF2-40B4-BE49-F238E27FC236}">
                <a16:creationId xmlns:a16="http://schemas.microsoft.com/office/drawing/2014/main" id="{2E1FB293-BECD-402C-A690-98097BB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学生提初问，师生共同聚焦</a:t>
            </a:r>
          </a:p>
        </p:txBody>
      </p:sp>
      <p:sp>
        <p:nvSpPr>
          <p:cNvPr id="11" name="s14-text-10">
            <a:extLst xmlns:a="http://schemas.openxmlformats.org/drawingml/2006/main">
              <a:ext uri="{FF2B5EF4-FFF2-40B4-BE49-F238E27FC236}">
                <a16:creationId xmlns:a16="http://schemas.microsoft.com/office/drawing/2014/main" id="{69A2ADA2-4C79-442E-B222-9EA8375D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学生的问题进入任务了吗？</a:t>
            </a:r>
          </a:p>
        </p:txBody>
      </p:sp>
      <p:sp>
        <p:nvSpPr>
          <p:cNvPr id="12" name="s14-rect-11">
            <a:extLst xmlns:a="http://schemas.openxmlformats.org/drawingml/2006/main">
              <a:ext uri="{FF2B5EF4-FFF2-40B4-BE49-F238E27FC236}">
                <a16:creationId xmlns:a16="http://schemas.microsoft.com/office/drawing/2014/main" id="{DBBC9249-7628-4341-B987-F2F208C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4-text-12">
            <a:extLst xmlns:a="http://schemas.openxmlformats.org/drawingml/2006/main">
              <a:ext uri="{FF2B5EF4-FFF2-40B4-BE49-F238E27FC236}">
                <a16:creationId xmlns:a16="http://schemas.microsoft.com/office/drawing/2014/main" id="{646A9A46-4199-41A5-8BD3-EC10E59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生成方案</a:t>
            </a:r>
          </a:p>
        </p:txBody>
      </p:sp>
      <p:sp>
        <p:nvSpPr>
          <p:cNvPr id="14" name="s14-text-13">
            <a:extLst xmlns:a="http://schemas.openxmlformats.org/drawingml/2006/main">
              <a:ext uri="{FF2B5EF4-FFF2-40B4-BE49-F238E27FC236}">
                <a16:creationId xmlns:a16="http://schemas.microsoft.com/office/drawing/2014/main" id="{D7EBFCBB-2CF2-4B88-A1A6-6BD03651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AI提供备选，学生比较</a:t>
            </a:r>
          </a:p>
        </p:txBody>
      </p:sp>
      <p:sp>
        <p:nvSpPr>
          <p:cNvPr id="15" name="s14-text-14">
            <a:extLst xmlns:a="http://schemas.openxmlformats.org/drawingml/2006/main">
              <a:ext uri="{FF2B5EF4-FFF2-40B4-BE49-F238E27FC236}">
                <a16:creationId xmlns:a16="http://schemas.microsoft.com/office/drawing/2014/main" id="{CED31122-D50D-4367-A41C-A73894EC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比较依据由谁形成？</a:t>
            </a:r>
          </a:p>
        </p:txBody>
      </p:sp>
      <p:sp>
        <p:nvSpPr>
          <p:cNvPr id="16" name="s14-rect-15">
            <a:extLst xmlns:a="http://schemas.openxmlformats.org/drawingml/2006/main">
              <a:ext uri="{FF2B5EF4-FFF2-40B4-BE49-F238E27FC236}">
                <a16:creationId xmlns:a16="http://schemas.microsoft.com/office/drawing/2014/main" id="{F977DB51-2AC4-42DB-B92E-9C17D1D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4-text-16">
            <a:extLst xmlns:a="http://schemas.openxmlformats.org/drawingml/2006/main">
              <a:ext uri="{FF2B5EF4-FFF2-40B4-BE49-F238E27FC236}">
                <a16:creationId xmlns:a16="http://schemas.microsoft.com/office/drawing/2014/main" id="{E8B912DA-F45E-4C65-8721-7342986A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解释证据</a:t>
            </a:r>
          </a:p>
        </p:txBody>
      </p:sp>
      <p:sp>
        <p:nvSpPr>
          <p:cNvPr id="18" name="s14-text-17">
            <a:extLst xmlns:a="http://schemas.openxmlformats.org/drawingml/2006/main">
              <a:ext uri="{FF2B5EF4-FFF2-40B4-BE49-F238E27FC236}">
                <a16:creationId xmlns:a16="http://schemas.microsoft.com/office/drawing/2014/main" id="{E0B6F7A2-856C-49B5-B5FD-F147F6C9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学生与同伴先讨论，AI补充</a:t>
            </a:r>
          </a:p>
        </p:txBody>
      </p:sp>
      <p:sp>
        <p:nvSpPr>
          <p:cNvPr id="19" name="s14-text-18">
            <a:extLst xmlns:a="http://schemas.openxmlformats.org/drawingml/2006/main">
              <a:ext uri="{FF2B5EF4-FFF2-40B4-BE49-F238E27FC236}">
                <a16:creationId xmlns:a16="http://schemas.microsoft.com/office/drawing/2014/main" id="{078D7CCC-575B-4738-856F-D323264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解释影响了实际决定吗？</a:t>
            </a:r>
          </a:p>
        </p:txBody>
      </p:sp>
      <p:sp>
        <p:nvSpPr>
          <p:cNvPr id="20" name="s14-rect-19">
            <a:extLst xmlns:a="http://schemas.openxmlformats.org/drawingml/2006/main">
              <a:ext uri="{FF2B5EF4-FFF2-40B4-BE49-F238E27FC236}">
                <a16:creationId xmlns:a16="http://schemas.microsoft.com/office/drawing/2014/main" id="{6E50E574-0FF7-453F-A5DB-68D72129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4-text-20">
            <a:extLst xmlns:a="http://schemas.openxmlformats.org/drawingml/2006/main">
              <a:ext uri="{FF2B5EF4-FFF2-40B4-BE49-F238E27FC236}">
                <a16:creationId xmlns:a16="http://schemas.microsoft.com/office/drawing/2014/main" id="{8AA99411-7450-45DB-930E-D4B31537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决定修改</a:t>
            </a:r>
          </a:p>
        </p:txBody>
      </p:sp>
      <p:sp>
        <p:nvSpPr>
          <p:cNvPr id="22" name="s14-text-21">
            <a:extLst xmlns:a="http://schemas.openxmlformats.org/drawingml/2006/main">
              <a:ext uri="{FF2B5EF4-FFF2-40B4-BE49-F238E27FC236}">
                <a16:creationId xmlns:a16="http://schemas.microsoft.com/office/drawing/2014/main" id="{B99577E6-8C8C-487B-BDB7-F7B5E5C2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小组提出修改，教师追问</a:t>
            </a:r>
          </a:p>
        </p:txBody>
      </p:sp>
      <p:sp>
        <p:nvSpPr>
          <p:cNvPr id="23" name="s14-text-22">
            <a:extLst xmlns:a="http://schemas.openxmlformats.org/drawingml/2006/main">
              <a:ext uri="{FF2B5EF4-FFF2-40B4-BE49-F238E27FC236}">
                <a16:creationId xmlns:a16="http://schemas.microsoft.com/office/drawing/2014/main" id="{F9F337B6-ED52-4D20-B562-3D00C66E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谁能说明修改的理由？</a:t>
            </a:r>
          </a:p>
        </p:txBody>
      </p:sp>
      <p:sp>
        <p:nvSpPr>
          <p:cNvPr id="24" name="s14-rect-23">
            <a:extLst xmlns:a="http://schemas.openxmlformats.org/drawingml/2006/main">
              <a:ext uri="{FF2B5EF4-FFF2-40B4-BE49-F238E27FC236}">
                <a16:creationId xmlns:a16="http://schemas.microsoft.com/office/drawing/2014/main" id="{7D3EB449-0EAA-47DE-9A09-4C3A372B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5" name="s14-text-24">
            <a:extLst xmlns:a="http://schemas.openxmlformats.org/drawingml/2006/main">
              <a:ext uri="{FF2B5EF4-FFF2-40B4-BE49-F238E27FC236}">
                <a16:creationId xmlns:a16="http://schemas.microsoft.com/office/drawing/2014/main" id="{9081A090-2DFD-4E0E-ACAF-44E862FC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判断完成</a:t>
            </a:r>
          </a:p>
        </p:txBody>
      </p:sp>
      <p:sp>
        <p:nvSpPr>
          <p:cNvPr id="26" name="s14-text-25">
            <a:extLst xmlns:a="http://schemas.openxmlformats.org/drawingml/2006/main">
              <a:ext uri="{FF2B5EF4-FFF2-40B4-BE49-F238E27FC236}">
                <a16:creationId xmlns:a16="http://schemas.microsoft.com/office/drawing/2014/main" id="{DA65E318-5FFE-480F-B6F4-66E4723D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师生参照标准共同回看</a:t>
            </a:r>
          </a:p>
        </p:txBody>
      </p:sp>
      <p:sp>
        <p:nvSpPr>
          <p:cNvPr id="27" name="s14-text-26">
            <a:extLst xmlns:a="http://schemas.openxmlformats.org/drawingml/2006/main">
              <a:ext uri="{FF2B5EF4-FFF2-40B4-BE49-F238E27FC236}">
                <a16:creationId xmlns:a16="http://schemas.microsoft.com/office/drawing/2014/main" id="{025764D5-C5FC-49A2-A4BD-5E7D4FB8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标准是否被学生理解？</a:t>
            </a:r>
          </a:p>
        </p:txBody>
      </p:sp>
      <p:sp>
        <p:nvSpPr>
          <p:cNvPr id="28" name="s14-rect-27">
            <a:extLst xmlns:a="http://schemas.openxmlformats.org/drawingml/2006/main">
              <a:ext uri="{FF2B5EF4-FFF2-40B4-BE49-F238E27FC236}">
                <a16:creationId xmlns:a16="http://schemas.microsoft.com/office/drawing/2014/main" id="{6D383F00-ACB1-4147-AF23-34920C18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9" name="s14-footer-28">
            <a:extLst xmlns:a="http://schemas.openxmlformats.org/drawingml/2006/main">
              <a:ext uri="{FF2B5EF4-FFF2-40B4-BE49-F238E27FC236}">
                <a16:creationId xmlns:a16="http://schemas.microsoft.com/office/drawing/2014/main" id="{8DB92D1B-B04E-43D6-B21C-891485A7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30" name="s14-footer-29">
            <a:extLst xmlns:a="http://schemas.openxmlformats.org/drawingml/2006/main">
              <a:ext uri="{FF2B5EF4-FFF2-40B4-BE49-F238E27FC236}">
                <a16:creationId xmlns:a16="http://schemas.microsoft.com/office/drawing/2014/main" id="{F1B8A3F9-3A20-4152-A3F1-2BC97CDA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14 / 36</a:t>
            </a:r>
          </a:p>
        </p:txBody>
      </p:sp>
    </p:spTree>
    <p:extLst>
      <p:ext uri="{BB962C8B-B14F-4D97-AF65-F5344CB8AC3E}">
        <p14:creationId xmlns:p14="http://schemas.microsoft.com/office/powerpoint/2010/main" val="1029047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5-text-0">
            <a:extLst xmlns:a="http://schemas.openxmlformats.org/drawingml/2006/main">
              <a:ext uri="{FF2B5EF4-FFF2-40B4-BE49-F238E27FC236}">
                <a16:creationId xmlns:a16="http://schemas.microsoft.com/office/drawing/2014/main" id="{3087805C-A229-4C7A-B94E-ADEAC3A4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b6648ed81431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5-title-2">
            <a:extLst xmlns:a="http://schemas.openxmlformats.org/drawingml/2006/main">
              <a:ext uri="{FF2B5EF4-FFF2-40B4-BE49-F238E27FC236}">
                <a16:creationId xmlns:a16="http://schemas.microsoft.com/office/drawing/2014/main" id="{21643760-173B-4F17-9A72-C7016653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一句提示词，无法决定整节课</a:t>
            </a:r>
          </a:p>
        </p:txBody>
      </p:sp>
      <p:sp>
        <p:nvSpPr>
          <p:cNvPr id="4" name="s15-text-3">
            <a:extLst xmlns:a="http://schemas.openxmlformats.org/drawingml/2006/main">
              <a:ext uri="{FF2B5EF4-FFF2-40B4-BE49-F238E27FC236}">
                <a16:creationId xmlns:a16="http://schemas.microsoft.com/office/drawing/2014/main" id="{3EE4A3B3-8EBC-42C9-941A-692B8A47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学生实际遇到的支持，来自多个环节。</a:t>
            </a:r>
          </a:p>
        </p:txBody>
      </p:sp>
      <p:sp>
        <p:nvSpPr>
          <p:cNvPr id="5" name="s15-rect-4">
            <a:extLst xmlns:a="http://schemas.openxmlformats.org/drawingml/2006/main">
              <a:ext uri="{FF2B5EF4-FFF2-40B4-BE49-F238E27FC236}">
                <a16:creationId xmlns:a16="http://schemas.microsoft.com/office/drawing/2014/main" id="{2E55A6D1-757E-4FB0-9C6C-BBF93ACC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5-text-5">
            <a:extLst xmlns:a="http://schemas.openxmlformats.org/drawingml/2006/main">
              <a:ext uri="{FF2B5EF4-FFF2-40B4-BE49-F238E27FC236}">
                <a16:creationId xmlns:a16="http://schemas.microsoft.com/office/drawing/2014/main" id="{6414E06A-E592-43B6-A4FA-EBE914C4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模型与提示</a:t>
            </a:r>
          </a:p>
        </p:txBody>
      </p:sp>
      <p:sp>
        <p:nvSpPr>
          <p:cNvPr id="7" name="s15-text-6">
            <a:extLst xmlns:a="http://schemas.openxmlformats.org/drawingml/2006/main">
              <a:ext uri="{FF2B5EF4-FFF2-40B4-BE49-F238E27FC236}">
                <a16:creationId xmlns:a16="http://schemas.microsoft.com/office/drawing/2014/main" id="{146229FD-887D-47F8-957F-686427F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AI能够做什么、被要求怎样回应</a:t>
            </a:r>
          </a:p>
        </p:txBody>
      </p:sp>
      <p:sp>
        <p:nvSpPr>
          <p:cNvPr id="8" name="s15-rect-7">
            <a:extLst xmlns:a="http://schemas.openxmlformats.org/drawingml/2006/main">
              <a:ext uri="{FF2B5EF4-FFF2-40B4-BE49-F238E27FC236}">
                <a16:creationId xmlns:a16="http://schemas.microsoft.com/office/drawing/2014/main" id="{541390D4-E488-4FD6-AB3A-62E93281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5-text-8">
            <a:extLst xmlns:a="http://schemas.openxmlformats.org/drawingml/2006/main">
              <a:ext uri="{FF2B5EF4-FFF2-40B4-BE49-F238E27FC236}">
                <a16:creationId xmlns:a16="http://schemas.microsoft.com/office/drawing/2014/main" id="{9AAFD911-ADC5-4931-B84A-FC7F3DB8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角色与流程</a:t>
            </a:r>
          </a:p>
        </p:txBody>
      </p:sp>
      <p:sp>
        <p:nvSpPr>
          <p:cNvPr id="10" name="s15-text-9">
            <a:extLst xmlns:a="http://schemas.openxmlformats.org/drawingml/2006/main">
              <a:ext uri="{FF2B5EF4-FFF2-40B4-BE49-F238E27FC236}">
                <a16:creationId xmlns:a16="http://schemas.microsoft.com/office/drawing/2014/main" id="{3D017364-E94B-41D8-AEE4-80AE4278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76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何时调用、依次经过哪些活动、谁负责回应</a:t>
            </a:r>
          </a:p>
        </p:txBody>
      </p:sp>
      <p:sp>
        <p:nvSpPr>
          <p:cNvPr id="11" name="s15-rect-10">
            <a:extLst xmlns:a="http://schemas.openxmlformats.org/drawingml/2006/main">
              <a:ext uri="{FF2B5EF4-FFF2-40B4-BE49-F238E27FC236}">
                <a16:creationId xmlns:a16="http://schemas.microsoft.com/office/drawing/2014/main" id="{2EE409EE-E343-4920-BBFF-051E49D2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5-text-11">
            <a:extLst xmlns:a="http://schemas.openxmlformats.org/drawingml/2006/main">
              <a:ext uri="{FF2B5EF4-FFF2-40B4-BE49-F238E27FC236}">
                <a16:creationId xmlns:a16="http://schemas.microsoft.com/office/drawing/2014/main" id="{244380A7-D7A1-473F-80F4-32CFF2C9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界面与课堂</a:t>
            </a:r>
          </a:p>
        </p:txBody>
      </p:sp>
      <p:sp>
        <p:nvSpPr>
          <p:cNvPr id="13" name="s15-text-12">
            <a:extLst xmlns:a="http://schemas.openxmlformats.org/drawingml/2006/main">
              <a:ext uri="{FF2B5EF4-FFF2-40B4-BE49-F238E27FC236}">
                <a16:creationId xmlns:a16="http://schemas.microsoft.com/office/drawing/2014/main" id="{2AD73D1E-A17B-4693-A65C-7D54B968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0292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看见什么、必须提交什么、教师和同伴怎样介入</a:t>
            </a:r>
          </a:p>
        </p:txBody>
      </p:sp>
      <p:sp>
        <p:nvSpPr>
          <p:cNvPr id="14" name="s15-rect-13">
            <a:extLst xmlns:a="http://schemas.openxmlformats.org/drawingml/2006/main">
              <a:ext uri="{FF2B5EF4-FFF2-40B4-BE49-F238E27FC236}">
                <a16:creationId xmlns:a16="http://schemas.microsoft.com/office/drawing/2014/main" id="{2E808CF0-06F0-4DCB-8C28-6FD3E3C0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5-text-14">
            <a:extLst xmlns:a="http://schemas.openxmlformats.org/drawingml/2006/main">
              <a:ext uri="{FF2B5EF4-FFF2-40B4-BE49-F238E27FC236}">
                <a16:creationId xmlns:a16="http://schemas.microsoft.com/office/drawing/2014/main" id="{7435E356-FDFC-46ED-B8F5-3070DAF5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改变一个环节之后，还要查看实际互动是否改变。</a:t>
            </a:r>
          </a:p>
        </p:txBody>
      </p:sp>
      <p:sp>
        <p:nvSpPr>
          <p:cNvPr id="16" name="s15-footer-15">
            <a:extLst xmlns:a="http://schemas.openxmlformats.org/drawingml/2006/main">
              <a:ext uri="{FF2B5EF4-FFF2-40B4-BE49-F238E27FC236}">
                <a16:creationId xmlns:a16="http://schemas.microsoft.com/office/drawing/2014/main" id="{DCCBC94C-A708-483B-8A41-3C911C4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5-footer-16">
            <a:extLst xmlns:a="http://schemas.openxmlformats.org/drawingml/2006/main">
              <a:ext uri="{FF2B5EF4-FFF2-40B4-BE49-F238E27FC236}">
                <a16:creationId xmlns:a16="http://schemas.microsoft.com/office/drawing/2014/main" id="{6B42E999-115E-47F2-A2E6-1D297CA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15 / 36</a:t>
            </a:r>
          </a:p>
        </p:txBody>
      </p:sp>
    </p:spTree>
    <p:extLst>
      <p:ext uri="{BB962C8B-B14F-4D97-AF65-F5344CB8AC3E}">
        <p14:creationId xmlns:p14="http://schemas.microsoft.com/office/powerpoint/2010/main" val="6147173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6-text-0">
            <a:extLst xmlns:a="http://schemas.openxmlformats.org/drawingml/2006/main">
              <a:ext uri="{FF2B5EF4-FFF2-40B4-BE49-F238E27FC236}">
                <a16:creationId xmlns:a16="http://schemas.microsoft.com/office/drawing/2014/main" id="{DDEBF339-8060-44C6-A8C0-3047B45C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902c30171491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6-title-2">
            <a:extLst xmlns:a="http://schemas.openxmlformats.org/drawingml/2006/main">
              <a:ext uri="{FF2B5EF4-FFF2-40B4-BE49-F238E27FC236}">
                <a16:creationId xmlns:a16="http://schemas.microsoft.com/office/drawing/2014/main" id="{78F7733D-B79A-42E1-B05F-79201765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完整示范之后，学生接着做什么？</a:t>
            </a:r>
          </a:p>
        </p:txBody>
      </p:sp>
      <p:sp>
        <p:nvSpPr>
          <p:cNvPr id="4" name="s16-text-3">
            <a:extLst xmlns:a="http://schemas.openxmlformats.org/drawingml/2006/main">
              <a:ext uri="{FF2B5EF4-FFF2-40B4-BE49-F238E27FC236}">
                <a16:creationId xmlns:a16="http://schemas.microsoft.com/office/drawing/2014/main" id="{5A371730-C6D6-4A1A-B631-FFD8E247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AI给出答案，可以成为进一步学习的材料。</a:t>
            </a:r>
          </a:p>
        </p:txBody>
      </p:sp>
      <p:sp>
        <p:nvSpPr>
          <p:cNvPr id="5" name="s16-rect-4">
            <a:extLst xmlns:a="http://schemas.openxmlformats.org/drawingml/2006/main">
              <a:ext uri="{FF2B5EF4-FFF2-40B4-BE49-F238E27FC236}">
                <a16:creationId xmlns:a16="http://schemas.microsoft.com/office/drawing/2014/main" id="{AF6C64E8-4062-484F-BD2D-7AA44EDF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6-text-5">
            <a:extLst xmlns:a="http://schemas.openxmlformats.org/drawingml/2006/main">
              <a:ext uri="{FF2B5EF4-FFF2-40B4-BE49-F238E27FC236}">
                <a16:creationId xmlns:a16="http://schemas.microsoft.com/office/drawing/2014/main" id="{2A17A7A8-E8F4-41F7-A634-6E590A80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比较</a:t>
            </a:r>
          </a:p>
        </p:txBody>
      </p:sp>
      <p:sp>
        <p:nvSpPr>
          <p:cNvPr id="7" name="s16-text-6">
            <a:extLst xmlns:a="http://schemas.openxmlformats.org/drawingml/2006/main">
              <a:ext uri="{FF2B5EF4-FFF2-40B4-BE49-F238E27FC236}">
                <a16:creationId xmlns:a16="http://schemas.microsoft.com/office/drawing/2014/main" id="{D2D2AE7C-20F0-4264-B4C2-4E53D04D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两份方案的假设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和证据要求有什么不同？</a:t>
            </a:r>
          </a:p>
        </p:txBody>
      </p:sp>
      <p:sp>
        <p:nvSpPr>
          <p:cNvPr id="8" name="s16-rect-7">
            <a:extLst xmlns:a="http://schemas.openxmlformats.org/drawingml/2006/main">
              <a:ext uri="{FF2B5EF4-FFF2-40B4-BE49-F238E27FC236}">
                <a16:creationId xmlns:a16="http://schemas.microsoft.com/office/drawing/2014/main" id="{73437B2C-3559-4F0A-AC09-D6C3D4F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6-text-8">
            <a:extLst xmlns:a="http://schemas.openxmlformats.org/drawingml/2006/main">
              <a:ext uri="{FF2B5EF4-FFF2-40B4-BE49-F238E27FC236}">
                <a16:creationId xmlns:a16="http://schemas.microsoft.com/office/drawing/2014/main" id="{69BC860E-C08C-4B47-BEC1-FDD3FF92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解释</a:t>
            </a:r>
          </a:p>
        </p:txBody>
      </p:sp>
      <p:sp>
        <p:nvSpPr>
          <p:cNvPr id="10" name="s16-text-9">
            <a:extLst xmlns:a="http://schemas.openxmlformats.org/drawingml/2006/main">
              <a:ext uri="{FF2B5EF4-FFF2-40B4-BE49-F238E27FC236}">
                <a16:creationId xmlns:a16="http://schemas.microsoft.com/office/drawing/2014/main" id="{74231BD6-288D-4A0E-A0FA-4064683E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为什么这样控制变量？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还有哪些解释没有排除？</a:t>
            </a:r>
          </a:p>
        </p:txBody>
      </p:sp>
      <p:sp>
        <p:nvSpPr>
          <p:cNvPr id="11" name="s16-rect-10">
            <a:extLst xmlns:a="http://schemas.openxmlformats.org/drawingml/2006/main">
              <a:ext uri="{FF2B5EF4-FFF2-40B4-BE49-F238E27FC236}">
                <a16:creationId xmlns:a16="http://schemas.microsoft.com/office/drawing/2014/main" id="{D50679DA-667E-4ABF-B62B-4974923D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6-text-11">
            <a:extLst xmlns:a="http://schemas.openxmlformats.org/drawingml/2006/main">
              <a:ext uri="{FF2B5EF4-FFF2-40B4-BE49-F238E27FC236}">
                <a16:creationId xmlns:a16="http://schemas.microsoft.com/office/drawing/2014/main" id="{1B345A54-80C4-428A-9E23-C9D5A0C7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运用</a:t>
            </a:r>
          </a:p>
        </p:txBody>
      </p:sp>
      <p:sp>
        <p:nvSpPr>
          <p:cNvPr id="13" name="s16-text-12">
            <a:extLst xmlns:a="http://schemas.openxmlformats.org/drawingml/2006/main">
              <a:ext uri="{FF2B5EF4-FFF2-40B4-BE49-F238E27FC236}">
                <a16:creationId xmlns:a16="http://schemas.microsoft.com/office/drawing/2014/main" id="{87DB033D-DBE0-4CEF-97E3-E58D9892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条件变了以后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哪些做法需要重新设计？</a:t>
            </a:r>
          </a:p>
        </p:txBody>
      </p:sp>
      <p:sp>
        <p:nvSpPr>
          <p:cNvPr id="14" name="s16-rect-13">
            <a:extLst xmlns:a="http://schemas.openxmlformats.org/drawingml/2006/main">
              <a:ext uri="{FF2B5EF4-FFF2-40B4-BE49-F238E27FC236}">
                <a16:creationId xmlns:a16="http://schemas.microsoft.com/office/drawing/2014/main" id="{C3FCEF96-243A-4F35-ACCF-71D4AC33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6-text-14">
            <a:extLst xmlns:a="http://schemas.openxmlformats.org/drawingml/2006/main">
              <a:ext uri="{FF2B5EF4-FFF2-40B4-BE49-F238E27FC236}">
                <a16:creationId xmlns:a16="http://schemas.microsoft.com/office/drawing/2014/main" id="{0F4408C0-AD1A-4FA2-AF58-12A0E7FD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教学价值取决于整段活动怎样组织、实际怎样发生。</a:t>
            </a:r>
          </a:p>
        </p:txBody>
      </p:sp>
      <p:sp>
        <p:nvSpPr>
          <p:cNvPr id="16" name="s16-footer-15">
            <a:extLst xmlns:a="http://schemas.openxmlformats.org/drawingml/2006/main">
              <a:ext uri="{FF2B5EF4-FFF2-40B4-BE49-F238E27FC236}">
                <a16:creationId xmlns:a16="http://schemas.microsoft.com/office/drawing/2014/main" id="{39FEE415-B69D-4992-8B76-9C36AE2E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6-footer-16">
            <a:extLst xmlns:a="http://schemas.openxmlformats.org/drawingml/2006/main">
              <a:ext uri="{FF2B5EF4-FFF2-40B4-BE49-F238E27FC236}">
                <a16:creationId xmlns:a16="http://schemas.microsoft.com/office/drawing/2014/main" id="{BC0B6544-1F38-43E6-9BC8-F481E79E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16 / 36</a:t>
            </a:r>
          </a:p>
        </p:txBody>
      </p:sp>
    </p:spTree>
    <p:extLst>
      <p:ext uri="{BB962C8B-B14F-4D97-AF65-F5344CB8AC3E}">
        <p14:creationId xmlns:p14="http://schemas.microsoft.com/office/powerpoint/2010/main" val="5212111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17-text-0">
            <a:extLst xmlns:a="http://schemas.openxmlformats.org/drawingml/2006/main">
              <a:ext uri="{FF2B5EF4-FFF2-40B4-BE49-F238E27FC236}">
                <a16:creationId xmlns:a16="http://schemas.microsoft.com/office/drawing/2014/main" id="{ADB46856-9D48-4129-9EA0-EFACC5E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连续追问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90751887e4ec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7-title-2">
            <a:extLst xmlns:a="http://schemas.openxmlformats.org/drawingml/2006/main">
              <a:ext uri="{FF2B5EF4-FFF2-40B4-BE49-F238E27FC236}">
                <a16:creationId xmlns:a16="http://schemas.microsoft.com/office/drawing/2014/main" id="{057293C3-7B10-4672-B68F-2BBB7C9E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问得很多，学生可能仍在填空</a:t>
            </a:r>
          </a:p>
        </p:txBody>
      </p:sp>
      <p:sp>
        <p:nvSpPr>
          <p:cNvPr id="4" name="s17-text-3">
            <a:extLst xmlns:a="http://schemas.openxmlformats.org/drawingml/2006/main">
              <a:ext uri="{FF2B5EF4-FFF2-40B4-BE49-F238E27FC236}">
                <a16:creationId xmlns:a16="http://schemas.microsoft.com/office/drawing/2014/main" id="{1BAA8EBD-C105-49A5-8486-D99405F5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如果问题、推理顺序和判断标准都由AI预先安排……</a:t>
            </a:r>
          </a:p>
        </p:txBody>
      </p:sp>
      <p:sp>
        <p:nvSpPr>
          <p:cNvPr id="5" name="s17-text-4">
            <a:extLst xmlns:a="http://schemas.openxmlformats.org/drawingml/2006/main">
              <a:ext uri="{FF2B5EF4-FFF2-40B4-BE49-F238E27FC236}">
                <a16:creationId xmlns:a16="http://schemas.microsoft.com/office/drawing/2014/main" id="{34D96C26-A6AE-4822-8760-052D1647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可能出现</a:t>
            </a:r>
          </a:p>
        </p:txBody>
      </p:sp>
      <p:sp>
        <p:nvSpPr>
          <p:cNvPr id="6" name="s17-text-5">
            <a:extLst xmlns:a="http://schemas.openxmlformats.org/drawingml/2006/main">
              <a:ext uri="{FF2B5EF4-FFF2-40B4-BE49-F238E27FC236}">
                <a16:creationId xmlns:a16="http://schemas.microsoft.com/office/drawing/2014/main" id="{ABB2ACC7-08A1-40A9-855D-1CB13AD9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学生回应频繁，却很少选择策略或提出问题</a:t>
            </a:r>
          </a:p>
        </p:txBody>
      </p:sp>
      <p:sp>
        <p:nvSpPr>
          <p:cNvPr id="7" name="s17-text-6">
            <a:extLst xmlns:a="http://schemas.openxmlformats.org/drawingml/2006/main">
              <a:ext uri="{FF2B5EF4-FFF2-40B4-BE49-F238E27FC236}">
                <a16:creationId xmlns:a16="http://schemas.microsoft.com/office/drawing/2014/main" id="{E2B92DFF-BAE5-4471-B576-CE46658C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需要检查</a:t>
            </a:r>
          </a:p>
        </p:txBody>
      </p:sp>
      <p:sp>
        <p:nvSpPr>
          <p:cNvPr id="8" name="s17-text-7">
            <a:extLst xmlns:a="http://schemas.openxmlformats.org/drawingml/2006/main">
              <a:ext uri="{FF2B5EF4-FFF2-40B4-BE49-F238E27FC236}">
                <a16:creationId xmlns:a16="http://schemas.microsoft.com/office/drawing/2014/main" id="{F88C84F8-9D04-4383-848C-ADC872B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学生能否解释推理、改变路线、提出新的疑问？</a:t>
            </a:r>
          </a:p>
        </p:txBody>
      </p:sp>
      <p:sp>
        <p:nvSpPr>
          <p:cNvPr id="9" name="s17-rect-8">
            <a:extLst xmlns:a="http://schemas.openxmlformats.org/drawingml/2006/main">
              <a:ext uri="{FF2B5EF4-FFF2-40B4-BE49-F238E27FC236}">
                <a16:creationId xmlns:a16="http://schemas.microsoft.com/office/drawing/2014/main" id="{B0F1592C-614A-4B25-AA2C-5EB1C50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17-text-9">
            <a:extLst xmlns:a="http://schemas.openxmlformats.org/drawingml/2006/main">
              <a:ext uri="{FF2B5EF4-FFF2-40B4-BE49-F238E27FC236}">
                <a16:creationId xmlns:a16="http://schemas.microsoft.com/office/drawing/2014/main" id="{44B81C9F-BF34-416B-BDC7-822BA87B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一次回应，究竟承担了多大程度的思考与决定？</a:t>
            </a:r>
          </a:p>
        </p:txBody>
      </p:sp>
      <p:sp>
        <p:nvSpPr>
          <p:cNvPr id="11" name="s17-footer-10">
            <a:extLst xmlns:a="http://schemas.openxmlformats.org/drawingml/2006/main">
              <a:ext uri="{FF2B5EF4-FFF2-40B4-BE49-F238E27FC236}">
                <a16:creationId xmlns:a16="http://schemas.microsoft.com/office/drawing/2014/main" id="{B39E373F-3657-4235-8F1D-7A23F1B5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17-footer-11">
            <a:extLst xmlns:a="http://schemas.openxmlformats.org/drawingml/2006/main">
              <a:ext uri="{FF2B5EF4-FFF2-40B4-BE49-F238E27FC236}">
                <a16:creationId xmlns:a16="http://schemas.microsoft.com/office/drawing/2014/main" id="{9D99A506-8C6B-4020-BFFA-333F54AF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17 / 36</a:t>
            </a:r>
          </a:p>
        </p:txBody>
      </p:sp>
    </p:spTree>
    <p:extLst>
      <p:ext uri="{BB962C8B-B14F-4D97-AF65-F5344CB8AC3E}">
        <p14:creationId xmlns:p14="http://schemas.microsoft.com/office/powerpoint/2010/main" val="19283434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8-text-0">
            <a:extLst xmlns:a="http://schemas.openxmlformats.org/drawingml/2006/main">
              <a:ext uri="{FF2B5EF4-FFF2-40B4-BE49-F238E27FC236}">
                <a16:creationId xmlns:a16="http://schemas.microsoft.com/office/drawing/2014/main" id="{8D2661E0-5F3A-4463-B285-A92BCD99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6a5a9f3f94d5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8-title-2">
            <a:extLst xmlns:a="http://schemas.openxmlformats.org/drawingml/2006/main">
              <a:ext uri="{FF2B5EF4-FFF2-40B4-BE49-F238E27FC236}">
                <a16:creationId xmlns:a16="http://schemas.microsoft.com/office/drawing/2014/main" id="{314C9138-73B3-4FDD-918C-C0B3C44E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同一项工作，可以分阶段承担</a:t>
            </a:r>
          </a:p>
        </p:txBody>
      </p:sp>
      <p:sp>
        <p:nvSpPr>
          <p:cNvPr id="4" name="s18-text-3">
            <a:extLst xmlns:a="http://schemas.openxmlformats.org/drawingml/2006/main">
              <a:ext uri="{FF2B5EF4-FFF2-40B4-BE49-F238E27FC236}">
                <a16:creationId xmlns:a16="http://schemas.microsoft.com/office/drawing/2014/main" id="{586B9B08-2312-4C2E-8153-D87C367B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以实验设计为例：支持方式可以随学生表现调整。</a:t>
            </a:r>
          </a:p>
        </p:txBody>
      </p:sp>
      <p:sp>
        <p:nvSpPr>
          <p:cNvPr id="5" name="s18-rect-4">
            <a:extLst xmlns:a="http://schemas.openxmlformats.org/drawingml/2006/main">
              <a:ext uri="{FF2B5EF4-FFF2-40B4-BE49-F238E27FC236}">
                <a16:creationId xmlns:a16="http://schemas.microsoft.com/office/drawing/2014/main" id="{99B667F9-DD19-4010-A571-D95D2098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8-text-5">
            <a:extLst xmlns:a="http://schemas.openxmlformats.org/drawingml/2006/main">
              <a:ext uri="{FF2B5EF4-FFF2-40B4-BE49-F238E27FC236}">
                <a16:creationId xmlns:a16="http://schemas.microsoft.com/office/drawing/2014/main" id="{944F4A50-4E16-4A3A-B20E-E83E6089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初次接触</a:t>
            </a:r>
          </a:p>
        </p:txBody>
      </p:sp>
      <p:sp>
        <p:nvSpPr>
          <p:cNvPr id="7" name="s18-text-6">
            <a:extLst xmlns:a="http://schemas.openxmlformats.org/drawingml/2006/main">
              <a:ext uri="{FF2B5EF4-FFF2-40B4-BE49-F238E27FC236}">
                <a16:creationId xmlns:a16="http://schemas.microsoft.com/office/drawing/2014/main" id="{7566D275-DC7F-4FE1-B828-67655727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借助示范读懂结构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学生解释关键步骤</a:t>
            </a:r>
          </a:p>
        </p:txBody>
      </p:sp>
      <p:sp>
        <p:nvSpPr>
          <p:cNvPr id="8" name="s18-rect-7">
            <a:extLst xmlns:a="http://schemas.openxmlformats.org/drawingml/2006/main">
              <a:ext uri="{FF2B5EF4-FFF2-40B4-BE49-F238E27FC236}">
                <a16:creationId xmlns:a16="http://schemas.microsoft.com/office/drawing/2014/main" id="{F22CC268-C5DB-4597-9A2A-7B485404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8-text-8">
            <a:extLst xmlns:a="http://schemas.openxmlformats.org/drawingml/2006/main">
              <a:ext uri="{FF2B5EF4-FFF2-40B4-BE49-F238E27FC236}">
                <a16:creationId xmlns:a16="http://schemas.microsoft.com/office/drawing/2014/main" id="{1B29B21B-2F43-483F-A64B-B8B8C656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共同练习</a:t>
            </a:r>
          </a:p>
        </p:txBody>
      </p:sp>
      <p:sp>
        <p:nvSpPr>
          <p:cNvPr id="10" name="s18-text-9">
            <a:extLst xmlns:a="http://schemas.openxmlformats.org/drawingml/2006/main">
              <a:ext uri="{FF2B5EF4-FFF2-40B4-BE49-F238E27FC236}">
                <a16:creationId xmlns:a16="http://schemas.microsoft.com/office/drawing/2014/main" id="{E4935B25-C9E5-4F9F-A336-8FBA0E3E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学生起草与比较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AI和同伴提供反馈</a:t>
            </a:r>
          </a:p>
        </p:txBody>
      </p:sp>
      <p:sp>
        <p:nvSpPr>
          <p:cNvPr id="11" name="s18-rect-10">
            <a:extLst xmlns:a="http://schemas.openxmlformats.org/drawingml/2006/main">
              <a:ext uri="{FF2B5EF4-FFF2-40B4-BE49-F238E27FC236}">
                <a16:creationId xmlns:a16="http://schemas.microsoft.com/office/drawing/2014/main" id="{0CB80DF4-44A6-4699-A757-3A958456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8-text-11">
            <a:extLst xmlns:a="http://schemas.openxmlformats.org/drawingml/2006/main">
              <a:ext uri="{FF2B5EF4-FFF2-40B4-BE49-F238E27FC236}">
                <a16:creationId xmlns:a16="http://schemas.microsoft.com/office/drawing/2014/main" id="{32EC159E-7EB7-4295-BC53-4B1618C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新情境运用</a:t>
            </a:r>
          </a:p>
        </p:txBody>
      </p:sp>
      <p:sp>
        <p:nvSpPr>
          <p:cNvPr id="13" name="s18-text-12">
            <a:extLst xmlns:a="http://schemas.openxmlformats.org/drawingml/2006/main">
              <a:ext uri="{FF2B5EF4-FFF2-40B4-BE49-F238E27FC236}">
                <a16:creationId xmlns:a16="http://schemas.microsoft.com/office/drawing/2014/main" id="{850C2380-C84E-4493-916B-5D1DF6FE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学生选择策略与支持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说明何时需要AI</a:t>
            </a:r>
          </a:p>
        </p:txBody>
      </p:sp>
      <p:sp>
        <p:nvSpPr>
          <p:cNvPr id="14" name="s18-rect-13">
            <a:extLst xmlns:a="http://schemas.openxmlformats.org/drawingml/2006/main">
              <a:ext uri="{FF2B5EF4-FFF2-40B4-BE49-F238E27FC236}">
                <a16:creationId xmlns:a16="http://schemas.microsoft.com/office/drawing/2014/main" id="{92356565-57FE-47B0-9EB9-E51074B9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8-text-14">
            <a:extLst xmlns:a="http://schemas.openxmlformats.org/drawingml/2006/main">
              <a:ext uri="{FF2B5EF4-FFF2-40B4-BE49-F238E27FC236}">
                <a16:creationId xmlns:a16="http://schemas.microsoft.com/office/drawing/2014/main" id="{DE5DBCCF-74E0-4739-AFB7-07F1B823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是否改变支持，依据实际表现，而非固定走完三个阶段。</a:t>
            </a:r>
          </a:p>
        </p:txBody>
      </p:sp>
      <p:sp>
        <p:nvSpPr>
          <p:cNvPr id="16" name="s18-footer-15">
            <a:extLst xmlns:a="http://schemas.openxmlformats.org/drawingml/2006/main">
              <a:ext uri="{FF2B5EF4-FFF2-40B4-BE49-F238E27FC236}">
                <a16:creationId xmlns:a16="http://schemas.microsoft.com/office/drawing/2014/main" id="{A80B2A9E-4C98-4E90-994E-07EC9F9C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8-footer-16">
            <a:extLst xmlns:a="http://schemas.openxmlformats.org/drawingml/2006/main">
              <a:ext uri="{FF2B5EF4-FFF2-40B4-BE49-F238E27FC236}">
                <a16:creationId xmlns:a16="http://schemas.microsoft.com/office/drawing/2014/main" id="{34FB3A68-88B3-4817-8E6B-6F08F34C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18 / 36</a:t>
            </a:r>
          </a:p>
        </p:txBody>
      </p:sp>
    </p:spTree>
    <p:extLst>
      <p:ext uri="{BB962C8B-B14F-4D97-AF65-F5344CB8AC3E}">
        <p14:creationId xmlns:p14="http://schemas.microsoft.com/office/powerpoint/2010/main" val="501266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19-text-0">
            <a:extLst xmlns:a="http://schemas.openxmlformats.org/drawingml/2006/main">
              <a:ext uri="{FF2B5EF4-FFF2-40B4-BE49-F238E27FC236}">
                <a16:creationId xmlns:a16="http://schemas.microsoft.com/office/drawing/2014/main" id="{B37467A4-F300-47EE-B7AE-BEC55BD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3c9e7434c4e0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9-title-2">
            <a:extLst xmlns:a="http://schemas.openxmlformats.org/drawingml/2006/main">
              <a:ext uri="{FF2B5EF4-FFF2-40B4-BE49-F238E27FC236}">
                <a16:creationId xmlns:a16="http://schemas.microsoft.com/office/drawing/2014/main" id="{5F1EF761-3237-4AF0-BF0B-C7FD191C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三条路径，都需要教学依据</a:t>
            </a:r>
          </a:p>
        </p:txBody>
      </p:sp>
      <p:sp>
        <p:nvSpPr>
          <p:cNvPr id="4" name="s19-text-3">
            <a:extLst xmlns:a="http://schemas.openxmlformats.org/drawingml/2006/main">
              <a:ext uri="{FF2B5EF4-FFF2-40B4-BE49-F238E27FC236}">
                <a16:creationId xmlns:a16="http://schemas.microsoft.com/office/drawing/2014/main" id="{4D216A4E-7C63-4091-B62E-92ACACC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讨论情境：围绕同一个科学探究问题。</a:t>
            </a:r>
          </a:p>
        </p:txBody>
      </p:sp>
      <p:sp>
        <p:nvSpPr>
          <p:cNvPr id="5" name="s19-rect-4">
            <a:extLst xmlns:a="http://schemas.openxmlformats.org/drawingml/2006/main">
              <a:ext uri="{FF2B5EF4-FFF2-40B4-BE49-F238E27FC236}">
                <a16:creationId xmlns:a16="http://schemas.microsoft.com/office/drawing/2014/main" id="{DD856635-3557-492F-B1B6-5297B91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9-text-5">
            <a:extLst xmlns:a="http://schemas.openxmlformats.org/drawingml/2006/main">
              <a:ext uri="{FF2B5EF4-FFF2-40B4-BE49-F238E27FC236}">
                <a16:creationId xmlns:a16="http://schemas.microsoft.com/office/drawing/2014/main" id="{0702F034-317A-4E2C-9391-A04011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安排</a:t>
            </a:r>
          </a:p>
        </p:txBody>
      </p:sp>
      <p:sp>
        <p:nvSpPr>
          <p:cNvPr id="7" name="s19-text-6">
            <a:extLst xmlns:a="http://schemas.openxmlformats.org/drawingml/2006/main">
              <a:ext uri="{FF2B5EF4-FFF2-40B4-BE49-F238E27FC236}">
                <a16:creationId xmlns:a16="http://schemas.microsoft.com/office/drawing/2014/main" id="{77D1A97A-23C4-4D28-9B42-0B18D80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期待发生的学习</a:t>
            </a:r>
          </a:p>
        </p:txBody>
      </p:sp>
      <p:sp>
        <p:nvSpPr>
          <p:cNvPr id="8" name="s19-text-7">
            <a:extLst xmlns:a="http://schemas.openxmlformats.org/drawingml/2006/main">
              <a:ext uri="{FF2B5EF4-FFF2-40B4-BE49-F238E27FC236}">
                <a16:creationId xmlns:a16="http://schemas.microsoft.com/office/drawing/2014/main" id="{72F0EBAB-7701-480C-A4CF-F722CA9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要寻找的证据</a:t>
            </a:r>
          </a:p>
        </p:txBody>
      </p:sp>
      <p:sp>
        <p:nvSpPr>
          <p:cNvPr id="9" name="s19-text-8">
            <a:extLst xmlns:a="http://schemas.openxmlformats.org/drawingml/2006/main">
              <a:ext uri="{FF2B5EF4-FFF2-40B4-BE49-F238E27FC236}">
                <a16:creationId xmlns:a16="http://schemas.microsoft.com/office/drawing/2014/main" id="{18D438B2-7BBD-4077-B318-F6923A0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AI先示范</a:t>
            </a:r>
          </a:p>
        </p:txBody>
      </p:sp>
      <p:sp>
        <p:nvSpPr>
          <p:cNvPr id="10" name="s19-text-9">
            <a:extLst xmlns:a="http://schemas.openxmlformats.org/drawingml/2006/main">
              <a:ext uri="{FF2B5EF4-FFF2-40B4-BE49-F238E27FC236}">
                <a16:creationId xmlns:a16="http://schemas.microsoft.com/office/drawing/2014/main" id="{10842118-7302-4E2A-AC73-49242804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学生读懂设计逻辑</a:t>
            </a:r>
          </a:p>
        </p:txBody>
      </p:sp>
      <p:sp>
        <p:nvSpPr>
          <p:cNvPr id="11" name="s19-text-10">
            <a:extLst xmlns:a="http://schemas.openxmlformats.org/drawingml/2006/main">
              <a:ext uri="{FF2B5EF4-FFF2-40B4-BE49-F238E27FC236}">
                <a16:creationId xmlns:a16="http://schemas.microsoft.com/office/drawing/2014/main" id="{211787BB-8440-4822-847A-55F7E37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能解释并调整关键步骤</a:t>
            </a:r>
          </a:p>
        </p:txBody>
      </p:sp>
      <p:sp>
        <p:nvSpPr>
          <p:cNvPr id="12" name="s19-rect-11">
            <a:extLst xmlns:a="http://schemas.openxmlformats.org/drawingml/2006/main">
              <a:ext uri="{FF2B5EF4-FFF2-40B4-BE49-F238E27FC236}">
                <a16:creationId xmlns:a16="http://schemas.microsoft.com/office/drawing/2014/main" id="{3BB40B83-E992-47F3-A120-34C60F7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9-text-12">
            <a:extLst xmlns:a="http://schemas.openxmlformats.org/drawingml/2006/main">
              <a:ext uri="{FF2B5EF4-FFF2-40B4-BE49-F238E27FC236}">
                <a16:creationId xmlns:a16="http://schemas.microsoft.com/office/drawing/2014/main" id="{985CBB70-DE57-41E9-AC13-73891DE2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学生先尝试</a:t>
            </a:r>
          </a:p>
        </p:txBody>
      </p:sp>
      <p:sp>
        <p:nvSpPr>
          <p:cNvPr id="14" name="s19-text-13">
            <a:extLst xmlns:a="http://schemas.openxmlformats.org/drawingml/2006/main">
              <a:ext uri="{FF2B5EF4-FFF2-40B4-BE49-F238E27FC236}">
                <a16:creationId xmlns:a16="http://schemas.microsoft.com/office/drawing/2014/main" id="{43A47665-A314-442A-9230-7916216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暴露想法，再修订方案</a:t>
            </a:r>
          </a:p>
        </p:txBody>
      </p:sp>
      <p:sp>
        <p:nvSpPr>
          <p:cNvPr id="15" name="s19-text-14">
            <a:extLst xmlns:a="http://schemas.openxmlformats.org/drawingml/2006/main">
              <a:ext uri="{FF2B5EF4-FFF2-40B4-BE49-F238E27FC236}">
                <a16:creationId xmlns:a16="http://schemas.microsoft.com/office/drawing/2014/main" id="{B4B24A9A-5BB8-42F9-B39E-727F0F2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修改有依据，超出措辞变化</a:t>
            </a:r>
          </a:p>
        </p:txBody>
      </p:sp>
      <p:sp>
        <p:nvSpPr>
          <p:cNvPr id="16" name="s19-rect-15">
            <a:extLst xmlns:a="http://schemas.openxmlformats.org/drawingml/2006/main">
              <a:ext uri="{FF2B5EF4-FFF2-40B4-BE49-F238E27FC236}">
                <a16:creationId xmlns:a16="http://schemas.microsoft.com/office/drawing/2014/main" id="{FCDFC071-6654-411B-B1DD-35EEEF8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9-text-16">
            <a:extLst xmlns:a="http://schemas.openxmlformats.org/drawingml/2006/main">
              <a:ext uri="{FF2B5EF4-FFF2-40B4-BE49-F238E27FC236}">
                <a16:creationId xmlns:a16="http://schemas.microsoft.com/office/drawing/2014/main" id="{74783D14-A8F3-42A6-B5D8-D25E575F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多方案比较</a:t>
            </a:r>
          </a:p>
        </p:txBody>
      </p:sp>
      <p:sp>
        <p:nvSpPr>
          <p:cNvPr id="18" name="s19-text-17">
            <a:extLst xmlns:a="http://schemas.openxmlformats.org/drawingml/2006/main">
              <a:ext uri="{FF2B5EF4-FFF2-40B4-BE49-F238E27FC236}">
                <a16:creationId xmlns:a16="http://schemas.microsoft.com/office/drawing/2014/main" id="{3B92AF0C-000F-44E1-8710-41469E7B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比较假设与限制条件</a:t>
            </a:r>
          </a:p>
        </p:txBody>
      </p:sp>
      <p:sp>
        <p:nvSpPr>
          <p:cNvPr id="19" name="s19-text-18">
            <a:extLst xmlns:a="http://schemas.openxmlformats.org/drawingml/2006/main">
              <a:ext uri="{FF2B5EF4-FFF2-40B4-BE49-F238E27FC236}">
                <a16:creationId xmlns:a16="http://schemas.microsoft.com/office/drawing/2014/main" id="{DE8C0597-6141-4AB0-8838-CEC09C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取舍依据进入最终决定</a:t>
            </a:r>
          </a:p>
        </p:txBody>
      </p:sp>
      <p:sp>
        <p:nvSpPr>
          <p:cNvPr id="20" name="s19-rect-19">
            <a:extLst xmlns:a="http://schemas.openxmlformats.org/drawingml/2006/main">
              <a:ext uri="{FF2B5EF4-FFF2-40B4-BE49-F238E27FC236}">
                <a16:creationId xmlns:a16="http://schemas.microsoft.com/office/drawing/2014/main" id="{AC64F45B-5AD4-4AF0-AFEF-CB79BD6F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9-rect-20">
            <a:extLst xmlns:a="http://schemas.openxmlformats.org/drawingml/2006/main">
              <a:ext uri="{FF2B5EF4-FFF2-40B4-BE49-F238E27FC236}">
                <a16:creationId xmlns:a16="http://schemas.microsoft.com/office/drawing/2014/main" id="{7538F713-0FFA-4184-9629-6368AF5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2" name="s19-text-21">
            <a:extLst xmlns:a="http://schemas.openxmlformats.org/drawingml/2006/main">
              <a:ext uri="{FF2B5EF4-FFF2-40B4-BE49-F238E27FC236}">
                <a16:creationId xmlns:a16="http://schemas.microsoft.com/office/drawing/2014/main" id="{5AD1929A-DA1A-4DB1-8FD1-0283AC4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你会为哪一类学生、在哪个阶段选择哪条路径？</a:t>
            </a:r>
          </a:p>
        </p:txBody>
      </p:sp>
      <p:sp>
        <p:nvSpPr>
          <p:cNvPr id="23" name="s19-footer-22">
            <a:extLst xmlns:a="http://schemas.openxmlformats.org/drawingml/2006/main">
              <a:ext uri="{FF2B5EF4-FFF2-40B4-BE49-F238E27FC236}">
                <a16:creationId xmlns:a16="http://schemas.microsoft.com/office/drawing/2014/main" id="{A27D6553-FFB0-455C-8676-76A7C9E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4" name="s19-footer-23">
            <a:extLst xmlns:a="http://schemas.openxmlformats.org/drawingml/2006/main">
              <a:ext uri="{FF2B5EF4-FFF2-40B4-BE49-F238E27FC236}">
                <a16:creationId xmlns:a16="http://schemas.microsoft.com/office/drawing/2014/main" id="{9710344E-1638-4A5B-BB36-CA30177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19 / 36</a:t>
            </a:r>
          </a:p>
        </p:txBody>
      </p:sp>
    </p:spTree>
    <p:extLst>
      <p:ext uri="{BB962C8B-B14F-4D97-AF65-F5344CB8AC3E}">
        <p14:creationId xmlns:p14="http://schemas.microsoft.com/office/powerpoint/2010/main" val="6675828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20-text-0">
            <a:extLst xmlns:a="http://schemas.openxmlformats.org/drawingml/2006/main">
              <a:ext uri="{FF2B5EF4-FFF2-40B4-BE49-F238E27FC236}">
                <a16:creationId xmlns:a16="http://schemas.microsoft.com/office/drawing/2014/main" id="{F9465B53-020D-4F35-9A0E-8A5C1A63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第二次判断 · 讨论情境补充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a8b9cf1ba43c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0-title-2">
            <a:extLst xmlns:a="http://schemas.openxmlformats.org/drawingml/2006/main">
              <a:ext uri="{FF2B5EF4-FFF2-40B4-BE49-F238E27FC236}">
                <a16:creationId xmlns:a16="http://schemas.microsoft.com/office/drawing/2014/main" id="{93475711-1998-4783-8A7B-21B2E3A5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现在，你会改变刚才的判断吗？</a:t>
            </a:r>
          </a:p>
        </p:txBody>
      </p:sp>
      <p:sp>
        <p:nvSpPr>
          <p:cNvPr id="4" name="s20-text-3">
            <a:extLst xmlns:a="http://schemas.openxmlformats.org/drawingml/2006/main">
              <a:ext uri="{FF2B5EF4-FFF2-40B4-BE49-F238E27FC236}">
                <a16:creationId xmlns:a16="http://schemas.microsoft.com/office/drawing/2014/main" id="{2AC05F81-6BC3-4F15-A9A0-B836767E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一组照着完成，解释主要复述。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另一组发现条件差异，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修改方案并解释依据。</a:t>
            </a:r>
          </a:p>
        </p:txBody>
      </p:sp>
      <p:sp>
        <p:nvSpPr>
          <p:cNvPr id="5" name="s20-rect-4">
            <a:extLst xmlns:a="http://schemas.openxmlformats.org/drawingml/2006/main">
              <a:ext uri="{FF2B5EF4-FFF2-40B4-BE49-F238E27FC236}">
                <a16:creationId xmlns:a16="http://schemas.microsoft.com/office/drawing/2014/main" id="{2AE15F41-3D54-436F-B028-5B3CB5FB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0-text-5">
            <a:extLst xmlns:a="http://schemas.openxmlformats.org/drawingml/2006/main">
              <a:ext uri="{FF2B5EF4-FFF2-40B4-BE49-F238E27FC236}">
                <a16:creationId xmlns:a16="http://schemas.microsoft.com/office/drawing/2014/main" id="{AFC8911C-E60F-49F5-B239-E3D575F4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两组都直接采用AI方案。你还需要哪些信息？</a:t>
            </a:r>
          </a:p>
        </p:txBody>
      </p:sp>
      <p:sp>
        <p:nvSpPr>
          <p:cNvPr id="7" name="s20-footer-6">
            <a:extLst xmlns:a="http://schemas.openxmlformats.org/drawingml/2006/main">
              <a:ext uri="{FF2B5EF4-FFF2-40B4-BE49-F238E27FC236}">
                <a16:creationId xmlns:a16="http://schemas.microsoft.com/office/drawing/2014/main" id="{8EBAE740-4C0A-4091-B6E6-7C216FDE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20-footer-7">
            <a:extLst xmlns:a="http://schemas.openxmlformats.org/drawingml/2006/main">
              <a:ext uri="{FF2B5EF4-FFF2-40B4-BE49-F238E27FC236}">
                <a16:creationId xmlns:a16="http://schemas.microsoft.com/office/drawing/2014/main" id="{D31A8724-4A13-41DB-83FF-769F2120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20 / 36</a:t>
            </a:r>
          </a:p>
        </p:txBody>
      </p:sp>
    </p:spTree>
    <p:extLst>
      <p:ext uri="{BB962C8B-B14F-4D97-AF65-F5344CB8AC3E}">
        <p14:creationId xmlns:p14="http://schemas.microsoft.com/office/powerpoint/2010/main" val="15748581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1-text-0">
            <a:extLst xmlns:a="http://schemas.openxmlformats.org/drawingml/2006/main">
              <a:ext uri="{FF2B5EF4-FFF2-40B4-BE49-F238E27FC236}">
                <a16:creationId xmlns:a16="http://schemas.microsoft.com/office/drawing/2014/main" id="{AF93656C-9507-493B-B8D8-B53A1D0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从选择方式，走向说明理由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c472935a043f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1-title-2">
            <a:extLst xmlns:a="http://schemas.openxmlformats.org/drawingml/2006/main">
              <a:ext uri="{FF2B5EF4-FFF2-40B4-BE49-F238E27FC236}">
                <a16:creationId xmlns:a16="http://schemas.microsoft.com/office/drawing/2014/main" id="{C2A67347-7A24-4C67-AAD1-743F2B3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一次教学选择，需要哪些依据？</a:t>
            </a:r>
          </a:p>
        </p:txBody>
      </p:sp>
      <p:sp>
        <p:nvSpPr>
          <p:cNvPr id="4" name="s21-rect-3">
            <a:extLst xmlns:a="http://schemas.openxmlformats.org/drawingml/2006/main">
              <a:ext uri="{FF2B5EF4-FFF2-40B4-BE49-F238E27FC236}">
                <a16:creationId xmlns:a16="http://schemas.microsoft.com/office/drawing/2014/main" id="{971BCD2B-4C30-4173-BB0E-1CD63A22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1-text-4">
            <a:extLst xmlns:a="http://schemas.openxmlformats.org/drawingml/2006/main">
              <a:ext uri="{FF2B5EF4-FFF2-40B4-BE49-F238E27FC236}">
                <a16:creationId xmlns:a16="http://schemas.microsoft.com/office/drawing/2014/main" id="{825E25D3-08D5-4C6E-B66D-92A14775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目标</a:t>
            </a:r>
          </a:p>
        </p:txBody>
      </p:sp>
      <p:sp>
        <p:nvSpPr>
          <p:cNvPr id="6" name="s21-text-5">
            <a:extLst xmlns:a="http://schemas.openxmlformats.org/drawingml/2006/main">
              <a:ext uri="{FF2B5EF4-FFF2-40B4-BE49-F238E27FC236}">
                <a16:creationId xmlns:a16="http://schemas.microsoft.com/office/drawing/2014/main" id="{FEC73B70-B739-406E-90E6-62D920E1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希望学生发展什么？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这项工作与目标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有何关系？</a:t>
            </a:r>
          </a:p>
        </p:txBody>
      </p:sp>
      <p:sp>
        <p:nvSpPr>
          <p:cNvPr id="7" name="s21-rect-6">
            <a:extLst xmlns:a="http://schemas.openxmlformats.org/drawingml/2006/main">
              <a:ext uri="{FF2B5EF4-FFF2-40B4-BE49-F238E27FC236}">
                <a16:creationId xmlns:a16="http://schemas.microsoft.com/office/drawing/2014/main" id="{B44726EF-B29C-4950-AE8E-AB144A5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1-text-7">
            <a:extLst xmlns:a="http://schemas.openxmlformats.org/drawingml/2006/main">
              <a:ext uri="{FF2B5EF4-FFF2-40B4-BE49-F238E27FC236}">
                <a16:creationId xmlns:a16="http://schemas.microsoft.com/office/drawing/2014/main" id="{9EB113FC-20D0-49AF-A0A0-F2BD0952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起点</a:t>
            </a:r>
          </a:p>
        </p:txBody>
      </p:sp>
      <p:sp>
        <p:nvSpPr>
          <p:cNvPr id="9" name="s21-text-8">
            <a:extLst xmlns:a="http://schemas.openxmlformats.org/drawingml/2006/main">
              <a:ext uri="{FF2B5EF4-FFF2-40B4-BE49-F238E27FC236}">
                <a16:creationId xmlns:a16="http://schemas.microsoft.com/office/drawing/2014/main" id="{EA9EE856-56F3-4E00-912F-8D5E8126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学生已有怎样的经验？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哪些困难需要支持？</a:t>
            </a:r>
          </a:p>
        </p:txBody>
      </p:sp>
      <p:sp>
        <p:nvSpPr>
          <p:cNvPr id="10" name="s21-rect-9">
            <a:extLst xmlns:a="http://schemas.openxmlformats.org/drawingml/2006/main">
              <a:ext uri="{FF2B5EF4-FFF2-40B4-BE49-F238E27FC236}">
                <a16:creationId xmlns:a16="http://schemas.microsoft.com/office/drawing/2014/main" id="{496C43C7-089F-4C7F-AEF4-2DD70ED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1-text-10">
            <a:extLst xmlns:a="http://schemas.openxmlformats.org/drawingml/2006/main">
              <a:ext uri="{FF2B5EF4-FFF2-40B4-BE49-F238E27FC236}">
                <a16:creationId xmlns:a16="http://schemas.microsoft.com/office/drawing/2014/main" id="{51B01B5A-9E65-4ADB-B36F-DFB1524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后果</a:t>
            </a:r>
          </a:p>
        </p:txBody>
      </p:sp>
      <p:sp>
        <p:nvSpPr>
          <p:cNvPr id="12" name="s21-text-11">
            <a:extLst xmlns:a="http://schemas.openxmlformats.org/drawingml/2006/main">
              <a:ext uri="{FF2B5EF4-FFF2-40B4-BE49-F238E27FC236}">
                <a16:creationId xmlns:a16="http://schemas.microsoft.com/office/drawing/2014/main" id="{7BF0E2AD-5340-41E1-ACBB-3F3B93F9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预计带来什么活动？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用什么证据检验？</a:t>
            </a:r>
          </a:p>
        </p:txBody>
      </p:sp>
      <p:sp>
        <p:nvSpPr>
          <p:cNvPr id="13" name="s21-footer-12">
            <a:extLst xmlns:a="http://schemas.openxmlformats.org/drawingml/2006/main">
              <a:ext uri="{FF2B5EF4-FFF2-40B4-BE49-F238E27FC236}">
                <a16:creationId xmlns:a16="http://schemas.microsoft.com/office/drawing/2014/main" id="{2E2DEB87-5A4A-4277-BAB3-9CBC012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1-footer-13">
            <a:extLst xmlns:a="http://schemas.openxmlformats.org/drawingml/2006/main">
              <a:ext uri="{FF2B5EF4-FFF2-40B4-BE49-F238E27FC236}">
                <a16:creationId xmlns:a16="http://schemas.microsoft.com/office/drawing/2014/main" id="{D14E83C9-9C82-4958-9970-C426A7C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21 / 36</a:t>
            </a:r>
          </a:p>
        </p:txBody>
      </p:sp>
    </p:spTree>
    <p:extLst>
      <p:ext uri="{BB962C8B-B14F-4D97-AF65-F5344CB8AC3E}">
        <p14:creationId xmlns:p14="http://schemas.microsoft.com/office/powerpoint/2010/main" val="4535676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2-text-0">
            <a:extLst xmlns:a="http://schemas.openxmlformats.org/drawingml/2006/main">
              <a:ext uri="{FF2B5EF4-FFF2-40B4-BE49-F238E27FC236}">
                <a16:creationId xmlns:a16="http://schemas.microsoft.com/office/drawing/2014/main" id="{44372CB7-E200-4574-8010-96846FCF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生态瓶探究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68b93c07148a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2-title-2">
            <a:extLst xmlns:a="http://schemas.openxmlformats.org/drawingml/2006/main">
              <a:ext uri="{FF2B5EF4-FFF2-40B4-BE49-F238E27FC236}">
                <a16:creationId xmlns:a16="http://schemas.microsoft.com/office/drawing/2014/main" id="{F825F87C-FB34-495C-95D8-A3B7009B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看见什么，才会改变安排？</a:t>
            </a:r>
          </a:p>
        </p:txBody>
      </p:sp>
      <p:sp>
        <p:nvSpPr>
          <p:cNvPr id="4" name="s22-rect-3">
            <a:extLst xmlns:a="http://schemas.openxmlformats.org/drawingml/2006/main">
              <a:ext uri="{FF2B5EF4-FFF2-40B4-BE49-F238E27FC236}">
                <a16:creationId xmlns:a16="http://schemas.microsoft.com/office/drawing/2014/main" id="{96739500-3E45-45CA-B46D-4410A30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2-text-4">
            <a:extLst xmlns:a="http://schemas.openxmlformats.org/drawingml/2006/main">
              <a:ext uri="{FF2B5EF4-FFF2-40B4-BE49-F238E27FC236}">
                <a16:creationId xmlns:a16="http://schemas.microsoft.com/office/drawing/2014/main" id="{150823D8-BF37-45EE-A548-5BC5F3CE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观察</a:t>
            </a:r>
          </a:p>
        </p:txBody>
      </p:sp>
      <p:sp>
        <p:nvSpPr>
          <p:cNvPr id="6" name="s22-text-5">
            <a:extLst xmlns:a="http://schemas.openxmlformats.org/drawingml/2006/main">
              <a:ext uri="{FF2B5EF4-FFF2-40B4-BE49-F238E27FC236}">
                <a16:creationId xmlns:a16="http://schemas.microsoft.com/office/drawing/2014/main" id="{1F11C309-05C8-4793-926E-A9AEFB09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学生能说出“保持其他条件相同”，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却未检查两方案的差异。</a:t>
            </a:r>
          </a:p>
        </p:txBody>
      </p:sp>
      <p:sp>
        <p:nvSpPr>
          <p:cNvPr id="7" name="s22-rect-6">
            <a:extLst xmlns:a="http://schemas.openxmlformats.org/drawingml/2006/main">
              <a:ext uri="{FF2B5EF4-FFF2-40B4-BE49-F238E27FC236}">
                <a16:creationId xmlns:a16="http://schemas.microsoft.com/office/drawing/2014/main" id="{7D759348-1985-410E-9649-B2658C77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2-text-7">
            <a:extLst xmlns:a="http://schemas.openxmlformats.org/drawingml/2006/main">
              <a:ext uri="{FF2B5EF4-FFF2-40B4-BE49-F238E27FC236}">
                <a16:creationId xmlns:a16="http://schemas.microsoft.com/office/drawing/2014/main" id="{890AAD47-711C-47DB-8FD9-5698BAE6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解释</a:t>
            </a:r>
          </a:p>
        </p:txBody>
      </p:sp>
      <p:sp>
        <p:nvSpPr>
          <p:cNvPr id="9" name="s22-text-8">
            <a:extLst xmlns:a="http://schemas.openxmlformats.org/drawingml/2006/main">
              <a:ext uri="{FF2B5EF4-FFF2-40B4-BE49-F238E27FC236}">
                <a16:creationId xmlns:a16="http://schemas.microsoft.com/office/drawing/2014/main" id="{80A24FD8-3AFF-4AFD-BB98-F8B77510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可能尚未理解，也可能缺少表达机会，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或只由一名同伴处理。</a:t>
            </a:r>
          </a:p>
        </p:txBody>
      </p:sp>
      <p:sp>
        <p:nvSpPr>
          <p:cNvPr id="10" name="s22-rect-9">
            <a:extLst xmlns:a="http://schemas.openxmlformats.org/drawingml/2006/main">
              <a:ext uri="{FF2B5EF4-FFF2-40B4-BE49-F238E27FC236}">
                <a16:creationId xmlns:a16="http://schemas.microsoft.com/office/drawing/2014/main" id="{05845C0F-2771-4F1B-989E-C602D6FB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2-text-10">
            <a:extLst xmlns:a="http://schemas.openxmlformats.org/drawingml/2006/main">
              <a:ext uri="{FF2B5EF4-FFF2-40B4-BE49-F238E27FC236}">
                <a16:creationId xmlns:a16="http://schemas.microsoft.com/office/drawing/2014/main" id="{50E4B00A-A295-4258-88D0-918C54B1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调整</a:t>
            </a:r>
          </a:p>
        </p:txBody>
      </p:sp>
      <p:sp>
        <p:nvSpPr>
          <p:cNvPr id="12" name="s22-text-11">
            <a:extLst xmlns:a="http://schemas.openxmlformats.org/drawingml/2006/main">
              <a:ext uri="{FF2B5EF4-FFF2-40B4-BE49-F238E27FC236}">
                <a16:creationId xmlns:a16="http://schemas.microsoft.com/office/drawing/2014/main" id="{CEC829BA-865C-49E7-B84E-2E0313C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先请不同成员解释具体差异，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再决定是否补充示范或调整任务。</a:t>
            </a:r>
          </a:p>
        </p:txBody>
      </p:sp>
      <p:sp>
        <p:nvSpPr>
          <p:cNvPr id="13" name="s22-footer-12">
            <a:extLst xmlns:a="http://schemas.openxmlformats.org/drawingml/2006/main">
              <a:ext uri="{FF2B5EF4-FFF2-40B4-BE49-F238E27FC236}">
                <a16:creationId xmlns:a16="http://schemas.microsoft.com/office/drawing/2014/main" id="{EFBE603E-2F06-40B0-8441-7E481080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2-footer-13">
            <a:extLst xmlns:a="http://schemas.openxmlformats.org/drawingml/2006/main">
              <a:ext uri="{FF2B5EF4-FFF2-40B4-BE49-F238E27FC236}">
                <a16:creationId xmlns:a16="http://schemas.microsoft.com/office/drawing/2014/main" id="{D14BFF5E-2D44-4A68-91E8-A4E126EE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22 / 36</a:t>
            </a:r>
          </a:p>
        </p:txBody>
      </p:sp>
    </p:spTree>
    <p:extLst>
      <p:ext uri="{BB962C8B-B14F-4D97-AF65-F5344CB8AC3E}">
        <p14:creationId xmlns:p14="http://schemas.microsoft.com/office/powerpoint/2010/main" val="6004894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3-text-0">
            <a:extLst xmlns:a="http://schemas.openxmlformats.org/drawingml/2006/main">
              <a:ext uri="{FF2B5EF4-FFF2-40B4-BE49-F238E27FC236}">
                <a16:creationId xmlns:a16="http://schemas.microsoft.com/office/drawing/2014/main" id="{0F23E847-4314-404E-81F1-9029CDF0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教师加入句式支架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6bf1937ed45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3-title-2">
            <a:extLst xmlns:a="http://schemas.openxmlformats.org/drawingml/2006/main">
              <a:ext uri="{FF2B5EF4-FFF2-40B4-BE49-F238E27FC236}">
                <a16:creationId xmlns:a16="http://schemas.microsoft.com/office/drawing/2014/main" id="{0A1B86C7-3AD7-44B9-B2AF-68844A76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句子完整了，理由形成了吗？</a:t>
            </a:r>
          </a:p>
        </p:txBody>
      </p:sp>
      <p:sp>
        <p:nvSpPr>
          <p:cNvPr id="4" name="s23-text-3">
            <a:extLst xmlns:a="http://schemas.openxmlformats.org/drawingml/2006/main">
              <a:ext uri="{FF2B5EF4-FFF2-40B4-BE49-F238E27FC236}">
                <a16:creationId xmlns:a16="http://schemas.microsoft.com/office/drawing/2014/main" id="{151BF8DF-088F-4FEA-9854-D556545F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“我们认为……，因为观察到……；但还需要排除……”</a:t>
            </a:r>
          </a:p>
        </p:txBody>
      </p:sp>
      <p:sp>
        <p:nvSpPr>
          <p:cNvPr id="5" name="s23-rect-4">
            <a:extLst xmlns:a="http://schemas.openxmlformats.org/drawingml/2006/main">
              <a:ext uri="{FF2B5EF4-FFF2-40B4-BE49-F238E27FC236}">
                <a16:creationId xmlns:a16="http://schemas.microsoft.com/office/drawing/2014/main" id="{0BD50A7C-56C3-4E88-B759-2402D32D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3-text-5">
            <a:extLst xmlns:a="http://schemas.openxmlformats.org/drawingml/2006/main">
              <a:ext uri="{FF2B5EF4-FFF2-40B4-BE49-F238E27FC236}">
                <a16:creationId xmlns:a16="http://schemas.microsoft.com/office/drawing/2014/main" id="{50BBE222-F042-43B6-97CE-7E7879D9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可能打开表达</a:t>
            </a:r>
          </a:p>
        </p:txBody>
      </p:sp>
      <p:sp>
        <p:nvSpPr>
          <p:cNvPr id="7" name="s23-text-6">
            <a:extLst xmlns:a="http://schemas.openxmlformats.org/drawingml/2006/main">
              <a:ext uri="{FF2B5EF4-FFF2-40B4-BE49-F238E27FC236}">
                <a16:creationId xmlns:a16="http://schemas.microsoft.com/office/drawing/2014/main" id="{471A55C9-0B8C-42BA-B02B-547207E1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学生借助句式，把自己的观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察组织成理由。</a:t>
            </a:r>
          </a:p>
        </p:txBody>
      </p:sp>
      <p:sp>
        <p:nvSpPr>
          <p:cNvPr id="8" name="s23-rect-7">
            <a:extLst xmlns:a="http://schemas.openxmlformats.org/drawingml/2006/main">
              <a:ext uri="{FF2B5EF4-FFF2-40B4-BE49-F238E27FC236}">
                <a16:creationId xmlns:a16="http://schemas.microsoft.com/office/drawing/2014/main" id="{F3B778D1-B66B-4BEA-AF0F-C23197FA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3-text-8">
            <a:extLst xmlns:a="http://schemas.openxmlformats.org/drawingml/2006/main">
              <a:ext uri="{FF2B5EF4-FFF2-40B4-BE49-F238E27FC236}">
                <a16:creationId xmlns:a16="http://schemas.microsoft.com/office/drawing/2014/main" id="{D531CC9B-032E-4348-A445-DD56285E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也可能只填满句子</a:t>
            </a:r>
          </a:p>
        </p:txBody>
      </p:sp>
      <p:sp>
        <p:nvSpPr>
          <p:cNvPr id="10" name="s23-text-9">
            <a:extLst xmlns:a="http://schemas.openxmlformats.org/drawingml/2006/main">
              <a:ext uri="{FF2B5EF4-FFF2-40B4-BE49-F238E27FC236}">
                <a16:creationId xmlns:a16="http://schemas.microsoft.com/office/drawing/2014/main" id="{14E5FE3D-5FBC-449B-9C4B-A429BEE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文字更完整，观察与结论之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间的关系仍未解释。</a:t>
            </a:r>
          </a:p>
        </p:txBody>
      </p:sp>
      <p:sp>
        <p:nvSpPr>
          <p:cNvPr id="11" name="s23-rect-10">
            <a:extLst xmlns:a="http://schemas.openxmlformats.org/drawingml/2006/main">
              <a:ext uri="{FF2B5EF4-FFF2-40B4-BE49-F238E27FC236}">
                <a16:creationId xmlns:a16="http://schemas.microsoft.com/office/drawing/2014/main" id="{6C7F10F1-6CE2-428E-B219-5C81428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3-text-11">
            <a:extLst xmlns:a="http://schemas.openxmlformats.org/drawingml/2006/main">
              <a:ext uri="{FF2B5EF4-FFF2-40B4-BE49-F238E27FC236}">
                <a16:creationId xmlns:a16="http://schemas.microsoft.com/office/drawing/2014/main" id="{9F1DC345-610B-4901-BDD9-DFAE6E0C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继续追问</a:t>
            </a:r>
          </a:p>
        </p:txBody>
      </p:sp>
      <p:sp>
        <p:nvSpPr>
          <p:cNvPr id="13" name="s23-text-12">
            <a:extLst xmlns:a="http://schemas.openxmlformats.org/drawingml/2006/main">
              <a:ext uri="{FF2B5EF4-FFF2-40B4-BE49-F238E27FC236}">
                <a16:creationId xmlns:a16="http://schemas.microsoft.com/office/drawing/2014/main" id="{A723947E-DB9B-464F-BFC8-AE72CC2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换一条观察，能否说明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它支持什么、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不能支持什么？</a:t>
            </a:r>
          </a:p>
        </p:txBody>
      </p:sp>
      <p:sp>
        <p:nvSpPr>
          <p:cNvPr id="14" name="s23-footer-13">
            <a:extLst xmlns:a="http://schemas.openxmlformats.org/drawingml/2006/main">
              <a:ext uri="{FF2B5EF4-FFF2-40B4-BE49-F238E27FC236}">
                <a16:creationId xmlns:a16="http://schemas.microsoft.com/office/drawing/2014/main" id="{B62C16B2-59FB-4B5A-A982-0D622D6D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5" name="s23-footer-14">
            <a:extLst xmlns:a="http://schemas.openxmlformats.org/drawingml/2006/main">
              <a:ext uri="{FF2B5EF4-FFF2-40B4-BE49-F238E27FC236}">
                <a16:creationId xmlns:a16="http://schemas.microsoft.com/office/drawing/2014/main" id="{95C92BE0-8FFD-4DBB-8CB3-8E28A8BF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23 / 36</a:t>
            </a:r>
          </a:p>
        </p:txBody>
      </p:sp>
    </p:spTree>
    <p:extLst>
      <p:ext uri="{BB962C8B-B14F-4D97-AF65-F5344CB8AC3E}">
        <p14:creationId xmlns:p14="http://schemas.microsoft.com/office/powerpoint/2010/main" val="20636407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24-text-0">
            <a:extLst xmlns:a="http://schemas.openxmlformats.org/drawingml/2006/main">
              <a:ext uri="{FF2B5EF4-FFF2-40B4-BE49-F238E27FC236}">
                <a16:creationId xmlns:a16="http://schemas.microsoft.com/office/drawing/2014/main" id="{2A023E0D-77D8-4576-BBDE-F5DF436B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ae649fe534ff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4-title-2">
            <a:extLst xmlns:a="http://schemas.openxmlformats.org/drawingml/2006/main">
              <a:ext uri="{FF2B5EF4-FFF2-40B4-BE49-F238E27FC236}">
                <a16:creationId xmlns:a16="http://schemas.microsoft.com/office/drawing/2014/main" id="{52DCE21D-2C2C-4B72-8C0A-B0A78C46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不同材料，回答不同问题</a:t>
            </a:r>
          </a:p>
        </p:txBody>
      </p:sp>
      <p:sp>
        <p:nvSpPr>
          <p:cNvPr id="4" name="s24-rect-3">
            <a:extLst xmlns:a="http://schemas.openxmlformats.org/drawingml/2006/main">
              <a:ext uri="{FF2B5EF4-FFF2-40B4-BE49-F238E27FC236}">
                <a16:creationId xmlns:a16="http://schemas.microsoft.com/office/drawing/2014/main" id="{1F8566E5-6454-4387-8D61-A9AF2C4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5" name="s24-text-4">
            <a:extLst xmlns:a="http://schemas.openxmlformats.org/drawingml/2006/main">
              <a:ext uri="{FF2B5EF4-FFF2-40B4-BE49-F238E27FC236}">
                <a16:creationId xmlns:a16="http://schemas.microsoft.com/office/drawing/2014/main" id="{354FDB08-B6B4-44CB-A2FA-A1FF7284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1457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材料</a:t>
            </a:r>
          </a:p>
        </p:txBody>
      </p:sp>
      <p:sp>
        <p:nvSpPr>
          <p:cNvPr id="6" name="s24-text-5">
            <a:extLst xmlns:a="http://schemas.openxmlformats.org/drawingml/2006/main">
              <a:ext uri="{FF2B5EF4-FFF2-40B4-BE49-F238E27FC236}">
                <a16:creationId xmlns:a16="http://schemas.microsoft.com/office/drawing/2014/main" id="{A55BF26D-9E46-4A65-B5BC-F00D5E1F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可以帮助判断</a:t>
            </a:r>
          </a:p>
        </p:txBody>
      </p:sp>
      <p:sp>
        <p:nvSpPr>
          <p:cNvPr id="7" name="s24-text-6">
            <a:extLst xmlns:a="http://schemas.openxmlformats.org/drawingml/2006/main">
              <a:ext uri="{FF2B5EF4-FFF2-40B4-BE49-F238E27FC236}">
                <a16:creationId xmlns:a16="http://schemas.microsoft.com/office/drawing/2014/main" id="{74938E7D-7807-4F97-9519-274D5B29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还需补充</a:t>
            </a:r>
          </a:p>
        </p:txBody>
      </p:sp>
      <p:sp>
        <p:nvSpPr>
          <p:cNvPr id="8" name="s24-text-7">
            <a:extLst xmlns:a="http://schemas.openxmlformats.org/drawingml/2006/main">
              <a:ext uri="{FF2B5EF4-FFF2-40B4-BE49-F238E27FC236}">
                <a16:creationId xmlns:a16="http://schemas.microsoft.com/office/drawing/2014/main" id="{E1332EB7-4FEC-4D77-8287-567236D9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765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任务单与AI配置</a:t>
            </a:r>
          </a:p>
        </p:txBody>
      </p:sp>
      <p:sp>
        <p:nvSpPr>
          <p:cNvPr id="9" name="s24-text-8">
            <a:extLst xmlns:a="http://schemas.openxmlformats.org/drawingml/2006/main">
              <a:ext uri="{FF2B5EF4-FFF2-40B4-BE49-F238E27FC236}">
                <a16:creationId xmlns:a16="http://schemas.microsoft.com/office/drawing/2014/main" id="{6417C2DA-822E-4A8F-AAAA-FFCB0E67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原本怎样安排学习</a:t>
            </a:r>
          </a:p>
        </p:txBody>
      </p:sp>
      <p:sp>
        <p:nvSpPr>
          <p:cNvPr id="10" name="s24-text-9">
            <a:extLst xmlns:a="http://schemas.openxmlformats.org/drawingml/2006/main">
              <a:ext uri="{FF2B5EF4-FFF2-40B4-BE49-F238E27FC236}">
                <a16:creationId xmlns:a16="http://schemas.microsoft.com/office/drawing/2014/main" id="{4DF73850-13A8-4DCD-8AAD-82D54F5C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课堂是否这样发生</a:t>
            </a:r>
          </a:p>
        </p:txBody>
      </p:sp>
      <p:sp>
        <p:nvSpPr>
          <p:cNvPr id="11" name="s24-rect-10">
            <a:extLst xmlns:a="http://schemas.openxmlformats.org/drawingml/2006/main">
              <a:ext uri="{FF2B5EF4-FFF2-40B4-BE49-F238E27FC236}">
                <a16:creationId xmlns:a16="http://schemas.microsoft.com/office/drawing/2014/main" id="{2924F9E0-CA80-49B3-BD67-4F39467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4-text-11">
            <a:extLst xmlns:a="http://schemas.openxmlformats.org/drawingml/2006/main">
              <a:ext uri="{FF2B5EF4-FFF2-40B4-BE49-F238E27FC236}">
                <a16:creationId xmlns:a16="http://schemas.microsoft.com/office/drawing/2014/main" id="{C5649973-841F-49A1-9FE3-09B32CE2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课堂互动与AI记录</a:t>
            </a:r>
          </a:p>
        </p:txBody>
      </p:sp>
      <p:sp>
        <p:nvSpPr>
          <p:cNvPr id="13" name="s24-text-12">
            <a:extLst xmlns:a="http://schemas.openxmlformats.org/drawingml/2006/main">
              <a:ext uri="{FF2B5EF4-FFF2-40B4-BE49-F238E27FC236}">
                <a16:creationId xmlns:a16="http://schemas.microsoft.com/office/drawing/2014/main" id="{371AAB2B-A0A4-4008-8C97-62E5640B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谁参与了哪些工作</a:t>
            </a:r>
          </a:p>
        </p:txBody>
      </p:sp>
      <p:sp>
        <p:nvSpPr>
          <p:cNvPr id="14" name="s24-text-13">
            <a:extLst xmlns:a="http://schemas.openxmlformats.org/drawingml/2006/main">
              <a:ext uri="{FF2B5EF4-FFF2-40B4-BE49-F238E27FC236}">
                <a16:creationId xmlns:a16="http://schemas.microsoft.com/office/drawing/2014/main" id="{EFD2B84F-CC5C-4050-9B75-EBE81B23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记录之外的活动</a:t>
            </a:r>
          </a:p>
        </p:txBody>
      </p:sp>
      <p:sp>
        <p:nvSpPr>
          <p:cNvPr id="15" name="s24-rect-14">
            <a:extLst xmlns:a="http://schemas.openxmlformats.org/drawingml/2006/main">
              <a:ext uri="{FF2B5EF4-FFF2-40B4-BE49-F238E27FC236}">
                <a16:creationId xmlns:a16="http://schemas.microsoft.com/office/drawing/2014/main" id="{E328BDEE-1988-4262-B840-1E71395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6" name="s24-text-15">
            <a:extLst xmlns:a="http://schemas.openxmlformats.org/drawingml/2006/main">
              <a:ext uri="{FF2B5EF4-FFF2-40B4-BE49-F238E27FC236}">
                <a16:creationId xmlns:a16="http://schemas.microsoft.com/office/drawing/2014/main" id="{0714FE20-6047-4C84-8ADD-0E8A1D6F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方案与作品版本</a:t>
            </a:r>
          </a:p>
        </p:txBody>
      </p:sp>
      <p:sp>
        <p:nvSpPr>
          <p:cNvPr id="17" name="s24-text-16">
            <a:extLst xmlns:a="http://schemas.openxmlformats.org/drawingml/2006/main">
              <a:ext uri="{FF2B5EF4-FFF2-40B4-BE49-F238E27FC236}">
                <a16:creationId xmlns:a16="http://schemas.microsoft.com/office/drawing/2014/main" id="{3E094A2A-C2B1-4BC2-B5D9-D3827C6F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哪些内容发生改变</a:t>
            </a:r>
          </a:p>
        </p:txBody>
      </p:sp>
      <p:sp>
        <p:nvSpPr>
          <p:cNvPr id="18" name="s24-text-17">
            <a:extLst xmlns:a="http://schemas.openxmlformats.org/drawingml/2006/main">
              <a:ext uri="{FF2B5EF4-FFF2-40B4-BE49-F238E27FC236}">
                <a16:creationId xmlns:a16="http://schemas.microsoft.com/office/drawing/2014/main" id="{05B723FE-1288-438C-8AC3-223A00DC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改变的理由与来源</a:t>
            </a:r>
          </a:p>
        </p:txBody>
      </p:sp>
      <p:sp>
        <p:nvSpPr>
          <p:cNvPr id="19" name="s24-rect-18">
            <a:extLst xmlns:a="http://schemas.openxmlformats.org/drawingml/2006/main">
              <a:ext uri="{FF2B5EF4-FFF2-40B4-BE49-F238E27FC236}">
                <a16:creationId xmlns:a16="http://schemas.microsoft.com/office/drawing/2014/main" id="{33C21DFD-1034-4AF4-9529-64122C79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0" name="s24-text-19">
            <a:extLst xmlns:a="http://schemas.openxmlformats.org/drawingml/2006/main">
              <a:ext uri="{FF2B5EF4-FFF2-40B4-BE49-F238E27FC236}">
                <a16:creationId xmlns:a16="http://schemas.microsoft.com/office/drawing/2014/main" id="{3088A217-C2C9-44AF-A776-162AB836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后续任务与解释</a:t>
            </a:r>
          </a:p>
        </p:txBody>
      </p:sp>
      <p:sp>
        <p:nvSpPr>
          <p:cNvPr id="21" name="s24-text-20">
            <a:extLst xmlns:a="http://schemas.openxmlformats.org/drawingml/2006/main">
              <a:ext uri="{FF2B5EF4-FFF2-40B4-BE49-F238E27FC236}">
                <a16:creationId xmlns:a16="http://schemas.microsoft.com/office/drawing/2014/main" id="{4B2A7B29-05A7-4F77-839E-5A015391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能否再次运用</a:t>
            </a:r>
          </a:p>
        </p:txBody>
      </p:sp>
      <p:sp>
        <p:nvSpPr>
          <p:cNvPr id="22" name="s24-text-21">
            <a:extLst xmlns:a="http://schemas.openxmlformats.org/drawingml/2006/main">
              <a:ext uri="{FF2B5EF4-FFF2-40B4-BE49-F238E27FC236}">
                <a16:creationId xmlns:a16="http://schemas.microsoft.com/office/drawing/2014/main" id="{0E96E9A9-7771-47E0-82A3-2A4C8057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条件、时间与个体差异</a:t>
            </a:r>
          </a:p>
        </p:txBody>
      </p:sp>
      <p:sp>
        <p:nvSpPr>
          <p:cNvPr id="23" name="s24-rect-22">
            <a:extLst xmlns:a="http://schemas.openxmlformats.org/drawingml/2006/main">
              <a:ext uri="{FF2B5EF4-FFF2-40B4-BE49-F238E27FC236}">
                <a16:creationId xmlns:a16="http://schemas.microsoft.com/office/drawing/2014/main" id="{053559AF-DC02-477E-86CA-C7921D97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4" name="s24-footer-23">
            <a:extLst xmlns:a="http://schemas.openxmlformats.org/drawingml/2006/main">
              <a:ext uri="{FF2B5EF4-FFF2-40B4-BE49-F238E27FC236}">
                <a16:creationId xmlns:a16="http://schemas.microsoft.com/office/drawing/2014/main" id="{F5E5CEA1-D769-4930-8EF1-BCC8316B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5" name="s24-footer-24">
            <a:extLst xmlns:a="http://schemas.openxmlformats.org/drawingml/2006/main">
              <a:ext uri="{FF2B5EF4-FFF2-40B4-BE49-F238E27FC236}">
                <a16:creationId xmlns:a16="http://schemas.microsoft.com/office/drawing/2014/main" id="{DA943B36-51EF-4BD3-90EF-9C66D7C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24 / 36</a:t>
            </a:r>
          </a:p>
        </p:txBody>
      </p:sp>
    </p:spTree>
    <p:extLst>
      <p:ext uri="{BB962C8B-B14F-4D97-AF65-F5344CB8AC3E}">
        <p14:creationId xmlns:p14="http://schemas.microsoft.com/office/powerpoint/2010/main" val="5661890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5-text-0">
            <a:extLst xmlns:a="http://schemas.openxmlformats.org/drawingml/2006/main">
              <a:ext uri="{FF2B5EF4-FFF2-40B4-BE49-F238E27FC236}">
                <a16:creationId xmlns:a16="http://schemas.microsoft.com/office/drawing/2014/main" id="{82327935-AD8F-4D6F-8119-19D4F6D9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讨论示例 · 积累探索经验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1ddeb138f423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5-title-2">
            <a:extLst xmlns:a="http://schemas.openxmlformats.org/drawingml/2006/main">
              <a:ext uri="{FF2B5EF4-FFF2-40B4-BE49-F238E27FC236}">
                <a16:creationId xmlns:a16="http://schemas.microsoft.com/office/drawing/2014/main" id="{DA3C3E69-F97C-4701-BF12-4C8D4DDB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试过之后，问题也会改变</a:t>
            </a:r>
          </a:p>
        </p:txBody>
      </p:sp>
      <p:sp>
        <p:nvSpPr>
          <p:cNvPr id="4" name="s25-rect-3">
            <a:extLst xmlns:a="http://schemas.openxmlformats.org/drawingml/2006/main">
              <a:ext uri="{FF2B5EF4-FFF2-40B4-BE49-F238E27FC236}">
                <a16:creationId xmlns:a16="http://schemas.microsoft.com/office/drawing/2014/main" id="{34DC1915-407B-425C-A3CB-8334EB1B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5-text-4">
            <a:extLst xmlns:a="http://schemas.openxmlformats.org/drawingml/2006/main">
              <a:ext uri="{FF2B5EF4-FFF2-40B4-BE49-F238E27FC236}">
                <a16:creationId xmlns:a16="http://schemas.microsoft.com/office/drawing/2014/main" id="{02A6B0F9-AA4E-47E4-A33A-F5189FDC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原先的想法</a:t>
            </a:r>
          </a:p>
        </p:txBody>
      </p:sp>
      <p:sp>
        <p:nvSpPr>
          <p:cNvPr id="6" name="s25-text-5">
            <a:extLst xmlns:a="http://schemas.openxmlformats.org/drawingml/2006/main">
              <a:ext uri="{FF2B5EF4-FFF2-40B4-BE49-F238E27FC236}">
                <a16:creationId xmlns:a16="http://schemas.microsoft.com/office/drawing/2014/main" id="{60BBB4B8-4CFA-4129-8C3E-43414384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只要提供更好的提示，学生就会解释方案。</a:t>
            </a:r>
          </a:p>
        </p:txBody>
      </p:sp>
      <p:sp>
        <p:nvSpPr>
          <p:cNvPr id="7" name="s25-rect-6">
            <a:extLst xmlns:a="http://schemas.openxmlformats.org/drawingml/2006/main">
              <a:ext uri="{FF2B5EF4-FFF2-40B4-BE49-F238E27FC236}">
                <a16:creationId xmlns:a16="http://schemas.microsoft.com/office/drawing/2014/main" id="{20B86F3A-C477-4AAB-9A36-F342459C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5-text-7">
            <a:extLst xmlns:a="http://schemas.openxmlformats.org/drawingml/2006/main">
              <a:ext uri="{FF2B5EF4-FFF2-40B4-BE49-F238E27FC236}">
                <a16:creationId xmlns:a16="http://schemas.microsoft.com/office/drawing/2014/main" id="{F11B64D3-76AC-437F-8D55-4696CC87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遇到的疑问</a:t>
            </a:r>
          </a:p>
        </p:txBody>
      </p:sp>
      <p:sp>
        <p:nvSpPr>
          <p:cNvPr id="9" name="s25-text-8">
            <a:extLst xmlns:a="http://schemas.openxmlformats.org/drawingml/2006/main">
              <a:ext uri="{FF2B5EF4-FFF2-40B4-BE49-F238E27FC236}">
                <a16:creationId xmlns:a16="http://schemas.microsoft.com/office/drawing/2014/main" id="{22793C97-55D4-40E5-8744-FD57E241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提示出现了，学生有没有机会回应？回应是否进入小组决定？</a:t>
            </a:r>
          </a:p>
        </p:txBody>
      </p:sp>
      <p:sp>
        <p:nvSpPr>
          <p:cNvPr id="10" name="s25-rect-9">
            <a:extLst xmlns:a="http://schemas.openxmlformats.org/drawingml/2006/main">
              <a:ext uri="{FF2B5EF4-FFF2-40B4-BE49-F238E27FC236}">
                <a16:creationId xmlns:a16="http://schemas.microsoft.com/office/drawing/2014/main" id="{2750298B-278A-4373-8C04-E6C30A17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5-text-10">
            <a:extLst xmlns:a="http://schemas.openxmlformats.org/drawingml/2006/main">
              <a:ext uri="{FF2B5EF4-FFF2-40B4-BE49-F238E27FC236}">
                <a16:creationId xmlns:a16="http://schemas.microsoft.com/office/drawing/2014/main" id="{FF9C4827-8B55-45FC-85A3-3321E244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下一次尝试</a:t>
            </a:r>
          </a:p>
        </p:txBody>
      </p:sp>
      <p:sp>
        <p:nvSpPr>
          <p:cNvPr id="12" name="s25-text-11">
            <a:extLst xmlns:a="http://schemas.openxmlformats.org/drawingml/2006/main">
              <a:ext uri="{FF2B5EF4-FFF2-40B4-BE49-F238E27FC236}">
                <a16:creationId xmlns:a16="http://schemas.microsoft.com/office/drawing/2014/main" id="{9A8CEC66-0CC5-4609-A00A-E87091D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同时调整互动安排与观察方式，记录预期、实际和意外。</a:t>
            </a:r>
          </a:p>
        </p:txBody>
      </p:sp>
      <p:sp>
        <p:nvSpPr>
          <p:cNvPr id="13" name="s25-footer-12">
            <a:extLst xmlns:a="http://schemas.openxmlformats.org/drawingml/2006/main">
              <a:ext uri="{FF2B5EF4-FFF2-40B4-BE49-F238E27FC236}">
                <a16:creationId xmlns:a16="http://schemas.microsoft.com/office/drawing/2014/main" id="{2595D32B-1E5E-41F4-B921-3997B6D1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5-footer-13">
            <a:extLst xmlns:a="http://schemas.openxmlformats.org/drawingml/2006/main">
              <a:ext uri="{FF2B5EF4-FFF2-40B4-BE49-F238E27FC236}">
                <a16:creationId xmlns:a16="http://schemas.microsoft.com/office/drawing/2014/main" id="{A25105D1-E71F-4E9F-B359-3ACF0495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25 / 36</a:t>
            </a:r>
          </a:p>
        </p:txBody>
      </p:sp>
    </p:spTree>
    <p:extLst>
      <p:ext uri="{BB962C8B-B14F-4D97-AF65-F5344CB8AC3E}">
        <p14:creationId xmlns:p14="http://schemas.microsoft.com/office/powerpoint/2010/main" val="9470409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6-text-0">
            <a:extLst xmlns:a="http://schemas.openxmlformats.org/drawingml/2006/main">
              <a:ext uri="{FF2B5EF4-FFF2-40B4-BE49-F238E27FC236}">
                <a16:creationId xmlns:a16="http://schemas.microsoft.com/office/drawing/2014/main" id="{1FEB3973-6D36-435B-B13E-2F256ED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193b8120b4ce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6-title-2">
            <a:extLst xmlns:a="http://schemas.openxmlformats.org/drawingml/2006/main">
              <a:ext uri="{FF2B5EF4-FFF2-40B4-BE49-F238E27FC236}">
                <a16:creationId xmlns:a16="http://schemas.microsoft.com/office/drawing/2014/main" id="{8E5F6896-7803-42E7-A897-D9AB0714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AI备课，也在改变教师学习</a:t>
            </a:r>
          </a:p>
        </p:txBody>
      </p:sp>
      <p:sp>
        <p:nvSpPr>
          <p:cNvPr id="4" name="s26-text-3">
            <a:extLst xmlns:a="http://schemas.openxmlformats.org/drawingml/2006/main">
              <a:ext uri="{FF2B5EF4-FFF2-40B4-BE49-F238E27FC236}">
                <a16:creationId xmlns:a16="http://schemas.microsoft.com/office/drawing/2014/main" id="{4F27D12C-EB6B-4966-A0AA-D1679462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一份教案完成之后，我们对这节课多理解了什么？</a:t>
            </a:r>
          </a:p>
        </p:txBody>
      </p:sp>
      <p:sp>
        <p:nvSpPr>
          <p:cNvPr id="5" name="s26-rect-4">
            <a:extLst xmlns:a="http://schemas.openxmlformats.org/drawingml/2006/main">
              <a:ext uri="{FF2B5EF4-FFF2-40B4-BE49-F238E27FC236}">
                <a16:creationId xmlns:a16="http://schemas.microsoft.com/office/drawing/2014/main" id="{F0C22CC4-09DE-4057-BA26-5F11F1FE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6-text-5">
            <a:extLst xmlns:a="http://schemas.openxmlformats.org/drawingml/2006/main">
              <a:ext uri="{FF2B5EF4-FFF2-40B4-BE49-F238E27FC236}">
                <a16:creationId xmlns:a16="http://schemas.microsoft.com/office/drawing/2014/main" id="{84F5EDE9-10C7-408D-B3D7-65910AFC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可能扩展</a:t>
            </a:r>
          </a:p>
        </p:txBody>
      </p:sp>
      <p:sp>
        <p:nvSpPr>
          <p:cNvPr id="7" name="s26-text-6">
            <a:extLst xmlns:a="http://schemas.openxmlformats.org/drawingml/2006/main">
              <a:ext uri="{FF2B5EF4-FFF2-40B4-BE49-F238E27FC236}">
                <a16:creationId xmlns:a16="http://schemas.microsoft.com/office/drawing/2014/main" id="{FCE76EE2-FC8D-4271-B847-2304FB58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比较不同教法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预想学生的解释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发现遗漏的任务条件</a:t>
            </a:r>
          </a:p>
        </p:txBody>
      </p:sp>
      <p:sp>
        <p:nvSpPr>
          <p:cNvPr id="8" name="s26-rect-7">
            <a:extLst xmlns:a="http://schemas.openxmlformats.org/drawingml/2006/main">
              <a:ext uri="{FF2B5EF4-FFF2-40B4-BE49-F238E27FC236}">
                <a16:creationId xmlns:a16="http://schemas.microsoft.com/office/drawing/2014/main" id="{E066AE9B-6A72-4232-9C60-BF6DE7D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6-text-8">
            <a:extLst xmlns:a="http://schemas.openxmlformats.org/drawingml/2006/main">
              <a:ext uri="{FF2B5EF4-FFF2-40B4-BE49-F238E27FC236}">
                <a16:creationId xmlns:a16="http://schemas.microsoft.com/office/drawing/2014/main" id="{4CEC4F3D-79CE-460F-A397-0B45DCB4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可能遗漏</a:t>
            </a:r>
          </a:p>
        </p:txBody>
      </p:sp>
      <p:sp>
        <p:nvSpPr>
          <p:cNvPr id="10" name="s26-text-9">
            <a:extLst xmlns:a="http://schemas.openxmlformats.org/drawingml/2006/main">
              <a:ext uri="{FF2B5EF4-FFF2-40B4-BE49-F238E27FC236}">
                <a16:creationId xmlns:a16="http://schemas.microsoft.com/office/drawing/2014/main" id="{53CB79ED-F408-46A2-9EB9-C3F3B05B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只接触整理后的摘要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逐渐远离学生原始表达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与具体困难</a:t>
            </a:r>
          </a:p>
        </p:txBody>
      </p:sp>
      <p:sp>
        <p:nvSpPr>
          <p:cNvPr id="11" name="s26-rect-10">
            <a:extLst xmlns:a="http://schemas.openxmlformats.org/drawingml/2006/main">
              <a:ext uri="{FF2B5EF4-FFF2-40B4-BE49-F238E27FC236}">
                <a16:creationId xmlns:a16="http://schemas.microsoft.com/office/drawing/2014/main" id="{A9C506B5-C5E3-4E4E-ABF5-51F6574B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6-text-11">
            <a:extLst xmlns:a="http://schemas.openxmlformats.org/drawingml/2006/main">
              <a:ext uri="{FF2B5EF4-FFF2-40B4-BE49-F238E27FC236}">
                <a16:creationId xmlns:a16="http://schemas.microsoft.com/office/drawing/2014/main" id="{D6C2FF83-3B6A-413E-9E8F-36AF3800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留下判断</a:t>
            </a:r>
          </a:p>
        </p:txBody>
      </p:sp>
      <p:sp>
        <p:nvSpPr>
          <p:cNvPr id="13" name="s26-text-12">
            <a:extLst xmlns:a="http://schemas.openxmlformats.org/drawingml/2006/main">
              <a:ext uri="{FF2B5EF4-FFF2-40B4-BE49-F238E27FC236}">
                <a16:creationId xmlns:a16="http://schemas.microsoft.com/office/drawing/2014/main" id="{2F6CE622-B064-4C77-B9D5-DAAC9D3C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为什么采纳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怎样修改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课堂中需要验证什么</a:t>
            </a:r>
          </a:p>
        </p:txBody>
      </p:sp>
      <p:sp>
        <p:nvSpPr>
          <p:cNvPr id="14" name="s26-footer-13">
            <a:extLst xmlns:a="http://schemas.openxmlformats.org/drawingml/2006/main">
              <a:ext uri="{FF2B5EF4-FFF2-40B4-BE49-F238E27FC236}">
                <a16:creationId xmlns:a16="http://schemas.microsoft.com/office/drawing/2014/main" id="{20037B83-760A-4E59-8EF8-23A75C3D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5" name="s26-footer-14">
            <a:extLst xmlns:a="http://schemas.openxmlformats.org/drawingml/2006/main">
              <a:ext uri="{FF2B5EF4-FFF2-40B4-BE49-F238E27FC236}">
                <a16:creationId xmlns:a16="http://schemas.microsoft.com/office/drawing/2014/main" id="{ADB9DB9A-0ED0-41BF-8241-45439DDA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26 / 36</a:t>
            </a:r>
          </a:p>
        </p:txBody>
      </p:sp>
    </p:spTree>
    <p:extLst>
      <p:ext uri="{BB962C8B-B14F-4D97-AF65-F5344CB8AC3E}">
        <p14:creationId xmlns:p14="http://schemas.microsoft.com/office/powerpoint/2010/main" val="9468503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27-text-0">
            <a:extLst xmlns:a="http://schemas.openxmlformats.org/drawingml/2006/main">
              <a:ext uri="{FF2B5EF4-FFF2-40B4-BE49-F238E27FC236}">
                <a16:creationId xmlns:a16="http://schemas.microsoft.com/office/drawing/2014/main" id="{8FECE126-07E3-4F32-9775-31A158FD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281ca422246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7-title-2">
            <a:extLst xmlns:a="http://schemas.openxmlformats.org/drawingml/2006/main">
              <a:ext uri="{FF2B5EF4-FFF2-40B4-BE49-F238E27FC236}">
                <a16:creationId xmlns:a16="http://schemas.microsoft.com/office/drawing/2014/main" id="{AF4C6D2F-811E-4826-AE5F-196E98E4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哪些困难值得保留？</a:t>
            </a:r>
          </a:p>
        </p:txBody>
      </p:sp>
      <p:sp>
        <p:nvSpPr>
          <p:cNvPr id="4" name="s27-text-3">
            <a:extLst xmlns:a="http://schemas.openxmlformats.org/drawingml/2006/main">
              <a:ext uri="{FF2B5EF4-FFF2-40B4-BE49-F238E27FC236}">
                <a16:creationId xmlns:a16="http://schemas.microsoft.com/office/drawing/2014/main" id="{1CFCB30F-C8B1-45C6-9C7B-A9558D74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可以减轻</a:t>
            </a:r>
          </a:p>
        </p:txBody>
      </p:sp>
      <p:sp>
        <p:nvSpPr>
          <p:cNvPr id="5" name="s27-text-4">
            <a:extLst xmlns:a="http://schemas.openxmlformats.org/drawingml/2006/main">
              <a:ext uri="{FF2B5EF4-FFF2-40B4-BE49-F238E27FC236}">
                <a16:creationId xmlns:a16="http://schemas.microsoft.com/office/drawing/2014/main" id="{45C54D8C-57AF-4307-821B-87A9898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阻碍学生进入任务、却与本次目标关系较小的负担。</a:t>
            </a:r>
          </a:p>
        </p:txBody>
      </p:sp>
      <p:sp>
        <p:nvSpPr>
          <p:cNvPr id="6" name="s27-text-5">
            <a:extLst xmlns:a="http://schemas.openxmlformats.org/drawingml/2006/main">
              <a:ext uri="{FF2B5EF4-FFF2-40B4-BE49-F238E27FC236}">
                <a16:creationId xmlns:a16="http://schemas.microsoft.com/office/drawing/2014/main" id="{91F704B2-7F1E-480D-B592-041FCF5A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需要设计</a:t>
            </a:r>
          </a:p>
        </p:txBody>
      </p:sp>
      <p:sp>
        <p:nvSpPr>
          <p:cNvPr id="7" name="s27-text-6">
            <a:extLst xmlns:a="http://schemas.openxmlformats.org/drawingml/2006/main">
              <a:ext uri="{FF2B5EF4-FFF2-40B4-BE49-F238E27FC236}">
                <a16:creationId xmlns:a16="http://schemas.microsoft.com/office/drawing/2014/main" id="{8B637959-D66B-494F-9947-37A31B8C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528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有助于形成理解的比较、解释、选择与验证。</a:t>
            </a:r>
          </a:p>
        </p:txBody>
      </p:sp>
      <p:sp>
        <p:nvSpPr>
          <p:cNvPr id="8" name="s27-text-7">
            <a:extLst xmlns:a="http://schemas.openxmlformats.org/drawingml/2006/main">
              <a:ext uri="{FF2B5EF4-FFF2-40B4-BE49-F238E27FC236}">
                <a16:creationId xmlns:a16="http://schemas.microsoft.com/office/drawing/2014/main" id="{D91DE63F-7619-4FDC-9AB7-D8A9A80F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随人而变</a:t>
            </a:r>
          </a:p>
        </p:txBody>
      </p:sp>
      <p:sp>
        <p:nvSpPr>
          <p:cNvPr id="9" name="s27-text-8">
            <a:extLst xmlns:a="http://schemas.openxmlformats.org/drawingml/2006/main">
              <a:ext uri="{FF2B5EF4-FFF2-40B4-BE49-F238E27FC236}">
                <a16:creationId xmlns:a16="http://schemas.microsoft.com/office/drawing/2014/main" id="{42F84640-A078-4894-8926-932741B5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577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同一困难，可能需要示范、共同完成或更独立的尝试。</a:t>
            </a:r>
          </a:p>
        </p:txBody>
      </p:sp>
      <p:sp>
        <p:nvSpPr>
          <p:cNvPr id="10" name="s27-rect-9">
            <a:extLst xmlns:a="http://schemas.openxmlformats.org/drawingml/2006/main">
              <a:ext uri="{FF2B5EF4-FFF2-40B4-BE49-F238E27FC236}">
                <a16:creationId xmlns:a16="http://schemas.microsoft.com/office/drawing/2014/main" id="{BA4E1B1C-86FD-4AAB-A543-DD660C7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7-text-10">
            <a:extLst xmlns:a="http://schemas.openxmlformats.org/drawingml/2006/main">
              <a:ext uri="{FF2B5EF4-FFF2-40B4-BE49-F238E27FC236}">
                <a16:creationId xmlns:a16="http://schemas.microsoft.com/office/drawing/2014/main" id="{A6019303-B978-41AD-8FB3-4A3A6C8A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学生正在克服的困难，与这节课希望发展的能力有什么关系？</a:t>
            </a:r>
          </a:p>
        </p:txBody>
      </p:sp>
      <p:sp>
        <p:nvSpPr>
          <p:cNvPr id="12" name="s27-footer-11">
            <a:extLst xmlns:a="http://schemas.openxmlformats.org/drawingml/2006/main">
              <a:ext uri="{FF2B5EF4-FFF2-40B4-BE49-F238E27FC236}">
                <a16:creationId xmlns:a16="http://schemas.microsoft.com/office/drawing/2014/main" id="{3F170EB7-37D5-4BA9-AA20-5119585C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27-footer-12">
            <a:extLst xmlns:a="http://schemas.openxmlformats.org/drawingml/2006/main">
              <a:ext uri="{FF2B5EF4-FFF2-40B4-BE49-F238E27FC236}">
                <a16:creationId xmlns:a16="http://schemas.microsoft.com/office/drawing/2014/main" id="{5C77781D-1DAD-4B6E-A5E9-4729C1EC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27 / 36</a:t>
            </a:r>
          </a:p>
        </p:txBody>
      </p:sp>
    </p:spTree>
    <p:extLst>
      <p:ext uri="{BB962C8B-B14F-4D97-AF65-F5344CB8AC3E}">
        <p14:creationId xmlns:p14="http://schemas.microsoft.com/office/powerpoint/2010/main" val="3673137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8-text-0">
            <a:extLst xmlns:a="http://schemas.openxmlformats.org/drawingml/2006/main">
              <a:ext uri="{FF2B5EF4-FFF2-40B4-BE49-F238E27FC236}">
                <a16:creationId xmlns:a16="http://schemas.microsoft.com/office/drawing/2014/main" id="{6E4C2898-D524-454F-915D-5ED3B9E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研究对话 · 高中数学情境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cb1aa7103471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8-title-2">
            <a:extLst xmlns:a="http://schemas.openxmlformats.org/drawingml/2006/main">
              <a:ext uri="{FF2B5EF4-FFF2-40B4-BE49-F238E27FC236}">
                <a16:creationId xmlns:a16="http://schemas.microsoft.com/office/drawing/2014/main" id="{35506510-D3D9-4291-A3EE-4D1402BA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练习表现与后续学习要分别看</a:t>
            </a:r>
          </a:p>
        </p:txBody>
      </p:sp>
      <p:sp>
        <p:nvSpPr>
          <p:cNvPr id="4" name="s28-text-3">
            <a:extLst xmlns:a="http://schemas.openxmlformats.org/drawingml/2006/main">
              <a:ext uri="{FF2B5EF4-FFF2-40B4-BE49-F238E27FC236}">
                <a16:creationId xmlns:a16="http://schemas.microsoft.com/office/drawing/2014/main" id="{247D7F21-18D4-46DF-8935-8B7C3B2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一项高中数学实验：练习收益与随后测验结果并不相同。</a:t>
            </a:r>
          </a:p>
        </p:txBody>
      </p:sp>
      <p:sp>
        <p:nvSpPr>
          <p:cNvPr id="5" name="s28-rect-4">
            <a:extLst xmlns:a="http://schemas.openxmlformats.org/drawingml/2006/main">
              <a:ext uri="{FF2B5EF4-FFF2-40B4-BE49-F238E27FC236}">
                <a16:creationId xmlns:a16="http://schemas.microsoft.com/office/drawing/2014/main" id="{7820E248-A0C7-4401-8BC9-FCB14EAC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8-text-5">
            <a:extLst xmlns:a="http://schemas.openxmlformats.org/drawingml/2006/main">
              <a:ext uri="{FF2B5EF4-FFF2-40B4-BE49-F238E27FC236}">
                <a16:creationId xmlns:a16="http://schemas.microsoft.com/office/drawing/2014/main" id="{B92F9797-8D9F-4A50-81BE-65ABC565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有AI练习</a:t>
            </a:r>
          </a:p>
        </p:txBody>
      </p:sp>
      <p:sp>
        <p:nvSpPr>
          <p:cNvPr id="7" name="s28-text-6">
            <a:extLst xmlns:a="http://schemas.openxmlformats.org/drawingml/2006/main">
              <a:ext uri="{FF2B5EF4-FFF2-40B4-BE49-F238E27FC236}">
                <a16:creationId xmlns:a16="http://schemas.microsoft.com/office/drawing/2014/main" id="{E4EF70E7-B1D6-48F4-BA1A-2A77EE98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两种AI设计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都提高了练习表现</a:t>
            </a:r>
          </a:p>
        </p:txBody>
      </p:sp>
      <p:sp>
        <p:nvSpPr>
          <p:cNvPr id="8" name="s28-rect-7">
            <a:extLst xmlns:a="http://schemas.openxmlformats.org/drawingml/2006/main">
              <a:ext uri="{FF2B5EF4-FFF2-40B4-BE49-F238E27FC236}">
                <a16:creationId xmlns:a16="http://schemas.microsoft.com/office/drawing/2014/main" id="{356281F3-D811-4CD3-817C-831C0CC1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8-text-8">
            <a:extLst xmlns:a="http://schemas.openxmlformats.org/drawingml/2006/main">
              <a:ext uri="{FF2B5EF4-FFF2-40B4-BE49-F238E27FC236}">
                <a16:creationId xmlns:a16="http://schemas.microsoft.com/office/drawing/2014/main" id="{9AB0209B-5C1B-46F3-83A0-ED040D65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随后无AI测验</a:t>
            </a:r>
          </a:p>
        </p:txBody>
      </p:sp>
      <p:sp>
        <p:nvSpPr>
          <p:cNvPr id="10" name="s28-text-9">
            <a:extLst xmlns:a="http://schemas.openxmlformats.org/drawingml/2006/main">
              <a:ext uri="{FF2B5EF4-FFF2-40B4-BE49-F238E27FC236}">
                <a16:creationId xmlns:a16="http://schemas.microsoft.com/office/drawing/2014/main" id="{C5DEA309-8A42-456C-94F7-9A67EBFD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普通聊天界面组更低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（相比无AI对照组）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教学保护减轻负面影响</a:t>
            </a:r>
          </a:p>
        </p:txBody>
      </p:sp>
      <p:sp>
        <p:nvSpPr>
          <p:cNvPr id="11" name="s28-rect-10">
            <a:extLst xmlns:a="http://schemas.openxmlformats.org/drawingml/2006/main">
              <a:ext uri="{FF2B5EF4-FFF2-40B4-BE49-F238E27FC236}">
                <a16:creationId xmlns:a16="http://schemas.microsoft.com/office/drawing/2014/main" id="{7880A850-6B53-44DE-B3DD-375CCE88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8-text-11">
            <a:extLst xmlns:a="http://schemas.openxmlformats.org/drawingml/2006/main">
              <a:ext uri="{FF2B5EF4-FFF2-40B4-BE49-F238E27FC236}">
                <a16:creationId xmlns:a16="http://schemas.microsoft.com/office/drawing/2014/main" id="{12BEFDAC-5213-4937-B382-FDFBD71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结论的范围</a:t>
            </a:r>
          </a:p>
        </p:txBody>
      </p:sp>
      <p:sp>
        <p:nvSpPr>
          <p:cNvPr id="13" name="s28-text-12">
            <a:extLst xmlns:a="http://schemas.openxmlformats.org/drawingml/2006/main">
              <a:ext uri="{FF2B5EF4-FFF2-40B4-BE49-F238E27FC236}">
                <a16:creationId xmlns:a16="http://schemas.microsoft.com/office/drawing/2014/main" id="{D365A97F-73D4-4001-B1BC-43AEB6DC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特定高中数学、短期研究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尚不能据此推断长期发展</a:t>
            </a:r>
          </a:p>
        </p:txBody>
      </p:sp>
      <p:sp>
        <p:nvSpPr>
          <p:cNvPr id="14" name="s28-footer-13">
            <a:extLst xmlns:a="http://schemas.openxmlformats.org/drawingml/2006/main">
              <a:ext uri="{FF2B5EF4-FFF2-40B4-BE49-F238E27FC236}">
                <a16:creationId xmlns:a16="http://schemas.microsoft.com/office/drawing/2014/main" id="{004A37F1-EA60-4984-B3F6-28A47F21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Bastani et al., 2025 · PNAS</a:t>
            </a:r>
          </a:p>
        </p:txBody>
      </p:sp>
      <p:sp>
        <p:nvSpPr>
          <p:cNvPr id="15" name="s28-footer-14">
            <a:extLst xmlns:a="http://schemas.openxmlformats.org/drawingml/2006/main">
              <a:ext uri="{FF2B5EF4-FFF2-40B4-BE49-F238E27FC236}">
                <a16:creationId xmlns:a16="http://schemas.microsoft.com/office/drawing/2014/main" id="{839A97A9-665D-41B8-9804-814B0A95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28 / 36</a:t>
            </a:r>
          </a:p>
        </p:txBody>
      </p:sp>
    </p:spTree>
    <p:extLst>
      <p:ext uri="{BB962C8B-B14F-4D97-AF65-F5344CB8AC3E}">
        <p14:creationId xmlns:p14="http://schemas.microsoft.com/office/powerpoint/2010/main" val="153547415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9-text-0">
            <a:extLst xmlns:a="http://schemas.openxmlformats.org/drawingml/2006/main">
              <a:ext uri="{FF2B5EF4-FFF2-40B4-BE49-F238E27FC236}">
                <a16:creationId xmlns:a16="http://schemas.microsoft.com/office/drawing/2014/main" id="{CC5DA063-693B-4ACE-A3AE-393B740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d419209664d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9-title-2">
            <a:extLst xmlns:a="http://schemas.openxmlformats.org/drawingml/2006/main">
              <a:ext uri="{FF2B5EF4-FFF2-40B4-BE49-F238E27FC236}">
                <a16:creationId xmlns:a16="http://schemas.microsoft.com/office/drawing/2014/main" id="{6BBEED86-AA1F-464D-944A-AA1A51F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发展可以沿着不同路径发生</a:t>
            </a:r>
          </a:p>
        </p:txBody>
      </p:sp>
      <p:sp>
        <p:nvSpPr>
          <p:cNvPr id="4" name="s29-text-3">
            <a:extLst xmlns:a="http://schemas.openxmlformats.org/drawingml/2006/main">
              <a:ext uri="{FF2B5EF4-FFF2-40B4-BE49-F238E27FC236}">
                <a16:creationId xmlns:a16="http://schemas.microsoft.com/office/drawing/2014/main" id="{00DAB2C4-7427-47D3-9F0A-6ACA854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两类证据分别回答问题；选择怎样评价，需要回到教育目标。</a:t>
            </a:r>
          </a:p>
        </p:txBody>
      </p:sp>
      <p:sp>
        <p:nvSpPr>
          <p:cNvPr id="5" name="s29-rect-4">
            <a:extLst xmlns:a="http://schemas.openxmlformats.org/drawingml/2006/main">
              <a:ext uri="{FF2B5EF4-FFF2-40B4-BE49-F238E27FC236}">
                <a16:creationId xmlns:a16="http://schemas.microsoft.com/office/drawing/2014/main" id="{E1B22D0B-76C3-4516-B8BB-178B587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9-text-5">
            <a:extLst xmlns:a="http://schemas.openxmlformats.org/drawingml/2006/main">
              <a:ext uri="{FF2B5EF4-FFF2-40B4-BE49-F238E27FC236}">
                <a16:creationId xmlns:a16="http://schemas.microsoft.com/office/drawing/2014/main" id="{1FC1A65C-F7BD-4559-80FA-C732CE3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更能独立运用</a:t>
            </a:r>
          </a:p>
        </p:txBody>
      </p:sp>
      <p:sp>
        <p:nvSpPr>
          <p:cNvPr id="7" name="s29-text-6">
            <a:extLst xmlns:a="http://schemas.openxmlformats.org/drawingml/2006/main">
              <a:ext uri="{FF2B5EF4-FFF2-40B4-BE49-F238E27FC236}">
                <a16:creationId xmlns:a16="http://schemas.microsoft.com/office/drawing/2014/main" id="{73044496-24D0-45D4-9F87-BD88A7C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支持减少或任务变化后，仍能解释、选择方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法并调整方案。</a:t>
            </a:r>
          </a:p>
        </p:txBody>
      </p:sp>
      <p:sp>
        <p:nvSpPr>
          <p:cNvPr id="8" name="s29-rect-7">
            <a:extLst xmlns:a="http://schemas.openxmlformats.org/drawingml/2006/main">
              <a:ext uri="{FF2B5EF4-FFF2-40B4-BE49-F238E27FC236}">
                <a16:creationId xmlns:a16="http://schemas.microsoft.com/office/drawing/2014/main" id="{92CCD451-E0E5-4D54-BEF8-F8CEF2C0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9-text-8">
            <a:extLst xmlns:a="http://schemas.openxmlformats.org/drawingml/2006/main">
              <a:ext uri="{FF2B5EF4-FFF2-40B4-BE49-F238E27FC236}">
                <a16:creationId xmlns:a16="http://schemas.microsoft.com/office/drawing/2014/main" id="{779A1C8A-1F66-47F1-8CCC-5EDF095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更能借助AI合作</a:t>
            </a:r>
          </a:p>
        </p:txBody>
      </p:sp>
      <p:sp>
        <p:nvSpPr>
          <p:cNvPr id="10" name="s29-text-9">
            <a:extLst xmlns:a="http://schemas.openxmlformats.org/drawingml/2006/main">
              <a:ext uri="{FF2B5EF4-FFF2-40B4-BE49-F238E27FC236}">
                <a16:creationId xmlns:a16="http://schemas.microsoft.com/office/drawing/2014/main" id="{5224D376-C06B-46A4-985E-D58B16E6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能够提出值得探究的问题，组织人与AI的贡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献，并形成有依据的判断。</a:t>
            </a:r>
          </a:p>
        </p:txBody>
      </p:sp>
      <p:sp>
        <p:nvSpPr>
          <p:cNvPr id="11" name="s29-footer-10">
            <a:extLst xmlns:a="http://schemas.openxmlformats.org/drawingml/2006/main">
              <a:ext uri="{FF2B5EF4-FFF2-40B4-BE49-F238E27FC236}">
                <a16:creationId xmlns:a16="http://schemas.microsoft.com/office/drawing/2014/main" id="{89B23274-097C-4497-96D8-A3F9BFA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9-footer-11">
            <a:extLst xmlns:a="http://schemas.openxmlformats.org/drawingml/2006/main">
              <a:ext uri="{FF2B5EF4-FFF2-40B4-BE49-F238E27FC236}">
                <a16:creationId xmlns:a16="http://schemas.microsoft.com/office/drawing/2014/main" id="{F4C9E1B6-3B47-476D-BA02-1D18AF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29 / 36</a:t>
            </a:r>
          </a:p>
        </p:txBody>
      </p:sp>
    </p:spTree>
    <p:extLst>
      <p:ext uri="{BB962C8B-B14F-4D97-AF65-F5344CB8AC3E}">
        <p14:creationId xmlns:p14="http://schemas.microsoft.com/office/powerpoint/2010/main" val="182303725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0-text-0">
            <a:extLst xmlns:a="http://schemas.openxmlformats.org/drawingml/2006/main">
              <a:ext uri="{FF2B5EF4-FFF2-40B4-BE49-F238E27FC236}">
                <a16:creationId xmlns:a16="http://schemas.microsoft.com/office/drawing/2014/main" id="{33C2A40E-45A2-47B8-8F6B-509563DF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110b6397b46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0-title-2">
            <a:extLst xmlns:a="http://schemas.openxmlformats.org/drawingml/2006/main">
              <a:ext uri="{FF2B5EF4-FFF2-40B4-BE49-F238E27FC236}">
                <a16:creationId xmlns:a16="http://schemas.microsoft.com/office/drawing/2014/main" id="{CD40EFAB-8921-407A-92D2-2B6694C2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一个好结果，还需要怎样理解？</a:t>
            </a:r>
          </a:p>
        </p:txBody>
      </p:sp>
      <p:sp>
        <p:nvSpPr>
          <p:cNvPr id="4" name="s30-rect-3">
            <a:extLst xmlns:a="http://schemas.openxmlformats.org/drawingml/2006/main">
              <a:ext uri="{FF2B5EF4-FFF2-40B4-BE49-F238E27FC236}">
                <a16:creationId xmlns:a16="http://schemas.microsoft.com/office/drawing/2014/main" id="{1D99FE65-ACE8-450B-82CF-9F40765A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0-text-4">
            <a:extLst xmlns:a="http://schemas.openxmlformats.org/drawingml/2006/main">
              <a:ext uri="{FF2B5EF4-FFF2-40B4-BE49-F238E27FC236}">
                <a16:creationId xmlns:a16="http://schemas.microsoft.com/office/drawing/2014/main" id="{27E52988-8D71-483C-ADA7-311768AD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时间</a:t>
            </a:r>
          </a:p>
        </p:txBody>
      </p:sp>
      <p:sp>
        <p:nvSpPr>
          <p:cNvPr id="6" name="s30-text-5">
            <a:extLst xmlns:a="http://schemas.openxmlformats.org/drawingml/2006/main">
              <a:ext uri="{FF2B5EF4-FFF2-40B4-BE49-F238E27FC236}">
                <a16:creationId xmlns:a16="http://schemas.microsoft.com/office/drawing/2014/main" id="{EE664294-0C20-4A09-BEEE-FEFDEF09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当堂能够完成，过一段时间或换个任务，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是否仍然成立？</a:t>
            </a:r>
          </a:p>
        </p:txBody>
      </p:sp>
      <p:sp>
        <p:nvSpPr>
          <p:cNvPr id="7" name="s30-rect-6">
            <a:extLst xmlns:a="http://schemas.openxmlformats.org/drawingml/2006/main">
              <a:ext uri="{FF2B5EF4-FFF2-40B4-BE49-F238E27FC236}">
                <a16:creationId xmlns:a16="http://schemas.microsoft.com/office/drawing/2014/main" id="{3A7E5E0E-8168-4823-9CAE-5DC2631C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0-text-7">
            <a:extLst xmlns:a="http://schemas.openxmlformats.org/drawingml/2006/main">
              <a:ext uri="{FF2B5EF4-FFF2-40B4-BE49-F238E27FC236}">
                <a16:creationId xmlns:a16="http://schemas.microsoft.com/office/drawing/2014/main" id="{7C9EF9B6-76AB-4575-8C06-33E989FD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反例</a:t>
            </a:r>
          </a:p>
        </p:txBody>
      </p:sp>
      <p:sp>
        <p:nvSpPr>
          <p:cNvPr id="9" name="s30-text-8">
            <a:extLst xmlns:a="http://schemas.openxmlformats.org/drawingml/2006/main">
              <a:ext uri="{FF2B5EF4-FFF2-40B4-BE49-F238E27FC236}">
                <a16:creationId xmlns:a16="http://schemas.microsoft.com/office/drawing/2014/main" id="{33B29A12-FB90-40E7-9F04-55D7A7AF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哪些学生没有出现预期变化？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哪些片段挑战了我们的解释？</a:t>
            </a:r>
          </a:p>
        </p:txBody>
      </p:sp>
      <p:sp>
        <p:nvSpPr>
          <p:cNvPr id="10" name="s30-rect-9">
            <a:extLst xmlns:a="http://schemas.openxmlformats.org/drawingml/2006/main">
              <a:ext uri="{FF2B5EF4-FFF2-40B4-BE49-F238E27FC236}">
                <a16:creationId xmlns:a16="http://schemas.microsoft.com/office/drawing/2014/main" id="{DBAFAAF1-1FD2-4737-9413-1D325A51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0-text-10">
            <a:extLst xmlns:a="http://schemas.openxmlformats.org/drawingml/2006/main">
              <a:ext uri="{FF2B5EF4-FFF2-40B4-BE49-F238E27FC236}">
                <a16:creationId xmlns:a16="http://schemas.microsoft.com/office/drawing/2014/main" id="{0E3D81EA-BBE0-4BB4-B09C-4DE0C67C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其他解释</a:t>
            </a:r>
          </a:p>
        </p:txBody>
      </p:sp>
      <p:sp>
        <p:nvSpPr>
          <p:cNvPr id="12" name="s30-text-11">
            <a:extLst xmlns:a="http://schemas.openxmlformats.org/drawingml/2006/main">
              <a:ext uri="{FF2B5EF4-FFF2-40B4-BE49-F238E27FC236}">
                <a16:creationId xmlns:a16="http://schemas.microsoft.com/office/drawing/2014/main" id="{F583A131-07ED-4FAB-844F-D97CF127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也可能来自任务熟悉、追加指导、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同伴帮助或额外练习。</a:t>
            </a:r>
          </a:p>
        </p:txBody>
      </p:sp>
      <p:sp>
        <p:nvSpPr>
          <p:cNvPr id="13" name="s30-footer-12">
            <a:extLst xmlns:a="http://schemas.openxmlformats.org/drawingml/2006/main">
              <a:ext uri="{FF2B5EF4-FFF2-40B4-BE49-F238E27FC236}">
                <a16:creationId xmlns:a16="http://schemas.microsoft.com/office/drawing/2014/main" id="{8D2D48EC-1BA1-47E9-B8FE-206C9FCE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0-footer-13">
            <a:extLst xmlns:a="http://schemas.openxmlformats.org/drawingml/2006/main">
              <a:ext uri="{FF2B5EF4-FFF2-40B4-BE49-F238E27FC236}">
                <a16:creationId xmlns:a16="http://schemas.microsoft.com/office/drawing/2014/main" id="{99641BD2-A554-47E5-A2D6-2DB174E5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30 / 36</a:t>
            </a:r>
          </a:p>
        </p:txBody>
      </p:sp>
    </p:spTree>
    <p:extLst>
      <p:ext uri="{BB962C8B-B14F-4D97-AF65-F5344CB8AC3E}">
        <p14:creationId xmlns:p14="http://schemas.microsoft.com/office/powerpoint/2010/main" val="9163555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1-text-0">
            <a:extLst xmlns:a="http://schemas.openxmlformats.org/drawingml/2006/main">
              <a:ext uri="{FF2B5EF4-FFF2-40B4-BE49-F238E27FC236}">
                <a16:creationId xmlns:a16="http://schemas.microsoft.com/office/drawing/2014/main" id="{7E8968B0-4DD3-407A-9F99-3D19ABBA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c51af1af7493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1-title-2">
            <a:extLst xmlns:a="http://schemas.openxmlformats.org/drawingml/2006/main">
              <a:ext uri="{FF2B5EF4-FFF2-40B4-BE49-F238E27FC236}">
                <a16:creationId xmlns:a16="http://schemas.microsoft.com/office/drawing/2014/main" id="{34F4FE96-BC6C-4611-AE7E-F98911B3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看不到的，不能直接判作没有</a:t>
            </a:r>
          </a:p>
        </p:txBody>
      </p:sp>
      <p:sp>
        <p:nvSpPr>
          <p:cNvPr id="4" name="s31-rect-3">
            <a:extLst xmlns:a="http://schemas.openxmlformats.org/drawingml/2006/main">
              <a:ext uri="{FF2B5EF4-FFF2-40B4-BE49-F238E27FC236}">
                <a16:creationId xmlns:a16="http://schemas.microsoft.com/office/drawing/2014/main" id="{A7126A10-EB12-4E3B-8EDE-296DEC7F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1-text-4">
            <a:extLst xmlns:a="http://schemas.openxmlformats.org/drawingml/2006/main">
              <a:ext uri="{FF2B5EF4-FFF2-40B4-BE49-F238E27FC236}">
                <a16:creationId xmlns:a16="http://schemas.microsoft.com/office/drawing/2014/main" id="{3D555640-8993-435F-9398-2F02243E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记录的边界</a:t>
            </a:r>
          </a:p>
        </p:txBody>
      </p:sp>
      <p:sp>
        <p:nvSpPr>
          <p:cNvPr id="6" name="s31-text-5">
            <a:extLst xmlns:a="http://schemas.openxmlformats.org/drawingml/2006/main">
              <a:ext uri="{FF2B5EF4-FFF2-40B4-BE49-F238E27FC236}">
                <a16:creationId xmlns:a16="http://schemas.microsoft.com/office/drawing/2014/main" id="{C47F933D-C9E9-4958-9AC3-5A421E05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AI日志之外，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还可能有纸笔、操作、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同伴讨论与口头支持。</a:t>
            </a:r>
          </a:p>
        </p:txBody>
      </p:sp>
      <p:sp>
        <p:nvSpPr>
          <p:cNvPr id="7" name="s31-rect-6">
            <a:extLst xmlns:a="http://schemas.openxmlformats.org/drawingml/2006/main">
              <a:ext uri="{FF2B5EF4-FFF2-40B4-BE49-F238E27FC236}">
                <a16:creationId xmlns:a16="http://schemas.microsoft.com/office/drawing/2014/main" id="{F3DE3495-A19C-499B-AE3A-FAFCA49F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1-text-7">
            <a:extLst xmlns:a="http://schemas.openxmlformats.org/drawingml/2006/main">
              <a:ext uri="{FF2B5EF4-FFF2-40B4-BE49-F238E27FC236}">
                <a16:creationId xmlns:a16="http://schemas.microsoft.com/office/drawing/2014/main" id="{0D1C3DE2-708A-4D68-AB81-8A43B9F4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归因的边界</a:t>
            </a:r>
          </a:p>
        </p:txBody>
      </p:sp>
      <p:sp>
        <p:nvSpPr>
          <p:cNvPr id="9" name="s31-text-8">
            <a:extLst xmlns:a="http://schemas.openxmlformats.org/drawingml/2006/main">
              <a:ext uri="{FF2B5EF4-FFF2-40B4-BE49-F238E27FC236}">
                <a16:creationId xmlns:a16="http://schemas.microsoft.com/office/drawing/2014/main" id="{4F91D016-638F-4C63-9353-61B19E97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小组产出不等于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每个成员都理解；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没有发言不等于没思考。</a:t>
            </a:r>
          </a:p>
        </p:txBody>
      </p:sp>
      <p:sp>
        <p:nvSpPr>
          <p:cNvPr id="10" name="s31-rect-9">
            <a:extLst xmlns:a="http://schemas.openxmlformats.org/drawingml/2006/main">
              <a:ext uri="{FF2B5EF4-FFF2-40B4-BE49-F238E27FC236}">
                <a16:creationId xmlns:a16="http://schemas.microsoft.com/office/drawing/2014/main" id="{F4C3A51F-68FF-4CCA-AE40-7902CA79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1-text-10">
            <a:extLst xmlns:a="http://schemas.openxmlformats.org/drawingml/2006/main">
              <a:ext uri="{FF2B5EF4-FFF2-40B4-BE49-F238E27FC236}">
                <a16:creationId xmlns:a16="http://schemas.microsoft.com/office/drawing/2014/main" id="{8EAAE4AD-B8C9-4F08-8FF9-FEB43CDE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补充观察</a:t>
            </a:r>
          </a:p>
        </p:txBody>
      </p:sp>
      <p:sp>
        <p:nvSpPr>
          <p:cNvPr id="12" name="s31-text-11">
            <a:extLst xmlns:a="http://schemas.openxmlformats.org/drawingml/2006/main">
              <a:ext uri="{FF2B5EF4-FFF2-40B4-BE49-F238E27FC236}">
                <a16:creationId xmlns:a16="http://schemas.microsoft.com/office/drawing/2014/main" id="{9A1BF00D-FEEB-423B-9C16-4924CA96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通过短解释、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个别追问或新任务，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了解不同学生的理解。</a:t>
            </a:r>
          </a:p>
        </p:txBody>
      </p:sp>
      <p:sp>
        <p:nvSpPr>
          <p:cNvPr id="13" name="s31-footer-12">
            <a:extLst xmlns:a="http://schemas.openxmlformats.org/drawingml/2006/main">
              <a:ext uri="{FF2B5EF4-FFF2-40B4-BE49-F238E27FC236}">
                <a16:creationId xmlns:a16="http://schemas.microsoft.com/office/drawing/2014/main" id="{CBC97971-6363-4EC9-B13E-9183DF2B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1-footer-13">
            <a:extLst xmlns:a="http://schemas.openxmlformats.org/drawingml/2006/main">
              <a:ext uri="{FF2B5EF4-FFF2-40B4-BE49-F238E27FC236}">
                <a16:creationId xmlns:a16="http://schemas.microsoft.com/office/drawing/2014/main" id="{8953B16B-4AF8-4B55-A27D-56291BAD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31 / 36</a:t>
            </a:r>
          </a:p>
        </p:txBody>
      </p:sp>
    </p:spTree>
    <p:extLst>
      <p:ext uri="{BB962C8B-B14F-4D97-AF65-F5344CB8AC3E}">
        <p14:creationId xmlns:p14="http://schemas.microsoft.com/office/powerpoint/2010/main" val="16750967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32-text-0">
            <a:extLst xmlns:a="http://schemas.openxmlformats.org/drawingml/2006/main">
              <a:ext uri="{FF2B5EF4-FFF2-40B4-BE49-F238E27FC236}">
                <a16:creationId xmlns:a16="http://schemas.microsoft.com/office/drawing/2014/main" id="{2088C822-60CC-40F5-8A27-479A9F2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以下均为假设新增材料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4463f887543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2-title-2">
            <a:extLst xmlns:a="http://schemas.openxmlformats.org/drawingml/2006/main">
              <a:ext uri="{FF2B5EF4-FFF2-40B4-BE49-F238E27FC236}">
                <a16:creationId xmlns:a16="http://schemas.microsoft.com/office/drawing/2014/main" id="{F847E68C-20B8-48F1-BCBF-B3107B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第三次判断：下一课怎样安排？</a:t>
            </a:r>
          </a:p>
        </p:txBody>
      </p:sp>
      <p:sp>
        <p:nvSpPr>
          <p:cNvPr id="4" name="s32-text-3">
            <a:extLst xmlns:a="http://schemas.openxmlformats.org/drawingml/2006/main">
              <a:ext uri="{FF2B5EF4-FFF2-40B4-BE49-F238E27FC236}">
                <a16:creationId xmlns:a16="http://schemas.microsoft.com/office/drawing/2014/main" id="{29829027-7C05-4D02-BF66-7A363FA8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无AI新任务</a:t>
            </a:r>
          </a:p>
        </p:txBody>
      </p:sp>
      <p:sp>
        <p:nvSpPr>
          <p:cNvPr id="5" name="s32-text-4">
            <a:extLst xmlns:a="http://schemas.openxmlformats.org/drawingml/2006/main">
              <a:ext uri="{FF2B5EF4-FFF2-40B4-BE49-F238E27FC236}">
                <a16:creationId xmlns:a16="http://schemas.microsoft.com/office/drawing/2014/main" id="{9319625A-300F-4418-AD13-FE825E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一名学生发现植物实验同时改变了水量与种类，但尚未解释怎样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修改。</a:t>
            </a:r>
          </a:p>
        </p:txBody>
      </p:sp>
      <p:sp>
        <p:nvSpPr>
          <p:cNvPr id="6" name="s32-text-5">
            <a:extLst xmlns:a="http://schemas.openxmlformats.org/drawingml/2006/main">
              <a:ext uri="{FF2B5EF4-FFF2-40B4-BE49-F238E27FC236}">
                <a16:creationId xmlns:a16="http://schemas.microsoft.com/office/drawing/2014/main" id="{FBD9D1E3-98ED-4B4F-9014-137D5F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有AI共同探究</a:t>
            </a:r>
          </a:p>
        </p:txBody>
      </p:sp>
      <p:sp>
        <p:nvSpPr>
          <p:cNvPr id="7" name="s32-text-6">
            <a:extLst xmlns:a="http://schemas.openxmlformats.org/drawingml/2006/main">
              <a:ext uri="{FF2B5EF4-FFF2-40B4-BE49-F238E27FC236}">
                <a16:creationId xmlns:a16="http://schemas.microsoft.com/office/drawing/2014/main" id="{6BD16293-358F-47E2-9FA3-5F781D11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00475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小组提出温度可能混淆光照影响，要求补测；两名成员的理解仍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不清楚。</a:t>
            </a:r>
          </a:p>
        </p:txBody>
      </p:sp>
      <p:sp>
        <p:nvSpPr>
          <p:cNvPr id="8" name="s32-rect-7">
            <a:extLst xmlns:a="http://schemas.openxmlformats.org/drawingml/2006/main">
              <a:ext uri="{FF2B5EF4-FFF2-40B4-BE49-F238E27FC236}">
                <a16:creationId xmlns:a16="http://schemas.microsoft.com/office/drawing/2014/main" id="{4B5E4802-9CB5-4411-84C5-A042FCB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32-text-8">
            <a:extLst xmlns:a="http://schemas.openxmlformats.org/drawingml/2006/main">
              <a:ext uri="{FF2B5EF4-FFF2-40B4-BE49-F238E27FC236}">
                <a16:creationId xmlns:a16="http://schemas.microsoft.com/office/drawing/2014/main" id="{BB137BD2-8BA7-4BA1-8E47-E3F53F4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哪些判断获得支持？还缺什么？你会先改变哪一处安排？</a:t>
            </a:r>
          </a:p>
        </p:txBody>
      </p:sp>
      <p:sp>
        <p:nvSpPr>
          <p:cNvPr id="10" name="s32-footer-9">
            <a:extLst xmlns:a="http://schemas.openxmlformats.org/drawingml/2006/main">
              <a:ext uri="{FF2B5EF4-FFF2-40B4-BE49-F238E27FC236}">
                <a16:creationId xmlns:a16="http://schemas.microsoft.com/office/drawing/2014/main" id="{3D98AE83-8F22-48D3-BFCA-9C68FF3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1" name="s32-footer-10">
            <a:extLst xmlns:a="http://schemas.openxmlformats.org/drawingml/2006/main">
              <a:ext uri="{FF2B5EF4-FFF2-40B4-BE49-F238E27FC236}">
                <a16:creationId xmlns:a16="http://schemas.microsoft.com/office/drawing/2014/main" id="{B26945A3-2A3A-4389-AF0B-1F91CF0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32 / 36</a:t>
            </a:r>
          </a:p>
        </p:txBody>
      </p:sp>
    </p:spTree>
    <p:extLst>
      <p:ext uri="{BB962C8B-B14F-4D97-AF65-F5344CB8AC3E}">
        <p14:creationId xmlns:p14="http://schemas.microsoft.com/office/powerpoint/2010/main" val="10517831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33-text-0">
            <a:extLst xmlns:a="http://schemas.openxmlformats.org/drawingml/2006/main">
              <a:ext uri="{FF2B5EF4-FFF2-40B4-BE49-F238E27FC236}">
                <a16:creationId xmlns:a16="http://schemas.microsoft.com/office/drawing/2014/main" id="{7E21DB5B-6368-4C09-B3BF-2903E458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研究与实践的对话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b585e7d884f7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3-title-2">
            <a:extLst xmlns:a="http://schemas.openxmlformats.org/drawingml/2006/main">
              <a:ext uri="{FF2B5EF4-FFF2-40B4-BE49-F238E27FC236}">
                <a16:creationId xmlns:a16="http://schemas.microsoft.com/office/drawing/2014/main" id="{087B9D1F-6C45-46F0-ADB5-E21AF3D2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继续阅读的四个入口</a:t>
            </a:r>
          </a:p>
        </p:txBody>
      </p:sp>
      <p:sp>
        <p:nvSpPr>
          <p:cNvPr id="4" name="s33-rect-3">
            <a:extLst xmlns:a="http://schemas.openxmlformats.org/drawingml/2006/main">
              <a:ext uri="{FF2B5EF4-FFF2-40B4-BE49-F238E27FC236}">
                <a16:creationId xmlns:a16="http://schemas.microsoft.com/office/drawing/2014/main" id="{8BC692E0-1145-436A-B364-FE81D400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3-text-4">
            <a:extLst xmlns:a="http://schemas.openxmlformats.org/drawingml/2006/main">
              <a:ext uri="{FF2B5EF4-FFF2-40B4-BE49-F238E27FC236}">
                <a16:creationId xmlns:a16="http://schemas.microsoft.com/office/drawing/2014/main" id="{2DE2D2EE-93C3-428D-8780-1F785359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UNESCO · 2024</a:t>
            </a:r>
          </a:p>
        </p:txBody>
      </p:sp>
      <p:sp>
        <p:nvSpPr>
          <p:cNvPr id="6" name="s33-text-5">
            <a:extLst xmlns:a="http://schemas.openxmlformats.org/drawingml/2006/main">
              <a:ext uri="{FF2B5EF4-FFF2-40B4-BE49-F238E27FC236}">
                <a16:creationId xmlns:a16="http://schemas.microsoft.com/office/drawing/2014/main" id="{3722B82E-B240-49A1-910C-94A12F38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1050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 competency framework for teachers：教师AI能力、教学法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与专业学习。</a:t>
            </a:r>
          </a:p>
        </p:txBody>
      </p:sp>
      <p:sp>
        <p:nvSpPr>
          <p:cNvPr id="7" name="s33-rect-6">
            <a:extLst xmlns:a="http://schemas.openxmlformats.org/drawingml/2006/main">
              <a:ext uri="{FF2B5EF4-FFF2-40B4-BE49-F238E27FC236}">
                <a16:creationId xmlns:a16="http://schemas.microsoft.com/office/drawing/2014/main" id="{CA24A665-A2FA-42A6-BB5A-DCA4D89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3-text-7">
            <a:extLst xmlns:a="http://schemas.openxmlformats.org/drawingml/2006/main">
              <a:ext uri="{FF2B5EF4-FFF2-40B4-BE49-F238E27FC236}">
                <a16:creationId xmlns:a16="http://schemas.microsoft.com/office/drawing/2014/main" id="{073A01BD-4F95-4C89-9424-775713C7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Cukurova · 2025</a:t>
            </a:r>
          </a:p>
        </p:txBody>
      </p:sp>
      <p:sp>
        <p:nvSpPr>
          <p:cNvPr id="9" name="s33-text-8">
            <a:extLst xmlns:a="http://schemas.openxmlformats.org/drawingml/2006/main">
              <a:ext uri="{FF2B5EF4-FFF2-40B4-BE49-F238E27FC236}">
                <a16:creationId xmlns:a16="http://schemas.microsoft.com/office/drawing/2014/main" id="{6A8879E5-1566-49F7-83F5-EB5C111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194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AI、人类认知与发展：思考任务自动化和人的学习之间的关系。</a:t>
            </a:r>
          </a:p>
        </p:txBody>
      </p:sp>
      <p:sp>
        <p:nvSpPr>
          <p:cNvPr id="10" name="s33-rect-9">
            <a:extLst xmlns:a="http://schemas.openxmlformats.org/drawingml/2006/main">
              <a:ext uri="{FF2B5EF4-FFF2-40B4-BE49-F238E27FC236}">
                <a16:creationId xmlns:a16="http://schemas.microsoft.com/office/drawing/2014/main" id="{5B34A935-3DA1-4ADC-AB99-60CB83B3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3-text-10">
            <a:extLst xmlns:a="http://schemas.openxmlformats.org/drawingml/2006/main">
              <a:ext uri="{FF2B5EF4-FFF2-40B4-BE49-F238E27FC236}">
                <a16:creationId xmlns:a16="http://schemas.microsoft.com/office/drawing/2014/main" id="{CFCF9E46-9217-456B-AA3C-BE12C02D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Sun等 · 2026</a:t>
            </a:r>
          </a:p>
        </p:txBody>
      </p:sp>
      <p:sp>
        <p:nvSpPr>
          <p:cNvPr id="12" name="s33-text-11">
            <a:extLst xmlns:a="http://schemas.openxmlformats.org/drawingml/2006/main">
              <a:ext uri="{FF2B5EF4-FFF2-40B4-BE49-F238E27FC236}">
                <a16:creationId xmlns:a16="http://schemas.microsoft.com/office/drawing/2014/main" id="{D5FCAC2B-7FA9-4D2D-8744-D659CA6B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9338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大学教师的GenAI能力：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素养、课程设计、教学与评价。</a:t>
            </a:r>
          </a:p>
        </p:txBody>
      </p:sp>
      <p:sp>
        <p:nvSpPr>
          <p:cNvPr id="13" name="s33-rect-12">
            <a:extLst xmlns:a="http://schemas.openxmlformats.org/drawingml/2006/main">
              <a:ext uri="{FF2B5EF4-FFF2-40B4-BE49-F238E27FC236}">
                <a16:creationId xmlns:a16="http://schemas.microsoft.com/office/drawing/2014/main" id="{26D851F3-3A3C-433D-9FDD-720146BB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3-text-13">
            <a:extLst xmlns:a="http://schemas.openxmlformats.org/drawingml/2006/main">
              <a:ext uri="{FF2B5EF4-FFF2-40B4-BE49-F238E27FC236}">
                <a16:creationId xmlns:a16="http://schemas.microsoft.com/office/drawing/2014/main" id="{9F995C1C-6156-47DF-91C1-C61F54C6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Bastani等 · 2025</a:t>
            </a:r>
          </a:p>
        </p:txBody>
      </p:sp>
      <p:sp>
        <p:nvSpPr>
          <p:cNvPr id="15" name="s33-text-14">
            <a:extLst xmlns:a="http://schemas.openxmlformats.org/drawingml/2006/main">
              <a:ext uri="{FF2B5EF4-FFF2-40B4-BE49-F238E27FC236}">
                <a16:creationId xmlns:a16="http://schemas.microsoft.com/office/drawing/2014/main" id="{CFC4234B-4C45-43D2-9D38-46D87CCD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8482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Generative AI without guardrails can harm learning：区分练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习表现与后续学习。</a:t>
            </a:r>
          </a:p>
        </p:txBody>
      </p:sp>
      <p:sp>
        <p:nvSpPr>
          <p:cNvPr id="16" name="s33-footer-15">
            <a:extLst xmlns:a="http://schemas.openxmlformats.org/drawingml/2006/main">
              <a:ext uri="{FF2B5EF4-FFF2-40B4-BE49-F238E27FC236}">
                <a16:creationId xmlns:a16="http://schemas.microsoft.com/office/drawing/2014/main" id="{6B5E0F86-B841-4656-87D1-6909991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UNESCO；Cukurova, 2025 · BJET；Sun et al., 2026 · C&amp;E: AI；Bastani et al., 2025 · PNAS</a:t>
            </a:r>
          </a:p>
        </p:txBody>
      </p:sp>
      <p:sp>
        <p:nvSpPr>
          <p:cNvPr id="17" name="s33-footer-16">
            <a:extLst xmlns:a="http://schemas.openxmlformats.org/drawingml/2006/main">
              <a:ext uri="{FF2B5EF4-FFF2-40B4-BE49-F238E27FC236}">
                <a16:creationId xmlns:a16="http://schemas.microsoft.com/office/drawing/2014/main" id="{49772C7E-B6E7-4728-A0ED-9B90F2DB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33 / 36</a:t>
            </a:r>
          </a:p>
        </p:txBody>
      </p:sp>
    </p:spTree>
    <p:extLst>
      <p:ext uri="{BB962C8B-B14F-4D97-AF65-F5344CB8AC3E}">
        <p14:creationId xmlns:p14="http://schemas.microsoft.com/office/powerpoint/2010/main" val="4395761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34-text-0">
            <a:extLst xmlns:a="http://schemas.openxmlformats.org/drawingml/2006/main">
              <a:ext uri="{FF2B5EF4-FFF2-40B4-BE49-F238E27FC236}">
                <a16:creationId xmlns:a16="http://schemas.microsoft.com/office/drawing/2014/main" id="{1C16075C-B937-4658-9129-20D44238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带回自己的课堂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1b5644ab242a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4-title-2">
            <a:extLst xmlns:a="http://schemas.openxmlformats.org/drawingml/2006/main">
              <a:ext uri="{FF2B5EF4-FFF2-40B4-BE49-F238E27FC236}">
                <a16:creationId xmlns:a16="http://schemas.microsoft.com/office/drawing/2014/main" id="{FE3E7759-14C1-4CE5-B068-165B5DBA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备课与教研的五问卡</a:t>
            </a:r>
          </a:p>
        </p:txBody>
      </p:sp>
      <p:sp>
        <p:nvSpPr>
          <p:cNvPr id="4" name="s34-rect-3">
            <a:extLst xmlns:a="http://schemas.openxmlformats.org/drawingml/2006/main">
              <a:ext uri="{FF2B5EF4-FFF2-40B4-BE49-F238E27FC236}">
                <a16:creationId xmlns:a16="http://schemas.microsoft.com/office/drawing/2014/main" id="{D3193C6C-D19C-410E-A227-4218E07D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4-text-4">
            <a:extLst xmlns:a="http://schemas.openxmlformats.org/drawingml/2006/main">
              <a:ext uri="{FF2B5EF4-FFF2-40B4-BE49-F238E27FC236}">
                <a16:creationId xmlns:a16="http://schemas.microsoft.com/office/drawing/2014/main" id="{069FBFB6-12EE-4162-8A47-3FDF6664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 目标</a:t>
            </a:r>
          </a:p>
        </p:txBody>
      </p:sp>
      <p:sp>
        <p:nvSpPr>
          <p:cNvPr id="6" name="s34-text-5">
            <a:extLst xmlns:a="http://schemas.openxmlformats.org/drawingml/2006/main">
              <a:ext uri="{FF2B5EF4-FFF2-40B4-BE49-F238E27FC236}">
                <a16:creationId xmlns:a16="http://schemas.microsoft.com/office/drawing/2014/main" id="{F0F97296-3379-4438-9392-01CC8E07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希望学生获得什么发展？</a:t>
            </a:r>
          </a:p>
        </p:txBody>
      </p:sp>
      <p:sp>
        <p:nvSpPr>
          <p:cNvPr id="7" name="s34-rect-6">
            <a:extLst xmlns:a="http://schemas.openxmlformats.org/drawingml/2006/main">
              <a:ext uri="{FF2B5EF4-FFF2-40B4-BE49-F238E27FC236}">
                <a16:creationId xmlns:a16="http://schemas.microsoft.com/office/drawing/2014/main" id="{1D77F30C-2BFE-4B6F-AA26-04BC9441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4-text-7">
            <a:extLst xmlns:a="http://schemas.openxmlformats.org/drawingml/2006/main">
              <a:ext uri="{FF2B5EF4-FFF2-40B4-BE49-F238E27FC236}">
                <a16:creationId xmlns:a16="http://schemas.microsoft.com/office/drawing/2014/main" id="{91B211DA-7FB3-4984-BCEA-83AA53C9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 活动</a:t>
            </a:r>
          </a:p>
        </p:txBody>
      </p:sp>
      <p:sp>
        <p:nvSpPr>
          <p:cNvPr id="9" name="s34-text-8">
            <a:extLst xmlns:a="http://schemas.openxmlformats.org/drawingml/2006/main">
              <a:ext uri="{FF2B5EF4-FFF2-40B4-BE49-F238E27FC236}">
                <a16:creationId xmlns:a16="http://schemas.microsoft.com/office/drawing/2014/main" id="{13604CBA-D35E-4E4D-A239-36414E55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2892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为此，需要经历哪些有价值的活动？</a:t>
            </a:r>
          </a:p>
        </p:txBody>
      </p:sp>
      <p:sp>
        <p:nvSpPr>
          <p:cNvPr id="10" name="s34-rect-9">
            <a:extLst xmlns:a="http://schemas.openxmlformats.org/drawingml/2006/main">
              <a:ext uri="{FF2B5EF4-FFF2-40B4-BE49-F238E27FC236}">
                <a16:creationId xmlns:a16="http://schemas.microsoft.com/office/drawing/2014/main" id="{1BE68478-658C-4A75-A9FF-84B1C74B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4-text-10">
            <a:extLst xmlns:a="http://schemas.openxmlformats.org/drawingml/2006/main">
              <a:ext uri="{FF2B5EF4-FFF2-40B4-BE49-F238E27FC236}">
                <a16:creationId xmlns:a16="http://schemas.microsoft.com/office/drawing/2014/main" id="{48107141-2525-4378-B1A4-34B2E89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 AI</a:t>
            </a:r>
          </a:p>
        </p:txBody>
      </p:sp>
      <p:sp>
        <p:nvSpPr>
          <p:cNvPr id="12" name="s34-text-11">
            <a:extLst xmlns:a="http://schemas.openxmlformats.org/drawingml/2006/main">
              <a:ext uri="{FF2B5EF4-FFF2-40B4-BE49-F238E27FC236}">
                <a16:creationId xmlns:a16="http://schemas.microsoft.com/office/drawing/2014/main" id="{C4B8FA09-C3C5-4BBA-AF84-1DE27D3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AI怎样支持、改变或拓展这些活动？</a:t>
            </a:r>
          </a:p>
        </p:txBody>
      </p:sp>
      <p:sp>
        <p:nvSpPr>
          <p:cNvPr id="13" name="s34-rect-12">
            <a:extLst xmlns:a="http://schemas.openxmlformats.org/drawingml/2006/main">
              <a:ext uri="{FF2B5EF4-FFF2-40B4-BE49-F238E27FC236}">
                <a16:creationId xmlns:a16="http://schemas.microsoft.com/office/drawing/2014/main" id="{E74DCEF7-1939-4C17-AA24-532ACA49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4-text-13">
            <a:extLst xmlns:a="http://schemas.openxmlformats.org/drawingml/2006/main">
              <a:ext uri="{FF2B5EF4-FFF2-40B4-BE49-F238E27FC236}">
                <a16:creationId xmlns:a16="http://schemas.microsoft.com/office/drawing/2014/main" id="{DA1B40DF-DE34-4B2E-AAFC-A20DDEAD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04 机会</a:t>
            </a:r>
          </a:p>
        </p:txBody>
      </p:sp>
      <p:sp>
        <p:nvSpPr>
          <p:cNvPr id="15" name="s34-text-14">
            <a:extLst xmlns:a="http://schemas.openxmlformats.org/drawingml/2006/main">
              <a:ext uri="{FF2B5EF4-FFF2-40B4-BE49-F238E27FC236}">
                <a16:creationId xmlns:a16="http://schemas.microsoft.com/office/drawing/2014/main" id="{E4E3EA53-A55E-4718-869A-3B3F2F9C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57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谁获得了机会，谁还需要不同的支持？</a:t>
            </a:r>
          </a:p>
        </p:txBody>
      </p:sp>
      <p:sp>
        <p:nvSpPr>
          <p:cNvPr id="16" name="s34-rect-15">
            <a:extLst xmlns:a="http://schemas.openxmlformats.org/drawingml/2006/main">
              <a:ext uri="{FF2B5EF4-FFF2-40B4-BE49-F238E27FC236}">
                <a16:creationId xmlns:a16="http://schemas.microsoft.com/office/drawing/2014/main" id="{AB374E53-297F-41E7-A44D-858F4FE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34-text-16">
            <a:extLst xmlns:a="http://schemas.openxmlformats.org/drawingml/2006/main">
              <a:ext uri="{FF2B5EF4-FFF2-40B4-BE49-F238E27FC236}">
                <a16:creationId xmlns:a16="http://schemas.microsoft.com/office/drawing/2014/main" id="{AF736026-2DA7-4115-8C44-FFF02343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05 修订</a:t>
            </a:r>
          </a:p>
        </p:txBody>
      </p:sp>
      <p:sp>
        <p:nvSpPr>
          <p:cNvPr id="18" name="s34-text-17">
            <a:extLst xmlns:a="http://schemas.openxmlformats.org/drawingml/2006/main">
              <a:ext uri="{FF2B5EF4-FFF2-40B4-BE49-F238E27FC236}">
                <a16:creationId xmlns:a16="http://schemas.microsoft.com/office/drawing/2014/main" id="{45AF7D28-0350-4A34-B6CF-F0A783D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720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什么证据会让我改变现在的安排？</a:t>
            </a:r>
          </a:p>
        </p:txBody>
      </p:sp>
      <p:sp>
        <p:nvSpPr>
          <p:cNvPr id="19" name="s34-footer-18">
            <a:extLst xmlns:a="http://schemas.openxmlformats.org/drawingml/2006/main">
              <a:ext uri="{FF2B5EF4-FFF2-40B4-BE49-F238E27FC236}">
                <a16:creationId xmlns:a16="http://schemas.microsoft.com/office/drawing/2014/main" id="{2B831F5F-F8E4-49CA-982D-49D5FE7E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0" name="s34-footer-19">
            <a:extLst xmlns:a="http://schemas.openxmlformats.org/drawingml/2006/main">
              <a:ext uri="{FF2B5EF4-FFF2-40B4-BE49-F238E27FC236}">
                <a16:creationId xmlns:a16="http://schemas.microsoft.com/office/drawing/2014/main" id="{0D4BB752-07C4-4C49-A7B0-596D48A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34 / 36</a:t>
            </a:r>
          </a:p>
        </p:txBody>
      </p:sp>
    </p:spTree>
    <p:extLst>
      <p:ext uri="{BB962C8B-B14F-4D97-AF65-F5344CB8AC3E}">
        <p14:creationId xmlns:p14="http://schemas.microsoft.com/office/powerpoint/2010/main" val="49577785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35-text-0">
            <a:extLst xmlns:a="http://schemas.openxmlformats.org/drawingml/2006/main">
              <a:ext uri="{FF2B5EF4-FFF2-40B4-BE49-F238E27FC236}">
                <a16:creationId xmlns:a16="http://schemas.microsoft.com/office/drawing/2014/main" id="{058DF99E-D44A-4492-BE4E-D20088D3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带回自己的课堂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08ef885ac42f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5-title-2">
            <a:extLst xmlns:a="http://schemas.openxmlformats.org/drawingml/2006/main">
              <a:ext uri="{FF2B5EF4-FFF2-40B4-BE49-F238E27FC236}">
                <a16:creationId xmlns:a16="http://schemas.microsoft.com/office/drawing/2014/main" id="{F76DAEED-498B-418D-9029-2627B9C9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用三分钟，重设计一个环节</a:t>
            </a:r>
          </a:p>
        </p:txBody>
      </p:sp>
      <p:sp>
        <p:nvSpPr>
          <p:cNvPr id="4" name="s35-text-3">
            <a:extLst xmlns:a="http://schemas.openxmlformats.org/drawingml/2006/main">
              <a:ext uri="{FF2B5EF4-FFF2-40B4-BE49-F238E27FC236}">
                <a16:creationId xmlns:a16="http://schemas.microsoft.com/office/drawing/2014/main" id="{517DF98C-1F7A-41CA-B9F2-40019F7A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第1分钟</a:t>
            </a:r>
          </a:p>
        </p:txBody>
      </p:sp>
      <p:sp>
        <p:nvSpPr>
          <p:cNvPr id="5" name="s35-text-4">
            <a:extLst xmlns:a="http://schemas.openxmlformats.org/drawingml/2006/main">
              <a:ext uri="{FF2B5EF4-FFF2-40B4-BE49-F238E27FC236}">
                <a16:creationId xmlns:a16="http://schemas.microsoft.com/office/drawing/2014/main" id="{8540E526-003F-4154-A6E4-9F77857D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明确一个发展目标，以及学生需要经历的关键活动。</a:t>
            </a:r>
          </a:p>
        </p:txBody>
      </p:sp>
      <p:sp>
        <p:nvSpPr>
          <p:cNvPr id="6" name="s35-text-5">
            <a:extLst xmlns:a="http://schemas.openxmlformats.org/drawingml/2006/main">
              <a:ext uri="{FF2B5EF4-FFF2-40B4-BE49-F238E27FC236}">
                <a16:creationId xmlns:a16="http://schemas.microsoft.com/office/drawing/2014/main" id="{BB410363-B2FD-42B5-916E-89AE05FA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第2分钟</a:t>
            </a:r>
          </a:p>
        </p:txBody>
      </p:sp>
      <p:sp>
        <p:nvSpPr>
          <p:cNvPr id="7" name="s35-text-6">
            <a:extLst xmlns:a="http://schemas.openxmlformats.org/drawingml/2006/main">
              <a:ext uri="{FF2B5EF4-FFF2-40B4-BE49-F238E27FC236}">
                <a16:creationId xmlns:a16="http://schemas.microsoft.com/office/drawing/2014/main" id="{D4572587-50C6-4E8E-8EF2-DBC7A60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528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决定AI、学生和同伴怎样参与，选一处调整。</a:t>
            </a:r>
          </a:p>
        </p:txBody>
      </p:sp>
      <p:sp>
        <p:nvSpPr>
          <p:cNvPr id="8" name="s35-text-7">
            <a:extLst xmlns:a="http://schemas.openxmlformats.org/drawingml/2006/main">
              <a:ext uri="{FF2B5EF4-FFF2-40B4-BE49-F238E27FC236}">
                <a16:creationId xmlns:a16="http://schemas.microsoft.com/office/drawing/2014/main" id="{493FAF78-C3A7-4269-B9EF-6BCE4019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第3分钟</a:t>
            </a:r>
          </a:p>
        </p:txBody>
      </p:sp>
      <p:sp>
        <p:nvSpPr>
          <p:cNvPr id="9" name="s35-text-8">
            <a:extLst xmlns:a="http://schemas.openxmlformats.org/drawingml/2006/main">
              <a:ext uri="{FF2B5EF4-FFF2-40B4-BE49-F238E27FC236}">
                <a16:creationId xmlns:a16="http://schemas.microsoft.com/office/drawing/2014/main" id="{214BFE58-1A2A-4798-AA3B-D19B69B1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577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与同伴交流：准备观察什么？什么情况会让你再次修改？</a:t>
            </a:r>
          </a:p>
        </p:txBody>
      </p:sp>
      <p:sp>
        <p:nvSpPr>
          <p:cNvPr id="10" name="s35-rect-9">
            <a:extLst xmlns:a="http://schemas.openxmlformats.org/drawingml/2006/main">
              <a:ext uri="{FF2B5EF4-FFF2-40B4-BE49-F238E27FC236}">
                <a16:creationId xmlns:a16="http://schemas.microsoft.com/office/drawing/2014/main" id="{E5D45FBF-08E6-4B57-9CFC-233A0CFE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5-text-10">
            <a:extLst xmlns:a="http://schemas.openxmlformats.org/drawingml/2006/main">
              <a:ext uri="{FF2B5EF4-FFF2-40B4-BE49-F238E27FC236}">
                <a16:creationId xmlns:a16="http://schemas.microsoft.com/office/drawing/2014/main" id="{99DA6FA5-7A34-429A-8895-E2FD5675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选择你近期要上的一节课，写下一个可以尝试的改动。</a:t>
            </a:r>
          </a:p>
        </p:txBody>
      </p:sp>
      <p:sp>
        <p:nvSpPr>
          <p:cNvPr id="12" name="s35-footer-11">
            <a:extLst xmlns:a="http://schemas.openxmlformats.org/drawingml/2006/main">
              <a:ext uri="{FF2B5EF4-FFF2-40B4-BE49-F238E27FC236}">
                <a16:creationId xmlns:a16="http://schemas.microsoft.com/office/drawing/2014/main" id="{1B3ABA51-E5E1-43D5-88E7-74F117D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35-footer-12">
            <a:extLst xmlns:a="http://schemas.openxmlformats.org/drawingml/2006/main">
              <a:ext uri="{FF2B5EF4-FFF2-40B4-BE49-F238E27FC236}">
                <a16:creationId xmlns:a16="http://schemas.microsoft.com/office/drawing/2014/main" id="{A83EC00E-3A46-4537-A97E-749B55D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35 / 36</a:t>
            </a:r>
          </a:p>
        </p:txBody>
      </p:sp>
    </p:spTree>
    <p:extLst>
      <p:ext uri="{BB962C8B-B14F-4D97-AF65-F5344CB8AC3E}">
        <p14:creationId xmlns:p14="http://schemas.microsoft.com/office/powerpoint/2010/main" val="83501858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c969915ae41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54581"/>
            <a:ext cx="1762125" cy="405289"/>
          </a:xfrm>
          <a:prstGeom xmlns:a="http://schemas.openxmlformats.org/drawingml/2006/main" prst="rect">
            <a:avLst/>
          </a:prstGeom>
        </p:spPr>
      </p:pic>
      <p:sp>
        <p:nvSpPr>
          <p:cNvPr id="2" name="s36-text-1">
            <a:extLst xmlns:a="http://schemas.openxmlformats.org/drawingml/2006/main">
              <a:ext uri="{FF2B5EF4-FFF2-40B4-BE49-F238E27FC236}">
                <a16:creationId xmlns:a16="http://schemas.microsoft.com/office/drawing/2014/main" id="{37232008-608A-443E-B075-81C5DB85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把问题带回课堂</a:t>
            </a:r>
          </a:p>
        </p:txBody>
      </p:sp>
      <p:sp>
        <p:nvSpPr>
          <p:cNvPr id="3" name="s36-text-2">
            <a:extLst xmlns:a="http://schemas.openxmlformats.org/drawingml/2006/main">
              <a:ext uri="{FF2B5EF4-FFF2-40B4-BE49-F238E27FC236}">
                <a16:creationId xmlns:a16="http://schemas.microsoft.com/office/drawing/2014/main" id="{F1214633-C359-44C1-8884-22D7FEF2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36-text-3">
            <a:extLst xmlns:a="http://schemas.openxmlformats.org/drawingml/2006/main">
              <a:ext uri="{FF2B5EF4-FFF2-40B4-BE49-F238E27FC236}">
                <a16:creationId xmlns:a16="http://schemas.microsoft.com/office/drawing/2014/main" id="{6FF071B1-9303-4247-BCE5-17348224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981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让人更有能力理解、判断、创造，并与他人共同开展有意义的活动。</a:t>
            </a:r>
          </a:p>
        </p:txBody>
      </p:sp>
      <p:sp>
        <p:nvSpPr>
          <p:cNvPr id="5" name="s36-rect-4">
            <a:extLst xmlns:a="http://schemas.openxmlformats.org/drawingml/2006/main">
              <a:ext uri="{FF2B5EF4-FFF2-40B4-BE49-F238E27FC236}">
                <a16:creationId xmlns:a16="http://schemas.microsoft.com/office/drawing/2014/main" id="{E7E37024-C736-452E-96E8-68247F57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6-text-5">
            <a:extLst xmlns:a="http://schemas.openxmlformats.org/drawingml/2006/main">
              <a:ext uri="{FF2B5EF4-FFF2-40B4-BE49-F238E27FC236}">
                <a16:creationId xmlns:a16="http://schemas.microsoft.com/office/drawing/2014/main" id="{A33C9233-A027-4AA6-8DD1-6AC2869F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回到你的课堂：你最希望学生获得什么发展，又准备为此创造怎样的机会？</a:t>
            </a:r>
          </a:p>
        </p:txBody>
      </p:sp>
      <p:sp>
        <p:nvSpPr>
          <p:cNvPr id="7" name="s36-footer-6">
            <a:extLst xmlns:a="http://schemas.openxmlformats.org/drawingml/2006/main">
              <a:ext uri="{FF2B5EF4-FFF2-40B4-BE49-F238E27FC236}">
                <a16:creationId xmlns:a16="http://schemas.microsoft.com/office/drawing/2014/main" id="{486443E2-B796-4488-9A4E-59A9328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6-footer-7">
            <a:extLst xmlns:a="http://schemas.openxmlformats.org/drawingml/2006/main">
              <a:ext uri="{FF2B5EF4-FFF2-40B4-BE49-F238E27FC236}">
                <a16:creationId xmlns:a16="http://schemas.microsoft.com/office/drawing/2014/main" id="{3348782C-7AC0-4680-B0D9-756A6592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36 / 36</a:t>
            </a:r>
          </a:p>
        </p:txBody>
      </p:sp>
    </p:spTree>
    <p:extLst>
      <p:ext uri="{BB962C8B-B14F-4D97-AF65-F5344CB8AC3E}">
        <p14:creationId xmlns:p14="http://schemas.microsoft.com/office/powerpoint/2010/main" val="1761765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2026-09-08T12:16:29.7020000Z</dcterms:created>
  <dcterms:modified xsi:type="dcterms:W3CDTF">2026-09-08T12:16:29.7020000Z</dcterms:modified>
</coreProperties>
</file>