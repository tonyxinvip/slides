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13d26d6b374246" /><Relationship Type="http://schemas.openxmlformats.org/officeDocument/2006/relationships/extended-properties" Target="/docProps/app.xml" Id="R99ccf621ac5c4a29" /><Relationship Type="http://schemas.openxmlformats.org/officeDocument/2006/relationships/officeDocument" Target="/ppt/presentation.xml" Id="R32aae8269bad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0b544316cc47df"/>
  </p:sldMasterIdLst>
  <p:notesMasterIdLst>
    <p:notesMasterId xmlns:r="http://schemas.openxmlformats.org/officeDocument/2006/relationships" r:id="R5c1b5ab62b244c8f"/>
  </p:notesMasterIdLst>
  <p:sldIdLst>
    <p:sldId xmlns:r="http://schemas.openxmlformats.org/officeDocument/2006/relationships" id="256" r:id="R8f195bfc49984c04"/>
    <p:sldId xmlns:r="http://schemas.openxmlformats.org/officeDocument/2006/relationships" id="257" r:id="R26f4faaca8c7453c"/>
    <p:sldId xmlns:r="http://schemas.openxmlformats.org/officeDocument/2006/relationships" id="258" r:id="Rd9c7af75ed414eab"/>
    <p:sldId xmlns:r="http://schemas.openxmlformats.org/officeDocument/2006/relationships" id="259" r:id="Rb6be78acf5d74d9e"/>
    <p:sldId xmlns:r="http://schemas.openxmlformats.org/officeDocument/2006/relationships" id="260" r:id="R2bc7f358c8074e29"/>
    <p:sldId xmlns:r="http://schemas.openxmlformats.org/officeDocument/2006/relationships" id="261" r:id="Rd5e953dd352049f0"/>
    <p:sldId xmlns:r="http://schemas.openxmlformats.org/officeDocument/2006/relationships" id="262" r:id="R55bec6a9235d47d5"/>
    <p:sldId xmlns:r="http://schemas.openxmlformats.org/officeDocument/2006/relationships" id="263" r:id="R80ae8391ac1b4000"/>
    <p:sldId xmlns:r="http://schemas.openxmlformats.org/officeDocument/2006/relationships" id="264" r:id="R02a06c3964f7494b"/>
    <p:sldId xmlns:r="http://schemas.openxmlformats.org/officeDocument/2006/relationships" id="265" r:id="Rd9527b58368b4d7a"/>
    <p:sldId xmlns:r="http://schemas.openxmlformats.org/officeDocument/2006/relationships" id="266" r:id="R30a516abe43a4cbd"/>
    <p:sldId xmlns:r="http://schemas.openxmlformats.org/officeDocument/2006/relationships" id="267" r:id="R6abe15989d1242fb"/>
    <p:sldId xmlns:r="http://schemas.openxmlformats.org/officeDocument/2006/relationships" id="268" r:id="Ra03470447ad64162"/>
    <p:sldId xmlns:r="http://schemas.openxmlformats.org/officeDocument/2006/relationships" id="269" r:id="R228155759fe54d03"/>
    <p:sldId xmlns:r="http://schemas.openxmlformats.org/officeDocument/2006/relationships" id="270" r:id="R69037bf579c741ad"/>
    <p:sldId xmlns:r="http://schemas.openxmlformats.org/officeDocument/2006/relationships" id="271" r:id="Rf76a89a254434ec5"/>
    <p:sldId xmlns:r="http://schemas.openxmlformats.org/officeDocument/2006/relationships" id="272" r:id="R9cce822bf9bd4bf3"/>
    <p:sldId xmlns:r="http://schemas.openxmlformats.org/officeDocument/2006/relationships" id="273" r:id="R1f1db0d822c246b9"/>
    <p:sldId xmlns:r="http://schemas.openxmlformats.org/officeDocument/2006/relationships" id="274" r:id="Rdf6b365b9a82485a"/>
    <p:sldId xmlns:r="http://schemas.openxmlformats.org/officeDocument/2006/relationships" id="275" r:id="R8a5a2482dd124ec1"/>
    <p:sldId xmlns:r="http://schemas.openxmlformats.org/officeDocument/2006/relationships" id="276" r:id="R46c3f8c0f5cd4402"/>
    <p:sldId xmlns:r="http://schemas.openxmlformats.org/officeDocument/2006/relationships" id="277" r:id="R5b3b0620a3444afa"/>
    <p:sldId xmlns:r="http://schemas.openxmlformats.org/officeDocument/2006/relationships" id="278" r:id="R5468fcd2389b4130"/>
    <p:sldId xmlns:r="http://schemas.openxmlformats.org/officeDocument/2006/relationships" id="279" r:id="R2e1663ac257f41fb"/>
    <p:sldId xmlns:r="http://schemas.openxmlformats.org/officeDocument/2006/relationships" id="280" r:id="R4ed63827ba9b4c21"/>
    <p:sldId xmlns:r="http://schemas.openxmlformats.org/officeDocument/2006/relationships" id="281" r:id="R4d878f526a154538"/>
    <p:sldId xmlns:r="http://schemas.openxmlformats.org/officeDocument/2006/relationships" id="282" r:id="R63d51e13d2644ae8"/>
    <p:sldId xmlns:r="http://schemas.openxmlformats.org/officeDocument/2006/relationships" id="283" r:id="R550fc64fc3f34b05"/>
    <p:sldId xmlns:r="http://schemas.openxmlformats.org/officeDocument/2006/relationships" id="284" r:id="R513af8d0e81e4c06"/>
    <p:sldId xmlns:r="http://schemas.openxmlformats.org/officeDocument/2006/relationships" id="285" r:id="Reeb17867310f46fe"/>
    <p:sldId xmlns:r="http://schemas.openxmlformats.org/officeDocument/2006/relationships" id="286" r:id="Rf6871520959047d1"/>
    <p:sldId xmlns:r="http://schemas.openxmlformats.org/officeDocument/2006/relationships" id="287" r:id="Rf2c244f93ba642e3"/>
    <p:sldId xmlns:r="http://schemas.openxmlformats.org/officeDocument/2006/relationships" id="288" r:id="R07a43578d2cf472b"/>
    <p:sldId xmlns:r="http://schemas.openxmlformats.org/officeDocument/2006/relationships" id="289" r:id="R6a4c27aa0e3c495c"/>
    <p:sldId xmlns:r="http://schemas.openxmlformats.org/officeDocument/2006/relationships" id="290" r:id="R1c351c68fabe40fe"/>
    <p:sldId xmlns:r="http://schemas.openxmlformats.org/officeDocument/2006/relationships" id="291" r:id="Rcdcef5d5c5c341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25e47a8e04104" /><Relationship Type="http://schemas.openxmlformats.org/officeDocument/2006/relationships/slideMaster" Target="/ppt/slideMasters/slideMaster1.xml" Id="R880b544316cc47df" /><Relationship Type="http://schemas.openxmlformats.org/officeDocument/2006/relationships/notesMaster" Target="/ppt/notesMasters/notesMaster1.xml" Id="R5c1b5ab62b244c8f" /><Relationship Type="http://schemas.openxmlformats.org/officeDocument/2006/relationships/presProps" Target="/ppt/presProps.xml" Id="R120c6914fcb24c3f" /><Relationship Type="http://schemas.openxmlformats.org/officeDocument/2006/relationships/tableStyles" Target="/ppt/tableStyles.xml" Id="Rd5c19291e26a42a3" /><Relationship Type="http://schemas.openxmlformats.org/officeDocument/2006/relationships/slide" Target="/ppt/slides/slide1.xml" Id="R8f195bfc49984c04" /><Relationship Type="http://schemas.openxmlformats.org/officeDocument/2006/relationships/slide" Target="/ppt/slides/slide2.xml" Id="R26f4faaca8c7453c" /><Relationship Type="http://schemas.openxmlformats.org/officeDocument/2006/relationships/slide" Target="/ppt/slides/slide3.xml" Id="Rd9c7af75ed414eab" /><Relationship Type="http://schemas.openxmlformats.org/officeDocument/2006/relationships/slide" Target="/ppt/slides/slide4.xml" Id="Rb6be78acf5d74d9e" /><Relationship Type="http://schemas.openxmlformats.org/officeDocument/2006/relationships/slide" Target="/ppt/slides/slide5.xml" Id="R2bc7f358c8074e29" /><Relationship Type="http://schemas.openxmlformats.org/officeDocument/2006/relationships/slide" Target="/ppt/slides/slide6.xml" Id="Rd5e953dd352049f0" /><Relationship Type="http://schemas.openxmlformats.org/officeDocument/2006/relationships/slide" Target="/ppt/slides/slide7.xml" Id="R55bec6a9235d47d5" /><Relationship Type="http://schemas.openxmlformats.org/officeDocument/2006/relationships/slide" Target="/ppt/slides/slide8.xml" Id="R80ae8391ac1b4000" /><Relationship Type="http://schemas.openxmlformats.org/officeDocument/2006/relationships/slide" Target="/ppt/slides/slide9.xml" Id="R02a06c3964f7494b" /><Relationship Type="http://schemas.openxmlformats.org/officeDocument/2006/relationships/slide" Target="/ppt/slides/slide10.xml" Id="Rd9527b58368b4d7a" /><Relationship Type="http://schemas.openxmlformats.org/officeDocument/2006/relationships/slide" Target="/ppt/slides/slide11.xml" Id="R30a516abe43a4cbd" /><Relationship Type="http://schemas.openxmlformats.org/officeDocument/2006/relationships/slide" Target="/ppt/slides/slide12.xml" Id="R6abe15989d1242fb" /><Relationship Type="http://schemas.openxmlformats.org/officeDocument/2006/relationships/slide" Target="/ppt/slides/slide13.xml" Id="Ra03470447ad64162" /><Relationship Type="http://schemas.openxmlformats.org/officeDocument/2006/relationships/slide" Target="/ppt/slides/slide14.xml" Id="R228155759fe54d03" /><Relationship Type="http://schemas.openxmlformats.org/officeDocument/2006/relationships/slide" Target="/ppt/slides/slide15.xml" Id="R69037bf579c741ad" /><Relationship Type="http://schemas.openxmlformats.org/officeDocument/2006/relationships/slide" Target="/ppt/slides/slide16.xml" Id="Rf76a89a254434ec5" /><Relationship Type="http://schemas.openxmlformats.org/officeDocument/2006/relationships/slide" Target="/ppt/slides/slide17.xml" Id="R9cce822bf9bd4bf3" /><Relationship Type="http://schemas.openxmlformats.org/officeDocument/2006/relationships/slide" Target="/ppt/slides/slide18.xml" Id="R1f1db0d822c246b9" /><Relationship Type="http://schemas.openxmlformats.org/officeDocument/2006/relationships/slide" Target="/ppt/slides/slide19.xml" Id="Rdf6b365b9a82485a" /><Relationship Type="http://schemas.openxmlformats.org/officeDocument/2006/relationships/slide" Target="/ppt/slides/slide20.xml" Id="R8a5a2482dd124ec1" /><Relationship Type="http://schemas.openxmlformats.org/officeDocument/2006/relationships/slide" Target="/ppt/slides/slide21.xml" Id="R46c3f8c0f5cd4402" /><Relationship Type="http://schemas.openxmlformats.org/officeDocument/2006/relationships/slide" Target="/ppt/slides/slide22.xml" Id="R5b3b0620a3444afa" /><Relationship Type="http://schemas.openxmlformats.org/officeDocument/2006/relationships/slide" Target="/ppt/slides/slide23.xml" Id="R5468fcd2389b4130" /><Relationship Type="http://schemas.openxmlformats.org/officeDocument/2006/relationships/slide" Target="/ppt/slides/slide24.xml" Id="R2e1663ac257f41fb" /><Relationship Type="http://schemas.openxmlformats.org/officeDocument/2006/relationships/slide" Target="/ppt/slides/slide25.xml" Id="R4ed63827ba9b4c21" /><Relationship Type="http://schemas.openxmlformats.org/officeDocument/2006/relationships/slide" Target="/ppt/slides/slide26.xml" Id="R4d878f526a154538" /><Relationship Type="http://schemas.openxmlformats.org/officeDocument/2006/relationships/slide" Target="/ppt/slides/slide27.xml" Id="R63d51e13d2644ae8" /><Relationship Type="http://schemas.openxmlformats.org/officeDocument/2006/relationships/slide" Target="/ppt/slides/slide28.xml" Id="R550fc64fc3f34b05" /><Relationship Type="http://schemas.openxmlformats.org/officeDocument/2006/relationships/slide" Target="/ppt/slides/slide29.xml" Id="R513af8d0e81e4c06" /><Relationship Type="http://schemas.openxmlformats.org/officeDocument/2006/relationships/slide" Target="/ppt/slides/slide30.xml" Id="Reeb17867310f46fe" /><Relationship Type="http://schemas.openxmlformats.org/officeDocument/2006/relationships/slide" Target="/ppt/slides/slide31.xml" Id="Rf6871520959047d1" /><Relationship Type="http://schemas.openxmlformats.org/officeDocument/2006/relationships/slide" Target="/ppt/slides/slide32.xml" Id="Rf2c244f93ba642e3" /><Relationship Type="http://schemas.openxmlformats.org/officeDocument/2006/relationships/slide" Target="/ppt/slides/slide33.xml" Id="R07a43578d2cf472b" /><Relationship Type="http://schemas.openxmlformats.org/officeDocument/2006/relationships/slide" Target="/ppt/slides/slide34.xml" Id="R6a4c27aa0e3c495c" /><Relationship Type="http://schemas.openxmlformats.org/officeDocument/2006/relationships/slide" Target="/ppt/slides/slide35.xml" Id="R1c351c68fabe40fe" /><Relationship Type="http://schemas.openxmlformats.org/officeDocument/2006/relationships/slide" Target="/ppt/slides/slide36.xml" Id="Rcdcef5d5c5c3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4fcebc6286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48d3b164c64857" /><Relationship Type="http://schemas.openxmlformats.org/officeDocument/2006/relationships/notesMaster" Target="/ppt/notesMasters/notesMaster1.xml" Id="Rd1dc5a04da1e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e950dcea440dd" /><Relationship Type="http://schemas.openxmlformats.org/officeDocument/2006/relationships/notesMaster" Target="/ppt/notesMasters/notesMaster1.xml" Id="Rd463130201864a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a9cba2a3a4524" /><Relationship Type="http://schemas.openxmlformats.org/officeDocument/2006/relationships/notesMaster" Target="/ppt/notesMasters/notesMaster1.xml" Id="R28a3ecd9299240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c81aad3784e45" /><Relationship Type="http://schemas.openxmlformats.org/officeDocument/2006/relationships/notesMaster" Target="/ppt/notesMasters/notesMaster1.xml" Id="Rc55e147a2d4d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32ff4a4f0b40c3" /><Relationship Type="http://schemas.openxmlformats.org/officeDocument/2006/relationships/notesMaster" Target="/ppt/notesMasters/notesMaster1.xml" Id="Rad0f0547684847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183de54ddc4755" /><Relationship Type="http://schemas.openxmlformats.org/officeDocument/2006/relationships/notesMaster" Target="/ppt/notesMasters/notesMaster1.xml" Id="R1ef38da7280f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57fadf3d3548f6" /><Relationship Type="http://schemas.openxmlformats.org/officeDocument/2006/relationships/notesMaster" Target="/ppt/notesMasters/notesMaster1.xml" Id="R9a4ba3418d82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289892a95c48d2" /><Relationship Type="http://schemas.openxmlformats.org/officeDocument/2006/relationships/notesMaster" Target="/ppt/notesMasters/notesMaster1.xml" Id="Rddb43b19ef404c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5693ad27a4674" /><Relationship Type="http://schemas.openxmlformats.org/officeDocument/2006/relationships/notesMaster" Target="/ppt/notesMasters/notesMaster1.xml" Id="R4cf13b7efc4047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d84d570307417c" /><Relationship Type="http://schemas.openxmlformats.org/officeDocument/2006/relationships/notesMaster" Target="/ppt/notesMasters/notesMaster1.xml" Id="R334fdc38799d41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d37c5625c499a" /><Relationship Type="http://schemas.openxmlformats.org/officeDocument/2006/relationships/notesMaster" Target="/ppt/notesMasters/notesMaster1.xml" Id="Rd3360beb03c04e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df62af40dd43de" /><Relationship Type="http://schemas.openxmlformats.org/officeDocument/2006/relationships/notesMaster" Target="/ppt/notesMasters/notesMaster1.xml" Id="R57565d3a6b2a47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f57f4a6d294fc8" /><Relationship Type="http://schemas.openxmlformats.org/officeDocument/2006/relationships/notesMaster" Target="/ppt/notesMasters/notesMaster1.xml" Id="R450ce13692304b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3e9f29aef54260" /><Relationship Type="http://schemas.openxmlformats.org/officeDocument/2006/relationships/notesMaster" Target="/ppt/notesMasters/notesMaster1.xml" Id="Ra3cd000ec5104e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99f92df9e14641" /><Relationship Type="http://schemas.openxmlformats.org/officeDocument/2006/relationships/notesMaster" Target="/ppt/notesMasters/notesMaster1.xml" Id="R21dcf304904b47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b2443232b94983" /><Relationship Type="http://schemas.openxmlformats.org/officeDocument/2006/relationships/notesMaster" Target="/ppt/notesMasters/notesMaster1.xml" Id="R82ac96570a7445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a28357b35a460b" /><Relationship Type="http://schemas.openxmlformats.org/officeDocument/2006/relationships/notesMaster" Target="/ppt/notesMasters/notesMaster1.xml" Id="R9da93fbe305d42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035de1fd4a4952" /><Relationship Type="http://schemas.openxmlformats.org/officeDocument/2006/relationships/notesMaster" Target="/ppt/notesMasters/notesMaster1.xml" Id="Re438f24fdc4744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edc08c13204c88" /><Relationship Type="http://schemas.openxmlformats.org/officeDocument/2006/relationships/notesMaster" Target="/ppt/notesMasters/notesMaster1.xml" Id="Rff15dc78a22b4f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90bacd64154f3a" /><Relationship Type="http://schemas.openxmlformats.org/officeDocument/2006/relationships/notesMaster" Target="/ppt/notesMasters/notesMaster1.xml" Id="Ra10a9a95079045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a97a3ea93f4621" /><Relationship Type="http://schemas.openxmlformats.org/officeDocument/2006/relationships/notesMaster" Target="/ppt/notesMasters/notesMaster1.xml" Id="R9ff9354b3c614a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f714b6d8ac498d" /><Relationship Type="http://schemas.openxmlformats.org/officeDocument/2006/relationships/notesMaster" Target="/ppt/notesMasters/notesMaster1.xml" Id="R10e12702b2cf47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b2523dbbbe45d4" /><Relationship Type="http://schemas.openxmlformats.org/officeDocument/2006/relationships/notesMaster" Target="/ppt/notesMasters/notesMaster1.xml" Id="R8e251a8dbcab45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1d39b367d04ca8" /><Relationship Type="http://schemas.openxmlformats.org/officeDocument/2006/relationships/notesMaster" Target="/ppt/notesMasters/notesMaster1.xml" Id="Rd063bad4e7824c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b67fb45b744f6c" /><Relationship Type="http://schemas.openxmlformats.org/officeDocument/2006/relationships/notesMaster" Target="/ppt/notesMasters/notesMaster1.xml" Id="Rf78b87b232124d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921b8d75844c89" /><Relationship Type="http://schemas.openxmlformats.org/officeDocument/2006/relationships/notesMaster" Target="/ppt/notesMasters/notesMaster1.xml" Id="R71c451d5a73c4e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0bfa37aa6545bb" /><Relationship Type="http://schemas.openxmlformats.org/officeDocument/2006/relationships/notesMaster" Target="/ppt/notesMasters/notesMaster1.xml" Id="Rabf1ccb333324a9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e10bba64cc41d2" /><Relationship Type="http://schemas.openxmlformats.org/officeDocument/2006/relationships/notesMaster" Target="/ppt/notesMasters/notesMaster1.xml" Id="Rf3f8f276c78945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0ef34d8ddd41ca" /><Relationship Type="http://schemas.openxmlformats.org/officeDocument/2006/relationships/notesMaster" Target="/ppt/notesMasters/notesMaster1.xml" Id="Ra1d3ed1e1dc04f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094d571de14ea5" /><Relationship Type="http://schemas.openxmlformats.org/officeDocument/2006/relationships/notesMaster" Target="/ppt/notesMasters/notesMaster1.xml" Id="Rc63f7585ded6473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492559042c94431" /><Relationship Type="http://schemas.openxmlformats.org/officeDocument/2006/relationships/notesMaster" Target="/ppt/notesMasters/notesMaster1.xml" Id="Rc347f8f5cb2347b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02a390fe4ec4d10" /><Relationship Type="http://schemas.openxmlformats.org/officeDocument/2006/relationships/notesMaster" Target="/ppt/notesMasters/notesMaster1.xml" Id="R97d4dd21249b40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b4431b6a28d45ad" /><Relationship Type="http://schemas.openxmlformats.org/officeDocument/2006/relationships/notesMaster" Target="/ppt/notesMasters/notesMaster1.xml" Id="R102e9701a90f438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46aa7e905549c3" /><Relationship Type="http://schemas.openxmlformats.org/officeDocument/2006/relationships/notesMaster" Target="/ppt/notesMasters/notesMaster1.xml" Id="R80fd8f350467462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84a797494e94c92" /><Relationship Type="http://schemas.openxmlformats.org/officeDocument/2006/relationships/notesMaster" Target="/ppt/notesMasters/notesMaster1.xml" Id="R29234778091a48e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23a30270de4a7a" /><Relationship Type="http://schemas.openxmlformats.org/officeDocument/2006/relationships/notesMaster" Target="/ppt/notesMasters/notesMaster1.xml" Id="R06750eb8eb5d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能写方案、给反馈、带学生一步步解题。交上来的作品越来越完整，教师反而可能更难回答：学生到底学到了什么？今天就从这个困惑出发。请大家带着最近的一节课来听：哪一项任务完成得不错，却让你对学生的理解拿不准？我们用一个虚构的生态瓶课堂反复讨论，逐次加入新信息，看看自己的判断怎样变化。最后，每人选一个下周能改的教学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建议用时：110秒。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想学生研究光照与生态瓶变化的关系。AI给出研究问题、对照安排和记录表，小组照着搭建、观察，最后交出整齐的报告。你会怎样评价？有人会说省下时间了，也有人会担心学生没有自己设计。先把判断记下来。这是一个虚构情境，目前只告诉了大家任务怎么完成，还没有告诉大家教学目标、学生起点和讨论经过。其他学科可以把它换成一篇作文或一道数学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30秒独立思考，请两位教师回应。每人说完后追问：如果补看这条信息，你的判断可能怎样改变？有人想听学生解释，有人想看最初的想法，也有人先问这节课教什么。把这些分歧留在现场。经验丰富的教师也会给出不同判断；接下来要讨论的，正是分歧背后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问这节课教什么。如果学生第一次接触实验，完整方案可以让他们认识结构，教师逐步问清为什么需要对照。如果正在练习实验设计，变量和观察项目本来就该留给学生考虑。若学生已有基础，则可以用几份方案比较假设与限制。同一份材料，教学用途不同。备课写了“比较”，也要看课堂里是否真有比较：学生指出了哪处差异，这处差异怎样影响选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做好和学生学会之间，需要有教学上的连接。AI展示方案后，学生有没有读懂设计理由？遇到不同条件，能不能改？这些连接不会因为用了AI就自然出现。Cukurova关于混合智能的讨论，已经强调任务自动化与人的认知发展的区别。今天把这个问题落到备课：确定要学的本领，安排形成这种本领的活动，再想好怎样检查。能够独立完成、能够借助AI开展更复杂的探究，都可以是目标，但要分别说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Cukurova, M. (2025). The interplay of learning, analytics and artificial intelligence in education: A vision for hybrid intelligence. British Journal of Educational Technology, 56(2), 469–488.</a:t>
            </a:r>
          </a:p>
          <a:p xmlns:a="http://schemas.openxmlformats.org/drawingml/2006/main">
            <a:r>
              <a:t>https://doi.org/10.1111/bjet.13514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一项常布置的作业来想：为什么要学生做？整理资料有时是在学习分类，有时只是抄录。前者需要认真安排学生参与，后者可以考虑交给AI。AI还能提供多个解释，让学生去找分歧、设计检验。保留、调整和新增可以同时发生在一个单元里。教师要说清的是，每项任务究竟帮助学生建立哪一种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份好报告可以证明小组完成了任务。要知道学生学到什么，往前看它怎样产生，往后看学生还能怎样运用。比如报告解释了植物变化，理由是谁提出的？其他成员能不能说明？下周换一种条件，学生会不会改方案？这些问题不需要每节课全部检查。选一个本课最重要的判断，补看过程和一次后续表现，就比单看成品更有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Cukurova, M. (2025). The interplay of learning, analytics and artificial intelligence in education: A vision for hybrid intelligence. British Journal of Educational Technology, 56(2), 469–488.</a:t>
            </a:r>
          </a:p>
          <a:p xmlns:a="http://schemas.openxmlformats.org/drawingml/2006/main">
            <a:r>
              <a:t>https://doi.org/10.1111/bjet.13514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有连续观察记录，却看不出变化，可以让AI帮助整理。之后请学生自己指出差异，说说哪条记录支持哪个解释。如果学生读得懂表格、能据此提出新问题，这种帮助就与探究接上了。如果表格清楚了，学生仍说不出意义，下一步要教的就是怎样读记录。表达支持也一样：它能帮助原先说不出的学生开口，但还要听清他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省掉排版，可能腾出时间讨论证据；省掉选择变量，则可能省掉了本课正要练的工作。同一操作在不同课里也有不同用处：记录表的设计本身可以是学习目标，也可以只是为另一个探究服务。目标工作不必每次都从零开始，先示范、再让学生处理新条件也可行。要检查的是，学生有没有在整段教学中获得练习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提供几个解释，数量本身没有多少教学意义。学生可以先找出解释之间的分歧，再讨论需要什么观察来区分它们。这样，任务就从读懂一个解释，扩展到检验不同解释。生态瓶的变化可能涉及多个条件，哪些已经有记录，哪些还得观察？学生需要参与决定。否则，屏幕上只是多出了几段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组报告掩盖差异，是合作课堂里熟悉的问题。AI加入后，有人借它终于说清了观察，有人的想法被过早定下的方案盖住，也有人只负责搭建。教师可以在一个关键决定上请不同成员分别解释。不是给学生贴固定标签，而是查清这一环节谁有机会想、谁没有。下一次分工据此调整，也要允许学生用口述、画图或操作来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ESCO框架已包含AI教学法、人的能动性和教师专业学习。Sun等也把GenAI素养与课程设计、教学和评价放在一起，面向的是大学教师，框架来自文献与专家咨询。这些工作帮助界定教师需要什么能力。真正备课时，还要作具体取舍：为什么这里先示范，那里先让学生试？会配置复杂合作的教师，也可能选择直接讲解。专业性体现在选择是否适合眼前的学生，以及能否根据课堂表现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Miao, F., &amp; Cukurova, M. (2024). AI competency framework for teachers. UNESCO. https://unesdoc.unesco.org/ark:/48223/pf0000391104</a:t>
            </a:r>
          </a:p>
          <a:p xmlns:a="http://schemas.openxmlformats.org/drawingml/2006/main">
            <a:r>
              <a:t>https://www.unesco.org/en/articles/ai-competency-framework-teachers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Sun, D., Ba, S., Cha, Y., Yu, J., Chiang, F.-K., Dai, H. M., &amp; Lim, C. P. (2026). Empowering university teachers in higher education: A generative AI-responsive competency framework. Computers and Education: Artificial Intelligence, 10, 100542.</a:t>
            </a:r>
          </a:p>
          <a:p xmlns:a="http://schemas.openxmlformats.org/drawingml/2006/main">
            <a:r>
              <a:t>https://doi.org/10.1016/j.caeai.2026.100542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称AI为工具、助教或伙伴，还没有说清谁作决定。学生能点击不同按钮，备选项却可能早已规定好；学生能自由提问，问题也可能总被拉回预设路线。请选一节课，看谁提出问题、判断证据、决定结束。教师当然需要承担很多决定。重点是：与本课目标有关的判断，学生有没有机会练习？当他们提出合理异议时，活动能不能改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建议用时：110秒。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着表格看一项具体工作。AI生成备选方案后，比较依据谁来提出？学生决定修改时，能不能说出理由？最后谁打字，不能代表此前全部思考。表中只列了一种可讨论的安排。教师也可以直接示范标准，再让学生尝试运用。备课不妨只选最关键的一行，写清分工；课后就回看这一行实际上怎么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词要求AI先追问，界面却允许一键生成报告；任务单要求同伴讨论，课堂却没留讨论时间。这些情况都可能让设计落空。模型影响回答能力，提示规定回应要求，流程安排先后，界面影响哪些操作容易做，教师和同伴又会临场改变互动。改一条提示后，要看学生有没有因此多做一步解释、比较或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示范的用途，要连着下一项任务看。可以让学生比较两份方案的假设，解释为什么要控制某个条件，或者在新条件下重新设计。学生也可能把比较结果一起交给AI，再照着读，所以教师仍要追问具体理由。关键是示范给学生提供了什么材料，后面的任务让他怎样使用这些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想AI问了十轮，每一轮都把答案缩小到几个词。学生回答得很顺，课后却说不清为什么要这样设计实验。这样的情境提醒我们：频繁回应仍可能缺少对整体思路的理解。连续追问当然可以帮助学生，尤其在他不知道从哪里开始时。教师要听的是，学生能否把各步联系起来，能否发现某个问题问得不合适，条件变了会怎样处理。检查这些表现，才知道下一步该继续提示，还是给学生更大的尝试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次接触实验设计，可以先看示范并解释关键步骤；已有经验后，再起草方案、接受反馈；换了情境，则尝试自己选择方法和需要的帮助。这只是一个可调整的教学顺序。某位学生遇到困难可能需要回到示范，复杂任务也可能长期需要合作。支持增减要跟着表现走：哪一步已经理解，哪一步仍离不开提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选一条你会采用的路径，并说出适合哪种学生。先示范，可以观察学生能否解释和改动关键步骤；先尝试，可以看反馈之后改了什么、为什么改；比较多个方案，则要看取舍依据有没有进入决定。也可以提出第四种安排。我们在教研里比较的，应该包括学生起点与预期活动，而不仅是工具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补两组课堂经过：一组主要复述，另一组发现条件不一致，修改并解释原因。请与邻座交流40秒，新信息怎样改变了判断？第二组已有比较和修订的线索，但小组表现还不能代表每个人都懂。第一组复述到了哪一步，也要结合此前经验看。现在最值得补问谁？下节课安排什么，才能进一步了解他们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一次教学选择，至少要知道教什么、教谁、怎样看效果。让AI给完整方案，是想帮助学生认识结构，还是想让他们比较多个设计？学生的困难是没想法、不会表达，还是不理解对照？把这些理由写具体，再预想一个学生表现。例如，希望学生能解释为什么两瓶植物数量要一致。课堂里听到解释后，还可以给一个变化条件，看看理解是否稳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这个假设课堂里，两瓶的植物数量不同，学生却说其他条件相同。先别急着重复讲控制变量。可以指着两瓶问不同成员：你看到什么差异？它会不会影响我们对光照的判断？如果学生能解释，只是检查时漏掉了，下一步可以改进检查方法。如果说不清为什么数量重要，就需要补充比较或示范。若始终只有一个组员答得出，则要安排其他成员也来解释。一次短追问，能帮助教师区分几种需要不同处理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认为……因为观察到……”可以帮助学生把想法说完整。但“因为”后面填了文字，不一定讲清了观察与结论的关系。请学生指出具体哪一次观察，再解释它为什么支持判断。换一条记录，原结论还成立吗？允许口述、画图或操作，避免把语言表达的困难误当成推理困难。这样才能知道句式帮助了表达，还是连理解也推进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单告诉我们原本怎样设计，互动记录告诉我们部分经过，作品版本显示改了什么，后续任务帮助判断能否再用。几种材料不能互相代替。比如日志没有理由，不妨看看纸上是否画过，听听组员怎样解释；作品修改很大，也要问修改依据来自谁。日常教研可以只围绕一个疑问，补两种材料，不必把每节课变成大型数据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想我们把提示词改得更细，让AI不断追问“为什么”。回看课堂才发现，学生赶着进入下一步，有人随手答了一句，小组方案照旧。问题就变了：原来只问提示够不够好，现在还要问学生有没有时间回应，同伴有没有听，回答有没有影响决定。下一次可以选一处关键分歧，让两名成员各说依据，再共同决定方案怎么改。回看时追踪这一处就够了。如果讨论变多、方案仍未改变，也要查清是原方案本来就合理，还是讨论没有触及关键。教研经验来自这样逐次查明原因，失败的尝试也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问问自己：AI写完教案后，我对学生的困难更清楚了吗？可以让AI提出几种教法，再结合班级里的具体表现解释取舍。也要回看学生原话和原始作品，检查摘要有没有漏掉细节。留下一条最重要的采纳理由：它针对什么困难，上课时怎样检查。过一段时间换班级或单元，再看自己能否运用这条经验。这样才有依据讨论教师理解怎样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困难是否值得保留，要看它在教什么。比较证据的课，可以减轻排版负担；学习设计记录表的课，就需要让学生考虑记录哪些项目。同样，值得经历的思考也需要适当帮助。学生完全不知道怎样开始，可以先示范一部分，再让他处理一个差异。让学生承担更多步骤并不是统一目标，重要的是承担哪些步骤、从中学到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在土耳其一所高中对近千名学生开展数学实验。两种AI设计都提高练习成绩；普通聊天界面组在随后无AI测验中表现更低，带教学保护的设计大幅减轻这一负面影响。教学保护组并未显示随后测验的显著正向收益，因此不能说它已经促进长期发展。其设计同时包含教师提供的答案、常见错误和反馈提示，不能把差异简单归因于苏格拉底提问。这是特定情境与短期结果。对教师的启发，是把支持在场的表现、改变支持条件后的表现，以及支持具体怎样设计一并交代。我们引用这一研究来说明证据区分的必要，不把它推广成所有AI课堂的统一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Bastani, H., Bastani, O., Sungu, A., Ge, H., Kabakcı, Ö., &amp; Mariman, R. (2025). Generative AI without guardrails can harm learning: Evidence from high school mathematics. Proceedings of the National Academy of Sciences, 122(26), e2422633122.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目标是个人理解控制变量，就需要看学生自己的解释与新任务表现。若目标是借助AI和同伴完成复杂探究，就要看问题怎样提出、贡献怎样检查、最终决定怎样形成。两种目标都值得追求，也可能相互促进。但一份精彩的合作成果不能直接证明个人掌握；一次无AI测验也不能完整评价合作能力。评价前先说清自己要判断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次作品变好，可能与新安排有关，也可能因为学生更熟悉任务，教师多讲了一次，或同伴提供了更多帮助。先把这些变化记下来，结论才站得稳。再看没有进步的学生：他卡在同一处吗？新支持真的到达他了吗？最后加一次小规模后续检查，下周换个条件再问。这些做法能帮助教研查清有效的原因与适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看得到输入与点击，看不到的还很多。学生可能在纸上画图、讨论，也可能听了教师一句关键追问。反过来，日志里的一段好解释也可能只出自一个成员。请不同学生分别解释一个决定，或用操作展示理解，往往就能补上重要信息。记录缺失和个人掌握，都不能靠小组产出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建议用时：120秒。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补两条假设材料。一名学生独立发现新实验同时改变了两个条件，但没有说明怎么改；一个小组提出温度也可能影响结果，要求补测，但两名成员理解不清。请与同伴交流一分钟：下一课先做什么？可以追问个人怎样修改，也可以请不同成员解释为什么要补测。已有材料分别支持了识别问题和小组提出疑问，还缺解释、落实和个人理解。选一个你认为最要紧的缺口，说出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后可按问题选择阅读：想了解教师AI能力，读UNESCO；想追问自动化与人的发展，读Cukurova；关注大学教师课程与评价设计，读Sun等；想看练习成绩与后续学习的实证区别，读Bastani等。接下来的五问是备课讨论工具，尚未经过量表验证，不用于给教师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Miao, F., &amp; Cukurova, M. (2024). AI competency framework for teachers. UNESCO. https://unesdoc.unesco.org/ark:/48223/pf0000391104</a:t>
            </a:r>
          </a:p>
          <a:p xmlns:a="http://schemas.openxmlformats.org/drawingml/2006/main">
            <a:r>
              <a:t>https://www.unesco.org/en/articles/ai-competency-framework-teachers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Cukurova, M. (2025). The interplay of learning, analytics and artificial intelligence in education: A vision for hybrid intelligence. British Journal of Educational Technology, 56(2), 469–488.</a:t>
            </a:r>
          </a:p>
          <a:p xmlns:a="http://schemas.openxmlformats.org/drawingml/2006/main">
            <a:r>
              <a:t>https://doi.org/10.1111/bjet.13514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Sun, D., Ba, S., Cha, Y., Yu, J., Chiang, F.-K., Dai, H. M., &amp; Lim, C. P. (2026). Empowering university teachers in higher education: A generative AI-responsive competency framework. Computers and Education: Artificial Intelligence, 10, 100542.</a:t>
            </a:r>
          </a:p>
          <a:p xmlns:a="http://schemas.openxmlformats.org/drawingml/2006/main">
            <a:r>
              <a:t>https://doi.org/10.1016/j.caeai.2026.100542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Bastani, H., Bastani, O., Sungu, A., Ge, H., Kabakcı, Ö., &amp; Mariman, R. (2025). Generative AI without guardrails can harm learning: Evidence from high school mathematics. Proceedings of the National Academy of Sciences, 122(26), e2422633122.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一个关键环节，每问只写一两句。第一问别只写高阶思维，可以写“解释为什么两瓶需要保持相同条件”。第二问安排学生实际要做的解释或比较。第三问写清AI承担什么。第四问想想谁可能一直没机会说理由。第五问预先约定：若学生会背原则却不会检查方案，我准备怎样改？教研时交换这五个回答，比单纯展示提示词更容易讨论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建议用时：180秒。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自己三分钟，选一节下周真的要上的课。第一分钟定一件要学会的事和必须经历的一步；第二分钟改一处分工或顺序；第三分钟与邻座核对准备观察什么。范围尽量小，比如比较两份实验方案时，先让每人独立标出一个差异，再讨论是否修改。把观察点写进教案，并约同事一起回看。有余量时请一位教师分享改动和判断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从一份完整的AI方案出发，追问学生学到了什么。随着材料增加，判断也更具体：谁解释过，理由有没有改变方案，换了条件还能不能处理。教育要成就的，落在这些具体本领上。学生能够说明自己的想法，在新问题面前作出判断，也能够借助AI和同伴做成更复杂的事。教师要决定哪些帮助现在需要、哪些工作值得学生亲历，并在课堂里检查自己的判断。请大家回到刚写的那个改动：下一节课，你准备让学生亲自作出哪个有分量的判断？最后留时间交流。请从一处拿不准的课堂细节开始，我们一起讨论还缺什么信息、下一步可以怎样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本讲座整理的教学讨论与反思问题；情境、安排和新增材料为教学讨论所设，并非课堂实证结果。</a:t>
            </a:r>
          </a:p>
          <a:p xmlns:a="http://schemas.openxmlformats.org/drawingml/2006/main">
            <a:r>
              <a:t>品牌资产：tonyxinvip/slides/teacher-agent-creators-10min/assets/cocorobo-full-dark.svg（用户仓库既有资产）。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3c65752c6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c9bc7e2be427e" /><Relationship Type="http://schemas.openxmlformats.org/officeDocument/2006/relationships/slideLayout" Target="/ppt/slideLayouts/slideLayout1.xml" Id="R69d8f05264cd4d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8f05264cd4d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66b4b449046f5" /><Relationship Type="http://schemas.openxmlformats.org/officeDocument/2006/relationships/image" Target="/ppt/media/image.png" Id="R5e1b3c5f3aa54d59" /><Relationship Type="http://schemas.openxmlformats.org/officeDocument/2006/relationships/notesSlide" Target="/ppt/notesSlides/notesSlide1.xml" Id="Rcfd36b6e292a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b009abe84c25" /><Relationship Type="http://schemas.openxmlformats.org/officeDocument/2006/relationships/image" Target="/ppt/media/image2.png" Id="Rbc4b30dedeb34799" /><Relationship Type="http://schemas.openxmlformats.org/officeDocument/2006/relationships/notesSlide" Target="/ppt/notesSlides/notesSlide2.xml" Id="R6d9e6d355306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c549a874a455b" /><Relationship Type="http://schemas.openxmlformats.org/officeDocument/2006/relationships/image" Target="/ppt/media/image3.png" Id="R66683a32429a47df" /><Relationship Type="http://schemas.openxmlformats.org/officeDocument/2006/relationships/notesSlide" Target="/ppt/notesSlides/notesSlide3.xml" Id="R864954c51c0c40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c230b01f9415c" /><Relationship Type="http://schemas.openxmlformats.org/officeDocument/2006/relationships/image" Target="/ppt/media/image4.png" Id="Rd5644472372f402f" /><Relationship Type="http://schemas.openxmlformats.org/officeDocument/2006/relationships/notesSlide" Target="/ppt/notesSlides/notesSlide4.xml" Id="R1fa3ddf6fd2f4d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4912fec14664" /><Relationship Type="http://schemas.openxmlformats.org/officeDocument/2006/relationships/image" Target="/ppt/media/image5.png" Id="Rfdf4713cab81408d" /><Relationship Type="http://schemas.openxmlformats.org/officeDocument/2006/relationships/notesSlide" Target="/ppt/notesSlides/notesSlide5.xml" Id="R80736df3297942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21dd97056422b" /><Relationship Type="http://schemas.openxmlformats.org/officeDocument/2006/relationships/image" Target="/ppt/media/image6.png" Id="R1177c984ea6f46cc" /><Relationship Type="http://schemas.openxmlformats.org/officeDocument/2006/relationships/notesSlide" Target="/ppt/notesSlides/notesSlide6.xml" Id="R9de4063f0bc0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c43e5a804e4b" /><Relationship Type="http://schemas.openxmlformats.org/officeDocument/2006/relationships/image" Target="/ppt/media/image7.png" Id="R7e0038f5351841b1" /><Relationship Type="http://schemas.openxmlformats.org/officeDocument/2006/relationships/notesSlide" Target="/ppt/notesSlides/notesSlide7.xml" Id="R750018f98dd6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d491613940b4" /><Relationship Type="http://schemas.openxmlformats.org/officeDocument/2006/relationships/image" Target="/ppt/media/image8.png" Id="R9c0033dcef8f46ec" /><Relationship Type="http://schemas.openxmlformats.org/officeDocument/2006/relationships/notesSlide" Target="/ppt/notesSlides/notesSlide8.xml" Id="R717aba8404fe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d3b2092964de0" /><Relationship Type="http://schemas.openxmlformats.org/officeDocument/2006/relationships/image" Target="/ppt/media/image9.png" Id="R676d6a47d6d5460d" /><Relationship Type="http://schemas.openxmlformats.org/officeDocument/2006/relationships/notesSlide" Target="/ppt/notesSlides/notesSlide9.xml" Id="R46ead8cc48ba4b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db423ff974586" /><Relationship Type="http://schemas.openxmlformats.org/officeDocument/2006/relationships/image" Target="/ppt/media/image10.png" Id="R26ce5cffdbad463a" /><Relationship Type="http://schemas.openxmlformats.org/officeDocument/2006/relationships/notesSlide" Target="/ppt/notesSlides/notesSlide10.xml" Id="Radd294946e4748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2e7eaba5b4dfa" /><Relationship Type="http://schemas.openxmlformats.org/officeDocument/2006/relationships/image" Target="/ppt/media/image11.png" Id="R3a35ac731a2b4c52" /><Relationship Type="http://schemas.openxmlformats.org/officeDocument/2006/relationships/notesSlide" Target="/ppt/notesSlides/notesSlide11.xml" Id="R621ef3787b1841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7dbbf8b514b5e" /><Relationship Type="http://schemas.openxmlformats.org/officeDocument/2006/relationships/image" Target="/ppt/media/image12.png" Id="R98820c0dff7d4e49" /><Relationship Type="http://schemas.openxmlformats.org/officeDocument/2006/relationships/notesSlide" Target="/ppt/notesSlides/notesSlide12.xml" Id="Rf3418e56b5c243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6f53688b24fa6" /><Relationship Type="http://schemas.openxmlformats.org/officeDocument/2006/relationships/image" Target="/ppt/media/image13.png" Id="Rf7da6ae5f5334835" /><Relationship Type="http://schemas.openxmlformats.org/officeDocument/2006/relationships/notesSlide" Target="/ppt/notesSlides/notesSlide13.xml" Id="R0c2bdd98d53341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36539bec247b5" /><Relationship Type="http://schemas.openxmlformats.org/officeDocument/2006/relationships/image" Target="/ppt/media/image14.png" Id="R2d3310f573224cbf" /><Relationship Type="http://schemas.openxmlformats.org/officeDocument/2006/relationships/notesSlide" Target="/ppt/notesSlides/notesSlide14.xml" Id="R9efb9797fefc41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1470641664601" /><Relationship Type="http://schemas.openxmlformats.org/officeDocument/2006/relationships/image" Target="/ppt/media/image15.png" Id="R08c8f9c99edb4201" /><Relationship Type="http://schemas.openxmlformats.org/officeDocument/2006/relationships/notesSlide" Target="/ppt/notesSlides/notesSlide15.xml" Id="Rca20491f1c6842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384ccbad04537" /><Relationship Type="http://schemas.openxmlformats.org/officeDocument/2006/relationships/image" Target="/ppt/media/image16.png" Id="R902cc54256354139" /><Relationship Type="http://schemas.openxmlformats.org/officeDocument/2006/relationships/notesSlide" Target="/ppt/notesSlides/notesSlide16.xml" Id="Rfb46b66eb17f41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d0cf7c7bd466b" /><Relationship Type="http://schemas.openxmlformats.org/officeDocument/2006/relationships/image" Target="/ppt/media/image17.png" Id="Rc15e29e87b1c476d" /><Relationship Type="http://schemas.openxmlformats.org/officeDocument/2006/relationships/notesSlide" Target="/ppt/notesSlides/notesSlide17.xml" Id="Rd41c9d6e60cf45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4e1453274b30" /><Relationship Type="http://schemas.openxmlformats.org/officeDocument/2006/relationships/image" Target="/ppt/media/image18.png" Id="R6ac0d67f9d2840a7" /><Relationship Type="http://schemas.openxmlformats.org/officeDocument/2006/relationships/notesSlide" Target="/ppt/notesSlides/notesSlide18.xml" Id="R87070d6979c942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68b8ac926476d" /><Relationship Type="http://schemas.openxmlformats.org/officeDocument/2006/relationships/image" Target="/ppt/media/image19.png" Id="R1710ae56a9304bce" /><Relationship Type="http://schemas.openxmlformats.org/officeDocument/2006/relationships/notesSlide" Target="/ppt/notesSlides/notesSlide19.xml" Id="R6a4a633fe8ce46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0257e28194aa8" /><Relationship Type="http://schemas.openxmlformats.org/officeDocument/2006/relationships/image" Target="/ppt/media/image20.png" Id="R8d96b8e77aa04e65" /><Relationship Type="http://schemas.openxmlformats.org/officeDocument/2006/relationships/notesSlide" Target="/ppt/notesSlides/notesSlide20.xml" Id="R48f9dc1b3db040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b303e14874411" /><Relationship Type="http://schemas.openxmlformats.org/officeDocument/2006/relationships/image" Target="/ppt/media/image21.png" Id="Rbdb42da7f6d04e73" /><Relationship Type="http://schemas.openxmlformats.org/officeDocument/2006/relationships/notesSlide" Target="/ppt/notesSlides/notesSlide21.xml" Id="R03d58f29fbc649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8378b6f0d4cae" /><Relationship Type="http://schemas.openxmlformats.org/officeDocument/2006/relationships/image" Target="/ppt/media/image22.png" Id="R11070fa7eaf246a7" /><Relationship Type="http://schemas.openxmlformats.org/officeDocument/2006/relationships/notesSlide" Target="/ppt/notesSlides/notesSlide22.xml" Id="R167b231338824a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ae74aa1954ff8" /><Relationship Type="http://schemas.openxmlformats.org/officeDocument/2006/relationships/image" Target="/ppt/media/image23.png" Id="Rd8122a79a67a4493" /><Relationship Type="http://schemas.openxmlformats.org/officeDocument/2006/relationships/notesSlide" Target="/ppt/notesSlides/notesSlide23.xml" Id="Rb0ee62a9c47f45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4399c42034409" /><Relationship Type="http://schemas.openxmlformats.org/officeDocument/2006/relationships/image" Target="/ppt/media/image24.png" Id="R3b23fa51e5bc41ef" /><Relationship Type="http://schemas.openxmlformats.org/officeDocument/2006/relationships/notesSlide" Target="/ppt/notesSlides/notesSlide24.xml" Id="Rdc73fee72b8542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07d2f984d4bce" /><Relationship Type="http://schemas.openxmlformats.org/officeDocument/2006/relationships/image" Target="/ppt/media/image25.png" Id="R69e6e474a1694f78" /><Relationship Type="http://schemas.openxmlformats.org/officeDocument/2006/relationships/notesSlide" Target="/ppt/notesSlides/notesSlide25.xml" Id="R1065c743300e415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9baff32c4445" /><Relationship Type="http://schemas.openxmlformats.org/officeDocument/2006/relationships/image" Target="/ppt/media/image26.png" Id="Rad682de3eb374d4d" /><Relationship Type="http://schemas.openxmlformats.org/officeDocument/2006/relationships/notesSlide" Target="/ppt/notesSlides/notesSlide26.xml" Id="R3cab0d78bb3245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bf0ad930f49f5" /><Relationship Type="http://schemas.openxmlformats.org/officeDocument/2006/relationships/image" Target="/ppt/media/image27.png" Id="R33eba2adb5444282" /><Relationship Type="http://schemas.openxmlformats.org/officeDocument/2006/relationships/notesSlide" Target="/ppt/notesSlides/notesSlide27.xml" Id="R50f7ff448a27418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8377b7fc428f" /><Relationship Type="http://schemas.openxmlformats.org/officeDocument/2006/relationships/image" Target="/ppt/media/image28.png" Id="R562cd7e23e584ea4" /><Relationship Type="http://schemas.openxmlformats.org/officeDocument/2006/relationships/notesSlide" Target="/ppt/notesSlides/notesSlide28.xml" Id="R2d153bcb9327474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0aa1c5c6436b" /><Relationship Type="http://schemas.openxmlformats.org/officeDocument/2006/relationships/image" Target="/ppt/media/image29.png" Id="Re7e2b608709542f7" /><Relationship Type="http://schemas.openxmlformats.org/officeDocument/2006/relationships/notesSlide" Target="/ppt/notesSlides/notesSlide29.xml" Id="Rda9c5ff5375f434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daf1114e84ffa" /><Relationship Type="http://schemas.openxmlformats.org/officeDocument/2006/relationships/image" Target="/ppt/media/image30.png" Id="R7fb6215b6d2f4f98" /><Relationship Type="http://schemas.openxmlformats.org/officeDocument/2006/relationships/notesSlide" Target="/ppt/notesSlides/notesSlide30.xml" Id="R2c075bf75a25418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ae1e4813b4bac" /><Relationship Type="http://schemas.openxmlformats.org/officeDocument/2006/relationships/image" Target="/ppt/media/image31.png" Id="Rc841700169ab4748" /><Relationship Type="http://schemas.openxmlformats.org/officeDocument/2006/relationships/notesSlide" Target="/ppt/notesSlides/notesSlide31.xml" Id="Ra44098ba4e3f48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72c1a0ca74652" /><Relationship Type="http://schemas.openxmlformats.org/officeDocument/2006/relationships/image" Target="/ppt/media/image32.png" Id="R7cdb2e04a8a64b98" /><Relationship Type="http://schemas.openxmlformats.org/officeDocument/2006/relationships/notesSlide" Target="/ppt/notesSlides/notesSlide32.xml" Id="Rbb43a5d45c9d48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63d4d055b4202" /><Relationship Type="http://schemas.openxmlformats.org/officeDocument/2006/relationships/image" Target="/ppt/media/image33.png" Id="Rb65b770a6fb34fb2" /><Relationship Type="http://schemas.openxmlformats.org/officeDocument/2006/relationships/notesSlide" Target="/ppt/notesSlides/notesSlide33.xml" Id="R4fe8a1b9746a4f8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198850bcb49fa" /><Relationship Type="http://schemas.openxmlformats.org/officeDocument/2006/relationships/image" Target="/ppt/media/image34.png" Id="R0ffa7826a6854375" /><Relationship Type="http://schemas.openxmlformats.org/officeDocument/2006/relationships/notesSlide" Target="/ppt/notesSlides/notesSlide34.xml" Id="R15c5178f53a946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a7a1ca5e6457a" /><Relationship Type="http://schemas.openxmlformats.org/officeDocument/2006/relationships/image" Target="/ppt/media/image35.png" Id="Rd3c88959d8da4b7b" /><Relationship Type="http://schemas.openxmlformats.org/officeDocument/2006/relationships/notesSlide" Target="/ppt/notesSlides/notesSlide35.xml" Id="Rf822e3aca5844e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18341286c47a4" /><Relationship Type="http://schemas.openxmlformats.org/officeDocument/2006/relationships/image" Target="/ppt/media/image36.png" Id="R0a11df271eda45cb" /><Relationship Type="http://schemas.openxmlformats.org/officeDocument/2006/relationships/notesSlide" Target="/ppt/notesSlides/notesSlide36.xml" Id="R0515101ca5fc47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b3c5f3aa54d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42973"/>
            <a:ext cx="2028825" cy="466630"/>
          </a:xfrm>
          <a:prstGeom xmlns:a="http://schemas.openxmlformats.org/drawingml/2006/main" prst="rect">
            <a:avLst/>
          </a:prstGeom>
        </p:spPr>
      </p:pic>
      <p:sp>
        <p:nvSpPr>
          <p:cNvPr id="2" name="s1-text-1">
            <a:extLst xmlns:a="http://schemas.openxmlformats.org/drawingml/2006/main">
              <a:ext uri="{FF2B5EF4-FFF2-40B4-BE49-F238E27FC236}">
                <a16:creationId xmlns:a16="http://schemas.microsoft.com/office/drawing/2014/main" id="{3445122B-7725-49FE-9597-2106E7C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学习的价值 · 人的成长 · 教师的判断</a:t>
            </a:r>
          </a:p>
        </p:txBody>
      </p:sp>
      <p:sp>
        <p:nvSpPr>
          <p:cNvPr id="3" name="s1-text-2">
            <a:extLst xmlns:a="http://schemas.openxmlformats.org/drawingml/2006/main">
              <a:ext uri="{FF2B5EF4-FFF2-40B4-BE49-F238E27FC236}">
                <a16:creationId xmlns:a16="http://schemas.microsoft.com/office/drawing/2014/main" id="{C5A9CC4C-6DA1-4829-B16B-06FA8DC8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0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60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AI时代，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60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教育要成就什么？</a:t>
            </a:r>
          </a:p>
        </p:txBody>
      </p:sp>
      <p:sp>
        <p:nvSpPr>
          <p:cNvPr id="4" name="s1-text-3">
            <a:extLst xmlns:a="http://schemas.openxmlformats.org/drawingml/2006/main">
              <a:ext uri="{FF2B5EF4-FFF2-40B4-BE49-F238E27FC236}">
                <a16:creationId xmlns:a16="http://schemas.microsoft.com/office/drawing/2014/main" id="{FE5C8B85-FED7-4F6F-B1C1-827749F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AI进入课堂后，教师如何判断学生是否学到了</a:t>
            </a:r>
          </a:p>
        </p:txBody>
      </p:sp>
      <p:sp>
        <p:nvSpPr>
          <p:cNvPr id="5" name="s1-rect-4">
            <a:extLst xmlns:a="http://schemas.openxmlformats.org/drawingml/2006/main">
              <a:ext uri="{FF2B5EF4-FFF2-40B4-BE49-F238E27FC236}">
                <a16:creationId xmlns:a16="http://schemas.microsoft.com/office/drawing/2014/main" id="{1CE5A31C-4377-4BEA-B53E-CC67CF9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-text-5">
            <a:extLst xmlns:a="http://schemas.openxmlformats.org/drawingml/2006/main">
              <a:ext uri="{FF2B5EF4-FFF2-40B4-BE49-F238E27FC236}">
                <a16:creationId xmlns:a16="http://schemas.microsoft.com/office/drawing/2014/main" id="{79102BD8-2525-4E02-9D02-CAF26AB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辛海洋 Tony Xin</a:t>
            </a:r>
          </a:p>
        </p:txBody>
      </p:sp>
      <p:sp>
        <p:nvSpPr>
          <p:cNvPr id="7" name="s1-text-6">
            <a:extLst xmlns:a="http://schemas.openxmlformats.org/drawingml/2006/main">
              <a:ext uri="{FF2B5EF4-FFF2-40B4-BE49-F238E27FC236}">
                <a16:creationId xmlns:a16="http://schemas.microsoft.com/office/drawing/2014/main" id="{526EFF63-179B-46B2-B552-7C38099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67425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8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CocoRobo</a:t>
            </a:r>
          </a:p>
        </p:txBody>
      </p:sp>
    </p:spTree>
    <p:extLst>
      <p:ext uri="{BB962C8B-B14F-4D97-AF65-F5344CB8AC3E}">
        <p14:creationId xmlns:p14="http://schemas.microsoft.com/office/powerpoint/2010/main" val="1026267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2-text-0">
            <a:extLst xmlns:a="http://schemas.openxmlformats.org/drawingml/2006/main">
              <a:ext uri="{FF2B5EF4-FFF2-40B4-BE49-F238E27FC236}">
                <a16:creationId xmlns:a16="http://schemas.microsoft.com/office/drawing/2014/main" id="{0669A9D4-DFF2-49C9-90FE-3D0D912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假设课堂 · 生态瓶探究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b30dedeb347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-title-2">
            <a:extLst xmlns:a="http://schemas.openxmlformats.org/drawingml/2006/main">
              <a:ext uri="{FF2B5EF4-FFF2-40B4-BE49-F238E27FC236}">
                <a16:creationId xmlns:a16="http://schemas.microsoft.com/office/drawing/2014/main" id="{4E809AF8-264E-4015-B0F5-585BC307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方案完成了，学生学到了什么？</a:t>
            </a:r>
          </a:p>
        </p:txBody>
      </p:sp>
      <p:sp>
        <p:nvSpPr>
          <p:cNvPr id="4" name="s2-text-3">
            <a:extLst xmlns:a="http://schemas.openxmlformats.org/drawingml/2006/main">
              <a:ext uri="{FF2B5EF4-FFF2-40B4-BE49-F238E27FC236}">
                <a16:creationId xmlns:a16="http://schemas.microsoft.com/office/drawing/2014/main" id="{8843D173-0D22-4FE1-9539-59A5811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探究：光照条件与生态瓶的变化有什么关系？</a:t>
            </a:r>
          </a:p>
        </p:txBody>
      </p:sp>
      <p:sp>
        <p:nvSpPr>
          <p:cNvPr id="5" name="s2-text-4">
            <a:extLst xmlns:a="http://schemas.openxmlformats.org/drawingml/2006/main">
              <a:ext uri="{FF2B5EF4-FFF2-40B4-BE49-F238E27FC236}">
                <a16:creationId xmlns:a16="http://schemas.microsoft.com/office/drawing/2014/main" id="{EDD9768B-3874-4F2D-93A9-6634863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AI提供</a:t>
            </a:r>
          </a:p>
        </p:txBody>
      </p:sp>
      <p:sp>
        <p:nvSpPr>
          <p:cNvPr id="6" name="s2-text-5">
            <a:extLst xmlns:a="http://schemas.openxmlformats.org/drawingml/2006/main">
              <a:ext uri="{FF2B5EF4-FFF2-40B4-BE49-F238E27FC236}">
                <a16:creationId xmlns:a16="http://schemas.microsoft.com/office/drawing/2014/main" id="{9B63F50A-9668-4FDF-B4C2-2DFDB20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05175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研究问题、对照安排、观察项目与记录表</a:t>
            </a:r>
          </a:p>
        </p:txBody>
      </p:sp>
      <p:sp>
        <p:nvSpPr>
          <p:cNvPr id="7" name="s2-text-6">
            <a:extLst xmlns:a="http://schemas.openxmlformats.org/drawingml/2006/main">
              <a:ext uri="{FF2B5EF4-FFF2-40B4-BE49-F238E27FC236}">
                <a16:creationId xmlns:a16="http://schemas.microsoft.com/office/drawing/2014/main" id="{875F8CE7-78C0-4EF0-A68A-43283FA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学生完成</a:t>
            </a:r>
          </a:p>
        </p:txBody>
      </p:sp>
      <p:sp>
        <p:nvSpPr>
          <p:cNvPr id="8" name="s2-text-7">
            <a:extLst xmlns:a="http://schemas.openxmlformats.org/drawingml/2006/main">
              <a:ext uri="{FF2B5EF4-FFF2-40B4-BE49-F238E27FC236}">
                <a16:creationId xmlns:a16="http://schemas.microsoft.com/office/drawing/2014/main" id="{30D0C8CD-3A7F-4518-ADEC-C4D406D1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38650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搭建生态瓶、持续观察、整理出完整报告</a:t>
            </a:r>
          </a:p>
        </p:txBody>
      </p:sp>
      <p:sp>
        <p:nvSpPr>
          <p:cNvPr id="9" name="s2-rect-8">
            <a:extLst xmlns:a="http://schemas.openxmlformats.org/drawingml/2006/main">
              <a:ext uri="{FF2B5EF4-FFF2-40B4-BE49-F238E27FC236}">
                <a16:creationId xmlns:a16="http://schemas.microsoft.com/office/drawing/2014/main" id="{F74DB35C-88F9-4FBE-8220-DC8D6A48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0" name="s2-text-9">
            <a:extLst xmlns:a="http://schemas.openxmlformats.org/drawingml/2006/main">
              <a:ext uri="{FF2B5EF4-FFF2-40B4-BE49-F238E27FC236}">
                <a16:creationId xmlns:a16="http://schemas.microsoft.com/office/drawing/2014/main" id="{B36DA583-5BA6-4C1F-8487-D99E9BC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仅凭这些信息，你会怎样评价这次学习？</a:t>
            </a:r>
          </a:p>
        </p:txBody>
      </p:sp>
      <p:sp>
        <p:nvSpPr>
          <p:cNvPr id="11" name="s2-footer-10">
            <a:extLst xmlns:a="http://schemas.openxmlformats.org/drawingml/2006/main">
              <a:ext uri="{FF2B5EF4-FFF2-40B4-BE49-F238E27FC236}">
                <a16:creationId xmlns:a16="http://schemas.microsoft.com/office/drawing/2014/main" id="{C88C875B-CCAF-46E3-8E78-0E0A786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2" name="s2-footer-11">
            <a:extLst xmlns:a="http://schemas.openxmlformats.org/drawingml/2006/main">
              <a:ext uri="{FF2B5EF4-FFF2-40B4-BE49-F238E27FC236}">
                <a16:creationId xmlns:a16="http://schemas.microsoft.com/office/drawing/2014/main" id="{6F6E6439-E335-4115-AF8F-064986A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02 / 36</a:t>
            </a:r>
          </a:p>
        </p:txBody>
      </p:sp>
    </p:spTree>
    <p:extLst>
      <p:ext uri="{BB962C8B-B14F-4D97-AF65-F5344CB8AC3E}">
        <p14:creationId xmlns:p14="http://schemas.microsoft.com/office/powerpoint/2010/main" val="801866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3-text-0">
            <a:extLst xmlns:a="http://schemas.openxmlformats.org/drawingml/2006/main">
              <a:ext uri="{FF2B5EF4-FFF2-40B4-BE49-F238E27FC236}">
                <a16:creationId xmlns:a16="http://schemas.microsoft.com/office/drawing/2014/main" id="{9CE2195F-49ED-49E0-943F-06D8814D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第一次判断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83a32429a47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-title-2">
            <a:extLst xmlns:a="http://schemas.openxmlformats.org/drawingml/2006/main">
              <a:ext uri="{FF2B5EF4-FFF2-40B4-BE49-F238E27FC236}">
                <a16:creationId xmlns:a16="http://schemas.microsoft.com/office/drawing/2014/main" id="{5D80EB6B-E575-485C-A20F-1B6B387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你还需要知道什么？</a:t>
            </a:r>
          </a:p>
        </p:txBody>
      </p:sp>
      <p:sp>
        <p:nvSpPr>
          <p:cNvPr id="4" name="s3-text-3">
            <a:extLst xmlns:a="http://schemas.openxmlformats.org/drawingml/2006/main">
              <a:ext uri="{FF2B5EF4-FFF2-40B4-BE49-F238E27FC236}">
                <a16:creationId xmlns:a16="http://schemas.microsoft.com/office/drawing/2014/main" id="{20C32DA2-F4E0-4B1F-850A-14D6062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你凭什么判断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学生学到了，或没有学到？</a:t>
            </a:r>
          </a:p>
        </p:txBody>
      </p:sp>
      <p:sp>
        <p:nvSpPr>
          <p:cNvPr id="5" name="s3-rect-4">
            <a:extLst xmlns:a="http://schemas.openxmlformats.org/drawingml/2006/main">
              <a:ext uri="{FF2B5EF4-FFF2-40B4-BE49-F238E27FC236}">
                <a16:creationId xmlns:a16="http://schemas.microsoft.com/office/drawing/2014/main" id="{70FD2373-7CE9-4972-A71C-CC53125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3-text-5">
            <a:extLst xmlns:a="http://schemas.openxmlformats.org/drawingml/2006/main">
              <a:ext uri="{FF2B5EF4-FFF2-40B4-BE49-F238E27FC236}">
                <a16:creationId xmlns:a16="http://schemas.microsoft.com/office/drawing/2014/main" id="{2D0914F9-7D47-4DD3-9831-A5DEB89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写下你的判断，以及最想补看的一条证据。</a:t>
            </a:r>
          </a:p>
        </p:txBody>
      </p:sp>
      <p:sp>
        <p:nvSpPr>
          <p:cNvPr id="7" name="s3-footer-6">
            <a:extLst xmlns:a="http://schemas.openxmlformats.org/drawingml/2006/main">
              <a:ext uri="{FF2B5EF4-FFF2-40B4-BE49-F238E27FC236}">
                <a16:creationId xmlns:a16="http://schemas.microsoft.com/office/drawing/2014/main" id="{B78B98F0-2217-46E8-904E-5DE807A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8" name="s3-footer-7">
            <a:extLst xmlns:a="http://schemas.openxmlformats.org/drawingml/2006/main">
              <a:ext uri="{FF2B5EF4-FFF2-40B4-BE49-F238E27FC236}">
                <a16:creationId xmlns:a16="http://schemas.microsoft.com/office/drawing/2014/main" id="{050EA567-B381-4CFE-83E2-005187D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03 / 36</a:t>
            </a:r>
          </a:p>
        </p:txBody>
      </p:sp>
    </p:spTree>
    <p:extLst>
      <p:ext uri="{BB962C8B-B14F-4D97-AF65-F5344CB8AC3E}">
        <p14:creationId xmlns:p14="http://schemas.microsoft.com/office/powerpoint/2010/main" val="74872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4-text-0">
            <a:extLst xmlns:a="http://schemas.openxmlformats.org/drawingml/2006/main">
              <a:ext uri="{FF2B5EF4-FFF2-40B4-BE49-F238E27FC236}">
                <a16:creationId xmlns:a16="http://schemas.microsoft.com/office/drawing/2014/main" id="{17E82A14-A381-41A3-8245-B5C9661C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从一节课开始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44472372f40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4-title-2">
            <a:extLst xmlns:a="http://schemas.openxmlformats.org/drawingml/2006/main">
              <a:ext uri="{FF2B5EF4-FFF2-40B4-BE49-F238E27FC236}">
                <a16:creationId xmlns:a16="http://schemas.microsoft.com/office/drawing/2014/main" id="{F0947D1F-AE5D-4396-B7F7-F61B4CED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先说清这节课要教什么</a:t>
            </a:r>
          </a:p>
        </p:txBody>
      </p:sp>
      <p:sp>
        <p:nvSpPr>
          <p:cNvPr id="4" name="s4-text-3">
            <a:extLst xmlns:a="http://schemas.openxmlformats.org/drawingml/2006/main">
              <a:ext uri="{FF2B5EF4-FFF2-40B4-BE49-F238E27FC236}">
                <a16:creationId xmlns:a16="http://schemas.microsoft.com/office/drawing/2014/main" id="{145AB722-D55D-4DEB-B29F-E0894FE1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同一份AI方案，放在三种课里，用途不同。</a:t>
            </a:r>
          </a:p>
        </p:txBody>
      </p:sp>
      <p:sp>
        <p:nvSpPr>
          <p:cNvPr id="5" name="s4-rect-4">
            <a:extLst xmlns:a="http://schemas.openxmlformats.org/drawingml/2006/main">
              <a:ext uri="{FF2B5EF4-FFF2-40B4-BE49-F238E27FC236}">
                <a16:creationId xmlns:a16="http://schemas.microsoft.com/office/drawing/2014/main" id="{23847DA5-6E54-440E-8B8D-9A2A534A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4-text-5">
            <a:extLst xmlns:a="http://schemas.openxmlformats.org/drawingml/2006/main">
              <a:ext uri="{FF2B5EF4-FFF2-40B4-BE49-F238E27FC236}">
                <a16:creationId xmlns:a16="http://schemas.microsoft.com/office/drawing/2014/main" id="{F0BAE0D0-0733-4E39-AECC-777A2C1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认识方案结构</a:t>
            </a:r>
          </a:p>
        </p:txBody>
      </p:sp>
      <p:sp>
        <p:nvSpPr>
          <p:cNvPr id="7" name="s4-text-6">
            <a:extLst xmlns:a="http://schemas.openxmlformats.org/drawingml/2006/main">
              <a:ext uri="{FF2B5EF4-FFF2-40B4-BE49-F238E27FC236}">
                <a16:creationId xmlns:a16="http://schemas.microsoft.com/office/drawing/2014/main" id="{E8D466CD-7274-49AE-894E-37FA2D26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初学者借助完整示范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解释每一步为什么需要</a:t>
            </a:r>
          </a:p>
        </p:txBody>
      </p:sp>
      <p:sp>
        <p:nvSpPr>
          <p:cNvPr id="8" name="s4-rect-7">
            <a:extLst xmlns:a="http://schemas.openxmlformats.org/drawingml/2006/main">
              <a:ext uri="{FF2B5EF4-FFF2-40B4-BE49-F238E27FC236}">
                <a16:creationId xmlns:a16="http://schemas.microsoft.com/office/drawing/2014/main" id="{5032E87F-2016-4715-ADA8-05083427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4-text-8">
            <a:extLst xmlns:a="http://schemas.openxmlformats.org/drawingml/2006/main">
              <a:ext uri="{FF2B5EF4-FFF2-40B4-BE49-F238E27FC236}">
                <a16:creationId xmlns:a16="http://schemas.microsoft.com/office/drawing/2014/main" id="{0978749D-AF94-40ED-B8FD-350C5A9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练习设计实验</a:t>
            </a:r>
          </a:p>
        </p:txBody>
      </p:sp>
      <p:sp>
        <p:nvSpPr>
          <p:cNvPr id="10" name="s4-text-9">
            <a:extLst xmlns:a="http://schemas.openxmlformats.org/drawingml/2006/main">
              <a:ext uri="{FF2B5EF4-FFF2-40B4-BE49-F238E27FC236}">
                <a16:creationId xmlns:a16="http://schemas.microsoft.com/office/drawing/2014/main" id="{1878196B-7142-408F-B651-1674B19E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学生需要提出假设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选择变量并说明理由</a:t>
            </a:r>
          </a:p>
        </p:txBody>
      </p:sp>
      <p:sp>
        <p:nvSpPr>
          <p:cNvPr id="11" name="s4-rect-10">
            <a:extLst xmlns:a="http://schemas.openxmlformats.org/drawingml/2006/main">
              <a:ext uri="{FF2B5EF4-FFF2-40B4-BE49-F238E27FC236}">
                <a16:creationId xmlns:a16="http://schemas.microsoft.com/office/drawing/2014/main" id="{13FB73DF-63F4-4CD6-BCD9-BAFB74F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4-text-11">
            <a:extLst xmlns:a="http://schemas.openxmlformats.org/drawingml/2006/main">
              <a:ext uri="{FF2B5EF4-FFF2-40B4-BE49-F238E27FC236}">
                <a16:creationId xmlns:a16="http://schemas.microsoft.com/office/drawing/2014/main" id="{A5716C66-2D50-41EA-81A4-A7CF7C4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比较更多可能</a:t>
            </a:r>
          </a:p>
        </p:txBody>
      </p:sp>
      <p:sp>
        <p:nvSpPr>
          <p:cNvPr id="13" name="s4-text-12">
            <a:extLst xmlns:a="http://schemas.openxmlformats.org/drawingml/2006/main">
              <a:ext uri="{FF2B5EF4-FFF2-40B4-BE49-F238E27FC236}">
                <a16:creationId xmlns:a16="http://schemas.microsoft.com/office/drawing/2014/main" id="{24611653-1F21-4784-AAC3-2A51656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借AI展开多个方案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讨论约束与适用边界</a:t>
            </a:r>
          </a:p>
        </p:txBody>
      </p:sp>
      <p:sp>
        <p:nvSpPr>
          <p:cNvPr id="14" name="s4-rect-13">
            <a:extLst xmlns:a="http://schemas.openxmlformats.org/drawingml/2006/main">
              <a:ext uri="{FF2B5EF4-FFF2-40B4-BE49-F238E27FC236}">
                <a16:creationId xmlns:a16="http://schemas.microsoft.com/office/drawing/2014/main" id="{27DDC7EE-3819-430E-9FBE-65DD1DE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4-text-14">
            <a:extLst xmlns:a="http://schemas.openxmlformats.org/drawingml/2006/main">
              <a:ext uri="{FF2B5EF4-FFF2-40B4-BE49-F238E27FC236}">
                <a16:creationId xmlns:a16="http://schemas.microsoft.com/office/drawing/2014/main" id="{BEE842DD-0208-4F8B-9553-D17EFF52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备课时选定的用途，在课堂上发生了吗？</a:t>
            </a:r>
          </a:p>
        </p:txBody>
      </p:sp>
      <p:sp>
        <p:nvSpPr>
          <p:cNvPr id="16" name="s4-footer-15">
            <a:extLst xmlns:a="http://schemas.openxmlformats.org/drawingml/2006/main">
              <a:ext uri="{FF2B5EF4-FFF2-40B4-BE49-F238E27FC236}">
                <a16:creationId xmlns:a16="http://schemas.microsoft.com/office/drawing/2014/main" id="{8A2B32C5-2901-4D19-A9E9-085C7B0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4-footer-16">
            <a:extLst xmlns:a="http://schemas.openxmlformats.org/drawingml/2006/main">
              <a:ext uri="{FF2B5EF4-FFF2-40B4-BE49-F238E27FC236}">
                <a16:creationId xmlns:a16="http://schemas.microsoft.com/office/drawing/2014/main" id="{208B718F-35BA-45BF-B077-F009EBFF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04 / 36</a:t>
            </a:r>
          </a:p>
        </p:txBody>
      </p:sp>
    </p:spTree>
    <p:extLst>
      <p:ext uri="{BB962C8B-B14F-4D97-AF65-F5344CB8AC3E}">
        <p14:creationId xmlns:p14="http://schemas.microsoft.com/office/powerpoint/2010/main" val="1127922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5-text-0">
            <a:extLst xmlns:a="http://schemas.openxmlformats.org/drawingml/2006/main">
              <a:ext uri="{FF2B5EF4-FFF2-40B4-BE49-F238E27FC236}">
                <a16:creationId xmlns:a16="http://schemas.microsoft.com/office/drawing/2014/main" id="{EF1B3657-3CD2-402C-9448-1ACE0547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从一节课开始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4713cab8140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5-title-2">
            <a:extLst xmlns:a="http://schemas.openxmlformats.org/drawingml/2006/main">
              <a:ext uri="{FF2B5EF4-FFF2-40B4-BE49-F238E27FC236}">
                <a16:creationId xmlns:a16="http://schemas.microsoft.com/office/drawing/2014/main" id="{F2A0FB02-8641-462F-B05F-4E4ECCF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AI做完的工作，怎样成为学生的本领？</a:t>
            </a:r>
          </a:p>
        </p:txBody>
      </p:sp>
      <p:sp>
        <p:nvSpPr>
          <p:cNvPr id="4" name="s5-text-3">
            <a:extLst xmlns:a="http://schemas.openxmlformats.org/drawingml/2006/main">
              <a:ext uri="{FF2B5EF4-FFF2-40B4-BE49-F238E27FC236}">
                <a16:creationId xmlns:a16="http://schemas.microsoft.com/office/drawing/2014/main" id="{7F321F13-3DE5-4E65-A8EA-FE370CEA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38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学生要学会什么？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哪一步需要亲自想、亲自做？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学会没有，怎样看出来？</a:t>
            </a:r>
          </a:p>
        </p:txBody>
      </p:sp>
      <p:sp>
        <p:nvSpPr>
          <p:cNvPr id="5" name="s5-rect-4">
            <a:extLst xmlns:a="http://schemas.openxmlformats.org/drawingml/2006/main">
              <a:ext uri="{FF2B5EF4-FFF2-40B4-BE49-F238E27FC236}">
                <a16:creationId xmlns:a16="http://schemas.microsoft.com/office/drawing/2014/main" id="{BA29A7C2-6E9B-4C69-A7FE-A4E8D0C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5-text-5">
            <a:extLst xmlns:a="http://schemas.openxmlformats.org/drawingml/2006/main">
              <a:ext uri="{FF2B5EF4-FFF2-40B4-BE49-F238E27FC236}">
                <a16:creationId xmlns:a16="http://schemas.microsoft.com/office/drawing/2014/main" id="{0A782A61-00F6-416F-AB7D-C7F4C73C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判断AI用得好不好，先回答这三个问题。</a:t>
            </a:r>
          </a:p>
        </p:txBody>
      </p:sp>
      <p:sp>
        <p:nvSpPr>
          <p:cNvPr id="7" name="s5-footer-6">
            <a:extLst xmlns:a="http://schemas.openxmlformats.org/drawingml/2006/main">
              <a:ext uri="{FF2B5EF4-FFF2-40B4-BE49-F238E27FC236}">
                <a16:creationId xmlns:a16="http://schemas.microsoft.com/office/drawing/2014/main" id="{23C5B05B-94B0-4351-864A-87AD48F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Cukurova, 2025 · BJET</a:t>
            </a:r>
          </a:p>
        </p:txBody>
      </p:sp>
      <p:sp>
        <p:nvSpPr>
          <p:cNvPr id="8" name="s5-footer-7">
            <a:extLst xmlns:a="http://schemas.openxmlformats.org/drawingml/2006/main">
              <a:ext uri="{FF2B5EF4-FFF2-40B4-BE49-F238E27FC236}">
                <a16:creationId xmlns:a16="http://schemas.microsoft.com/office/drawing/2014/main" id="{6C1AF5C2-F204-4BD9-B83F-5E72347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05 / 36</a:t>
            </a:r>
          </a:p>
        </p:txBody>
      </p:sp>
    </p:spTree>
    <p:extLst>
      <p:ext uri="{BB962C8B-B14F-4D97-AF65-F5344CB8AC3E}">
        <p14:creationId xmlns:p14="http://schemas.microsoft.com/office/powerpoint/2010/main" val="1842387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6-text-0">
            <a:extLst xmlns:a="http://schemas.openxmlformats.org/drawingml/2006/main">
              <a:ext uri="{FF2B5EF4-FFF2-40B4-BE49-F238E27FC236}">
                <a16:creationId xmlns:a16="http://schemas.microsoft.com/office/drawing/2014/main" id="{7BF2EA85-EF9F-41AF-B6C5-F81D9E8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AI与学习机会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7c984ea6f46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6-title-2">
            <a:extLst xmlns:a="http://schemas.openxmlformats.org/drawingml/2006/main">
              <a:ext uri="{FF2B5EF4-FFF2-40B4-BE49-F238E27FC236}">
                <a16:creationId xmlns:a16="http://schemas.microsoft.com/office/drawing/2014/main" id="{2A6E20FB-6066-4E3B-8422-37D8210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有些任务要保留，有些值得重做</a:t>
            </a:r>
          </a:p>
        </p:txBody>
      </p:sp>
      <p:sp>
        <p:nvSpPr>
          <p:cNvPr id="4" name="s6-text-3">
            <a:extLst xmlns:a="http://schemas.openxmlformats.org/drawingml/2006/main">
              <a:ext uri="{FF2B5EF4-FFF2-40B4-BE49-F238E27FC236}">
                <a16:creationId xmlns:a16="http://schemas.microsoft.com/office/drawing/2014/main" id="{ADED716E-9A48-4F21-94B2-6CFFD7F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先检查旧任务的教学用处，再决定AI怎样介入。</a:t>
            </a:r>
          </a:p>
        </p:txBody>
      </p:sp>
      <p:sp>
        <p:nvSpPr>
          <p:cNvPr id="5" name="s6-rect-4">
            <a:extLst xmlns:a="http://schemas.openxmlformats.org/drawingml/2006/main">
              <a:ext uri="{FF2B5EF4-FFF2-40B4-BE49-F238E27FC236}">
                <a16:creationId xmlns:a16="http://schemas.microsoft.com/office/drawing/2014/main" id="{A9D0AFB8-067F-4379-A21D-682A2E4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6-text-5">
            <a:extLst xmlns:a="http://schemas.openxmlformats.org/drawingml/2006/main">
              <a:ext uri="{FF2B5EF4-FFF2-40B4-BE49-F238E27FC236}">
                <a16:creationId xmlns:a16="http://schemas.microsoft.com/office/drawing/2014/main" id="{1DA2FF0D-C76B-4469-A238-1406179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保留</a:t>
            </a:r>
          </a:p>
        </p:txBody>
      </p:sp>
      <p:sp>
        <p:nvSpPr>
          <p:cNvPr id="7" name="s6-text-6">
            <a:extLst xmlns:a="http://schemas.openxmlformats.org/drawingml/2006/main">
              <a:ext uri="{FF2B5EF4-FFF2-40B4-BE49-F238E27FC236}">
                <a16:creationId xmlns:a16="http://schemas.microsoft.com/office/drawing/2014/main" id="{F34DA3FD-3A1A-4A48-A776-DEFAAE92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解释证据、检验结论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这些理解仍须建立</a:t>
            </a:r>
          </a:p>
        </p:txBody>
      </p:sp>
      <p:sp>
        <p:nvSpPr>
          <p:cNvPr id="8" name="s6-rect-7">
            <a:extLst xmlns:a="http://schemas.openxmlformats.org/drawingml/2006/main">
              <a:ext uri="{FF2B5EF4-FFF2-40B4-BE49-F238E27FC236}">
                <a16:creationId xmlns:a16="http://schemas.microsoft.com/office/drawing/2014/main" id="{08A1D9A3-B9DF-4E17-8ADD-EF5C35C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6-text-8">
            <a:extLst xmlns:a="http://schemas.openxmlformats.org/drawingml/2006/main">
              <a:ext uri="{FF2B5EF4-FFF2-40B4-BE49-F238E27FC236}">
                <a16:creationId xmlns:a16="http://schemas.microsoft.com/office/drawing/2014/main" id="{048FDFB6-6BEF-4D3E-ABF9-4865C9F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调整</a:t>
            </a:r>
          </a:p>
        </p:txBody>
      </p:sp>
      <p:sp>
        <p:nvSpPr>
          <p:cNvPr id="10" name="s6-text-9">
            <a:extLst xmlns:a="http://schemas.openxmlformats.org/drawingml/2006/main">
              <a:ext uri="{FF2B5EF4-FFF2-40B4-BE49-F238E27FC236}">
                <a16:creationId xmlns:a16="http://schemas.microsoft.com/office/drawing/2014/main" id="{A9F18FDF-FFED-44B4-9804-7D39392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AI先整理资料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学生集中比较分歧</a:t>
            </a:r>
          </a:p>
        </p:txBody>
      </p:sp>
      <p:sp>
        <p:nvSpPr>
          <p:cNvPr id="11" name="s6-rect-10">
            <a:extLst xmlns:a="http://schemas.openxmlformats.org/drawingml/2006/main">
              <a:ext uri="{FF2B5EF4-FFF2-40B4-BE49-F238E27FC236}">
                <a16:creationId xmlns:a16="http://schemas.microsoft.com/office/drawing/2014/main" id="{E29B4BB2-EB38-4656-9569-4E71C7C4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6-text-11">
            <a:extLst xmlns:a="http://schemas.openxmlformats.org/drawingml/2006/main">
              <a:ext uri="{FF2B5EF4-FFF2-40B4-BE49-F238E27FC236}">
                <a16:creationId xmlns:a16="http://schemas.microsoft.com/office/drawing/2014/main" id="{DAB1494C-9D14-4CCD-A044-139F0D7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新增</a:t>
            </a:r>
          </a:p>
        </p:txBody>
      </p:sp>
      <p:sp>
        <p:nvSpPr>
          <p:cNvPr id="13" name="s6-text-12">
            <a:extLst xmlns:a="http://schemas.openxmlformats.org/drawingml/2006/main">
              <a:ext uri="{FF2B5EF4-FFF2-40B4-BE49-F238E27FC236}">
                <a16:creationId xmlns:a16="http://schemas.microsoft.com/office/drawing/2014/main" id="{B1663F96-3CC0-4AAD-9FBB-E528743F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借助多个备选解释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研究原先难以处理的问题</a:t>
            </a:r>
          </a:p>
        </p:txBody>
      </p:sp>
      <p:sp>
        <p:nvSpPr>
          <p:cNvPr id="14" name="s6-rect-13">
            <a:extLst xmlns:a="http://schemas.openxmlformats.org/drawingml/2006/main">
              <a:ext uri="{FF2B5EF4-FFF2-40B4-BE49-F238E27FC236}">
                <a16:creationId xmlns:a16="http://schemas.microsoft.com/office/drawing/2014/main" id="{A7613B57-D5C9-4BA7-B14B-3545D68D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6-text-14">
            <a:extLst xmlns:a="http://schemas.openxmlformats.org/drawingml/2006/main">
              <a:ext uri="{FF2B5EF4-FFF2-40B4-BE49-F238E27FC236}">
                <a16:creationId xmlns:a16="http://schemas.microsoft.com/office/drawing/2014/main" id="{D1DF7643-EAE8-46DE-B14D-8FE5AA0C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这项工作为什么值得学生花时间？</a:t>
            </a:r>
          </a:p>
        </p:txBody>
      </p:sp>
      <p:sp>
        <p:nvSpPr>
          <p:cNvPr id="16" name="s6-footer-15">
            <a:extLst xmlns:a="http://schemas.openxmlformats.org/drawingml/2006/main">
              <a:ext uri="{FF2B5EF4-FFF2-40B4-BE49-F238E27FC236}">
                <a16:creationId xmlns:a16="http://schemas.microsoft.com/office/drawing/2014/main" id="{DA8E8E66-0E3A-4AB9-ABE9-CD1CECC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6-footer-16">
            <a:extLst xmlns:a="http://schemas.openxmlformats.org/drawingml/2006/main">
              <a:ext uri="{FF2B5EF4-FFF2-40B4-BE49-F238E27FC236}">
                <a16:creationId xmlns:a16="http://schemas.microsoft.com/office/drawing/2014/main" id="{73DE2EBD-6387-4C60-B806-F8CF0A6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06 / 36</a:t>
            </a:r>
          </a:p>
        </p:txBody>
      </p:sp>
    </p:spTree>
    <p:extLst>
      <p:ext uri="{BB962C8B-B14F-4D97-AF65-F5344CB8AC3E}">
        <p14:creationId xmlns:p14="http://schemas.microsoft.com/office/powerpoint/2010/main" val="2076995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7-text-0">
            <a:extLst xmlns:a="http://schemas.openxmlformats.org/drawingml/2006/main">
              <a:ext uri="{FF2B5EF4-FFF2-40B4-BE49-F238E27FC236}">
                <a16:creationId xmlns:a16="http://schemas.microsoft.com/office/drawing/2014/main" id="{4245C944-0966-41E3-9606-3C609AC9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AI与学习机会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038f5351841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7-title-2">
            <a:extLst xmlns:a="http://schemas.openxmlformats.org/drawingml/2006/main">
              <a:ext uri="{FF2B5EF4-FFF2-40B4-BE49-F238E27FC236}">
                <a16:creationId xmlns:a16="http://schemas.microsoft.com/office/drawing/2014/main" id="{3F11DC06-E337-49D0-86A4-5D7DE93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好作品只是判断学习的起点</a:t>
            </a:r>
          </a:p>
        </p:txBody>
      </p:sp>
      <p:sp>
        <p:nvSpPr>
          <p:cNvPr id="4" name="s7-rect-3">
            <a:extLst xmlns:a="http://schemas.openxmlformats.org/drawingml/2006/main">
              <a:ext uri="{FF2B5EF4-FFF2-40B4-BE49-F238E27FC236}">
                <a16:creationId xmlns:a16="http://schemas.microsoft.com/office/drawing/2014/main" id="{B9E7F6C7-E3A6-45EE-B344-23164C7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7-text-4">
            <a:extLst xmlns:a="http://schemas.openxmlformats.org/drawingml/2006/main">
              <a:ext uri="{FF2B5EF4-FFF2-40B4-BE49-F238E27FC236}">
                <a16:creationId xmlns:a16="http://schemas.microsoft.com/office/drawing/2014/main" id="{AC0DA047-0EDC-4F17-A285-0FC205F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s7-text-5">
            <a:extLst xmlns:a="http://schemas.openxmlformats.org/drawingml/2006/main">
              <a:ext uri="{FF2B5EF4-FFF2-40B4-BE49-F238E27FC236}">
                <a16:creationId xmlns:a16="http://schemas.microsoft.com/office/drawing/2014/main" id="{79B9D00F-0363-4A1C-9E4E-990C54C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66925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作品</a:t>
            </a:r>
          </a:p>
        </p:txBody>
      </p:sp>
      <p:sp>
        <p:nvSpPr>
          <p:cNvPr id="7" name="s7-text-6">
            <a:extLst xmlns:a="http://schemas.openxmlformats.org/drawingml/2006/main">
              <a:ext uri="{FF2B5EF4-FFF2-40B4-BE49-F238E27FC236}">
                <a16:creationId xmlns:a16="http://schemas.microsoft.com/office/drawing/2014/main" id="{1F571A6D-D39E-4573-A252-F6CA120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05025"/>
            <a:ext cx="655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完成了什么？质量怎样？</a:t>
            </a:r>
          </a:p>
        </p:txBody>
      </p:sp>
      <p:sp>
        <p:nvSpPr>
          <p:cNvPr id="8" name="s7-rect-7">
            <a:extLst xmlns:a="http://schemas.openxmlformats.org/drawingml/2006/main">
              <a:ext uri="{FF2B5EF4-FFF2-40B4-BE49-F238E27FC236}">
                <a16:creationId xmlns:a16="http://schemas.microsoft.com/office/drawing/2014/main" id="{FBCE4B72-E24D-405F-83CA-E90A30A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7-text-8">
            <a:extLst xmlns:a="http://schemas.openxmlformats.org/drawingml/2006/main">
              <a:ext uri="{FF2B5EF4-FFF2-40B4-BE49-F238E27FC236}">
                <a16:creationId xmlns:a16="http://schemas.microsoft.com/office/drawing/2014/main" id="{1CBB674D-B5CD-478A-AA4C-6C6A66F6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0" name="s7-text-9">
            <a:extLst xmlns:a="http://schemas.openxmlformats.org/drawingml/2006/main">
              <a:ext uri="{FF2B5EF4-FFF2-40B4-BE49-F238E27FC236}">
                <a16:creationId xmlns:a16="http://schemas.microsoft.com/office/drawing/2014/main" id="{220E00C6-AB7C-4759-9461-7054164B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实际活动</a:t>
            </a:r>
          </a:p>
        </p:txBody>
      </p:sp>
      <p:sp>
        <p:nvSpPr>
          <p:cNvPr id="11" name="s7-text-10">
            <a:extLst xmlns:a="http://schemas.openxmlformats.org/drawingml/2006/main">
              <a:ext uri="{FF2B5EF4-FFF2-40B4-BE49-F238E27FC236}">
                <a16:creationId xmlns:a16="http://schemas.microsoft.com/office/drawing/2014/main" id="{8AD8E771-92B4-499B-90DF-79D9A84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655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学生解释、比较、决定了什么？</a:t>
            </a:r>
          </a:p>
        </p:txBody>
      </p:sp>
      <p:sp>
        <p:nvSpPr>
          <p:cNvPr id="12" name="s7-rect-11">
            <a:extLst xmlns:a="http://schemas.openxmlformats.org/drawingml/2006/main">
              <a:ext uri="{FF2B5EF4-FFF2-40B4-BE49-F238E27FC236}">
                <a16:creationId xmlns:a16="http://schemas.microsoft.com/office/drawing/2014/main" id="{CC7AEE31-0C68-40BC-B381-BB5CF2B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3" name="s7-text-12">
            <a:extLst xmlns:a="http://schemas.openxmlformats.org/drawingml/2006/main">
              <a:ext uri="{FF2B5EF4-FFF2-40B4-BE49-F238E27FC236}">
                <a16:creationId xmlns:a16="http://schemas.microsoft.com/office/drawing/2014/main" id="{E9B56F22-E675-4A03-8B83-4DED8FB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4" name="s7-text-13">
            <a:extLst xmlns:a="http://schemas.openxmlformats.org/drawingml/2006/main">
              <a:ext uri="{FF2B5EF4-FFF2-40B4-BE49-F238E27FC236}">
                <a16:creationId xmlns:a16="http://schemas.microsoft.com/office/drawing/2014/main" id="{37C1AAF6-0F21-49E8-AC98-59EFE7E7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05325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后续发展</a:t>
            </a:r>
          </a:p>
        </p:txBody>
      </p:sp>
      <p:sp>
        <p:nvSpPr>
          <p:cNvPr id="15" name="s7-text-14">
            <a:extLst xmlns:a="http://schemas.openxmlformats.org/drawingml/2006/main">
              <a:ext uri="{FF2B5EF4-FFF2-40B4-BE49-F238E27FC236}">
                <a16:creationId xmlns:a16="http://schemas.microsoft.com/office/drawing/2014/main" id="{F29AC9E7-67CA-4434-8D61-0CA81E1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43425"/>
            <a:ext cx="655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之后能怎样理解、运用和参与？</a:t>
            </a:r>
          </a:p>
        </p:txBody>
      </p:sp>
      <p:sp>
        <p:nvSpPr>
          <p:cNvPr id="16" name="s7-rect-15">
            <a:extLst xmlns:a="http://schemas.openxmlformats.org/drawingml/2006/main">
              <a:ext uri="{FF2B5EF4-FFF2-40B4-BE49-F238E27FC236}">
                <a16:creationId xmlns:a16="http://schemas.microsoft.com/office/drawing/2014/main" id="{742AD92A-DBFF-4B52-AAE2-DF87B0E5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7" name="s7-text-16">
            <a:extLst xmlns:a="http://schemas.openxmlformats.org/drawingml/2006/main">
              <a:ext uri="{FF2B5EF4-FFF2-40B4-BE49-F238E27FC236}">
                <a16:creationId xmlns:a16="http://schemas.microsoft.com/office/drawing/2014/main" id="{9FF78ECA-E0F2-472C-811D-CF4140F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顺着作品追问：怎么做出来的？下次还能怎样做？</a:t>
            </a:r>
          </a:p>
        </p:txBody>
      </p:sp>
      <p:sp>
        <p:nvSpPr>
          <p:cNvPr id="18" name="s7-footer-17">
            <a:extLst xmlns:a="http://schemas.openxmlformats.org/drawingml/2006/main">
              <a:ext uri="{FF2B5EF4-FFF2-40B4-BE49-F238E27FC236}">
                <a16:creationId xmlns:a16="http://schemas.microsoft.com/office/drawing/2014/main" id="{CD4FA2D3-A410-4FAA-BFE4-9CDB519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Cukurova, 2025 · BJET</a:t>
            </a:r>
          </a:p>
        </p:txBody>
      </p:sp>
      <p:sp>
        <p:nvSpPr>
          <p:cNvPr id="19" name="s7-footer-18">
            <a:extLst xmlns:a="http://schemas.openxmlformats.org/drawingml/2006/main">
              <a:ext uri="{FF2B5EF4-FFF2-40B4-BE49-F238E27FC236}">
                <a16:creationId xmlns:a16="http://schemas.microsoft.com/office/drawing/2014/main" id="{C605A56C-E1F5-4E81-82B5-62E7669F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07 / 36</a:t>
            </a:r>
          </a:p>
        </p:txBody>
      </p:sp>
    </p:spTree>
    <p:extLst>
      <p:ext uri="{BB962C8B-B14F-4D97-AF65-F5344CB8AC3E}">
        <p14:creationId xmlns:p14="http://schemas.microsoft.com/office/powerpoint/2010/main" val="979978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8-text-0">
            <a:extLst xmlns:a="http://schemas.openxmlformats.org/drawingml/2006/main">
              <a:ext uri="{FF2B5EF4-FFF2-40B4-BE49-F238E27FC236}">
                <a16:creationId xmlns:a16="http://schemas.microsoft.com/office/drawing/2014/main" id="{46EAC329-2B92-4F9E-B6F1-6AAE3AF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可能的过程之一 · 支持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033dcef8f46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8-title-2">
            <a:extLst xmlns:a="http://schemas.openxmlformats.org/drawingml/2006/main">
              <a:ext uri="{FF2B5EF4-FFF2-40B4-BE49-F238E27FC236}">
                <a16:creationId xmlns:a16="http://schemas.microsoft.com/office/drawing/2014/main" id="{055F6BE4-B3D2-46B2-B68A-AB717E1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AI的帮助，要让学生接得上</a:t>
            </a:r>
          </a:p>
        </p:txBody>
      </p:sp>
      <p:sp>
        <p:nvSpPr>
          <p:cNvPr id="4" name="s8-text-3">
            <a:extLst xmlns:a="http://schemas.openxmlformats.org/drawingml/2006/main">
              <a:ext uri="{FF2B5EF4-FFF2-40B4-BE49-F238E27FC236}">
                <a16:creationId xmlns:a16="http://schemas.microsoft.com/office/drawing/2014/main" id="{9B928901-E01C-4DA4-ABAE-D4B7AC2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AI整理观察记录后，学生能否读出其中的差异？</a:t>
            </a:r>
          </a:p>
        </p:txBody>
      </p:sp>
      <p:sp>
        <p:nvSpPr>
          <p:cNvPr id="5" name="s8-text-4">
            <a:extLst xmlns:a="http://schemas.openxmlformats.org/drawingml/2006/main">
              <a:ext uri="{FF2B5EF4-FFF2-40B4-BE49-F238E27FC236}">
                <a16:creationId xmlns:a16="http://schemas.microsoft.com/office/drawing/2014/main" id="{48A9DDC6-FB8E-44E7-9006-7F923EC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接得上</a:t>
            </a:r>
          </a:p>
        </p:txBody>
      </p:sp>
      <p:sp>
        <p:nvSpPr>
          <p:cNvPr id="6" name="s8-text-5">
            <a:extLst xmlns:a="http://schemas.openxmlformats.org/drawingml/2006/main">
              <a:ext uri="{FF2B5EF4-FFF2-40B4-BE49-F238E27FC236}">
                <a16:creationId xmlns:a16="http://schemas.microsoft.com/office/drawing/2014/main" id="{4D6DAFBF-60AA-494B-920B-C071960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05175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指出变化，提出解释，再用记录检验自己的想法</a:t>
            </a:r>
          </a:p>
        </p:txBody>
      </p:sp>
      <p:sp>
        <p:nvSpPr>
          <p:cNvPr id="7" name="s8-text-6">
            <a:extLst xmlns:a="http://schemas.openxmlformats.org/drawingml/2006/main">
              <a:ext uri="{FF2B5EF4-FFF2-40B4-BE49-F238E27FC236}">
                <a16:creationId xmlns:a16="http://schemas.microsoft.com/office/drawing/2014/main" id="{FC744D65-ADB8-4D03-B3E3-52235278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接不上</a:t>
            </a:r>
          </a:p>
        </p:txBody>
      </p:sp>
      <p:sp>
        <p:nvSpPr>
          <p:cNvPr id="8" name="s8-text-7">
            <a:extLst xmlns:a="http://schemas.openxmlformats.org/drawingml/2006/main">
              <a:ext uri="{FF2B5EF4-FFF2-40B4-BE49-F238E27FC236}">
                <a16:creationId xmlns:a16="http://schemas.microsoft.com/office/drawing/2014/main" id="{66393147-EAA4-449A-8865-FC8F3521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38650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表格更清楚了，却说不出哪条记录支持结论</a:t>
            </a:r>
          </a:p>
        </p:txBody>
      </p:sp>
      <p:sp>
        <p:nvSpPr>
          <p:cNvPr id="9" name="s8-rect-8">
            <a:extLst xmlns:a="http://schemas.openxmlformats.org/drawingml/2006/main">
              <a:ext uri="{FF2B5EF4-FFF2-40B4-BE49-F238E27FC236}">
                <a16:creationId xmlns:a16="http://schemas.microsoft.com/office/drawing/2014/main" id="{347DA9F3-A683-4681-BFC5-40127EC6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0" name="s8-text-9">
            <a:extLst xmlns:a="http://schemas.openxmlformats.org/drawingml/2006/main">
              <a:ext uri="{FF2B5EF4-FFF2-40B4-BE49-F238E27FC236}">
                <a16:creationId xmlns:a16="http://schemas.microsoft.com/office/drawing/2014/main" id="{13DCFD89-78B6-4A08-890B-9F882F1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帮助之后，学生多做了哪一步思考？</a:t>
            </a:r>
          </a:p>
        </p:txBody>
      </p:sp>
      <p:sp>
        <p:nvSpPr>
          <p:cNvPr id="11" name="s8-footer-10">
            <a:extLst xmlns:a="http://schemas.openxmlformats.org/drawingml/2006/main">
              <a:ext uri="{FF2B5EF4-FFF2-40B4-BE49-F238E27FC236}">
                <a16:creationId xmlns:a16="http://schemas.microsoft.com/office/drawing/2014/main" id="{2A6FDE01-128B-40D5-82C5-C891A16C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2" name="s8-footer-11">
            <a:extLst xmlns:a="http://schemas.openxmlformats.org/drawingml/2006/main">
              <a:ext uri="{FF2B5EF4-FFF2-40B4-BE49-F238E27FC236}">
                <a16:creationId xmlns:a16="http://schemas.microsoft.com/office/drawing/2014/main" id="{AFD8F299-ADA4-48ED-AA49-B77F634F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08 / 36</a:t>
            </a:r>
          </a:p>
        </p:txBody>
      </p:sp>
    </p:spTree>
    <p:extLst>
      <p:ext uri="{BB962C8B-B14F-4D97-AF65-F5344CB8AC3E}">
        <p14:creationId xmlns:p14="http://schemas.microsoft.com/office/powerpoint/2010/main" val="238351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9-text-0">
            <a:extLst xmlns:a="http://schemas.openxmlformats.org/drawingml/2006/main">
              <a:ext uri="{FF2B5EF4-FFF2-40B4-BE49-F238E27FC236}">
                <a16:creationId xmlns:a16="http://schemas.microsoft.com/office/drawing/2014/main" id="{BFC74636-1E16-4F94-9A0F-1AECC28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可能的过程之二 · 绕过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d6a47d6d546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9-title-2">
            <a:extLst xmlns:a="http://schemas.openxmlformats.org/drawingml/2006/main">
              <a:ext uri="{FF2B5EF4-FFF2-40B4-BE49-F238E27FC236}">
                <a16:creationId xmlns:a16="http://schemas.microsoft.com/office/drawing/2014/main" id="{1E8BF6C0-5EEA-4753-8ADC-AB75F4C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省下的是杂务，还是学习的关键一步？</a:t>
            </a:r>
          </a:p>
        </p:txBody>
      </p:sp>
      <p:sp>
        <p:nvSpPr>
          <p:cNvPr id="4" name="s9-rect-3">
            <a:extLst xmlns:a="http://schemas.openxmlformats.org/drawingml/2006/main">
              <a:ext uri="{FF2B5EF4-FFF2-40B4-BE49-F238E27FC236}">
                <a16:creationId xmlns:a16="http://schemas.microsoft.com/office/drawing/2014/main" id="{20766C86-EDFA-4546-82D3-BDF8F588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9-text-4">
            <a:extLst xmlns:a="http://schemas.openxmlformats.org/drawingml/2006/main">
              <a:ext uri="{FF2B5EF4-FFF2-40B4-BE49-F238E27FC236}">
                <a16:creationId xmlns:a16="http://schemas.microsoft.com/office/drawing/2014/main" id="{2CE64438-D153-4BC2-868B-05098BA5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绕过非目标操作</a:t>
            </a:r>
          </a:p>
        </p:txBody>
      </p:sp>
      <p:sp>
        <p:nvSpPr>
          <p:cNvPr id="6" name="s9-text-5">
            <a:extLst xmlns:a="http://schemas.openxmlformats.org/drawingml/2006/main">
              <a:ext uri="{FF2B5EF4-FFF2-40B4-BE49-F238E27FC236}">
                <a16:creationId xmlns:a16="http://schemas.microsoft.com/office/drawing/2014/main" id="{337727A3-5AD9-4D81-B3E8-1C44309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例如整理版式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可能腾出时间讨论证据</a:t>
            </a:r>
          </a:p>
        </p:txBody>
      </p:sp>
      <p:sp>
        <p:nvSpPr>
          <p:cNvPr id="7" name="s9-rect-6">
            <a:extLst xmlns:a="http://schemas.openxmlformats.org/drawingml/2006/main">
              <a:ext uri="{FF2B5EF4-FFF2-40B4-BE49-F238E27FC236}">
                <a16:creationId xmlns:a16="http://schemas.microsoft.com/office/drawing/2014/main" id="{DE350972-473F-4832-95BB-7E30001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9-text-7">
            <a:extLst xmlns:a="http://schemas.openxmlformats.org/drawingml/2006/main">
              <a:ext uri="{FF2B5EF4-FFF2-40B4-BE49-F238E27FC236}">
                <a16:creationId xmlns:a16="http://schemas.microsoft.com/office/drawing/2014/main" id="{9923C920-C3EA-458E-B1EA-0C328CB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绕过目标活动</a:t>
            </a:r>
          </a:p>
        </p:txBody>
      </p:sp>
      <p:sp>
        <p:nvSpPr>
          <p:cNvPr id="9" name="s9-text-8">
            <a:extLst xmlns:a="http://schemas.openxmlformats.org/drawingml/2006/main">
              <a:ext uri="{FF2B5EF4-FFF2-40B4-BE49-F238E27FC236}">
                <a16:creationId xmlns:a16="http://schemas.microsoft.com/office/drawing/2014/main" id="{E0D5B8C9-47AB-4806-BBEB-8E0C2D0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71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例如直接决定实验变量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可能减少练习设计的机会</a:t>
            </a:r>
          </a:p>
        </p:txBody>
      </p:sp>
      <p:sp>
        <p:nvSpPr>
          <p:cNvPr id="10" name="s9-rect-9">
            <a:extLst xmlns:a="http://schemas.openxmlformats.org/drawingml/2006/main">
              <a:ext uri="{FF2B5EF4-FFF2-40B4-BE49-F238E27FC236}">
                <a16:creationId xmlns:a16="http://schemas.microsoft.com/office/drawing/2014/main" id="{B14D9666-A68D-4664-BED9-6C1381C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9-text-10">
            <a:extLst xmlns:a="http://schemas.openxmlformats.org/drawingml/2006/main">
              <a:ext uri="{FF2B5EF4-FFF2-40B4-BE49-F238E27FC236}">
                <a16:creationId xmlns:a16="http://schemas.microsoft.com/office/drawing/2014/main" id="{56A54A05-61BB-4933-8976-A6915E9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同一步工作，要结合这节课的目标来判断。</a:t>
            </a:r>
          </a:p>
        </p:txBody>
      </p:sp>
      <p:sp>
        <p:nvSpPr>
          <p:cNvPr id="12" name="s9-footer-11">
            <a:extLst xmlns:a="http://schemas.openxmlformats.org/drawingml/2006/main">
              <a:ext uri="{FF2B5EF4-FFF2-40B4-BE49-F238E27FC236}">
                <a16:creationId xmlns:a16="http://schemas.microsoft.com/office/drawing/2014/main" id="{F89AF948-47A8-4364-8B22-A69155C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3" name="s9-footer-12">
            <a:extLst xmlns:a="http://schemas.openxmlformats.org/drawingml/2006/main">
              <a:ext uri="{FF2B5EF4-FFF2-40B4-BE49-F238E27FC236}">
                <a16:creationId xmlns:a16="http://schemas.microsoft.com/office/drawing/2014/main" id="{F3FC4334-59B8-4197-A578-E3F7CD5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09 / 36</a:t>
            </a:r>
          </a:p>
        </p:txBody>
      </p:sp>
    </p:spTree>
    <p:extLst>
      <p:ext uri="{BB962C8B-B14F-4D97-AF65-F5344CB8AC3E}">
        <p14:creationId xmlns:p14="http://schemas.microsoft.com/office/powerpoint/2010/main" val="1502341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10-text-0">
            <a:extLst xmlns:a="http://schemas.openxmlformats.org/drawingml/2006/main">
              <a:ext uri="{FF2B5EF4-FFF2-40B4-BE49-F238E27FC236}">
                <a16:creationId xmlns:a16="http://schemas.microsoft.com/office/drawing/2014/main" id="{95B3A3DF-882C-4623-A610-078AF59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可能的过程之三 · 拓展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e5cffdbad46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0-title-2">
            <a:extLst xmlns:a="http://schemas.openxmlformats.org/drawingml/2006/main">
              <a:ext uri="{FF2B5EF4-FFF2-40B4-BE49-F238E27FC236}">
                <a16:creationId xmlns:a16="http://schemas.microsoft.com/office/drawing/2014/main" id="{F42E237B-C5A4-4AF8-9A96-C0EBD27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有了AI，哪些问题现在可以研究了？</a:t>
            </a:r>
          </a:p>
        </p:txBody>
      </p:sp>
      <p:sp>
        <p:nvSpPr>
          <p:cNvPr id="4" name="s10-text-3">
            <a:extLst xmlns:a="http://schemas.openxmlformats.org/drawingml/2006/main">
              <a:ext uri="{FF2B5EF4-FFF2-40B4-BE49-F238E27FC236}">
                <a16:creationId xmlns:a16="http://schemas.microsoft.com/office/drawing/2014/main" id="{54531FA9-4B53-466A-AB3B-B4CC10A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38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让几个解释摆在一起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找出它们分歧在哪里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设计观察，判断谁更站得住</a:t>
            </a:r>
          </a:p>
        </p:txBody>
      </p:sp>
      <p:sp>
        <p:nvSpPr>
          <p:cNvPr id="5" name="s10-rect-4">
            <a:extLst xmlns:a="http://schemas.openxmlformats.org/drawingml/2006/main">
              <a:ext uri="{FF2B5EF4-FFF2-40B4-BE49-F238E27FC236}">
                <a16:creationId xmlns:a16="http://schemas.microsoft.com/office/drawing/2014/main" id="{99503D0C-925B-4ECE-9D5C-F060C96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0-text-5">
            <a:extLst xmlns:a="http://schemas.openxmlformats.org/drawingml/2006/main">
              <a:ext uri="{FF2B5EF4-FFF2-40B4-BE49-F238E27FC236}">
                <a16:creationId xmlns:a16="http://schemas.microsoft.com/office/drawing/2014/main" id="{A3AD44B6-24BF-4145-9838-74F2A1F1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备选解释多了，学生是否更会提出和检验问题？</a:t>
            </a:r>
          </a:p>
        </p:txBody>
      </p:sp>
      <p:sp>
        <p:nvSpPr>
          <p:cNvPr id="7" name="s10-footer-6">
            <a:extLst xmlns:a="http://schemas.openxmlformats.org/drawingml/2006/main">
              <a:ext uri="{FF2B5EF4-FFF2-40B4-BE49-F238E27FC236}">
                <a16:creationId xmlns:a16="http://schemas.microsoft.com/office/drawing/2014/main" id="{C12A1DB2-15E4-49F4-8787-BC973B2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8" name="s10-footer-7">
            <a:extLst xmlns:a="http://schemas.openxmlformats.org/drawingml/2006/main">
              <a:ext uri="{FF2B5EF4-FFF2-40B4-BE49-F238E27FC236}">
                <a16:creationId xmlns:a16="http://schemas.microsoft.com/office/drawing/2014/main" id="{8CBFFD3C-B743-4327-9F36-36A887AA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1915087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11-text-0">
            <a:extLst xmlns:a="http://schemas.openxmlformats.org/drawingml/2006/main">
              <a:ext uri="{FF2B5EF4-FFF2-40B4-BE49-F238E27FC236}">
                <a16:creationId xmlns:a16="http://schemas.microsoft.com/office/drawing/2014/main" id="{10647033-B564-4E09-BBE6-AC1C7C5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AI与学习机会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5ac731a2b4c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1-title-2">
            <a:extLst xmlns:a="http://schemas.openxmlformats.org/drawingml/2006/main">
              <a:ext uri="{FF2B5EF4-FFF2-40B4-BE49-F238E27FC236}">
                <a16:creationId xmlns:a16="http://schemas.microsoft.com/office/drawing/2014/main" id="{7384A8EB-C679-4C6B-B54A-B25B297A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小组做得好，谁真正参与了？</a:t>
            </a:r>
          </a:p>
        </p:txBody>
      </p:sp>
      <p:sp>
        <p:nvSpPr>
          <p:cNvPr id="4" name="s11-text-3">
            <a:extLst xmlns:a="http://schemas.openxmlformats.org/drawingml/2006/main">
              <a:ext uri="{FF2B5EF4-FFF2-40B4-BE49-F238E27FC236}">
                <a16:creationId xmlns:a16="http://schemas.microsoft.com/office/drawing/2014/main" id="{F165B632-3D64-46EF-A7E2-331589AE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同一份报告背后，组员经历的学习可能很不同。</a:t>
            </a:r>
          </a:p>
        </p:txBody>
      </p:sp>
      <p:sp>
        <p:nvSpPr>
          <p:cNvPr id="5" name="s11-rect-4">
            <a:extLst xmlns:a="http://schemas.openxmlformats.org/drawingml/2006/main">
              <a:ext uri="{FF2B5EF4-FFF2-40B4-BE49-F238E27FC236}">
                <a16:creationId xmlns:a16="http://schemas.microsoft.com/office/drawing/2014/main" id="{2EAD8571-3080-4C92-BB8C-C909973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1-text-5">
            <a:extLst xmlns:a="http://schemas.openxmlformats.org/drawingml/2006/main">
              <a:ext uri="{FF2B5EF4-FFF2-40B4-BE49-F238E27FC236}">
                <a16:creationId xmlns:a16="http://schemas.microsoft.com/office/drawing/2014/main" id="{17ABA2D4-818D-4FDF-A42A-F82DDA6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开始说得出</a:t>
            </a:r>
          </a:p>
        </p:txBody>
      </p:sp>
      <p:sp>
        <p:nvSpPr>
          <p:cNvPr id="7" name="s11-text-6">
            <a:extLst xmlns:a="http://schemas.openxmlformats.org/drawingml/2006/main">
              <a:ext uri="{FF2B5EF4-FFF2-40B4-BE49-F238E27FC236}">
                <a16:creationId xmlns:a16="http://schemas.microsoft.com/office/drawing/2014/main" id="{0E1C5E4B-4DED-42A6-A7CC-8DA443DE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借助表达支持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第一次讲清自己的观察</a:t>
            </a:r>
          </a:p>
        </p:txBody>
      </p:sp>
      <p:sp>
        <p:nvSpPr>
          <p:cNvPr id="8" name="s11-rect-7">
            <a:extLst xmlns:a="http://schemas.openxmlformats.org/drawingml/2006/main">
              <a:ext uri="{FF2B5EF4-FFF2-40B4-BE49-F238E27FC236}">
                <a16:creationId xmlns:a16="http://schemas.microsoft.com/office/drawing/2014/main" id="{80412BCE-D9B4-4F64-A458-743867CF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11-text-8">
            <a:extLst xmlns:a="http://schemas.openxmlformats.org/drawingml/2006/main">
              <a:ext uri="{FF2B5EF4-FFF2-40B4-BE49-F238E27FC236}">
                <a16:creationId xmlns:a16="http://schemas.microsoft.com/office/drawing/2014/main" id="{168A1921-E207-40A2-817F-983F724B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想法被盖住</a:t>
            </a:r>
          </a:p>
        </p:txBody>
      </p:sp>
      <p:sp>
        <p:nvSpPr>
          <p:cNvPr id="10" name="s11-text-9">
            <a:extLst xmlns:a="http://schemas.openxmlformats.org/drawingml/2006/main">
              <a:ext uri="{FF2B5EF4-FFF2-40B4-BE49-F238E27FC236}">
                <a16:creationId xmlns:a16="http://schemas.microsoft.com/office/drawing/2014/main" id="{E7E1FD02-EF19-4106-9EC5-F07E215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AI或同伴先定了方案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自己的疑问没被讨论</a:t>
            </a:r>
          </a:p>
        </p:txBody>
      </p:sp>
      <p:sp>
        <p:nvSpPr>
          <p:cNvPr id="11" name="s11-rect-10">
            <a:extLst xmlns:a="http://schemas.openxmlformats.org/drawingml/2006/main">
              <a:ext uri="{FF2B5EF4-FFF2-40B4-BE49-F238E27FC236}">
                <a16:creationId xmlns:a16="http://schemas.microsoft.com/office/drawing/2014/main" id="{EA3CA2B6-9F2E-4D76-92FF-29D1F0D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11-text-11">
            <a:extLst xmlns:a="http://schemas.openxmlformats.org/drawingml/2006/main">
              <a:ext uri="{FF2B5EF4-FFF2-40B4-BE49-F238E27FC236}">
                <a16:creationId xmlns:a16="http://schemas.microsoft.com/office/drawing/2014/main" id="{46825E5E-851B-4BF3-9626-EB1533F7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一直在旁边</a:t>
            </a:r>
          </a:p>
        </p:txBody>
      </p:sp>
      <p:sp>
        <p:nvSpPr>
          <p:cNvPr id="13" name="s11-text-12">
            <a:extLst xmlns:a="http://schemas.openxmlformats.org/drawingml/2006/main">
              <a:ext uri="{FF2B5EF4-FFF2-40B4-BE49-F238E27FC236}">
                <a16:creationId xmlns:a16="http://schemas.microsoft.com/office/drawing/2014/main" id="{EE6E7378-92A7-4475-A8B3-A9865CC8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参与了搭建与记录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却没有解释或决定的机会</a:t>
            </a:r>
          </a:p>
        </p:txBody>
      </p:sp>
      <p:sp>
        <p:nvSpPr>
          <p:cNvPr id="14" name="s11-rect-13">
            <a:extLst xmlns:a="http://schemas.openxmlformats.org/drawingml/2006/main">
              <a:ext uri="{FF2B5EF4-FFF2-40B4-BE49-F238E27FC236}">
                <a16:creationId xmlns:a16="http://schemas.microsoft.com/office/drawing/2014/main" id="{8903F5A3-2F05-41EE-AE36-287C3C28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11-text-14">
            <a:extLst xmlns:a="http://schemas.openxmlformats.org/drawingml/2006/main">
              <a:ext uri="{FF2B5EF4-FFF2-40B4-BE49-F238E27FC236}">
                <a16:creationId xmlns:a16="http://schemas.microsoft.com/office/drawing/2014/main" id="{C3EC0A93-21F7-4A60-93C6-807F23F6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下一次讨论，怎样让这些学生也能提出和检验想法？</a:t>
            </a:r>
          </a:p>
        </p:txBody>
      </p:sp>
      <p:sp>
        <p:nvSpPr>
          <p:cNvPr id="16" name="s11-footer-15">
            <a:extLst xmlns:a="http://schemas.openxmlformats.org/drawingml/2006/main">
              <a:ext uri="{FF2B5EF4-FFF2-40B4-BE49-F238E27FC236}">
                <a16:creationId xmlns:a16="http://schemas.microsoft.com/office/drawing/2014/main" id="{EEBDD086-F6C1-49C3-9027-5884FAC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11-footer-16">
            <a:extLst xmlns:a="http://schemas.openxmlformats.org/drawingml/2006/main">
              <a:ext uri="{FF2B5EF4-FFF2-40B4-BE49-F238E27FC236}">
                <a16:creationId xmlns:a16="http://schemas.microsoft.com/office/drawing/2014/main" id="{C21CCB04-8AF0-4DF9-B865-9FC50812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7089930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12-text-0">
            <a:extLst xmlns:a="http://schemas.openxmlformats.org/drawingml/2006/main">
              <a:ext uri="{FF2B5EF4-FFF2-40B4-BE49-F238E27FC236}">
                <a16:creationId xmlns:a16="http://schemas.microsoft.com/office/drawing/2014/main" id="{00F1EBBE-5A29-4493-BB25-7E055D51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AI与学习机会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20c0dff7d4e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2-title-2">
            <a:extLst xmlns:a="http://schemas.openxmlformats.org/drawingml/2006/main">
              <a:ext uri="{FF2B5EF4-FFF2-40B4-BE49-F238E27FC236}">
                <a16:creationId xmlns:a16="http://schemas.microsoft.com/office/drawing/2014/main" id="{ABC2ADA4-2556-47C0-9782-8A32B04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会用AI之后，还要会作教学取舍</a:t>
            </a:r>
          </a:p>
        </p:txBody>
      </p:sp>
      <p:sp>
        <p:nvSpPr>
          <p:cNvPr id="4" name="s12-rect-3">
            <a:extLst xmlns:a="http://schemas.openxmlformats.org/drawingml/2006/main">
              <a:ext uri="{FF2B5EF4-FFF2-40B4-BE49-F238E27FC236}">
                <a16:creationId xmlns:a16="http://schemas.microsoft.com/office/drawing/2014/main" id="{816C5037-B9DC-4F5A-9006-737344F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12-text-4">
            <a:extLst xmlns:a="http://schemas.openxmlformats.org/drawingml/2006/main">
              <a:ext uri="{FF2B5EF4-FFF2-40B4-BE49-F238E27FC236}">
                <a16:creationId xmlns:a16="http://schemas.microsoft.com/office/drawing/2014/main" id="{E5266E4B-714C-4282-9E0F-D3EAE95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UNESCO框架</a:t>
            </a:r>
          </a:p>
        </p:txBody>
      </p:sp>
      <p:sp>
        <p:nvSpPr>
          <p:cNvPr id="6" name="s12-text-5">
            <a:extLst xmlns:a="http://schemas.openxmlformats.org/drawingml/2006/main">
              <a:ext uri="{FF2B5EF4-FFF2-40B4-BE49-F238E27FC236}">
                <a16:creationId xmlns:a16="http://schemas.microsoft.com/office/drawing/2014/main" id="{AE736B02-21F6-4D0F-B6F0-1F2CABDE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以人为本与伦理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AI基础与应用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AI教学法与专业学习</a:t>
            </a:r>
          </a:p>
        </p:txBody>
      </p:sp>
      <p:sp>
        <p:nvSpPr>
          <p:cNvPr id="7" name="s12-rect-6">
            <a:extLst xmlns:a="http://schemas.openxmlformats.org/drawingml/2006/main">
              <a:ext uri="{FF2B5EF4-FFF2-40B4-BE49-F238E27FC236}">
                <a16:creationId xmlns:a16="http://schemas.microsoft.com/office/drawing/2014/main" id="{9F05EE49-E33C-459B-8E19-F76EBD4B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12-text-7">
            <a:extLst xmlns:a="http://schemas.openxmlformats.org/drawingml/2006/main">
              <a:ext uri="{FF2B5EF4-FFF2-40B4-BE49-F238E27FC236}">
                <a16:creationId xmlns:a16="http://schemas.microsoft.com/office/drawing/2014/main" id="{996DCF0C-A9FD-4E78-A78A-E204C7A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大学教师GenAI框架</a:t>
            </a:r>
          </a:p>
        </p:txBody>
      </p:sp>
      <p:sp>
        <p:nvSpPr>
          <p:cNvPr id="9" name="s12-text-8">
            <a:extLst xmlns:a="http://schemas.openxmlformats.org/drawingml/2006/main">
              <a:ext uri="{FF2B5EF4-FFF2-40B4-BE49-F238E27FC236}">
                <a16:creationId xmlns:a16="http://schemas.microsoft.com/office/drawing/2014/main" id="{A23876A3-D00E-4DC7-A789-4FC998B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71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GenAI素养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课程与学习设计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教与学、评价</a:t>
            </a:r>
          </a:p>
        </p:txBody>
      </p:sp>
      <p:sp>
        <p:nvSpPr>
          <p:cNvPr id="10" name="s12-rect-9">
            <a:extLst xmlns:a="http://schemas.openxmlformats.org/drawingml/2006/main">
              <a:ext uri="{FF2B5EF4-FFF2-40B4-BE49-F238E27FC236}">
                <a16:creationId xmlns:a16="http://schemas.microsoft.com/office/drawing/2014/main" id="{2CCB4D7F-9195-4572-AF2E-EA3B459B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12-text-10">
            <a:extLst xmlns:a="http://schemas.openxmlformats.org/drawingml/2006/main">
              <a:ext uri="{FF2B5EF4-FFF2-40B4-BE49-F238E27FC236}">
                <a16:creationId xmlns:a16="http://schemas.microsoft.com/office/drawing/2014/main" id="{CBCE22EF-D834-4731-AC12-460A480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为什么在这节课、对这些学生，选择这种用法？</a:t>
            </a:r>
          </a:p>
        </p:txBody>
      </p:sp>
      <p:sp>
        <p:nvSpPr>
          <p:cNvPr id="12" name="s12-footer-11">
            <a:extLst xmlns:a="http://schemas.openxmlformats.org/drawingml/2006/main">
              <a:ext uri="{FF2B5EF4-FFF2-40B4-BE49-F238E27FC236}">
                <a16:creationId xmlns:a16="http://schemas.microsoft.com/office/drawing/2014/main" id="{2A888DAE-B783-426F-8B86-0BF1048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Miao &amp; Cukurova, 2024 · UNESCO；Sun et al., 2026 · C&amp;E: AI</a:t>
            </a:r>
          </a:p>
        </p:txBody>
      </p:sp>
      <p:sp>
        <p:nvSpPr>
          <p:cNvPr id="13" name="s12-footer-12">
            <a:extLst xmlns:a="http://schemas.openxmlformats.org/drawingml/2006/main">
              <a:ext uri="{FF2B5EF4-FFF2-40B4-BE49-F238E27FC236}">
                <a16:creationId xmlns:a16="http://schemas.microsoft.com/office/drawing/2014/main" id="{AF2E3BC6-B077-4C65-A6E4-99B8922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4364445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13-text-0">
            <a:extLst xmlns:a="http://schemas.openxmlformats.org/drawingml/2006/main">
              <a:ext uri="{FF2B5EF4-FFF2-40B4-BE49-F238E27FC236}">
                <a16:creationId xmlns:a16="http://schemas.microsoft.com/office/drawing/2014/main" id="{9786833B-B678-406F-A548-3CA151E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a6ae5f53348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3-title-2">
            <a:extLst xmlns:a="http://schemas.openxmlformats.org/drawingml/2006/main">
              <a:ext uri="{FF2B5EF4-FFF2-40B4-BE49-F238E27FC236}">
                <a16:creationId xmlns:a16="http://schemas.microsoft.com/office/drawing/2014/main" id="{DF04DDF2-8969-4AEF-B0C6-0B315106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学生能决定什么？</a:t>
            </a:r>
          </a:p>
        </p:txBody>
      </p:sp>
      <p:sp>
        <p:nvSpPr>
          <p:cNvPr id="4" name="s13-text-3">
            <a:extLst xmlns:a="http://schemas.openxmlformats.org/drawingml/2006/main">
              <a:ext uri="{FF2B5EF4-FFF2-40B4-BE49-F238E27FC236}">
                <a16:creationId xmlns:a16="http://schemas.microsoft.com/office/drawing/2014/main" id="{8490CF3B-7B67-4677-BAFF-8CF12FD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问题由谁提出？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证据够不够，由谁判断？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下一步怎么做，由谁决定？</a:t>
            </a:r>
          </a:p>
        </p:txBody>
      </p:sp>
      <p:sp>
        <p:nvSpPr>
          <p:cNvPr id="5" name="s13-rect-4">
            <a:extLst xmlns:a="http://schemas.openxmlformats.org/drawingml/2006/main">
              <a:ext uri="{FF2B5EF4-FFF2-40B4-BE49-F238E27FC236}">
                <a16:creationId xmlns:a16="http://schemas.microsoft.com/office/drawing/2014/main" id="{339FF149-4D72-4B0A-B108-D45C5FE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3-text-5">
            <a:extLst xmlns:a="http://schemas.openxmlformats.org/drawingml/2006/main">
              <a:ext uri="{FF2B5EF4-FFF2-40B4-BE49-F238E27FC236}">
                <a16:creationId xmlns:a16="http://schemas.microsoft.com/office/drawing/2014/main" id="{5609582B-C582-4553-9E46-1A9B0ED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学生有不同想法时，能改变课堂的走向吗？</a:t>
            </a:r>
          </a:p>
        </p:txBody>
      </p:sp>
      <p:sp>
        <p:nvSpPr>
          <p:cNvPr id="7" name="s13-footer-6">
            <a:extLst xmlns:a="http://schemas.openxmlformats.org/drawingml/2006/main">
              <a:ext uri="{FF2B5EF4-FFF2-40B4-BE49-F238E27FC236}">
                <a16:creationId xmlns:a16="http://schemas.microsoft.com/office/drawing/2014/main" id="{E9275399-FEC1-44BC-9287-0C79C55D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8" name="s13-footer-7">
            <a:extLst xmlns:a="http://schemas.openxmlformats.org/drawingml/2006/main">
              <a:ext uri="{FF2B5EF4-FFF2-40B4-BE49-F238E27FC236}">
                <a16:creationId xmlns:a16="http://schemas.microsoft.com/office/drawing/2014/main" id="{E268A32C-C4CC-416F-9CCD-9829AA4B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11111759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14-text-0">
            <a:extLst xmlns:a="http://schemas.openxmlformats.org/drawingml/2006/main">
              <a:ext uri="{FF2B5EF4-FFF2-40B4-BE49-F238E27FC236}">
                <a16:creationId xmlns:a16="http://schemas.microsoft.com/office/drawing/2014/main" id="{B7C62FBE-75EF-42B5-ABBE-507FEA4C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310f573224c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4-title-2">
            <a:extLst xmlns:a="http://schemas.openxmlformats.org/drawingml/2006/main">
              <a:ext uri="{FF2B5EF4-FFF2-40B4-BE49-F238E27FC236}">
                <a16:creationId xmlns:a16="http://schemas.microsoft.com/office/drawing/2014/main" id="{FE158567-59C4-4856-A396-B955CBA3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“人机合作”要说清谁做哪一步</a:t>
            </a:r>
          </a:p>
        </p:txBody>
      </p:sp>
      <p:sp>
        <p:nvSpPr>
          <p:cNvPr id="4" name="s14-text-3">
            <a:extLst xmlns:a="http://schemas.openxmlformats.org/drawingml/2006/main">
              <a:ext uri="{FF2B5EF4-FFF2-40B4-BE49-F238E27FC236}">
                <a16:creationId xmlns:a16="http://schemas.microsoft.com/office/drawing/2014/main" id="{624CBC6D-D1B6-4611-85E4-632C1EC5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以生态瓶探究为例，逐项检查分工。</a:t>
            </a:r>
          </a:p>
        </p:txBody>
      </p:sp>
      <p:sp>
        <p:nvSpPr>
          <p:cNvPr id="5" name="s14-rect-4">
            <a:extLst xmlns:a="http://schemas.openxmlformats.org/drawingml/2006/main">
              <a:ext uri="{FF2B5EF4-FFF2-40B4-BE49-F238E27FC236}">
                <a16:creationId xmlns:a16="http://schemas.microsoft.com/office/drawing/2014/main" id="{1DEF9726-F098-46C4-A6DB-74098A1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820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</a:ln>
        </p:spPr>
      </p:sp>
      <p:sp>
        <p:nvSpPr>
          <p:cNvPr id="6" name="s14-text-5">
            <a:extLst xmlns:a="http://schemas.openxmlformats.org/drawingml/2006/main">
              <a:ext uri="{FF2B5EF4-FFF2-40B4-BE49-F238E27FC236}">
                <a16:creationId xmlns:a16="http://schemas.microsoft.com/office/drawing/2014/main" id="{4DDDE351-F9B8-497D-A50F-7CAD5480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关键工作</a:t>
            </a:r>
          </a:p>
        </p:txBody>
      </p:sp>
      <p:sp>
        <p:nvSpPr>
          <p:cNvPr id="7" name="s14-text-6">
            <a:extLst xmlns:a="http://schemas.openxmlformats.org/drawingml/2006/main">
              <a:ext uri="{FF2B5EF4-FFF2-40B4-BE49-F238E27FC236}">
                <a16:creationId xmlns:a16="http://schemas.microsoft.com/office/drawing/2014/main" id="{FED8091A-10CC-456C-A113-4CFFE75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1462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一种可能的安排</a:t>
            </a:r>
          </a:p>
        </p:txBody>
      </p:sp>
      <p:sp>
        <p:nvSpPr>
          <p:cNvPr id="8" name="s14-text-7">
            <a:extLst xmlns:a="http://schemas.openxmlformats.org/drawingml/2006/main">
              <a:ext uri="{FF2B5EF4-FFF2-40B4-BE49-F238E27FC236}">
                <a16:creationId xmlns:a16="http://schemas.microsoft.com/office/drawing/2014/main" id="{8F697C25-F5FB-46A6-B914-4E335E8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1462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继续追问</a:t>
            </a:r>
          </a:p>
        </p:txBody>
      </p:sp>
      <p:sp>
        <p:nvSpPr>
          <p:cNvPr id="9" name="s14-text-8">
            <a:extLst xmlns:a="http://schemas.openxmlformats.org/drawingml/2006/main">
              <a:ext uri="{FF2B5EF4-FFF2-40B4-BE49-F238E27FC236}">
                <a16:creationId xmlns:a16="http://schemas.microsoft.com/office/drawing/2014/main" id="{086DD3F6-3872-4FCB-9AC4-06D6049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提出问题</a:t>
            </a:r>
          </a:p>
        </p:txBody>
      </p:sp>
      <p:sp>
        <p:nvSpPr>
          <p:cNvPr id="10" name="s14-text-9">
            <a:extLst xmlns:a="http://schemas.openxmlformats.org/drawingml/2006/main">
              <a:ext uri="{FF2B5EF4-FFF2-40B4-BE49-F238E27FC236}">
                <a16:creationId xmlns:a16="http://schemas.microsoft.com/office/drawing/2014/main" id="{2E1FB293-BECD-402C-A690-98097BB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学生提初问，师生共同聚焦</a:t>
            </a:r>
          </a:p>
        </p:txBody>
      </p:sp>
      <p:sp>
        <p:nvSpPr>
          <p:cNvPr id="11" name="s14-text-10">
            <a:extLst xmlns:a="http://schemas.openxmlformats.org/drawingml/2006/main">
              <a:ext uri="{FF2B5EF4-FFF2-40B4-BE49-F238E27FC236}">
                <a16:creationId xmlns:a16="http://schemas.microsoft.com/office/drawing/2014/main" id="{69A2ADA2-4C79-442E-B222-9EA8375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766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学生的问题进入任务了吗？</a:t>
            </a:r>
          </a:p>
        </p:txBody>
      </p:sp>
      <p:sp>
        <p:nvSpPr>
          <p:cNvPr id="12" name="s14-rect-11">
            <a:extLst xmlns:a="http://schemas.openxmlformats.org/drawingml/2006/main">
              <a:ext uri="{FF2B5EF4-FFF2-40B4-BE49-F238E27FC236}">
                <a16:creationId xmlns:a16="http://schemas.microsoft.com/office/drawing/2014/main" id="{DBBC9249-7628-4341-B987-F2F208C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3" name="s14-text-12">
            <a:extLst xmlns:a="http://schemas.openxmlformats.org/drawingml/2006/main">
              <a:ext uri="{FF2B5EF4-FFF2-40B4-BE49-F238E27FC236}">
                <a16:creationId xmlns:a16="http://schemas.microsoft.com/office/drawing/2014/main" id="{646A9A46-4199-41A5-8BD3-EC10E59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生成方案</a:t>
            </a:r>
          </a:p>
        </p:txBody>
      </p:sp>
      <p:sp>
        <p:nvSpPr>
          <p:cNvPr id="14" name="s14-text-13">
            <a:extLst xmlns:a="http://schemas.openxmlformats.org/drawingml/2006/main">
              <a:ext uri="{FF2B5EF4-FFF2-40B4-BE49-F238E27FC236}">
                <a16:creationId xmlns:a16="http://schemas.microsoft.com/office/drawing/2014/main" id="{D7EBFCBB-2CF2-4B88-A1A6-6BD0365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AI提供备选，学生比较</a:t>
            </a:r>
          </a:p>
        </p:txBody>
      </p:sp>
      <p:sp>
        <p:nvSpPr>
          <p:cNvPr id="15" name="s14-text-14">
            <a:extLst xmlns:a="http://schemas.openxmlformats.org/drawingml/2006/main">
              <a:ext uri="{FF2B5EF4-FFF2-40B4-BE49-F238E27FC236}">
                <a16:creationId xmlns:a16="http://schemas.microsoft.com/office/drawing/2014/main" id="{CED31122-D50D-4367-A41C-A73894EC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909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比较依据由谁形成？</a:t>
            </a:r>
          </a:p>
        </p:txBody>
      </p:sp>
      <p:sp>
        <p:nvSpPr>
          <p:cNvPr id="16" name="s14-rect-15">
            <a:extLst xmlns:a="http://schemas.openxmlformats.org/drawingml/2006/main">
              <a:ext uri="{FF2B5EF4-FFF2-40B4-BE49-F238E27FC236}">
                <a16:creationId xmlns:a16="http://schemas.microsoft.com/office/drawing/2014/main" id="{F977DB51-2AC4-42DB-B92E-9C17D1D4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7" name="s14-text-16">
            <a:extLst xmlns:a="http://schemas.openxmlformats.org/drawingml/2006/main">
              <a:ext uri="{FF2B5EF4-FFF2-40B4-BE49-F238E27FC236}">
                <a16:creationId xmlns:a16="http://schemas.microsoft.com/office/drawing/2014/main" id="{E8B912DA-F45E-4C65-8721-7342986A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解释证据</a:t>
            </a:r>
          </a:p>
        </p:txBody>
      </p:sp>
      <p:sp>
        <p:nvSpPr>
          <p:cNvPr id="18" name="s14-text-17">
            <a:extLst xmlns:a="http://schemas.openxmlformats.org/drawingml/2006/main">
              <a:ext uri="{FF2B5EF4-FFF2-40B4-BE49-F238E27FC236}">
                <a16:creationId xmlns:a16="http://schemas.microsoft.com/office/drawing/2014/main" id="{E0B6F7A2-856C-49B5-B5FD-F147F6C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学生与同伴先讨论，AI补充</a:t>
            </a:r>
          </a:p>
        </p:txBody>
      </p:sp>
      <p:sp>
        <p:nvSpPr>
          <p:cNvPr id="19" name="s14-text-18">
            <a:extLst xmlns:a="http://schemas.openxmlformats.org/drawingml/2006/main">
              <a:ext uri="{FF2B5EF4-FFF2-40B4-BE49-F238E27FC236}">
                <a16:creationId xmlns:a16="http://schemas.microsoft.com/office/drawing/2014/main" id="{078D7CCC-575B-4738-856F-D323264D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053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解释影响了实际决定吗？</a:t>
            </a:r>
          </a:p>
        </p:txBody>
      </p:sp>
      <p:sp>
        <p:nvSpPr>
          <p:cNvPr id="20" name="s14-rect-19">
            <a:extLst xmlns:a="http://schemas.openxmlformats.org/drawingml/2006/main">
              <a:ext uri="{FF2B5EF4-FFF2-40B4-BE49-F238E27FC236}">
                <a16:creationId xmlns:a16="http://schemas.microsoft.com/office/drawing/2014/main" id="{6E50E574-0FF7-453F-A5DB-68D7212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1" name="s14-text-20">
            <a:extLst xmlns:a="http://schemas.openxmlformats.org/drawingml/2006/main">
              <a:ext uri="{FF2B5EF4-FFF2-40B4-BE49-F238E27FC236}">
                <a16:creationId xmlns:a16="http://schemas.microsoft.com/office/drawing/2014/main" id="{8AA99411-7450-45DB-930E-D4B3153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决定修改</a:t>
            </a:r>
          </a:p>
        </p:txBody>
      </p:sp>
      <p:sp>
        <p:nvSpPr>
          <p:cNvPr id="22" name="s14-text-21">
            <a:extLst xmlns:a="http://schemas.openxmlformats.org/drawingml/2006/main">
              <a:ext uri="{FF2B5EF4-FFF2-40B4-BE49-F238E27FC236}">
                <a16:creationId xmlns:a16="http://schemas.microsoft.com/office/drawing/2014/main" id="{B99577E6-8C8C-487B-BDB7-F7B5E5C2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196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小组提出修改，教师追问</a:t>
            </a:r>
          </a:p>
        </p:txBody>
      </p:sp>
      <p:sp>
        <p:nvSpPr>
          <p:cNvPr id="23" name="s14-text-22">
            <a:extLst xmlns:a="http://schemas.openxmlformats.org/drawingml/2006/main">
              <a:ext uri="{FF2B5EF4-FFF2-40B4-BE49-F238E27FC236}">
                <a16:creationId xmlns:a16="http://schemas.microsoft.com/office/drawing/2014/main" id="{F9F337B6-ED52-4D20-B562-3D00C66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196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谁能说明修改的理由？</a:t>
            </a:r>
          </a:p>
        </p:txBody>
      </p:sp>
      <p:sp>
        <p:nvSpPr>
          <p:cNvPr id="24" name="s14-rect-23">
            <a:extLst xmlns:a="http://schemas.openxmlformats.org/drawingml/2006/main">
              <a:ext uri="{FF2B5EF4-FFF2-40B4-BE49-F238E27FC236}">
                <a16:creationId xmlns:a16="http://schemas.microsoft.com/office/drawing/2014/main" id="{7D3EB449-0EAA-47DE-9A09-4C3A372B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5" name="s14-text-24">
            <a:extLst xmlns:a="http://schemas.openxmlformats.org/drawingml/2006/main">
              <a:ext uri="{FF2B5EF4-FFF2-40B4-BE49-F238E27FC236}">
                <a16:creationId xmlns:a16="http://schemas.microsoft.com/office/drawing/2014/main" id="{9081A090-2DFD-4E0E-ACAF-44E862FC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判断完成</a:t>
            </a:r>
          </a:p>
        </p:txBody>
      </p:sp>
      <p:sp>
        <p:nvSpPr>
          <p:cNvPr id="26" name="s14-text-25">
            <a:extLst xmlns:a="http://schemas.openxmlformats.org/drawingml/2006/main">
              <a:ext uri="{FF2B5EF4-FFF2-40B4-BE49-F238E27FC236}">
                <a16:creationId xmlns:a16="http://schemas.microsoft.com/office/drawing/2014/main" id="{DA65E318-5FFE-480F-B6F4-66E4723D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340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师生参照标准共同回看</a:t>
            </a:r>
          </a:p>
        </p:txBody>
      </p:sp>
      <p:sp>
        <p:nvSpPr>
          <p:cNvPr id="27" name="s14-text-26">
            <a:extLst xmlns:a="http://schemas.openxmlformats.org/drawingml/2006/main">
              <a:ext uri="{FF2B5EF4-FFF2-40B4-BE49-F238E27FC236}">
                <a16:creationId xmlns:a16="http://schemas.microsoft.com/office/drawing/2014/main" id="{025764D5-C5FC-49A2-A4BD-5E7D4FB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340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标准是否被学生理解？</a:t>
            </a:r>
          </a:p>
        </p:txBody>
      </p:sp>
      <p:sp>
        <p:nvSpPr>
          <p:cNvPr id="28" name="s14-rect-27">
            <a:extLst xmlns:a="http://schemas.openxmlformats.org/drawingml/2006/main">
              <a:ext uri="{FF2B5EF4-FFF2-40B4-BE49-F238E27FC236}">
                <a16:creationId xmlns:a16="http://schemas.microsoft.com/office/drawing/2014/main" id="{6D383F00-ACB1-4147-AF23-34920C1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9" name="s14-footer-28">
            <a:extLst xmlns:a="http://schemas.openxmlformats.org/drawingml/2006/main">
              <a:ext uri="{FF2B5EF4-FFF2-40B4-BE49-F238E27FC236}">
                <a16:creationId xmlns:a16="http://schemas.microsoft.com/office/drawing/2014/main" id="{8DB92D1B-B04E-43D6-B21C-891485A7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30" name="s14-footer-29">
            <a:extLst xmlns:a="http://schemas.openxmlformats.org/drawingml/2006/main">
              <a:ext uri="{FF2B5EF4-FFF2-40B4-BE49-F238E27FC236}">
                <a16:creationId xmlns:a16="http://schemas.microsoft.com/office/drawing/2014/main" id="{F1B8A3F9-3A20-4152-A3F1-2BC97CDA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102904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15-text-0">
            <a:extLst xmlns:a="http://schemas.openxmlformats.org/drawingml/2006/main">
              <a:ext uri="{FF2B5EF4-FFF2-40B4-BE49-F238E27FC236}">
                <a16:creationId xmlns:a16="http://schemas.microsoft.com/office/drawing/2014/main" id="{3087805C-A229-4C7A-B94E-ADEAC3A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8f9c99edb42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5-title-2">
            <a:extLst xmlns:a="http://schemas.openxmlformats.org/drawingml/2006/main">
              <a:ext uri="{FF2B5EF4-FFF2-40B4-BE49-F238E27FC236}">
                <a16:creationId xmlns:a16="http://schemas.microsoft.com/office/drawing/2014/main" id="{21643760-173B-4F17-9A72-C701665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提示词写好了，课堂还没安排好</a:t>
            </a:r>
          </a:p>
        </p:txBody>
      </p:sp>
      <p:sp>
        <p:nvSpPr>
          <p:cNvPr id="4" name="s15-text-3">
            <a:extLst xmlns:a="http://schemas.openxmlformats.org/drawingml/2006/main">
              <a:ext uri="{FF2B5EF4-FFF2-40B4-BE49-F238E27FC236}">
                <a16:creationId xmlns:a16="http://schemas.microsoft.com/office/drawing/2014/main" id="{3EE4A3B3-8EBC-42C9-941A-692B8A47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学生经历怎样的学习，还取决于流程、界面和课堂互动。</a:t>
            </a:r>
          </a:p>
        </p:txBody>
      </p:sp>
      <p:sp>
        <p:nvSpPr>
          <p:cNvPr id="5" name="s15-rect-4">
            <a:extLst xmlns:a="http://schemas.openxmlformats.org/drawingml/2006/main">
              <a:ext uri="{FF2B5EF4-FFF2-40B4-BE49-F238E27FC236}">
                <a16:creationId xmlns:a16="http://schemas.microsoft.com/office/drawing/2014/main" id="{2E55A6D1-757E-4FB0-9C6C-BBF93ACC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5-text-5">
            <a:extLst xmlns:a="http://schemas.openxmlformats.org/drawingml/2006/main">
              <a:ext uri="{FF2B5EF4-FFF2-40B4-BE49-F238E27FC236}">
                <a16:creationId xmlns:a16="http://schemas.microsoft.com/office/drawing/2014/main" id="{6414E06A-E592-43B6-A4FA-EBE914C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模型与提示</a:t>
            </a:r>
          </a:p>
        </p:txBody>
      </p:sp>
      <p:sp>
        <p:nvSpPr>
          <p:cNvPr id="7" name="s15-text-6">
            <a:extLst xmlns:a="http://schemas.openxmlformats.org/drawingml/2006/main">
              <a:ext uri="{FF2B5EF4-FFF2-40B4-BE49-F238E27FC236}">
                <a16:creationId xmlns:a16="http://schemas.microsoft.com/office/drawing/2014/main" id="{146229FD-887D-47F8-957F-686427F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AI能够做什么、被要求怎样回应</a:t>
            </a:r>
          </a:p>
        </p:txBody>
      </p:sp>
      <p:sp>
        <p:nvSpPr>
          <p:cNvPr id="8" name="s15-rect-7">
            <a:extLst xmlns:a="http://schemas.openxmlformats.org/drawingml/2006/main">
              <a:ext uri="{FF2B5EF4-FFF2-40B4-BE49-F238E27FC236}">
                <a16:creationId xmlns:a16="http://schemas.microsoft.com/office/drawing/2014/main" id="{541390D4-E488-4FD6-AB3A-62E93281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15-text-8">
            <a:extLst xmlns:a="http://schemas.openxmlformats.org/drawingml/2006/main">
              <a:ext uri="{FF2B5EF4-FFF2-40B4-BE49-F238E27FC236}">
                <a16:creationId xmlns:a16="http://schemas.microsoft.com/office/drawing/2014/main" id="{9AAFD911-ADC5-4931-B84A-FC7F3DB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角色与流程</a:t>
            </a:r>
          </a:p>
        </p:txBody>
      </p:sp>
      <p:sp>
        <p:nvSpPr>
          <p:cNvPr id="10" name="s15-text-9">
            <a:extLst xmlns:a="http://schemas.openxmlformats.org/drawingml/2006/main">
              <a:ext uri="{FF2B5EF4-FFF2-40B4-BE49-F238E27FC236}">
                <a16:creationId xmlns:a16="http://schemas.microsoft.com/office/drawing/2014/main" id="{3D017364-E94B-41D8-AEE4-80AE427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何时调用、依次经过哪些活动、谁负责回应</a:t>
            </a:r>
          </a:p>
        </p:txBody>
      </p:sp>
      <p:sp>
        <p:nvSpPr>
          <p:cNvPr id="11" name="s15-rect-10">
            <a:extLst xmlns:a="http://schemas.openxmlformats.org/drawingml/2006/main">
              <a:ext uri="{FF2B5EF4-FFF2-40B4-BE49-F238E27FC236}">
                <a16:creationId xmlns:a16="http://schemas.microsoft.com/office/drawing/2014/main" id="{2EE409EE-E343-4920-BBFF-051E49D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15-text-11">
            <a:extLst xmlns:a="http://schemas.openxmlformats.org/drawingml/2006/main">
              <a:ext uri="{FF2B5EF4-FFF2-40B4-BE49-F238E27FC236}">
                <a16:creationId xmlns:a16="http://schemas.microsoft.com/office/drawing/2014/main" id="{244380A7-D7A1-473F-80F4-32CFF2C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界面与课堂</a:t>
            </a:r>
          </a:p>
        </p:txBody>
      </p:sp>
      <p:sp>
        <p:nvSpPr>
          <p:cNvPr id="13" name="s15-text-12">
            <a:extLst xmlns:a="http://schemas.openxmlformats.org/drawingml/2006/main">
              <a:ext uri="{FF2B5EF4-FFF2-40B4-BE49-F238E27FC236}">
                <a16:creationId xmlns:a16="http://schemas.microsoft.com/office/drawing/2014/main" id="{2AD73D1E-A17B-4693-A65C-7D54B96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2920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看见什么、必须提交什么、教师和同伴怎样介入</a:t>
            </a:r>
          </a:p>
        </p:txBody>
      </p:sp>
      <p:sp>
        <p:nvSpPr>
          <p:cNvPr id="14" name="s15-rect-13">
            <a:extLst xmlns:a="http://schemas.openxmlformats.org/drawingml/2006/main">
              <a:ext uri="{FF2B5EF4-FFF2-40B4-BE49-F238E27FC236}">
                <a16:creationId xmlns:a16="http://schemas.microsoft.com/office/drawing/2014/main" id="{2E808CF0-06F0-4DCB-8C28-6FD3E3C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15-text-14">
            <a:extLst xmlns:a="http://schemas.openxmlformats.org/drawingml/2006/main">
              <a:ext uri="{FF2B5EF4-FFF2-40B4-BE49-F238E27FC236}">
                <a16:creationId xmlns:a16="http://schemas.microsoft.com/office/drawing/2014/main" id="{7435E356-FDFC-46ED-B8F5-3070DAF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学生实际上做了什么，要到课堂里看。</a:t>
            </a:r>
          </a:p>
        </p:txBody>
      </p:sp>
      <p:sp>
        <p:nvSpPr>
          <p:cNvPr id="16" name="s15-footer-15">
            <a:extLst xmlns:a="http://schemas.openxmlformats.org/drawingml/2006/main">
              <a:ext uri="{FF2B5EF4-FFF2-40B4-BE49-F238E27FC236}">
                <a16:creationId xmlns:a16="http://schemas.microsoft.com/office/drawing/2014/main" id="{DCCBC94C-A708-483B-8A41-3C911C4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15-footer-16">
            <a:extLst xmlns:a="http://schemas.openxmlformats.org/drawingml/2006/main">
              <a:ext uri="{FF2B5EF4-FFF2-40B4-BE49-F238E27FC236}">
                <a16:creationId xmlns:a16="http://schemas.microsoft.com/office/drawing/2014/main" id="{6B42E999-115E-47F2-A2E6-1D297CAE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614717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16-text-0">
            <a:extLst xmlns:a="http://schemas.openxmlformats.org/drawingml/2006/main">
              <a:ext uri="{FF2B5EF4-FFF2-40B4-BE49-F238E27FC236}">
                <a16:creationId xmlns:a16="http://schemas.microsoft.com/office/drawing/2014/main" id="{DDEBF339-8060-44C6-A8C0-3047B45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cc542563541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6-title-2">
            <a:extLst xmlns:a="http://schemas.openxmlformats.org/drawingml/2006/main">
              <a:ext uri="{FF2B5EF4-FFF2-40B4-BE49-F238E27FC236}">
                <a16:creationId xmlns:a16="http://schemas.microsoft.com/office/drawing/2014/main" id="{78F7733D-B79A-42E1-B05F-7920176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给出答案之后，还可以怎样教？</a:t>
            </a:r>
          </a:p>
        </p:txBody>
      </p:sp>
      <p:sp>
        <p:nvSpPr>
          <p:cNvPr id="4" name="s16-text-3">
            <a:extLst xmlns:a="http://schemas.openxmlformats.org/drawingml/2006/main">
              <a:ext uri="{FF2B5EF4-FFF2-40B4-BE49-F238E27FC236}">
                <a16:creationId xmlns:a16="http://schemas.microsoft.com/office/drawing/2014/main" id="{5A371730-C6D6-4A1A-B631-FFD8E24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完整方案可以用来学设计，关键在后续任务。</a:t>
            </a:r>
          </a:p>
        </p:txBody>
      </p:sp>
      <p:sp>
        <p:nvSpPr>
          <p:cNvPr id="5" name="s16-rect-4">
            <a:extLst xmlns:a="http://schemas.openxmlformats.org/drawingml/2006/main">
              <a:ext uri="{FF2B5EF4-FFF2-40B4-BE49-F238E27FC236}">
                <a16:creationId xmlns:a16="http://schemas.microsoft.com/office/drawing/2014/main" id="{AF6C64E8-4062-484F-BD2D-7AA44EDF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6-text-5">
            <a:extLst xmlns:a="http://schemas.openxmlformats.org/drawingml/2006/main">
              <a:ext uri="{FF2B5EF4-FFF2-40B4-BE49-F238E27FC236}">
                <a16:creationId xmlns:a16="http://schemas.microsoft.com/office/drawing/2014/main" id="{2A17A7A8-E8F4-41F7-A634-6E590A8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比较</a:t>
            </a:r>
          </a:p>
        </p:txBody>
      </p:sp>
      <p:sp>
        <p:nvSpPr>
          <p:cNvPr id="7" name="s16-text-6">
            <a:extLst xmlns:a="http://schemas.openxmlformats.org/drawingml/2006/main">
              <a:ext uri="{FF2B5EF4-FFF2-40B4-BE49-F238E27FC236}">
                <a16:creationId xmlns:a16="http://schemas.microsoft.com/office/drawing/2014/main" id="{D2D2AE7C-20F0-4264-B4C2-4E53D04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两份方案的假设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和证据要求有什么不同？</a:t>
            </a:r>
          </a:p>
        </p:txBody>
      </p:sp>
      <p:sp>
        <p:nvSpPr>
          <p:cNvPr id="8" name="s16-rect-7">
            <a:extLst xmlns:a="http://schemas.openxmlformats.org/drawingml/2006/main">
              <a:ext uri="{FF2B5EF4-FFF2-40B4-BE49-F238E27FC236}">
                <a16:creationId xmlns:a16="http://schemas.microsoft.com/office/drawing/2014/main" id="{73437B2C-3559-4F0A-AC09-D6C3D4F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16-text-8">
            <a:extLst xmlns:a="http://schemas.openxmlformats.org/drawingml/2006/main">
              <a:ext uri="{FF2B5EF4-FFF2-40B4-BE49-F238E27FC236}">
                <a16:creationId xmlns:a16="http://schemas.microsoft.com/office/drawing/2014/main" id="{69BC860E-C08C-4B47-BEC1-FDD3FF9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10" name="s16-text-9">
            <a:extLst xmlns:a="http://schemas.openxmlformats.org/drawingml/2006/main">
              <a:ext uri="{FF2B5EF4-FFF2-40B4-BE49-F238E27FC236}">
                <a16:creationId xmlns:a16="http://schemas.microsoft.com/office/drawing/2014/main" id="{74231BD6-288D-4A0E-A0FA-4064683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为什么这样控制变量？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还有哪些解释没有排除？</a:t>
            </a:r>
          </a:p>
        </p:txBody>
      </p:sp>
      <p:sp>
        <p:nvSpPr>
          <p:cNvPr id="11" name="s16-rect-10">
            <a:extLst xmlns:a="http://schemas.openxmlformats.org/drawingml/2006/main">
              <a:ext uri="{FF2B5EF4-FFF2-40B4-BE49-F238E27FC236}">
                <a16:creationId xmlns:a16="http://schemas.microsoft.com/office/drawing/2014/main" id="{D50679DA-667E-4ABF-B62B-4974923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16-text-11">
            <a:extLst xmlns:a="http://schemas.openxmlformats.org/drawingml/2006/main">
              <a:ext uri="{FF2B5EF4-FFF2-40B4-BE49-F238E27FC236}">
                <a16:creationId xmlns:a16="http://schemas.microsoft.com/office/drawing/2014/main" id="{1B345A54-80C4-428A-9E23-C9D5A0C7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运用</a:t>
            </a:r>
          </a:p>
        </p:txBody>
      </p:sp>
      <p:sp>
        <p:nvSpPr>
          <p:cNvPr id="13" name="s16-text-12">
            <a:extLst xmlns:a="http://schemas.openxmlformats.org/drawingml/2006/main">
              <a:ext uri="{FF2B5EF4-FFF2-40B4-BE49-F238E27FC236}">
                <a16:creationId xmlns:a16="http://schemas.microsoft.com/office/drawing/2014/main" id="{87DB033D-DBE0-4CEF-97E3-E58D989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条件变了以后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哪些做法需要重新设计？</a:t>
            </a:r>
          </a:p>
        </p:txBody>
      </p:sp>
      <p:sp>
        <p:nvSpPr>
          <p:cNvPr id="14" name="s16-rect-13">
            <a:extLst xmlns:a="http://schemas.openxmlformats.org/drawingml/2006/main">
              <a:ext uri="{FF2B5EF4-FFF2-40B4-BE49-F238E27FC236}">
                <a16:creationId xmlns:a16="http://schemas.microsoft.com/office/drawing/2014/main" id="{C3FCEF96-243A-4F35-ACCF-71D4AC3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16-text-14">
            <a:extLst xmlns:a="http://schemas.openxmlformats.org/drawingml/2006/main">
              <a:ext uri="{FF2B5EF4-FFF2-40B4-BE49-F238E27FC236}">
                <a16:creationId xmlns:a16="http://schemas.microsoft.com/office/drawing/2014/main" id="{0F4408C0-AD1A-4FA2-AF58-12A0E7FD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看过答案后，学生需要解释、比较或重新设计什么？</a:t>
            </a:r>
          </a:p>
        </p:txBody>
      </p:sp>
      <p:sp>
        <p:nvSpPr>
          <p:cNvPr id="16" name="s16-footer-15">
            <a:extLst xmlns:a="http://schemas.openxmlformats.org/drawingml/2006/main">
              <a:ext uri="{FF2B5EF4-FFF2-40B4-BE49-F238E27FC236}">
                <a16:creationId xmlns:a16="http://schemas.microsoft.com/office/drawing/2014/main" id="{39FEE415-B69D-4992-8B76-9C36AE2E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16-footer-16">
            <a:extLst xmlns:a="http://schemas.openxmlformats.org/drawingml/2006/main">
              <a:ext uri="{FF2B5EF4-FFF2-40B4-BE49-F238E27FC236}">
                <a16:creationId xmlns:a16="http://schemas.microsoft.com/office/drawing/2014/main" id="{BC0B6544-1F38-43E6-9BC8-F481E79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5212111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17-text-0">
            <a:extLst xmlns:a="http://schemas.openxmlformats.org/drawingml/2006/main">
              <a:ext uri="{FF2B5EF4-FFF2-40B4-BE49-F238E27FC236}">
                <a16:creationId xmlns:a16="http://schemas.microsoft.com/office/drawing/2014/main" id="{ADB46856-9D48-4129-9EA0-EFACC5E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讨论情境 · 连续追问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29e87b1c47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7-title-2">
            <a:extLst xmlns:a="http://schemas.openxmlformats.org/drawingml/2006/main">
              <a:ext uri="{FF2B5EF4-FFF2-40B4-BE49-F238E27FC236}">
                <a16:creationId xmlns:a16="http://schemas.microsoft.com/office/drawing/2014/main" id="{057293C3-7B10-4672-B68F-2BBB7C9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AI问了十轮，学生可能仍在填空</a:t>
            </a:r>
          </a:p>
        </p:txBody>
      </p:sp>
      <p:sp>
        <p:nvSpPr>
          <p:cNvPr id="4" name="s17-text-3">
            <a:extLst xmlns:a="http://schemas.openxmlformats.org/drawingml/2006/main">
              <a:ext uri="{FF2B5EF4-FFF2-40B4-BE49-F238E27FC236}">
                <a16:creationId xmlns:a16="http://schemas.microsoft.com/office/drawing/2014/main" id="{1BAA8EBD-C105-49A5-8486-D99405F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问题、步骤、标准都定好了，学生只需补上几个词。</a:t>
            </a:r>
          </a:p>
        </p:txBody>
      </p:sp>
      <p:sp>
        <p:nvSpPr>
          <p:cNvPr id="5" name="s17-text-4">
            <a:extLst xmlns:a="http://schemas.openxmlformats.org/drawingml/2006/main">
              <a:ext uri="{FF2B5EF4-FFF2-40B4-BE49-F238E27FC236}">
                <a16:creationId xmlns:a16="http://schemas.microsoft.com/office/drawing/2014/main" id="{34D96C26-A6AE-4822-8760-052D1647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表面很热闹</a:t>
            </a:r>
          </a:p>
        </p:txBody>
      </p:sp>
      <p:sp>
        <p:nvSpPr>
          <p:cNvPr id="6" name="s17-text-5">
            <a:extLst xmlns:a="http://schemas.openxmlformats.org/drawingml/2006/main">
              <a:ext uri="{FF2B5EF4-FFF2-40B4-BE49-F238E27FC236}">
                <a16:creationId xmlns:a16="http://schemas.microsoft.com/office/drawing/2014/main" id="{ABB2ACC7-08A1-40A9-855D-1CB13AD9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05175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学生一直回答，却没有选择方法或提出新问题</a:t>
            </a:r>
          </a:p>
        </p:txBody>
      </p:sp>
      <p:sp>
        <p:nvSpPr>
          <p:cNvPr id="7" name="s17-text-6">
            <a:extLst xmlns:a="http://schemas.openxmlformats.org/drawingml/2006/main">
              <a:ext uri="{FF2B5EF4-FFF2-40B4-BE49-F238E27FC236}">
                <a16:creationId xmlns:a16="http://schemas.microsoft.com/office/drawing/2014/main" id="{E2B92DFF-BAE5-4471-B576-CE46658C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追问一处</a:t>
            </a:r>
          </a:p>
        </p:txBody>
      </p:sp>
      <p:sp>
        <p:nvSpPr>
          <p:cNvPr id="8" name="s17-text-7">
            <a:extLst xmlns:a="http://schemas.openxmlformats.org/drawingml/2006/main">
              <a:ext uri="{FF2B5EF4-FFF2-40B4-BE49-F238E27FC236}">
                <a16:creationId xmlns:a16="http://schemas.microsoft.com/office/drawing/2014/main" id="{F88C84F8-9D04-4383-848C-ADC872B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38650"/>
            <a:ext cx="7743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让学生解释整条思路，或换一个条件重新判断</a:t>
            </a:r>
          </a:p>
        </p:txBody>
      </p:sp>
      <p:sp>
        <p:nvSpPr>
          <p:cNvPr id="9" name="s17-rect-8">
            <a:extLst xmlns:a="http://schemas.openxmlformats.org/drawingml/2006/main">
              <a:ext uri="{FF2B5EF4-FFF2-40B4-BE49-F238E27FC236}">
                <a16:creationId xmlns:a16="http://schemas.microsoft.com/office/drawing/2014/main" id="{B0F1592C-614A-4B25-AA2C-5EB1C50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0" name="s17-text-9">
            <a:extLst xmlns:a="http://schemas.openxmlformats.org/drawingml/2006/main">
              <a:ext uri="{FF2B5EF4-FFF2-40B4-BE49-F238E27FC236}">
                <a16:creationId xmlns:a16="http://schemas.microsoft.com/office/drawing/2014/main" id="{44B81C9F-BF34-416B-BDC7-822BA87B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对话次数告诉我们说了多少，解释质量才帮助判断理解。</a:t>
            </a:r>
          </a:p>
        </p:txBody>
      </p:sp>
      <p:sp>
        <p:nvSpPr>
          <p:cNvPr id="11" name="s17-footer-10">
            <a:extLst xmlns:a="http://schemas.openxmlformats.org/drawingml/2006/main">
              <a:ext uri="{FF2B5EF4-FFF2-40B4-BE49-F238E27FC236}">
                <a16:creationId xmlns:a16="http://schemas.microsoft.com/office/drawing/2014/main" id="{B39E373F-3657-4235-8F1D-7A23F1B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2" name="s17-footer-11">
            <a:extLst xmlns:a="http://schemas.openxmlformats.org/drawingml/2006/main">
              <a:ext uri="{FF2B5EF4-FFF2-40B4-BE49-F238E27FC236}">
                <a16:creationId xmlns:a16="http://schemas.microsoft.com/office/drawing/2014/main" id="{9D99A506-8C6B-4020-BFFA-333F54A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19283434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18-text-0">
            <a:extLst xmlns:a="http://schemas.openxmlformats.org/drawingml/2006/main">
              <a:ext uri="{FF2B5EF4-FFF2-40B4-BE49-F238E27FC236}">
                <a16:creationId xmlns:a16="http://schemas.microsoft.com/office/drawing/2014/main" id="{8D2661E0-5F3A-4463-B285-A92BCD9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0d67f9d2840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8-title-2">
            <a:extLst xmlns:a="http://schemas.openxmlformats.org/drawingml/2006/main">
              <a:ext uri="{FF2B5EF4-FFF2-40B4-BE49-F238E27FC236}">
                <a16:creationId xmlns:a16="http://schemas.microsoft.com/office/drawing/2014/main" id="{314C9138-73B3-4FDD-918C-C0B3C44E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支持何时增减，要看学生表现</a:t>
            </a:r>
          </a:p>
        </p:txBody>
      </p:sp>
      <p:sp>
        <p:nvSpPr>
          <p:cNvPr id="4" name="s18-text-3">
            <a:extLst xmlns:a="http://schemas.openxmlformats.org/drawingml/2006/main">
              <a:ext uri="{FF2B5EF4-FFF2-40B4-BE49-F238E27FC236}">
                <a16:creationId xmlns:a16="http://schemas.microsoft.com/office/drawing/2014/main" id="{586B9B08-2312-4C2E-8153-D87C367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实验设计可以这样安排，也可以根据困难退回一步。</a:t>
            </a:r>
          </a:p>
        </p:txBody>
      </p:sp>
      <p:sp>
        <p:nvSpPr>
          <p:cNvPr id="5" name="s18-rect-4">
            <a:extLst xmlns:a="http://schemas.openxmlformats.org/drawingml/2006/main">
              <a:ext uri="{FF2B5EF4-FFF2-40B4-BE49-F238E27FC236}">
                <a16:creationId xmlns:a16="http://schemas.microsoft.com/office/drawing/2014/main" id="{99B667F9-DD19-4010-A571-D95D2098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18-text-5">
            <a:extLst xmlns:a="http://schemas.openxmlformats.org/drawingml/2006/main">
              <a:ext uri="{FF2B5EF4-FFF2-40B4-BE49-F238E27FC236}">
                <a16:creationId xmlns:a16="http://schemas.microsoft.com/office/drawing/2014/main" id="{944F4A50-4E16-4A3A-B20E-E83E608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初次接触</a:t>
            </a:r>
          </a:p>
        </p:txBody>
      </p:sp>
      <p:sp>
        <p:nvSpPr>
          <p:cNvPr id="7" name="s18-text-6">
            <a:extLst xmlns:a="http://schemas.openxmlformats.org/drawingml/2006/main">
              <a:ext uri="{FF2B5EF4-FFF2-40B4-BE49-F238E27FC236}">
                <a16:creationId xmlns:a16="http://schemas.microsoft.com/office/drawing/2014/main" id="{7566D275-DC7F-4FE1-B828-6765572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借助示范读懂结构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学生解释关键步骤</a:t>
            </a:r>
          </a:p>
        </p:txBody>
      </p:sp>
      <p:sp>
        <p:nvSpPr>
          <p:cNvPr id="8" name="s18-rect-7">
            <a:extLst xmlns:a="http://schemas.openxmlformats.org/drawingml/2006/main">
              <a:ext uri="{FF2B5EF4-FFF2-40B4-BE49-F238E27FC236}">
                <a16:creationId xmlns:a16="http://schemas.microsoft.com/office/drawing/2014/main" id="{F22CC268-C5DB-4597-9A2A-7B48540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18-text-8">
            <a:extLst xmlns:a="http://schemas.openxmlformats.org/drawingml/2006/main">
              <a:ext uri="{FF2B5EF4-FFF2-40B4-BE49-F238E27FC236}">
                <a16:creationId xmlns:a16="http://schemas.microsoft.com/office/drawing/2014/main" id="{1B29B21B-2F43-483F-A64B-B8B8C656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共同练习</a:t>
            </a:r>
          </a:p>
        </p:txBody>
      </p:sp>
      <p:sp>
        <p:nvSpPr>
          <p:cNvPr id="10" name="s18-text-9">
            <a:extLst xmlns:a="http://schemas.openxmlformats.org/drawingml/2006/main">
              <a:ext uri="{FF2B5EF4-FFF2-40B4-BE49-F238E27FC236}">
                <a16:creationId xmlns:a16="http://schemas.microsoft.com/office/drawing/2014/main" id="{E4935B25-C9E5-4F9F-A336-8FBA0E3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学生起草与比较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AI和同伴提供反馈</a:t>
            </a:r>
          </a:p>
        </p:txBody>
      </p:sp>
      <p:sp>
        <p:nvSpPr>
          <p:cNvPr id="11" name="s18-rect-10">
            <a:extLst xmlns:a="http://schemas.openxmlformats.org/drawingml/2006/main">
              <a:ext uri="{FF2B5EF4-FFF2-40B4-BE49-F238E27FC236}">
                <a16:creationId xmlns:a16="http://schemas.microsoft.com/office/drawing/2014/main" id="{0CB80DF4-44A6-4699-A757-3A95845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18-text-11">
            <a:extLst xmlns:a="http://schemas.openxmlformats.org/drawingml/2006/main">
              <a:ext uri="{FF2B5EF4-FFF2-40B4-BE49-F238E27FC236}">
                <a16:creationId xmlns:a16="http://schemas.microsoft.com/office/drawing/2014/main" id="{32EC159E-7EB7-4295-BC53-4B1618C8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新情境运用</a:t>
            </a:r>
          </a:p>
        </p:txBody>
      </p:sp>
      <p:sp>
        <p:nvSpPr>
          <p:cNvPr id="13" name="s18-text-12">
            <a:extLst xmlns:a="http://schemas.openxmlformats.org/drawingml/2006/main">
              <a:ext uri="{FF2B5EF4-FFF2-40B4-BE49-F238E27FC236}">
                <a16:creationId xmlns:a16="http://schemas.microsoft.com/office/drawing/2014/main" id="{850C2380-C84E-4493-916B-5D1DF6FE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学生选择策略与支持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说明何时需要AI</a:t>
            </a:r>
          </a:p>
        </p:txBody>
      </p:sp>
      <p:sp>
        <p:nvSpPr>
          <p:cNvPr id="14" name="s18-rect-13">
            <a:extLst xmlns:a="http://schemas.openxmlformats.org/drawingml/2006/main">
              <a:ext uri="{FF2B5EF4-FFF2-40B4-BE49-F238E27FC236}">
                <a16:creationId xmlns:a16="http://schemas.microsoft.com/office/drawing/2014/main" id="{92356565-57FE-47B0-9EB9-E51074B9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5" name="s18-text-14">
            <a:extLst xmlns:a="http://schemas.openxmlformats.org/drawingml/2006/main">
              <a:ext uri="{FF2B5EF4-FFF2-40B4-BE49-F238E27FC236}">
                <a16:creationId xmlns:a16="http://schemas.microsoft.com/office/drawing/2014/main" id="{DE5DBCCF-74E0-4739-AFB7-07F1B823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学生还卡在哪里？哪一步已经可以自己承担？</a:t>
            </a:r>
          </a:p>
        </p:txBody>
      </p:sp>
      <p:sp>
        <p:nvSpPr>
          <p:cNvPr id="16" name="s18-footer-15">
            <a:extLst xmlns:a="http://schemas.openxmlformats.org/drawingml/2006/main">
              <a:ext uri="{FF2B5EF4-FFF2-40B4-BE49-F238E27FC236}">
                <a16:creationId xmlns:a16="http://schemas.microsoft.com/office/drawing/2014/main" id="{A80B2A9E-4C98-4E90-994E-07EC9F9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7" name="s18-footer-16">
            <a:extLst xmlns:a="http://schemas.openxmlformats.org/drawingml/2006/main">
              <a:ext uri="{FF2B5EF4-FFF2-40B4-BE49-F238E27FC236}">
                <a16:creationId xmlns:a16="http://schemas.microsoft.com/office/drawing/2014/main" id="{34FB3A68-88B3-4817-8E6B-6F08F34C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501266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19-text-0">
            <a:extLst xmlns:a="http://schemas.openxmlformats.org/drawingml/2006/main">
              <a:ext uri="{FF2B5EF4-FFF2-40B4-BE49-F238E27FC236}">
                <a16:creationId xmlns:a16="http://schemas.microsoft.com/office/drawing/2014/main" id="{B37467A4-F300-47EE-B7AE-BEC55BD3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人机合作的安排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0ae56a9304b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19-title-2">
            <a:extLst xmlns:a="http://schemas.openxmlformats.org/drawingml/2006/main">
              <a:ext uri="{FF2B5EF4-FFF2-40B4-BE49-F238E27FC236}">
                <a16:creationId xmlns:a16="http://schemas.microsoft.com/office/drawing/2014/main" id="{5F1EF761-3237-4AF0-BF0B-C7FD191C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先示范还是先尝试？要看教谁、教什么</a:t>
            </a:r>
          </a:p>
        </p:txBody>
      </p:sp>
      <p:sp>
        <p:nvSpPr>
          <p:cNvPr id="4" name="s19-text-3">
            <a:extLst xmlns:a="http://schemas.openxmlformats.org/drawingml/2006/main">
              <a:ext uri="{FF2B5EF4-FFF2-40B4-BE49-F238E27FC236}">
                <a16:creationId xmlns:a16="http://schemas.microsoft.com/office/drawing/2014/main" id="{4D216A4E-7C63-4091-B62E-92ACACCB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同一个探究问题，可以有不同的教学顺序。</a:t>
            </a:r>
          </a:p>
        </p:txBody>
      </p:sp>
      <p:sp>
        <p:nvSpPr>
          <p:cNvPr id="5" name="s19-rect-4">
            <a:extLst xmlns:a="http://schemas.openxmlformats.org/drawingml/2006/main">
              <a:ext uri="{FF2B5EF4-FFF2-40B4-BE49-F238E27FC236}">
                <a16:creationId xmlns:a16="http://schemas.microsoft.com/office/drawing/2014/main" id="{DD856635-3557-492F-B1B6-5297B91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820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</a:ln>
        </p:spPr>
      </p:sp>
      <p:sp>
        <p:nvSpPr>
          <p:cNvPr id="6" name="s19-text-5">
            <a:extLst xmlns:a="http://schemas.openxmlformats.org/drawingml/2006/main">
              <a:ext uri="{FF2B5EF4-FFF2-40B4-BE49-F238E27FC236}">
                <a16:creationId xmlns:a16="http://schemas.microsoft.com/office/drawing/2014/main" id="{0702F034-317A-4E2C-9391-A04011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安排</a:t>
            </a:r>
          </a:p>
        </p:txBody>
      </p:sp>
      <p:sp>
        <p:nvSpPr>
          <p:cNvPr id="7" name="s19-text-6">
            <a:extLst xmlns:a="http://schemas.openxmlformats.org/drawingml/2006/main">
              <a:ext uri="{FF2B5EF4-FFF2-40B4-BE49-F238E27FC236}">
                <a16:creationId xmlns:a16="http://schemas.microsoft.com/office/drawing/2014/main" id="{77D1A97A-23C4-4D28-9B42-0B18D80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1462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期待发生的学习</a:t>
            </a:r>
          </a:p>
        </p:txBody>
      </p:sp>
      <p:sp>
        <p:nvSpPr>
          <p:cNvPr id="8" name="s19-text-7">
            <a:extLst xmlns:a="http://schemas.openxmlformats.org/drawingml/2006/main">
              <a:ext uri="{FF2B5EF4-FFF2-40B4-BE49-F238E27FC236}">
                <a16:creationId xmlns:a16="http://schemas.microsoft.com/office/drawing/2014/main" id="{72F0EBAB-7701-480C-A4CF-F722CA92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1462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要寻找的证据</a:t>
            </a:r>
          </a:p>
        </p:txBody>
      </p:sp>
      <p:sp>
        <p:nvSpPr>
          <p:cNvPr id="9" name="s19-text-8">
            <a:extLst xmlns:a="http://schemas.openxmlformats.org/drawingml/2006/main">
              <a:ext uri="{FF2B5EF4-FFF2-40B4-BE49-F238E27FC236}">
                <a16:creationId xmlns:a16="http://schemas.microsoft.com/office/drawing/2014/main" id="{18D438B2-7BBD-4077-B318-F6923A0F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AI先示范</a:t>
            </a:r>
          </a:p>
        </p:txBody>
      </p:sp>
      <p:sp>
        <p:nvSpPr>
          <p:cNvPr id="10" name="s19-text-9">
            <a:extLst xmlns:a="http://schemas.openxmlformats.org/drawingml/2006/main">
              <a:ext uri="{FF2B5EF4-FFF2-40B4-BE49-F238E27FC236}">
                <a16:creationId xmlns:a16="http://schemas.microsoft.com/office/drawing/2014/main" id="{10842118-7302-4E2A-AC73-49242804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学生读懂设计逻辑</a:t>
            </a:r>
          </a:p>
        </p:txBody>
      </p:sp>
      <p:sp>
        <p:nvSpPr>
          <p:cNvPr id="11" name="s19-text-10">
            <a:extLst xmlns:a="http://schemas.openxmlformats.org/drawingml/2006/main">
              <a:ext uri="{FF2B5EF4-FFF2-40B4-BE49-F238E27FC236}">
                <a16:creationId xmlns:a16="http://schemas.microsoft.com/office/drawing/2014/main" id="{211787BB-8440-4822-847A-55F7E37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766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能解释并调整关键步骤</a:t>
            </a:r>
          </a:p>
        </p:txBody>
      </p:sp>
      <p:sp>
        <p:nvSpPr>
          <p:cNvPr id="12" name="s19-rect-11">
            <a:extLst xmlns:a="http://schemas.openxmlformats.org/drawingml/2006/main">
              <a:ext uri="{FF2B5EF4-FFF2-40B4-BE49-F238E27FC236}">
                <a16:creationId xmlns:a16="http://schemas.microsoft.com/office/drawing/2014/main" id="{3BB40B83-E992-47F3-A120-34C60F7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3" name="s19-text-12">
            <a:extLst xmlns:a="http://schemas.openxmlformats.org/drawingml/2006/main">
              <a:ext uri="{FF2B5EF4-FFF2-40B4-BE49-F238E27FC236}">
                <a16:creationId xmlns:a16="http://schemas.microsoft.com/office/drawing/2014/main" id="{985CBB70-DE57-41E9-AC13-73891DE2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学生先尝试</a:t>
            </a:r>
          </a:p>
        </p:txBody>
      </p:sp>
      <p:sp>
        <p:nvSpPr>
          <p:cNvPr id="14" name="s19-text-13">
            <a:extLst xmlns:a="http://schemas.openxmlformats.org/drawingml/2006/main">
              <a:ext uri="{FF2B5EF4-FFF2-40B4-BE49-F238E27FC236}">
                <a16:creationId xmlns:a16="http://schemas.microsoft.com/office/drawing/2014/main" id="{43A47665-A314-442A-9230-7916216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暴露想法，再修订方案</a:t>
            </a:r>
          </a:p>
        </p:txBody>
      </p:sp>
      <p:sp>
        <p:nvSpPr>
          <p:cNvPr id="15" name="s19-text-14">
            <a:extLst xmlns:a="http://schemas.openxmlformats.org/drawingml/2006/main">
              <a:ext uri="{FF2B5EF4-FFF2-40B4-BE49-F238E27FC236}">
                <a16:creationId xmlns:a16="http://schemas.microsoft.com/office/drawing/2014/main" id="{B4B24A9A-5BB8-42F9-B39E-727F0F2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1148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修改有依据，超出措辞变化</a:t>
            </a:r>
          </a:p>
        </p:txBody>
      </p:sp>
      <p:sp>
        <p:nvSpPr>
          <p:cNvPr id="16" name="s19-rect-15">
            <a:extLst xmlns:a="http://schemas.openxmlformats.org/drawingml/2006/main">
              <a:ext uri="{FF2B5EF4-FFF2-40B4-BE49-F238E27FC236}">
                <a16:creationId xmlns:a16="http://schemas.microsoft.com/office/drawing/2014/main" id="{FCDFC071-6654-411B-B1DD-35EEEF8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7" name="s19-text-16">
            <a:extLst xmlns:a="http://schemas.openxmlformats.org/drawingml/2006/main">
              <a:ext uri="{FF2B5EF4-FFF2-40B4-BE49-F238E27FC236}">
                <a16:creationId xmlns:a16="http://schemas.microsoft.com/office/drawing/2014/main" id="{74783D14-A8F3-42A6-B5D8-D25E575F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多方案比较</a:t>
            </a:r>
          </a:p>
        </p:txBody>
      </p:sp>
      <p:sp>
        <p:nvSpPr>
          <p:cNvPr id="18" name="s19-text-17">
            <a:extLst xmlns:a="http://schemas.openxmlformats.org/drawingml/2006/main">
              <a:ext uri="{FF2B5EF4-FFF2-40B4-BE49-F238E27FC236}">
                <a16:creationId xmlns:a16="http://schemas.microsoft.com/office/drawing/2014/main" id="{3B92AF0C-000F-44E1-8710-41469E7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比较假设与限制条件</a:t>
            </a:r>
          </a:p>
        </p:txBody>
      </p:sp>
      <p:sp>
        <p:nvSpPr>
          <p:cNvPr id="19" name="s19-text-18">
            <a:extLst xmlns:a="http://schemas.openxmlformats.org/drawingml/2006/main">
              <a:ext uri="{FF2B5EF4-FFF2-40B4-BE49-F238E27FC236}">
                <a16:creationId xmlns:a16="http://schemas.microsoft.com/office/drawing/2014/main" id="{DE8C0597-6141-4AB0-8838-CEC09CB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530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取舍依据进入最终决定</a:t>
            </a:r>
          </a:p>
        </p:txBody>
      </p:sp>
      <p:sp>
        <p:nvSpPr>
          <p:cNvPr id="20" name="s19-rect-19">
            <a:extLst xmlns:a="http://schemas.openxmlformats.org/drawingml/2006/main">
              <a:ext uri="{FF2B5EF4-FFF2-40B4-BE49-F238E27FC236}">
                <a16:creationId xmlns:a16="http://schemas.microsoft.com/office/drawing/2014/main" id="{AC64F45B-5AD4-4AF0-AFEF-CB79BD6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1" name="s19-rect-20">
            <a:extLst xmlns:a="http://schemas.openxmlformats.org/drawingml/2006/main">
              <a:ext uri="{FF2B5EF4-FFF2-40B4-BE49-F238E27FC236}">
                <a16:creationId xmlns:a16="http://schemas.microsoft.com/office/drawing/2014/main" id="{7538F713-0FFA-4184-9629-6368AF59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2" name="s19-text-21">
            <a:extLst xmlns:a="http://schemas.openxmlformats.org/drawingml/2006/main">
              <a:ext uri="{FF2B5EF4-FFF2-40B4-BE49-F238E27FC236}">
                <a16:creationId xmlns:a16="http://schemas.microsoft.com/office/drawing/2014/main" id="{5AD1929A-DA1A-4DB1-8FD1-0283AC4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你会为哪一类学生、在哪个阶段选择哪条路径？</a:t>
            </a:r>
          </a:p>
        </p:txBody>
      </p:sp>
      <p:sp>
        <p:nvSpPr>
          <p:cNvPr id="23" name="s19-footer-22">
            <a:extLst xmlns:a="http://schemas.openxmlformats.org/drawingml/2006/main">
              <a:ext uri="{FF2B5EF4-FFF2-40B4-BE49-F238E27FC236}">
                <a16:creationId xmlns:a16="http://schemas.microsoft.com/office/drawing/2014/main" id="{A27D6553-FFB0-455C-8676-76A7C9E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24" name="s19-footer-23">
            <a:extLst xmlns:a="http://schemas.openxmlformats.org/drawingml/2006/main">
              <a:ext uri="{FF2B5EF4-FFF2-40B4-BE49-F238E27FC236}">
                <a16:creationId xmlns:a16="http://schemas.microsoft.com/office/drawing/2014/main" id="{9710344E-1638-4A5B-BB36-CA30177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6675828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0-text-0">
            <a:extLst xmlns:a="http://schemas.openxmlformats.org/drawingml/2006/main">
              <a:ext uri="{FF2B5EF4-FFF2-40B4-BE49-F238E27FC236}">
                <a16:creationId xmlns:a16="http://schemas.microsoft.com/office/drawing/2014/main" id="{F9465B53-020D-4F35-9A0E-8A5C1A6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第二次判断 · 假设课堂补充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6b8e77aa04e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0-title-2">
            <a:extLst xmlns:a="http://schemas.openxmlformats.org/drawingml/2006/main">
              <a:ext uri="{FF2B5EF4-FFF2-40B4-BE49-F238E27FC236}">
                <a16:creationId xmlns:a16="http://schemas.microsoft.com/office/drawing/2014/main" id="{93475711-1998-4783-8A7B-21B2E3A5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同样采用AI方案，两组学得一样吗？</a:t>
            </a:r>
          </a:p>
        </p:txBody>
      </p:sp>
      <p:sp>
        <p:nvSpPr>
          <p:cNvPr id="4" name="s20-text-3">
            <a:extLst xmlns:a="http://schemas.openxmlformats.org/drawingml/2006/main">
              <a:ext uri="{FF2B5EF4-FFF2-40B4-BE49-F238E27FC236}">
                <a16:creationId xmlns:a16="http://schemas.microsoft.com/office/drawing/2014/main" id="{2AC05F81-6BC3-4F15-A9A0-B836767E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一组照着做，理由也照着说。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另一组发现两瓶条件不一致，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125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修改方案并说明了原因。</a:t>
            </a:r>
          </a:p>
        </p:txBody>
      </p:sp>
      <p:sp>
        <p:nvSpPr>
          <p:cNvPr id="5" name="s20-rect-4">
            <a:extLst xmlns:a="http://schemas.openxmlformats.org/drawingml/2006/main">
              <a:ext uri="{FF2B5EF4-FFF2-40B4-BE49-F238E27FC236}">
                <a16:creationId xmlns:a16="http://schemas.microsoft.com/office/drawing/2014/main" id="{2AE15F41-3D54-436F-B028-5B3CB5F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20-text-5">
            <a:extLst xmlns:a="http://schemas.openxmlformats.org/drawingml/2006/main">
              <a:ext uri="{FF2B5EF4-FFF2-40B4-BE49-F238E27FC236}">
                <a16:creationId xmlns:a16="http://schemas.microsoft.com/office/drawing/2014/main" id="{AFC8911C-E60F-49F5-B239-E3D575F4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新信息改变了什么判断？哪些学生的理解还不清楚？</a:t>
            </a:r>
          </a:p>
        </p:txBody>
      </p:sp>
      <p:sp>
        <p:nvSpPr>
          <p:cNvPr id="7" name="s20-footer-6">
            <a:extLst xmlns:a="http://schemas.openxmlformats.org/drawingml/2006/main">
              <a:ext uri="{FF2B5EF4-FFF2-40B4-BE49-F238E27FC236}">
                <a16:creationId xmlns:a16="http://schemas.microsoft.com/office/drawing/2014/main" id="{8EBAE740-4C0A-4091-B6E6-7C216FDE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8" name="s20-footer-7">
            <a:extLst xmlns:a="http://schemas.openxmlformats.org/drawingml/2006/main">
              <a:ext uri="{FF2B5EF4-FFF2-40B4-BE49-F238E27FC236}">
                <a16:creationId xmlns:a16="http://schemas.microsoft.com/office/drawing/2014/main" id="{D31A8724-4A13-41DB-83FF-769F2120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1574858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1-text-0">
            <a:extLst xmlns:a="http://schemas.openxmlformats.org/drawingml/2006/main">
              <a:ext uri="{FF2B5EF4-FFF2-40B4-BE49-F238E27FC236}">
                <a16:creationId xmlns:a16="http://schemas.microsoft.com/office/drawing/2014/main" id="{AF93656C-9507-493B-B8D8-B53A1D0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教学判断的依据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42da7f6d04e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1-title-2">
            <a:extLst xmlns:a="http://schemas.openxmlformats.org/drawingml/2006/main">
              <a:ext uri="{FF2B5EF4-FFF2-40B4-BE49-F238E27FC236}">
                <a16:creationId xmlns:a16="http://schemas.microsoft.com/office/drawing/2014/main" id="{C2A67347-7A24-4C67-AAD1-743F2B3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教师的选择，要能说出理由</a:t>
            </a:r>
          </a:p>
        </p:txBody>
      </p:sp>
      <p:sp>
        <p:nvSpPr>
          <p:cNvPr id="4" name="s21-rect-3">
            <a:extLst xmlns:a="http://schemas.openxmlformats.org/drawingml/2006/main">
              <a:ext uri="{FF2B5EF4-FFF2-40B4-BE49-F238E27FC236}">
                <a16:creationId xmlns:a16="http://schemas.microsoft.com/office/drawing/2014/main" id="{971BCD2B-4C30-4173-BB0E-1CD63A2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21-text-4">
            <a:extLst xmlns:a="http://schemas.openxmlformats.org/drawingml/2006/main">
              <a:ext uri="{FF2B5EF4-FFF2-40B4-BE49-F238E27FC236}">
                <a16:creationId xmlns:a16="http://schemas.microsoft.com/office/drawing/2014/main" id="{825E25D3-08D5-4C6E-B66D-92A1477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教什么</a:t>
            </a:r>
          </a:p>
        </p:txBody>
      </p:sp>
      <p:sp>
        <p:nvSpPr>
          <p:cNvPr id="6" name="s21-text-5">
            <a:extLst xmlns:a="http://schemas.openxmlformats.org/drawingml/2006/main">
              <a:ext uri="{FF2B5EF4-FFF2-40B4-BE49-F238E27FC236}">
                <a16:creationId xmlns:a16="http://schemas.microsoft.com/office/drawing/2014/main" id="{FEC73B70-B739-406E-90E6-62D920E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希望学生学会什么？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哪一步与这个目标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直接相关？</a:t>
            </a:r>
          </a:p>
        </p:txBody>
      </p:sp>
      <p:sp>
        <p:nvSpPr>
          <p:cNvPr id="7" name="s21-rect-6">
            <a:extLst xmlns:a="http://schemas.openxmlformats.org/drawingml/2006/main">
              <a:ext uri="{FF2B5EF4-FFF2-40B4-BE49-F238E27FC236}">
                <a16:creationId xmlns:a16="http://schemas.microsoft.com/office/drawing/2014/main" id="{B44726EF-B29C-4950-AE8E-AB144A5E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21-text-7">
            <a:extLst xmlns:a="http://schemas.openxmlformats.org/drawingml/2006/main">
              <a:ext uri="{FF2B5EF4-FFF2-40B4-BE49-F238E27FC236}">
                <a16:creationId xmlns:a16="http://schemas.microsoft.com/office/drawing/2014/main" id="{9EB113FC-20D0-49AF-A0A0-F2BD0952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教谁</a:t>
            </a:r>
          </a:p>
        </p:txBody>
      </p:sp>
      <p:sp>
        <p:nvSpPr>
          <p:cNvPr id="9" name="s21-text-8">
            <a:extLst xmlns:a="http://schemas.openxmlformats.org/drawingml/2006/main">
              <a:ext uri="{FF2B5EF4-FFF2-40B4-BE49-F238E27FC236}">
                <a16:creationId xmlns:a16="http://schemas.microsoft.com/office/drawing/2014/main" id="{EA9EE856-56F3-4E00-912F-8D5E8126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学生已经会什么？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眼下卡在哪里？</a:t>
            </a:r>
          </a:p>
        </p:txBody>
      </p:sp>
      <p:sp>
        <p:nvSpPr>
          <p:cNvPr id="10" name="s21-rect-9">
            <a:extLst xmlns:a="http://schemas.openxmlformats.org/drawingml/2006/main">
              <a:ext uri="{FF2B5EF4-FFF2-40B4-BE49-F238E27FC236}">
                <a16:creationId xmlns:a16="http://schemas.microsoft.com/office/drawing/2014/main" id="{496C43C7-089F-4C7F-AEF4-2DD70ED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21-text-10">
            <a:extLst xmlns:a="http://schemas.openxmlformats.org/drawingml/2006/main">
              <a:ext uri="{FF2B5EF4-FFF2-40B4-BE49-F238E27FC236}">
                <a16:creationId xmlns:a16="http://schemas.microsoft.com/office/drawing/2014/main" id="{51B01B5A-9E65-4ADB-B36F-DFB15244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怎么看</a:t>
            </a:r>
          </a:p>
        </p:txBody>
      </p:sp>
      <p:sp>
        <p:nvSpPr>
          <p:cNvPr id="12" name="s21-text-11">
            <a:extLst xmlns:a="http://schemas.openxmlformats.org/drawingml/2006/main">
              <a:ext uri="{FF2B5EF4-FFF2-40B4-BE49-F238E27FC236}">
                <a16:creationId xmlns:a16="http://schemas.microsoft.com/office/drawing/2014/main" id="{7BF0E2AD-5340-41E1-ACBB-3F3B93F9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预计学生会怎样做？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准备观察哪一个表现？</a:t>
            </a:r>
          </a:p>
        </p:txBody>
      </p:sp>
      <p:sp>
        <p:nvSpPr>
          <p:cNvPr id="13" name="s21-footer-12">
            <a:extLst xmlns:a="http://schemas.openxmlformats.org/drawingml/2006/main">
              <a:ext uri="{FF2B5EF4-FFF2-40B4-BE49-F238E27FC236}">
                <a16:creationId xmlns:a16="http://schemas.microsoft.com/office/drawing/2014/main" id="{2E2DEB87-5A4A-4277-BAB3-9CBC0125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4" name="s21-footer-13">
            <a:extLst xmlns:a="http://schemas.openxmlformats.org/drawingml/2006/main">
              <a:ext uri="{FF2B5EF4-FFF2-40B4-BE49-F238E27FC236}">
                <a16:creationId xmlns:a16="http://schemas.microsoft.com/office/drawing/2014/main" id="{D14E83C9-9C82-4958-9970-C426A7C6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4535676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2-text-0">
            <a:extLst xmlns:a="http://schemas.openxmlformats.org/drawingml/2006/main">
              <a:ext uri="{FF2B5EF4-FFF2-40B4-BE49-F238E27FC236}">
                <a16:creationId xmlns:a16="http://schemas.microsoft.com/office/drawing/2014/main" id="{44372CB7-E200-4574-8010-96846FC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讨论情境 · 生态瓶探究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70fa7eaf246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2-title-2">
            <a:extLst xmlns:a="http://schemas.openxmlformats.org/drawingml/2006/main">
              <a:ext uri="{FF2B5EF4-FFF2-40B4-BE49-F238E27FC236}">
                <a16:creationId xmlns:a16="http://schemas.microsoft.com/office/drawing/2014/main" id="{F825F87C-FB34-495C-95D8-A3B7009B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学生会说“控制变量”，却不会检查方案</a:t>
            </a:r>
          </a:p>
        </p:txBody>
      </p:sp>
      <p:sp>
        <p:nvSpPr>
          <p:cNvPr id="4" name="s22-rect-3">
            <a:extLst xmlns:a="http://schemas.openxmlformats.org/drawingml/2006/main">
              <a:ext uri="{FF2B5EF4-FFF2-40B4-BE49-F238E27FC236}">
                <a16:creationId xmlns:a16="http://schemas.microsoft.com/office/drawing/2014/main" id="{96739500-3E45-45CA-B46D-4410A30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22-text-4">
            <a:extLst xmlns:a="http://schemas.openxmlformats.org/drawingml/2006/main">
              <a:ext uri="{FF2B5EF4-FFF2-40B4-BE49-F238E27FC236}">
                <a16:creationId xmlns:a16="http://schemas.microsoft.com/office/drawing/2014/main" id="{150823D8-BF37-45EE-A548-5BC5F3C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先看见问题</a:t>
            </a:r>
          </a:p>
        </p:txBody>
      </p:sp>
      <p:sp>
        <p:nvSpPr>
          <p:cNvPr id="6" name="s22-text-5">
            <a:extLst xmlns:a="http://schemas.openxmlformats.org/drawingml/2006/main">
              <a:ext uri="{FF2B5EF4-FFF2-40B4-BE49-F238E27FC236}">
                <a16:creationId xmlns:a16="http://schemas.microsoft.com/office/drawing/2014/main" id="{1F11C309-05C8-4793-926E-A9AEFB0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学生说要保持其他条件相同，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却漏看了两瓶植物数量不同。</a:t>
            </a:r>
          </a:p>
        </p:txBody>
      </p:sp>
      <p:sp>
        <p:nvSpPr>
          <p:cNvPr id="7" name="s22-rect-6">
            <a:extLst xmlns:a="http://schemas.openxmlformats.org/drawingml/2006/main">
              <a:ext uri="{FF2B5EF4-FFF2-40B4-BE49-F238E27FC236}">
                <a16:creationId xmlns:a16="http://schemas.microsoft.com/office/drawing/2014/main" id="{7D759348-1985-410E-9649-B2658C7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22-text-7">
            <a:extLst xmlns:a="http://schemas.openxmlformats.org/drawingml/2006/main">
              <a:ext uri="{FF2B5EF4-FFF2-40B4-BE49-F238E27FC236}">
                <a16:creationId xmlns:a16="http://schemas.microsoft.com/office/drawing/2014/main" id="{890AAD47-711C-47DB-8FD9-5698BAE6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再查明原因</a:t>
            </a:r>
          </a:p>
        </p:txBody>
      </p:sp>
      <p:sp>
        <p:nvSpPr>
          <p:cNvPr id="9" name="s22-text-8">
            <a:extLst xmlns:a="http://schemas.openxmlformats.org/drawingml/2006/main">
              <a:ext uri="{FF2B5EF4-FFF2-40B4-BE49-F238E27FC236}">
                <a16:creationId xmlns:a16="http://schemas.microsoft.com/office/drawing/2014/main" id="{80A24FD8-3AFF-4AFD-BB98-F8B7751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是没理解数量差异的影响，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还是只有一名组员检查过？</a:t>
            </a:r>
          </a:p>
        </p:txBody>
      </p:sp>
      <p:sp>
        <p:nvSpPr>
          <p:cNvPr id="10" name="s22-rect-9">
            <a:extLst xmlns:a="http://schemas.openxmlformats.org/drawingml/2006/main">
              <a:ext uri="{FF2B5EF4-FFF2-40B4-BE49-F238E27FC236}">
                <a16:creationId xmlns:a16="http://schemas.microsoft.com/office/drawing/2014/main" id="{05845C0F-2771-4F1B-989E-C602D6FB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22-text-10">
            <a:extLst xmlns:a="http://schemas.openxmlformats.org/drawingml/2006/main">
              <a:ext uri="{FF2B5EF4-FFF2-40B4-BE49-F238E27FC236}">
                <a16:creationId xmlns:a16="http://schemas.microsoft.com/office/drawing/2014/main" id="{50E4B00A-A295-4258-88D0-918C54B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据此介入</a:t>
            </a:r>
          </a:p>
        </p:txBody>
      </p:sp>
      <p:sp>
        <p:nvSpPr>
          <p:cNvPr id="12" name="s22-text-11">
            <a:extLst xmlns:a="http://schemas.openxmlformats.org/drawingml/2006/main">
              <a:ext uri="{FF2B5EF4-FFF2-40B4-BE49-F238E27FC236}">
                <a16:creationId xmlns:a16="http://schemas.microsoft.com/office/drawing/2014/main" id="{CEC829BA-865C-49E7-B84E-2E0313C2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请不同成员指出差异、解释后果，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再决定补讲什么、让谁继续尝试。</a:t>
            </a:r>
          </a:p>
        </p:txBody>
      </p:sp>
      <p:sp>
        <p:nvSpPr>
          <p:cNvPr id="13" name="s22-footer-12">
            <a:extLst xmlns:a="http://schemas.openxmlformats.org/drawingml/2006/main">
              <a:ext uri="{FF2B5EF4-FFF2-40B4-BE49-F238E27FC236}">
                <a16:creationId xmlns:a16="http://schemas.microsoft.com/office/drawing/2014/main" id="{EFBE603E-2F06-40B0-8441-7E48108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4" name="s22-footer-13">
            <a:extLst xmlns:a="http://schemas.openxmlformats.org/drawingml/2006/main">
              <a:ext uri="{FF2B5EF4-FFF2-40B4-BE49-F238E27FC236}">
                <a16:creationId xmlns:a16="http://schemas.microsoft.com/office/drawing/2014/main" id="{D14BFF5E-2D44-4A68-91E8-A4E126E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6004894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23-text-0">
            <a:extLst xmlns:a="http://schemas.openxmlformats.org/drawingml/2006/main">
              <a:ext uri="{FF2B5EF4-FFF2-40B4-BE49-F238E27FC236}">
                <a16:creationId xmlns:a16="http://schemas.microsoft.com/office/drawing/2014/main" id="{0F23E847-4314-404E-81F1-9029CDF0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讨论情境 · 教师加入句式支架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22a79a67a44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3-title-2">
            <a:extLst xmlns:a="http://schemas.openxmlformats.org/drawingml/2006/main">
              <a:ext uri="{FF2B5EF4-FFF2-40B4-BE49-F238E27FC236}">
                <a16:creationId xmlns:a16="http://schemas.microsoft.com/office/drawing/2014/main" id="{0A1B86C7-3AD7-44B9-B2AF-68844A7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句子写完整了，理由可能还没讲清</a:t>
            </a:r>
          </a:p>
        </p:txBody>
      </p:sp>
      <p:sp>
        <p:nvSpPr>
          <p:cNvPr id="4" name="s23-text-3">
            <a:extLst xmlns:a="http://schemas.openxmlformats.org/drawingml/2006/main">
              <a:ext uri="{FF2B5EF4-FFF2-40B4-BE49-F238E27FC236}">
                <a16:creationId xmlns:a16="http://schemas.microsoft.com/office/drawing/2014/main" id="{151BF8DF-088F-4FEA-9854-D556545F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“我们认为……，因为观察到……；但还需要排除……”</a:t>
            </a:r>
          </a:p>
        </p:txBody>
      </p:sp>
      <p:sp>
        <p:nvSpPr>
          <p:cNvPr id="5" name="s23-rect-4">
            <a:extLst xmlns:a="http://schemas.openxmlformats.org/drawingml/2006/main">
              <a:ext uri="{FF2B5EF4-FFF2-40B4-BE49-F238E27FC236}">
                <a16:creationId xmlns:a16="http://schemas.microsoft.com/office/drawing/2014/main" id="{0BD50A7C-56C3-4E88-B759-2402D32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23-text-5">
            <a:extLst xmlns:a="http://schemas.openxmlformats.org/drawingml/2006/main">
              <a:ext uri="{FF2B5EF4-FFF2-40B4-BE49-F238E27FC236}">
                <a16:creationId xmlns:a16="http://schemas.microsoft.com/office/drawing/2014/main" id="{50BBE222-F042-43B6-97CE-7E7879D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确实帮上了忙</a:t>
            </a:r>
          </a:p>
        </p:txBody>
      </p:sp>
      <p:sp>
        <p:nvSpPr>
          <p:cNvPr id="7" name="s23-text-6">
            <a:extLst xmlns:a="http://schemas.openxmlformats.org/drawingml/2006/main">
              <a:ext uri="{FF2B5EF4-FFF2-40B4-BE49-F238E27FC236}">
                <a16:creationId xmlns:a16="http://schemas.microsoft.com/office/drawing/2014/main" id="{471A55C9-0B8C-42BA-B02B-547207E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学生借句式说明，哪一次观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察支持了自己的判断。</a:t>
            </a:r>
          </a:p>
        </p:txBody>
      </p:sp>
      <p:sp>
        <p:nvSpPr>
          <p:cNvPr id="8" name="s23-rect-7">
            <a:extLst xmlns:a="http://schemas.openxmlformats.org/drawingml/2006/main">
              <a:ext uri="{FF2B5EF4-FFF2-40B4-BE49-F238E27FC236}">
                <a16:creationId xmlns:a16="http://schemas.microsoft.com/office/drawing/2014/main" id="{F3B778D1-B66B-4BEA-AF0F-C23197FA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23-text-8">
            <a:extLst xmlns:a="http://schemas.openxmlformats.org/drawingml/2006/main">
              <a:ext uri="{FF2B5EF4-FFF2-40B4-BE49-F238E27FC236}">
                <a16:creationId xmlns:a16="http://schemas.microsoft.com/office/drawing/2014/main" id="{D531CC9B-032E-4348-A445-DD56285E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只完成了填空</a:t>
            </a:r>
          </a:p>
        </p:txBody>
      </p:sp>
      <p:sp>
        <p:nvSpPr>
          <p:cNvPr id="10" name="s23-text-9">
            <a:extLst xmlns:a="http://schemas.openxmlformats.org/drawingml/2006/main">
              <a:ext uri="{FF2B5EF4-FFF2-40B4-BE49-F238E27FC236}">
                <a16:creationId xmlns:a16="http://schemas.microsoft.com/office/drawing/2014/main" id="{14E5FE3D-5FBC-449B-9C4B-A429BEE0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“因为”后面有文字，却没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有解释观察与结论的关系。</a:t>
            </a:r>
          </a:p>
        </p:txBody>
      </p:sp>
      <p:sp>
        <p:nvSpPr>
          <p:cNvPr id="11" name="s23-rect-10">
            <a:extLst xmlns:a="http://schemas.openxmlformats.org/drawingml/2006/main">
              <a:ext uri="{FF2B5EF4-FFF2-40B4-BE49-F238E27FC236}">
                <a16:creationId xmlns:a16="http://schemas.microsoft.com/office/drawing/2014/main" id="{6C7F10F1-6CE2-428E-B219-5C81428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23-text-11">
            <a:extLst xmlns:a="http://schemas.openxmlformats.org/drawingml/2006/main">
              <a:ext uri="{FF2B5EF4-FFF2-40B4-BE49-F238E27FC236}">
                <a16:creationId xmlns:a16="http://schemas.microsoft.com/office/drawing/2014/main" id="{9F1DC345-610B-4901-BDD9-DFAE6E0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换材料再问</a:t>
            </a:r>
          </a:p>
        </p:txBody>
      </p:sp>
      <p:sp>
        <p:nvSpPr>
          <p:cNvPr id="13" name="s23-text-12">
            <a:extLst xmlns:a="http://schemas.openxmlformats.org/drawingml/2006/main">
              <a:ext uri="{FF2B5EF4-FFF2-40B4-BE49-F238E27FC236}">
                <a16:creationId xmlns:a16="http://schemas.microsoft.com/office/drawing/2014/main" id="{A723947E-DB9B-464F-BFC8-AE72CC23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给一条不同的观察：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原来的结论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还站得住吗？</a:t>
            </a:r>
          </a:p>
        </p:txBody>
      </p:sp>
      <p:sp>
        <p:nvSpPr>
          <p:cNvPr id="14" name="s23-footer-13">
            <a:extLst xmlns:a="http://schemas.openxmlformats.org/drawingml/2006/main">
              <a:ext uri="{FF2B5EF4-FFF2-40B4-BE49-F238E27FC236}">
                <a16:creationId xmlns:a16="http://schemas.microsoft.com/office/drawing/2014/main" id="{B62C16B2-59FB-4B5A-A982-0D622D6D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5" name="s23-footer-14">
            <a:extLst xmlns:a="http://schemas.openxmlformats.org/drawingml/2006/main">
              <a:ext uri="{FF2B5EF4-FFF2-40B4-BE49-F238E27FC236}">
                <a16:creationId xmlns:a16="http://schemas.microsoft.com/office/drawing/2014/main" id="{95C92BE0-8FFD-4DBB-8CB3-8E28A8B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20636407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24-text-0">
            <a:extLst xmlns:a="http://schemas.openxmlformats.org/drawingml/2006/main">
              <a:ext uri="{FF2B5EF4-FFF2-40B4-BE49-F238E27FC236}">
                <a16:creationId xmlns:a16="http://schemas.microsoft.com/office/drawing/2014/main" id="{2A023E0D-77D8-4576-BBDE-F5DF436B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教师的专业判断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3fa51e5bc41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4-title-2">
            <a:extLst xmlns:a="http://schemas.openxmlformats.org/drawingml/2006/main">
              <a:ext uri="{FF2B5EF4-FFF2-40B4-BE49-F238E27FC236}">
                <a16:creationId xmlns:a16="http://schemas.microsoft.com/office/drawing/2014/main" id="{52DCE21D-2C2C-4B72-8C0A-B0A78C4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想判断什么，就补看哪一种材料</a:t>
            </a:r>
          </a:p>
        </p:txBody>
      </p:sp>
      <p:sp>
        <p:nvSpPr>
          <p:cNvPr id="4" name="s24-rect-3">
            <a:extLst xmlns:a="http://schemas.openxmlformats.org/drawingml/2006/main">
              <a:ext uri="{FF2B5EF4-FFF2-40B4-BE49-F238E27FC236}">
                <a16:creationId xmlns:a16="http://schemas.microsoft.com/office/drawing/2014/main" id="{1F8566E5-6454-4387-8D61-A9AF2C4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</a:ln>
        </p:spPr>
      </p:sp>
      <p:sp>
        <p:nvSpPr>
          <p:cNvPr id="5" name="s24-text-4">
            <a:extLst xmlns:a="http://schemas.openxmlformats.org/drawingml/2006/main">
              <a:ext uri="{FF2B5EF4-FFF2-40B4-BE49-F238E27FC236}">
                <a16:creationId xmlns:a16="http://schemas.microsoft.com/office/drawing/2014/main" id="{354FDB08-B6B4-44CB-A2FA-A1FF7284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材料</a:t>
            </a:r>
          </a:p>
        </p:txBody>
      </p:sp>
      <p:sp>
        <p:nvSpPr>
          <p:cNvPr id="6" name="s24-text-5">
            <a:extLst xmlns:a="http://schemas.openxmlformats.org/drawingml/2006/main">
              <a:ext uri="{FF2B5EF4-FFF2-40B4-BE49-F238E27FC236}">
                <a16:creationId xmlns:a16="http://schemas.microsoft.com/office/drawing/2014/main" id="{A55BF26D-9E46-4A65-B5BC-F00D5E1F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1457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可以帮助判断</a:t>
            </a:r>
          </a:p>
        </p:txBody>
      </p:sp>
      <p:sp>
        <p:nvSpPr>
          <p:cNvPr id="7" name="s24-text-6">
            <a:extLst xmlns:a="http://schemas.openxmlformats.org/drawingml/2006/main">
              <a:ext uri="{FF2B5EF4-FFF2-40B4-BE49-F238E27FC236}">
                <a16:creationId xmlns:a16="http://schemas.microsoft.com/office/drawing/2014/main" id="{74938E7D-7807-4F97-9519-274D5B2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14575"/>
            <a:ext cx="397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还需补充</a:t>
            </a:r>
          </a:p>
        </p:txBody>
      </p:sp>
      <p:sp>
        <p:nvSpPr>
          <p:cNvPr id="8" name="s24-text-7">
            <a:extLst xmlns:a="http://schemas.openxmlformats.org/drawingml/2006/main">
              <a:ext uri="{FF2B5EF4-FFF2-40B4-BE49-F238E27FC236}">
                <a16:creationId xmlns:a16="http://schemas.microsoft.com/office/drawing/2014/main" id="{E1332EB7-4FEC-4D77-8287-567236D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任务单与配置</a:t>
            </a:r>
          </a:p>
        </p:txBody>
      </p:sp>
      <p:sp>
        <p:nvSpPr>
          <p:cNvPr id="9" name="s24-text-8">
            <a:extLst xmlns:a="http://schemas.openxmlformats.org/drawingml/2006/main">
              <a:ext uri="{FF2B5EF4-FFF2-40B4-BE49-F238E27FC236}">
                <a16:creationId xmlns:a16="http://schemas.microsoft.com/office/drawing/2014/main" id="{6417C2DA-822E-4A8F-AAAA-FFCB0E67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原本怎样安排学习</a:t>
            </a:r>
          </a:p>
        </p:txBody>
      </p:sp>
      <p:sp>
        <p:nvSpPr>
          <p:cNvPr id="10" name="s24-text-9">
            <a:extLst xmlns:a="http://schemas.openxmlformats.org/drawingml/2006/main">
              <a:ext uri="{FF2B5EF4-FFF2-40B4-BE49-F238E27FC236}">
                <a16:creationId xmlns:a16="http://schemas.microsoft.com/office/drawing/2014/main" id="{4DF73850-13A8-4DCD-8AAD-82D54F5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765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课堂是否这样发生</a:t>
            </a:r>
          </a:p>
        </p:txBody>
      </p:sp>
      <p:sp>
        <p:nvSpPr>
          <p:cNvPr id="11" name="s24-rect-10">
            <a:extLst xmlns:a="http://schemas.openxmlformats.org/drawingml/2006/main">
              <a:ext uri="{FF2B5EF4-FFF2-40B4-BE49-F238E27FC236}">
                <a16:creationId xmlns:a16="http://schemas.microsoft.com/office/drawing/2014/main" id="{2924F9E0-CA80-49B3-BD67-4F394672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24-text-11">
            <a:extLst xmlns:a="http://schemas.openxmlformats.org/drawingml/2006/main">
              <a:ext uri="{FF2B5EF4-FFF2-40B4-BE49-F238E27FC236}">
                <a16:creationId xmlns:a16="http://schemas.microsoft.com/office/drawing/2014/main" id="{C5649973-841F-49A1-9FE3-09B32C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互动与AI日志</a:t>
            </a:r>
          </a:p>
        </p:txBody>
      </p:sp>
      <p:sp>
        <p:nvSpPr>
          <p:cNvPr id="13" name="s24-text-12">
            <a:extLst xmlns:a="http://schemas.openxmlformats.org/drawingml/2006/main">
              <a:ext uri="{FF2B5EF4-FFF2-40B4-BE49-F238E27FC236}">
                <a16:creationId xmlns:a16="http://schemas.microsoft.com/office/drawing/2014/main" id="{371AAB2B-A0A4-4008-8C97-62E5640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04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谁参与了哪些工作</a:t>
            </a:r>
          </a:p>
        </p:txBody>
      </p:sp>
      <p:sp>
        <p:nvSpPr>
          <p:cNvPr id="14" name="s24-text-13">
            <a:extLst xmlns:a="http://schemas.openxmlformats.org/drawingml/2006/main">
              <a:ext uri="{FF2B5EF4-FFF2-40B4-BE49-F238E27FC236}">
                <a16:creationId xmlns:a16="http://schemas.microsoft.com/office/drawing/2014/main" id="{EFD2B84F-CC5C-4050-9B75-EBE81B23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004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记录之外的活动</a:t>
            </a:r>
          </a:p>
        </p:txBody>
      </p:sp>
      <p:sp>
        <p:nvSpPr>
          <p:cNvPr id="15" name="s24-rect-14">
            <a:extLst xmlns:a="http://schemas.openxmlformats.org/drawingml/2006/main">
              <a:ext uri="{FF2B5EF4-FFF2-40B4-BE49-F238E27FC236}">
                <a16:creationId xmlns:a16="http://schemas.microsoft.com/office/drawing/2014/main" id="{E328BDEE-1988-4262-B840-1E71395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6" name="s24-text-15">
            <a:extLst xmlns:a="http://schemas.openxmlformats.org/drawingml/2006/main">
              <a:ext uri="{FF2B5EF4-FFF2-40B4-BE49-F238E27FC236}">
                <a16:creationId xmlns:a16="http://schemas.microsoft.com/office/drawing/2014/main" id="{0714FE20-6047-4C84-8ADD-0E8A1D6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作品版本</a:t>
            </a:r>
          </a:p>
        </p:txBody>
      </p:sp>
      <p:sp>
        <p:nvSpPr>
          <p:cNvPr id="17" name="s24-text-16">
            <a:extLst xmlns:a="http://schemas.openxmlformats.org/drawingml/2006/main">
              <a:ext uri="{FF2B5EF4-FFF2-40B4-BE49-F238E27FC236}">
                <a16:creationId xmlns:a16="http://schemas.microsoft.com/office/drawing/2014/main" id="{3E094A2A-C2B1-4BC2-B5D9-D3827C6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哪些内容发生改变</a:t>
            </a:r>
          </a:p>
        </p:txBody>
      </p:sp>
      <p:sp>
        <p:nvSpPr>
          <p:cNvPr id="18" name="s24-text-17">
            <a:extLst xmlns:a="http://schemas.openxmlformats.org/drawingml/2006/main">
              <a:ext uri="{FF2B5EF4-FFF2-40B4-BE49-F238E27FC236}">
                <a16:creationId xmlns:a16="http://schemas.microsoft.com/office/drawing/2014/main" id="{05B723FE-1288-438C-8AC3-223A00D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243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改变的理由与来源</a:t>
            </a:r>
          </a:p>
        </p:txBody>
      </p:sp>
      <p:sp>
        <p:nvSpPr>
          <p:cNvPr id="19" name="s24-rect-18">
            <a:extLst xmlns:a="http://schemas.openxmlformats.org/drawingml/2006/main">
              <a:ext uri="{FF2B5EF4-FFF2-40B4-BE49-F238E27FC236}">
                <a16:creationId xmlns:a16="http://schemas.microsoft.com/office/drawing/2014/main" id="{33C21DFD-1034-4AF4-9529-64122C79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0" name="s24-text-19">
            <a:extLst xmlns:a="http://schemas.openxmlformats.org/drawingml/2006/main">
              <a:ext uri="{FF2B5EF4-FFF2-40B4-BE49-F238E27FC236}">
                <a16:creationId xmlns:a16="http://schemas.microsoft.com/office/drawing/2014/main" id="{3088A217-C2C9-44AF-A776-162AB83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后续任务</a:t>
            </a:r>
          </a:p>
        </p:txBody>
      </p:sp>
      <p:sp>
        <p:nvSpPr>
          <p:cNvPr id="21" name="s24-text-20">
            <a:extLst xmlns:a="http://schemas.openxmlformats.org/drawingml/2006/main">
              <a:ext uri="{FF2B5EF4-FFF2-40B4-BE49-F238E27FC236}">
                <a16:creationId xmlns:a16="http://schemas.microsoft.com/office/drawing/2014/main" id="{4B2A7B29-05A7-4F77-839E-5A01539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482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能否再次运用</a:t>
            </a:r>
          </a:p>
        </p:txBody>
      </p:sp>
      <p:sp>
        <p:nvSpPr>
          <p:cNvPr id="22" name="s24-text-21">
            <a:extLst xmlns:a="http://schemas.openxmlformats.org/drawingml/2006/main">
              <a:ext uri="{FF2B5EF4-FFF2-40B4-BE49-F238E27FC236}">
                <a16:creationId xmlns:a16="http://schemas.microsoft.com/office/drawing/2014/main" id="{0E96E9A9-7771-47E0-82A3-2A4C805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48250"/>
            <a:ext cx="3971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条件、时间与个体差异</a:t>
            </a:r>
          </a:p>
        </p:txBody>
      </p:sp>
      <p:sp>
        <p:nvSpPr>
          <p:cNvPr id="23" name="s24-rect-22">
            <a:extLst xmlns:a="http://schemas.openxmlformats.org/drawingml/2006/main">
              <a:ext uri="{FF2B5EF4-FFF2-40B4-BE49-F238E27FC236}">
                <a16:creationId xmlns:a16="http://schemas.microsoft.com/office/drawing/2014/main" id="{053559AF-DC02-477E-86CA-C7921D9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24" name="s24-footer-23">
            <a:extLst xmlns:a="http://schemas.openxmlformats.org/drawingml/2006/main">
              <a:ext uri="{FF2B5EF4-FFF2-40B4-BE49-F238E27FC236}">
                <a16:creationId xmlns:a16="http://schemas.microsoft.com/office/drawing/2014/main" id="{F5E5CEA1-D769-4930-8EF1-BCC8316B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25" name="s24-footer-24">
            <a:extLst xmlns:a="http://schemas.openxmlformats.org/drawingml/2006/main">
              <a:ext uri="{FF2B5EF4-FFF2-40B4-BE49-F238E27FC236}">
                <a16:creationId xmlns:a16="http://schemas.microsoft.com/office/drawing/2014/main" id="{DA943B36-51EF-4BD3-90EF-9C66D7C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5661890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text-0">
            <a:extLst xmlns:a="http://schemas.openxmlformats.org/drawingml/2006/main">
              <a:ext uri="{FF2B5EF4-FFF2-40B4-BE49-F238E27FC236}">
                <a16:creationId xmlns:a16="http://schemas.microsoft.com/office/drawing/2014/main" id="{82327935-AD8F-4D6F-8119-19D4F6D9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假设课堂 · 课后回看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e474a169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5-title-2">
            <a:extLst xmlns:a="http://schemas.openxmlformats.org/drawingml/2006/main">
              <a:ext uri="{FF2B5EF4-FFF2-40B4-BE49-F238E27FC236}">
                <a16:creationId xmlns:a16="http://schemas.microsoft.com/office/drawing/2014/main" id="{DA3C3E69-F97C-4701-BF12-4C8D4DDB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提示改好了，课堂为什么没变？</a:t>
            </a:r>
          </a:p>
        </p:txBody>
      </p:sp>
      <p:sp>
        <p:nvSpPr>
          <p:cNvPr id="4" name="s25-rect-3">
            <a:extLst xmlns:a="http://schemas.openxmlformats.org/drawingml/2006/main">
              <a:ext uri="{FF2B5EF4-FFF2-40B4-BE49-F238E27FC236}">
                <a16:creationId xmlns:a16="http://schemas.microsoft.com/office/drawing/2014/main" id="{34DC1915-407B-425C-A3CB-8334EB1B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25-text-4">
            <a:extLst xmlns:a="http://schemas.openxmlformats.org/drawingml/2006/main">
              <a:ext uri="{FF2B5EF4-FFF2-40B4-BE49-F238E27FC236}">
                <a16:creationId xmlns:a16="http://schemas.microsoft.com/office/drawing/2014/main" id="{02A6B0F9-AA4E-47E4-A33A-F5189FDC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原先以为</a:t>
            </a:r>
          </a:p>
        </p:txBody>
      </p:sp>
      <p:sp>
        <p:nvSpPr>
          <p:cNvPr id="6" name="s25-text-5">
            <a:extLst xmlns:a="http://schemas.openxmlformats.org/drawingml/2006/main">
              <a:ext uri="{FF2B5EF4-FFF2-40B4-BE49-F238E27FC236}">
                <a16:creationId xmlns:a16="http://schemas.microsoft.com/office/drawing/2014/main" id="{60BBB4B8-4CFA-4129-8C3E-43414384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让AI多追问几句，学生就会解释方案。</a:t>
            </a:r>
          </a:p>
        </p:txBody>
      </p:sp>
      <p:sp>
        <p:nvSpPr>
          <p:cNvPr id="7" name="s25-rect-6">
            <a:extLst xmlns:a="http://schemas.openxmlformats.org/drawingml/2006/main">
              <a:ext uri="{FF2B5EF4-FFF2-40B4-BE49-F238E27FC236}">
                <a16:creationId xmlns:a16="http://schemas.microsoft.com/office/drawing/2014/main" id="{20B86F3A-C477-4AAB-9A36-F342459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25-text-7">
            <a:extLst xmlns:a="http://schemas.openxmlformats.org/drawingml/2006/main">
              <a:ext uri="{FF2B5EF4-FFF2-40B4-BE49-F238E27FC236}">
                <a16:creationId xmlns:a16="http://schemas.microsoft.com/office/drawing/2014/main" id="{F11B64D3-76AC-437F-8D55-4696CC8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回看才发现</a:t>
            </a:r>
          </a:p>
        </p:txBody>
      </p:sp>
      <p:sp>
        <p:nvSpPr>
          <p:cNvPr id="9" name="s25-text-8">
            <a:extLst xmlns:a="http://schemas.openxmlformats.org/drawingml/2006/main">
              <a:ext uri="{FF2B5EF4-FFF2-40B4-BE49-F238E27FC236}">
                <a16:creationId xmlns:a16="http://schemas.microsoft.com/office/drawing/2014/main" id="{22793C97-55D4-40E5-8744-FD57E24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学生没有停下来讨论，回答也没影响小组的决定。</a:t>
            </a:r>
          </a:p>
        </p:txBody>
      </p:sp>
      <p:sp>
        <p:nvSpPr>
          <p:cNvPr id="10" name="s25-rect-9">
            <a:extLst xmlns:a="http://schemas.openxmlformats.org/drawingml/2006/main">
              <a:ext uri="{FF2B5EF4-FFF2-40B4-BE49-F238E27FC236}">
                <a16:creationId xmlns:a16="http://schemas.microsoft.com/office/drawing/2014/main" id="{2750298B-278A-4373-8C04-E6C30A1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25-text-10">
            <a:extLst xmlns:a="http://schemas.openxmlformats.org/drawingml/2006/main">
              <a:ext uri="{FF2B5EF4-FFF2-40B4-BE49-F238E27FC236}">
                <a16:creationId xmlns:a16="http://schemas.microsoft.com/office/drawing/2014/main" id="{FF9C4827-8B55-45FC-85A3-3321E244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下次这样改</a:t>
            </a:r>
          </a:p>
        </p:txBody>
      </p:sp>
      <p:sp>
        <p:nvSpPr>
          <p:cNvPr id="12" name="s25-text-11">
            <a:extLst xmlns:a="http://schemas.openxmlformats.org/drawingml/2006/main">
              <a:ext uri="{FF2B5EF4-FFF2-40B4-BE49-F238E27FC236}">
                <a16:creationId xmlns:a16="http://schemas.microsoft.com/office/drawing/2014/main" id="{9A8CEC66-0CC5-4609-A00A-E87091D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留出比较和回应的时间，追踪一条理由是否改变了方案。</a:t>
            </a:r>
          </a:p>
        </p:txBody>
      </p:sp>
      <p:sp>
        <p:nvSpPr>
          <p:cNvPr id="13" name="s25-footer-12">
            <a:extLst xmlns:a="http://schemas.openxmlformats.org/drawingml/2006/main">
              <a:ext uri="{FF2B5EF4-FFF2-40B4-BE49-F238E27FC236}">
                <a16:creationId xmlns:a16="http://schemas.microsoft.com/office/drawing/2014/main" id="{2595D32B-1E5E-41F4-B921-3997B6D1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4" name="s25-footer-13">
            <a:extLst xmlns:a="http://schemas.openxmlformats.org/drawingml/2006/main">
              <a:ext uri="{FF2B5EF4-FFF2-40B4-BE49-F238E27FC236}">
                <a16:creationId xmlns:a16="http://schemas.microsoft.com/office/drawing/2014/main" id="{A25105D1-E71F-4E9F-B359-3ACF049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9470409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26-text-0">
            <a:extLst xmlns:a="http://schemas.openxmlformats.org/drawingml/2006/main">
              <a:ext uri="{FF2B5EF4-FFF2-40B4-BE49-F238E27FC236}">
                <a16:creationId xmlns:a16="http://schemas.microsoft.com/office/drawing/2014/main" id="{1FEB3973-6D36-435B-B13E-2F256ED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教师的专业判断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82de3eb374d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6-title-2">
            <a:extLst xmlns:a="http://schemas.openxmlformats.org/drawingml/2006/main">
              <a:ext uri="{FF2B5EF4-FFF2-40B4-BE49-F238E27FC236}">
                <a16:creationId xmlns:a16="http://schemas.microsoft.com/office/drawing/2014/main" id="{8E5F6896-7803-42E7-A897-D9AB0714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教案写得更快，教师想得更深了吗？</a:t>
            </a:r>
          </a:p>
        </p:txBody>
      </p:sp>
      <p:sp>
        <p:nvSpPr>
          <p:cNvPr id="4" name="s26-text-3">
            <a:extLst xmlns:a="http://schemas.openxmlformats.org/drawingml/2006/main">
              <a:ext uri="{FF2B5EF4-FFF2-40B4-BE49-F238E27FC236}">
                <a16:creationId xmlns:a16="http://schemas.microsoft.com/office/drawing/2014/main" id="{4F27D12C-EB6B-4966-A0AA-D167946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用AI备完课，能否更清楚地解释自己的教学选择？</a:t>
            </a:r>
          </a:p>
        </p:txBody>
      </p:sp>
      <p:sp>
        <p:nvSpPr>
          <p:cNvPr id="5" name="s26-rect-4">
            <a:extLst xmlns:a="http://schemas.openxmlformats.org/drawingml/2006/main">
              <a:ext uri="{FF2B5EF4-FFF2-40B4-BE49-F238E27FC236}">
                <a16:creationId xmlns:a16="http://schemas.microsoft.com/office/drawing/2014/main" id="{F0C22CC4-09DE-4057-BA26-5F11F1FE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26-text-5">
            <a:extLst xmlns:a="http://schemas.openxmlformats.org/drawingml/2006/main">
              <a:ext uri="{FF2B5EF4-FFF2-40B4-BE49-F238E27FC236}">
                <a16:creationId xmlns:a16="http://schemas.microsoft.com/office/drawing/2014/main" id="{84F5EDE9-10C7-408D-B3D7-65910AF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值得用AI做</a:t>
            </a:r>
          </a:p>
        </p:txBody>
      </p:sp>
      <p:sp>
        <p:nvSpPr>
          <p:cNvPr id="7" name="s26-text-6">
            <a:extLst xmlns:a="http://schemas.openxmlformats.org/drawingml/2006/main">
              <a:ext uri="{FF2B5EF4-FFF2-40B4-BE49-F238E27FC236}">
                <a16:creationId xmlns:a16="http://schemas.microsoft.com/office/drawing/2014/main" id="{FCE76EE2-FC8D-4271-B847-2304FB5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比较几种教法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预想学生可能的解释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查找任务遗漏的条件</a:t>
            </a:r>
          </a:p>
        </p:txBody>
      </p:sp>
      <p:sp>
        <p:nvSpPr>
          <p:cNvPr id="8" name="s26-rect-7">
            <a:extLst xmlns:a="http://schemas.openxmlformats.org/drawingml/2006/main">
              <a:ext uri="{FF2B5EF4-FFF2-40B4-BE49-F238E27FC236}">
                <a16:creationId xmlns:a16="http://schemas.microsoft.com/office/drawing/2014/main" id="{E066AE9B-6A72-4232-9C60-BF6DE7D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26-text-8">
            <a:extLst xmlns:a="http://schemas.openxmlformats.org/drawingml/2006/main">
              <a:ext uri="{FF2B5EF4-FFF2-40B4-BE49-F238E27FC236}">
                <a16:creationId xmlns:a16="http://schemas.microsoft.com/office/drawing/2014/main" id="{4CEC4F3D-79CE-460F-A397-0B45DCB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需要回去看</a:t>
            </a:r>
          </a:p>
        </p:txBody>
      </p:sp>
      <p:sp>
        <p:nvSpPr>
          <p:cNvPr id="10" name="s26-text-9">
            <a:extLst xmlns:a="http://schemas.openxmlformats.org/drawingml/2006/main">
              <a:ext uri="{FF2B5EF4-FFF2-40B4-BE49-F238E27FC236}">
                <a16:creationId xmlns:a16="http://schemas.microsoft.com/office/drawing/2014/main" id="{53CB79ED-F408-46A2-9EB9-C3F3B05B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学生原来的话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实际写过的作品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课堂里具体卡住的地方</a:t>
            </a:r>
          </a:p>
        </p:txBody>
      </p:sp>
      <p:sp>
        <p:nvSpPr>
          <p:cNvPr id="11" name="s26-rect-10">
            <a:extLst xmlns:a="http://schemas.openxmlformats.org/drawingml/2006/main">
              <a:ext uri="{FF2B5EF4-FFF2-40B4-BE49-F238E27FC236}">
                <a16:creationId xmlns:a16="http://schemas.microsoft.com/office/drawing/2014/main" id="{A9C506B5-C5E3-4E4E-ABF5-51F6574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26-text-11">
            <a:extLst xmlns:a="http://schemas.openxmlformats.org/drawingml/2006/main">
              <a:ext uri="{FF2B5EF4-FFF2-40B4-BE49-F238E27FC236}">
                <a16:creationId xmlns:a16="http://schemas.microsoft.com/office/drawing/2014/main" id="{D6C2FF83-3B6A-413E-9E8F-36AF380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留下一个理由</a:t>
            </a:r>
          </a:p>
        </p:txBody>
      </p:sp>
      <p:sp>
        <p:nvSpPr>
          <p:cNvPr id="13" name="s26-text-12">
            <a:extLst xmlns:a="http://schemas.openxmlformats.org/drawingml/2006/main">
              <a:ext uri="{FF2B5EF4-FFF2-40B4-BE49-F238E27FC236}">
                <a16:creationId xmlns:a16="http://schemas.microsoft.com/office/drawing/2014/main" id="{2F6CE622-B064-4C77-B9D5-DAAC9D3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这条建议为何采纳？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针对哪个困难？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上课时怎样检查？</a:t>
            </a:r>
          </a:p>
        </p:txBody>
      </p:sp>
      <p:sp>
        <p:nvSpPr>
          <p:cNvPr id="14" name="s26-footer-13">
            <a:extLst xmlns:a="http://schemas.openxmlformats.org/drawingml/2006/main">
              <a:ext uri="{FF2B5EF4-FFF2-40B4-BE49-F238E27FC236}">
                <a16:creationId xmlns:a16="http://schemas.microsoft.com/office/drawing/2014/main" id="{20037B83-760A-4E59-8EF8-23A75C3D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5" name="s26-footer-14">
            <a:extLst xmlns:a="http://schemas.openxmlformats.org/drawingml/2006/main">
              <a:ext uri="{FF2B5EF4-FFF2-40B4-BE49-F238E27FC236}">
                <a16:creationId xmlns:a16="http://schemas.microsoft.com/office/drawing/2014/main" id="{ADB9DB9A-0ED0-41BF-8241-45439DDA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9468503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27-text-0">
            <a:extLst xmlns:a="http://schemas.openxmlformats.org/drawingml/2006/main">
              <a:ext uri="{FF2B5EF4-FFF2-40B4-BE49-F238E27FC236}">
                <a16:creationId xmlns:a16="http://schemas.microsoft.com/office/drawing/2014/main" id="{8FECE126-07E3-4F32-9775-31A158F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教师的专业判断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ba2adb54442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7-title-2">
            <a:extLst xmlns:a="http://schemas.openxmlformats.org/drawingml/2006/main">
              <a:ext uri="{FF2B5EF4-FFF2-40B4-BE49-F238E27FC236}">
                <a16:creationId xmlns:a16="http://schemas.microsoft.com/office/drawing/2014/main" id="{AF4C6D2F-811E-4826-AE5F-196E98E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哪一种困难，值得学生自己经历？</a:t>
            </a:r>
          </a:p>
        </p:txBody>
      </p:sp>
      <p:sp>
        <p:nvSpPr>
          <p:cNvPr id="4" name="s27-text-3">
            <a:extLst xmlns:a="http://schemas.openxmlformats.org/drawingml/2006/main">
              <a:ext uri="{FF2B5EF4-FFF2-40B4-BE49-F238E27FC236}">
                <a16:creationId xmlns:a16="http://schemas.microsoft.com/office/drawing/2014/main" id="{1CFCB30F-C8B1-45C6-9C7B-A9558D74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减轻负担</a:t>
            </a:r>
          </a:p>
        </p:txBody>
      </p:sp>
      <p:sp>
        <p:nvSpPr>
          <p:cNvPr id="5" name="s27-text-4">
            <a:extLst xmlns:a="http://schemas.openxmlformats.org/drawingml/2006/main">
              <a:ext uri="{FF2B5EF4-FFF2-40B4-BE49-F238E27FC236}">
                <a16:creationId xmlns:a16="http://schemas.microsoft.com/office/drawing/2014/main" id="{45C54D8C-57AF-4307-821B-87A9898D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479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目标是比较证据时，可以借AI整理表格格式。</a:t>
            </a:r>
          </a:p>
        </p:txBody>
      </p:sp>
      <p:sp>
        <p:nvSpPr>
          <p:cNvPr id="6" name="s27-text-5">
            <a:extLst xmlns:a="http://schemas.openxmlformats.org/drawingml/2006/main">
              <a:ext uri="{FF2B5EF4-FFF2-40B4-BE49-F238E27FC236}">
                <a16:creationId xmlns:a16="http://schemas.microsoft.com/office/drawing/2014/main" id="{91F704B2-7F1E-480D-B592-041FCF5A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保留思考</a:t>
            </a:r>
          </a:p>
        </p:txBody>
      </p:sp>
      <p:sp>
        <p:nvSpPr>
          <p:cNvPr id="7" name="s27-text-6">
            <a:extLst xmlns:a="http://schemas.openxmlformats.org/drawingml/2006/main">
              <a:ext uri="{FF2B5EF4-FFF2-40B4-BE49-F238E27FC236}">
                <a16:creationId xmlns:a16="http://schemas.microsoft.com/office/drawing/2014/main" id="{8B637959-D66B-494F-9947-37A31B8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528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哪些观察支持结论，需要学生解释并接受追问。</a:t>
            </a:r>
          </a:p>
        </p:txBody>
      </p:sp>
      <p:sp>
        <p:nvSpPr>
          <p:cNvPr id="8" name="s27-text-7">
            <a:extLst xmlns:a="http://schemas.openxmlformats.org/drawingml/2006/main">
              <a:ext uri="{FF2B5EF4-FFF2-40B4-BE49-F238E27FC236}">
                <a16:creationId xmlns:a16="http://schemas.microsoft.com/office/drawing/2014/main" id="{D91DE63F-7619-4FDC-9AB7-D8A9A80F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安排帮助</a:t>
            </a:r>
          </a:p>
        </p:txBody>
      </p:sp>
      <p:sp>
        <p:nvSpPr>
          <p:cNvPr id="9" name="s27-text-8">
            <a:extLst xmlns:a="http://schemas.openxmlformats.org/drawingml/2006/main">
              <a:ext uri="{FF2B5EF4-FFF2-40B4-BE49-F238E27FC236}">
                <a16:creationId xmlns:a16="http://schemas.microsoft.com/office/drawing/2014/main" id="{42F84640-A078-4894-8926-932741B5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577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暂时做不到，可以先看示范，再试着处理一处差异。</a:t>
            </a:r>
          </a:p>
        </p:txBody>
      </p:sp>
      <p:sp>
        <p:nvSpPr>
          <p:cNvPr id="10" name="s27-rect-9">
            <a:extLst xmlns:a="http://schemas.openxmlformats.org/drawingml/2006/main">
              <a:ext uri="{FF2B5EF4-FFF2-40B4-BE49-F238E27FC236}">
                <a16:creationId xmlns:a16="http://schemas.microsoft.com/office/drawing/2014/main" id="{BA4E1B1C-86FD-4AAB-A543-DD660C7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27-text-10">
            <a:extLst xmlns:a="http://schemas.openxmlformats.org/drawingml/2006/main">
              <a:ext uri="{FF2B5EF4-FFF2-40B4-BE49-F238E27FC236}">
                <a16:creationId xmlns:a16="http://schemas.microsoft.com/office/drawing/2014/main" id="{A6019303-B978-41AD-8FB3-4A3A6C8A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困难要与学习目标有关，也要让学生有条件克服。</a:t>
            </a:r>
          </a:p>
        </p:txBody>
      </p:sp>
      <p:sp>
        <p:nvSpPr>
          <p:cNvPr id="12" name="s27-footer-11">
            <a:extLst xmlns:a="http://schemas.openxmlformats.org/drawingml/2006/main">
              <a:ext uri="{FF2B5EF4-FFF2-40B4-BE49-F238E27FC236}">
                <a16:creationId xmlns:a16="http://schemas.microsoft.com/office/drawing/2014/main" id="{3F170EB7-37D5-4BA9-AA20-5119585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3" name="s27-footer-12">
            <a:extLst xmlns:a="http://schemas.openxmlformats.org/drawingml/2006/main">
              <a:ext uri="{FF2B5EF4-FFF2-40B4-BE49-F238E27FC236}">
                <a16:creationId xmlns:a16="http://schemas.microsoft.com/office/drawing/2014/main" id="{5C77781D-1DAD-4B6E-A5E9-4729C1EC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3673137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28-text-0">
            <a:extLst xmlns:a="http://schemas.openxmlformats.org/drawingml/2006/main">
              <a:ext uri="{FF2B5EF4-FFF2-40B4-BE49-F238E27FC236}">
                <a16:creationId xmlns:a16="http://schemas.microsoft.com/office/drawing/2014/main" id="{6E4C2898-D524-454F-915D-5ED3B9E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研究对话 · 高中数学情境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d7e23e584e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8-title-2">
            <a:extLst xmlns:a="http://schemas.openxmlformats.org/drawingml/2006/main">
              <a:ext uri="{FF2B5EF4-FFF2-40B4-BE49-F238E27FC236}">
                <a16:creationId xmlns:a16="http://schemas.microsoft.com/office/drawing/2014/main" id="{35506510-D3D9-4291-A3EE-4D1402BA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练习做得更好，测验未必更好</a:t>
            </a:r>
          </a:p>
        </p:txBody>
      </p:sp>
      <p:sp>
        <p:nvSpPr>
          <p:cNvPr id="4" name="s28-text-3">
            <a:extLst xmlns:a="http://schemas.openxmlformats.org/drawingml/2006/main">
              <a:ext uri="{FF2B5EF4-FFF2-40B4-BE49-F238E27FC236}">
                <a16:creationId xmlns:a16="http://schemas.microsoft.com/office/drawing/2014/main" id="{247D7F21-18D4-46DF-8935-8B7C3B2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高中数学实验中，两种AI设计带来了不同后果。</a:t>
            </a:r>
          </a:p>
        </p:txBody>
      </p:sp>
      <p:sp>
        <p:nvSpPr>
          <p:cNvPr id="5" name="s28-rect-4">
            <a:extLst xmlns:a="http://schemas.openxmlformats.org/drawingml/2006/main">
              <a:ext uri="{FF2B5EF4-FFF2-40B4-BE49-F238E27FC236}">
                <a16:creationId xmlns:a16="http://schemas.microsoft.com/office/drawing/2014/main" id="{7820E248-A0C7-4401-8BC9-FCB14EA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28-text-5">
            <a:extLst xmlns:a="http://schemas.openxmlformats.org/drawingml/2006/main">
              <a:ext uri="{FF2B5EF4-FFF2-40B4-BE49-F238E27FC236}">
                <a16:creationId xmlns:a16="http://schemas.microsoft.com/office/drawing/2014/main" id="{B92F9797-8D9F-4A50-81BE-65ABC565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有AI练习时</a:t>
            </a:r>
          </a:p>
        </p:txBody>
      </p:sp>
      <p:sp>
        <p:nvSpPr>
          <p:cNvPr id="7" name="s28-text-6">
            <a:extLst xmlns:a="http://schemas.openxmlformats.org/drawingml/2006/main">
              <a:ext uri="{FF2B5EF4-FFF2-40B4-BE49-F238E27FC236}">
                <a16:creationId xmlns:a16="http://schemas.microsoft.com/office/drawing/2014/main" id="{E4EF70E7-B1D6-48F4-BA1A-2A77EE9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两种AI设计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都提高了练习成绩</a:t>
            </a:r>
          </a:p>
        </p:txBody>
      </p:sp>
      <p:sp>
        <p:nvSpPr>
          <p:cNvPr id="8" name="s28-rect-7">
            <a:extLst xmlns:a="http://schemas.openxmlformats.org/drawingml/2006/main">
              <a:ext uri="{FF2B5EF4-FFF2-40B4-BE49-F238E27FC236}">
                <a16:creationId xmlns:a16="http://schemas.microsoft.com/office/drawing/2014/main" id="{356281F3-D811-4CD3-817C-831C0CC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28-text-8">
            <a:extLst xmlns:a="http://schemas.openxmlformats.org/drawingml/2006/main">
              <a:ext uri="{FF2B5EF4-FFF2-40B4-BE49-F238E27FC236}">
                <a16:creationId xmlns:a16="http://schemas.microsoft.com/office/drawing/2014/main" id="{9AB0209B-5C1B-46F3-83A0-ED040D65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撤去AI测验时</a:t>
            </a:r>
          </a:p>
        </p:txBody>
      </p:sp>
      <p:sp>
        <p:nvSpPr>
          <p:cNvPr id="10" name="s28-text-9">
            <a:extLst xmlns:a="http://schemas.openxmlformats.org/drawingml/2006/main">
              <a:ext uri="{FF2B5EF4-FFF2-40B4-BE49-F238E27FC236}">
                <a16:creationId xmlns:a16="http://schemas.microsoft.com/office/drawing/2014/main" id="{C5DEA309-8A42-456C-94F7-9A67EBFD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普通聊天组低于对照组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加入教学保护后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这一负面影响减轻</a:t>
            </a:r>
          </a:p>
        </p:txBody>
      </p:sp>
      <p:sp>
        <p:nvSpPr>
          <p:cNvPr id="11" name="s28-rect-10">
            <a:extLst xmlns:a="http://schemas.openxmlformats.org/drawingml/2006/main">
              <a:ext uri="{FF2B5EF4-FFF2-40B4-BE49-F238E27FC236}">
                <a16:creationId xmlns:a16="http://schemas.microsoft.com/office/drawing/2014/main" id="{7880A850-6B53-44DE-B3DD-375CCE88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76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2" name="s28-text-11">
            <a:extLst xmlns:a="http://schemas.openxmlformats.org/drawingml/2006/main">
              <a:ext uri="{FF2B5EF4-FFF2-40B4-BE49-F238E27FC236}">
                <a16:creationId xmlns:a16="http://schemas.microsoft.com/office/drawing/2014/main" id="{12BEFDAC-5213-4937-B382-FDFBD717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086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能说明什么</a:t>
            </a:r>
          </a:p>
        </p:txBody>
      </p:sp>
      <p:sp>
        <p:nvSpPr>
          <p:cNvPr id="13" name="s28-text-12">
            <a:extLst xmlns:a="http://schemas.openxmlformats.org/drawingml/2006/main">
              <a:ext uri="{FF2B5EF4-FFF2-40B4-BE49-F238E27FC236}">
                <a16:creationId xmlns:a16="http://schemas.microsoft.com/office/drawing/2014/main" id="{D365A97F-73D4-4001-B1BC-43AEB6D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952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支持方式会影响结果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短期测验尚不能回答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长期学得怎样</a:t>
            </a:r>
          </a:p>
        </p:txBody>
      </p:sp>
      <p:sp>
        <p:nvSpPr>
          <p:cNvPr id="14" name="s28-footer-13">
            <a:extLst xmlns:a="http://schemas.openxmlformats.org/drawingml/2006/main">
              <a:ext uri="{FF2B5EF4-FFF2-40B4-BE49-F238E27FC236}">
                <a16:creationId xmlns:a16="http://schemas.microsoft.com/office/drawing/2014/main" id="{004A37F1-EA60-4984-B3F6-28A47F2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Bastani et al., 2025 · PNAS</a:t>
            </a:r>
          </a:p>
        </p:txBody>
      </p:sp>
      <p:sp>
        <p:nvSpPr>
          <p:cNvPr id="15" name="s28-footer-14">
            <a:extLst xmlns:a="http://schemas.openxmlformats.org/drawingml/2006/main">
              <a:ext uri="{FF2B5EF4-FFF2-40B4-BE49-F238E27FC236}">
                <a16:creationId xmlns:a16="http://schemas.microsoft.com/office/drawing/2014/main" id="{839A97A9-665D-41B8-9804-814B0A9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1535474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29-text-0">
            <a:extLst xmlns:a="http://schemas.openxmlformats.org/drawingml/2006/main">
              <a:ext uri="{FF2B5EF4-FFF2-40B4-BE49-F238E27FC236}">
                <a16:creationId xmlns:a16="http://schemas.microsoft.com/office/drawing/2014/main" id="{CC5DA063-693B-4ACE-A3AE-393B740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凭什么说学到了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2b608709542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29-title-2">
            <a:extLst xmlns:a="http://schemas.openxmlformats.org/drawingml/2006/main">
              <a:ext uri="{FF2B5EF4-FFF2-40B4-BE49-F238E27FC236}">
                <a16:creationId xmlns:a16="http://schemas.microsoft.com/office/drawing/2014/main" id="{6BBEED86-AA1F-464D-944A-AA1A51F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独立理解与借AI合作，都要有证据</a:t>
            </a:r>
          </a:p>
        </p:txBody>
      </p:sp>
      <p:sp>
        <p:nvSpPr>
          <p:cNvPr id="4" name="s29-text-3">
            <a:extLst xmlns:a="http://schemas.openxmlformats.org/drawingml/2006/main">
              <a:ext uri="{FF2B5EF4-FFF2-40B4-BE49-F238E27FC236}">
                <a16:creationId xmlns:a16="http://schemas.microsoft.com/office/drawing/2014/main" id="{00DAB2C4-7427-47D3-9F0A-6ACA8544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评价个人掌握和合作能力，要安排不同的观察。</a:t>
            </a:r>
          </a:p>
        </p:txBody>
      </p:sp>
      <p:sp>
        <p:nvSpPr>
          <p:cNvPr id="5" name="s29-rect-4">
            <a:extLst xmlns:a="http://schemas.openxmlformats.org/drawingml/2006/main">
              <a:ext uri="{FF2B5EF4-FFF2-40B4-BE49-F238E27FC236}">
                <a16:creationId xmlns:a16="http://schemas.microsoft.com/office/drawing/2014/main" id="{E1B22D0B-76C3-4516-B8BB-178B5874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29-text-5">
            <a:extLst xmlns:a="http://schemas.openxmlformats.org/drawingml/2006/main">
              <a:ext uri="{FF2B5EF4-FFF2-40B4-BE49-F238E27FC236}">
                <a16:creationId xmlns:a16="http://schemas.microsoft.com/office/drawing/2014/main" id="{1FC1A65C-F7BD-4559-80FA-C732CE3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个人理解</a:t>
            </a:r>
          </a:p>
        </p:txBody>
      </p:sp>
      <p:sp>
        <p:nvSpPr>
          <p:cNvPr id="7" name="s29-text-6">
            <a:extLst xmlns:a="http://schemas.openxmlformats.org/drawingml/2006/main">
              <a:ext uri="{FF2B5EF4-FFF2-40B4-BE49-F238E27FC236}">
                <a16:creationId xmlns:a16="http://schemas.microsoft.com/office/drawing/2014/main" id="{73044496-24D0-45D4-9F87-BD88A7CC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换条件、减提示后，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能解释理由，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也能修改方案。</a:t>
            </a:r>
          </a:p>
        </p:txBody>
      </p:sp>
      <p:sp>
        <p:nvSpPr>
          <p:cNvPr id="8" name="s29-rect-7">
            <a:extLst xmlns:a="http://schemas.openxmlformats.org/drawingml/2006/main">
              <a:ext uri="{FF2B5EF4-FFF2-40B4-BE49-F238E27FC236}">
                <a16:creationId xmlns:a16="http://schemas.microsoft.com/office/drawing/2014/main" id="{92CCD451-E0E5-4D54-BEF8-F8CEF2C0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29-text-8">
            <a:extLst xmlns:a="http://schemas.openxmlformats.org/drawingml/2006/main">
              <a:ext uri="{FF2B5EF4-FFF2-40B4-BE49-F238E27FC236}">
                <a16:creationId xmlns:a16="http://schemas.microsoft.com/office/drawing/2014/main" id="{779A1C8A-1F66-47F1-8CCC-5EDF095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借AI合作</a:t>
            </a:r>
          </a:p>
        </p:txBody>
      </p:sp>
      <p:sp>
        <p:nvSpPr>
          <p:cNvPr id="10" name="s29-text-9">
            <a:extLst xmlns:a="http://schemas.openxmlformats.org/drawingml/2006/main">
              <a:ext uri="{FF2B5EF4-FFF2-40B4-BE49-F238E27FC236}">
                <a16:creationId xmlns:a16="http://schemas.microsoft.com/office/drawing/2014/main" id="{5224D376-C06B-46A4-985E-D58B16E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52875"/>
            <a:ext cx="5181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能提出问题、检查贡献，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发现不同解释的分歧，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据此决定下一步。</a:t>
            </a:r>
          </a:p>
        </p:txBody>
      </p:sp>
      <p:sp>
        <p:nvSpPr>
          <p:cNvPr id="11" name="s29-footer-10">
            <a:extLst xmlns:a="http://schemas.openxmlformats.org/drawingml/2006/main">
              <a:ext uri="{FF2B5EF4-FFF2-40B4-BE49-F238E27FC236}">
                <a16:creationId xmlns:a16="http://schemas.microsoft.com/office/drawing/2014/main" id="{89B23274-097C-4497-96D8-A3F9BFA7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2" name="s29-footer-11">
            <a:extLst xmlns:a="http://schemas.openxmlformats.org/drawingml/2006/main">
              <a:ext uri="{FF2B5EF4-FFF2-40B4-BE49-F238E27FC236}">
                <a16:creationId xmlns:a16="http://schemas.microsoft.com/office/drawing/2014/main" id="{F4C9E1B6-3B47-476D-BA02-1D18AFE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823037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30-text-0">
            <a:extLst xmlns:a="http://schemas.openxmlformats.org/drawingml/2006/main">
              <a:ext uri="{FF2B5EF4-FFF2-40B4-BE49-F238E27FC236}">
                <a16:creationId xmlns:a16="http://schemas.microsoft.com/office/drawing/2014/main" id="{33C2A40E-45A2-47B8-8F6B-509563DF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凭什么说学到了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6215b6d2f4f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0-title-2">
            <a:extLst xmlns:a="http://schemas.openxmlformats.org/drawingml/2006/main">
              <a:ext uri="{FF2B5EF4-FFF2-40B4-BE49-F238E27FC236}">
                <a16:creationId xmlns:a16="http://schemas.microsoft.com/office/drawing/2014/main" id="{CD40EFAB-8921-407A-92D2-2B6694C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效果变好了，还要查清为什么</a:t>
            </a:r>
          </a:p>
        </p:txBody>
      </p:sp>
      <p:sp>
        <p:nvSpPr>
          <p:cNvPr id="4" name="s30-rect-3">
            <a:extLst xmlns:a="http://schemas.openxmlformats.org/drawingml/2006/main">
              <a:ext uri="{FF2B5EF4-FFF2-40B4-BE49-F238E27FC236}">
                <a16:creationId xmlns:a16="http://schemas.microsoft.com/office/drawing/2014/main" id="{1D99FE65-ACE8-450B-82CF-9F40765A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30-text-4">
            <a:extLst xmlns:a="http://schemas.openxmlformats.org/drawingml/2006/main">
              <a:ext uri="{FF2B5EF4-FFF2-40B4-BE49-F238E27FC236}">
                <a16:creationId xmlns:a16="http://schemas.microsoft.com/office/drawing/2014/main" id="{27E52988-8D71-483C-ADA7-311768A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隔一段时间</a:t>
            </a:r>
          </a:p>
        </p:txBody>
      </p:sp>
      <p:sp>
        <p:nvSpPr>
          <p:cNvPr id="6" name="s30-text-5">
            <a:extLst xmlns:a="http://schemas.openxmlformats.org/drawingml/2006/main">
              <a:ext uri="{FF2B5EF4-FFF2-40B4-BE49-F238E27FC236}">
                <a16:creationId xmlns:a16="http://schemas.microsoft.com/office/drawing/2014/main" id="{EE664294-0C20-4A09-BEEE-FEFDEF0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下周再做，或换一个任务，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还能解释和运用吗？</a:t>
            </a:r>
          </a:p>
        </p:txBody>
      </p:sp>
      <p:sp>
        <p:nvSpPr>
          <p:cNvPr id="7" name="s30-rect-6">
            <a:extLst xmlns:a="http://schemas.openxmlformats.org/drawingml/2006/main">
              <a:ext uri="{FF2B5EF4-FFF2-40B4-BE49-F238E27FC236}">
                <a16:creationId xmlns:a16="http://schemas.microsoft.com/office/drawing/2014/main" id="{3A7E5E0E-8168-4823-9CAE-5DC2631C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30-text-7">
            <a:extLst xmlns:a="http://schemas.openxmlformats.org/drawingml/2006/main">
              <a:ext uri="{FF2B5EF4-FFF2-40B4-BE49-F238E27FC236}">
                <a16:creationId xmlns:a16="http://schemas.microsoft.com/office/drawing/2014/main" id="{7C9EF9B6-76AB-4575-8C06-33E989FD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看看没成功的</a:t>
            </a:r>
          </a:p>
        </p:txBody>
      </p:sp>
      <p:sp>
        <p:nvSpPr>
          <p:cNvPr id="9" name="s30-text-8">
            <a:extLst xmlns:a="http://schemas.openxmlformats.org/drawingml/2006/main">
              <a:ext uri="{FF2B5EF4-FFF2-40B4-BE49-F238E27FC236}">
                <a16:creationId xmlns:a16="http://schemas.microsoft.com/office/drawing/2014/main" id="{33B29A12-FB90-40E7-9F04-55D7A7AF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同样的安排，谁没有学会？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他卡在哪一步？</a:t>
            </a:r>
          </a:p>
        </p:txBody>
      </p:sp>
      <p:sp>
        <p:nvSpPr>
          <p:cNvPr id="10" name="s30-rect-9">
            <a:extLst xmlns:a="http://schemas.openxmlformats.org/drawingml/2006/main">
              <a:ext uri="{FF2B5EF4-FFF2-40B4-BE49-F238E27FC236}">
                <a16:creationId xmlns:a16="http://schemas.microsoft.com/office/drawing/2014/main" id="{DBAFAAF1-1FD2-4737-9413-1D325A51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30-text-10">
            <a:extLst xmlns:a="http://schemas.openxmlformats.org/drawingml/2006/main">
              <a:ext uri="{FF2B5EF4-FFF2-40B4-BE49-F238E27FC236}">
                <a16:creationId xmlns:a16="http://schemas.microsoft.com/office/drawing/2014/main" id="{0E3D81EA-BBE0-4BB4-B09C-4DE0C67C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查其他变化</a:t>
            </a:r>
          </a:p>
        </p:txBody>
      </p:sp>
      <p:sp>
        <p:nvSpPr>
          <p:cNvPr id="12" name="s30-text-11">
            <a:extLst xmlns:a="http://schemas.openxmlformats.org/drawingml/2006/main">
              <a:ext uri="{FF2B5EF4-FFF2-40B4-BE49-F238E27FC236}">
                <a16:creationId xmlns:a16="http://schemas.microsoft.com/office/drawing/2014/main" id="{F583A131-07ED-4FAB-844F-D97CF12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是否多了教师指导、同伴帮助，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或者只是更熟悉任务了？</a:t>
            </a:r>
          </a:p>
        </p:txBody>
      </p:sp>
      <p:sp>
        <p:nvSpPr>
          <p:cNvPr id="13" name="s30-footer-12">
            <a:extLst xmlns:a="http://schemas.openxmlformats.org/drawingml/2006/main">
              <a:ext uri="{FF2B5EF4-FFF2-40B4-BE49-F238E27FC236}">
                <a16:creationId xmlns:a16="http://schemas.microsoft.com/office/drawing/2014/main" id="{8D2D48EC-1BA1-47E9-B8FE-206C9FC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4" name="s30-footer-13">
            <a:extLst xmlns:a="http://schemas.openxmlformats.org/drawingml/2006/main">
              <a:ext uri="{FF2B5EF4-FFF2-40B4-BE49-F238E27FC236}">
                <a16:creationId xmlns:a16="http://schemas.microsoft.com/office/drawing/2014/main" id="{99641BD2-A554-47E5-A2D6-2DB174E5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9163555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31-text-0">
            <a:extLst xmlns:a="http://schemas.openxmlformats.org/drawingml/2006/main">
              <a:ext uri="{FF2B5EF4-FFF2-40B4-BE49-F238E27FC236}">
                <a16:creationId xmlns:a16="http://schemas.microsoft.com/office/drawing/2014/main" id="{7E8968B0-4DD3-407A-9F99-3D19ABB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凭什么说学到了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1700169ab47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1-title-2">
            <a:extLst xmlns:a="http://schemas.openxmlformats.org/drawingml/2006/main">
              <a:ext uri="{FF2B5EF4-FFF2-40B4-BE49-F238E27FC236}">
                <a16:creationId xmlns:a16="http://schemas.microsoft.com/office/drawing/2014/main" id="{34F4FE96-BC6C-4611-AE7E-F98911B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日志没记到，不代表学生没思考</a:t>
            </a:r>
          </a:p>
        </p:txBody>
      </p:sp>
      <p:sp>
        <p:nvSpPr>
          <p:cNvPr id="4" name="s31-rect-3">
            <a:extLst xmlns:a="http://schemas.openxmlformats.org/drawingml/2006/main">
              <a:ext uri="{FF2B5EF4-FFF2-40B4-BE49-F238E27FC236}">
                <a16:creationId xmlns:a16="http://schemas.microsoft.com/office/drawing/2014/main" id="{A7126A10-EB12-4E3B-8EDE-296DEC7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31-text-4">
            <a:extLst xmlns:a="http://schemas.openxmlformats.org/drawingml/2006/main">
              <a:ext uri="{FF2B5EF4-FFF2-40B4-BE49-F238E27FC236}">
                <a16:creationId xmlns:a16="http://schemas.microsoft.com/office/drawing/2014/main" id="{3D555640-8993-435F-9398-2F02243E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看记录之外</a:t>
            </a:r>
          </a:p>
        </p:txBody>
      </p:sp>
      <p:sp>
        <p:nvSpPr>
          <p:cNvPr id="6" name="s31-text-5">
            <a:extLst xmlns:a="http://schemas.openxmlformats.org/drawingml/2006/main">
              <a:ext uri="{FF2B5EF4-FFF2-40B4-BE49-F238E27FC236}">
                <a16:creationId xmlns:a16="http://schemas.microsoft.com/office/drawing/2014/main" id="{C47F933D-C9E9-4958-9AC3-5A421E0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纸笔、操作、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同伴讨论和教师追问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也可能承载了思考。</a:t>
            </a:r>
          </a:p>
        </p:txBody>
      </p:sp>
      <p:sp>
        <p:nvSpPr>
          <p:cNvPr id="7" name="s31-rect-6">
            <a:extLst xmlns:a="http://schemas.openxmlformats.org/drawingml/2006/main">
              <a:ext uri="{FF2B5EF4-FFF2-40B4-BE49-F238E27FC236}">
                <a16:creationId xmlns:a16="http://schemas.microsoft.com/office/drawing/2014/main" id="{F3DE3495-A19C-499B-AE3A-FAFCA49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31-text-7">
            <a:extLst xmlns:a="http://schemas.openxmlformats.org/drawingml/2006/main">
              <a:ext uri="{FF2B5EF4-FFF2-40B4-BE49-F238E27FC236}">
                <a16:creationId xmlns:a16="http://schemas.microsoft.com/office/drawing/2014/main" id="{0D1C3DE2-708A-4D68-AB81-8A43B9F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分清个人与小组</a:t>
            </a:r>
          </a:p>
        </p:txBody>
      </p:sp>
      <p:sp>
        <p:nvSpPr>
          <p:cNvPr id="9" name="s31-text-8">
            <a:extLst xmlns:a="http://schemas.openxmlformats.org/drawingml/2006/main">
              <a:ext uri="{FF2B5EF4-FFF2-40B4-BE49-F238E27FC236}">
                <a16:creationId xmlns:a16="http://schemas.microsoft.com/office/drawing/2014/main" id="{4F91D016-638F-4C63-9353-61B19E97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报告由谁写、理由谁懂，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要分别了解；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安静也不等于没想法。</a:t>
            </a:r>
          </a:p>
        </p:txBody>
      </p:sp>
      <p:sp>
        <p:nvSpPr>
          <p:cNvPr id="10" name="s31-rect-9">
            <a:extLst xmlns:a="http://schemas.openxmlformats.org/drawingml/2006/main">
              <a:ext uri="{FF2B5EF4-FFF2-40B4-BE49-F238E27FC236}">
                <a16:creationId xmlns:a16="http://schemas.microsoft.com/office/drawing/2014/main" id="{F4C3A51F-68FF-4CCA-AE40-7902CA7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3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31-text-10">
            <a:extLst xmlns:a="http://schemas.openxmlformats.org/drawingml/2006/main">
              <a:ext uri="{FF2B5EF4-FFF2-40B4-BE49-F238E27FC236}">
                <a16:creationId xmlns:a16="http://schemas.microsoft.com/office/drawing/2014/main" id="{8EAAE4AD-B8C9-4F08-8FF9-FEB43CD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705100"/>
            <a:ext cx="33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补一个小检查</a:t>
            </a:r>
          </a:p>
        </p:txBody>
      </p:sp>
      <p:sp>
        <p:nvSpPr>
          <p:cNvPr id="12" name="s31-text-11">
            <a:extLst xmlns:a="http://schemas.openxmlformats.org/drawingml/2006/main">
              <a:ext uri="{FF2B5EF4-FFF2-40B4-BE49-F238E27FC236}">
                <a16:creationId xmlns:a16="http://schemas.microsoft.com/office/drawing/2014/main" id="{9A1BF00D-FEEB-423B-9C16-4924CA9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571875"/>
            <a:ext cx="330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请不同成员解释一处，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画出来或操作给你看，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再判断理解到哪里。</a:t>
            </a:r>
          </a:p>
        </p:txBody>
      </p:sp>
      <p:sp>
        <p:nvSpPr>
          <p:cNvPr id="13" name="s31-footer-12">
            <a:extLst xmlns:a="http://schemas.openxmlformats.org/drawingml/2006/main">
              <a:ext uri="{FF2B5EF4-FFF2-40B4-BE49-F238E27FC236}">
                <a16:creationId xmlns:a16="http://schemas.microsoft.com/office/drawing/2014/main" id="{CBC97971-6363-4EC9-B13E-9183DF2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4" name="s31-footer-13">
            <a:extLst xmlns:a="http://schemas.openxmlformats.org/drawingml/2006/main">
              <a:ext uri="{FF2B5EF4-FFF2-40B4-BE49-F238E27FC236}">
                <a16:creationId xmlns:a16="http://schemas.microsoft.com/office/drawing/2014/main" id="{8953B16B-4AF8-4B55-A27D-56291BA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1675096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32-text-0">
            <a:extLst xmlns:a="http://schemas.openxmlformats.org/drawingml/2006/main">
              <a:ext uri="{FF2B5EF4-FFF2-40B4-BE49-F238E27FC236}">
                <a16:creationId xmlns:a16="http://schemas.microsoft.com/office/drawing/2014/main" id="{2088C822-60CC-40F5-8A27-479A9F29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假设课堂 · 再补两条材料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b2e04a8a64b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2-title-2">
            <a:extLst xmlns:a="http://schemas.openxmlformats.org/drawingml/2006/main">
              <a:ext uri="{FF2B5EF4-FFF2-40B4-BE49-F238E27FC236}">
                <a16:creationId xmlns:a16="http://schemas.microsoft.com/office/drawing/2014/main" id="{F847E68C-20B8-48F1-BCBF-B3107BD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第三次判断：下一课先做什么？</a:t>
            </a:r>
          </a:p>
        </p:txBody>
      </p:sp>
      <p:sp>
        <p:nvSpPr>
          <p:cNvPr id="4" name="s32-text-3">
            <a:extLst xmlns:a="http://schemas.openxmlformats.org/drawingml/2006/main">
              <a:ext uri="{FF2B5EF4-FFF2-40B4-BE49-F238E27FC236}">
                <a16:creationId xmlns:a16="http://schemas.microsoft.com/office/drawing/2014/main" id="{29829027-7C05-4D02-BF66-7A363FA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无AI新任务</a:t>
            </a:r>
          </a:p>
        </p:txBody>
      </p:sp>
      <p:sp>
        <p:nvSpPr>
          <p:cNvPr id="5" name="s32-text-4">
            <a:extLst xmlns:a="http://schemas.openxmlformats.org/drawingml/2006/main">
              <a:ext uri="{FF2B5EF4-FFF2-40B4-BE49-F238E27FC236}">
                <a16:creationId xmlns:a16="http://schemas.microsoft.com/office/drawing/2014/main" id="{9319625A-300F-4418-AD13-FE825EE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47900"/>
            <a:ext cx="77438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一名学生发现植物实验同时改变了水量与种类，但尚未解释怎样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修改。</a:t>
            </a:r>
          </a:p>
        </p:txBody>
      </p:sp>
      <p:sp>
        <p:nvSpPr>
          <p:cNvPr id="6" name="s32-text-5">
            <a:extLst xmlns:a="http://schemas.openxmlformats.org/drawingml/2006/main">
              <a:ext uri="{FF2B5EF4-FFF2-40B4-BE49-F238E27FC236}">
                <a16:creationId xmlns:a16="http://schemas.microsoft.com/office/drawing/2014/main" id="{FBD9D1E3-98ED-4B4F-9014-137D5F38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有AI共同探究</a:t>
            </a:r>
          </a:p>
        </p:txBody>
      </p:sp>
      <p:sp>
        <p:nvSpPr>
          <p:cNvPr id="7" name="s32-text-6">
            <a:extLst xmlns:a="http://schemas.openxmlformats.org/drawingml/2006/main">
              <a:ext uri="{FF2B5EF4-FFF2-40B4-BE49-F238E27FC236}">
                <a16:creationId xmlns:a16="http://schemas.microsoft.com/office/drawing/2014/main" id="{6BD16293-358F-47E2-9FA3-5F781D1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00475"/>
            <a:ext cx="77438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小组提出温度可能混淆光照影响，要求补测；两名成员的理解仍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不清楚。</a:t>
            </a:r>
          </a:p>
        </p:txBody>
      </p:sp>
      <p:sp>
        <p:nvSpPr>
          <p:cNvPr id="8" name="s32-rect-7">
            <a:extLst xmlns:a="http://schemas.openxmlformats.org/drawingml/2006/main">
              <a:ext uri="{FF2B5EF4-FFF2-40B4-BE49-F238E27FC236}">
                <a16:creationId xmlns:a16="http://schemas.microsoft.com/office/drawing/2014/main" id="{4B5E4802-9CB5-4411-84C5-A042FCBB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9" name="s32-text-8">
            <a:extLst xmlns:a="http://schemas.openxmlformats.org/drawingml/2006/main">
              <a:ext uri="{FF2B5EF4-FFF2-40B4-BE49-F238E27FC236}">
                <a16:creationId xmlns:a16="http://schemas.microsoft.com/office/drawing/2014/main" id="{BB137BD2-8BA7-4BA1-8E47-E3F53F4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你会先补问谁、追问什么，或改动哪一个教学环节？</a:t>
            </a:r>
          </a:p>
        </p:txBody>
      </p:sp>
      <p:sp>
        <p:nvSpPr>
          <p:cNvPr id="10" name="s32-footer-9">
            <a:extLst xmlns:a="http://schemas.openxmlformats.org/drawingml/2006/main">
              <a:ext uri="{FF2B5EF4-FFF2-40B4-BE49-F238E27FC236}">
                <a16:creationId xmlns:a16="http://schemas.microsoft.com/office/drawing/2014/main" id="{3D98AE83-8F22-48D3-BFCA-9C68FF3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1" name="s32-footer-10">
            <a:extLst xmlns:a="http://schemas.openxmlformats.org/drawingml/2006/main">
              <a:ext uri="{FF2B5EF4-FFF2-40B4-BE49-F238E27FC236}">
                <a16:creationId xmlns:a16="http://schemas.microsoft.com/office/drawing/2014/main" id="{B26945A3-2A3A-4389-AF0B-1F91CF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10517831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33-text-0">
            <a:extLst xmlns:a="http://schemas.openxmlformats.org/drawingml/2006/main">
              <a:ext uri="{FF2B5EF4-FFF2-40B4-BE49-F238E27FC236}">
                <a16:creationId xmlns:a16="http://schemas.microsoft.com/office/drawing/2014/main" id="{7E21DB5B-6368-4C09-B3BF-2903E458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研究与实践的对话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770a6fb34f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3-title-2">
            <a:extLst xmlns:a="http://schemas.openxmlformats.org/drawingml/2006/main">
              <a:ext uri="{FF2B5EF4-FFF2-40B4-BE49-F238E27FC236}">
                <a16:creationId xmlns:a16="http://schemas.microsoft.com/office/drawing/2014/main" id="{087B9D1F-6C45-46F0-ADB5-E21AF3D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四份值得继续读的材料</a:t>
            </a:r>
          </a:p>
        </p:txBody>
      </p:sp>
      <p:sp>
        <p:nvSpPr>
          <p:cNvPr id="4" name="s33-rect-3">
            <a:extLst xmlns:a="http://schemas.openxmlformats.org/drawingml/2006/main">
              <a:ext uri="{FF2B5EF4-FFF2-40B4-BE49-F238E27FC236}">
                <a16:creationId xmlns:a16="http://schemas.microsoft.com/office/drawing/2014/main" id="{8BC692E0-1145-436A-B364-FE81D40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33-text-4">
            <a:extLst xmlns:a="http://schemas.openxmlformats.org/drawingml/2006/main">
              <a:ext uri="{FF2B5EF4-FFF2-40B4-BE49-F238E27FC236}">
                <a16:creationId xmlns:a16="http://schemas.microsoft.com/office/drawing/2014/main" id="{2DE2D2EE-93C3-428D-8780-1F78535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UNESCO · 2024</a:t>
            </a:r>
          </a:p>
        </p:txBody>
      </p:sp>
      <p:sp>
        <p:nvSpPr>
          <p:cNvPr id="6" name="s33-text-5">
            <a:extLst xmlns:a="http://schemas.openxmlformats.org/drawingml/2006/main">
              <a:ext uri="{FF2B5EF4-FFF2-40B4-BE49-F238E27FC236}">
                <a16:creationId xmlns:a16="http://schemas.microsoft.com/office/drawing/2014/main" id="{3722B82E-B240-49A1-910C-94A12F38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05025"/>
            <a:ext cx="730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 competency framework for teachers：教师AI能力、教学法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与专业学习。</a:t>
            </a:r>
          </a:p>
        </p:txBody>
      </p:sp>
      <p:sp>
        <p:nvSpPr>
          <p:cNvPr id="7" name="s33-rect-6">
            <a:extLst xmlns:a="http://schemas.openxmlformats.org/drawingml/2006/main">
              <a:ext uri="{FF2B5EF4-FFF2-40B4-BE49-F238E27FC236}">
                <a16:creationId xmlns:a16="http://schemas.microsoft.com/office/drawing/2014/main" id="{CA24A665-A2FA-42A6-BB5A-DCA4D89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33-text-7">
            <a:extLst xmlns:a="http://schemas.openxmlformats.org/drawingml/2006/main">
              <a:ext uri="{FF2B5EF4-FFF2-40B4-BE49-F238E27FC236}">
                <a16:creationId xmlns:a16="http://schemas.microsoft.com/office/drawing/2014/main" id="{073A01BD-4F95-4C89-9424-775713C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Cukurova · 2025</a:t>
            </a:r>
          </a:p>
        </p:txBody>
      </p:sp>
      <p:sp>
        <p:nvSpPr>
          <p:cNvPr id="9" name="s33-text-8">
            <a:extLst xmlns:a="http://schemas.openxmlformats.org/drawingml/2006/main">
              <a:ext uri="{FF2B5EF4-FFF2-40B4-BE49-F238E27FC236}">
                <a16:creationId xmlns:a16="http://schemas.microsoft.com/office/drawing/2014/main" id="{6A8879E5-1566-49F7-83F5-EB5C1114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19425"/>
            <a:ext cx="730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AI、人类认知与发展：思考任务自动化和人的学习之间的关系。</a:t>
            </a:r>
          </a:p>
        </p:txBody>
      </p:sp>
      <p:sp>
        <p:nvSpPr>
          <p:cNvPr id="10" name="s33-rect-9">
            <a:extLst xmlns:a="http://schemas.openxmlformats.org/drawingml/2006/main">
              <a:ext uri="{FF2B5EF4-FFF2-40B4-BE49-F238E27FC236}">
                <a16:creationId xmlns:a16="http://schemas.microsoft.com/office/drawing/2014/main" id="{5B34A935-3DA1-4ADC-AB99-60CB83B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33-text-10">
            <a:extLst xmlns:a="http://schemas.openxmlformats.org/drawingml/2006/main">
              <a:ext uri="{FF2B5EF4-FFF2-40B4-BE49-F238E27FC236}">
                <a16:creationId xmlns:a16="http://schemas.microsoft.com/office/drawing/2014/main" id="{CFCF9E46-9217-456B-AA3C-BE12C02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Sun等 · 2026</a:t>
            </a:r>
          </a:p>
        </p:txBody>
      </p:sp>
      <p:sp>
        <p:nvSpPr>
          <p:cNvPr id="12" name="s33-text-11">
            <a:extLst xmlns:a="http://schemas.openxmlformats.org/drawingml/2006/main">
              <a:ext uri="{FF2B5EF4-FFF2-40B4-BE49-F238E27FC236}">
                <a16:creationId xmlns:a16="http://schemas.microsoft.com/office/drawing/2014/main" id="{D5FCAC2B-7FA9-4D2D-8744-D659CA6B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33825"/>
            <a:ext cx="730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大学教师的GenAI能力：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素养、课程设计、教学与评价。</a:t>
            </a:r>
          </a:p>
        </p:txBody>
      </p:sp>
      <p:sp>
        <p:nvSpPr>
          <p:cNvPr id="13" name="s33-rect-12">
            <a:extLst xmlns:a="http://schemas.openxmlformats.org/drawingml/2006/main">
              <a:ext uri="{FF2B5EF4-FFF2-40B4-BE49-F238E27FC236}">
                <a16:creationId xmlns:a16="http://schemas.microsoft.com/office/drawing/2014/main" id="{26D851F3-3A3C-433D-9FDD-720146B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4" name="s33-text-13">
            <a:extLst xmlns:a="http://schemas.openxmlformats.org/drawingml/2006/main">
              <a:ext uri="{FF2B5EF4-FFF2-40B4-BE49-F238E27FC236}">
                <a16:creationId xmlns:a16="http://schemas.microsoft.com/office/drawing/2014/main" id="{9F995C1C-6156-47DF-91C1-C61F54C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Bastani等 · 2025</a:t>
            </a:r>
          </a:p>
        </p:txBody>
      </p:sp>
      <p:sp>
        <p:nvSpPr>
          <p:cNvPr id="15" name="s33-text-14">
            <a:extLst xmlns:a="http://schemas.openxmlformats.org/drawingml/2006/main">
              <a:ext uri="{FF2B5EF4-FFF2-40B4-BE49-F238E27FC236}">
                <a16:creationId xmlns:a16="http://schemas.microsoft.com/office/drawing/2014/main" id="{CFC4234B-4C45-43D2-9D38-46D87CC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48225"/>
            <a:ext cx="730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Generative AI without guardrails can harm learning：区分练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习表现与后续学习。</a:t>
            </a:r>
          </a:p>
        </p:txBody>
      </p:sp>
      <p:sp>
        <p:nvSpPr>
          <p:cNvPr id="16" name="s33-footer-15">
            <a:extLst xmlns:a="http://schemas.openxmlformats.org/drawingml/2006/main">
              <a:ext uri="{FF2B5EF4-FFF2-40B4-BE49-F238E27FC236}">
                <a16:creationId xmlns:a16="http://schemas.microsoft.com/office/drawing/2014/main" id="{6B5E0F86-B841-4656-87D1-6909991E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Miao &amp; Cukurova, 2024 · UNESCO；Cukurova, 2025 · BJET；Sun et al., 2026 · C&amp;E: AI；Bastani et al., 2025 · PNAS</a:t>
            </a:r>
          </a:p>
        </p:txBody>
      </p:sp>
      <p:sp>
        <p:nvSpPr>
          <p:cNvPr id="17" name="s33-footer-16">
            <a:extLst xmlns:a="http://schemas.openxmlformats.org/drawingml/2006/main">
              <a:ext uri="{FF2B5EF4-FFF2-40B4-BE49-F238E27FC236}">
                <a16:creationId xmlns:a16="http://schemas.microsoft.com/office/drawing/2014/main" id="{49772C7E-B6E7-4728-A0ED-9B90F2DB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439576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34-text-0">
            <a:extLst xmlns:a="http://schemas.openxmlformats.org/drawingml/2006/main">
              <a:ext uri="{FF2B5EF4-FFF2-40B4-BE49-F238E27FC236}">
                <a16:creationId xmlns:a16="http://schemas.microsoft.com/office/drawing/2014/main" id="{1C16075C-B937-4658-9129-20D4423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带回自己的课堂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a7826a68543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4-title-2">
            <a:extLst xmlns:a="http://schemas.openxmlformats.org/drawingml/2006/main">
              <a:ext uri="{FF2B5EF4-FFF2-40B4-BE49-F238E27FC236}">
                <a16:creationId xmlns:a16="http://schemas.microsoft.com/office/drawing/2014/main" id="{FE3E7759-14C1-4CE5-B068-165B5DB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下一次备课，写下这五个回答</a:t>
            </a:r>
          </a:p>
        </p:txBody>
      </p:sp>
      <p:sp>
        <p:nvSpPr>
          <p:cNvPr id="4" name="s34-rect-3">
            <a:extLst xmlns:a="http://schemas.openxmlformats.org/drawingml/2006/main">
              <a:ext uri="{FF2B5EF4-FFF2-40B4-BE49-F238E27FC236}">
                <a16:creationId xmlns:a16="http://schemas.microsoft.com/office/drawing/2014/main" id="{D3193C6C-D19C-410E-A227-4218E07D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5" name="s34-text-4">
            <a:extLst xmlns:a="http://schemas.openxmlformats.org/drawingml/2006/main">
              <a:ext uri="{FF2B5EF4-FFF2-40B4-BE49-F238E27FC236}">
                <a16:creationId xmlns:a16="http://schemas.microsoft.com/office/drawing/2014/main" id="{069FBFB6-12EE-4162-8A47-3FDF6664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01 学什么</a:t>
            </a:r>
          </a:p>
        </p:txBody>
      </p:sp>
      <p:sp>
        <p:nvSpPr>
          <p:cNvPr id="6" name="s34-text-5">
            <a:extLst xmlns:a="http://schemas.openxmlformats.org/drawingml/2006/main">
              <a:ext uri="{FF2B5EF4-FFF2-40B4-BE49-F238E27FC236}">
                <a16:creationId xmlns:a16="http://schemas.microsoft.com/office/drawing/2014/main" id="{F0F97296-3379-4438-9392-01CC8E0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学生这次要学会什么？</a:t>
            </a:r>
          </a:p>
        </p:txBody>
      </p:sp>
      <p:sp>
        <p:nvSpPr>
          <p:cNvPr id="7" name="s34-rect-6">
            <a:extLst xmlns:a="http://schemas.openxmlformats.org/drawingml/2006/main">
              <a:ext uri="{FF2B5EF4-FFF2-40B4-BE49-F238E27FC236}">
                <a16:creationId xmlns:a16="http://schemas.microsoft.com/office/drawing/2014/main" id="{1D77F30C-2BFE-4B6F-AA26-04BC944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8" name="s34-text-7">
            <a:extLst xmlns:a="http://schemas.openxmlformats.org/drawingml/2006/main">
              <a:ext uri="{FF2B5EF4-FFF2-40B4-BE49-F238E27FC236}">
                <a16:creationId xmlns:a16="http://schemas.microsoft.com/office/drawing/2014/main" id="{91B211DA-7FB3-4984-BCEA-83AA53C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02 怎么学</a:t>
            </a:r>
          </a:p>
        </p:txBody>
      </p:sp>
      <p:sp>
        <p:nvSpPr>
          <p:cNvPr id="9" name="s34-text-8">
            <a:extLst xmlns:a="http://schemas.openxmlformats.org/drawingml/2006/main">
              <a:ext uri="{FF2B5EF4-FFF2-40B4-BE49-F238E27FC236}">
                <a16:creationId xmlns:a16="http://schemas.microsoft.com/office/drawing/2014/main" id="{13604CBA-D35E-4E4D-A239-36414E5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哪一步需要他们亲自想、亲自做？</a:t>
            </a:r>
          </a:p>
        </p:txBody>
      </p:sp>
      <p:sp>
        <p:nvSpPr>
          <p:cNvPr id="10" name="s34-rect-9">
            <a:extLst xmlns:a="http://schemas.openxmlformats.org/drawingml/2006/main">
              <a:ext uri="{FF2B5EF4-FFF2-40B4-BE49-F238E27FC236}">
                <a16:creationId xmlns:a16="http://schemas.microsoft.com/office/drawing/2014/main" id="{1BE68478-658C-4A75-A9FF-84B1C74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34-text-10">
            <a:extLst xmlns:a="http://schemas.openxmlformats.org/drawingml/2006/main">
              <a:ext uri="{FF2B5EF4-FFF2-40B4-BE49-F238E27FC236}">
                <a16:creationId xmlns:a16="http://schemas.microsoft.com/office/drawing/2014/main" id="{48107141-2525-4378-B1A4-34B2E8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03 AI做什么</a:t>
            </a:r>
          </a:p>
        </p:txBody>
      </p:sp>
      <p:sp>
        <p:nvSpPr>
          <p:cNvPr id="12" name="s34-text-11">
            <a:extLst xmlns:a="http://schemas.openxmlformats.org/drawingml/2006/main">
              <a:ext uri="{FF2B5EF4-FFF2-40B4-BE49-F238E27FC236}">
                <a16:creationId xmlns:a16="http://schemas.microsoft.com/office/drawing/2014/main" id="{C4B8FA09-C3C5-4BBA-AF84-1DE27D3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4330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交给AI哪些工作，会怎样改变学习？</a:t>
            </a:r>
          </a:p>
        </p:txBody>
      </p:sp>
      <p:sp>
        <p:nvSpPr>
          <p:cNvPr id="13" name="s34-rect-12">
            <a:extLst xmlns:a="http://schemas.openxmlformats.org/drawingml/2006/main">
              <a:ext uri="{FF2B5EF4-FFF2-40B4-BE49-F238E27FC236}">
                <a16:creationId xmlns:a16="http://schemas.microsoft.com/office/drawing/2014/main" id="{E74DCEF7-1939-4C17-AA24-532ACA49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4" name="s34-text-13">
            <a:extLst xmlns:a="http://schemas.openxmlformats.org/drawingml/2006/main">
              <a:ext uri="{FF2B5EF4-FFF2-40B4-BE49-F238E27FC236}">
                <a16:creationId xmlns:a16="http://schemas.microsoft.com/office/drawing/2014/main" id="{DA1B40DF-DE34-4B2E-AAFC-A20DDEA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04 看谁</a:t>
            </a:r>
          </a:p>
        </p:txBody>
      </p:sp>
      <p:sp>
        <p:nvSpPr>
          <p:cNvPr id="15" name="s34-text-14">
            <a:extLst xmlns:a="http://schemas.openxmlformats.org/drawingml/2006/main">
              <a:ext uri="{FF2B5EF4-FFF2-40B4-BE49-F238E27FC236}">
                <a16:creationId xmlns:a16="http://schemas.microsoft.com/office/drawing/2014/main" id="{E4E3EA53-A55E-4718-869A-3B3F2F9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57675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谁有机会解释和决定？谁还没参与？</a:t>
            </a:r>
          </a:p>
        </p:txBody>
      </p:sp>
      <p:sp>
        <p:nvSpPr>
          <p:cNvPr id="16" name="s34-rect-15">
            <a:extLst xmlns:a="http://schemas.openxmlformats.org/drawingml/2006/main">
              <a:ext uri="{FF2B5EF4-FFF2-40B4-BE49-F238E27FC236}">
                <a16:creationId xmlns:a16="http://schemas.microsoft.com/office/drawing/2014/main" id="{AB374E53-297F-41E7-A44D-858F4FE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7" name="s34-text-16">
            <a:extLst xmlns:a="http://schemas.openxmlformats.org/drawingml/2006/main">
              <a:ext uri="{FF2B5EF4-FFF2-40B4-BE49-F238E27FC236}">
                <a16:creationId xmlns:a16="http://schemas.microsoft.com/office/drawing/2014/main" id="{AF736026-2DA7-4115-8C44-FFF02343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05 怎样改</a:t>
            </a:r>
          </a:p>
        </p:txBody>
      </p:sp>
      <p:sp>
        <p:nvSpPr>
          <p:cNvPr id="18" name="s34-text-17">
            <a:extLst xmlns:a="http://schemas.openxmlformats.org/drawingml/2006/main">
              <a:ext uri="{FF2B5EF4-FFF2-40B4-BE49-F238E27FC236}">
                <a16:creationId xmlns:a16="http://schemas.microsoft.com/office/drawing/2014/main" id="{45AF7D28-0350-4A34-B6CF-F0A783D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7448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看到什么表现，我会调整这次安排？</a:t>
            </a:r>
          </a:p>
        </p:txBody>
      </p:sp>
      <p:sp>
        <p:nvSpPr>
          <p:cNvPr id="19" name="s34-footer-18">
            <a:extLst xmlns:a="http://schemas.openxmlformats.org/drawingml/2006/main">
              <a:ext uri="{FF2B5EF4-FFF2-40B4-BE49-F238E27FC236}">
                <a16:creationId xmlns:a16="http://schemas.microsoft.com/office/drawing/2014/main" id="{2B831F5F-F8E4-49CA-982D-49D5FE7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20" name="s34-footer-19">
            <a:extLst xmlns:a="http://schemas.openxmlformats.org/drawingml/2006/main">
              <a:ext uri="{FF2B5EF4-FFF2-40B4-BE49-F238E27FC236}">
                <a16:creationId xmlns:a16="http://schemas.microsoft.com/office/drawing/2014/main" id="{0D4BB752-07C4-4C49-A7B0-596D48A2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4957778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35-text-0">
            <a:extLst xmlns:a="http://schemas.openxmlformats.org/drawingml/2006/main">
              <a:ext uri="{FF2B5EF4-FFF2-40B4-BE49-F238E27FC236}">
                <a16:creationId xmlns:a16="http://schemas.microsoft.com/office/drawing/2014/main" id="{058DF99E-D44A-4492-BE4E-D20088D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带回自己的课堂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88959d8da4b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403908"/>
            <a:ext cx="1457325" cy="335185"/>
          </a:xfrm>
          <a:prstGeom xmlns:a="http://schemas.openxmlformats.org/drawingml/2006/main" prst="rect">
            <a:avLst/>
          </a:prstGeom>
        </p:spPr>
      </p:pic>
      <p:sp>
        <p:nvSpPr>
          <p:cNvPr id="3" name="s35-title-2">
            <a:extLst xmlns:a="http://schemas.openxmlformats.org/drawingml/2006/main">
              <a:ext uri="{FF2B5EF4-FFF2-40B4-BE49-F238E27FC236}">
                <a16:creationId xmlns:a16="http://schemas.microsoft.com/office/drawing/2014/main" id="{F76DAEED-498B-418D-9029-2627B9C9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选一节课，只改一个环节</a:t>
            </a:r>
          </a:p>
        </p:txBody>
      </p:sp>
      <p:sp>
        <p:nvSpPr>
          <p:cNvPr id="4" name="s35-text-3">
            <a:extLst xmlns:a="http://schemas.openxmlformats.org/drawingml/2006/main">
              <a:ext uri="{FF2B5EF4-FFF2-40B4-BE49-F238E27FC236}">
                <a16:creationId xmlns:a16="http://schemas.microsoft.com/office/drawing/2014/main" id="{517DF98C-1F7A-41CA-B9F2-40019F7A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先定目标</a:t>
            </a:r>
          </a:p>
        </p:txBody>
      </p:sp>
      <p:sp>
        <p:nvSpPr>
          <p:cNvPr id="5" name="s35-text-4">
            <a:extLst xmlns:a="http://schemas.openxmlformats.org/drawingml/2006/main">
              <a:ext uri="{FF2B5EF4-FFF2-40B4-BE49-F238E27FC236}">
                <a16:creationId xmlns:a16="http://schemas.microsoft.com/office/drawing/2014/main" id="{8540E526-003F-4154-A6E4-9F77857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479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写出学生要学会的一件事，以及需要亲历的一步。</a:t>
            </a:r>
          </a:p>
        </p:txBody>
      </p:sp>
      <p:sp>
        <p:nvSpPr>
          <p:cNvPr id="6" name="s35-text-5">
            <a:extLst xmlns:a="http://schemas.openxmlformats.org/drawingml/2006/main">
              <a:ext uri="{FF2B5EF4-FFF2-40B4-BE49-F238E27FC236}">
                <a16:creationId xmlns:a16="http://schemas.microsoft.com/office/drawing/2014/main" id="{BB410363-B2FD-42B5-916E-89AE05FA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再改安排</a:t>
            </a:r>
          </a:p>
        </p:txBody>
      </p:sp>
      <p:sp>
        <p:nvSpPr>
          <p:cNvPr id="7" name="s35-text-6">
            <a:extLst xmlns:a="http://schemas.openxmlformats.org/drawingml/2006/main">
              <a:ext uri="{FF2B5EF4-FFF2-40B4-BE49-F238E27FC236}">
                <a16:creationId xmlns:a16="http://schemas.microsoft.com/office/drawing/2014/main" id="{D4572587-50C6-4E8E-8EF2-DBC7A60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528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明确AI做什么、学生做什么，调整一处分工或顺序。</a:t>
            </a:r>
          </a:p>
        </p:txBody>
      </p:sp>
      <p:sp>
        <p:nvSpPr>
          <p:cNvPr id="8" name="s35-text-7">
            <a:extLst xmlns:a="http://schemas.openxmlformats.org/drawingml/2006/main">
              <a:ext uri="{FF2B5EF4-FFF2-40B4-BE49-F238E27FC236}">
                <a16:creationId xmlns:a16="http://schemas.microsoft.com/office/drawing/2014/main" id="{493FAF78-C3A7-4269-B9EF-6BCE4019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与同伴核对</a:t>
            </a:r>
          </a:p>
        </p:txBody>
      </p:sp>
      <p:sp>
        <p:nvSpPr>
          <p:cNvPr id="9" name="s35-text-8">
            <a:extLst xmlns:a="http://schemas.openxmlformats.org/drawingml/2006/main">
              <a:ext uri="{FF2B5EF4-FFF2-40B4-BE49-F238E27FC236}">
                <a16:creationId xmlns:a16="http://schemas.microsoft.com/office/drawing/2014/main" id="{214BFE58-1A2A-4798-AA3B-D19B69B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57700"/>
            <a:ext cx="7743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你准备看什么？如果没有发生，下一步怎么办？</a:t>
            </a:r>
          </a:p>
        </p:txBody>
      </p:sp>
      <p:sp>
        <p:nvSpPr>
          <p:cNvPr id="10" name="s35-rect-9">
            <a:extLst xmlns:a="http://schemas.openxmlformats.org/drawingml/2006/main">
              <a:ext uri="{FF2B5EF4-FFF2-40B4-BE49-F238E27FC236}">
                <a16:creationId xmlns:a16="http://schemas.microsoft.com/office/drawing/2014/main" id="{E5D45FBF-08E6-4B57-9CFC-233A0CF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11" name="s35-text-10">
            <a:extLst xmlns:a="http://schemas.openxmlformats.org/drawingml/2006/main">
              <a:ext uri="{FF2B5EF4-FFF2-40B4-BE49-F238E27FC236}">
                <a16:creationId xmlns:a16="http://schemas.microsoft.com/office/drawing/2014/main" id="{99DA6FA5-7A34-429A-8895-E2FD5675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把改动写到下周的教案里，并约同伴一起看效果。</a:t>
            </a:r>
          </a:p>
        </p:txBody>
      </p:sp>
      <p:sp>
        <p:nvSpPr>
          <p:cNvPr id="12" name="s35-footer-11">
            <a:extLst xmlns:a="http://schemas.openxmlformats.org/drawingml/2006/main">
              <a:ext uri="{FF2B5EF4-FFF2-40B4-BE49-F238E27FC236}">
                <a16:creationId xmlns:a16="http://schemas.microsoft.com/office/drawing/2014/main" id="{1B3ABA51-E5E1-43D5-88E7-74F117D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13" name="s35-footer-12">
            <a:extLst xmlns:a="http://schemas.openxmlformats.org/drawingml/2006/main">
              <a:ext uri="{FF2B5EF4-FFF2-40B4-BE49-F238E27FC236}">
                <a16:creationId xmlns:a16="http://schemas.microsoft.com/office/drawing/2014/main" id="{A83EC00E-3A46-4537-A97E-749B55D4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8350185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1df271eda45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54581"/>
            <a:ext cx="1762125" cy="405289"/>
          </a:xfrm>
          <a:prstGeom xmlns:a="http://schemas.openxmlformats.org/drawingml/2006/main" prst="rect">
            <a:avLst/>
          </a:prstGeom>
        </p:spPr>
      </p:pic>
      <p:sp>
        <p:nvSpPr>
          <p:cNvPr id="2" name="s36-text-1">
            <a:extLst xmlns:a="http://schemas.openxmlformats.org/drawingml/2006/main">
              <a:ext uri="{FF2B5EF4-FFF2-40B4-BE49-F238E27FC236}">
                <a16:creationId xmlns:a16="http://schemas.microsoft.com/office/drawing/2014/main" id="{37232008-608A-443E-B075-81C5DB8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把问题带回课堂</a:t>
            </a:r>
          </a:p>
        </p:txBody>
      </p:sp>
      <p:sp>
        <p:nvSpPr>
          <p:cNvPr id="3" name="s36-text-2">
            <a:extLst xmlns:a="http://schemas.openxmlformats.org/drawingml/2006/main">
              <a:ext uri="{FF2B5EF4-FFF2-40B4-BE49-F238E27FC236}">
                <a16:creationId xmlns:a16="http://schemas.microsoft.com/office/drawing/2014/main" id="{F1214633-C359-44C1-8884-22D7FEF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57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111820"/>
                </a:solidFill>
                <a:latin typeface="Noto Sans CJK SC"/>
                <a:ea typeface="Noto Sans CJK SC"/>
                <a:cs typeface="Noto Sans CJK SC"/>
              </a:rPr>
              <a:t>教育要成就什么？</a:t>
            </a:r>
          </a:p>
        </p:txBody>
      </p:sp>
      <p:sp>
        <p:nvSpPr>
          <p:cNvPr id="4" name="s36-text-3">
            <a:extLst xmlns:a="http://schemas.openxmlformats.org/drawingml/2006/main">
              <a:ext uri="{FF2B5EF4-FFF2-40B4-BE49-F238E27FC236}">
                <a16:creationId xmlns:a16="http://schemas.microsoft.com/office/drawing/2014/main" id="{6FF071B1-9303-4247-BCE5-1734822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让学生能解释自己的想法，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5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在新问题面前作出判断，与他人一起把事情做成。</a:t>
            </a:r>
          </a:p>
        </p:txBody>
      </p:sp>
      <p:sp>
        <p:nvSpPr>
          <p:cNvPr id="5" name="s36-rect-4">
            <a:extLst xmlns:a="http://schemas.openxmlformats.org/drawingml/2006/main">
              <a:ext uri="{FF2B5EF4-FFF2-40B4-BE49-F238E27FC236}">
                <a16:creationId xmlns:a16="http://schemas.microsoft.com/office/drawing/2014/main" id="{E7E37024-C736-452E-96E8-68247F57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D8"/>
          </a:solidFill>
          <a:ln xmlns:a="http://schemas.openxmlformats.org/drawingml/2006/main" w="0">
            <a:noFill/>
          </a:ln>
        </p:spPr>
      </p:sp>
      <p:sp>
        <p:nvSpPr>
          <p:cNvPr id="6" name="s36-text-5">
            <a:extLst xmlns:a="http://schemas.openxmlformats.org/drawingml/2006/main">
              <a:ext uri="{FF2B5EF4-FFF2-40B4-BE49-F238E27FC236}">
                <a16:creationId xmlns:a16="http://schemas.microsoft.com/office/drawing/2014/main" id="{A33C9233-A027-4AA6-8DD1-6AC2869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66AC"/>
                </a:solidFill>
                <a:latin typeface="Noto Sans CJK SC"/>
                <a:ea typeface="Noto Sans CJK SC"/>
                <a:cs typeface="Noto Sans CJK SC"/>
              </a:rPr>
              <a:t>下一节课，你准备让学生亲自作出哪个有分量的判断？</a:t>
            </a:r>
          </a:p>
        </p:txBody>
      </p:sp>
      <p:sp>
        <p:nvSpPr>
          <p:cNvPr id="7" name="s36-footer-6">
            <a:extLst xmlns:a="http://schemas.openxmlformats.org/drawingml/2006/main">
              <a:ext uri="{FF2B5EF4-FFF2-40B4-BE49-F238E27FC236}">
                <a16:creationId xmlns:a16="http://schemas.microsoft.com/office/drawing/2014/main" id="{486443E2-B796-4488-9A4E-59A9328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辛海洋 Tony Xin · CocoRobo</a:t>
            </a:r>
          </a:p>
        </p:txBody>
      </p:sp>
      <p:sp>
        <p:nvSpPr>
          <p:cNvPr id="8" name="s36-footer-7">
            <a:extLst xmlns:a="http://schemas.openxmlformats.org/drawingml/2006/main">
              <a:ext uri="{FF2B5EF4-FFF2-40B4-BE49-F238E27FC236}">
                <a16:creationId xmlns:a16="http://schemas.microsoft.com/office/drawing/2014/main" id="{3348782C-7AC0-4680-B0D9-756A6592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  <a:def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53616C"/>
                </a:solidFill>
                <a:latin typeface="Noto Sans CJK SC"/>
                <a:ea typeface="Noto Sans CJK SC"/>
                <a:cs typeface="Noto Sans CJK SC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1761765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2026-09-08T12:49:18.6580000Z</dcterms:created>
  <dcterms:modified xsi:type="dcterms:W3CDTF">2026-09-08T12:49:18.6580000Z</dcterms:modified>
</coreProperties>
</file>