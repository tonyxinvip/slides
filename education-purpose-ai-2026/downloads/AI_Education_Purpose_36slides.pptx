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b3e2f78dc204a2e" /><Relationship Type="http://schemas.openxmlformats.org/officeDocument/2006/relationships/extended-properties" Target="/docProps/app.xml" Id="R5d0d95aec4b7465d" /><Relationship Type="http://schemas.openxmlformats.org/officeDocument/2006/relationships/officeDocument" Target="/ppt/presentation.xml" Id="R16b06af88f57416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849f27202364753"/>
  </p:sldMasterIdLst>
  <p:notesMasterIdLst>
    <p:notesMasterId xmlns:r="http://schemas.openxmlformats.org/officeDocument/2006/relationships" r:id="R32496afe7672491a"/>
  </p:notesMasterIdLst>
  <p:sldIdLst>
    <p:sldId xmlns:r="http://schemas.openxmlformats.org/officeDocument/2006/relationships" id="256" r:id="R81dcbe4b2d204643"/>
    <p:sldId xmlns:r="http://schemas.openxmlformats.org/officeDocument/2006/relationships" id="257" r:id="R6953a50dac9a4f82"/>
    <p:sldId xmlns:r="http://schemas.openxmlformats.org/officeDocument/2006/relationships" id="258" r:id="Ref46de3d316d4e6f"/>
    <p:sldId xmlns:r="http://schemas.openxmlformats.org/officeDocument/2006/relationships" id="259" r:id="R445d25cbfa754775"/>
    <p:sldId xmlns:r="http://schemas.openxmlformats.org/officeDocument/2006/relationships" id="260" r:id="Rea0d46f773f14f50"/>
    <p:sldId xmlns:r="http://schemas.openxmlformats.org/officeDocument/2006/relationships" id="261" r:id="R6472ab7a62954f02"/>
    <p:sldId xmlns:r="http://schemas.openxmlformats.org/officeDocument/2006/relationships" id="262" r:id="Re18e9ba984094ffd"/>
    <p:sldId xmlns:r="http://schemas.openxmlformats.org/officeDocument/2006/relationships" id="263" r:id="R2cb2fdadecd7487b"/>
    <p:sldId xmlns:r="http://schemas.openxmlformats.org/officeDocument/2006/relationships" id="264" r:id="R3641819e7c7a4512"/>
    <p:sldId xmlns:r="http://schemas.openxmlformats.org/officeDocument/2006/relationships" id="265" r:id="Rcd174b0337094e47"/>
    <p:sldId xmlns:r="http://schemas.openxmlformats.org/officeDocument/2006/relationships" id="266" r:id="R77a0601951464525"/>
    <p:sldId xmlns:r="http://schemas.openxmlformats.org/officeDocument/2006/relationships" id="267" r:id="R923cb0c631514903"/>
    <p:sldId xmlns:r="http://schemas.openxmlformats.org/officeDocument/2006/relationships" id="268" r:id="Rb2fe31fcb33e48cd"/>
    <p:sldId xmlns:r="http://schemas.openxmlformats.org/officeDocument/2006/relationships" id="269" r:id="R34edc28efa204809"/>
    <p:sldId xmlns:r="http://schemas.openxmlformats.org/officeDocument/2006/relationships" id="270" r:id="Rd65b85332227412c"/>
    <p:sldId xmlns:r="http://schemas.openxmlformats.org/officeDocument/2006/relationships" id="271" r:id="R126ad43521234428"/>
    <p:sldId xmlns:r="http://schemas.openxmlformats.org/officeDocument/2006/relationships" id="272" r:id="R24ac77537fbb4014"/>
    <p:sldId xmlns:r="http://schemas.openxmlformats.org/officeDocument/2006/relationships" id="273" r:id="Rd05bfa4c867c4953"/>
    <p:sldId xmlns:r="http://schemas.openxmlformats.org/officeDocument/2006/relationships" id="274" r:id="R526e979e2af940b3"/>
    <p:sldId xmlns:r="http://schemas.openxmlformats.org/officeDocument/2006/relationships" id="275" r:id="R764df8e9791e4d1b"/>
    <p:sldId xmlns:r="http://schemas.openxmlformats.org/officeDocument/2006/relationships" id="276" r:id="R2341e9edd1114816"/>
    <p:sldId xmlns:r="http://schemas.openxmlformats.org/officeDocument/2006/relationships" id="277" r:id="R5b0f225542d04997"/>
    <p:sldId xmlns:r="http://schemas.openxmlformats.org/officeDocument/2006/relationships" id="278" r:id="Rcc5886a7a56a4413"/>
    <p:sldId xmlns:r="http://schemas.openxmlformats.org/officeDocument/2006/relationships" id="279" r:id="R15ce3a6135ce4410"/>
    <p:sldId xmlns:r="http://schemas.openxmlformats.org/officeDocument/2006/relationships" id="280" r:id="R3ea7db8fda31483c"/>
    <p:sldId xmlns:r="http://schemas.openxmlformats.org/officeDocument/2006/relationships" id="281" r:id="Rd6e35fdd8b284feb"/>
    <p:sldId xmlns:r="http://schemas.openxmlformats.org/officeDocument/2006/relationships" id="282" r:id="R7d3a3e1ee5eb477c"/>
    <p:sldId xmlns:r="http://schemas.openxmlformats.org/officeDocument/2006/relationships" id="283" r:id="R106360b602084b98"/>
    <p:sldId xmlns:r="http://schemas.openxmlformats.org/officeDocument/2006/relationships" id="284" r:id="R7aa3287b625a4550"/>
    <p:sldId xmlns:r="http://schemas.openxmlformats.org/officeDocument/2006/relationships" id="285" r:id="Rfb3b777f6d714e48"/>
    <p:sldId xmlns:r="http://schemas.openxmlformats.org/officeDocument/2006/relationships" id="286" r:id="R8f7aecd3e5fa44aa"/>
    <p:sldId xmlns:r="http://schemas.openxmlformats.org/officeDocument/2006/relationships" id="287" r:id="Rc973351801234503"/>
    <p:sldId xmlns:r="http://schemas.openxmlformats.org/officeDocument/2006/relationships" id="288" r:id="R666ed7dc46f3498e"/>
    <p:sldId xmlns:r="http://schemas.openxmlformats.org/officeDocument/2006/relationships" id="289" r:id="Ra73cc9909fbe4653"/>
    <p:sldId xmlns:r="http://schemas.openxmlformats.org/officeDocument/2006/relationships" id="290" r:id="R63db4cf2512041bd"/>
    <p:sldId xmlns:r="http://schemas.openxmlformats.org/officeDocument/2006/relationships" id="291" r:id="Re67dd93bf80544b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4fcbc635f2f4393" /><Relationship Type="http://schemas.openxmlformats.org/officeDocument/2006/relationships/slideMaster" Target="/ppt/slideMasters/slideMaster1.xml" Id="R1849f27202364753" /><Relationship Type="http://schemas.openxmlformats.org/officeDocument/2006/relationships/notesMaster" Target="/ppt/notesMasters/notesMaster1.xml" Id="R32496afe7672491a" /><Relationship Type="http://schemas.openxmlformats.org/officeDocument/2006/relationships/presProps" Target="/ppt/presProps.xml" Id="Rcc1ede1d00cf4a1e" /><Relationship Type="http://schemas.openxmlformats.org/officeDocument/2006/relationships/tableStyles" Target="/ppt/tableStyles.xml" Id="R143a72f433464820" /><Relationship Type="http://schemas.openxmlformats.org/officeDocument/2006/relationships/slide" Target="/ppt/slides/slide1.xml" Id="R81dcbe4b2d204643" /><Relationship Type="http://schemas.openxmlformats.org/officeDocument/2006/relationships/slide" Target="/ppt/slides/slide2.xml" Id="R6953a50dac9a4f82" /><Relationship Type="http://schemas.openxmlformats.org/officeDocument/2006/relationships/slide" Target="/ppt/slides/slide3.xml" Id="Ref46de3d316d4e6f" /><Relationship Type="http://schemas.openxmlformats.org/officeDocument/2006/relationships/slide" Target="/ppt/slides/slide4.xml" Id="R445d25cbfa754775" /><Relationship Type="http://schemas.openxmlformats.org/officeDocument/2006/relationships/slide" Target="/ppt/slides/slide5.xml" Id="Rea0d46f773f14f50" /><Relationship Type="http://schemas.openxmlformats.org/officeDocument/2006/relationships/slide" Target="/ppt/slides/slide6.xml" Id="R6472ab7a62954f02" /><Relationship Type="http://schemas.openxmlformats.org/officeDocument/2006/relationships/slide" Target="/ppt/slides/slide7.xml" Id="Re18e9ba984094ffd" /><Relationship Type="http://schemas.openxmlformats.org/officeDocument/2006/relationships/slide" Target="/ppt/slides/slide8.xml" Id="R2cb2fdadecd7487b" /><Relationship Type="http://schemas.openxmlformats.org/officeDocument/2006/relationships/slide" Target="/ppt/slides/slide9.xml" Id="R3641819e7c7a4512" /><Relationship Type="http://schemas.openxmlformats.org/officeDocument/2006/relationships/slide" Target="/ppt/slides/slide10.xml" Id="Rcd174b0337094e47" /><Relationship Type="http://schemas.openxmlformats.org/officeDocument/2006/relationships/slide" Target="/ppt/slides/slide11.xml" Id="R77a0601951464525" /><Relationship Type="http://schemas.openxmlformats.org/officeDocument/2006/relationships/slide" Target="/ppt/slides/slide12.xml" Id="R923cb0c631514903" /><Relationship Type="http://schemas.openxmlformats.org/officeDocument/2006/relationships/slide" Target="/ppt/slides/slide13.xml" Id="Rb2fe31fcb33e48cd" /><Relationship Type="http://schemas.openxmlformats.org/officeDocument/2006/relationships/slide" Target="/ppt/slides/slide14.xml" Id="R34edc28efa204809" /><Relationship Type="http://schemas.openxmlformats.org/officeDocument/2006/relationships/slide" Target="/ppt/slides/slide15.xml" Id="Rd65b85332227412c" /><Relationship Type="http://schemas.openxmlformats.org/officeDocument/2006/relationships/slide" Target="/ppt/slides/slide16.xml" Id="R126ad43521234428" /><Relationship Type="http://schemas.openxmlformats.org/officeDocument/2006/relationships/slide" Target="/ppt/slides/slide17.xml" Id="R24ac77537fbb4014" /><Relationship Type="http://schemas.openxmlformats.org/officeDocument/2006/relationships/slide" Target="/ppt/slides/slide18.xml" Id="Rd05bfa4c867c4953" /><Relationship Type="http://schemas.openxmlformats.org/officeDocument/2006/relationships/slide" Target="/ppt/slides/slide19.xml" Id="R526e979e2af940b3" /><Relationship Type="http://schemas.openxmlformats.org/officeDocument/2006/relationships/slide" Target="/ppt/slides/slide20.xml" Id="R764df8e9791e4d1b" /><Relationship Type="http://schemas.openxmlformats.org/officeDocument/2006/relationships/slide" Target="/ppt/slides/slide21.xml" Id="R2341e9edd1114816" /><Relationship Type="http://schemas.openxmlformats.org/officeDocument/2006/relationships/slide" Target="/ppt/slides/slide22.xml" Id="R5b0f225542d04997" /><Relationship Type="http://schemas.openxmlformats.org/officeDocument/2006/relationships/slide" Target="/ppt/slides/slide23.xml" Id="Rcc5886a7a56a4413" /><Relationship Type="http://schemas.openxmlformats.org/officeDocument/2006/relationships/slide" Target="/ppt/slides/slide24.xml" Id="R15ce3a6135ce4410" /><Relationship Type="http://schemas.openxmlformats.org/officeDocument/2006/relationships/slide" Target="/ppt/slides/slide25.xml" Id="R3ea7db8fda31483c" /><Relationship Type="http://schemas.openxmlformats.org/officeDocument/2006/relationships/slide" Target="/ppt/slides/slide26.xml" Id="Rd6e35fdd8b284feb" /><Relationship Type="http://schemas.openxmlformats.org/officeDocument/2006/relationships/slide" Target="/ppt/slides/slide27.xml" Id="R7d3a3e1ee5eb477c" /><Relationship Type="http://schemas.openxmlformats.org/officeDocument/2006/relationships/slide" Target="/ppt/slides/slide28.xml" Id="R106360b602084b98" /><Relationship Type="http://schemas.openxmlformats.org/officeDocument/2006/relationships/slide" Target="/ppt/slides/slide29.xml" Id="R7aa3287b625a4550" /><Relationship Type="http://schemas.openxmlformats.org/officeDocument/2006/relationships/slide" Target="/ppt/slides/slide30.xml" Id="Rfb3b777f6d714e48" /><Relationship Type="http://schemas.openxmlformats.org/officeDocument/2006/relationships/slide" Target="/ppt/slides/slide31.xml" Id="R8f7aecd3e5fa44aa" /><Relationship Type="http://schemas.openxmlformats.org/officeDocument/2006/relationships/slide" Target="/ppt/slides/slide32.xml" Id="Rc973351801234503" /><Relationship Type="http://schemas.openxmlformats.org/officeDocument/2006/relationships/slide" Target="/ppt/slides/slide33.xml" Id="R666ed7dc46f3498e" /><Relationship Type="http://schemas.openxmlformats.org/officeDocument/2006/relationships/slide" Target="/ppt/slides/slide34.xml" Id="Ra73cc9909fbe4653" /><Relationship Type="http://schemas.openxmlformats.org/officeDocument/2006/relationships/slide" Target="/ppt/slides/slide35.xml" Id="R63db4cf2512041bd" /><Relationship Type="http://schemas.openxmlformats.org/officeDocument/2006/relationships/slide" Target="/ppt/slides/slide36.xml" Id="Re67dd93bf80544b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91b278ab5e9473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df3d456514b4a72" /><Relationship Type="http://schemas.openxmlformats.org/officeDocument/2006/relationships/notesMaster" Target="/ppt/notesMasters/notesMaster1.xml" Id="R66f5559bef14459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bbaf31fcdd5408f" /><Relationship Type="http://schemas.openxmlformats.org/officeDocument/2006/relationships/notesMaster" Target="/ppt/notesMasters/notesMaster1.xml" Id="R95402faaa0e3452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d3d916dfd0b44ab" /><Relationship Type="http://schemas.openxmlformats.org/officeDocument/2006/relationships/notesMaster" Target="/ppt/notesMasters/notesMaster1.xml" Id="Rd02ff9ecf6364f9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e0c5ad259c1461f" /><Relationship Type="http://schemas.openxmlformats.org/officeDocument/2006/relationships/notesMaster" Target="/ppt/notesMasters/notesMaster1.xml" Id="Red02dcad2beb4a8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747e49536b34035" /><Relationship Type="http://schemas.openxmlformats.org/officeDocument/2006/relationships/notesMaster" Target="/ppt/notesMasters/notesMaster1.xml" Id="R67156fe364a949f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0e68e1849614719" /><Relationship Type="http://schemas.openxmlformats.org/officeDocument/2006/relationships/notesMaster" Target="/ppt/notesMasters/notesMaster1.xml" Id="R85017ad347354c9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0a4cc6f44d14254" /><Relationship Type="http://schemas.openxmlformats.org/officeDocument/2006/relationships/notesMaster" Target="/ppt/notesMasters/notesMaster1.xml" Id="R1c0e1c7af5ef47b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181260b316a4689" /><Relationship Type="http://schemas.openxmlformats.org/officeDocument/2006/relationships/notesMaster" Target="/ppt/notesMasters/notesMaster1.xml" Id="R7550d0f367e547b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9900036f0b044e4" /><Relationship Type="http://schemas.openxmlformats.org/officeDocument/2006/relationships/notesMaster" Target="/ppt/notesMasters/notesMaster1.xml" Id="Rd78a04efe3b6442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86379afdff94f4c" /><Relationship Type="http://schemas.openxmlformats.org/officeDocument/2006/relationships/notesMaster" Target="/ppt/notesMasters/notesMaster1.xml" Id="R972532a566a6439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a36fed43377469c" /><Relationship Type="http://schemas.openxmlformats.org/officeDocument/2006/relationships/notesMaster" Target="/ppt/notesMasters/notesMaster1.xml" Id="Rf364bce63874452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a02dc2b9ee540b9" /><Relationship Type="http://schemas.openxmlformats.org/officeDocument/2006/relationships/notesMaster" Target="/ppt/notesMasters/notesMaster1.xml" Id="Rfe19e62f3806478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7278dbbe0704827" /><Relationship Type="http://schemas.openxmlformats.org/officeDocument/2006/relationships/notesMaster" Target="/ppt/notesMasters/notesMaster1.xml" Id="R97a357cef32e4e4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6fb509750794c8f" /><Relationship Type="http://schemas.openxmlformats.org/officeDocument/2006/relationships/notesMaster" Target="/ppt/notesMasters/notesMaster1.xml" Id="Rcf1e3820b5904d0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560ac5d6b2b4a99" /><Relationship Type="http://schemas.openxmlformats.org/officeDocument/2006/relationships/notesMaster" Target="/ppt/notesMasters/notesMaster1.xml" Id="R674a975af3d34b3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60db0506d50436a" /><Relationship Type="http://schemas.openxmlformats.org/officeDocument/2006/relationships/notesMaster" Target="/ppt/notesMasters/notesMaster1.xml" Id="R1f2f3a6c569d415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6a42c62aa4645f5" /><Relationship Type="http://schemas.openxmlformats.org/officeDocument/2006/relationships/notesMaster" Target="/ppt/notesMasters/notesMaster1.xml" Id="Ra815f0e087b6455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bfb45f6b13b4f50" /><Relationship Type="http://schemas.openxmlformats.org/officeDocument/2006/relationships/notesMaster" Target="/ppt/notesMasters/notesMaster1.xml" Id="R9a25a8beb91e487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2714620ffd743aa" /><Relationship Type="http://schemas.openxmlformats.org/officeDocument/2006/relationships/notesMaster" Target="/ppt/notesMasters/notesMaster1.xml" Id="Rfd138bd24f874c6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6507b8723934a3e" /><Relationship Type="http://schemas.openxmlformats.org/officeDocument/2006/relationships/notesMaster" Target="/ppt/notesMasters/notesMaster1.xml" Id="R87969f82714d423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92b1db29c185478a" /><Relationship Type="http://schemas.openxmlformats.org/officeDocument/2006/relationships/notesMaster" Target="/ppt/notesMasters/notesMaster1.xml" Id="R6e3ff8ab006a4cd0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bf67148e81554f11" /><Relationship Type="http://schemas.openxmlformats.org/officeDocument/2006/relationships/notesMaster" Target="/ppt/notesMasters/notesMaster1.xml" Id="R46971bd6f4b74874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422838cc4bc43fb" /><Relationship Type="http://schemas.openxmlformats.org/officeDocument/2006/relationships/notesMaster" Target="/ppt/notesMasters/notesMaster1.xml" Id="Ra0a992f406f747f0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d7fb538ab1ad403d" /><Relationship Type="http://schemas.openxmlformats.org/officeDocument/2006/relationships/notesMaster" Target="/ppt/notesMasters/notesMaster1.xml" Id="R491b92be81d14e0c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7d2f6f5cf1dd4637" /><Relationship Type="http://schemas.openxmlformats.org/officeDocument/2006/relationships/notesMaster" Target="/ppt/notesMasters/notesMaster1.xml" Id="Rc0a32fb86d0741ab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e91e6a8b2765434e" /><Relationship Type="http://schemas.openxmlformats.org/officeDocument/2006/relationships/notesMaster" Target="/ppt/notesMasters/notesMaster1.xml" Id="Rd0b5a0a95125476c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6984b7f9850f41ab" /><Relationship Type="http://schemas.openxmlformats.org/officeDocument/2006/relationships/notesMaster" Target="/ppt/notesMasters/notesMaster1.xml" Id="Rb8d1ca4d690b4670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d3bab94a67594c2b" /><Relationship Type="http://schemas.openxmlformats.org/officeDocument/2006/relationships/notesMaster" Target="/ppt/notesMasters/notesMaster1.xml" Id="Rfffe9786d081438c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11f3d016de0f42cd" /><Relationship Type="http://schemas.openxmlformats.org/officeDocument/2006/relationships/notesMaster" Target="/ppt/notesMasters/notesMaster1.xml" Id="Ra36b4fbe1f284073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0f7690a4be9a41c3" /><Relationship Type="http://schemas.openxmlformats.org/officeDocument/2006/relationships/notesMaster" Target="/ppt/notesMasters/notesMaster1.xml" Id="R91393d81c94848d4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99e7adcd707248de" /><Relationship Type="http://schemas.openxmlformats.org/officeDocument/2006/relationships/notesMaster" Target="/ppt/notesMasters/notesMaster1.xml" Id="R78c6b0684b054e9b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7cbfa1c4226e43ca" /><Relationship Type="http://schemas.openxmlformats.org/officeDocument/2006/relationships/notesMaster" Target="/ppt/notesMasters/notesMaster1.xml" Id="R6b47b8ecfe2545c0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7e9862b4d9284ae1" /><Relationship Type="http://schemas.openxmlformats.org/officeDocument/2006/relationships/notesMaster" Target="/ppt/notesMasters/notesMaster1.xml" Id="Rf32de3b8912a4a9a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accebf15f8f641c3" /><Relationship Type="http://schemas.openxmlformats.org/officeDocument/2006/relationships/notesMaster" Target="/ppt/notesMasters/notesMaster1.xml" Id="Rf96ce338900b45ab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b12836baa5a6403b" /><Relationship Type="http://schemas.openxmlformats.org/officeDocument/2006/relationships/notesMaster" Target="/ppt/notesMasters/notesMaster1.xml" Id="R30af96ddb4a74d5f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53b6851f77d74d69" /><Relationship Type="http://schemas.openxmlformats.org/officeDocument/2006/relationships/notesMaster" Target="/ppt/notesMasters/notesMaster1.xml" Id="R5111009a79ac4b6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建议用时：60秒。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能够生成方案、组织反馈，也能持续引导学生完成任务。教学由此面临一个更基础的选择：学生需要形成哪些理解，哪些判断值得亲历，哪些帮助能够使他们开展更复杂的活动？今天围绕教育目标、课堂分工和教学判断讨论。生态瓶案例及后续材料均为教学讨论所设；研究发现会单独注明来源。请带着一项近期教学任务，思考其中最值得重新安排的工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建议用时：100秒。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设想学生研究光照条件与生态瓶变化的关系。AI提供完整方案，小组据此搭建、观察并提交报告。报告质量良好，但仅凭这些信息，尚难判断学生理解了哪些设计理由。学生是否第一次接触实验设计，会改变教师对这份方案的使用方式。先记录自己的初步判断，随后我们逐次加入学生表现和教学条件，讨论如何作出具体安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建议用时：150秒。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请用30秒写下初步判断，然后补充最需要了解的一项信息。交流时分别说明：如果本课目标是理解实验结构，你会怎样使用完整方案？如果目标是练习自主设计，安排又会怎样变化？邀请两位教师提出不同判断。讨论先形成一个有依据的立场，再说明还需要了解的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建议用时：90秒。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讲座提出的中心判断是：当AI能够承担越来越多认知工作，教师需要重新连接教育目标、学生活动与发展的证据。一项工作被完成，并不会自动使学生获得其中包含的理解；同样，AI承担工作也可以让学生有条件开展原先难以完成的探究。教学安排的价值，取决于学生因此经历什么，以及这些经历怎样服务于值得追求的发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Cukurova, M. (2025). The interplay of learning, analytics and artificial intelligence in education: A vision for hybrid intelligence. British Journal of Educational Technology, 56(2), 469–488.</a:t>
            </a:r>
          </a:p>
          <a:p xmlns:a="http://schemas.openxmlformats.org/drawingml/2006/main">
            <a:r>
              <a:t>https://doi.org/10.1111/bjet.13514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建议用时：100秒。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里提出三个相互联系的目标方向。理解使学生能够解释与判断；自主行动意味着能够提出问题、选择方法并决定何时求助；共同实践包括听取异议、协商分工和回应他人的需要。具体学科还会有不同目标。选择目标时，应同时考虑学科价值、学生经验与问题对他们的意义。AI让某项任务容易完成以后，教师更需要说明，学生为何仍值得投入其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建议用时：110秒。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的介入可以同时涉及研究什么、怎样推进、怎样判断完成。即使教师在课前确定了目标，具体对话仍可能逐步改变学生关注的问题和行动顺序。例如学生想解释一个意外现象，系统却不断引导他填写标准报告，探索方向便可能被改变。这是需要教师关注的决定过程。能力框架已重视人的能动性与教学法；课堂中还要逐项检查这些决定如何被实际作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Miao, F., &amp; Cukurova, M. (2024). AI competency framework for teachers. UNESCO. https://unesdoc.unesco.org/ark:/48223/pf0000391104</a:t>
            </a:r>
          </a:p>
          <a:p xmlns:a="http://schemas.openxmlformats.org/drawingml/2006/main">
            <a:r>
              <a:t>https://www.unesco.org/en/articles/ai-competency-framework-teachers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建议用时：90秒。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分析可以沿着三个问题展开。首先，AI实际承担了哪些工作；其次，学生在支持之后进行了什么活动；最后，学生在后续任务中表现出怎样的理解或合作能力。三者之间的关系需要解释。例如AI整理了记录，学生可能据此提出并检验一个假设；也可能直接复制整理后的结论。两种经历对教学的意义不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Cukurova, M. (2025). The interplay of learning, analytics and artificial intelligence in education: A vision for hybrid intelligence. British Journal of Educational Technology, 56(2), 469–488.</a:t>
            </a:r>
          </a:p>
          <a:p xmlns:a="http://schemas.openxmlformats.org/drawingml/2006/main">
            <a:r>
              <a:t>https://doi.org/10.1111/bjet.13514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建议用时：90秒。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判断原有任务的价值，不能只依据过去的教学习惯，也不能只依据AI是否可以代做。理解对照实验的理由，仍可能是后续判断的基础；重复转录记录可以在适当条件下简化；比较多个解释则可能成为新的任务。这里的分类针对具体目标，同一工作在不同学习阶段可以有不同安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建议用时：90秒。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以记录表为例：如果目标是设计观察方法，决定记录哪些项目就是关键工作。如果目标是分析连续观察的差异，已有格式可以帮助学生进入分析。教师也可以先提供示范，再让学生为新问题设计一部分记录项目。因此，需要检查整段教学是否包含目标活动，而不是要求每一步都由学生从零完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建议用时：90秒。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设想学生积累了观察笔记，但日期、颜色和植物数量混写在一起。AI帮助分列后，学生更容易看到哪些记录可以比较，哪些缺少条件。随后教师要求学生选择两条记录，解释为何选择、还有什么无法判断。这项安排把整理支持与证据比较连接起来。教学应关注的是，学生是否实际使用记录形成了自己的判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建议用时：110秒。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原先的任务可能止于描述两瓶如何变化。教师可以让AI基于给定条件提出几种备选解释，再要求学生把解释转成可观察的问题。例如光照与温度都可能有关，现有记录是否足以区分？学生据此决定补测或重新比较。新的学习要求在于形成检验思路。AI提出的解释是待检验材料，实际观察仍由课堂探究获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建议用时：100秒。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假定两瓶放置位置不同，光照与温度都可能随位置变化。AI列出两个解释方向：光照差异、温度差异。学生需要查明现有记录能否支持区分，并提出下一步计划。例如先记录两处温度，必要时再设计能分离条件影响的比较。这段任务要求学生说明每项补充工作的用途。仅获得更多记录，还不足以自动分离因果影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建议用时：110秒。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将问题转到议论写作：是否延长校园图书馆开放时间？AI可以提供支持与反对的理由，也可以形成流畅初稿。教师若希望学生学习论证，需要让他们核实校园实际需求、比较不同群体的意见，并决定如何回应成本与可行性问题。学生保留初稿中的立场，或者修改立场，都需要说明依据。这里的目标同时包含表达、判断与对他人需要的理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建议用时：100秒。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以生态瓶研究的一次方案修订为线索，可以看到决定怎样流动。学生提出植物数量不同的问题，AI提供可能影响的解释，同伴结合实物核查，小组决定下一轮应怎样安排。这种分工可以按目标改变。表格中的问题用于识别学生实际承担了哪些判断，而非把一种顺序规定为全部课堂的标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建议用时：90秒。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如果提示词要求先解释，界面却直接突出最终报告入口，学生可能跳过讨论。如果任务单要求同伴回应，而课堂没有相应时间，回应也难以发生。教学设计需要协调几个环节：AI怎样回答，任务怎样衔接，学生能够看到什么，以及教师和同伴何时介入。配置之后，选择一项关键判断检查落实情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建议用时：100秒。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设想AI给出一份方案，其中规定两瓶使用同种植物并保持数量一致。教师可以先说明方案结构，再请学生分析哪些条件服务于比较。接着改变问题：如果研究的是植物数量的影响，原方案应怎样重做？学生需要重新确定变化与保持的条件。示范由此提供了可分析的材料，也为后续迁移提供参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建议用时：90秒。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请直接分析这段模拟对话。AI先给出保持数量相同的要求，再给出变量控制的理由，学生只需确认。这样的对话可以用于帮助初学者接触规则，但单凭两次确认，无法判断学生理解了设计。教师可以再给两个不同方案，请学生独立指出问题并说明后果。分析提问的重点，是学生在每次回应中究竟承担了什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建议用时：70秒。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直接示范与连续提问都可以发挥作用，关键是它们让学生随后怎样参与。示范之后能否分析与迁移，提问之中能否组织完整解释，是不同的检查方向。教师选择一种方式，需要同时安排学生接续完成的工作。由此，讨论可以从方法名称推进到教学用途与实施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建议用时：90秒。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对初学者可以提供完整结构并要求解释一处关键安排；学生已有一定基础后，让他们先提出方案，再获取反馈；能运用设计理由时，则安排新条件下的选择与调整。这一顺序可以根据困难往返。支持增减的依据是实际表现，复杂任务也可以持续保留合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建议用时：180秒。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现在将问题放到有限课堂时间中。距离本环节结束还有十分钟，两组最终目标都是能够说明设计理由并开始独立尝试。甲组初次接触实验，借示范已能解释为何保持数量一致，但没有自己设计过。乙组有相关经验，自主尝试较久，仍未发现光照与植物数量同时改变。请讨论：是否给同样的帮助？为每组选择下一项任务，并说明教师时间优先用于哪里。这里需要作出行动选择，而不只是列出还想知道的信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建议用时：110秒。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一种可行选择是先让甲组根据变化后的研究问题改一处条件，并用同伴核对保持工作连续；教师先到乙组，让不同成员指出两份方案的差异，查清是检查遗漏还是理由不清。随后再决定是否补充示范。这样分配时间，基于当前困难与本环节目标，也预留了调整条件。听众可以提出不同选择，但需要说明其预期效果和检查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建议用时：100秒。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说出控制变量，却漏看植物数量不同，可能对应不同困难。若能解释数量对比较的影响，只是检查时遗漏，应改进检查程序。若无法说明影响，需要补充对照示范。如果只有一位成员能解释，就需要增加其他成员的回应机会。教师用短追问区分这些情况，再采取相应措施，可以让有限介入更有针对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建议用时：100秒。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比较这两段模拟表达。第一段把两瓶颜色不同直接作为光照影响的依据，尚未处理其他条件。第二段指出植物数量也不同，因此限制了当前结论。差异在于是否说明证据能够支持什么。教师可以请学生标注相关记录，再更换条件，要求说明结论如何调整。句式支架的用途是帮助组织推理，其效果需要在具体表达和运用中判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建议用时：100秒。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在模拟课堂中，教师原先让AI增加追问，但学生快速填写，组员没有比较回答。下一次可以选择一处关键分歧，先让两名成员各写一条依据，再共同决定保留或修改方案。回看时追踪这条依据如何影响决定。保留原方案也可能是合理结果，关键是学生能否说明保留的依据。记录有效与无效的调整，有助于形成可以继续检验的教学经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建议用时：160秒。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再假定完成上述介入后，出现两条新材料。甲组能在新问题中调整变量并说明理由，但一名成员尚未回应。乙组能识别差异，却只能复述同伴给出的理由。下一课需要独立提交简短设计说明。请明确两组的支持怎样改变：甲组可以先做个别短检查，再减少提示；乙组可以使用两份对照方案继续练习解释，并安排每人完成一处。请同时说明出现什么表现后可以继续减少支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建议用时：80秒。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不必收集所有可能的数据。若本课关键是理解对照设计，可以先请学生解释一处条件，再看讨论是否影响了方案，下一课换一个条件检查运用。平台日志可帮助回看，但需要结合纸笔、操作或口头表达。把检查与关键目标对应，可以在教学时间内形成足以支持下一步行动的依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建议用时：110秒。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astani等在高中数学课堂比较了普通AI聊天、加入教学保护的AI和无AI对照。两种AI均提高有支持练习的表现；随后无AI测验中，普通聊天组低于对照，教学保护设计减轻了这一不利结果，但未显示显著正向收益。这项短期研究说明，支持的具体设计以及评价条件会影响我们对效果的判断。教学保护包含多项设计，不能据此单独归因于一种提问方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Bastani, H., Bastani, O., Sungu, A., Ge, H., Kabakcı, Ö., &amp; Mariman, R. (2025). Generative AI without guardrails can harm learning: Evidence from high school mathematics. Proceedings of the National Academy of Sciences, 122(26), e2422633122.</a:t>
            </a:r>
          </a:p>
          <a:p xmlns:a="http://schemas.openxmlformats.org/drawingml/2006/main">
            <a:r>
              <a:t>https://doi.org/10.1073/pnas.2422633122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建议用时：90秒。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如果目标是个人理解，就需要辨认个人解释与独立选择。如果目标是借助AI完成复杂探究，则需要评价学生怎样提出问题、核查生成内容、组织同伴贡献并形成决定。两类表现可以相互支持，但评价任务应与目标匹配。减少AI并不是所有教学的统一终点；学生能够有依据地选择和使用支持，本身也可以是发展目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建议用时：90秒。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同一安排对不同学生的作用可能不同。表达支持可以帮助一位学生进入讨论；预先生成的完整方案也可能压缩另一位学生提出问题的空间。小组成果很好时，仍需要了解成员分别经历了什么。可以在关键决定前安排个人准备，再共同讨论；允许口述、图示和操作，确保语言速度不同的学生也能展示理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建议用时：100秒。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使用AI也面临工作完成与专业理解之间的联系。AI可以列出几种教法或预测学生困难，教师则需要结合本班原始作品判断适用性。例如采用对照示范，是因为学生不会解释条件影响，还是只因系统推荐？留下理由，实施后再看判断是否成立。UNESCO与大学教师GenAI框架均重视教学和专业学习。这里进一步关注这些能力怎样进入具体选择并随实践修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Miao, F., &amp; Cukurova, M. (2024). AI competency framework for teachers. UNESCO. https://unesdoc.unesco.org/ark:/48223/pf0000391104</a:t>
            </a:r>
          </a:p>
          <a:p xmlns:a="http://schemas.openxmlformats.org/drawingml/2006/main">
            <a:r>
              <a:t>https://www.unesco.org/en/articles/ai-competency-framework-teachers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Sun, D., Ba, S., Cha, Y., Yu, J., Chiang, F.-K., Dai, H. M., &amp; Lim, C. P. (2026). Empowering university teachers in higher education: A generative AI-responsive competency framework. Computers and Education: Artificial Intelligence, 10, 100542.</a:t>
            </a:r>
          </a:p>
          <a:p xmlns:a="http://schemas.openxmlformats.org/drawingml/2006/main">
            <a:r>
              <a:t>https://doi.org/10.1016/j.caeai.2026.100542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建议用时：90秒。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张表把前面的分析集中到一个可实施设计。目标是解释对照理由，关键活动是比较条件并说明影响，AI负责提供备选和整理，学生承担取舍，教师通过不同成员的解释和后续改题检查。回答应足够具体，能帮助同事理解安排，并据此共同观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建议用时：180秒。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请选近期要实施的一项任务，用三分钟形成一次具体修订。先写清发展目标和关键活动，再确定AI、学生及同伴各承担什么，最后与邻座讨论预期表现和调整条件。建议把范围限定在一个环节，例如方案比较或文章修改。交流时重点检查目标、活动与观察是否对应，并把一个可以执行的调整记入教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建议用时：80秒。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单次讲座之后，学校可以围绕一个共同问题安排小规模教研。例如几位教师共同关注“学生能否说明方案取舍的理由”。每次只改一个环节，选择少量作品和课堂片段共同分析，再记录下一轮决定。这样，同伴交流的对象是学生学习与教学取舍；工具配置成为实现安排的一个部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建议用时：60秒。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回到整场讲座，教师需要承担三个相互联系的判断。确定哪些发展值得追求，安排学生怎样参与，以及依据课堂表现调整支持。专业判断可以在信息不完整时形成当前可行的行动，并明确修订条件。其质量体现在理由是否与目标和学生状态相符，以及实践之后能否据此改变安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建议用时：110秒。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育的目标要在具体任务与课堂关系中实现。学生能够解释和判断，提出自己的问题，与他人一起开展有意义的实践；教师能够使用AI扩大支持，也能够识别哪些工作需要重新安排。带回课堂的行动，是选定一项值得发展的能力，为它设计学生真正能够参与的活动，并根据表现持续调整。最后邀请教师提出一个实施中的疑问，优先讨论可以采取的下一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建议用时：30秒。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文献分别对应人的发展、教师能力与教学效果。Cukurova提供任务自动化与认知发展的理论讨论；UNESCO与Sun等讨论教师能力与专业学习；Bastani等提供特定高中数学情境中的实验结果。正文中的案例与模拟对话用于教学分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Cukurova, M. (2025). The interplay of learning, analytics and artificial intelligence in education: A vision for hybrid intelligence. British Journal of Educational Technology, 56(2), 469–488.</a:t>
            </a:r>
          </a:p>
          <a:p xmlns:a="http://schemas.openxmlformats.org/drawingml/2006/main">
            <a:r>
              <a:t>https://doi.org/10.1111/bjet.13514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Miao, F., &amp; Cukurova, M. (2024). AI competency framework for teachers. UNESCO. https://unesdoc.unesco.org/ark:/48223/pf0000391104</a:t>
            </a:r>
          </a:p>
          <a:p xmlns:a="http://schemas.openxmlformats.org/drawingml/2006/main">
            <a:r>
              <a:t>https://www.unesco.org/en/articles/ai-competency-framework-teachers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Sun, D., Ba, S., Cha, Y., Yu, J., Chiang, F.-K., Dai, H. M., &amp; Lim, C. P. (2026). Empowering university teachers in higher education: A generative AI-responsive competency framework. Computers and Education: Artificial Intelligence, 10, 100542.</a:t>
            </a:r>
          </a:p>
          <a:p xmlns:a="http://schemas.openxmlformats.org/drawingml/2006/main">
            <a:r>
              <a:t>https://doi.org/10.1016/j.caeai.2026.100542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Bastani, H., Bastani, O., Sungu, A., Ge, H., Kabakcı, Ö., &amp; Mariman, R. (2025). Generative AI without guardrails can harm learning: Evidence from high school mathematics. Proceedings of the National Academy of Sciences, 122(26), e2422633122.</a:t>
            </a:r>
          </a:p>
          <a:p xmlns:a="http://schemas.openxmlformats.org/drawingml/2006/main">
            <a:r>
              <a:t>https://doi.org/10.1073/pnas.2422633122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563648655246f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5a87bdb90bc44de" /><Relationship Type="http://schemas.openxmlformats.org/officeDocument/2006/relationships/slideLayout" Target="/ppt/slideLayouts/slideLayout1.xml" Id="R55fe1876786f4a7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5fe1876786f4a7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f55783ae704d26" /><Relationship Type="http://schemas.openxmlformats.org/officeDocument/2006/relationships/image" Target="/ppt/media/image.png" Id="Rb8306865c3524fb9" /><Relationship Type="http://schemas.openxmlformats.org/officeDocument/2006/relationships/notesSlide" Target="/ppt/notesSlides/notesSlide1.xml" Id="R5c364d446dbe444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1dd31cda684f30" /><Relationship Type="http://schemas.openxmlformats.org/officeDocument/2006/relationships/image" Target="/ppt/media/image2.png" Id="R48d9fa4948ec4719" /><Relationship Type="http://schemas.openxmlformats.org/officeDocument/2006/relationships/notesSlide" Target="/ppt/notesSlides/notesSlide2.xml" Id="R84e6501e6deb45a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be82769ee24cad" /><Relationship Type="http://schemas.openxmlformats.org/officeDocument/2006/relationships/image" Target="/ppt/media/image3.png" Id="R4cdcb0903ba9453a" /><Relationship Type="http://schemas.openxmlformats.org/officeDocument/2006/relationships/notesSlide" Target="/ppt/notesSlides/notesSlide3.xml" Id="Rb37fd1e9c31e4e1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653687928c41cf" /><Relationship Type="http://schemas.openxmlformats.org/officeDocument/2006/relationships/image" Target="/ppt/media/image4.png" Id="Rfe17bc1c5a934d98" /><Relationship Type="http://schemas.openxmlformats.org/officeDocument/2006/relationships/notesSlide" Target="/ppt/notesSlides/notesSlide4.xml" Id="R247ddcbea105426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a83083135f4d84" /><Relationship Type="http://schemas.openxmlformats.org/officeDocument/2006/relationships/image" Target="/ppt/media/image5.png" Id="R545d3708c3834384" /><Relationship Type="http://schemas.openxmlformats.org/officeDocument/2006/relationships/notesSlide" Target="/ppt/notesSlides/notesSlide5.xml" Id="Rc918a37a5684403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dc8e0e00fb4d11" /><Relationship Type="http://schemas.openxmlformats.org/officeDocument/2006/relationships/image" Target="/ppt/media/image5.png" Id="R6b56b890bd6445df" /><Relationship Type="http://schemas.openxmlformats.org/officeDocument/2006/relationships/notesSlide" Target="/ppt/notesSlides/notesSlide6.xml" Id="Reee4285c5f294a5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550a2aa9384a01" /><Relationship Type="http://schemas.openxmlformats.org/officeDocument/2006/relationships/image" Target="/ppt/media/image6.png" Id="R1a4e1aa2a17349bb" /><Relationship Type="http://schemas.openxmlformats.org/officeDocument/2006/relationships/notesSlide" Target="/ppt/notesSlides/notesSlide7.xml" Id="Rcfe69d0db6704d1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277844d9814a55" /><Relationship Type="http://schemas.openxmlformats.org/officeDocument/2006/relationships/image" Target="/ppt/media/image5.png" Id="Rd8aa858ae5ef40ac" /><Relationship Type="http://schemas.openxmlformats.org/officeDocument/2006/relationships/notesSlide" Target="/ppt/notesSlides/notesSlide8.xml" Id="Rd41a021ef5ec41b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d499c98e8648dc" /><Relationship Type="http://schemas.openxmlformats.org/officeDocument/2006/relationships/image" Target="/ppt/media/image7.png" Id="Rc81260da1f7f498d" /><Relationship Type="http://schemas.openxmlformats.org/officeDocument/2006/relationships/notesSlide" Target="/ppt/notesSlides/notesSlide9.xml" Id="Rf9cec9ceac544f3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153813ac234f99" /><Relationship Type="http://schemas.openxmlformats.org/officeDocument/2006/relationships/image" Target="/ppt/media/image2.png" Id="Rea703bb575ea41db" /><Relationship Type="http://schemas.openxmlformats.org/officeDocument/2006/relationships/notesSlide" Target="/ppt/notesSlides/notesSlide10.xml" Id="R1b676844b3724e0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aba6ed3ea44234" /><Relationship Type="http://schemas.openxmlformats.org/officeDocument/2006/relationships/image" Target="/ppt/media/image8.png" Id="Rd58258ff7dc54414" /><Relationship Type="http://schemas.openxmlformats.org/officeDocument/2006/relationships/notesSlide" Target="/ppt/notesSlides/notesSlide11.xml" Id="R4c4d4f161fa146f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58577b4ca640a8" /><Relationship Type="http://schemas.openxmlformats.org/officeDocument/2006/relationships/image" Target="/ppt/media/image9.png" Id="R0549fb870735449e" /><Relationship Type="http://schemas.openxmlformats.org/officeDocument/2006/relationships/notesSlide" Target="/ppt/notesSlides/notesSlide12.xml" Id="R81ccbadeb82945c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a64bd8b6e94b19" /><Relationship Type="http://schemas.openxmlformats.org/officeDocument/2006/relationships/image" Target="/ppt/media/image10.png" Id="R4d096752fcb246b9" /><Relationship Type="http://schemas.openxmlformats.org/officeDocument/2006/relationships/notesSlide" Target="/ppt/notesSlides/notesSlide13.xml" Id="Ra112dbd5cc554a8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60b1c530014b49" /><Relationship Type="http://schemas.openxmlformats.org/officeDocument/2006/relationships/image" Target="/ppt/media/image11.png" Id="R3109fafa831542c9" /><Relationship Type="http://schemas.openxmlformats.org/officeDocument/2006/relationships/notesSlide" Target="/ppt/notesSlides/notesSlide14.xml" Id="R6d00857832ae422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847aabc10a4b70" /><Relationship Type="http://schemas.openxmlformats.org/officeDocument/2006/relationships/image" Target="/ppt/media/image12.png" Id="R277d4b2f01c24a5b" /><Relationship Type="http://schemas.openxmlformats.org/officeDocument/2006/relationships/notesSlide" Target="/ppt/notesSlides/notesSlide15.xml" Id="R45d2d14fa34641d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d396659ee84cdb" /><Relationship Type="http://schemas.openxmlformats.org/officeDocument/2006/relationships/image" Target="/ppt/media/image13.png" Id="Rb05e70926f244167" /><Relationship Type="http://schemas.openxmlformats.org/officeDocument/2006/relationships/notesSlide" Target="/ppt/notesSlides/notesSlide16.xml" Id="Ra1229a9360ee452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bc9fd087fa4b3e" /><Relationship Type="http://schemas.openxmlformats.org/officeDocument/2006/relationships/image" Target="/ppt/media/image14.png" Id="Ra1b6bc24ff154640" /><Relationship Type="http://schemas.openxmlformats.org/officeDocument/2006/relationships/notesSlide" Target="/ppt/notesSlides/notesSlide17.xml" Id="R6fa6ab17870b45c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66c3b8eed347a9" /><Relationship Type="http://schemas.openxmlformats.org/officeDocument/2006/relationships/image" Target="/ppt/media/image4.png" Id="R8ea3bbe31f47458e" /><Relationship Type="http://schemas.openxmlformats.org/officeDocument/2006/relationships/notesSlide" Target="/ppt/notesSlides/notesSlide18.xml" Id="Rddc58f66895a41a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5096e784534b40" /><Relationship Type="http://schemas.openxmlformats.org/officeDocument/2006/relationships/image" Target="/ppt/media/image15.png" Id="R821ea0a1b7c7418c" /><Relationship Type="http://schemas.openxmlformats.org/officeDocument/2006/relationships/notesSlide" Target="/ppt/notesSlides/notesSlide19.xml" Id="Ra61098e110ef459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e91bd6df0c41f9" /><Relationship Type="http://schemas.openxmlformats.org/officeDocument/2006/relationships/image" Target="/ppt/media/image9.png" Id="R957a3a5d20b44aa3" /><Relationship Type="http://schemas.openxmlformats.org/officeDocument/2006/relationships/notesSlide" Target="/ppt/notesSlides/notesSlide20.xml" Id="R73ac7a648c944b2b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f5ee70f7014e15" /><Relationship Type="http://schemas.openxmlformats.org/officeDocument/2006/relationships/image" Target="/ppt/media/image8.png" Id="R25cc39be662e43aa" /><Relationship Type="http://schemas.openxmlformats.org/officeDocument/2006/relationships/notesSlide" Target="/ppt/notesSlides/notesSlide21.xml" Id="Rb5333182b68e4374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c67a0bbec745aa" /><Relationship Type="http://schemas.openxmlformats.org/officeDocument/2006/relationships/image" Target="/ppt/media/image16.png" Id="R9377cc5585ac46cb" /><Relationship Type="http://schemas.openxmlformats.org/officeDocument/2006/relationships/notesSlide" Target="/ppt/notesSlides/notesSlide22.xml" Id="R02d7beadad6145e5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dc41e7cdce4d48" /><Relationship Type="http://schemas.openxmlformats.org/officeDocument/2006/relationships/image" Target="/ppt/media/image10.png" Id="R42ba1e440c4a4cce" /><Relationship Type="http://schemas.openxmlformats.org/officeDocument/2006/relationships/notesSlide" Target="/ppt/notesSlides/notesSlide23.xml" Id="R0355eb56bc4e45c0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6d26c3e39d4d52" /><Relationship Type="http://schemas.openxmlformats.org/officeDocument/2006/relationships/image" Target="/ppt/media/image17.png" Id="Rb51d600026be46f7" /><Relationship Type="http://schemas.openxmlformats.org/officeDocument/2006/relationships/notesSlide" Target="/ppt/notesSlides/notesSlide24.xml" Id="R46c2628c4f8844d4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36890ce05540f8" /><Relationship Type="http://schemas.openxmlformats.org/officeDocument/2006/relationships/image" Target="/ppt/media/image9.png" Id="R4db349f2161c4e48" /><Relationship Type="http://schemas.openxmlformats.org/officeDocument/2006/relationships/notesSlide" Target="/ppt/notesSlides/notesSlide25.xml" Id="R085da693cedf486e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4c22e722a246bb" /><Relationship Type="http://schemas.openxmlformats.org/officeDocument/2006/relationships/image" Target="/ppt/media/image8.png" Id="R3bfdc714185d470e" /><Relationship Type="http://schemas.openxmlformats.org/officeDocument/2006/relationships/notesSlide" Target="/ppt/notesSlides/notesSlide26.xml" Id="Rb841937b2f20482d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3d0feecf33480c" /><Relationship Type="http://schemas.openxmlformats.org/officeDocument/2006/relationships/image" Target="/ppt/media/image18.png" Id="R8b24057dca794564" /><Relationship Type="http://schemas.openxmlformats.org/officeDocument/2006/relationships/notesSlide" Target="/ppt/notesSlides/notesSlide27.xml" Id="R483b4eac23b74f46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4873a665ce4917" /><Relationship Type="http://schemas.openxmlformats.org/officeDocument/2006/relationships/image" Target="/ppt/media/image10.png" Id="R9a182c3a11324e91" /><Relationship Type="http://schemas.openxmlformats.org/officeDocument/2006/relationships/notesSlide" Target="/ppt/notesSlides/notesSlide28.xml" Id="Rca04c05c40304126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bcfff91e7b4657" /><Relationship Type="http://schemas.openxmlformats.org/officeDocument/2006/relationships/image" Target="/ppt/media/image19.png" Id="Ref921b019eb043c5" /><Relationship Type="http://schemas.openxmlformats.org/officeDocument/2006/relationships/notesSlide" Target="/ppt/notesSlides/notesSlide29.xml" Id="R00b2ffe309684ec4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d7850f20e74739" /><Relationship Type="http://schemas.openxmlformats.org/officeDocument/2006/relationships/image" Target="/ppt/media/image20.png" Id="R86d10041fbe2480c" /><Relationship Type="http://schemas.openxmlformats.org/officeDocument/2006/relationships/notesSlide" Target="/ppt/notesSlides/notesSlide30.xml" Id="Rdb0f99a089d643e9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0da9ce386f479c" /><Relationship Type="http://schemas.openxmlformats.org/officeDocument/2006/relationships/image" Target="/ppt/media/image21.png" Id="R7ca1621dfa604669" /><Relationship Type="http://schemas.openxmlformats.org/officeDocument/2006/relationships/notesSlide" Target="/ppt/notesSlides/notesSlide31.xml" Id="Rdf523be5ca6541c6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65dca3240b487c" /><Relationship Type="http://schemas.openxmlformats.org/officeDocument/2006/relationships/image" Target="/ppt/media/image22.png" Id="Rd84f5d6a00624c45" /><Relationship Type="http://schemas.openxmlformats.org/officeDocument/2006/relationships/notesSlide" Target="/ppt/notesSlides/notesSlide32.xml" Id="R7eb76a2e3b73422d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5b72b2f4514441" /><Relationship Type="http://schemas.openxmlformats.org/officeDocument/2006/relationships/image" Target="/ppt/media/image23.png" Id="Ra9d3bfb0ed1b43ed" /><Relationship Type="http://schemas.openxmlformats.org/officeDocument/2006/relationships/notesSlide" Target="/ppt/notesSlides/notesSlide33.xml" Id="R1fb67981e49e4f8c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c18d782616423e" /><Relationship Type="http://schemas.openxmlformats.org/officeDocument/2006/relationships/image" Target="/ppt/media/image23.png" Id="R2c9b567b435440aa" /><Relationship Type="http://schemas.openxmlformats.org/officeDocument/2006/relationships/notesSlide" Target="/ppt/notesSlides/notesSlide34.xml" Id="R0db33f6013f14302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b1c3395f3e46aa" /><Relationship Type="http://schemas.openxmlformats.org/officeDocument/2006/relationships/image" Target="/ppt/media/image24.png" Id="R1d678827e83048cb" /><Relationship Type="http://schemas.openxmlformats.org/officeDocument/2006/relationships/notesSlide" Target="/ppt/notesSlides/notesSlide35.xml" Id="Rbeb6a30471974320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ab13ee44c84a4e" /><Relationship Type="http://schemas.openxmlformats.org/officeDocument/2006/relationships/image" Target="/ppt/media/image25.png" Id="Rab0719931b704ff4" /><Relationship Type="http://schemas.openxmlformats.org/officeDocument/2006/relationships/notesSlide" Target="/ppt/notesSlides/notesSlide36.xml" Id="R4a77d28030244fe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306865c3524fb9"/>
          <a:stretch xmlns:a="http://schemas.openxmlformats.org/drawingml/2006/main"/>
        </p:blipFill>
        <p:spPr>
          <a:xfrm xmlns:a="http://schemas.openxmlformats.org/drawingml/2006/main">
            <a:off x="685800" y="542973"/>
            <a:ext cx="2028825" cy="466630"/>
          </a:xfrm>
          <a:prstGeom xmlns:a="http://schemas.openxmlformats.org/drawingml/2006/main" prst="rect">
            <a:avLst/>
          </a:prstGeom>
        </p:spPr>
      </p:pic>
      <p:sp>
        <p:nvSpPr>
          <p:cNvPr id="2" name="s1-text-1">
            <a:extLst xmlns:a="http://schemas.openxmlformats.org/drawingml/2006/main">
              <a:ext uri="{FF2B5EF4-FFF2-40B4-BE49-F238E27FC236}">
                <a16:creationId xmlns:a16="http://schemas.microsoft.com/office/drawing/2014/main" id="{3445122B-7725-49FE-9597-2106E7C36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学习的价值 · 人的成长 · 教师的判断</a:t>
            </a:r>
          </a:p>
        </p:txBody>
      </p:sp>
      <p:sp>
        <p:nvSpPr>
          <p:cNvPr id="3" name="s1-text-2">
            <a:extLst xmlns:a="http://schemas.openxmlformats.org/drawingml/2006/main">
              <a:ext uri="{FF2B5EF4-FFF2-40B4-BE49-F238E27FC236}">
                <a16:creationId xmlns:a16="http://schemas.microsoft.com/office/drawing/2014/main" id="{C5A9CC4C-6DA1-4829-B16B-06FA8DC86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57425"/>
            <a:ext cx="10820400" cy="1962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60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0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AI时代，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60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0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教育要成就什么？</a:t>
            </a:r>
          </a:p>
        </p:txBody>
      </p:sp>
      <p:sp>
        <p:nvSpPr>
          <p:cNvPr id="4" name="s1-text-3">
            <a:extLst xmlns:a="http://schemas.openxmlformats.org/drawingml/2006/main">
              <a:ext uri="{FF2B5EF4-FFF2-40B4-BE49-F238E27FC236}">
                <a16:creationId xmlns:a16="http://schemas.microsoft.com/office/drawing/2014/main" id="{FE5C8B85-FED7-4F6F-B1C1-827749F8D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10820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AI重构学习机会与教师的专业判断</a:t>
            </a:r>
          </a:p>
        </p:txBody>
      </p:sp>
      <p:sp>
        <p:nvSpPr>
          <p:cNvPr id="5" name="s1-rect-4">
            <a:extLst xmlns:a="http://schemas.openxmlformats.org/drawingml/2006/main">
              <a:ext uri="{FF2B5EF4-FFF2-40B4-BE49-F238E27FC236}">
                <a16:creationId xmlns:a16="http://schemas.microsoft.com/office/drawing/2014/main" id="{1CE5A31C-4377-4BEA-B53E-CC67CF98E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6" name="s1-text-5">
            <a:extLst xmlns:a="http://schemas.openxmlformats.org/drawingml/2006/main">
              <a:ext uri="{FF2B5EF4-FFF2-40B4-BE49-F238E27FC236}">
                <a16:creationId xmlns:a16="http://schemas.microsoft.com/office/drawing/2014/main" id="{79102BD8-2525-4E02-9D02-CAF26AB18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67425"/>
            <a:ext cx="5715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025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辛海洋 Tony Xin</a:t>
            </a:r>
          </a:p>
        </p:txBody>
      </p:sp>
      <p:sp>
        <p:nvSpPr>
          <p:cNvPr id="7" name="s1-text-6">
            <a:extLst xmlns:a="http://schemas.openxmlformats.org/drawingml/2006/main">
              <a:ext uri="{FF2B5EF4-FFF2-40B4-BE49-F238E27FC236}">
                <a16:creationId xmlns:a16="http://schemas.microsoft.com/office/drawing/2014/main" id="{526EFF63-179B-46B2-B552-7C38099F2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6067425"/>
            <a:ext cx="3409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8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CocoRobo</a:t>
            </a:r>
          </a:p>
        </p:txBody>
      </p:sp>
    </p:spTree>
    <p:extLst>
      <p:ext uri="{BB962C8B-B14F-4D97-AF65-F5344CB8AC3E}">
        <p14:creationId xmlns:p14="http://schemas.microsoft.com/office/powerpoint/2010/main" val="102626706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2-text-0">
            <a:extLst xmlns:a="http://schemas.openxmlformats.org/drawingml/2006/main">
              <a:ext uri="{FF2B5EF4-FFF2-40B4-BE49-F238E27FC236}">
                <a16:creationId xmlns:a16="http://schemas.microsoft.com/office/drawing/2014/main" id="{0669A9D4-DFF2-49C9-90FE-3D0D9124D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教学案例（模拟）· 生态瓶探究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d9fa4948ec4719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2-title-2">
            <a:extLst xmlns:a="http://schemas.openxmlformats.org/drawingml/2006/main">
              <a:ext uri="{FF2B5EF4-FFF2-40B4-BE49-F238E27FC236}">
                <a16:creationId xmlns:a16="http://schemas.microsoft.com/office/drawing/2014/main" id="{4E809AF8-264E-4015-B0F5-585BC307B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任务完成与学生发展需要分别判断</a:t>
            </a:r>
          </a:p>
        </p:txBody>
      </p:sp>
      <p:sp>
        <p:nvSpPr>
          <p:cNvPr id="4" name="s2-text-3">
            <a:extLst xmlns:a="http://schemas.openxmlformats.org/drawingml/2006/main">
              <a:ext uri="{FF2B5EF4-FFF2-40B4-BE49-F238E27FC236}">
                <a16:creationId xmlns:a16="http://schemas.microsoft.com/office/drawing/2014/main" id="{8843D173-0D22-4FE1-9539-59A5811A5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10477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55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任务：研究光照条件与生态瓶变化的关系。</a:t>
            </a:r>
          </a:p>
        </p:txBody>
      </p:sp>
      <p:sp>
        <p:nvSpPr>
          <p:cNvPr id="5" name="s2-text-4">
            <a:extLst xmlns:a="http://schemas.openxmlformats.org/drawingml/2006/main">
              <a:ext uri="{FF2B5EF4-FFF2-40B4-BE49-F238E27FC236}">
                <a16:creationId xmlns:a16="http://schemas.microsoft.com/office/drawing/2014/main" id="{EDD9768B-3874-4F2D-93A9-663486342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05175"/>
            <a:ext cx="27241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AI提供</a:t>
            </a:r>
          </a:p>
        </p:txBody>
      </p:sp>
      <p:sp>
        <p:nvSpPr>
          <p:cNvPr id="6" name="s2-text-5">
            <a:extLst xmlns:a="http://schemas.openxmlformats.org/drawingml/2006/main">
              <a:ext uri="{FF2B5EF4-FFF2-40B4-BE49-F238E27FC236}">
                <a16:creationId xmlns:a16="http://schemas.microsoft.com/office/drawing/2014/main" id="{9B63F50A-9668-4FDF-B4C2-2DFDB2014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305175"/>
            <a:ext cx="77438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研究问题、对照安排、观察项目与记录表</a:t>
            </a:r>
          </a:p>
        </p:txBody>
      </p:sp>
      <p:sp>
        <p:nvSpPr>
          <p:cNvPr id="7" name="s2-text-6">
            <a:extLst xmlns:a="http://schemas.openxmlformats.org/drawingml/2006/main">
              <a:ext uri="{FF2B5EF4-FFF2-40B4-BE49-F238E27FC236}">
                <a16:creationId xmlns:a16="http://schemas.microsoft.com/office/drawing/2014/main" id="{875F8CE7-78C0-4EF0-A68A-43283FACB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38650"/>
            <a:ext cx="27241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学生完成</a:t>
            </a:r>
          </a:p>
        </p:txBody>
      </p:sp>
      <p:sp>
        <p:nvSpPr>
          <p:cNvPr id="8" name="s2-text-7">
            <a:extLst xmlns:a="http://schemas.openxmlformats.org/drawingml/2006/main">
              <a:ext uri="{FF2B5EF4-FFF2-40B4-BE49-F238E27FC236}">
                <a16:creationId xmlns:a16="http://schemas.microsoft.com/office/drawing/2014/main" id="{30D0C8CD-3A7F-4518-ADEC-C4D406D1B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4438650"/>
            <a:ext cx="77438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搭建生态瓶、持续观察，并提交结构完整的报告</a:t>
            </a:r>
          </a:p>
        </p:txBody>
      </p:sp>
      <p:sp>
        <p:nvSpPr>
          <p:cNvPr id="9" name="s2-rect-8">
            <a:extLst xmlns:a="http://schemas.openxmlformats.org/drawingml/2006/main">
              <a:ext uri="{FF2B5EF4-FFF2-40B4-BE49-F238E27FC236}">
                <a16:creationId xmlns:a16="http://schemas.microsoft.com/office/drawing/2014/main" id="{F74DB35C-88F9-4FBE-8220-DC8D6A484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0" name="s2-text-9">
            <a:extLst xmlns:a="http://schemas.openxmlformats.org/drawingml/2006/main">
              <a:ext uri="{FF2B5EF4-FFF2-40B4-BE49-F238E27FC236}">
                <a16:creationId xmlns:a16="http://schemas.microsoft.com/office/drawing/2014/main" id="{B36DA583-5BA6-4C1F-8487-D99E9BC0C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判断重点：学生在完成任务的过程中形成了哪些理解？</a:t>
            </a:r>
          </a:p>
        </p:txBody>
      </p:sp>
      <p:sp>
        <p:nvSpPr>
          <p:cNvPr id="11" name="s2-footer-10">
            <a:extLst xmlns:a="http://schemas.openxmlformats.org/drawingml/2006/main">
              <a:ext uri="{FF2B5EF4-FFF2-40B4-BE49-F238E27FC236}">
                <a16:creationId xmlns:a16="http://schemas.microsoft.com/office/drawing/2014/main" id="{C88C875B-CCAF-46E3-8E78-0E0A786E5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2" name="s2-footer-11">
            <a:extLst xmlns:a="http://schemas.openxmlformats.org/drawingml/2006/main">
              <a:ext uri="{FF2B5EF4-FFF2-40B4-BE49-F238E27FC236}">
                <a16:creationId xmlns:a16="http://schemas.microsoft.com/office/drawing/2014/main" id="{6F6E6439-E335-4115-AF8F-064986AFA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02 / 36</a:t>
            </a:r>
          </a:p>
        </p:txBody>
      </p:sp>
    </p:spTree>
    <p:extLst>
      <p:ext uri="{BB962C8B-B14F-4D97-AF65-F5344CB8AC3E}">
        <p14:creationId xmlns:p14="http://schemas.microsoft.com/office/powerpoint/2010/main" val="80186665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3-text-0">
            <a:extLst xmlns:a="http://schemas.openxmlformats.org/drawingml/2006/main">
              <a:ext uri="{FF2B5EF4-FFF2-40B4-BE49-F238E27FC236}">
                <a16:creationId xmlns:a16="http://schemas.microsoft.com/office/drawing/2014/main" id="{9CE2195F-49ED-49E0-943F-06D8814D1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课堂研判 01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dcb0903ba9453a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3-title-2">
            <a:extLst xmlns:a="http://schemas.openxmlformats.org/drawingml/2006/main">
              <a:ext uri="{FF2B5EF4-FFF2-40B4-BE49-F238E27FC236}">
                <a16:creationId xmlns:a16="http://schemas.microsoft.com/office/drawing/2014/main" id="{5D80EB6B-E575-485C-A20F-1B6B3872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第一次研判：明确判断依据</a:t>
            </a:r>
          </a:p>
        </p:txBody>
      </p:sp>
      <p:sp>
        <p:nvSpPr>
          <p:cNvPr id="4" name="s3-text-3">
            <a:extLst xmlns:a="http://schemas.openxmlformats.org/drawingml/2006/main">
              <a:ext uri="{FF2B5EF4-FFF2-40B4-BE49-F238E27FC236}">
                <a16:creationId xmlns:a16="http://schemas.microsoft.com/office/drawing/2014/main" id="{20C32DA2-F4E0-4B1F-850A-14D60626E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287000" cy="2419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50000"/>
              </a:lnSpc>
              <a:buNone/>
              <a:defRPr sz="4125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4125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确定本课的学习目标</a:t>
            </a:r>
          </a:p>
          <a:p xmlns:a="http://schemas.openxmlformats.org/drawingml/2006/main">
            <a:pPr algn="l">
              <a:lnSpc>
                <a:spcPct val="150000"/>
              </a:lnSpc>
              <a:buNone/>
              <a:defRPr sz="4125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4125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分析学生已有的经验</a:t>
            </a:r>
          </a:p>
          <a:p xmlns:a="http://schemas.openxmlformats.org/drawingml/2006/main">
            <a:pPr algn="l">
              <a:lnSpc>
                <a:spcPct val="150000"/>
              </a:lnSpc>
              <a:buNone/>
              <a:defRPr sz="4125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4125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提出一项需要补充的信息</a:t>
            </a:r>
          </a:p>
        </p:txBody>
      </p:sp>
      <p:sp>
        <p:nvSpPr>
          <p:cNvPr id="5" name="s3-rect-4">
            <a:extLst xmlns:a="http://schemas.openxmlformats.org/drawingml/2006/main">
              <a:ext uri="{FF2B5EF4-FFF2-40B4-BE49-F238E27FC236}">
                <a16:creationId xmlns:a16="http://schemas.microsoft.com/office/drawing/2014/main" id="{70FD2373-7CE9-4972-A71C-CC5312560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6" name="s3-text-5">
            <a:extLst xmlns:a="http://schemas.openxmlformats.org/drawingml/2006/main">
              <a:ext uri="{FF2B5EF4-FFF2-40B4-BE49-F238E27FC236}">
                <a16:creationId xmlns:a16="http://schemas.microsoft.com/office/drawing/2014/main" id="{2D0914F9-7D47-4DD3-9831-A5DEB891E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请说明：现有信息支持什么判断，下一步准备了解什么？</a:t>
            </a:r>
          </a:p>
        </p:txBody>
      </p:sp>
      <p:sp>
        <p:nvSpPr>
          <p:cNvPr id="7" name="s3-footer-6">
            <a:extLst xmlns:a="http://schemas.openxmlformats.org/drawingml/2006/main">
              <a:ext uri="{FF2B5EF4-FFF2-40B4-BE49-F238E27FC236}">
                <a16:creationId xmlns:a16="http://schemas.microsoft.com/office/drawing/2014/main" id="{B78B98F0-2217-46E8-904E-5DE807A5E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8" name="s3-footer-7">
            <a:extLst xmlns:a="http://schemas.openxmlformats.org/drawingml/2006/main">
              <a:ext uri="{FF2B5EF4-FFF2-40B4-BE49-F238E27FC236}">
                <a16:creationId xmlns:a16="http://schemas.microsoft.com/office/drawing/2014/main" id="{050EA567-B381-4CFE-83E2-005187D23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03 / 36</a:t>
            </a:r>
          </a:p>
        </p:txBody>
      </p:sp>
    </p:spTree>
    <p:extLst>
      <p:ext uri="{BB962C8B-B14F-4D97-AF65-F5344CB8AC3E}">
        <p14:creationId xmlns:p14="http://schemas.microsoft.com/office/powerpoint/2010/main" val="7487262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4-text-0">
            <a:extLst xmlns:a="http://schemas.openxmlformats.org/drawingml/2006/main">
              <a:ext uri="{FF2B5EF4-FFF2-40B4-BE49-F238E27FC236}">
                <a16:creationId xmlns:a16="http://schemas.microsoft.com/office/drawing/2014/main" id="{EF1B3657-3CD2-402C-9448-1ACE05470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教育目标与学习机会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17bc1c5a934d98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4-title-2">
            <a:extLst xmlns:a="http://schemas.openxmlformats.org/drawingml/2006/main">
              <a:ext uri="{FF2B5EF4-FFF2-40B4-BE49-F238E27FC236}">
                <a16:creationId xmlns:a16="http://schemas.microsoft.com/office/drawing/2014/main" id="{F2A0FB02-8641-462F-B05F-4E4ECCFBB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AI介入后，教学需要重新安排学习机会</a:t>
            </a:r>
          </a:p>
        </p:txBody>
      </p:sp>
      <p:sp>
        <p:nvSpPr>
          <p:cNvPr id="4" name="s4-text-3">
            <a:extLst xmlns:a="http://schemas.openxmlformats.org/drawingml/2006/main">
              <a:ext uri="{FF2B5EF4-FFF2-40B4-BE49-F238E27FC236}">
                <a16:creationId xmlns:a16="http://schemas.microsoft.com/office/drawing/2014/main" id="{7F321F13-3DE5-4E65-A8EA-FE370CEA4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0382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5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明确值得追求的发展</a:t>
            </a:r>
          </a:p>
          <a:p xmlns:a="http://schemas.openxmlformats.org/drawingml/2006/main">
            <a:pPr algn="l">
              <a:lnSpc>
                <a:spcPct val="15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安排学生实际参与的活动</a:t>
            </a:r>
          </a:p>
          <a:p xmlns:a="http://schemas.openxmlformats.org/drawingml/2006/main">
            <a:pPr algn="l">
              <a:lnSpc>
                <a:spcPct val="15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根据学习表现修订支持</a:t>
            </a:r>
          </a:p>
        </p:txBody>
      </p:sp>
      <p:sp>
        <p:nvSpPr>
          <p:cNvPr id="5" name="s4-rect-4">
            <a:extLst xmlns:a="http://schemas.openxmlformats.org/drawingml/2006/main">
              <a:ext uri="{FF2B5EF4-FFF2-40B4-BE49-F238E27FC236}">
                <a16:creationId xmlns:a16="http://schemas.microsoft.com/office/drawing/2014/main" id="{BA29A7C2-6E9B-4C69-A7FE-A4E8D0C70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6" name="s4-text-5">
            <a:extLst xmlns:a="http://schemas.openxmlformats.org/drawingml/2006/main">
              <a:ext uri="{FF2B5EF4-FFF2-40B4-BE49-F238E27FC236}">
                <a16:creationId xmlns:a16="http://schemas.microsoft.com/office/drawing/2014/main" id="{0A782A61-00F6-416F-AB7D-C7F4C73CB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核心联系：AI承担的工作，如何转化为人的发展机会？</a:t>
            </a:r>
          </a:p>
        </p:txBody>
      </p:sp>
      <p:sp>
        <p:nvSpPr>
          <p:cNvPr id="7" name="s4-footer-6">
            <a:extLst xmlns:a="http://schemas.openxmlformats.org/drawingml/2006/main">
              <a:ext uri="{FF2B5EF4-FFF2-40B4-BE49-F238E27FC236}">
                <a16:creationId xmlns:a16="http://schemas.microsoft.com/office/drawing/2014/main" id="{23C5B05B-94B0-4351-864A-87AD48F33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Cukurova, 2025 · BJET</a:t>
            </a:r>
          </a:p>
        </p:txBody>
      </p:sp>
      <p:sp>
        <p:nvSpPr>
          <p:cNvPr id="8" name="s4-footer-7">
            <a:extLst xmlns:a="http://schemas.openxmlformats.org/drawingml/2006/main">
              <a:ext uri="{FF2B5EF4-FFF2-40B4-BE49-F238E27FC236}">
                <a16:creationId xmlns:a16="http://schemas.microsoft.com/office/drawing/2014/main" id="{6C1AF5C2-F204-4BD9-B83F-5E72347DA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04 / 36</a:t>
            </a:r>
          </a:p>
        </p:txBody>
      </p:sp>
    </p:spTree>
    <p:extLst>
      <p:ext uri="{BB962C8B-B14F-4D97-AF65-F5344CB8AC3E}">
        <p14:creationId xmlns:p14="http://schemas.microsoft.com/office/powerpoint/2010/main" val="184238754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5-text-0">
            <a:extLst xmlns:a="http://schemas.openxmlformats.org/drawingml/2006/main">
              <a:ext uri="{FF2B5EF4-FFF2-40B4-BE49-F238E27FC236}">
                <a16:creationId xmlns:a16="http://schemas.microsoft.com/office/drawing/2014/main" id="{7BF2EA85-EF9F-41AF-B6C5-F81D9E8C4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教育目标与学习机会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5d3708c3834384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5-title-2">
            <a:extLst xmlns:a="http://schemas.openxmlformats.org/drawingml/2006/main">
              <a:ext uri="{FF2B5EF4-FFF2-40B4-BE49-F238E27FC236}">
                <a16:creationId xmlns:a16="http://schemas.microsoft.com/office/drawing/2014/main" id="{2A6E20FB-6066-4E3B-8422-37D821060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教育目标应包含理解、自主行动与共同实践</a:t>
            </a:r>
          </a:p>
        </p:txBody>
      </p:sp>
      <p:sp>
        <p:nvSpPr>
          <p:cNvPr id="4" name="s5-text-3">
            <a:extLst xmlns:a="http://schemas.openxmlformats.org/drawingml/2006/main">
              <a:ext uri="{FF2B5EF4-FFF2-40B4-BE49-F238E27FC236}">
                <a16:creationId xmlns:a16="http://schemas.microsoft.com/office/drawing/2014/main" id="{ADED716E-9A48-4F21-94B2-6CFFD7F09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76425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学习的价值体现在学生处理问题、作出选择和参与实践的能力中。</a:t>
            </a:r>
          </a:p>
        </p:txBody>
      </p:sp>
      <p:sp>
        <p:nvSpPr>
          <p:cNvPr id="5" name="s5-rect-4">
            <a:extLst xmlns:a="http://schemas.openxmlformats.org/drawingml/2006/main">
              <a:ext uri="{FF2B5EF4-FFF2-40B4-BE49-F238E27FC236}">
                <a16:creationId xmlns:a16="http://schemas.microsoft.com/office/drawing/2014/main" id="{A9D0AFB8-067F-4379-A21D-682A2E4D2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6" name="s5-text-5">
            <a:extLst xmlns:a="http://schemas.openxmlformats.org/drawingml/2006/main">
              <a:ext uri="{FF2B5EF4-FFF2-40B4-BE49-F238E27FC236}">
                <a16:creationId xmlns:a16="http://schemas.microsoft.com/office/drawing/2014/main" id="{1DA2FF0D-C76B-4469-A238-1406179BA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理解与判断</a:t>
            </a:r>
          </a:p>
        </p:txBody>
      </p:sp>
      <p:sp>
        <p:nvSpPr>
          <p:cNvPr id="7" name="s5-text-6">
            <a:extLst xmlns:a="http://schemas.openxmlformats.org/drawingml/2006/main">
              <a:ext uri="{FF2B5EF4-FFF2-40B4-BE49-F238E27FC236}">
                <a16:creationId xmlns:a16="http://schemas.microsoft.com/office/drawing/2014/main" id="{F34DA3FD-3A1A-4A48-A776-DEFAAE929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解释现象、检验依据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在条件变化时调整认识</a:t>
            </a:r>
          </a:p>
        </p:txBody>
      </p:sp>
      <p:sp>
        <p:nvSpPr>
          <p:cNvPr id="8" name="s5-rect-7">
            <a:extLst xmlns:a="http://schemas.openxmlformats.org/drawingml/2006/main">
              <a:ext uri="{FF2B5EF4-FFF2-40B4-BE49-F238E27FC236}">
                <a16:creationId xmlns:a16="http://schemas.microsoft.com/office/drawing/2014/main" id="{08A1D9A3-B9DF-4E17-8ADD-EF5C35C9A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9" name="s5-text-8">
            <a:extLst xmlns:a="http://schemas.openxmlformats.org/drawingml/2006/main">
              <a:ext uri="{FF2B5EF4-FFF2-40B4-BE49-F238E27FC236}">
                <a16:creationId xmlns:a16="http://schemas.microsoft.com/office/drawing/2014/main" id="{048FDFB6-6BEF-4D3E-ABF9-4865C9FA3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自主行动</a:t>
            </a:r>
          </a:p>
        </p:txBody>
      </p:sp>
      <p:sp>
        <p:nvSpPr>
          <p:cNvPr id="10" name="s5-text-9">
            <a:extLst xmlns:a="http://schemas.openxmlformats.org/drawingml/2006/main">
              <a:ext uri="{FF2B5EF4-FFF2-40B4-BE49-F238E27FC236}">
                <a16:creationId xmlns:a16="http://schemas.microsoft.com/office/drawing/2014/main" id="{A9F18FDF-FFED-44B4-9804-7D3939258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提出问题、选择方法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决定何时以及如何求助</a:t>
            </a:r>
          </a:p>
        </p:txBody>
      </p:sp>
      <p:sp>
        <p:nvSpPr>
          <p:cNvPr id="11" name="s5-rect-10">
            <a:extLst xmlns:a="http://schemas.openxmlformats.org/drawingml/2006/main">
              <a:ext uri="{FF2B5EF4-FFF2-40B4-BE49-F238E27FC236}">
                <a16:creationId xmlns:a16="http://schemas.microsoft.com/office/drawing/2014/main" id="{E29B4BB2-EB38-4656-9569-4E71C7C46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2" name="s5-text-11">
            <a:extLst xmlns:a="http://schemas.openxmlformats.org/drawingml/2006/main">
              <a:ext uri="{FF2B5EF4-FFF2-40B4-BE49-F238E27FC236}">
                <a16:creationId xmlns:a16="http://schemas.microsoft.com/office/drawing/2014/main" id="{DAB1494C-9D14-4CCD-A044-139F0D7B6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共同实践</a:t>
            </a:r>
          </a:p>
        </p:txBody>
      </p:sp>
      <p:sp>
        <p:nvSpPr>
          <p:cNvPr id="13" name="s5-text-12">
            <a:extLst xmlns:a="http://schemas.openxmlformats.org/drawingml/2006/main">
              <a:ext uri="{FF2B5EF4-FFF2-40B4-BE49-F238E27FC236}">
                <a16:creationId xmlns:a16="http://schemas.microsoft.com/office/drawing/2014/main" id="{B1663F96-3CC0-4AAD-9FBB-E528743FC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协商分工、回应异议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与他人承担共同任务</a:t>
            </a:r>
          </a:p>
        </p:txBody>
      </p:sp>
      <p:sp>
        <p:nvSpPr>
          <p:cNvPr id="16" name="s5-footer-13">
            <a:extLst xmlns:a="http://schemas.openxmlformats.org/drawingml/2006/main">
              <a:ext uri="{FF2B5EF4-FFF2-40B4-BE49-F238E27FC236}">
                <a16:creationId xmlns:a16="http://schemas.microsoft.com/office/drawing/2014/main" id="{DA8E8E66-0E3A-4AB9-ABE9-CD1CECC57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7" name="s5-footer-14">
            <a:extLst xmlns:a="http://schemas.openxmlformats.org/drawingml/2006/main">
              <a:ext uri="{FF2B5EF4-FFF2-40B4-BE49-F238E27FC236}">
                <a16:creationId xmlns:a16="http://schemas.microsoft.com/office/drawing/2014/main" id="{73DE2EBD-6387-4C60-B806-F8CF0A6C4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05 / 36</a:t>
            </a:r>
          </a:p>
        </p:txBody>
      </p:sp>
    </p:spTree>
    <p:extLst>
      <p:ext uri="{BB962C8B-B14F-4D97-AF65-F5344CB8AC3E}">
        <p14:creationId xmlns:p14="http://schemas.microsoft.com/office/powerpoint/2010/main" val="207699575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6-text-0">
            <a:extLst xmlns:a="http://schemas.openxmlformats.org/drawingml/2006/main">
              <a:ext uri="{FF2B5EF4-FFF2-40B4-BE49-F238E27FC236}">
                <a16:creationId xmlns:a16="http://schemas.microsoft.com/office/drawing/2014/main" id="{7BF2EA85-EF9F-41AF-B6C5-F81D9E8C4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教育目标与学习机会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56b890bd6445df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6-title-2">
            <a:extLst xmlns:a="http://schemas.openxmlformats.org/drawingml/2006/main">
              <a:ext uri="{FF2B5EF4-FFF2-40B4-BE49-F238E27FC236}">
                <a16:creationId xmlns:a16="http://schemas.microsoft.com/office/drawing/2014/main" id="{2A6E20FB-6066-4E3B-8422-37D821060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AI能够连续参与教学中的多项决定</a:t>
            </a:r>
          </a:p>
        </p:txBody>
      </p:sp>
      <p:sp>
        <p:nvSpPr>
          <p:cNvPr id="4" name="s6-text-3">
            <a:extLst xmlns:a="http://schemas.openxmlformats.org/drawingml/2006/main">
              <a:ext uri="{FF2B5EF4-FFF2-40B4-BE49-F238E27FC236}">
                <a16:creationId xmlns:a16="http://schemas.microsoft.com/office/drawing/2014/main" id="{ADED716E-9A48-4F21-94B2-6CFFD7F09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76425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从提出问题到评价结果，决定的承担者可能在互动中改变。</a:t>
            </a:r>
          </a:p>
        </p:txBody>
      </p:sp>
      <p:sp>
        <p:nvSpPr>
          <p:cNvPr id="5" name="s6-rect-4">
            <a:extLst xmlns:a="http://schemas.openxmlformats.org/drawingml/2006/main">
              <a:ext uri="{FF2B5EF4-FFF2-40B4-BE49-F238E27FC236}">
                <a16:creationId xmlns:a16="http://schemas.microsoft.com/office/drawing/2014/main" id="{A9D0AFB8-067F-4379-A21D-682A2E4D2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6" name="s6-text-5">
            <a:extLst xmlns:a="http://schemas.openxmlformats.org/drawingml/2006/main">
              <a:ext uri="{FF2B5EF4-FFF2-40B4-BE49-F238E27FC236}">
                <a16:creationId xmlns:a16="http://schemas.microsoft.com/office/drawing/2014/main" id="{1DA2FF0D-C76B-4469-A238-1406179BA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界定问题</a:t>
            </a:r>
          </a:p>
        </p:txBody>
      </p:sp>
      <p:sp>
        <p:nvSpPr>
          <p:cNvPr id="7" name="s6-text-6">
            <a:extLst xmlns:a="http://schemas.openxmlformats.org/drawingml/2006/main">
              <a:ext uri="{FF2B5EF4-FFF2-40B4-BE49-F238E27FC236}">
                <a16:creationId xmlns:a16="http://schemas.microsoft.com/office/drawing/2014/main" id="{F34DA3FD-3A1A-4A48-A776-DEFAAE929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建议研究主题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选择值得继续讨论的疑问</a:t>
            </a:r>
          </a:p>
        </p:txBody>
      </p:sp>
      <p:sp>
        <p:nvSpPr>
          <p:cNvPr id="8" name="s6-rect-7">
            <a:extLst xmlns:a="http://schemas.openxmlformats.org/drawingml/2006/main">
              <a:ext uri="{FF2B5EF4-FFF2-40B4-BE49-F238E27FC236}">
                <a16:creationId xmlns:a16="http://schemas.microsoft.com/office/drawing/2014/main" id="{08A1D9A3-B9DF-4E17-8ADD-EF5C35C9A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9" name="s6-text-8">
            <a:extLst xmlns:a="http://schemas.openxmlformats.org/drawingml/2006/main">
              <a:ext uri="{FF2B5EF4-FFF2-40B4-BE49-F238E27FC236}">
                <a16:creationId xmlns:a16="http://schemas.microsoft.com/office/drawing/2014/main" id="{048FDFB6-6BEF-4D3E-ABF9-4865C9FA3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安排路径</a:t>
            </a:r>
          </a:p>
        </p:txBody>
      </p:sp>
      <p:sp>
        <p:nvSpPr>
          <p:cNvPr id="10" name="s6-text-9">
            <a:extLst xmlns:a="http://schemas.openxmlformats.org/drawingml/2006/main">
              <a:ext uri="{FF2B5EF4-FFF2-40B4-BE49-F238E27FC236}">
                <a16:creationId xmlns:a16="http://schemas.microsoft.com/office/drawing/2014/main" id="{A9F18FDF-FFED-44B4-9804-7D3939258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拆解步骤、提供提示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决定下一项活动</a:t>
            </a:r>
          </a:p>
        </p:txBody>
      </p:sp>
      <p:sp>
        <p:nvSpPr>
          <p:cNvPr id="11" name="s6-rect-10">
            <a:extLst xmlns:a="http://schemas.openxmlformats.org/drawingml/2006/main">
              <a:ext uri="{FF2B5EF4-FFF2-40B4-BE49-F238E27FC236}">
                <a16:creationId xmlns:a16="http://schemas.microsoft.com/office/drawing/2014/main" id="{E29B4BB2-EB38-4656-9569-4E71C7C46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2" name="s6-text-11">
            <a:extLst xmlns:a="http://schemas.openxmlformats.org/drawingml/2006/main">
              <a:ext uri="{FF2B5EF4-FFF2-40B4-BE49-F238E27FC236}">
                <a16:creationId xmlns:a16="http://schemas.microsoft.com/office/drawing/2014/main" id="{DAB1494C-9D14-4CCD-A044-139F0D7B6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评价结果</a:t>
            </a:r>
          </a:p>
        </p:txBody>
      </p:sp>
      <p:sp>
        <p:nvSpPr>
          <p:cNvPr id="13" name="s6-text-12">
            <a:extLst xmlns:a="http://schemas.openxmlformats.org/drawingml/2006/main">
              <a:ext uri="{FF2B5EF4-FFF2-40B4-BE49-F238E27FC236}">
                <a16:creationId xmlns:a16="http://schemas.microsoft.com/office/drawing/2014/main" id="{B1663F96-3CC0-4AAD-9FBB-E528743FC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提供判断标准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反馈是否充分、何时结束</a:t>
            </a:r>
          </a:p>
        </p:txBody>
      </p:sp>
      <p:sp>
        <p:nvSpPr>
          <p:cNvPr id="14" name="s6-rect-13">
            <a:extLst xmlns:a="http://schemas.openxmlformats.org/drawingml/2006/main">
              <a:ext uri="{FF2B5EF4-FFF2-40B4-BE49-F238E27FC236}">
                <a16:creationId xmlns:a16="http://schemas.microsoft.com/office/drawing/2014/main" id="{A7613B57-D5C9-4BA7-B14B-3545D68D2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5" name="s6-text-14">
            <a:extLst xmlns:a="http://schemas.openxmlformats.org/drawingml/2006/main">
              <a:ext uri="{FF2B5EF4-FFF2-40B4-BE49-F238E27FC236}">
                <a16:creationId xmlns:a16="http://schemas.microsoft.com/office/drawing/2014/main" id="{D1DF7643-EAE8-46DE-B14D-8FE5AA0C5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课堂分析应追踪具体决定，而不仅标注AI的角色名称。</a:t>
            </a:r>
          </a:p>
        </p:txBody>
      </p:sp>
      <p:sp>
        <p:nvSpPr>
          <p:cNvPr id="16" name="s6-footer-15">
            <a:extLst xmlns:a="http://schemas.openxmlformats.org/drawingml/2006/main">
              <a:ext uri="{FF2B5EF4-FFF2-40B4-BE49-F238E27FC236}">
                <a16:creationId xmlns:a16="http://schemas.microsoft.com/office/drawing/2014/main" id="{DA8E8E66-0E3A-4AB9-ABE9-CD1CECC57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Miao &amp; Cukurova, 2024 · UNESCO</a:t>
            </a:r>
          </a:p>
        </p:txBody>
      </p:sp>
      <p:sp>
        <p:nvSpPr>
          <p:cNvPr id="17" name="s6-footer-16">
            <a:extLst xmlns:a="http://schemas.openxmlformats.org/drawingml/2006/main">
              <a:ext uri="{FF2B5EF4-FFF2-40B4-BE49-F238E27FC236}">
                <a16:creationId xmlns:a16="http://schemas.microsoft.com/office/drawing/2014/main" id="{73DE2EBD-6387-4C60-B806-F8CF0A6C4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06 / 36</a:t>
            </a:r>
          </a:p>
        </p:txBody>
      </p:sp>
    </p:spTree>
    <p:extLst>
      <p:ext uri="{BB962C8B-B14F-4D97-AF65-F5344CB8AC3E}">
        <p14:creationId xmlns:p14="http://schemas.microsoft.com/office/powerpoint/2010/main" val="207699575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7-text-0">
            <a:extLst xmlns:a="http://schemas.openxmlformats.org/drawingml/2006/main">
              <a:ext uri="{FF2B5EF4-FFF2-40B4-BE49-F238E27FC236}">
                <a16:creationId xmlns:a16="http://schemas.microsoft.com/office/drawing/2014/main" id="{4245C944-0966-41E3-9606-3C609AC90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教育目标与学习机会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4e1aa2a17349bb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7-title-2">
            <a:extLst xmlns:a="http://schemas.openxmlformats.org/drawingml/2006/main">
              <a:ext uri="{FF2B5EF4-FFF2-40B4-BE49-F238E27FC236}">
                <a16:creationId xmlns:a16="http://schemas.microsoft.com/office/drawing/2014/main" id="{3F11DC06-E337-49D0-86A4-5D7DE93C4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教学分析需要连接工作、参与与能力</a:t>
            </a:r>
          </a:p>
        </p:txBody>
      </p:sp>
      <p:sp>
        <p:nvSpPr>
          <p:cNvPr id="4" name="s7-rect-3">
            <a:extLst xmlns:a="http://schemas.openxmlformats.org/drawingml/2006/main">
              <a:ext uri="{FF2B5EF4-FFF2-40B4-BE49-F238E27FC236}">
                <a16:creationId xmlns:a16="http://schemas.microsoft.com/office/drawing/2014/main" id="{B9E7F6C7-E3A6-45EE-B344-23164C7E3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3357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5" name="s7-text-4">
            <a:extLst xmlns:a="http://schemas.openxmlformats.org/drawingml/2006/main">
              <a:ext uri="{FF2B5EF4-FFF2-40B4-BE49-F238E27FC236}">
                <a16:creationId xmlns:a16="http://schemas.microsoft.com/office/drawing/2014/main" id="{AC0DA047-0EDC-4F17-A285-0FC205FFE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66925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0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0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sp>
        <p:nvSpPr>
          <p:cNvPr id="6" name="s7-text-5">
            <a:extLst xmlns:a="http://schemas.openxmlformats.org/drawingml/2006/main">
              <a:ext uri="{FF2B5EF4-FFF2-40B4-BE49-F238E27FC236}">
                <a16:creationId xmlns:a16="http://schemas.microsoft.com/office/drawing/2014/main" id="{79B9D00F-0363-4A1C-9E4E-990C54C56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066925"/>
            <a:ext cx="2809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55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工作承担</a:t>
            </a:r>
          </a:p>
        </p:txBody>
      </p:sp>
      <p:sp>
        <p:nvSpPr>
          <p:cNvPr id="7" name="s7-text-6">
            <a:extLst xmlns:a="http://schemas.openxmlformats.org/drawingml/2006/main">
              <a:ext uri="{FF2B5EF4-FFF2-40B4-BE49-F238E27FC236}">
                <a16:creationId xmlns:a16="http://schemas.microsoft.com/office/drawing/2014/main" id="{1F571A6D-D39E-4573-A252-F6CA12018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105025"/>
            <a:ext cx="65532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25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AI生成、整理或判断了什么？</a:t>
            </a:r>
          </a:p>
        </p:txBody>
      </p:sp>
      <p:sp>
        <p:nvSpPr>
          <p:cNvPr id="8" name="s7-rect-7">
            <a:extLst xmlns:a="http://schemas.openxmlformats.org/drawingml/2006/main">
              <a:ext uri="{FF2B5EF4-FFF2-40B4-BE49-F238E27FC236}">
                <a16:creationId xmlns:a16="http://schemas.microsoft.com/office/drawing/2014/main" id="{FBCE4B72-E24D-405F-83CA-E90A30A79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5277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9" name="s7-text-8">
            <a:extLst xmlns:a="http://schemas.openxmlformats.org/drawingml/2006/main">
              <a:ext uri="{FF2B5EF4-FFF2-40B4-BE49-F238E27FC236}">
                <a16:creationId xmlns:a16="http://schemas.microsoft.com/office/drawing/2014/main" id="{1CBB674D-B5CD-478A-AA4C-6C6A66F6B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6125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0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0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10" name="s7-text-9">
            <a:extLst xmlns:a="http://schemas.openxmlformats.org/drawingml/2006/main">
              <a:ext uri="{FF2B5EF4-FFF2-40B4-BE49-F238E27FC236}">
                <a16:creationId xmlns:a16="http://schemas.microsoft.com/office/drawing/2014/main" id="{220E00C6-AB7C-4759-9461-7054164BE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286125"/>
            <a:ext cx="2809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55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实际参与</a:t>
            </a:r>
          </a:p>
        </p:txBody>
      </p:sp>
      <p:sp>
        <p:nvSpPr>
          <p:cNvPr id="11" name="s7-text-10">
            <a:extLst xmlns:a="http://schemas.openxmlformats.org/drawingml/2006/main">
              <a:ext uri="{FF2B5EF4-FFF2-40B4-BE49-F238E27FC236}">
                <a16:creationId xmlns:a16="http://schemas.microsoft.com/office/drawing/2014/main" id="{8AD8E771-92B4-499B-90DF-79D9A849B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324225"/>
            <a:ext cx="65532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25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学生比较、解释并决定了什么？</a:t>
            </a:r>
          </a:p>
        </p:txBody>
      </p:sp>
      <p:sp>
        <p:nvSpPr>
          <p:cNvPr id="12" name="s7-rect-11">
            <a:extLst xmlns:a="http://schemas.openxmlformats.org/drawingml/2006/main">
              <a:ext uri="{FF2B5EF4-FFF2-40B4-BE49-F238E27FC236}">
                <a16:creationId xmlns:a16="http://schemas.microsoft.com/office/drawing/2014/main" id="{CC7AEE31-0C68-40BC-B381-BB5CF2B88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7197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3" name="s7-text-12">
            <a:extLst xmlns:a="http://schemas.openxmlformats.org/drawingml/2006/main">
              <a:ext uri="{FF2B5EF4-FFF2-40B4-BE49-F238E27FC236}">
                <a16:creationId xmlns:a16="http://schemas.microsoft.com/office/drawing/2014/main" id="{E9B56F22-E675-4A03-8B83-4DED8FB29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05325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0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0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14" name="s7-text-13">
            <a:extLst xmlns:a="http://schemas.openxmlformats.org/drawingml/2006/main">
              <a:ext uri="{FF2B5EF4-FFF2-40B4-BE49-F238E27FC236}">
                <a16:creationId xmlns:a16="http://schemas.microsoft.com/office/drawing/2014/main" id="{37C1AAF6-0F21-49E8-AC98-59EFE7E7B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505325"/>
            <a:ext cx="2809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55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能力发展</a:t>
            </a:r>
          </a:p>
        </p:txBody>
      </p:sp>
      <p:sp>
        <p:nvSpPr>
          <p:cNvPr id="15" name="s7-text-14">
            <a:extLst xmlns:a="http://schemas.openxmlformats.org/drawingml/2006/main">
              <a:ext uri="{FF2B5EF4-FFF2-40B4-BE49-F238E27FC236}">
                <a16:creationId xmlns:a16="http://schemas.microsoft.com/office/drawing/2014/main" id="{F29AC9E7-67CA-4434-8D61-0CA81E106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543425"/>
            <a:ext cx="65532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25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后续如何理解、运用与合作？</a:t>
            </a:r>
          </a:p>
        </p:txBody>
      </p:sp>
      <p:sp>
        <p:nvSpPr>
          <p:cNvPr id="16" name="s7-rect-15">
            <a:extLst xmlns:a="http://schemas.openxmlformats.org/drawingml/2006/main">
              <a:ext uri="{FF2B5EF4-FFF2-40B4-BE49-F238E27FC236}">
                <a16:creationId xmlns:a16="http://schemas.microsoft.com/office/drawing/2014/main" id="{742AD92A-DBFF-4B52-AAE2-DF87B0E50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7" name="s7-text-16">
            <a:extLst xmlns:a="http://schemas.openxmlformats.org/drawingml/2006/main">
              <a:ext uri="{FF2B5EF4-FFF2-40B4-BE49-F238E27FC236}">
                <a16:creationId xmlns:a16="http://schemas.microsoft.com/office/drawing/2014/main" id="{9FF78ECA-E0F2-472C-811D-CF4140F7A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以一项关键工作为线索，分析它如何进入学生的学习。</a:t>
            </a:r>
          </a:p>
        </p:txBody>
      </p:sp>
      <p:sp>
        <p:nvSpPr>
          <p:cNvPr id="18" name="s7-footer-17">
            <a:extLst xmlns:a="http://schemas.openxmlformats.org/drawingml/2006/main">
              <a:ext uri="{FF2B5EF4-FFF2-40B4-BE49-F238E27FC236}">
                <a16:creationId xmlns:a16="http://schemas.microsoft.com/office/drawing/2014/main" id="{CD4FA2D3-A410-4FAA-BFE4-9CDB5199A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Cukurova, 2025 · BJET</a:t>
            </a:r>
          </a:p>
        </p:txBody>
      </p:sp>
      <p:sp>
        <p:nvSpPr>
          <p:cNvPr id="19" name="s7-footer-18">
            <a:extLst xmlns:a="http://schemas.openxmlformats.org/drawingml/2006/main">
              <a:ext uri="{FF2B5EF4-FFF2-40B4-BE49-F238E27FC236}">
                <a16:creationId xmlns:a16="http://schemas.microsoft.com/office/drawing/2014/main" id="{C605A56C-E1F5-4E81-82B5-62E7669F7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07 / 36</a:t>
            </a:r>
          </a:p>
        </p:txBody>
      </p:sp>
    </p:spTree>
    <p:extLst>
      <p:ext uri="{BB962C8B-B14F-4D97-AF65-F5344CB8AC3E}">
        <p14:creationId xmlns:p14="http://schemas.microsoft.com/office/powerpoint/2010/main" val="97997807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8-text-0">
            <a:extLst xmlns:a="http://schemas.openxmlformats.org/drawingml/2006/main">
              <a:ext uri="{FF2B5EF4-FFF2-40B4-BE49-F238E27FC236}">
                <a16:creationId xmlns:a16="http://schemas.microsoft.com/office/drawing/2014/main" id="{7BF2EA85-EF9F-41AF-B6C5-F81D9E8C4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教育目标与学习机会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aa858ae5ef40ac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8-title-2">
            <a:extLst xmlns:a="http://schemas.openxmlformats.org/drawingml/2006/main">
              <a:ext uri="{FF2B5EF4-FFF2-40B4-BE49-F238E27FC236}">
                <a16:creationId xmlns:a16="http://schemas.microsoft.com/office/drawing/2014/main" id="{2A6E20FB-6066-4E3B-8422-37D821060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原有任务可以保留、调整或扩展</a:t>
            </a:r>
          </a:p>
        </p:txBody>
      </p:sp>
      <p:sp>
        <p:nvSpPr>
          <p:cNvPr id="4" name="s8-text-3">
            <a:extLst xmlns:a="http://schemas.openxmlformats.org/drawingml/2006/main">
              <a:ext uri="{FF2B5EF4-FFF2-40B4-BE49-F238E27FC236}">
                <a16:creationId xmlns:a16="http://schemas.microsoft.com/office/drawing/2014/main" id="{ADED716E-9A48-4F21-94B2-6CFFD7F09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76425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选择依据是任务对学生发展的作用，以及当前可用的支持。</a:t>
            </a:r>
          </a:p>
        </p:txBody>
      </p:sp>
      <p:sp>
        <p:nvSpPr>
          <p:cNvPr id="5" name="s8-rect-4">
            <a:extLst xmlns:a="http://schemas.openxmlformats.org/drawingml/2006/main">
              <a:ext uri="{FF2B5EF4-FFF2-40B4-BE49-F238E27FC236}">
                <a16:creationId xmlns:a16="http://schemas.microsoft.com/office/drawing/2014/main" id="{A9D0AFB8-067F-4379-A21D-682A2E4D2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6" name="s8-text-5">
            <a:extLst xmlns:a="http://schemas.openxmlformats.org/drawingml/2006/main">
              <a:ext uri="{FF2B5EF4-FFF2-40B4-BE49-F238E27FC236}">
                <a16:creationId xmlns:a16="http://schemas.microsoft.com/office/drawing/2014/main" id="{1DA2FF0D-C76B-4469-A238-1406179BA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保留关键经验</a:t>
            </a:r>
          </a:p>
        </p:txBody>
      </p:sp>
      <p:sp>
        <p:nvSpPr>
          <p:cNvPr id="7" name="s8-text-6">
            <a:extLst xmlns:a="http://schemas.openxmlformats.org/drawingml/2006/main">
              <a:ext uri="{FF2B5EF4-FFF2-40B4-BE49-F238E27FC236}">
                <a16:creationId xmlns:a16="http://schemas.microsoft.com/office/drawing/2014/main" id="{F34DA3FD-3A1A-4A48-A776-DEFAAE929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解释对照设计的理由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理解证据的适用范围</a:t>
            </a:r>
          </a:p>
        </p:txBody>
      </p:sp>
      <p:sp>
        <p:nvSpPr>
          <p:cNvPr id="8" name="s8-rect-7">
            <a:extLst xmlns:a="http://schemas.openxmlformats.org/drawingml/2006/main">
              <a:ext uri="{FF2B5EF4-FFF2-40B4-BE49-F238E27FC236}">
                <a16:creationId xmlns:a16="http://schemas.microsoft.com/office/drawing/2014/main" id="{08A1D9A3-B9DF-4E17-8ADD-EF5C35C9A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9" name="s8-text-8">
            <a:extLst xmlns:a="http://schemas.openxmlformats.org/drawingml/2006/main">
              <a:ext uri="{FF2B5EF4-FFF2-40B4-BE49-F238E27FC236}">
                <a16:creationId xmlns:a16="http://schemas.microsoft.com/office/drawing/2014/main" id="{048FDFB6-6BEF-4D3E-ABF9-4865C9FA3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调整工作重心</a:t>
            </a:r>
          </a:p>
        </p:txBody>
      </p:sp>
      <p:sp>
        <p:nvSpPr>
          <p:cNvPr id="10" name="s8-text-9">
            <a:extLst xmlns:a="http://schemas.openxmlformats.org/drawingml/2006/main">
              <a:ext uri="{FF2B5EF4-FFF2-40B4-BE49-F238E27FC236}">
                <a16:creationId xmlns:a16="http://schemas.microsoft.com/office/drawing/2014/main" id="{A9F18FDF-FFED-44B4-9804-7D3939258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减少重复转录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增加对记录差异的分析</a:t>
            </a:r>
          </a:p>
        </p:txBody>
      </p:sp>
      <p:sp>
        <p:nvSpPr>
          <p:cNvPr id="11" name="s8-rect-10">
            <a:extLst xmlns:a="http://schemas.openxmlformats.org/drawingml/2006/main">
              <a:ext uri="{FF2B5EF4-FFF2-40B4-BE49-F238E27FC236}">
                <a16:creationId xmlns:a16="http://schemas.microsoft.com/office/drawing/2014/main" id="{E29B4BB2-EB38-4656-9569-4E71C7C46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2" name="s8-text-11">
            <a:extLst xmlns:a="http://schemas.openxmlformats.org/drawingml/2006/main">
              <a:ext uri="{FF2B5EF4-FFF2-40B4-BE49-F238E27FC236}">
                <a16:creationId xmlns:a16="http://schemas.microsoft.com/office/drawing/2014/main" id="{DAB1494C-9D14-4CCD-A044-139F0D7B6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扩展研究问题</a:t>
            </a:r>
          </a:p>
        </p:txBody>
      </p:sp>
      <p:sp>
        <p:nvSpPr>
          <p:cNvPr id="13" name="s8-text-12">
            <a:extLst xmlns:a="http://schemas.openxmlformats.org/drawingml/2006/main">
              <a:ext uri="{FF2B5EF4-FFF2-40B4-BE49-F238E27FC236}">
                <a16:creationId xmlns:a16="http://schemas.microsoft.com/office/drawing/2014/main" id="{B1663F96-3CC0-4AAD-9FBB-E528743FC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比较多个竞争解释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决定需要补充哪些观察</a:t>
            </a:r>
          </a:p>
        </p:txBody>
      </p:sp>
      <p:sp>
        <p:nvSpPr>
          <p:cNvPr id="14" name="s8-rect-13">
            <a:extLst xmlns:a="http://schemas.openxmlformats.org/drawingml/2006/main">
              <a:ext uri="{FF2B5EF4-FFF2-40B4-BE49-F238E27FC236}">
                <a16:creationId xmlns:a16="http://schemas.microsoft.com/office/drawing/2014/main" id="{A7613B57-D5C9-4BA7-B14B-3545D68D2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5" name="s8-text-14">
            <a:extLst xmlns:a="http://schemas.openxmlformats.org/drawingml/2006/main">
              <a:ext uri="{FF2B5EF4-FFF2-40B4-BE49-F238E27FC236}">
                <a16:creationId xmlns:a16="http://schemas.microsoft.com/office/drawing/2014/main" id="{D1DF7643-EAE8-46DE-B14D-8FE5AA0C5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任务调整需要说明：学生获得了哪一种新的学习机会？</a:t>
            </a:r>
          </a:p>
        </p:txBody>
      </p:sp>
      <p:sp>
        <p:nvSpPr>
          <p:cNvPr id="16" name="s8-footer-15">
            <a:extLst xmlns:a="http://schemas.openxmlformats.org/drawingml/2006/main">
              <a:ext uri="{FF2B5EF4-FFF2-40B4-BE49-F238E27FC236}">
                <a16:creationId xmlns:a16="http://schemas.microsoft.com/office/drawing/2014/main" id="{DA8E8E66-0E3A-4AB9-ABE9-CD1CECC57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7" name="s8-footer-16">
            <a:extLst xmlns:a="http://schemas.openxmlformats.org/drawingml/2006/main">
              <a:ext uri="{FF2B5EF4-FFF2-40B4-BE49-F238E27FC236}">
                <a16:creationId xmlns:a16="http://schemas.microsoft.com/office/drawing/2014/main" id="{73DE2EBD-6387-4C60-B806-F8CF0A6C4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08 / 36</a:t>
            </a:r>
          </a:p>
        </p:txBody>
      </p:sp>
    </p:spTree>
    <p:extLst>
      <p:ext uri="{BB962C8B-B14F-4D97-AF65-F5344CB8AC3E}">
        <p14:creationId xmlns:p14="http://schemas.microsoft.com/office/powerpoint/2010/main" val="207699575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9-text-0">
            <a:extLst xmlns:a="http://schemas.openxmlformats.org/drawingml/2006/main">
              <a:ext uri="{FF2B5EF4-FFF2-40B4-BE49-F238E27FC236}">
                <a16:creationId xmlns:a16="http://schemas.microsoft.com/office/drawing/2014/main" id="{BFC74636-1E16-4F94-9A0F-1AECC283A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教育目标与学习机会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1260da1f7f498d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9-title-2">
            <a:extLst xmlns:a="http://schemas.openxmlformats.org/drawingml/2006/main">
              <a:ext uri="{FF2B5EF4-FFF2-40B4-BE49-F238E27FC236}">
                <a16:creationId xmlns:a16="http://schemas.microsoft.com/office/drawing/2014/main" id="{1E8BF6C0-5EEA-4753-8ADC-AB75F4CD8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任务简化应保留与学习目标相关的练习</a:t>
            </a:r>
          </a:p>
        </p:txBody>
      </p:sp>
      <p:sp>
        <p:nvSpPr>
          <p:cNvPr id="4" name="s9-rect-3">
            <a:extLst xmlns:a="http://schemas.openxmlformats.org/drawingml/2006/main">
              <a:ext uri="{FF2B5EF4-FFF2-40B4-BE49-F238E27FC236}">
                <a16:creationId xmlns:a16="http://schemas.microsoft.com/office/drawing/2014/main" id="{20766C86-EDFA-4546-82D3-BDF8F5883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95550"/>
            <a:ext cx="5181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5" name="s9-text-4">
            <a:extLst xmlns:a="http://schemas.openxmlformats.org/drawingml/2006/main">
              <a:ext uri="{FF2B5EF4-FFF2-40B4-BE49-F238E27FC236}">
                <a16:creationId xmlns:a16="http://schemas.microsoft.com/office/drawing/2014/main" id="{2CE64438-D153-4BC2-868B-05098BA5E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51816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可以委托的工作</a:t>
            </a:r>
          </a:p>
        </p:txBody>
      </p:sp>
      <p:sp>
        <p:nvSpPr>
          <p:cNvPr id="6" name="s9-text-5">
            <a:extLst xmlns:a="http://schemas.openxmlformats.org/drawingml/2006/main">
              <a:ext uri="{FF2B5EF4-FFF2-40B4-BE49-F238E27FC236}">
                <a16:creationId xmlns:a16="http://schemas.microsoft.com/office/drawing/2014/main" id="{337727A3-5AD9-4D81-B3E8-1C4430966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71875"/>
            <a:ext cx="51816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在分析证据的课中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让AI统一表格格式</a:t>
            </a:r>
          </a:p>
        </p:txBody>
      </p:sp>
      <p:sp>
        <p:nvSpPr>
          <p:cNvPr id="7" name="s9-rect-6">
            <a:extLst xmlns:a="http://schemas.openxmlformats.org/drawingml/2006/main">
              <a:ext uri="{FF2B5EF4-FFF2-40B4-BE49-F238E27FC236}">
                <a16:creationId xmlns:a16="http://schemas.microsoft.com/office/drawing/2014/main" id="{DE350972-473F-4832-95BB-7E3000157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495550"/>
            <a:ext cx="5181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8" name="s9-text-7">
            <a:extLst xmlns:a="http://schemas.openxmlformats.org/drawingml/2006/main">
              <a:ext uri="{FF2B5EF4-FFF2-40B4-BE49-F238E27FC236}">
                <a16:creationId xmlns:a16="http://schemas.microsoft.com/office/drawing/2014/main" id="{9923C920-C3EA-458E-B1EA-0C328CB8F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05100"/>
            <a:ext cx="51816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需要安排的练习</a:t>
            </a:r>
          </a:p>
        </p:txBody>
      </p:sp>
      <p:sp>
        <p:nvSpPr>
          <p:cNvPr id="9" name="s9-text-8">
            <a:extLst xmlns:a="http://schemas.openxmlformats.org/drawingml/2006/main">
              <a:ext uri="{FF2B5EF4-FFF2-40B4-BE49-F238E27FC236}">
                <a16:creationId xmlns:a16="http://schemas.microsoft.com/office/drawing/2014/main" id="{E0D5B8C9-47AB-4806-BBEB-8E0C2D0F9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571875"/>
            <a:ext cx="51816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在设计观察方法的课中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让学生决定记录哪些项目</a:t>
            </a:r>
          </a:p>
        </p:txBody>
      </p:sp>
      <p:sp>
        <p:nvSpPr>
          <p:cNvPr id="10" name="s9-rect-9">
            <a:extLst xmlns:a="http://schemas.openxmlformats.org/drawingml/2006/main">
              <a:ext uri="{FF2B5EF4-FFF2-40B4-BE49-F238E27FC236}">
                <a16:creationId xmlns:a16="http://schemas.microsoft.com/office/drawing/2014/main" id="{B14D9666-A68D-4664-BED9-6C1381C51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1" name="s9-text-10">
            <a:extLst xmlns:a="http://schemas.openxmlformats.org/drawingml/2006/main">
              <a:ext uri="{FF2B5EF4-FFF2-40B4-BE49-F238E27FC236}">
                <a16:creationId xmlns:a16="http://schemas.microsoft.com/office/drawing/2014/main" id="{56A54A05-61BB-4933-8976-A6915E94A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同一项工作是否适合委托，取决于学习目标与学生起点。</a:t>
            </a:r>
          </a:p>
        </p:txBody>
      </p:sp>
      <p:sp>
        <p:nvSpPr>
          <p:cNvPr id="12" name="s9-footer-11">
            <a:extLst xmlns:a="http://schemas.openxmlformats.org/drawingml/2006/main">
              <a:ext uri="{FF2B5EF4-FFF2-40B4-BE49-F238E27FC236}">
                <a16:creationId xmlns:a16="http://schemas.microsoft.com/office/drawing/2014/main" id="{F89AF948-47A8-4364-8B22-A69155C8C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3" name="s9-footer-12">
            <a:extLst xmlns:a="http://schemas.openxmlformats.org/drawingml/2006/main">
              <a:ext uri="{FF2B5EF4-FFF2-40B4-BE49-F238E27FC236}">
                <a16:creationId xmlns:a16="http://schemas.microsoft.com/office/drawing/2014/main" id="{F3FC4334-59B8-4197-A578-E3F7CD5DA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09 / 36</a:t>
            </a:r>
          </a:p>
        </p:txBody>
      </p:sp>
    </p:spTree>
    <p:extLst>
      <p:ext uri="{BB962C8B-B14F-4D97-AF65-F5344CB8AC3E}">
        <p14:creationId xmlns:p14="http://schemas.microsoft.com/office/powerpoint/2010/main" val="150234133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10-text-0">
            <a:extLst xmlns:a="http://schemas.openxmlformats.org/drawingml/2006/main">
              <a:ext uri="{FF2B5EF4-FFF2-40B4-BE49-F238E27FC236}">
                <a16:creationId xmlns:a16="http://schemas.microsoft.com/office/drawing/2014/main" id="{0669A9D4-DFF2-49C9-90FE-3D0D9124D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教学案例（模拟）· 整理与分析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703bb575ea41db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10-title-2">
            <a:extLst xmlns:a="http://schemas.openxmlformats.org/drawingml/2006/main">
              <a:ext uri="{FF2B5EF4-FFF2-40B4-BE49-F238E27FC236}">
                <a16:creationId xmlns:a16="http://schemas.microsoft.com/office/drawing/2014/main" id="{4E809AF8-264E-4015-B0F5-585BC307B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整理支持可以使学生进入证据比较</a:t>
            </a:r>
          </a:p>
        </p:txBody>
      </p:sp>
      <p:sp>
        <p:nvSpPr>
          <p:cNvPr id="4" name="s10-text-3">
            <a:extLst xmlns:a="http://schemas.openxmlformats.org/drawingml/2006/main">
              <a:ext uri="{FF2B5EF4-FFF2-40B4-BE49-F238E27FC236}">
                <a16:creationId xmlns:a16="http://schemas.microsoft.com/office/drawing/2014/main" id="{8843D173-0D22-4FE1-9539-59A5811A5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10477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55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原始记录包含日期、颜色与植物数量，但排列混乱。</a:t>
            </a:r>
          </a:p>
        </p:txBody>
      </p:sp>
      <p:sp>
        <p:nvSpPr>
          <p:cNvPr id="5" name="s10-text-4">
            <a:extLst xmlns:a="http://schemas.openxmlformats.org/drawingml/2006/main">
              <a:ext uri="{FF2B5EF4-FFF2-40B4-BE49-F238E27FC236}">
                <a16:creationId xmlns:a16="http://schemas.microsoft.com/office/drawing/2014/main" id="{EDD9768B-3874-4F2D-93A9-663486342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05175"/>
            <a:ext cx="27241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AI的工作</a:t>
            </a:r>
          </a:p>
        </p:txBody>
      </p:sp>
      <p:sp>
        <p:nvSpPr>
          <p:cNvPr id="6" name="s10-text-5">
            <a:extLst xmlns:a="http://schemas.openxmlformats.org/drawingml/2006/main">
              <a:ext uri="{FF2B5EF4-FFF2-40B4-BE49-F238E27FC236}">
                <a16:creationId xmlns:a16="http://schemas.microsoft.com/office/drawing/2014/main" id="{9B63F50A-9668-4FDF-B4C2-2DFDB2014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305175"/>
            <a:ext cx="77438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按原始记录分列整理，并标出缺失项目</a:t>
            </a:r>
          </a:p>
        </p:txBody>
      </p:sp>
      <p:sp>
        <p:nvSpPr>
          <p:cNvPr id="7" name="s10-text-6">
            <a:extLst xmlns:a="http://schemas.openxmlformats.org/drawingml/2006/main">
              <a:ext uri="{FF2B5EF4-FFF2-40B4-BE49-F238E27FC236}">
                <a16:creationId xmlns:a16="http://schemas.microsoft.com/office/drawing/2014/main" id="{875F8CE7-78C0-4EF0-A68A-43283FACB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38650"/>
            <a:ext cx="27241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学生的任务</a:t>
            </a:r>
          </a:p>
        </p:txBody>
      </p:sp>
      <p:sp>
        <p:nvSpPr>
          <p:cNvPr id="8" name="s10-text-7">
            <a:extLst xmlns:a="http://schemas.openxmlformats.org/drawingml/2006/main">
              <a:ext uri="{FF2B5EF4-FFF2-40B4-BE49-F238E27FC236}">
                <a16:creationId xmlns:a16="http://schemas.microsoft.com/office/drawing/2014/main" id="{30D0C8CD-3A7F-4518-ADEC-C4D406D1B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4438650"/>
            <a:ext cx="77438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选择可比较的记录，说明差异与尚缺的信息</a:t>
            </a:r>
          </a:p>
        </p:txBody>
      </p:sp>
      <p:sp>
        <p:nvSpPr>
          <p:cNvPr id="9" name="s10-rect-8">
            <a:extLst xmlns:a="http://schemas.openxmlformats.org/drawingml/2006/main">
              <a:ext uri="{FF2B5EF4-FFF2-40B4-BE49-F238E27FC236}">
                <a16:creationId xmlns:a16="http://schemas.microsoft.com/office/drawing/2014/main" id="{F74DB35C-88F9-4FBE-8220-DC8D6A484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0" name="s10-text-9">
            <a:extLst xmlns:a="http://schemas.openxmlformats.org/drawingml/2006/main">
              <a:ext uri="{FF2B5EF4-FFF2-40B4-BE49-F238E27FC236}">
                <a16:creationId xmlns:a16="http://schemas.microsoft.com/office/drawing/2014/main" id="{B36DA583-5BA6-4C1F-8487-D99E9BC0C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支持的作用：降低整理负担，为比较和解释提供条件。</a:t>
            </a:r>
          </a:p>
        </p:txBody>
      </p:sp>
      <p:sp>
        <p:nvSpPr>
          <p:cNvPr id="11" name="s10-footer-10">
            <a:extLst xmlns:a="http://schemas.openxmlformats.org/drawingml/2006/main">
              <a:ext uri="{FF2B5EF4-FFF2-40B4-BE49-F238E27FC236}">
                <a16:creationId xmlns:a16="http://schemas.microsoft.com/office/drawing/2014/main" id="{C88C875B-CCAF-46E3-8E78-0E0A786E5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2" name="s10-footer-11">
            <a:extLst xmlns:a="http://schemas.openxmlformats.org/drawingml/2006/main">
              <a:ext uri="{FF2B5EF4-FFF2-40B4-BE49-F238E27FC236}">
                <a16:creationId xmlns:a16="http://schemas.microsoft.com/office/drawing/2014/main" id="{6F6E6439-E335-4115-AF8F-064986AFA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10 / 36</a:t>
            </a:r>
          </a:p>
        </p:txBody>
      </p:sp>
    </p:spTree>
    <p:extLst>
      <p:ext uri="{BB962C8B-B14F-4D97-AF65-F5344CB8AC3E}">
        <p14:creationId xmlns:p14="http://schemas.microsoft.com/office/powerpoint/2010/main" val="80186665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11-text-0">
            <a:extLst xmlns:a="http://schemas.openxmlformats.org/drawingml/2006/main">
              <a:ext uri="{FF2B5EF4-FFF2-40B4-BE49-F238E27FC236}">
                <a16:creationId xmlns:a16="http://schemas.microsoft.com/office/drawing/2014/main" id="{B37467A4-F300-47EE-B7AE-BEC55BD3E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教育目标与学习机会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8258ff7dc54414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11-title-2">
            <a:extLst xmlns:a="http://schemas.openxmlformats.org/drawingml/2006/main">
              <a:ext uri="{FF2B5EF4-FFF2-40B4-BE49-F238E27FC236}">
                <a16:creationId xmlns:a16="http://schemas.microsoft.com/office/drawing/2014/main" id="{5F1EF761-3237-4AF0-BF0B-C7FD191C9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AI可以将现象描述扩展为解释检验</a:t>
            </a:r>
          </a:p>
        </p:txBody>
      </p:sp>
      <p:sp>
        <p:nvSpPr>
          <p:cNvPr id="4" name="s11-text-3">
            <a:extLst xmlns:a="http://schemas.openxmlformats.org/drawingml/2006/main">
              <a:ext uri="{FF2B5EF4-FFF2-40B4-BE49-F238E27FC236}">
                <a16:creationId xmlns:a16="http://schemas.microsoft.com/office/drawing/2014/main" id="{4D216A4E-7C63-4091-B62E-92ACACCB1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02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教学重设计示例：围绕同一生态瓶现象，增加解释与检验任务。</a:t>
            </a:r>
          </a:p>
        </p:txBody>
      </p:sp>
      <p:sp>
        <p:nvSpPr>
          <p:cNvPr id="5" name="s11-rect-4">
            <a:extLst xmlns:a="http://schemas.openxmlformats.org/drawingml/2006/main">
              <a:ext uri="{FF2B5EF4-FFF2-40B4-BE49-F238E27FC236}">
                <a16:creationId xmlns:a16="http://schemas.microsoft.com/office/drawing/2014/main" id="{DD856635-3557-492F-B1B6-5297B919F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38425"/>
            <a:ext cx="108204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7"/>
          </a:solidFill>
          <a:ln xmlns:a="http://schemas.openxmlformats.org/drawingml/2006/main" w="0">
            <a:noFill/>
          </a:ln>
        </p:spPr>
      </p:sp>
      <p:sp>
        <p:nvSpPr>
          <p:cNvPr id="6" name="s11-text-5">
            <a:extLst xmlns:a="http://schemas.openxmlformats.org/drawingml/2006/main">
              <a:ext uri="{FF2B5EF4-FFF2-40B4-BE49-F238E27FC236}">
                <a16:creationId xmlns:a16="http://schemas.microsoft.com/office/drawing/2014/main" id="{0702F034-317A-4E2C-9391-A04011454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14625"/>
            <a:ext cx="2076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环节</a:t>
            </a:r>
          </a:p>
        </p:txBody>
      </p:sp>
      <p:sp>
        <p:nvSpPr>
          <p:cNvPr id="7" name="s11-text-6">
            <a:extLst xmlns:a="http://schemas.openxmlformats.org/drawingml/2006/main">
              <a:ext uri="{FF2B5EF4-FFF2-40B4-BE49-F238E27FC236}">
                <a16:creationId xmlns:a16="http://schemas.microsoft.com/office/drawing/2014/main" id="{77D1A97A-23C4-4D28-9B42-0B18D8035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714625"/>
            <a:ext cx="39719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工作安排</a:t>
            </a:r>
          </a:p>
        </p:txBody>
      </p:sp>
      <p:sp>
        <p:nvSpPr>
          <p:cNvPr id="8" name="s11-text-7">
            <a:extLst xmlns:a="http://schemas.openxmlformats.org/drawingml/2006/main">
              <a:ext uri="{FF2B5EF4-FFF2-40B4-BE49-F238E27FC236}">
                <a16:creationId xmlns:a16="http://schemas.microsoft.com/office/drawing/2014/main" id="{72F0EBAB-7701-480C-A4CF-F722CA92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2714625"/>
            <a:ext cx="39719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学生的关键判断</a:t>
            </a:r>
          </a:p>
        </p:txBody>
      </p:sp>
      <p:sp>
        <p:nvSpPr>
          <p:cNvPr id="9" name="s11-text-8">
            <a:extLst xmlns:a="http://schemas.openxmlformats.org/drawingml/2006/main">
              <a:ext uri="{FF2B5EF4-FFF2-40B4-BE49-F238E27FC236}">
                <a16:creationId xmlns:a16="http://schemas.microsoft.com/office/drawing/2014/main" id="{18D438B2-7BBD-4077-B318-F6923A0FA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76600"/>
            <a:ext cx="20764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记录现象</a:t>
            </a:r>
          </a:p>
        </p:txBody>
      </p:sp>
      <p:sp>
        <p:nvSpPr>
          <p:cNvPr id="10" name="s11-text-9">
            <a:extLst xmlns:a="http://schemas.openxmlformats.org/drawingml/2006/main">
              <a:ext uri="{FF2B5EF4-FFF2-40B4-BE49-F238E27FC236}">
                <a16:creationId xmlns:a16="http://schemas.microsoft.com/office/drawing/2014/main" id="{10842118-7302-4E2A-AC73-49242804E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276600"/>
            <a:ext cx="39719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整理两瓶的变化</a:t>
            </a:r>
          </a:p>
        </p:txBody>
      </p:sp>
      <p:sp>
        <p:nvSpPr>
          <p:cNvPr id="11" name="s11-text-10">
            <a:extLst xmlns:a="http://schemas.openxmlformats.org/drawingml/2006/main">
              <a:ext uri="{FF2B5EF4-FFF2-40B4-BE49-F238E27FC236}">
                <a16:creationId xmlns:a16="http://schemas.microsoft.com/office/drawing/2014/main" id="{211787BB-8440-4822-847A-55F7E3749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3276600"/>
            <a:ext cx="39719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哪些变化值得进一步解释</a:t>
            </a:r>
          </a:p>
        </p:txBody>
      </p:sp>
      <p:sp>
        <p:nvSpPr>
          <p:cNvPr id="12" name="s11-rect-11">
            <a:extLst xmlns:a="http://schemas.openxmlformats.org/drawingml/2006/main">
              <a:ext uri="{FF2B5EF4-FFF2-40B4-BE49-F238E27FC236}">
                <a16:creationId xmlns:a16="http://schemas.microsoft.com/office/drawing/2014/main" id="{3BB40B83-E992-47F3-A120-34C60F72F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3" name="s11-text-12">
            <a:extLst xmlns:a="http://schemas.openxmlformats.org/drawingml/2006/main">
              <a:ext uri="{FF2B5EF4-FFF2-40B4-BE49-F238E27FC236}">
                <a16:creationId xmlns:a16="http://schemas.microsoft.com/office/drawing/2014/main" id="{985CBB70-DE57-41E9-AC13-73891DE27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14800"/>
            <a:ext cx="20764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提出解释</a:t>
            </a:r>
          </a:p>
        </p:txBody>
      </p:sp>
      <p:sp>
        <p:nvSpPr>
          <p:cNvPr id="14" name="s11-text-13">
            <a:extLst xmlns:a="http://schemas.openxmlformats.org/drawingml/2006/main">
              <a:ext uri="{FF2B5EF4-FFF2-40B4-BE49-F238E27FC236}">
                <a16:creationId xmlns:a16="http://schemas.microsoft.com/office/drawing/2014/main" id="{43A47665-A314-442A-9230-7916216D4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114800"/>
            <a:ext cx="39719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AI补充备选，学生筛选</a:t>
            </a:r>
          </a:p>
        </p:txBody>
      </p:sp>
      <p:sp>
        <p:nvSpPr>
          <p:cNvPr id="15" name="s11-text-14">
            <a:extLst xmlns:a="http://schemas.openxmlformats.org/drawingml/2006/main">
              <a:ext uri="{FF2B5EF4-FFF2-40B4-BE49-F238E27FC236}">
                <a16:creationId xmlns:a16="http://schemas.microsoft.com/office/drawing/2014/main" id="{B4B24A9A-5BB8-42F9-B39E-727F0F289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4114800"/>
            <a:ext cx="39719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哪些解释与已知条件相关</a:t>
            </a:r>
          </a:p>
        </p:txBody>
      </p:sp>
      <p:sp>
        <p:nvSpPr>
          <p:cNvPr id="16" name="s11-rect-15">
            <a:extLst xmlns:a="http://schemas.openxmlformats.org/drawingml/2006/main">
              <a:ext uri="{FF2B5EF4-FFF2-40B4-BE49-F238E27FC236}">
                <a16:creationId xmlns:a16="http://schemas.microsoft.com/office/drawing/2014/main" id="{FCDFC071-6654-411B-B1DD-35EEEF881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387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7" name="s11-text-16">
            <a:extLst xmlns:a="http://schemas.openxmlformats.org/drawingml/2006/main">
              <a:ext uri="{FF2B5EF4-FFF2-40B4-BE49-F238E27FC236}">
                <a16:creationId xmlns:a16="http://schemas.microsoft.com/office/drawing/2014/main" id="{74783D14-A8F3-42A6-B5D8-D25E575F3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53000"/>
            <a:ext cx="20764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设计检验</a:t>
            </a:r>
          </a:p>
        </p:txBody>
      </p:sp>
      <p:sp>
        <p:nvSpPr>
          <p:cNvPr id="18" name="s11-text-17">
            <a:extLst xmlns:a="http://schemas.openxmlformats.org/drawingml/2006/main">
              <a:ext uri="{FF2B5EF4-FFF2-40B4-BE49-F238E27FC236}">
                <a16:creationId xmlns:a16="http://schemas.microsoft.com/office/drawing/2014/main" id="{3B92AF0C-000F-44E1-8710-41469E7B0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953000"/>
            <a:ext cx="39719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学生提出补测或对照</a:t>
            </a:r>
          </a:p>
        </p:txBody>
      </p:sp>
      <p:sp>
        <p:nvSpPr>
          <p:cNvPr id="19" name="s11-text-18">
            <a:extLst xmlns:a="http://schemas.openxmlformats.org/drawingml/2006/main">
              <a:ext uri="{FF2B5EF4-FFF2-40B4-BE49-F238E27FC236}">
                <a16:creationId xmlns:a16="http://schemas.microsoft.com/office/drawing/2014/main" id="{DE8C0597-6141-4AB0-8838-CEC09CB35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4953000"/>
            <a:ext cx="39719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什么观察能区分这些解释</a:t>
            </a:r>
          </a:p>
        </p:txBody>
      </p:sp>
      <p:sp>
        <p:nvSpPr>
          <p:cNvPr id="20" name="s11-rect-19">
            <a:extLst xmlns:a="http://schemas.openxmlformats.org/drawingml/2006/main">
              <a:ext uri="{FF2B5EF4-FFF2-40B4-BE49-F238E27FC236}">
                <a16:creationId xmlns:a16="http://schemas.microsoft.com/office/drawing/2014/main" id="{AC64F45B-5AD4-4AF0-AFEF-CB79BD6F5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21" name="s11-rect-20">
            <a:extLst xmlns:a="http://schemas.openxmlformats.org/drawingml/2006/main">
              <a:ext uri="{FF2B5EF4-FFF2-40B4-BE49-F238E27FC236}">
                <a16:creationId xmlns:a16="http://schemas.microsoft.com/office/drawing/2014/main" id="{7538F713-0FFA-4184-9629-6368AF595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22" name="s11-text-21">
            <a:extLst xmlns:a="http://schemas.openxmlformats.org/drawingml/2006/main">
              <a:ext uri="{FF2B5EF4-FFF2-40B4-BE49-F238E27FC236}">
                <a16:creationId xmlns:a16="http://schemas.microsoft.com/office/drawing/2014/main" id="{5AD1929A-DA1A-4DB1-8FD1-0283AC4A6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扩展的学习要求：由描述结果，推进到设计检验。</a:t>
            </a:r>
          </a:p>
        </p:txBody>
      </p:sp>
      <p:sp>
        <p:nvSpPr>
          <p:cNvPr id="23" name="s11-footer-22">
            <a:extLst xmlns:a="http://schemas.openxmlformats.org/drawingml/2006/main">
              <a:ext uri="{FF2B5EF4-FFF2-40B4-BE49-F238E27FC236}">
                <a16:creationId xmlns:a16="http://schemas.microsoft.com/office/drawing/2014/main" id="{A27D6553-FFB0-455C-8676-76A7C9E3F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24" name="s11-footer-23">
            <a:extLst xmlns:a="http://schemas.openxmlformats.org/drawingml/2006/main">
              <a:ext uri="{FF2B5EF4-FFF2-40B4-BE49-F238E27FC236}">
                <a16:creationId xmlns:a16="http://schemas.microsoft.com/office/drawing/2014/main" id="{9710344E-1638-4A5B-BB36-CA3017709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11 / 36</a:t>
            </a:r>
          </a:p>
        </p:txBody>
      </p:sp>
    </p:spTree>
    <p:extLst>
      <p:ext uri="{BB962C8B-B14F-4D97-AF65-F5344CB8AC3E}">
        <p14:creationId xmlns:p14="http://schemas.microsoft.com/office/powerpoint/2010/main" val="66758286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12-text-0">
            <a:extLst xmlns:a="http://schemas.openxmlformats.org/drawingml/2006/main">
              <a:ext uri="{FF2B5EF4-FFF2-40B4-BE49-F238E27FC236}">
                <a16:creationId xmlns:a16="http://schemas.microsoft.com/office/drawing/2014/main" id="{2088C822-60CC-40F5-8A27-479A9F293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教学案例（模拟）· 竞争解释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49fb870735449e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12-title-2">
            <a:extLst xmlns:a="http://schemas.openxmlformats.org/drawingml/2006/main">
              <a:ext uri="{FF2B5EF4-FFF2-40B4-BE49-F238E27FC236}">
                <a16:creationId xmlns:a16="http://schemas.microsoft.com/office/drawing/2014/main" id="{F847E68C-20B8-48F1-BCBF-B3107BD39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新增任务要求学生决定如何区分解释</a:t>
            </a:r>
          </a:p>
        </p:txBody>
      </p:sp>
      <p:sp>
        <p:nvSpPr>
          <p:cNvPr id="4" name="s12-text-3">
            <a:extLst xmlns:a="http://schemas.openxmlformats.org/drawingml/2006/main">
              <a:ext uri="{FF2B5EF4-FFF2-40B4-BE49-F238E27FC236}">
                <a16:creationId xmlns:a16="http://schemas.microsoft.com/office/drawing/2014/main" id="{29829027-7C05-4D02-BF66-7A363FA86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276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待检验的解释</a:t>
            </a:r>
          </a:p>
        </p:txBody>
      </p:sp>
      <p:sp>
        <p:nvSpPr>
          <p:cNvPr id="5" name="s12-text-4">
            <a:extLst xmlns:a="http://schemas.openxmlformats.org/drawingml/2006/main">
              <a:ext uri="{FF2B5EF4-FFF2-40B4-BE49-F238E27FC236}">
                <a16:creationId xmlns:a16="http://schemas.microsoft.com/office/drawing/2014/main" id="{9319625A-300F-4418-AD13-FE825EE61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247900"/>
            <a:ext cx="774382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两瓶变化可能与光照差异有关，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也可能涉及放置位置带来的温度差异。</a:t>
            </a:r>
          </a:p>
        </p:txBody>
      </p:sp>
      <p:sp>
        <p:nvSpPr>
          <p:cNvPr id="6" name="s12-text-5">
            <a:extLst xmlns:a="http://schemas.openxmlformats.org/drawingml/2006/main">
              <a:ext uri="{FF2B5EF4-FFF2-40B4-BE49-F238E27FC236}">
                <a16:creationId xmlns:a16="http://schemas.microsoft.com/office/drawing/2014/main" id="{FBD9D1E3-98ED-4B4F-9014-137D5F383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00475"/>
            <a:ext cx="276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学生形成的计划</a:t>
            </a:r>
          </a:p>
        </p:txBody>
      </p:sp>
      <p:sp>
        <p:nvSpPr>
          <p:cNvPr id="7" name="s12-text-6">
            <a:extLst xmlns:a="http://schemas.openxmlformats.org/drawingml/2006/main">
              <a:ext uri="{FF2B5EF4-FFF2-40B4-BE49-F238E27FC236}">
                <a16:creationId xmlns:a16="http://schemas.microsoft.com/office/drawing/2014/main" id="{6BD16293-358F-47E2-9FA3-5F781D119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800475"/>
            <a:ext cx="774382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先核对现有条件与温度记录，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再说明需要怎样的补测或对照。</a:t>
            </a:r>
          </a:p>
        </p:txBody>
      </p:sp>
      <p:sp>
        <p:nvSpPr>
          <p:cNvPr id="8" name="s12-rect-7">
            <a:extLst xmlns:a="http://schemas.openxmlformats.org/drawingml/2006/main">
              <a:ext uri="{FF2B5EF4-FFF2-40B4-BE49-F238E27FC236}">
                <a16:creationId xmlns:a16="http://schemas.microsoft.com/office/drawing/2014/main" id="{4B5E4802-9CB5-4411-84C5-A042FCBBE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9" name="s12-text-8">
            <a:extLst xmlns:a="http://schemas.openxmlformats.org/drawingml/2006/main">
              <a:ext uri="{FF2B5EF4-FFF2-40B4-BE49-F238E27FC236}">
                <a16:creationId xmlns:a16="http://schemas.microsoft.com/office/drawing/2014/main" id="{BB137BD2-8BA7-4BA1-8E47-E3F53F4F2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讨论重点：拟增加的观察能回答什么，仍留下什么问题？</a:t>
            </a:r>
          </a:p>
        </p:txBody>
      </p:sp>
      <p:sp>
        <p:nvSpPr>
          <p:cNvPr id="10" name="s12-footer-9">
            <a:extLst xmlns:a="http://schemas.openxmlformats.org/drawingml/2006/main">
              <a:ext uri="{FF2B5EF4-FFF2-40B4-BE49-F238E27FC236}">
                <a16:creationId xmlns:a16="http://schemas.microsoft.com/office/drawing/2014/main" id="{3D98AE83-8F22-48D3-BFCA-9C68FF39C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1" name="s12-footer-10">
            <a:extLst xmlns:a="http://schemas.openxmlformats.org/drawingml/2006/main">
              <a:ext uri="{FF2B5EF4-FFF2-40B4-BE49-F238E27FC236}">
                <a16:creationId xmlns:a16="http://schemas.microsoft.com/office/drawing/2014/main" id="{B26945A3-2A3A-4389-AF0B-1F91CF0C4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12 / 36</a:t>
            </a:r>
          </a:p>
        </p:txBody>
      </p:sp>
    </p:spTree>
    <p:extLst>
      <p:ext uri="{BB962C8B-B14F-4D97-AF65-F5344CB8AC3E}">
        <p14:creationId xmlns:p14="http://schemas.microsoft.com/office/powerpoint/2010/main" val="105178317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13-text-0">
            <a:extLst xmlns:a="http://schemas.openxmlformats.org/drawingml/2006/main">
              <a:ext uri="{FF2B5EF4-FFF2-40B4-BE49-F238E27FC236}">
                <a16:creationId xmlns:a16="http://schemas.microsoft.com/office/drawing/2014/main" id="{CC5DA063-693B-4ACE-A3AE-393B7402D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跨学科案例（模拟）· 议论写作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096752fcb246b9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13-title-2">
            <a:extLst xmlns:a="http://schemas.openxmlformats.org/drawingml/2006/main">
              <a:ext uri="{FF2B5EF4-FFF2-40B4-BE49-F238E27FC236}">
                <a16:creationId xmlns:a16="http://schemas.microsoft.com/office/drawing/2014/main" id="{6BBEED86-AA1F-464D-944A-AA1A51FDE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写作教学同样需要明确认知工作的分工</a:t>
            </a:r>
          </a:p>
        </p:txBody>
      </p:sp>
      <p:sp>
        <p:nvSpPr>
          <p:cNvPr id="4" name="s13-text-3">
            <a:extLst xmlns:a="http://schemas.openxmlformats.org/drawingml/2006/main">
              <a:ext uri="{FF2B5EF4-FFF2-40B4-BE49-F238E27FC236}">
                <a16:creationId xmlns:a16="http://schemas.microsoft.com/office/drawing/2014/main" id="{00DAB2C4-7427-47D3-9F0A-6ACA85440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76425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议题：是否延长校园图书馆开放时间？</a:t>
            </a:r>
          </a:p>
        </p:txBody>
      </p:sp>
      <p:sp>
        <p:nvSpPr>
          <p:cNvPr id="5" name="s13-rect-4">
            <a:extLst xmlns:a="http://schemas.openxmlformats.org/drawingml/2006/main">
              <a:ext uri="{FF2B5EF4-FFF2-40B4-BE49-F238E27FC236}">
                <a16:creationId xmlns:a16="http://schemas.microsoft.com/office/drawing/2014/main" id="{E1B22D0B-76C3-4516-B8BB-178B58747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5181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6" name="s13-text-5">
            <a:extLst xmlns:a="http://schemas.openxmlformats.org/drawingml/2006/main">
              <a:ext uri="{FF2B5EF4-FFF2-40B4-BE49-F238E27FC236}">
                <a16:creationId xmlns:a16="http://schemas.microsoft.com/office/drawing/2014/main" id="{1FC1A65C-F7BD-4559-80FA-C732CE3B9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86100"/>
            <a:ext cx="51816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AI提供论证材料</a:t>
            </a:r>
          </a:p>
        </p:txBody>
      </p:sp>
      <p:sp>
        <p:nvSpPr>
          <p:cNvPr id="7" name="s13-text-6">
            <a:extLst xmlns:a="http://schemas.openxmlformats.org/drawingml/2006/main">
              <a:ext uri="{FF2B5EF4-FFF2-40B4-BE49-F238E27FC236}">
                <a16:creationId xmlns:a16="http://schemas.microsoft.com/office/drawing/2014/main" id="{73044496-24D0-45D4-9F87-BD88A7CC4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52875"/>
            <a:ext cx="51816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生成支持与反对的理由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组织初稿结构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提出可能的反驳</a:t>
            </a:r>
          </a:p>
        </p:txBody>
      </p:sp>
      <p:sp>
        <p:nvSpPr>
          <p:cNvPr id="8" name="s13-rect-7">
            <a:extLst xmlns:a="http://schemas.openxmlformats.org/drawingml/2006/main">
              <a:ext uri="{FF2B5EF4-FFF2-40B4-BE49-F238E27FC236}">
                <a16:creationId xmlns:a16="http://schemas.microsoft.com/office/drawing/2014/main" id="{92CCD451-E0E5-4D54-BEF8-F8CEF2C02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876550"/>
            <a:ext cx="5181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9" name="s13-text-8">
            <a:extLst xmlns:a="http://schemas.openxmlformats.org/drawingml/2006/main">
              <a:ext uri="{FF2B5EF4-FFF2-40B4-BE49-F238E27FC236}">
                <a16:creationId xmlns:a16="http://schemas.microsoft.com/office/drawing/2014/main" id="{779A1C8A-1F66-47F1-8CCC-5EDF09586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086100"/>
            <a:ext cx="51816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学生完成论证判断</a:t>
            </a:r>
          </a:p>
        </p:txBody>
      </p:sp>
      <p:sp>
        <p:nvSpPr>
          <p:cNvPr id="10" name="s13-text-9">
            <a:extLst xmlns:a="http://schemas.openxmlformats.org/drawingml/2006/main">
              <a:ext uri="{FF2B5EF4-FFF2-40B4-BE49-F238E27FC236}">
                <a16:creationId xmlns:a16="http://schemas.microsoft.com/office/drawing/2014/main" id="{5224D376-C06B-46A4-985E-D58B16E69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52875"/>
            <a:ext cx="51816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核实本校需求与条件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比较不同群体的意见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据此形成并修订主张</a:t>
            </a:r>
          </a:p>
        </p:txBody>
      </p:sp>
      <p:sp>
        <p:nvSpPr>
          <p:cNvPr id="11" name="s13-footer-10">
            <a:extLst xmlns:a="http://schemas.openxmlformats.org/drawingml/2006/main">
              <a:ext uri="{FF2B5EF4-FFF2-40B4-BE49-F238E27FC236}">
                <a16:creationId xmlns:a16="http://schemas.microsoft.com/office/drawing/2014/main" id="{89B23274-097C-4497-96D8-A3F9BFA78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2" name="s13-footer-11">
            <a:extLst xmlns:a="http://schemas.openxmlformats.org/drawingml/2006/main">
              <a:ext uri="{FF2B5EF4-FFF2-40B4-BE49-F238E27FC236}">
                <a16:creationId xmlns:a16="http://schemas.microsoft.com/office/drawing/2014/main" id="{F4C9E1B6-3B47-476D-BA02-1D18AFEDC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13 / 36</a:t>
            </a:r>
          </a:p>
        </p:txBody>
      </p:sp>
    </p:spTree>
    <p:extLst>
      <p:ext uri="{BB962C8B-B14F-4D97-AF65-F5344CB8AC3E}">
        <p14:creationId xmlns:p14="http://schemas.microsoft.com/office/powerpoint/2010/main" val="182303725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s14-text-0">
            <a:extLst xmlns:a="http://schemas.openxmlformats.org/drawingml/2006/main">
              <a:ext uri="{FF2B5EF4-FFF2-40B4-BE49-F238E27FC236}">
                <a16:creationId xmlns:a16="http://schemas.microsoft.com/office/drawing/2014/main" id="{B7C62FBE-75EF-42B5-ABBE-507FEA4C3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教学决定与人机合作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09fafa831542c9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14-title-2">
            <a:extLst xmlns:a="http://schemas.openxmlformats.org/drawingml/2006/main">
              <a:ext uri="{FF2B5EF4-FFF2-40B4-BE49-F238E27FC236}">
                <a16:creationId xmlns:a16="http://schemas.microsoft.com/office/drawing/2014/main" id="{FE158567-59C4-4856-A396-B955CBA3B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人机合作需要落实到具体决定</a:t>
            </a:r>
          </a:p>
        </p:txBody>
      </p:sp>
      <p:sp>
        <p:nvSpPr>
          <p:cNvPr id="4" name="s14-text-3">
            <a:extLst xmlns:a="http://schemas.openxmlformats.org/drawingml/2006/main">
              <a:ext uri="{FF2B5EF4-FFF2-40B4-BE49-F238E27FC236}">
                <a16:creationId xmlns:a16="http://schemas.microsoft.com/office/drawing/2014/main" id="{624CBC6D-D1B6-4611-85E4-632C1EC50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02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分析示例：从发现条件差异，到决定是否修改方案。</a:t>
            </a:r>
          </a:p>
        </p:txBody>
      </p:sp>
      <p:sp>
        <p:nvSpPr>
          <p:cNvPr id="5" name="s14-rect-4">
            <a:extLst xmlns:a="http://schemas.openxmlformats.org/drawingml/2006/main">
              <a:ext uri="{FF2B5EF4-FFF2-40B4-BE49-F238E27FC236}">
                <a16:creationId xmlns:a16="http://schemas.microsoft.com/office/drawing/2014/main" id="{1DEF9726-F098-46C4-A6DB-74098A13F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38425"/>
            <a:ext cx="108204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7"/>
          </a:solidFill>
          <a:ln xmlns:a="http://schemas.openxmlformats.org/drawingml/2006/main" w="0">
            <a:noFill/>
          </a:ln>
        </p:spPr>
      </p:sp>
      <p:sp>
        <p:nvSpPr>
          <p:cNvPr id="6" name="s14-text-5">
            <a:extLst xmlns:a="http://schemas.openxmlformats.org/drawingml/2006/main">
              <a:ext uri="{FF2B5EF4-FFF2-40B4-BE49-F238E27FC236}">
                <a16:creationId xmlns:a16="http://schemas.microsoft.com/office/drawing/2014/main" id="{4DDDE351-F9B8-497D-A50F-7CAD54809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14625"/>
            <a:ext cx="2076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关键工作</a:t>
            </a:r>
          </a:p>
        </p:txBody>
      </p:sp>
      <p:sp>
        <p:nvSpPr>
          <p:cNvPr id="7" name="s14-text-6">
            <a:extLst xmlns:a="http://schemas.openxmlformats.org/drawingml/2006/main">
              <a:ext uri="{FF2B5EF4-FFF2-40B4-BE49-F238E27FC236}">
                <a16:creationId xmlns:a16="http://schemas.microsoft.com/office/drawing/2014/main" id="{FED8091A-10CC-456C-A113-4CFFE75EA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714625"/>
            <a:ext cx="39719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一种课堂安排</a:t>
            </a:r>
          </a:p>
        </p:txBody>
      </p:sp>
      <p:sp>
        <p:nvSpPr>
          <p:cNvPr id="8" name="s14-text-7">
            <a:extLst xmlns:a="http://schemas.openxmlformats.org/drawingml/2006/main">
              <a:ext uri="{FF2B5EF4-FFF2-40B4-BE49-F238E27FC236}">
                <a16:creationId xmlns:a16="http://schemas.microsoft.com/office/drawing/2014/main" id="{8F697C25-F5FB-46A6-B914-4E335E851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2714625"/>
            <a:ext cx="39719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学生需要形成的理解</a:t>
            </a:r>
          </a:p>
        </p:txBody>
      </p:sp>
      <p:sp>
        <p:nvSpPr>
          <p:cNvPr id="9" name="s14-text-8">
            <a:extLst xmlns:a="http://schemas.openxmlformats.org/drawingml/2006/main">
              <a:ext uri="{FF2B5EF4-FFF2-40B4-BE49-F238E27FC236}">
                <a16:creationId xmlns:a16="http://schemas.microsoft.com/office/drawing/2014/main" id="{086DD3F6-3872-4FCB-9AC4-06D6049B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76600"/>
            <a:ext cx="2076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提出疑问</a:t>
            </a:r>
          </a:p>
        </p:txBody>
      </p:sp>
      <p:sp>
        <p:nvSpPr>
          <p:cNvPr id="10" name="s14-text-9">
            <a:extLst xmlns:a="http://schemas.openxmlformats.org/drawingml/2006/main">
              <a:ext uri="{FF2B5EF4-FFF2-40B4-BE49-F238E27FC236}">
                <a16:creationId xmlns:a16="http://schemas.microsoft.com/office/drawing/2014/main" id="{2E1FB293-BECD-402C-A690-98097BBE4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276600"/>
            <a:ext cx="39719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学生指出两瓶条件差异</a:t>
            </a:r>
          </a:p>
        </p:txBody>
      </p:sp>
      <p:sp>
        <p:nvSpPr>
          <p:cNvPr id="11" name="s14-text-10">
            <a:extLst xmlns:a="http://schemas.openxmlformats.org/drawingml/2006/main">
              <a:ext uri="{FF2B5EF4-FFF2-40B4-BE49-F238E27FC236}">
                <a16:creationId xmlns:a16="http://schemas.microsoft.com/office/drawing/2014/main" id="{69A2ADA2-4C79-442E-B222-9EA8375DE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3276600"/>
            <a:ext cx="39719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为什么这一差异值得讨论</a:t>
            </a:r>
          </a:p>
        </p:txBody>
      </p:sp>
      <p:sp>
        <p:nvSpPr>
          <p:cNvPr id="12" name="s14-rect-11">
            <a:extLst xmlns:a="http://schemas.openxmlformats.org/drawingml/2006/main">
              <a:ext uri="{FF2B5EF4-FFF2-40B4-BE49-F238E27FC236}">
                <a16:creationId xmlns:a16="http://schemas.microsoft.com/office/drawing/2014/main" id="{DBBC9249-7628-4341-B987-F2F208CF6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766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3" name="s14-text-12">
            <a:extLst xmlns:a="http://schemas.openxmlformats.org/drawingml/2006/main">
              <a:ext uri="{FF2B5EF4-FFF2-40B4-BE49-F238E27FC236}">
                <a16:creationId xmlns:a16="http://schemas.microsoft.com/office/drawing/2014/main" id="{646A9A46-4199-41A5-8BD3-EC10E59A2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90950"/>
            <a:ext cx="2076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生成解释</a:t>
            </a:r>
          </a:p>
        </p:txBody>
      </p:sp>
      <p:sp>
        <p:nvSpPr>
          <p:cNvPr id="14" name="s14-text-13">
            <a:extLst xmlns:a="http://schemas.openxmlformats.org/drawingml/2006/main">
              <a:ext uri="{FF2B5EF4-FFF2-40B4-BE49-F238E27FC236}">
                <a16:creationId xmlns:a16="http://schemas.microsoft.com/office/drawing/2014/main" id="{D7EBFCBB-2CF2-4B88-A1A6-6BD036514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790950"/>
            <a:ext cx="39719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AI与同伴补充解释</a:t>
            </a:r>
          </a:p>
        </p:txBody>
      </p:sp>
      <p:sp>
        <p:nvSpPr>
          <p:cNvPr id="15" name="s14-text-14">
            <a:extLst xmlns:a="http://schemas.openxmlformats.org/drawingml/2006/main">
              <a:ext uri="{FF2B5EF4-FFF2-40B4-BE49-F238E27FC236}">
                <a16:creationId xmlns:a16="http://schemas.microsoft.com/office/drawing/2014/main" id="{CED31122-D50D-4367-A41C-A73894ECE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3790950"/>
            <a:ext cx="39719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哪些解释符合已知条件</a:t>
            </a:r>
          </a:p>
        </p:txBody>
      </p:sp>
      <p:sp>
        <p:nvSpPr>
          <p:cNvPr id="16" name="s14-rect-15">
            <a:extLst xmlns:a="http://schemas.openxmlformats.org/drawingml/2006/main">
              <a:ext uri="{FF2B5EF4-FFF2-40B4-BE49-F238E27FC236}">
                <a16:creationId xmlns:a16="http://schemas.microsoft.com/office/drawing/2014/main" id="{F977DB51-2AC4-42DB-B92E-9C17D1D4A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7" name="s14-text-16">
            <a:extLst xmlns:a="http://schemas.openxmlformats.org/drawingml/2006/main">
              <a:ext uri="{FF2B5EF4-FFF2-40B4-BE49-F238E27FC236}">
                <a16:creationId xmlns:a16="http://schemas.microsoft.com/office/drawing/2014/main" id="{E8B912DA-F45E-4C65-8721-7342986AD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05300"/>
            <a:ext cx="2076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核查条件</a:t>
            </a:r>
          </a:p>
        </p:txBody>
      </p:sp>
      <p:sp>
        <p:nvSpPr>
          <p:cNvPr id="18" name="s14-text-17">
            <a:extLst xmlns:a="http://schemas.openxmlformats.org/drawingml/2006/main">
              <a:ext uri="{FF2B5EF4-FFF2-40B4-BE49-F238E27FC236}">
                <a16:creationId xmlns:a16="http://schemas.microsoft.com/office/drawing/2014/main" id="{E0B6F7A2-856C-49B5-B5FD-F147F6C93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305300"/>
            <a:ext cx="39719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小组对照实物与记录</a:t>
            </a:r>
          </a:p>
        </p:txBody>
      </p:sp>
      <p:sp>
        <p:nvSpPr>
          <p:cNvPr id="19" name="s14-text-18">
            <a:extLst xmlns:a="http://schemas.openxmlformats.org/drawingml/2006/main">
              <a:ext uri="{FF2B5EF4-FFF2-40B4-BE49-F238E27FC236}">
                <a16:creationId xmlns:a16="http://schemas.microsoft.com/office/drawing/2014/main" id="{078D7CCC-575B-4738-856F-D323264D6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4305300"/>
            <a:ext cx="39719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哪些条件尚未核实</a:t>
            </a:r>
          </a:p>
        </p:txBody>
      </p:sp>
      <p:sp>
        <p:nvSpPr>
          <p:cNvPr id="20" name="s14-rect-19">
            <a:extLst xmlns:a="http://schemas.openxmlformats.org/drawingml/2006/main">
              <a:ext uri="{FF2B5EF4-FFF2-40B4-BE49-F238E27FC236}">
                <a16:creationId xmlns:a16="http://schemas.microsoft.com/office/drawing/2014/main" id="{6E50E574-0FF7-453F-A5DB-68D72129C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053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21" name="s14-text-20">
            <a:extLst xmlns:a="http://schemas.openxmlformats.org/drawingml/2006/main">
              <a:ext uri="{FF2B5EF4-FFF2-40B4-BE49-F238E27FC236}">
                <a16:creationId xmlns:a16="http://schemas.microsoft.com/office/drawing/2014/main" id="{8AA99411-7450-45DB-930E-D4B315376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19650"/>
            <a:ext cx="2076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决定修改</a:t>
            </a:r>
          </a:p>
        </p:txBody>
      </p:sp>
      <p:sp>
        <p:nvSpPr>
          <p:cNvPr id="22" name="s14-text-21">
            <a:extLst xmlns:a="http://schemas.openxmlformats.org/drawingml/2006/main">
              <a:ext uri="{FF2B5EF4-FFF2-40B4-BE49-F238E27FC236}">
                <a16:creationId xmlns:a16="http://schemas.microsoft.com/office/drawing/2014/main" id="{B99577E6-8C8C-487B-BDB7-F7B5E5C2C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819650"/>
            <a:ext cx="39719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小组选择并说明改动</a:t>
            </a:r>
          </a:p>
        </p:txBody>
      </p:sp>
      <p:sp>
        <p:nvSpPr>
          <p:cNvPr id="23" name="s14-text-22">
            <a:extLst xmlns:a="http://schemas.openxmlformats.org/drawingml/2006/main">
              <a:ext uri="{FF2B5EF4-FFF2-40B4-BE49-F238E27FC236}">
                <a16:creationId xmlns:a16="http://schemas.microsoft.com/office/drawing/2014/main" id="{F9F337B6-ED52-4D20-B562-3D00C66EA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4819650"/>
            <a:ext cx="39719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改动怎样回应研究问题</a:t>
            </a:r>
          </a:p>
        </p:txBody>
      </p:sp>
      <p:sp>
        <p:nvSpPr>
          <p:cNvPr id="24" name="s14-rect-23">
            <a:extLst xmlns:a="http://schemas.openxmlformats.org/drawingml/2006/main">
              <a:ext uri="{FF2B5EF4-FFF2-40B4-BE49-F238E27FC236}">
                <a16:creationId xmlns:a16="http://schemas.microsoft.com/office/drawing/2014/main" id="{7D3EB449-0EAA-47DE-9A09-4C3A372B0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25" name="s14-text-24">
            <a:extLst xmlns:a="http://schemas.openxmlformats.org/drawingml/2006/main">
              <a:ext uri="{FF2B5EF4-FFF2-40B4-BE49-F238E27FC236}">
                <a16:creationId xmlns:a16="http://schemas.microsoft.com/office/drawing/2014/main" id="{9081A090-2DFD-4E0E-ACAF-44E862FCC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34000"/>
            <a:ext cx="2076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判断完成</a:t>
            </a:r>
          </a:p>
        </p:txBody>
      </p:sp>
      <p:sp>
        <p:nvSpPr>
          <p:cNvPr id="26" name="s14-text-25">
            <a:extLst xmlns:a="http://schemas.openxmlformats.org/drawingml/2006/main">
              <a:ext uri="{FF2B5EF4-FFF2-40B4-BE49-F238E27FC236}">
                <a16:creationId xmlns:a16="http://schemas.microsoft.com/office/drawing/2014/main" id="{DA65E318-5FFE-480F-B6F4-66E4723D8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5334000"/>
            <a:ext cx="39719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师生共同检查依据</a:t>
            </a:r>
          </a:p>
        </p:txBody>
      </p:sp>
      <p:sp>
        <p:nvSpPr>
          <p:cNvPr id="27" name="s14-text-26">
            <a:extLst xmlns:a="http://schemas.openxmlformats.org/drawingml/2006/main">
              <a:ext uri="{FF2B5EF4-FFF2-40B4-BE49-F238E27FC236}">
                <a16:creationId xmlns:a16="http://schemas.microsoft.com/office/drawing/2014/main" id="{025764D5-C5FC-49A2-A4BD-5E7D4FB80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5334000"/>
            <a:ext cx="39719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哪些结论仍需进一步检验</a:t>
            </a:r>
          </a:p>
        </p:txBody>
      </p:sp>
      <p:sp>
        <p:nvSpPr>
          <p:cNvPr id="28" name="s14-rect-27">
            <a:extLst xmlns:a="http://schemas.openxmlformats.org/drawingml/2006/main">
              <a:ext uri="{FF2B5EF4-FFF2-40B4-BE49-F238E27FC236}">
                <a16:creationId xmlns:a16="http://schemas.microsoft.com/office/drawing/2014/main" id="{6D383F00-ACB1-4147-AF23-34920C187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34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29" name="s14-footer-28">
            <a:extLst xmlns:a="http://schemas.openxmlformats.org/drawingml/2006/main">
              <a:ext uri="{FF2B5EF4-FFF2-40B4-BE49-F238E27FC236}">
                <a16:creationId xmlns:a16="http://schemas.microsoft.com/office/drawing/2014/main" id="{8DB92D1B-B04E-43D6-B21C-891485A76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30" name="s14-footer-29">
            <a:extLst xmlns:a="http://schemas.openxmlformats.org/drawingml/2006/main">
              <a:ext uri="{FF2B5EF4-FFF2-40B4-BE49-F238E27FC236}">
                <a16:creationId xmlns:a16="http://schemas.microsoft.com/office/drawing/2014/main" id="{F1B8A3F9-3A20-4152-A3F1-2BC97CDAC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14 / 36</a:t>
            </a:r>
          </a:p>
        </p:txBody>
      </p:sp>
    </p:spTree>
    <p:extLst>
      <p:ext uri="{BB962C8B-B14F-4D97-AF65-F5344CB8AC3E}">
        <p14:creationId xmlns:p14="http://schemas.microsoft.com/office/powerpoint/2010/main" val="10290476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15-text-0">
            <a:extLst xmlns:a="http://schemas.openxmlformats.org/drawingml/2006/main">
              <a:ext uri="{FF2B5EF4-FFF2-40B4-BE49-F238E27FC236}">
                <a16:creationId xmlns:a16="http://schemas.microsoft.com/office/drawing/2014/main" id="{3087805C-A229-4C7A-B94E-ADEAC3A4E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教学决定与人机合作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7d4b2f01c24a5b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15-title-2">
            <a:extLst xmlns:a="http://schemas.openxmlformats.org/drawingml/2006/main">
              <a:ext uri="{FF2B5EF4-FFF2-40B4-BE49-F238E27FC236}">
                <a16:creationId xmlns:a16="http://schemas.microsoft.com/office/drawing/2014/main" id="{21643760-173B-4F17-9A72-C7016653A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流程与界面会改变教学决定的落实</a:t>
            </a:r>
          </a:p>
        </p:txBody>
      </p:sp>
      <p:sp>
        <p:nvSpPr>
          <p:cNvPr id="4" name="s15-text-3">
            <a:extLst xmlns:a="http://schemas.openxmlformats.org/drawingml/2006/main">
              <a:ext uri="{FF2B5EF4-FFF2-40B4-BE49-F238E27FC236}">
                <a16:creationId xmlns:a16="http://schemas.microsoft.com/office/drawing/2014/main" id="{3EE4A3B3-8EBC-42C9-941A-692B8A471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10820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提示要求、任务流程与课堂互动需要相互配合。</a:t>
            </a:r>
          </a:p>
        </p:txBody>
      </p:sp>
      <p:sp>
        <p:nvSpPr>
          <p:cNvPr id="5" name="s15-rect-4">
            <a:extLst xmlns:a="http://schemas.openxmlformats.org/drawingml/2006/main">
              <a:ext uri="{FF2B5EF4-FFF2-40B4-BE49-F238E27FC236}">
                <a16:creationId xmlns:a16="http://schemas.microsoft.com/office/drawing/2014/main" id="{2E55A6D1-757E-4FB0-9C6C-BBF93ACCA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6" name="s15-text-5">
            <a:extLst xmlns:a="http://schemas.openxmlformats.org/drawingml/2006/main">
              <a:ext uri="{FF2B5EF4-FFF2-40B4-BE49-F238E27FC236}">
                <a16:creationId xmlns:a16="http://schemas.microsoft.com/office/drawing/2014/main" id="{6414E06A-E592-43B6-A4FA-EBE914C40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回应要求</a:t>
            </a:r>
          </a:p>
        </p:txBody>
      </p:sp>
      <p:sp>
        <p:nvSpPr>
          <p:cNvPr id="7" name="s15-text-6">
            <a:extLst xmlns:a="http://schemas.openxmlformats.org/drawingml/2006/main">
              <a:ext uri="{FF2B5EF4-FFF2-40B4-BE49-F238E27FC236}">
                <a16:creationId xmlns:a16="http://schemas.microsoft.com/office/drawing/2014/main" id="{146229FD-887D-47F8-957F-686427FB2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724150"/>
            <a:ext cx="74485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AI何时示范、追问或补充解释</a:t>
            </a:r>
          </a:p>
        </p:txBody>
      </p:sp>
      <p:sp>
        <p:nvSpPr>
          <p:cNvPr id="8" name="s15-rect-7">
            <a:extLst xmlns:a="http://schemas.openxmlformats.org/drawingml/2006/main">
              <a:ext uri="{FF2B5EF4-FFF2-40B4-BE49-F238E27FC236}">
                <a16:creationId xmlns:a16="http://schemas.microsoft.com/office/drawing/2014/main" id="{541390D4-E488-4FD6-AB3A-62E932816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2427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9" name="s15-text-8">
            <a:extLst xmlns:a="http://schemas.openxmlformats.org/drawingml/2006/main">
              <a:ext uri="{FF2B5EF4-FFF2-40B4-BE49-F238E27FC236}">
                <a16:creationId xmlns:a16="http://schemas.microsoft.com/office/drawing/2014/main" id="{9AAFD911-ADC5-4931-B84A-FC7F3DB80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76675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活动顺序</a:t>
            </a:r>
          </a:p>
        </p:txBody>
      </p:sp>
      <p:sp>
        <p:nvSpPr>
          <p:cNvPr id="10" name="s15-text-9">
            <a:extLst xmlns:a="http://schemas.openxmlformats.org/drawingml/2006/main">
              <a:ext uri="{FF2B5EF4-FFF2-40B4-BE49-F238E27FC236}">
                <a16:creationId xmlns:a16="http://schemas.microsoft.com/office/drawing/2014/main" id="{3D017364-E94B-41D8-AEE4-80AE4278D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876675"/>
            <a:ext cx="74485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学生何时独立尝试，何时与同伴共同判断</a:t>
            </a:r>
          </a:p>
        </p:txBody>
      </p:sp>
      <p:sp>
        <p:nvSpPr>
          <p:cNvPr id="11" name="s15-rect-10">
            <a:extLst xmlns:a="http://schemas.openxmlformats.org/drawingml/2006/main">
              <a:ext uri="{FF2B5EF4-FFF2-40B4-BE49-F238E27FC236}">
                <a16:creationId xmlns:a16="http://schemas.microsoft.com/office/drawing/2014/main" id="{2EE409EE-E343-4920-BBFF-051E49D29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2" name="s15-text-11">
            <a:extLst xmlns:a="http://schemas.openxmlformats.org/drawingml/2006/main">
              <a:ext uri="{FF2B5EF4-FFF2-40B4-BE49-F238E27FC236}">
                <a16:creationId xmlns:a16="http://schemas.microsoft.com/office/drawing/2014/main" id="{244380A7-D7A1-473F-80F4-32CFF2C91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2920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参与条件</a:t>
            </a:r>
          </a:p>
        </p:txBody>
      </p:sp>
      <p:sp>
        <p:nvSpPr>
          <p:cNvPr id="13" name="s15-text-12">
            <a:extLst xmlns:a="http://schemas.openxmlformats.org/drawingml/2006/main">
              <a:ext uri="{FF2B5EF4-FFF2-40B4-BE49-F238E27FC236}">
                <a16:creationId xmlns:a16="http://schemas.microsoft.com/office/drawing/2014/main" id="{2AD73D1E-A17B-4693-A65C-7D54B968C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5029200"/>
            <a:ext cx="74485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界面呈现哪些选择，课堂是否留出讨论时间</a:t>
            </a:r>
          </a:p>
        </p:txBody>
      </p:sp>
      <p:sp>
        <p:nvSpPr>
          <p:cNvPr id="14" name="s15-rect-13">
            <a:extLst xmlns:a="http://schemas.openxmlformats.org/drawingml/2006/main">
              <a:ext uri="{FF2B5EF4-FFF2-40B4-BE49-F238E27FC236}">
                <a16:creationId xmlns:a16="http://schemas.microsoft.com/office/drawing/2014/main" id="{2E808CF0-06F0-4DCB-8C28-6FD3E3C05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5" name="s15-text-14">
            <a:extLst xmlns:a="http://schemas.openxmlformats.org/drawingml/2006/main">
              <a:ext uri="{FF2B5EF4-FFF2-40B4-BE49-F238E27FC236}">
                <a16:creationId xmlns:a16="http://schemas.microsoft.com/office/drawing/2014/main" id="{7435E356-FDFC-46ED-B8F5-3070DAF53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设计检查：学生是否有条件完成预期的比较、解释与选择？</a:t>
            </a:r>
          </a:p>
        </p:txBody>
      </p:sp>
      <p:sp>
        <p:nvSpPr>
          <p:cNvPr id="16" name="s15-footer-15">
            <a:extLst xmlns:a="http://schemas.openxmlformats.org/drawingml/2006/main">
              <a:ext uri="{FF2B5EF4-FFF2-40B4-BE49-F238E27FC236}">
                <a16:creationId xmlns:a16="http://schemas.microsoft.com/office/drawing/2014/main" id="{DCCBC94C-A708-483B-8A41-3C911C431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7" name="s15-footer-16">
            <a:extLst xmlns:a="http://schemas.openxmlformats.org/drawingml/2006/main">
              <a:ext uri="{FF2B5EF4-FFF2-40B4-BE49-F238E27FC236}">
                <a16:creationId xmlns:a16="http://schemas.microsoft.com/office/drawing/2014/main" id="{6B42E999-115E-47F2-A2E6-1D297CAEA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15 / 36</a:t>
            </a:r>
          </a:p>
        </p:txBody>
      </p:sp>
    </p:spTree>
    <p:extLst>
      <p:ext uri="{BB962C8B-B14F-4D97-AF65-F5344CB8AC3E}">
        <p14:creationId xmlns:p14="http://schemas.microsoft.com/office/powerpoint/2010/main" val="61471737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16-text-0">
            <a:extLst xmlns:a="http://schemas.openxmlformats.org/drawingml/2006/main">
              <a:ext uri="{FF2B5EF4-FFF2-40B4-BE49-F238E27FC236}">
                <a16:creationId xmlns:a16="http://schemas.microsoft.com/office/drawing/2014/main" id="{DDEBF339-8060-44C6-A8C0-3047B45C2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教学决定与人机合作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5e70926f244167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16-title-2">
            <a:extLst xmlns:a="http://schemas.openxmlformats.org/drawingml/2006/main">
              <a:ext uri="{FF2B5EF4-FFF2-40B4-BE49-F238E27FC236}">
                <a16:creationId xmlns:a16="http://schemas.microsoft.com/office/drawing/2014/main" id="{78F7733D-B79A-42E1-B05F-79201765D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完整示范可以成为推理与迁移的材料</a:t>
            </a:r>
          </a:p>
        </p:txBody>
      </p:sp>
      <p:sp>
        <p:nvSpPr>
          <p:cNvPr id="4" name="s16-text-3">
            <a:extLst xmlns:a="http://schemas.openxmlformats.org/drawingml/2006/main">
              <a:ext uri="{FF2B5EF4-FFF2-40B4-BE49-F238E27FC236}">
                <a16:creationId xmlns:a16="http://schemas.microsoft.com/office/drawing/2014/main" id="{5A371730-C6D6-4A1A-B631-FFD8E2475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76425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示范材料：两瓶采用同种、等量植物，比较不同光照条件。</a:t>
            </a:r>
          </a:p>
        </p:txBody>
      </p:sp>
      <p:sp>
        <p:nvSpPr>
          <p:cNvPr id="5" name="s16-rect-4">
            <a:extLst xmlns:a="http://schemas.openxmlformats.org/drawingml/2006/main">
              <a:ext uri="{FF2B5EF4-FFF2-40B4-BE49-F238E27FC236}">
                <a16:creationId xmlns:a16="http://schemas.microsoft.com/office/drawing/2014/main" id="{AF6C64E8-4062-484F-BD2D-7AA44EDFB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6" name="s16-text-5">
            <a:extLst xmlns:a="http://schemas.openxmlformats.org/drawingml/2006/main">
              <a:ext uri="{FF2B5EF4-FFF2-40B4-BE49-F238E27FC236}">
                <a16:creationId xmlns:a16="http://schemas.microsoft.com/office/drawing/2014/main" id="{2A17A7A8-E8F4-41F7-A634-6E590A80E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分析设计</a:t>
            </a:r>
          </a:p>
        </p:txBody>
      </p:sp>
      <p:sp>
        <p:nvSpPr>
          <p:cNvPr id="7" name="s16-text-6">
            <a:extLst xmlns:a="http://schemas.openxmlformats.org/drawingml/2006/main">
              <a:ext uri="{FF2B5EF4-FFF2-40B4-BE49-F238E27FC236}">
                <a16:creationId xmlns:a16="http://schemas.microsoft.com/office/drawing/2014/main" id="{D2D2AE7C-20F0-4264-B4C2-4E53D04D1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哪些条件保持一致？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这些安排服务于什么比较？</a:t>
            </a:r>
          </a:p>
        </p:txBody>
      </p:sp>
      <p:sp>
        <p:nvSpPr>
          <p:cNvPr id="8" name="s16-rect-7">
            <a:extLst xmlns:a="http://schemas.openxmlformats.org/drawingml/2006/main">
              <a:ext uri="{FF2B5EF4-FFF2-40B4-BE49-F238E27FC236}">
                <a16:creationId xmlns:a16="http://schemas.microsoft.com/office/drawing/2014/main" id="{73437B2C-3559-4F0A-AC09-D6C3D4FE2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9" name="s16-text-8">
            <a:extLst xmlns:a="http://schemas.openxmlformats.org/drawingml/2006/main">
              <a:ext uri="{FF2B5EF4-FFF2-40B4-BE49-F238E27FC236}">
                <a16:creationId xmlns:a16="http://schemas.microsoft.com/office/drawing/2014/main" id="{69BC860E-C08C-4B47-BEC1-FDD3FF924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解释理由</a:t>
            </a:r>
          </a:p>
        </p:txBody>
      </p:sp>
      <p:sp>
        <p:nvSpPr>
          <p:cNvPr id="10" name="s16-text-9">
            <a:extLst xmlns:a="http://schemas.openxmlformats.org/drawingml/2006/main">
              <a:ext uri="{FF2B5EF4-FFF2-40B4-BE49-F238E27FC236}">
                <a16:creationId xmlns:a16="http://schemas.microsoft.com/office/drawing/2014/main" id="{74231BD6-288D-4A0E-A0FA-4064683EF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植物数量不一致时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结论会受到什么限制？</a:t>
            </a:r>
          </a:p>
        </p:txBody>
      </p:sp>
      <p:sp>
        <p:nvSpPr>
          <p:cNvPr id="11" name="s16-rect-10">
            <a:extLst xmlns:a="http://schemas.openxmlformats.org/drawingml/2006/main">
              <a:ext uri="{FF2B5EF4-FFF2-40B4-BE49-F238E27FC236}">
                <a16:creationId xmlns:a16="http://schemas.microsoft.com/office/drawing/2014/main" id="{D50679DA-667E-4ABF-B62B-4974923DD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2" name="s16-text-11">
            <a:extLst xmlns:a="http://schemas.openxmlformats.org/drawingml/2006/main">
              <a:ext uri="{FF2B5EF4-FFF2-40B4-BE49-F238E27FC236}">
                <a16:creationId xmlns:a16="http://schemas.microsoft.com/office/drawing/2014/main" id="{1B345A54-80C4-428A-9E23-C9D5A0C79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迁移运用</a:t>
            </a:r>
          </a:p>
        </p:txBody>
      </p:sp>
      <p:sp>
        <p:nvSpPr>
          <p:cNvPr id="13" name="s16-text-12">
            <a:extLst xmlns:a="http://schemas.openxmlformats.org/drawingml/2006/main">
              <a:ext uri="{FF2B5EF4-FFF2-40B4-BE49-F238E27FC236}">
                <a16:creationId xmlns:a16="http://schemas.microsoft.com/office/drawing/2014/main" id="{87DB033D-DBE0-4CEF-97E3-E58D98920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若研究植物数量的影响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方案应如何重新安排？</a:t>
            </a:r>
          </a:p>
        </p:txBody>
      </p:sp>
      <p:sp>
        <p:nvSpPr>
          <p:cNvPr id="14" name="s16-rect-13">
            <a:extLst xmlns:a="http://schemas.openxmlformats.org/drawingml/2006/main">
              <a:ext uri="{FF2B5EF4-FFF2-40B4-BE49-F238E27FC236}">
                <a16:creationId xmlns:a16="http://schemas.microsoft.com/office/drawing/2014/main" id="{C3FCEF96-243A-4F35-ACCF-71D4AC336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5" name="s16-text-14">
            <a:extLst xmlns:a="http://schemas.openxmlformats.org/drawingml/2006/main">
              <a:ext uri="{FF2B5EF4-FFF2-40B4-BE49-F238E27FC236}">
                <a16:creationId xmlns:a16="http://schemas.microsoft.com/office/drawing/2014/main" id="{0F4408C0-AD1A-4FA2-AF58-12A0E7FDF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示范后的任务应要求学生使用设计理由，而非仅复述步骤。</a:t>
            </a:r>
          </a:p>
        </p:txBody>
      </p:sp>
      <p:sp>
        <p:nvSpPr>
          <p:cNvPr id="16" name="s16-footer-15">
            <a:extLst xmlns:a="http://schemas.openxmlformats.org/drawingml/2006/main">
              <a:ext uri="{FF2B5EF4-FFF2-40B4-BE49-F238E27FC236}">
                <a16:creationId xmlns:a16="http://schemas.microsoft.com/office/drawing/2014/main" id="{39FEE415-B69D-4992-8B76-9C36AE2E6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7" name="s16-footer-16">
            <a:extLst xmlns:a="http://schemas.openxmlformats.org/drawingml/2006/main">
              <a:ext uri="{FF2B5EF4-FFF2-40B4-BE49-F238E27FC236}">
                <a16:creationId xmlns:a16="http://schemas.microsoft.com/office/drawing/2014/main" id="{BC0B6544-1F38-43E6-9BC8-F481E79E2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16 / 36</a:t>
            </a:r>
          </a:p>
        </p:txBody>
      </p:sp>
    </p:spTree>
    <p:extLst>
      <p:ext uri="{BB962C8B-B14F-4D97-AF65-F5344CB8AC3E}">
        <p14:creationId xmlns:p14="http://schemas.microsoft.com/office/powerpoint/2010/main" val="52121118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s17-text-0">
            <a:extLst xmlns:a="http://schemas.openxmlformats.org/drawingml/2006/main">
              <a:ext uri="{FF2B5EF4-FFF2-40B4-BE49-F238E27FC236}">
                <a16:creationId xmlns:a16="http://schemas.microsoft.com/office/drawing/2014/main" id="{2A023E0D-77D8-4576-BBDE-F5DF436BC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模拟对话 · 分析回应所需的思考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b6bc24ff154640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17-title-2">
            <a:extLst xmlns:a="http://schemas.openxmlformats.org/drawingml/2006/main">
              <a:ext uri="{FF2B5EF4-FFF2-40B4-BE49-F238E27FC236}">
                <a16:creationId xmlns:a16="http://schemas.microsoft.com/office/drawing/2014/main" id="{52DCE21D-2C2C-4B72-8C0A-B0A78C462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连续提问可能预先完成关键推理</a:t>
            </a:r>
          </a:p>
        </p:txBody>
      </p:sp>
      <p:sp>
        <p:nvSpPr>
          <p:cNvPr id="4" name="s17-rect-3">
            <a:extLst xmlns:a="http://schemas.openxmlformats.org/drawingml/2006/main">
              <a:ext uri="{FF2B5EF4-FFF2-40B4-BE49-F238E27FC236}">
                <a16:creationId xmlns:a16="http://schemas.microsoft.com/office/drawing/2014/main" id="{1F8566E5-6454-4387-8D61-A9AF2C43D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108204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7"/>
          </a:solidFill>
          <a:ln xmlns:a="http://schemas.openxmlformats.org/drawingml/2006/main" w="0">
            <a:noFill/>
          </a:ln>
        </p:spPr>
      </p:sp>
      <p:sp>
        <p:nvSpPr>
          <p:cNvPr id="5" name="s17-text-4">
            <a:extLst xmlns:a="http://schemas.openxmlformats.org/drawingml/2006/main">
              <a:ext uri="{FF2B5EF4-FFF2-40B4-BE49-F238E27FC236}">
                <a16:creationId xmlns:a16="http://schemas.microsoft.com/office/drawing/2014/main" id="{354FDB08-B6B4-44CB-A2FA-A1FF72847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14575"/>
            <a:ext cx="2076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发言者</a:t>
            </a:r>
          </a:p>
        </p:txBody>
      </p:sp>
      <p:sp>
        <p:nvSpPr>
          <p:cNvPr id="6" name="s17-text-5">
            <a:extLst xmlns:a="http://schemas.openxmlformats.org/drawingml/2006/main">
              <a:ext uri="{FF2B5EF4-FFF2-40B4-BE49-F238E27FC236}">
                <a16:creationId xmlns:a16="http://schemas.microsoft.com/office/drawing/2014/main" id="{A55BF26D-9E46-4A65-B5BC-F00D5E1FE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314575"/>
            <a:ext cx="39719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对话内容</a:t>
            </a:r>
          </a:p>
        </p:txBody>
      </p:sp>
      <p:sp>
        <p:nvSpPr>
          <p:cNvPr id="7" name="s17-text-6">
            <a:extLst xmlns:a="http://schemas.openxmlformats.org/drawingml/2006/main">
              <a:ext uri="{FF2B5EF4-FFF2-40B4-BE49-F238E27FC236}">
                <a16:creationId xmlns:a16="http://schemas.microsoft.com/office/drawing/2014/main" id="{74938E7D-7807-4F97-9519-274D5B29F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2314575"/>
            <a:ext cx="39719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认知工作的承担</a:t>
            </a:r>
          </a:p>
        </p:txBody>
      </p:sp>
      <p:sp>
        <p:nvSpPr>
          <p:cNvPr id="8" name="s17-text-7">
            <a:extLst xmlns:a="http://schemas.openxmlformats.org/drawingml/2006/main">
              <a:ext uri="{FF2B5EF4-FFF2-40B4-BE49-F238E27FC236}">
                <a16:creationId xmlns:a16="http://schemas.microsoft.com/office/drawing/2014/main" id="{E1332EB7-4FEC-4D77-8287-567236D9C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76550"/>
            <a:ext cx="20764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AI</a:t>
            </a:r>
          </a:p>
        </p:txBody>
      </p:sp>
      <p:sp>
        <p:nvSpPr>
          <p:cNvPr id="9" name="s17-text-8">
            <a:extLst xmlns:a="http://schemas.openxmlformats.org/drawingml/2006/main">
              <a:ext uri="{FF2B5EF4-FFF2-40B4-BE49-F238E27FC236}">
                <a16:creationId xmlns:a16="http://schemas.microsoft.com/office/drawing/2014/main" id="{6417C2DA-822E-4A8F-AAAA-FFCB0E67F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876550"/>
            <a:ext cx="39719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两瓶植物数量应相同，对吗？</a:t>
            </a:r>
          </a:p>
        </p:txBody>
      </p:sp>
      <p:sp>
        <p:nvSpPr>
          <p:cNvPr id="10" name="s17-text-9">
            <a:extLst xmlns:a="http://schemas.openxmlformats.org/drawingml/2006/main">
              <a:ext uri="{FF2B5EF4-FFF2-40B4-BE49-F238E27FC236}">
                <a16:creationId xmlns:a16="http://schemas.microsoft.com/office/drawing/2014/main" id="{4DF73850-13A8-4DCD-8AAD-82D54F5C0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2876550"/>
            <a:ext cx="39719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决定需要保持的条件</a:t>
            </a:r>
          </a:p>
        </p:txBody>
      </p:sp>
      <p:sp>
        <p:nvSpPr>
          <p:cNvPr id="11" name="s17-rect-10">
            <a:extLst xmlns:a="http://schemas.openxmlformats.org/drawingml/2006/main">
              <a:ext uri="{FF2B5EF4-FFF2-40B4-BE49-F238E27FC236}">
                <a16:creationId xmlns:a16="http://schemas.microsoft.com/office/drawing/2014/main" id="{2924F9E0-CA80-49B3-BD67-4F3946727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86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2" name="s17-text-11">
            <a:extLst xmlns:a="http://schemas.openxmlformats.org/drawingml/2006/main">
              <a:ext uri="{FF2B5EF4-FFF2-40B4-BE49-F238E27FC236}">
                <a16:creationId xmlns:a16="http://schemas.microsoft.com/office/drawing/2014/main" id="{C5649973-841F-49A1-9FE3-09B32CE2F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00450"/>
            <a:ext cx="20764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学生</a:t>
            </a:r>
          </a:p>
        </p:txBody>
      </p:sp>
      <p:sp>
        <p:nvSpPr>
          <p:cNvPr id="13" name="s17-text-12">
            <a:extLst xmlns:a="http://schemas.openxmlformats.org/drawingml/2006/main">
              <a:ext uri="{FF2B5EF4-FFF2-40B4-BE49-F238E27FC236}">
                <a16:creationId xmlns:a16="http://schemas.microsoft.com/office/drawing/2014/main" id="{371AAB2B-A0A4-4008-8C97-62E5640B3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600450"/>
            <a:ext cx="39719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对。</a:t>
            </a:r>
          </a:p>
        </p:txBody>
      </p:sp>
      <p:sp>
        <p:nvSpPr>
          <p:cNvPr id="14" name="s17-text-13">
            <a:extLst xmlns:a="http://schemas.openxmlformats.org/drawingml/2006/main">
              <a:ext uri="{FF2B5EF4-FFF2-40B4-BE49-F238E27FC236}">
                <a16:creationId xmlns:a16="http://schemas.microsoft.com/office/drawing/2014/main" id="{EFD2B84F-CC5C-4050-9B75-EBE81B23A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3600450"/>
            <a:ext cx="39719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学生作出确认</a:t>
            </a:r>
          </a:p>
        </p:txBody>
      </p:sp>
      <p:sp>
        <p:nvSpPr>
          <p:cNvPr id="15" name="s17-rect-14">
            <a:extLst xmlns:a="http://schemas.openxmlformats.org/drawingml/2006/main">
              <a:ext uri="{FF2B5EF4-FFF2-40B4-BE49-F238E27FC236}">
                <a16:creationId xmlns:a16="http://schemas.microsoft.com/office/drawing/2014/main" id="{E328BDEE-1988-4262-B840-1E71395BB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6" name="s17-text-15">
            <a:extLst xmlns:a="http://schemas.openxmlformats.org/drawingml/2006/main">
              <a:ext uri="{FF2B5EF4-FFF2-40B4-BE49-F238E27FC236}">
                <a16:creationId xmlns:a16="http://schemas.microsoft.com/office/drawing/2014/main" id="{0714FE20-6047-4C84-8ADD-0E8A1D6F2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24350"/>
            <a:ext cx="20764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AI</a:t>
            </a:r>
          </a:p>
        </p:txBody>
      </p:sp>
      <p:sp>
        <p:nvSpPr>
          <p:cNvPr id="17" name="s17-text-16">
            <a:extLst xmlns:a="http://schemas.openxmlformats.org/drawingml/2006/main">
              <a:ext uri="{FF2B5EF4-FFF2-40B4-BE49-F238E27FC236}">
                <a16:creationId xmlns:a16="http://schemas.microsoft.com/office/drawing/2014/main" id="{3E094A2A-C2B1-4BC2-B5D9-D3827C6F5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324350"/>
            <a:ext cx="39719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否则难区分数量与光照的影响？</a:t>
            </a:r>
          </a:p>
        </p:txBody>
      </p:sp>
      <p:sp>
        <p:nvSpPr>
          <p:cNvPr id="18" name="s17-text-17">
            <a:extLst xmlns:a="http://schemas.openxmlformats.org/drawingml/2006/main">
              <a:ext uri="{FF2B5EF4-FFF2-40B4-BE49-F238E27FC236}">
                <a16:creationId xmlns:a16="http://schemas.microsoft.com/office/drawing/2014/main" id="{05B723FE-1288-438C-8AC3-223A00DC5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4324350"/>
            <a:ext cx="39719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提供设计理由</a:t>
            </a:r>
          </a:p>
        </p:txBody>
      </p:sp>
      <p:sp>
        <p:nvSpPr>
          <p:cNvPr id="19" name="s17-rect-18">
            <a:extLst xmlns:a="http://schemas.openxmlformats.org/drawingml/2006/main">
              <a:ext uri="{FF2B5EF4-FFF2-40B4-BE49-F238E27FC236}">
                <a16:creationId xmlns:a16="http://schemas.microsoft.com/office/drawing/2014/main" id="{33C21DFD-1034-4AF4-9529-64122C79F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39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20" name="s17-text-19">
            <a:extLst xmlns:a="http://schemas.openxmlformats.org/drawingml/2006/main">
              <a:ext uri="{FF2B5EF4-FFF2-40B4-BE49-F238E27FC236}">
                <a16:creationId xmlns:a16="http://schemas.microsoft.com/office/drawing/2014/main" id="{3088A217-C2C9-44AF-A776-162AB836E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48250"/>
            <a:ext cx="20764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学生</a:t>
            </a:r>
          </a:p>
        </p:txBody>
      </p:sp>
      <p:sp>
        <p:nvSpPr>
          <p:cNvPr id="21" name="s17-text-20">
            <a:extLst xmlns:a="http://schemas.openxmlformats.org/drawingml/2006/main">
              <a:ext uri="{FF2B5EF4-FFF2-40B4-BE49-F238E27FC236}">
                <a16:creationId xmlns:a16="http://schemas.microsoft.com/office/drawing/2014/main" id="{4B2A7B29-05A7-4F77-839E-5A015391D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5048250"/>
            <a:ext cx="39719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是的。</a:t>
            </a:r>
          </a:p>
        </p:txBody>
      </p:sp>
      <p:sp>
        <p:nvSpPr>
          <p:cNvPr id="22" name="s17-text-21">
            <a:extLst xmlns:a="http://schemas.openxmlformats.org/drawingml/2006/main">
              <a:ext uri="{FF2B5EF4-FFF2-40B4-BE49-F238E27FC236}">
                <a16:creationId xmlns:a16="http://schemas.microsoft.com/office/drawing/2014/main" id="{0E96E9A9-7771-47E0-82A3-2A4C8057F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5048250"/>
            <a:ext cx="39719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学生再次确认</a:t>
            </a:r>
          </a:p>
        </p:txBody>
      </p:sp>
      <p:sp>
        <p:nvSpPr>
          <p:cNvPr id="23" name="s17-rect-22">
            <a:extLst xmlns:a="http://schemas.openxmlformats.org/drawingml/2006/main">
              <a:ext uri="{FF2B5EF4-FFF2-40B4-BE49-F238E27FC236}">
                <a16:creationId xmlns:a16="http://schemas.microsoft.com/office/drawing/2014/main" id="{053559AF-DC02-477E-86CA-C7921D974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24" name="s17-footer-23">
            <a:extLst xmlns:a="http://schemas.openxmlformats.org/drawingml/2006/main">
              <a:ext uri="{FF2B5EF4-FFF2-40B4-BE49-F238E27FC236}">
                <a16:creationId xmlns:a16="http://schemas.microsoft.com/office/drawing/2014/main" id="{F5E5CEA1-D769-4930-8EF1-BCC8316BA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25" name="s17-footer-24">
            <a:extLst xmlns:a="http://schemas.openxmlformats.org/drawingml/2006/main">
              <a:ext uri="{FF2B5EF4-FFF2-40B4-BE49-F238E27FC236}">
                <a16:creationId xmlns:a16="http://schemas.microsoft.com/office/drawing/2014/main" id="{DA943B36-51EF-4BD3-90EF-9C66D7C63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17 / 36</a:t>
            </a:r>
          </a:p>
        </p:txBody>
      </p:sp>
    </p:spTree>
    <p:extLst>
      <p:ext uri="{BB962C8B-B14F-4D97-AF65-F5344CB8AC3E}">
        <p14:creationId xmlns:p14="http://schemas.microsoft.com/office/powerpoint/2010/main" val="56618904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18-text-0">
            <a:extLst xmlns:a="http://schemas.openxmlformats.org/drawingml/2006/main">
              <a:ext uri="{FF2B5EF4-FFF2-40B4-BE49-F238E27FC236}">
                <a16:creationId xmlns:a16="http://schemas.microsoft.com/office/drawing/2014/main" id="{EF1B3657-3CD2-402C-9448-1ACE05470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教学决定与人机合作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a3bbe31f47458e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18-title-2">
            <a:extLst xmlns:a="http://schemas.openxmlformats.org/drawingml/2006/main">
              <a:ext uri="{FF2B5EF4-FFF2-40B4-BE49-F238E27FC236}">
                <a16:creationId xmlns:a16="http://schemas.microsoft.com/office/drawing/2014/main" id="{F2A0FB02-8641-462F-B05F-4E4ECCFBB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教学方式的价值取决于后续参与</a:t>
            </a:r>
          </a:p>
        </p:txBody>
      </p:sp>
      <p:sp>
        <p:nvSpPr>
          <p:cNvPr id="4" name="s18-text-3">
            <a:extLst xmlns:a="http://schemas.openxmlformats.org/drawingml/2006/main">
              <a:ext uri="{FF2B5EF4-FFF2-40B4-BE49-F238E27FC236}">
                <a16:creationId xmlns:a16="http://schemas.microsoft.com/office/drawing/2014/main" id="{7F321F13-3DE5-4E65-A8EA-FE370CEA4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0382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5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示范提供可分析的材料</a:t>
            </a:r>
          </a:p>
          <a:p xmlns:a="http://schemas.openxmlformats.org/drawingml/2006/main">
            <a:pPr algn="l">
              <a:lnSpc>
                <a:spcPct val="15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提问促使学生组织解释</a:t>
            </a:r>
          </a:p>
          <a:p xmlns:a="http://schemas.openxmlformats.org/drawingml/2006/main">
            <a:pPr algn="l">
              <a:lnSpc>
                <a:spcPct val="15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后续任务检验理解与运用</a:t>
            </a:r>
          </a:p>
        </p:txBody>
      </p:sp>
      <p:sp>
        <p:nvSpPr>
          <p:cNvPr id="5" name="s18-rect-4">
            <a:extLst xmlns:a="http://schemas.openxmlformats.org/drawingml/2006/main">
              <a:ext uri="{FF2B5EF4-FFF2-40B4-BE49-F238E27FC236}">
                <a16:creationId xmlns:a16="http://schemas.microsoft.com/office/drawing/2014/main" id="{BA29A7C2-6E9B-4C69-A7FE-A4E8D0C70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6" name="s18-text-5">
            <a:extLst xmlns:a="http://schemas.openxmlformats.org/drawingml/2006/main">
              <a:ext uri="{FF2B5EF4-FFF2-40B4-BE49-F238E27FC236}">
                <a16:creationId xmlns:a16="http://schemas.microsoft.com/office/drawing/2014/main" id="{0A782A61-00F6-416F-AB7D-C7F4C73CB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方法选择应同时明确：学生接下来需要承担哪项工作。</a:t>
            </a:r>
          </a:p>
        </p:txBody>
      </p:sp>
      <p:sp>
        <p:nvSpPr>
          <p:cNvPr id="7" name="s18-footer-6">
            <a:extLst xmlns:a="http://schemas.openxmlformats.org/drawingml/2006/main">
              <a:ext uri="{FF2B5EF4-FFF2-40B4-BE49-F238E27FC236}">
                <a16:creationId xmlns:a16="http://schemas.microsoft.com/office/drawing/2014/main" id="{23C5B05B-94B0-4351-864A-87AD48F33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8" name="s18-footer-7">
            <a:extLst xmlns:a="http://schemas.openxmlformats.org/drawingml/2006/main">
              <a:ext uri="{FF2B5EF4-FFF2-40B4-BE49-F238E27FC236}">
                <a16:creationId xmlns:a16="http://schemas.microsoft.com/office/drawing/2014/main" id="{6C1AF5C2-F204-4BD9-B83F-5E72347DA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18 / 36</a:t>
            </a:r>
          </a:p>
        </p:txBody>
      </p:sp>
    </p:spTree>
    <p:extLst>
      <p:ext uri="{BB962C8B-B14F-4D97-AF65-F5344CB8AC3E}">
        <p14:creationId xmlns:p14="http://schemas.microsoft.com/office/powerpoint/2010/main" val="184238754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19-text-0">
            <a:extLst xmlns:a="http://schemas.openxmlformats.org/drawingml/2006/main">
              <a:ext uri="{FF2B5EF4-FFF2-40B4-BE49-F238E27FC236}">
                <a16:creationId xmlns:a16="http://schemas.microsoft.com/office/drawing/2014/main" id="{8D2661E0-5F3A-4463-B285-A92BCD992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教学决定与人机合作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1ea0a1b7c7418c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19-title-2">
            <a:extLst xmlns:a="http://schemas.openxmlformats.org/drawingml/2006/main">
              <a:ext uri="{FF2B5EF4-FFF2-40B4-BE49-F238E27FC236}">
                <a16:creationId xmlns:a16="http://schemas.microsoft.com/office/drawing/2014/main" id="{314C9138-73B3-4FDD-918C-C0B3C44E8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支持方式应随学生的理解调整</a:t>
            </a:r>
          </a:p>
        </p:txBody>
      </p:sp>
      <p:sp>
        <p:nvSpPr>
          <p:cNvPr id="4" name="s19-text-3">
            <a:extLst xmlns:a="http://schemas.openxmlformats.org/drawingml/2006/main">
              <a:ext uri="{FF2B5EF4-FFF2-40B4-BE49-F238E27FC236}">
                <a16:creationId xmlns:a16="http://schemas.microsoft.com/office/drawing/2014/main" id="{586B9B08-2312-4C2E-8153-D87C367BF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76425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实验设计的支持安排：以学生当前能够承担的工作为依据。</a:t>
            </a:r>
          </a:p>
        </p:txBody>
      </p:sp>
      <p:sp>
        <p:nvSpPr>
          <p:cNvPr id="5" name="s19-rect-4">
            <a:extLst xmlns:a="http://schemas.openxmlformats.org/drawingml/2006/main">
              <a:ext uri="{FF2B5EF4-FFF2-40B4-BE49-F238E27FC236}">
                <a16:creationId xmlns:a16="http://schemas.microsoft.com/office/drawing/2014/main" id="{99B667F9-DD19-4010-A571-D95D20988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6" name="s19-text-5">
            <a:extLst xmlns:a="http://schemas.openxmlformats.org/drawingml/2006/main">
              <a:ext uri="{FF2B5EF4-FFF2-40B4-BE49-F238E27FC236}">
                <a16:creationId xmlns:a16="http://schemas.microsoft.com/office/drawing/2014/main" id="{944F4A50-4E16-4A3A-B20E-E83E6089A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初步理解</a:t>
            </a:r>
          </a:p>
        </p:txBody>
      </p:sp>
      <p:sp>
        <p:nvSpPr>
          <p:cNvPr id="7" name="s19-text-6">
            <a:extLst xmlns:a="http://schemas.openxmlformats.org/drawingml/2006/main">
              <a:ext uri="{FF2B5EF4-FFF2-40B4-BE49-F238E27FC236}">
                <a16:creationId xmlns:a16="http://schemas.microsoft.com/office/drawing/2014/main" id="{7566D275-DC7F-4FE1-B828-67655727D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借示范识别设计结构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解释一处关键安排</a:t>
            </a:r>
          </a:p>
        </p:txBody>
      </p:sp>
      <p:sp>
        <p:nvSpPr>
          <p:cNvPr id="8" name="s19-rect-7">
            <a:extLst xmlns:a="http://schemas.openxmlformats.org/drawingml/2006/main">
              <a:ext uri="{FF2B5EF4-FFF2-40B4-BE49-F238E27FC236}">
                <a16:creationId xmlns:a16="http://schemas.microsoft.com/office/drawing/2014/main" id="{F22CC268-C5DB-4597-9A2A-7B485404E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9" name="s19-text-8">
            <a:extLst xmlns:a="http://schemas.openxmlformats.org/drawingml/2006/main">
              <a:ext uri="{FF2B5EF4-FFF2-40B4-BE49-F238E27FC236}">
                <a16:creationId xmlns:a16="http://schemas.microsoft.com/office/drawing/2014/main" id="{1B29B21B-2F43-483F-A64B-B8B8C6564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有依据的尝试</a:t>
            </a:r>
          </a:p>
        </p:txBody>
      </p:sp>
      <p:sp>
        <p:nvSpPr>
          <p:cNvPr id="10" name="s19-text-9">
            <a:extLst xmlns:a="http://schemas.openxmlformats.org/drawingml/2006/main">
              <a:ext uri="{FF2B5EF4-FFF2-40B4-BE49-F238E27FC236}">
                <a16:creationId xmlns:a16="http://schemas.microsoft.com/office/drawing/2014/main" id="{E4935B25-C9E5-4F9F-A336-8FBA0E3EB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起草方案并接受反馈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说明采纳或拒绝的理由</a:t>
            </a:r>
          </a:p>
        </p:txBody>
      </p:sp>
      <p:sp>
        <p:nvSpPr>
          <p:cNvPr id="11" name="s19-rect-10">
            <a:extLst xmlns:a="http://schemas.openxmlformats.org/drawingml/2006/main">
              <a:ext uri="{FF2B5EF4-FFF2-40B4-BE49-F238E27FC236}">
                <a16:creationId xmlns:a16="http://schemas.microsoft.com/office/drawing/2014/main" id="{0CB80DF4-44A6-4699-A757-3A9584567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2" name="s19-text-11">
            <a:extLst xmlns:a="http://schemas.openxmlformats.org/drawingml/2006/main">
              <a:ext uri="{FF2B5EF4-FFF2-40B4-BE49-F238E27FC236}">
                <a16:creationId xmlns:a16="http://schemas.microsoft.com/office/drawing/2014/main" id="{32EC159E-7EB7-4295-BC53-4B1618C83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新条件下的运用</a:t>
            </a:r>
          </a:p>
        </p:txBody>
      </p:sp>
      <p:sp>
        <p:nvSpPr>
          <p:cNvPr id="13" name="s19-text-12">
            <a:extLst xmlns:a="http://schemas.openxmlformats.org/drawingml/2006/main">
              <a:ext uri="{FF2B5EF4-FFF2-40B4-BE49-F238E27FC236}">
                <a16:creationId xmlns:a16="http://schemas.microsoft.com/office/drawing/2014/main" id="{850C2380-C84E-4493-916B-5D1DF6FED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自主选择方法与支持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调整方案并检验结果</a:t>
            </a:r>
          </a:p>
        </p:txBody>
      </p:sp>
      <p:sp>
        <p:nvSpPr>
          <p:cNvPr id="14" name="s19-rect-13">
            <a:extLst xmlns:a="http://schemas.openxmlformats.org/drawingml/2006/main">
              <a:ext uri="{FF2B5EF4-FFF2-40B4-BE49-F238E27FC236}">
                <a16:creationId xmlns:a16="http://schemas.microsoft.com/office/drawing/2014/main" id="{92356565-57FE-47B0-9EB9-E51074B92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5" name="s19-text-14">
            <a:extLst xmlns:a="http://schemas.openxmlformats.org/drawingml/2006/main">
              <a:ext uri="{FF2B5EF4-FFF2-40B4-BE49-F238E27FC236}">
                <a16:creationId xmlns:a16="http://schemas.microsoft.com/office/drawing/2014/main" id="{DE5DBCCF-74E0-4739-AFB7-07F1B8230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支持调整的依据：已形成的理解、当前困难与下一步目标。</a:t>
            </a:r>
          </a:p>
        </p:txBody>
      </p:sp>
      <p:sp>
        <p:nvSpPr>
          <p:cNvPr id="16" name="s19-footer-15">
            <a:extLst xmlns:a="http://schemas.openxmlformats.org/drawingml/2006/main">
              <a:ext uri="{FF2B5EF4-FFF2-40B4-BE49-F238E27FC236}">
                <a16:creationId xmlns:a16="http://schemas.microsoft.com/office/drawing/2014/main" id="{A80B2A9E-4C98-4E90-994E-07EC9F9CF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7" name="s19-footer-16">
            <a:extLst xmlns:a="http://schemas.openxmlformats.org/drawingml/2006/main">
              <a:ext uri="{FF2B5EF4-FFF2-40B4-BE49-F238E27FC236}">
                <a16:creationId xmlns:a16="http://schemas.microsoft.com/office/drawing/2014/main" id="{34FB3A68-88B3-4817-8E6B-6F08F34CB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19 / 36</a:t>
            </a:r>
          </a:p>
        </p:txBody>
      </p:sp>
    </p:spTree>
    <p:extLst>
      <p:ext uri="{BB962C8B-B14F-4D97-AF65-F5344CB8AC3E}">
        <p14:creationId xmlns:p14="http://schemas.microsoft.com/office/powerpoint/2010/main" val="50126639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20-text-0">
            <a:extLst xmlns:a="http://schemas.openxmlformats.org/drawingml/2006/main">
              <a:ext uri="{FF2B5EF4-FFF2-40B4-BE49-F238E27FC236}">
                <a16:creationId xmlns:a16="http://schemas.microsoft.com/office/drawing/2014/main" id="{2088C822-60CC-40F5-8A27-479A9F293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课堂研判 02 · 模拟情境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7a3a5d20b44aa3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20-title-2">
            <a:extLst xmlns:a="http://schemas.openxmlformats.org/drawingml/2006/main">
              <a:ext uri="{FF2B5EF4-FFF2-40B4-BE49-F238E27FC236}">
                <a16:creationId xmlns:a16="http://schemas.microsoft.com/office/drawing/2014/main" id="{F847E68C-20B8-48F1-BCBF-B3107BD39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第二次研判：在时间约束下选择介入</a:t>
            </a:r>
          </a:p>
        </p:txBody>
      </p:sp>
      <p:sp>
        <p:nvSpPr>
          <p:cNvPr id="4" name="s20-text-3">
            <a:extLst xmlns:a="http://schemas.openxmlformats.org/drawingml/2006/main">
              <a:ext uri="{FF2B5EF4-FFF2-40B4-BE49-F238E27FC236}">
                <a16:creationId xmlns:a16="http://schemas.microsoft.com/office/drawing/2014/main" id="{29829027-7C05-4D02-BF66-7A363FA86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276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甲组：初学者</a:t>
            </a:r>
          </a:p>
        </p:txBody>
      </p:sp>
      <p:sp>
        <p:nvSpPr>
          <p:cNvPr id="5" name="s20-text-4">
            <a:extLst xmlns:a="http://schemas.openxmlformats.org/drawingml/2006/main">
              <a:ext uri="{FF2B5EF4-FFF2-40B4-BE49-F238E27FC236}">
                <a16:creationId xmlns:a16="http://schemas.microsoft.com/office/drawing/2014/main" id="{9319625A-300F-4418-AD13-FE825EE61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247900"/>
            <a:ext cx="774382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能借示范解释对照理由，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尚未尝试独立设计。</a:t>
            </a:r>
          </a:p>
        </p:txBody>
      </p:sp>
      <p:sp>
        <p:nvSpPr>
          <p:cNvPr id="6" name="s20-text-5">
            <a:extLst xmlns:a="http://schemas.openxmlformats.org/drawingml/2006/main">
              <a:ext uri="{FF2B5EF4-FFF2-40B4-BE49-F238E27FC236}">
                <a16:creationId xmlns:a16="http://schemas.microsoft.com/office/drawing/2014/main" id="{FBD9D1E3-98ED-4B4F-9014-137D5F383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00475"/>
            <a:ext cx="276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乙组：已有经验</a:t>
            </a:r>
          </a:p>
        </p:txBody>
      </p:sp>
      <p:sp>
        <p:nvSpPr>
          <p:cNvPr id="7" name="s20-text-6">
            <a:extLst xmlns:a="http://schemas.openxmlformats.org/drawingml/2006/main">
              <a:ext uri="{FF2B5EF4-FFF2-40B4-BE49-F238E27FC236}">
                <a16:creationId xmlns:a16="http://schemas.microsoft.com/office/drawing/2014/main" id="{6BD16293-358F-47E2-9FA3-5F781D119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800475"/>
            <a:ext cx="774382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已自主尝试较久，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仍未发现方案同时改变了两个条件。</a:t>
            </a:r>
          </a:p>
        </p:txBody>
      </p:sp>
      <p:sp>
        <p:nvSpPr>
          <p:cNvPr id="8" name="s20-rect-7">
            <a:extLst xmlns:a="http://schemas.openxmlformats.org/drawingml/2006/main">
              <a:ext uri="{FF2B5EF4-FFF2-40B4-BE49-F238E27FC236}">
                <a16:creationId xmlns:a16="http://schemas.microsoft.com/office/drawing/2014/main" id="{4B5E4802-9CB5-4411-84C5-A042FCBBE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9" name="s20-text-8">
            <a:extLst xmlns:a="http://schemas.openxmlformats.org/drawingml/2006/main">
              <a:ext uri="{FF2B5EF4-FFF2-40B4-BE49-F238E27FC236}">
                <a16:creationId xmlns:a16="http://schemas.microsoft.com/office/drawing/2014/main" id="{BB137BD2-8BA7-4BA1-8E47-E3F53F4F2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剩余10分钟：两组分别需要什么任务，教师优先介入哪一组？</a:t>
            </a:r>
          </a:p>
        </p:txBody>
      </p:sp>
      <p:sp>
        <p:nvSpPr>
          <p:cNvPr id="10" name="s20-footer-9">
            <a:extLst xmlns:a="http://schemas.openxmlformats.org/drawingml/2006/main">
              <a:ext uri="{FF2B5EF4-FFF2-40B4-BE49-F238E27FC236}">
                <a16:creationId xmlns:a16="http://schemas.microsoft.com/office/drawing/2014/main" id="{3D98AE83-8F22-48D3-BFCA-9C68FF39C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1" name="s20-footer-10">
            <a:extLst xmlns:a="http://schemas.openxmlformats.org/drawingml/2006/main">
              <a:ext uri="{FF2B5EF4-FFF2-40B4-BE49-F238E27FC236}">
                <a16:creationId xmlns:a16="http://schemas.microsoft.com/office/drawing/2014/main" id="{B26945A3-2A3A-4389-AF0B-1F91CF0C4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20 / 36</a:t>
            </a:r>
          </a:p>
        </p:txBody>
      </p:sp>
    </p:spTree>
    <p:extLst>
      <p:ext uri="{BB962C8B-B14F-4D97-AF65-F5344CB8AC3E}">
        <p14:creationId xmlns:p14="http://schemas.microsoft.com/office/powerpoint/2010/main" val="105178317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21-text-0">
            <a:extLst xmlns:a="http://schemas.openxmlformats.org/drawingml/2006/main">
              <a:ext uri="{FF2B5EF4-FFF2-40B4-BE49-F238E27FC236}">
                <a16:creationId xmlns:a16="http://schemas.microsoft.com/office/drawing/2014/main" id="{B37467A4-F300-47EE-B7AE-BEC55BD3E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课堂判断与教学调整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cc39be662e43aa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21-title-2">
            <a:extLst xmlns:a="http://schemas.openxmlformats.org/drawingml/2006/main">
              <a:ext uri="{FF2B5EF4-FFF2-40B4-BE49-F238E27FC236}">
                <a16:creationId xmlns:a16="http://schemas.microsoft.com/office/drawing/2014/main" id="{5F1EF761-3237-4AF0-BF0B-C7FD191C9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差异化介入需要明确任务与检查点</a:t>
            </a:r>
          </a:p>
        </p:txBody>
      </p:sp>
      <p:sp>
        <p:nvSpPr>
          <p:cNvPr id="4" name="s21-text-3">
            <a:extLst xmlns:a="http://schemas.openxmlformats.org/drawingml/2006/main">
              <a:ext uri="{FF2B5EF4-FFF2-40B4-BE49-F238E27FC236}">
                <a16:creationId xmlns:a16="http://schemas.microsoft.com/office/drawing/2014/main" id="{4D216A4E-7C63-4091-B62E-92ACACCB1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02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一种可讨论的安排：先诊断乙组困难，同时为甲组提供独立尝试。</a:t>
            </a:r>
          </a:p>
        </p:txBody>
      </p:sp>
      <p:sp>
        <p:nvSpPr>
          <p:cNvPr id="5" name="s21-rect-4">
            <a:extLst xmlns:a="http://schemas.openxmlformats.org/drawingml/2006/main">
              <a:ext uri="{FF2B5EF4-FFF2-40B4-BE49-F238E27FC236}">
                <a16:creationId xmlns:a16="http://schemas.microsoft.com/office/drawing/2014/main" id="{DD856635-3557-492F-B1B6-5297B919F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38425"/>
            <a:ext cx="108204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7"/>
          </a:solidFill>
          <a:ln xmlns:a="http://schemas.openxmlformats.org/drawingml/2006/main" w="0">
            <a:noFill/>
          </a:ln>
        </p:spPr>
      </p:sp>
      <p:sp>
        <p:nvSpPr>
          <p:cNvPr id="6" name="s21-text-5">
            <a:extLst xmlns:a="http://schemas.openxmlformats.org/drawingml/2006/main">
              <a:ext uri="{FF2B5EF4-FFF2-40B4-BE49-F238E27FC236}">
                <a16:creationId xmlns:a16="http://schemas.microsoft.com/office/drawing/2014/main" id="{0702F034-317A-4E2C-9391-A04011454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14625"/>
            <a:ext cx="2076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对象</a:t>
            </a:r>
          </a:p>
        </p:txBody>
      </p:sp>
      <p:sp>
        <p:nvSpPr>
          <p:cNvPr id="7" name="s21-text-6">
            <a:extLst xmlns:a="http://schemas.openxmlformats.org/drawingml/2006/main">
              <a:ext uri="{FF2B5EF4-FFF2-40B4-BE49-F238E27FC236}">
                <a16:creationId xmlns:a16="http://schemas.microsoft.com/office/drawing/2014/main" id="{77D1A97A-23C4-4D28-9B42-0B18D8035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714625"/>
            <a:ext cx="39719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下一项任务</a:t>
            </a:r>
          </a:p>
        </p:txBody>
      </p:sp>
      <p:sp>
        <p:nvSpPr>
          <p:cNvPr id="8" name="s21-text-7">
            <a:extLst xmlns:a="http://schemas.openxmlformats.org/drawingml/2006/main">
              <a:ext uri="{FF2B5EF4-FFF2-40B4-BE49-F238E27FC236}">
                <a16:creationId xmlns:a16="http://schemas.microsoft.com/office/drawing/2014/main" id="{72F0EBAB-7701-480C-A4CF-F722CA92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2714625"/>
            <a:ext cx="39719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即时检查</a:t>
            </a:r>
          </a:p>
        </p:txBody>
      </p:sp>
      <p:sp>
        <p:nvSpPr>
          <p:cNvPr id="9" name="s21-text-8">
            <a:extLst xmlns:a="http://schemas.openxmlformats.org/drawingml/2006/main">
              <a:ext uri="{FF2B5EF4-FFF2-40B4-BE49-F238E27FC236}">
                <a16:creationId xmlns:a16="http://schemas.microsoft.com/office/drawing/2014/main" id="{18D438B2-7BBD-4077-B318-F6923A0FA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76600"/>
            <a:ext cx="20764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甲组</a:t>
            </a:r>
          </a:p>
        </p:txBody>
      </p:sp>
      <p:sp>
        <p:nvSpPr>
          <p:cNvPr id="10" name="s21-text-9">
            <a:extLst xmlns:a="http://schemas.openxmlformats.org/drawingml/2006/main">
              <a:ext uri="{FF2B5EF4-FFF2-40B4-BE49-F238E27FC236}">
                <a16:creationId xmlns:a16="http://schemas.microsoft.com/office/drawing/2014/main" id="{10842118-7302-4E2A-AC73-49242804E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276600"/>
            <a:ext cx="39719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改变研究问题，修改一处条件</a:t>
            </a:r>
          </a:p>
        </p:txBody>
      </p:sp>
      <p:sp>
        <p:nvSpPr>
          <p:cNvPr id="11" name="s21-text-10">
            <a:extLst xmlns:a="http://schemas.openxmlformats.org/drawingml/2006/main">
              <a:ext uri="{FF2B5EF4-FFF2-40B4-BE49-F238E27FC236}">
                <a16:creationId xmlns:a16="http://schemas.microsoft.com/office/drawing/2014/main" id="{211787BB-8440-4822-847A-55F7E3749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3276600"/>
            <a:ext cx="39719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能否说明改动理由</a:t>
            </a:r>
          </a:p>
        </p:txBody>
      </p:sp>
      <p:sp>
        <p:nvSpPr>
          <p:cNvPr id="12" name="s21-rect-11">
            <a:extLst xmlns:a="http://schemas.openxmlformats.org/drawingml/2006/main">
              <a:ext uri="{FF2B5EF4-FFF2-40B4-BE49-F238E27FC236}">
                <a16:creationId xmlns:a16="http://schemas.microsoft.com/office/drawing/2014/main" id="{3BB40B83-E992-47F3-A120-34C60F72F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3" name="s21-text-12">
            <a:extLst xmlns:a="http://schemas.openxmlformats.org/drawingml/2006/main">
              <a:ext uri="{FF2B5EF4-FFF2-40B4-BE49-F238E27FC236}">
                <a16:creationId xmlns:a16="http://schemas.microsoft.com/office/drawing/2014/main" id="{985CBB70-DE57-41E9-AC13-73891DE27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14800"/>
            <a:ext cx="20764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乙组</a:t>
            </a:r>
          </a:p>
        </p:txBody>
      </p:sp>
      <p:sp>
        <p:nvSpPr>
          <p:cNvPr id="14" name="s21-text-13">
            <a:extLst xmlns:a="http://schemas.openxmlformats.org/drawingml/2006/main">
              <a:ext uri="{FF2B5EF4-FFF2-40B4-BE49-F238E27FC236}">
                <a16:creationId xmlns:a16="http://schemas.microsoft.com/office/drawing/2014/main" id="{43A47665-A314-442A-9230-7916216D4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114800"/>
            <a:ext cx="39719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对照两方案，分别解释差异</a:t>
            </a:r>
          </a:p>
        </p:txBody>
      </p:sp>
      <p:sp>
        <p:nvSpPr>
          <p:cNvPr id="15" name="s21-text-14">
            <a:extLst xmlns:a="http://schemas.openxmlformats.org/drawingml/2006/main">
              <a:ext uri="{FF2B5EF4-FFF2-40B4-BE49-F238E27FC236}">
                <a16:creationId xmlns:a16="http://schemas.microsoft.com/office/drawing/2014/main" id="{B4B24A9A-5BB8-42F9-B39E-727F0F289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4114800"/>
            <a:ext cx="39719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是检查遗漏还是理由不清</a:t>
            </a:r>
          </a:p>
        </p:txBody>
      </p:sp>
      <p:sp>
        <p:nvSpPr>
          <p:cNvPr id="16" name="s21-rect-15">
            <a:extLst xmlns:a="http://schemas.openxmlformats.org/drawingml/2006/main">
              <a:ext uri="{FF2B5EF4-FFF2-40B4-BE49-F238E27FC236}">
                <a16:creationId xmlns:a16="http://schemas.microsoft.com/office/drawing/2014/main" id="{FCDFC071-6654-411B-B1DD-35EEEF881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387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7" name="s21-text-16">
            <a:extLst xmlns:a="http://schemas.openxmlformats.org/drawingml/2006/main">
              <a:ext uri="{FF2B5EF4-FFF2-40B4-BE49-F238E27FC236}">
                <a16:creationId xmlns:a16="http://schemas.microsoft.com/office/drawing/2014/main" id="{74783D14-A8F3-42A6-B5D8-D25E575F3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53000"/>
            <a:ext cx="20764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教师</a:t>
            </a:r>
          </a:p>
        </p:txBody>
      </p:sp>
      <p:sp>
        <p:nvSpPr>
          <p:cNvPr id="18" name="s21-text-17">
            <a:extLst xmlns:a="http://schemas.openxmlformats.org/drawingml/2006/main">
              <a:ext uri="{FF2B5EF4-FFF2-40B4-BE49-F238E27FC236}">
                <a16:creationId xmlns:a16="http://schemas.microsoft.com/office/drawing/2014/main" id="{3B92AF0C-000F-44E1-8710-41469E7B0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953000"/>
            <a:ext cx="39719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据解释决定补讲或继续尝试</a:t>
            </a:r>
          </a:p>
        </p:txBody>
      </p:sp>
      <p:sp>
        <p:nvSpPr>
          <p:cNvPr id="19" name="s21-text-18">
            <a:extLst xmlns:a="http://schemas.openxmlformats.org/drawingml/2006/main">
              <a:ext uri="{FF2B5EF4-FFF2-40B4-BE49-F238E27FC236}">
                <a16:creationId xmlns:a16="http://schemas.microsoft.com/office/drawing/2014/main" id="{DE8C0597-6141-4AB0-8838-CEC09CB35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4953000"/>
            <a:ext cx="39719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两组都能进入下一项工作</a:t>
            </a:r>
          </a:p>
        </p:txBody>
      </p:sp>
      <p:sp>
        <p:nvSpPr>
          <p:cNvPr id="20" name="s21-rect-19">
            <a:extLst xmlns:a="http://schemas.openxmlformats.org/drawingml/2006/main">
              <a:ext uri="{FF2B5EF4-FFF2-40B4-BE49-F238E27FC236}">
                <a16:creationId xmlns:a16="http://schemas.microsoft.com/office/drawing/2014/main" id="{AC64F45B-5AD4-4AF0-AFEF-CB79BD6F5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21" name="s21-rect-20">
            <a:extLst xmlns:a="http://schemas.openxmlformats.org/drawingml/2006/main">
              <a:ext uri="{FF2B5EF4-FFF2-40B4-BE49-F238E27FC236}">
                <a16:creationId xmlns:a16="http://schemas.microsoft.com/office/drawing/2014/main" id="{7538F713-0FFA-4184-9629-6368AF595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22" name="s21-text-21">
            <a:extLst xmlns:a="http://schemas.openxmlformats.org/drawingml/2006/main">
              <a:ext uri="{FF2B5EF4-FFF2-40B4-BE49-F238E27FC236}">
                <a16:creationId xmlns:a16="http://schemas.microsoft.com/office/drawing/2014/main" id="{5AD1929A-DA1A-4DB1-8FD1-0283AC4A6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行动依据：学生当前困难、学习目标与可用课堂时间。</a:t>
            </a:r>
          </a:p>
        </p:txBody>
      </p:sp>
      <p:sp>
        <p:nvSpPr>
          <p:cNvPr id="23" name="s21-footer-22">
            <a:extLst xmlns:a="http://schemas.openxmlformats.org/drawingml/2006/main">
              <a:ext uri="{FF2B5EF4-FFF2-40B4-BE49-F238E27FC236}">
                <a16:creationId xmlns:a16="http://schemas.microsoft.com/office/drawing/2014/main" id="{A27D6553-FFB0-455C-8676-76A7C9E3F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24" name="s21-footer-23">
            <a:extLst xmlns:a="http://schemas.openxmlformats.org/drawingml/2006/main">
              <a:ext uri="{FF2B5EF4-FFF2-40B4-BE49-F238E27FC236}">
                <a16:creationId xmlns:a16="http://schemas.microsoft.com/office/drawing/2014/main" id="{9710344E-1638-4A5B-BB36-CA3017709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21 / 36</a:t>
            </a:r>
          </a:p>
        </p:txBody>
      </p:sp>
    </p:spTree>
    <p:extLst>
      <p:ext uri="{BB962C8B-B14F-4D97-AF65-F5344CB8AC3E}">
        <p14:creationId xmlns:p14="http://schemas.microsoft.com/office/powerpoint/2010/main" val="667582865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22-text-0">
            <a:extLst xmlns:a="http://schemas.openxmlformats.org/drawingml/2006/main">
              <a:ext uri="{FF2B5EF4-FFF2-40B4-BE49-F238E27FC236}">
                <a16:creationId xmlns:a16="http://schemas.microsoft.com/office/drawing/2014/main" id="{44372CB7-E200-4574-8010-96846FCF1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教学案例（模拟）· 诊断与介入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77cc5585ac46cb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22-title-2">
            <a:extLst xmlns:a="http://schemas.openxmlformats.org/drawingml/2006/main">
              <a:ext uri="{FF2B5EF4-FFF2-40B4-BE49-F238E27FC236}">
                <a16:creationId xmlns:a16="http://schemas.microsoft.com/office/drawing/2014/main" id="{F825F87C-FB34-495C-95D8-A3B7009B5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针对同一错误，需要区分不同学习困难</a:t>
            </a:r>
          </a:p>
        </p:txBody>
      </p:sp>
      <p:sp>
        <p:nvSpPr>
          <p:cNvPr id="4" name="s22-rect-3">
            <a:extLst xmlns:a="http://schemas.openxmlformats.org/drawingml/2006/main">
              <a:ext uri="{FF2B5EF4-FFF2-40B4-BE49-F238E27FC236}">
                <a16:creationId xmlns:a16="http://schemas.microsoft.com/office/drawing/2014/main" id="{96739500-3E45-45CA-B46D-4410A3036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5" name="s22-text-4">
            <a:extLst xmlns:a="http://schemas.openxmlformats.org/drawingml/2006/main">
              <a:ext uri="{FF2B5EF4-FFF2-40B4-BE49-F238E27FC236}">
                <a16:creationId xmlns:a16="http://schemas.microsoft.com/office/drawing/2014/main" id="{150823D8-BF37-45EE-A548-5BC5F3CEF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观察表现</a:t>
            </a:r>
          </a:p>
        </p:txBody>
      </p:sp>
      <p:sp>
        <p:nvSpPr>
          <p:cNvPr id="6" name="s22-text-5">
            <a:extLst xmlns:a="http://schemas.openxmlformats.org/drawingml/2006/main">
              <a:ext uri="{FF2B5EF4-FFF2-40B4-BE49-F238E27FC236}">
                <a16:creationId xmlns:a16="http://schemas.microsoft.com/office/drawing/2014/main" id="{1F11C309-05C8-4793-926E-A9AEFB094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114550"/>
            <a:ext cx="74485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学生提出保持其他条件相同，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却漏看两瓶植物数量不同。</a:t>
            </a:r>
          </a:p>
        </p:txBody>
      </p:sp>
      <p:sp>
        <p:nvSpPr>
          <p:cNvPr id="7" name="s22-rect-6">
            <a:extLst xmlns:a="http://schemas.openxmlformats.org/drawingml/2006/main">
              <a:ext uri="{FF2B5EF4-FFF2-40B4-BE49-F238E27FC236}">
                <a16:creationId xmlns:a16="http://schemas.microsoft.com/office/drawing/2014/main" id="{7D759348-1985-410E-9649-B2658C772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1467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8" name="s22-text-7">
            <a:extLst xmlns:a="http://schemas.openxmlformats.org/drawingml/2006/main">
              <a:ext uri="{FF2B5EF4-FFF2-40B4-BE49-F238E27FC236}">
                <a16:creationId xmlns:a16="http://schemas.microsoft.com/office/drawing/2014/main" id="{890AAD47-711C-47DB-8FD9-5698BAE63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67075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区分困难</a:t>
            </a:r>
          </a:p>
        </p:txBody>
      </p:sp>
      <p:sp>
        <p:nvSpPr>
          <p:cNvPr id="9" name="s22-text-8">
            <a:extLst xmlns:a="http://schemas.openxmlformats.org/drawingml/2006/main">
              <a:ext uri="{FF2B5EF4-FFF2-40B4-BE49-F238E27FC236}">
                <a16:creationId xmlns:a16="http://schemas.microsoft.com/office/drawing/2014/main" id="{80A24FD8-3AFF-4AFD-BB98-F8B775107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267075"/>
            <a:ext cx="74485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检查遗漏、设计理由不清，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或仅一名成员理解了方案。</a:t>
            </a:r>
          </a:p>
        </p:txBody>
      </p:sp>
      <p:sp>
        <p:nvSpPr>
          <p:cNvPr id="10" name="s22-rect-9">
            <a:extLst xmlns:a="http://schemas.openxmlformats.org/drawingml/2006/main">
              <a:ext uri="{FF2B5EF4-FFF2-40B4-BE49-F238E27FC236}">
                <a16:creationId xmlns:a16="http://schemas.microsoft.com/office/drawing/2014/main" id="{05845C0F-2771-4F1B-989E-C602D6FB7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1" name="s22-text-10">
            <a:extLst xmlns:a="http://schemas.openxmlformats.org/drawingml/2006/main">
              <a:ext uri="{FF2B5EF4-FFF2-40B4-BE49-F238E27FC236}">
                <a16:creationId xmlns:a16="http://schemas.microsoft.com/office/drawing/2014/main" id="{50E4B00A-A295-4258-88D0-918C54B1D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1960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选择支持</a:t>
            </a:r>
          </a:p>
        </p:txBody>
      </p:sp>
      <p:sp>
        <p:nvSpPr>
          <p:cNvPr id="12" name="s22-text-11">
            <a:extLst xmlns:a="http://schemas.openxmlformats.org/drawingml/2006/main">
              <a:ext uri="{FF2B5EF4-FFF2-40B4-BE49-F238E27FC236}">
                <a16:creationId xmlns:a16="http://schemas.microsoft.com/office/drawing/2014/main" id="{CEC829BA-865C-49E7-B84E-2E0313C20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419600"/>
            <a:ext cx="74485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分别安排检查清单、对照示范，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或让不同成员独立解释。</a:t>
            </a:r>
          </a:p>
        </p:txBody>
      </p:sp>
      <p:sp>
        <p:nvSpPr>
          <p:cNvPr id="13" name="s22-footer-12">
            <a:extLst xmlns:a="http://schemas.openxmlformats.org/drawingml/2006/main">
              <a:ext uri="{FF2B5EF4-FFF2-40B4-BE49-F238E27FC236}">
                <a16:creationId xmlns:a16="http://schemas.microsoft.com/office/drawing/2014/main" id="{EFBE603E-2F06-40B0-8441-7E4810808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4" name="s22-footer-13">
            <a:extLst xmlns:a="http://schemas.openxmlformats.org/drawingml/2006/main">
              <a:ext uri="{FF2B5EF4-FFF2-40B4-BE49-F238E27FC236}">
                <a16:creationId xmlns:a16="http://schemas.microsoft.com/office/drawing/2014/main" id="{D14BFF5E-2D44-4A68-91E8-A4E126EE6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22 / 36</a:t>
            </a:r>
          </a:p>
        </p:txBody>
      </p:sp>
    </p:spTree>
    <p:extLst>
      <p:ext uri="{BB962C8B-B14F-4D97-AF65-F5344CB8AC3E}">
        <p14:creationId xmlns:p14="http://schemas.microsoft.com/office/powerpoint/2010/main" val="600489417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23-text-0">
            <a:extLst xmlns:a="http://schemas.openxmlformats.org/drawingml/2006/main">
              <a:ext uri="{FF2B5EF4-FFF2-40B4-BE49-F238E27FC236}">
                <a16:creationId xmlns:a16="http://schemas.microsoft.com/office/drawing/2014/main" id="{CC5DA063-693B-4ACE-A3AE-393B7402D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学生表达（模拟）· 证据与结论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ba1e440c4a4cce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23-title-2">
            <a:extLst xmlns:a="http://schemas.openxmlformats.org/drawingml/2006/main">
              <a:ext uri="{FF2B5EF4-FFF2-40B4-BE49-F238E27FC236}">
                <a16:creationId xmlns:a16="http://schemas.microsoft.com/office/drawing/2014/main" id="{6BBEED86-AA1F-464D-944A-AA1A51FDE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句式完整与理由充分需要具体区分</a:t>
            </a:r>
          </a:p>
        </p:txBody>
      </p:sp>
      <p:sp>
        <p:nvSpPr>
          <p:cNvPr id="4" name="s23-text-3">
            <a:extLst xmlns:a="http://schemas.openxmlformats.org/drawingml/2006/main">
              <a:ext uri="{FF2B5EF4-FFF2-40B4-BE49-F238E27FC236}">
                <a16:creationId xmlns:a16="http://schemas.microsoft.com/office/drawing/2014/main" id="{00DAB2C4-7427-47D3-9F0A-6ACA85440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76425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两段表达对观察结果与结论的处理不同。</a:t>
            </a:r>
          </a:p>
        </p:txBody>
      </p:sp>
      <p:sp>
        <p:nvSpPr>
          <p:cNvPr id="5" name="s23-rect-4">
            <a:extLst xmlns:a="http://schemas.openxmlformats.org/drawingml/2006/main">
              <a:ext uri="{FF2B5EF4-FFF2-40B4-BE49-F238E27FC236}">
                <a16:creationId xmlns:a16="http://schemas.microsoft.com/office/drawing/2014/main" id="{E1B22D0B-76C3-4516-B8BB-178B58747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5181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6" name="s23-text-5">
            <a:extLst xmlns:a="http://schemas.openxmlformats.org/drawingml/2006/main">
              <a:ext uri="{FF2B5EF4-FFF2-40B4-BE49-F238E27FC236}">
                <a16:creationId xmlns:a16="http://schemas.microsoft.com/office/drawing/2014/main" id="{1FC1A65C-F7BD-4559-80FA-C732CE3B9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86100"/>
            <a:ext cx="51816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直接归因于光照</a:t>
            </a:r>
          </a:p>
        </p:txBody>
      </p:sp>
      <p:sp>
        <p:nvSpPr>
          <p:cNvPr id="7" name="s23-text-6">
            <a:extLst xmlns:a="http://schemas.openxmlformats.org/drawingml/2006/main">
              <a:ext uri="{FF2B5EF4-FFF2-40B4-BE49-F238E27FC236}">
                <a16:creationId xmlns:a16="http://schemas.microsoft.com/office/drawing/2014/main" id="{73044496-24D0-45D4-9F87-BD88A7CC4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52875"/>
            <a:ext cx="51816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“我们认为光照影响变化，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因为两瓶颜色不同。”</a:t>
            </a:r>
          </a:p>
        </p:txBody>
      </p:sp>
      <p:sp>
        <p:nvSpPr>
          <p:cNvPr id="8" name="s23-rect-7">
            <a:extLst xmlns:a="http://schemas.openxmlformats.org/drawingml/2006/main">
              <a:ext uri="{FF2B5EF4-FFF2-40B4-BE49-F238E27FC236}">
                <a16:creationId xmlns:a16="http://schemas.microsoft.com/office/drawing/2014/main" id="{92CCD451-E0E5-4D54-BEF8-F8CEF2C02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876550"/>
            <a:ext cx="5181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9" name="s23-text-8">
            <a:extLst xmlns:a="http://schemas.openxmlformats.org/drawingml/2006/main">
              <a:ext uri="{FF2B5EF4-FFF2-40B4-BE49-F238E27FC236}">
                <a16:creationId xmlns:a16="http://schemas.microsoft.com/office/drawing/2014/main" id="{779A1C8A-1F66-47F1-8CCC-5EDF09586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086100"/>
            <a:ext cx="51816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说明结论限制</a:t>
            </a:r>
          </a:p>
        </p:txBody>
      </p:sp>
      <p:sp>
        <p:nvSpPr>
          <p:cNvPr id="10" name="s23-text-9">
            <a:extLst xmlns:a="http://schemas.openxmlformats.org/drawingml/2006/main">
              <a:ext uri="{FF2B5EF4-FFF2-40B4-BE49-F238E27FC236}">
                <a16:creationId xmlns:a16="http://schemas.microsoft.com/office/drawing/2014/main" id="{5224D376-C06B-46A4-985E-D58B16E69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52875"/>
            <a:ext cx="51816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“两瓶颜色不同，植物数量也不同。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目前还不能单独判断光照的影响。”</a:t>
            </a:r>
          </a:p>
        </p:txBody>
      </p:sp>
      <p:sp>
        <p:nvSpPr>
          <p:cNvPr id="11" name="s23-footer-10">
            <a:extLst xmlns:a="http://schemas.openxmlformats.org/drawingml/2006/main">
              <a:ext uri="{FF2B5EF4-FFF2-40B4-BE49-F238E27FC236}">
                <a16:creationId xmlns:a16="http://schemas.microsoft.com/office/drawing/2014/main" id="{89B23274-097C-4497-96D8-A3F9BFA78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2" name="s23-footer-11">
            <a:extLst xmlns:a="http://schemas.openxmlformats.org/drawingml/2006/main">
              <a:ext uri="{FF2B5EF4-FFF2-40B4-BE49-F238E27FC236}">
                <a16:creationId xmlns:a16="http://schemas.microsoft.com/office/drawing/2014/main" id="{F4C9E1B6-3B47-476D-BA02-1D18AFEDC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23 / 36</a:t>
            </a:r>
          </a:p>
        </p:txBody>
      </p:sp>
    </p:spTree>
    <p:extLst>
      <p:ext uri="{BB962C8B-B14F-4D97-AF65-F5344CB8AC3E}">
        <p14:creationId xmlns:p14="http://schemas.microsoft.com/office/powerpoint/2010/main" val="1823037252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24-text-0">
            <a:extLst xmlns:a="http://schemas.openxmlformats.org/drawingml/2006/main">
              <a:ext uri="{FF2B5EF4-FFF2-40B4-BE49-F238E27FC236}">
                <a16:creationId xmlns:a16="http://schemas.microsoft.com/office/drawing/2014/main" id="{82327935-AD8F-4D6F-8119-19D4F6D91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教学案例（模拟）· 互动安排的修订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1d600026be46f7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24-title-2">
            <a:extLst xmlns:a="http://schemas.openxmlformats.org/drawingml/2006/main">
              <a:ext uri="{FF2B5EF4-FFF2-40B4-BE49-F238E27FC236}">
                <a16:creationId xmlns:a16="http://schemas.microsoft.com/office/drawing/2014/main" id="{DA3C3E69-F97C-4701-BF12-4C8D4DDBC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教学调整应改变学生处理理由的方式</a:t>
            </a:r>
          </a:p>
        </p:txBody>
      </p:sp>
      <p:sp>
        <p:nvSpPr>
          <p:cNvPr id="4" name="s24-rect-3">
            <a:extLst xmlns:a="http://schemas.openxmlformats.org/drawingml/2006/main">
              <a:ext uri="{FF2B5EF4-FFF2-40B4-BE49-F238E27FC236}">
                <a16:creationId xmlns:a16="http://schemas.microsoft.com/office/drawing/2014/main" id="{34DC1915-407B-425C-A3CB-8334EB1B9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5" name="s24-text-4">
            <a:extLst xmlns:a="http://schemas.openxmlformats.org/drawingml/2006/main">
              <a:ext uri="{FF2B5EF4-FFF2-40B4-BE49-F238E27FC236}">
                <a16:creationId xmlns:a16="http://schemas.microsoft.com/office/drawing/2014/main" id="{02A6B0F9-AA4E-47E4-A33A-F5189FDC4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原有安排</a:t>
            </a:r>
          </a:p>
        </p:txBody>
      </p:sp>
      <p:sp>
        <p:nvSpPr>
          <p:cNvPr id="6" name="s24-text-5">
            <a:extLst xmlns:a="http://schemas.openxmlformats.org/drawingml/2006/main">
              <a:ext uri="{FF2B5EF4-FFF2-40B4-BE49-F238E27FC236}">
                <a16:creationId xmlns:a16="http://schemas.microsoft.com/office/drawing/2014/main" id="{60BBB4B8-4CFA-4129-8C3E-43414384B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114550"/>
            <a:ext cx="74485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AI追加追问，学生快速填写，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组员没有比较各自的回答。</a:t>
            </a:r>
          </a:p>
        </p:txBody>
      </p:sp>
      <p:sp>
        <p:nvSpPr>
          <p:cNvPr id="7" name="s24-rect-6">
            <a:extLst xmlns:a="http://schemas.openxmlformats.org/drawingml/2006/main">
              <a:ext uri="{FF2B5EF4-FFF2-40B4-BE49-F238E27FC236}">
                <a16:creationId xmlns:a16="http://schemas.microsoft.com/office/drawing/2014/main" id="{20B86F3A-C477-4AAB-9A36-F342459C7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1467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8" name="s24-text-7">
            <a:extLst xmlns:a="http://schemas.openxmlformats.org/drawingml/2006/main">
              <a:ext uri="{FF2B5EF4-FFF2-40B4-BE49-F238E27FC236}">
                <a16:creationId xmlns:a16="http://schemas.microsoft.com/office/drawing/2014/main" id="{F11B64D3-76AC-437F-8D55-4696CC871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67075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修订安排</a:t>
            </a:r>
          </a:p>
        </p:txBody>
      </p:sp>
      <p:sp>
        <p:nvSpPr>
          <p:cNvPr id="9" name="s24-text-8">
            <a:extLst xmlns:a="http://schemas.openxmlformats.org/drawingml/2006/main">
              <a:ext uri="{FF2B5EF4-FFF2-40B4-BE49-F238E27FC236}">
                <a16:creationId xmlns:a16="http://schemas.microsoft.com/office/drawing/2014/main" id="{22793C97-55D4-40E5-8744-FD57E2410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267075"/>
            <a:ext cx="74485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两名成员分别提出依据，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再共同决定保留或修改方案。</a:t>
            </a:r>
          </a:p>
        </p:txBody>
      </p:sp>
      <p:sp>
        <p:nvSpPr>
          <p:cNvPr id="10" name="s24-rect-9">
            <a:extLst xmlns:a="http://schemas.openxmlformats.org/drawingml/2006/main">
              <a:ext uri="{FF2B5EF4-FFF2-40B4-BE49-F238E27FC236}">
                <a16:creationId xmlns:a16="http://schemas.microsoft.com/office/drawing/2014/main" id="{2750298B-278A-4373-8C04-E6C30A177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1" name="s24-text-10">
            <a:extLst xmlns:a="http://schemas.openxmlformats.org/drawingml/2006/main">
              <a:ext uri="{FF2B5EF4-FFF2-40B4-BE49-F238E27FC236}">
                <a16:creationId xmlns:a16="http://schemas.microsoft.com/office/drawing/2014/main" id="{FF9C4827-8B55-45FC-85A3-3321E2440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1960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回看重点</a:t>
            </a:r>
          </a:p>
        </p:txBody>
      </p:sp>
      <p:sp>
        <p:nvSpPr>
          <p:cNvPr id="12" name="s24-text-11">
            <a:extLst xmlns:a="http://schemas.openxmlformats.org/drawingml/2006/main">
              <a:ext uri="{FF2B5EF4-FFF2-40B4-BE49-F238E27FC236}">
                <a16:creationId xmlns:a16="http://schemas.microsoft.com/office/drawing/2014/main" id="{9A8CEC66-0CC5-4609-A00A-E87091DEC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419600"/>
            <a:ext cx="74485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哪条理由影响了决定，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其他成员能否解释这一决定。</a:t>
            </a:r>
          </a:p>
        </p:txBody>
      </p:sp>
      <p:sp>
        <p:nvSpPr>
          <p:cNvPr id="13" name="s24-footer-12">
            <a:extLst xmlns:a="http://schemas.openxmlformats.org/drawingml/2006/main">
              <a:ext uri="{FF2B5EF4-FFF2-40B4-BE49-F238E27FC236}">
                <a16:creationId xmlns:a16="http://schemas.microsoft.com/office/drawing/2014/main" id="{2595D32B-1E5E-41F4-B921-3997B6D14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4" name="s24-footer-13">
            <a:extLst xmlns:a="http://schemas.openxmlformats.org/drawingml/2006/main">
              <a:ext uri="{FF2B5EF4-FFF2-40B4-BE49-F238E27FC236}">
                <a16:creationId xmlns:a16="http://schemas.microsoft.com/office/drawing/2014/main" id="{A25105D1-E71F-4E9F-B359-3ACF04956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24 / 36</a:t>
            </a:r>
          </a:p>
        </p:txBody>
      </p:sp>
    </p:spTree>
    <p:extLst>
      <p:ext uri="{BB962C8B-B14F-4D97-AF65-F5344CB8AC3E}">
        <p14:creationId xmlns:p14="http://schemas.microsoft.com/office/powerpoint/2010/main" val="947040965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25-text-0">
            <a:extLst xmlns:a="http://schemas.openxmlformats.org/drawingml/2006/main">
              <a:ext uri="{FF2B5EF4-FFF2-40B4-BE49-F238E27FC236}">
                <a16:creationId xmlns:a16="http://schemas.microsoft.com/office/drawing/2014/main" id="{2088C822-60CC-40F5-8A27-479A9F293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课堂研判 03 · 模拟后续材料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b349f2161c4e48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25-title-2">
            <a:extLst xmlns:a="http://schemas.openxmlformats.org/drawingml/2006/main">
              <a:ext uri="{FF2B5EF4-FFF2-40B4-BE49-F238E27FC236}">
                <a16:creationId xmlns:a16="http://schemas.microsoft.com/office/drawing/2014/main" id="{F847E68C-20B8-48F1-BCBF-B3107BD39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第三次研判：依据后续表现修订支持</a:t>
            </a:r>
          </a:p>
        </p:txBody>
      </p:sp>
      <p:sp>
        <p:nvSpPr>
          <p:cNvPr id="4" name="s25-text-3">
            <a:extLst xmlns:a="http://schemas.openxmlformats.org/drawingml/2006/main">
              <a:ext uri="{FF2B5EF4-FFF2-40B4-BE49-F238E27FC236}">
                <a16:creationId xmlns:a16="http://schemas.microsoft.com/office/drawing/2014/main" id="{29829027-7C05-4D02-BF66-7A363FA86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276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甲组后续表现</a:t>
            </a:r>
          </a:p>
        </p:txBody>
      </p:sp>
      <p:sp>
        <p:nvSpPr>
          <p:cNvPr id="5" name="s25-text-4">
            <a:extLst xmlns:a="http://schemas.openxmlformats.org/drawingml/2006/main">
              <a:ext uri="{FF2B5EF4-FFF2-40B4-BE49-F238E27FC236}">
                <a16:creationId xmlns:a16="http://schemas.microsoft.com/office/drawing/2014/main" id="{9319625A-300F-4418-AD13-FE825EE61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247900"/>
            <a:ext cx="774382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能调整变量并解释理由；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其中一名成员尚未展示个人理解。</a:t>
            </a:r>
          </a:p>
        </p:txBody>
      </p:sp>
      <p:sp>
        <p:nvSpPr>
          <p:cNvPr id="6" name="s25-text-5">
            <a:extLst xmlns:a="http://schemas.openxmlformats.org/drawingml/2006/main">
              <a:ext uri="{FF2B5EF4-FFF2-40B4-BE49-F238E27FC236}">
                <a16:creationId xmlns:a16="http://schemas.microsoft.com/office/drawing/2014/main" id="{FBD9D1E3-98ED-4B4F-9014-137D5F383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00475"/>
            <a:ext cx="276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乙组后续表现</a:t>
            </a:r>
          </a:p>
        </p:txBody>
      </p:sp>
      <p:sp>
        <p:nvSpPr>
          <p:cNvPr id="7" name="s25-text-6">
            <a:extLst xmlns:a="http://schemas.openxmlformats.org/drawingml/2006/main">
              <a:ext uri="{FF2B5EF4-FFF2-40B4-BE49-F238E27FC236}">
                <a16:creationId xmlns:a16="http://schemas.microsoft.com/office/drawing/2014/main" id="{6BD16293-358F-47E2-9FA3-5F781D119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800475"/>
            <a:ext cx="774382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能识别条件差异，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对设计理由仍主要复述同伴。</a:t>
            </a:r>
          </a:p>
        </p:txBody>
      </p:sp>
      <p:sp>
        <p:nvSpPr>
          <p:cNvPr id="8" name="s25-rect-7">
            <a:extLst xmlns:a="http://schemas.openxmlformats.org/drawingml/2006/main">
              <a:ext uri="{FF2B5EF4-FFF2-40B4-BE49-F238E27FC236}">
                <a16:creationId xmlns:a16="http://schemas.microsoft.com/office/drawing/2014/main" id="{4B5E4802-9CB5-4411-84C5-A042FCBBE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9" name="s25-text-8">
            <a:extLst xmlns:a="http://schemas.openxmlformats.org/drawingml/2006/main">
              <a:ext uri="{FF2B5EF4-FFF2-40B4-BE49-F238E27FC236}">
                <a16:creationId xmlns:a16="http://schemas.microsoft.com/office/drawing/2014/main" id="{BB137BD2-8BA7-4BA1-8E47-E3F53F4F2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下一课需个人提交设计说明：如何调整支持，并设定检查点？</a:t>
            </a:r>
          </a:p>
        </p:txBody>
      </p:sp>
      <p:sp>
        <p:nvSpPr>
          <p:cNvPr id="10" name="s25-footer-9">
            <a:extLst xmlns:a="http://schemas.openxmlformats.org/drawingml/2006/main">
              <a:ext uri="{FF2B5EF4-FFF2-40B4-BE49-F238E27FC236}">
                <a16:creationId xmlns:a16="http://schemas.microsoft.com/office/drawing/2014/main" id="{3D98AE83-8F22-48D3-BFCA-9C68FF39C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1" name="s25-footer-10">
            <a:extLst xmlns:a="http://schemas.openxmlformats.org/drawingml/2006/main">
              <a:ext uri="{FF2B5EF4-FFF2-40B4-BE49-F238E27FC236}">
                <a16:creationId xmlns:a16="http://schemas.microsoft.com/office/drawing/2014/main" id="{B26945A3-2A3A-4389-AF0B-1F91CF0C4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25 / 36</a:t>
            </a:r>
          </a:p>
        </p:txBody>
      </p:sp>
    </p:spTree>
    <p:extLst>
      <p:ext uri="{BB962C8B-B14F-4D97-AF65-F5344CB8AC3E}">
        <p14:creationId xmlns:p14="http://schemas.microsoft.com/office/powerpoint/2010/main" val="1051783171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26-text-0">
            <a:extLst xmlns:a="http://schemas.openxmlformats.org/drawingml/2006/main">
              <a:ext uri="{FF2B5EF4-FFF2-40B4-BE49-F238E27FC236}">
                <a16:creationId xmlns:a16="http://schemas.microsoft.com/office/drawing/2014/main" id="{B37467A4-F300-47EE-B7AE-BEC55BD3E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课堂判断与教学调整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fdc714185d470e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26-title-2">
            <a:extLst xmlns:a="http://schemas.openxmlformats.org/drawingml/2006/main">
              <a:ext uri="{FF2B5EF4-FFF2-40B4-BE49-F238E27FC236}">
                <a16:creationId xmlns:a16="http://schemas.microsoft.com/office/drawing/2014/main" id="{5F1EF761-3237-4AF0-BF0B-C7FD191C9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课堂检查可以围绕一个关键判断展开</a:t>
            </a:r>
          </a:p>
        </p:txBody>
      </p:sp>
      <p:sp>
        <p:nvSpPr>
          <p:cNvPr id="4" name="s26-text-3">
            <a:extLst xmlns:a="http://schemas.openxmlformats.org/drawingml/2006/main">
              <a:ext uri="{FF2B5EF4-FFF2-40B4-BE49-F238E27FC236}">
                <a16:creationId xmlns:a16="http://schemas.microsoft.com/office/drawing/2014/main" id="{4D216A4E-7C63-4091-B62E-92ACACCB1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02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以“理解对照设计”为例，选择三类互相补充的观察。</a:t>
            </a:r>
          </a:p>
        </p:txBody>
      </p:sp>
      <p:sp>
        <p:nvSpPr>
          <p:cNvPr id="5" name="s26-rect-4">
            <a:extLst xmlns:a="http://schemas.openxmlformats.org/drawingml/2006/main">
              <a:ext uri="{FF2B5EF4-FFF2-40B4-BE49-F238E27FC236}">
                <a16:creationId xmlns:a16="http://schemas.microsoft.com/office/drawing/2014/main" id="{DD856635-3557-492F-B1B6-5297B919F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38425"/>
            <a:ext cx="108204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7"/>
          </a:solidFill>
          <a:ln xmlns:a="http://schemas.openxmlformats.org/drawingml/2006/main" w="0">
            <a:noFill/>
          </a:ln>
        </p:spPr>
      </p:sp>
      <p:sp>
        <p:nvSpPr>
          <p:cNvPr id="6" name="s26-text-5">
            <a:extLst xmlns:a="http://schemas.openxmlformats.org/drawingml/2006/main">
              <a:ext uri="{FF2B5EF4-FFF2-40B4-BE49-F238E27FC236}">
                <a16:creationId xmlns:a16="http://schemas.microsoft.com/office/drawing/2014/main" id="{0702F034-317A-4E2C-9391-A04011454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14625"/>
            <a:ext cx="2076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检查位置</a:t>
            </a:r>
          </a:p>
        </p:txBody>
      </p:sp>
      <p:sp>
        <p:nvSpPr>
          <p:cNvPr id="7" name="s26-text-6">
            <a:extLst xmlns:a="http://schemas.openxmlformats.org/drawingml/2006/main">
              <a:ext uri="{FF2B5EF4-FFF2-40B4-BE49-F238E27FC236}">
                <a16:creationId xmlns:a16="http://schemas.microsoft.com/office/drawing/2014/main" id="{77D1A97A-23C4-4D28-9B42-0B18D8035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714625"/>
            <a:ext cx="39719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具体做法</a:t>
            </a:r>
          </a:p>
        </p:txBody>
      </p:sp>
      <p:sp>
        <p:nvSpPr>
          <p:cNvPr id="8" name="s26-text-7">
            <a:extLst xmlns:a="http://schemas.openxmlformats.org/drawingml/2006/main">
              <a:ext uri="{FF2B5EF4-FFF2-40B4-BE49-F238E27FC236}">
                <a16:creationId xmlns:a16="http://schemas.microsoft.com/office/drawing/2014/main" id="{72F0EBAB-7701-480C-A4CF-F722CA92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2714625"/>
            <a:ext cx="39719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帮助判断</a:t>
            </a:r>
          </a:p>
        </p:txBody>
      </p:sp>
      <p:sp>
        <p:nvSpPr>
          <p:cNvPr id="9" name="s26-text-8">
            <a:extLst xmlns:a="http://schemas.openxmlformats.org/drawingml/2006/main">
              <a:ext uri="{FF2B5EF4-FFF2-40B4-BE49-F238E27FC236}">
                <a16:creationId xmlns:a16="http://schemas.microsoft.com/office/drawing/2014/main" id="{18D438B2-7BBD-4077-B318-F6923A0FA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76600"/>
            <a:ext cx="20764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当堂解释</a:t>
            </a:r>
          </a:p>
        </p:txBody>
      </p:sp>
      <p:sp>
        <p:nvSpPr>
          <p:cNvPr id="10" name="s26-text-9">
            <a:extLst xmlns:a="http://schemas.openxmlformats.org/drawingml/2006/main">
              <a:ext uri="{FF2B5EF4-FFF2-40B4-BE49-F238E27FC236}">
                <a16:creationId xmlns:a16="http://schemas.microsoft.com/office/drawing/2014/main" id="{10842118-7302-4E2A-AC73-49242804E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276600"/>
            <a:ext cx="39719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请不同成员说明一处条件</a:t>
            </a:r>
          </a:p>
        </p:txBody>
      </p:sp>
      <p:sp>
        <p:nvSpPr>
          <p:cNvPr id="11" name="s26-text-10">
            <a:extLst xmlns:a="http://schemas.openxmlformats.org/drawingml/2006/main">
              <a:ext uri="{FF2B5EF4-FFF2-40B4-BE49-F238E27FC236}">
                <a16:creationId xmlns:a16="http://schemas.microsoft.com/office/drawing/2014/main" id="{211787BB-8440-4822-847A-55F7E3749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3276600"/>
            <a:ext cx="39719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个人理解到哪一步</a:t>
            </a:r>
          </a:p>
        </p:txBody>
      </p:sp>
      <p:sp>
        <p:nvSpPr>
          <p:cNvPr id="12" name="s26-rect-11">
            <a:extLst xmlns:a="http://schemas.openxmlformats.org/drawingml/2006/main">
              <a:ext uri="{FF2B5EF4-FFF2-40B4-BE49-F238E27FC236}">
                <a16:creationId xmlns:a16="http://schemas.microsoft.com/office/drawing/2014/main" id="{3BB40B83-E992-47F3-A120-34C60F72F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3" name="s26-text-12">
            <a:extLst xmlns:a="http://schemas.openxmlformats.org/drawingml/2006/main">
              <a:ext uri="{FF2B5EF4-FFF2-40B4-BE49-F238E27FC236}">
                <a16:creationId xmlns:a16="http://schemas.microsoft.com/office/drawing/2014/main" id="{985CBB70-DE57-41E9-AC13-73891DE27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14800"/>
            <a:ext cx="20764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小组决定</a:t>
            </a:r>
          </a:p>
        </p:txBody>
      </p:sp>
      <p:sp>
        <p:nvSpPr>
          <p:cNvPr id="14" name="s26-text-13">
            <a:extLst xmlns:a="http://schemas.openxmlformats.org/drawingml/2006/main">
              <a:ext uri="{FF2B5EF4-FFF2-40B4-BE49-F238E27FC236}">
                <a16:creationId xmlns:a16="http://schemas.microsoft.com/office/drawing/2014/main" id="{43A47665-A314-442A-9230-7916216D4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114800"/>
            <a:ext cx="39719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对照修改前后的方案</a:t>
            </a:r>
          </a:p>
        </p:txBody>
      </p:sp>
      <p:sp>
        <p:nvSpPr>
          <p:cNvPr id="15" name="s26-text-14">
            <a:extLst xmlns:a="http://schemas.openxmlformats.org/drawingml/2006/main">
              <a:ext uri="{FF2B5EF4-FFF2-40B4-BE49-F238E27FC236}">
                <a16:creationId xmlns:a16="http://schemas.microsoft.com/office/drawing/2014/main" id="{B4B24A9A-5BB8-42F9-B39E-727F0F289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4114800"/>
            <a:ext cx="39719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理由是否影响选择</a:t>
            </a:r>
          </a:p>
        </p:txBody>
      </p:sp>
      <p:sp>
        <p:nvSpPr>
          <p:cNvPr id="16" name="s26-rect-15">
            <a:extLst xmlns:a="http://schemas.openxmlformats.org/drawingml/2006/main">
              <a:ext uri="{FF2B5EF4-FFF2-40B4-BE49-F238E27FC236}">
                <a16:creationId xmlns:a16="http://schemas.microsoft.com/office/drawing/2014/main" id="{FCDFC071-6654-411B-B1DD-35EEEF881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387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7" name="s26-text-16">
            <a:extLst xmlns:a="http://schemas.openxmlformats.org/drawingml/2006/main">
              <a:ext uri="{FF2B5EF4-FFF2-40B4-BE49-F238E27FC236}">
                <a16:creationId xmlns:a16="http://schemas.microsoft.com/office/drawing/2014/main" id="{74783D14-A8F3-42A6-B5D8-D25E575F3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53000"/>
            <a:ext cx="20764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后续运用</a:t>
            </a:r>
          </a:p>
        </p:txBody>
      </p:sp>
      <p:sp>
        <p:nvSpPr>
          <p:cNvPr id="18" name="s26-text-17">
            <a:extLst xmlns:a="http://schemas.openxmlformats.org/drawingml/2006/main">
              <a:ext uri="{FF2B5EF4-FFF2-40B4-BE49-F238E27FC236}">
                <a16:creationId xmlns:a16="http://schemas.microsoft.com/office/drawing/2014/main" id="{3B92AF0C-000F-44E1-8710-41469E7B0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953000"/>
            <a:ext cx="39719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换研究问题，调整方案</a:t>
            </a:r>
          </a:p>
        </p:txBody>
      </p:sp>
      <p:sp>
        <p:nvSpPr>
          <p:cNvPr id="19" name="s26-text-18">
            <a:extLst xmlns:a="http://schemas.openxmlformats.org/drawingml/2006/main">
              <a:ext uri="{FF2B5EF4-FFF2-40B4-BE49-F238E27FC236}">
                <a16:creationId xmlns:a16="http://schemas.microsoft.com/office/drawing/2014/main" id="{DE8C0597-6141-4AB0-8838-CEC09CB35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4953000"/>
            <a:ext cx="39719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能否使用原有理解</a:t>
            </a:r>
          </a:p>
        </p:txBody>
      </p:sp>
      <p:sp>
        <p:nvSpPr>
          <p:cNvPr id="20" name="s26-rect-19">
            <a:extLst xmlns:a="http://schemas.openxmlformats.org/drawingml/2006/main">
              <a:ext uri="{FF2B5EF4-FFF2-40B4-BE49-F238E27FC236}">
                <a16:creationId xmlns:a16="http://schemas.microsoft.com/office/drawing/2014/main" id="{AC64F45B-5AD4-4AF0-AFEF-CB79BD6F5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21" name="s26-rect-20">
            <a:extLst xmlns:a="http://schemas.openxmlformats.org/drawingml/2006/main">
              <a:ext uri="{FF2B5EF4-FFF2-40B4-BE49-F238E27FC236}">
                <a16:creationId xmlns:a16="http://schemas.microsoft.com/office/drawing/2014/main" id="{7538F713-0FFA-4184-9629-6368AF595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22" name="s26-text-21">
            <a:extLst xmlns:a="http://schemas.openxmlformats.org/drawingml/2006/main">
              <a:ext uri="{FF2B5EF4-FFF2-40B4-BE49-F238E27FC236}">
                <a16:creationId xmlns:a16="http://schemas.microsoft.com/office/drawing/2014/main" id="{5AD1929A-DA1A-4DB1-8FD1-0283AC4A6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记录应服务于下一次教学选择，并允许学生以多种方式表达。</a:t>
            </a:r>
          </a:p>
        </p:txBody>
      </p:sp>
      <p:sp>
        <p:nvSpPr>
          <p:cNvPr id="23" name="s26-footer-22">
            <a:extLst xmlns:a="http://schemas.openxmlformats.org/drawingml/2006/main">
              <a:ext uri="{FF2B5EF4-FFF2-40B4-BE49-F238E27FC236}">
                <a16:creationId xmlns:a16="http://schemas.microsoft.com/office/drawing/2014/main" id="{A27D6553-FFB0-455C-8676-76A7C9E3F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24" name="s26-footer-23">
            <a:extLst xmlns:a="http://schemas.openxmlformats.org/drawingml/2006/main">
              <a:ext uri="{FF2B5EF4-FFF2-40B4-BE49-F238E27FC236}">
                <a16:creationId xmlns:a16="http://schemas.microsoft.com/office/drawing/2014/main" id="{9710344E-1638-4A5B-BB36-CA3017709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26 / 36</a:t>
            </a:r>
          </a:p>
        </p:txBody>
      </p:sp>
    </p:spTree>
    <p:extLst>
      <p:ext uri="{BB962C8B-B14F-4D97-AF65-F5344CB8AC3E}">
        <p14:creationId xmlns:p14="http://schemas.microsoft.com/office/powerpoint/2010/main" val="667582865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27-text-0">
            <a:extLst xmlns:a="http://schemas.openxmlformats.org/drawingml/2006/main">
              <a:ext uri="{FF2B5EF4-FFF2-40B4-BE49-F238E27FC236}">
                <a16:creationId xmlns:a16="http://schemas.microsoft.com/office/drawing/2014/main" id="{6E4C2898-D524-454F-915D-5ED3B9EB4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实证研究 · 高中数学课堂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24057dca794564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27-title-2">
            <a:extLst xmlns:a="http://schemas.openxmlformats.org/drawingml/2006/main">
              <a:ext uri="{FF2B5EF4-FFF2-40B4-BE49-F238E27FC236}">
                <a16:creationId xmlns:a16="http://schemas.microsoft.com/office/drawing/2014/main" id="{35506510-D3D9-4291-A3EE-4D1402BA0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AI支持下的练习收益需要后续检验</a:t>
            </a:r>
          </a:p>
        </p:txBody>
      </p:sp>
      <p:sp>
        <p:nvSpPr>
          <p:cNvPr id="4" name="s27-text-3">
            <a:extLst xmlns:a="http://schemas.openxmlformats.org/drawingml/2006/main">
              <a:ext uri="{FF2B5EF4-FFF2-40B4-BE49-F238E27FC236}">
                <a16:creationId xmlns:a16="http://schemas.microsoft.com/office/drawing/2014/main" id="{247D7F21-18D4-46DF-8935-8B7C3B29C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76425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Bastani等（2025）比较不同AI支持方式及后续测验表现。</a:t>
            </a:r>
          </a:p>
        </p:txBody>
      </p:sp>
      <p:sp>
        <p:nvSpPr>
          <p:cNvPr id="5" name="s27-rect-4">
            <a:extLst xmlns:a="http://schemas.openxmlformats.org/drawingml/2006/main">
              <a:ext uri="{FF2B5EF4-FFF2-40B4-BE49-F238E27FC236}">
                <a16:creationId xmlns:a16="http://schemas.microsoft.com/office/drawing/2014/main" id="{7820E248-A0C7-4401-8BC9-FCB14EAC1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6" name="s27-text-5">
            <a:extLst xmlns:a="http://schemas.openxmlformats.org/drawingml/2006/main">
              <a:ext uri="{FF2B5EF4-FFF2-40B4-BE49-F238E27FC236}">
                <a16:creationId xmlns:a16="http://schemas.microsoft.com/office/drawing/2014/main" id="{B92F9797-8D9F-4A50-81BE-65ABC5658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有AI练习</a:t>
            </a:r>
          </a:p>
        </p:txBody>
      </p:sp>
      <p:sp>
        <p:nvSpPr>
          <p:cNvPr id="7" name="s27-text-6">
            <a:extLst xmlns:a="http://schemas.openxmlformats.org/drawingml/2006/main">
              <a:ext uri="{FF2B5EF4-FFF2-40B4-BE49-F238E27FC236}">
                <a16:creationId xmlns:a16="http://schemas.microsoft.com/office/drawing/2014/main" id="{E4EF70E7-B1D6-48F4-BA1A-2A77EE98E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两种AI设计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均提高练习表现</a:t>
            </a:r>
          </a:p>
        </p:txBody>
      </p:sp>
      <p:sp>
        <p:nvSpPr>
          <p:cNvPr id="8" name="s27-rect-7">
            <a:extLst xmlns:a="http://schemas.openxmlformats.org/drawingml/2006/main">
              <a:ext uri="{FF2B5EF4-FFF2-40B4-BE49-F238E27FC236}">
                <a16:creationId xmlns:a16="http://schemas.microsoft.com/office/drawing/2014/main" id="{356281F3-D811-4CD3-817C-831C0CC17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9" name="s27-text-8">
            <a:extLst xmlns:a="http://schemas.openxmlformats.org/drawingml/2006/main">
              <a:ext uri="{FF2B5EF4-FFF2-40B4-BE49-F238E27FC236}">
                <a16:creationId xmlns:a16="http://schemas.microsoft.com/office/drawing/2014/main" id="{9AB0209B-5C1B-46F3-83A0-ED040D65D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无AI后续测验</a:t>
            </a:r>
          </a:p>
        </p:txBody>
      </p:sp>
      <p:sp>
        <p:nvSpPr>
          <p:cNvPr id="10" name="s27-text-9">
            <a:extLst xmlns:a="http://schemas.openxmlformats.org/drawingml/2006/main">
              <a:ext uri="{FF2B5EF4-FFF2-40B4-BE49-F238E27FC236}">
                <a16:creationId xmlns:a16="http://schemas.microsoft.com/office/drawing/2014/main" id="{C5DEA309-8A42-456C-94F7-9A67EBFDB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普通聊天组低于对照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教学保护设计减轻不利结果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未显示显著正向收益</a:t>
            </a:r>
          </a:p>
        </p:txBody>
      </p:sp>
      <p:sp>
        <p:nvSpPr>
          <p:cNvPr id="11" name="s27-rect-10">
            <a:extLst xmlns:a="http://schemas.openxmlformats.org/drawingml/2006/main">
              <a:ext uri="{FF2B5EF4-FFF2-40B4-BE49-F238E27FC236}">
                <a16:creationId xmlns:a16="http://schemas.microsoft.com/office/drawing/2014/main" id="{7880A850-6B53-44DE-B3DD-375CCE889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2" name="s27-text-11">
            <a:extLst xmlns:a="http://schemas.openxmlformats.org/drawingml/2006/main">
              <a:ext uri="{FF2B5EF4-FFF2-40B4-BE49-F238E27FC236}">
                <a16:creationId xmlns:a16="http://schemas.microsoft.com/office/drawing/2014/main" id="{12BEFDAC-5213-4937-B382-FDFBD7173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教学启示</a:t>
            </a:r>
          </a:p>
        </p:txBody>
      </p:sp>
      <p:sp>
        <p:nvSpPr>
          <p:cNvPr id="13" name="s27-text-12">
            <a:extLst xmlns:a="http://schemas.openxmlformats.org/drawingml/2006/main">
              <a:ext uri="{FF2B5EF4-FFF2-40B4-BE49-F238E27FC236}">
                <a16:creationId xmlns:a16="http://schemas.microsoft.com/office/drawing/2014/main" id="{D365A97F-73D4-4001-B1BC-43AEB6DC0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同时考察支持方式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以及改变支持条件后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学生能够完成的工作</a:t>
            </a:r>
          </a:p>
        </p:txBody>
      </p:sp>
      <p:sp>
        <p:nvSpPr>
          <p:cNvPr id="14" name="s27-footer-13">
            <a:extLst xmlns:a="http://schemas.openxmlformats.org/drawingml/2006/main">
              <a:ext uri="{FF2B5EF4-FFF2-40B4-BE49-F238E27FC236}">
                <a16:creationId xmlns:a16="http://schemas.microsoft.com/office/drawing/2014/main" id="{004A37F1-EA60-4984-B3F6-28A47F21B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Bastani et al., 2025 · PNAS</a:t>
            </a:r>
          </a:p>
        </p:txBody>
      </p:sp>
      <p:sp>
        <p:nvSpPr>
          <p:cNvPr id="15" name="s27-footer-14">
            <a:extLst xmlns:a="http://schemas.openxmlformats.org/drawingml/2006/main">
              <a:ext uri="{FF2B5EF4-FFF2-40B4-BE49-F238E27FC236}">
                <a16:creationId xmlns:a16="http://schemas.microsoft.com/office/drawing/2014/main" id="{839A97A9-665D-41B8-9804-814B0A958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27 / 36</a:t>
            </a:r>
          </a:p>
        </p:txBody>
      </p:sp>
    </p:spTree>
    <p:extLst>
      <p:ext uri="{BB962C8B-B14F-4D97-AF65-F5344CB8AC3E}">
        <p14:creationId xmlns:p14="http://schemas.microsoft.com/office/powerpoint/2010/main" val="1535474155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28-text-0">
            <a:extLst xmlns:a="http://schemas.openxmlformats.org/drawingml/2006/main">
              <a:ext uri="{FF2B5EF4-FFF2-40B4-BE49-F238E27FC236}">
                <a16:creationId xmlns:a16="http://schemas.microsoft.com/office/drawing/2014/main" id="{CC5DA063-693B-4ACE-A3AE-393B7402D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课堂判断与教学调整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182c3a11324e91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28-title-2">
            <a:extLst xmlns:a="http://schemas.openxmlformats.org/drawingml/2006/main">
              <a:ext uri="{FF2B5EF4-FFF2-40B4-BE49-F238E27FC236}">
                <a16:creationId xmlns:a16="http://schemas.microsoft.com/office/drawing/2014/main" id="{6BBEED86-AA1F-464D-944A-AA1A51FDE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个人理解与人机合作需要匹配的评价</a:t>
            </a:r>
          </a:p>
        </p:txBody>
      </p:sp>
      <p:sp>
        <p:nvSpPr>
          <p:cNvPr id="4" name="s28-text-3">
            <a:extLst xmlns:a="http://schemas.openxmlformats.org/drawingml/2006/main">
              <a:ext uri="{FF2B5EF4-FFF2-40B4-BE49-F238E27FC236}">
                <a16:creationId xmlns:a16="http://schemas.microsoft.com/office/drawing/2014/main" id="{00DAB2C4-7427-47D3-9F0A-6ACA85440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76425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评价任务应与预期的发展目标一致。</a:t>
            </a:r>
          </a:p>
        </p:txBody>
      </p:sp>
      <p:sp>
        <p:nvSpPr>
          <p:cNvPr id="5" name="s28-rect-4">
            <a:extLst xmlns:a="http://schemas.openxmlformats.org/drawingml/2006/main">
              <a:ext uri="{FF2B5EF4-FFF2-40B4-BE49-F238E27FC236}">
                <a16:creationId xmlns:a16="http://schemas.microsoft.com/office/drawing/2014/main" id="{E1B22D0B-76C3-4516-B8BB-178B58747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5181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6" name="s28-text-5">
            <a:extLst xmlns:a="http://schemas.openxmlformats.org/drawingml/2006/main">
              <a:ext uri="{FF2B5EF4-FFF2-40B4-BE49-F238E27FC236}">
                <a16:creationId xmlns:a16="http://schemas.microsoft.com/office/drawing/2014/main" id="{1FC1A65C-F7BD-4559-80FA-C732CE3B9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86100"/>
            <a:ext cx="51816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个人理解</a:t>
            </a:r>
          </a:p>
        </p:txBody>
      </p:sp>
      <p:sp>
        <p:nvSpPr>
          <p:cNvPr id="7" name="s28-text-6">
            <a:extLst xmlns:a="http://schemas.openxmlformats.org/drawingml/2006/main">
              <a:ext uri="{FF2B5EF4-FFF2-40B4-BE49-F238E27FC236}">
                <a16:creationId xmlns:a16="http://schemas.microsoft.com/office/drawing/2014/main" id="{73044496-24D0-45D4-9F87-BD88A7CC4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52875"/>
            <a:ext cx="51816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改变条件后解释原理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选择方法并修订方案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说明尚不能判断的部分</a:t>
            </a:r>
          </a:p>
        </p:txBody>
      </p:sp>
      <p:sp>
        <p:nvSpPr>
          <p:cNvPr id="8" name="s28-rect-7">
            <a:extLst xmlns:a="http://schemas.openxmlformats.org/drawingml/2006/main">
              <a:ext uri="{FF2B5EF4-FFF2-40B4-BE49-F238E27FC236}">
                <a16:creationId xmlns:a16="http://schemas.microsoft.com/office/drawing/2014/main" id="{92CCD451-E0E5-4D54-BEF8-F8CEF2C02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876550"/>
            <a:ext cx="5181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9" name="s28-text-8">
            <a:extLst xmlns:a="http://schemas.openxmlformats.org/drawingml/2006/main">
              <a:ext uri="{FF2B5EF4-FFF2-40B4-BE49-F238E27FC236}">
                <a16:creationId xmlns:a16="http://schemas.microsoft.com/office/drawing/2014/main" id="{779A1C8A-1F66-47F1-8CCC-5EDF09586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086100"/>
            <a:ext cx="51816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人机合作</a:t>
            </a:r>
          </a:p>
        </p:txBody>
      </p:sp>
      <p:sp>
        <p:nvSpPr>
          <p:cNvPr id="10" name="s28-text-9">
            <a:extLst xmlns:a="http://schemas.openxmlformats.org/drawingml/2006/main">
              <a:ext uri="{FF2B5EF4-FFF2-40B4-BE49-F238E27FC236}">
                <a16:creationId xmlns:a16="http://schemas.microsoft.com/office/drawing/2014/main" id="{5224D376-C06B-46A4-985E-D58B16E69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52875"/>
            <a:ext cx="51816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提出可探究的问题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核查并组织不同贡献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据此推进共同任务</a:t>
            </a:r>
          </a:p>
        </p:txBody>
      </p:sp>
      <p:sp>
        <p:nvSpPr>
          <p:cNvPr id="11" name="s28-footer-10">
            <a:extLst xmlns:a="http://schemas.openxmlformats.org/drawingml/2006/main">
              <a:ext uri="{FF2B5EF4-FFF2-40B4-BE49-F238E27FC236}">
                <a16:creationId xmlns:a16="http://schemas.microsoft.com/office/drawing/2014/main" id="{89B23274-097C-4497-96D8-A3F9BFA78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2" name="s28-footer-11">
            <a:extLst xmlns:a="http://schemas.openxmlformats.org/drawingml/2006/main">
              <a:ext uri="{FF2B5EF4-FFF2-40B4-BE49-F238E27FC236}">
                <a16:creationId xmlns:a16="http://schemas.microsoft.com/office/drawing/2014/main" id="{F4C9E1B6-3B47-476D-BA02-1D18AFEDC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28 / 36</a:t>
            </a:r>
          </a:p>
        </p:txBody>
      </p:sp>
    </p:spTree>
    <p:extLst>
      <p:ext uri="{BB962C8B-B14F-4D97-AF65-F5344CB8AC3E}">
        <p14:creationId xmlns:p14="http://schemas.microsoft.com/office/powerpoint/2010/main" val="1823037252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29-text-0">
            <a:extLst xmlns:a="http://schemas.openxmlformats.org/drawingml/2006/main">
              <a:ext uri="{FF2B5EF4-FFF2-40B4-BE49-F238E27FC236}">
                <a16:creationId xmlns:a16="http://schemas.microsoft.com/office/drawing/2014/main" id="{10647033-B564-4E09-BBE6-AC1C7C569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教师发展与教学实践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921b019eb043c5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29-title-2">
            <a:extLst xmlns:a="http://schemas.openxmlformats.org/drawingml/2006/main">
              <a:ext uri="{FF2B5EF4-FFF2-40B4-BE49-F238E27FC236}">
                <a16:creationId xmlns:a16="http://schemas.microsoft.com/office/drawing/2014/main" id="{7384A8EB-C679-4C6B-B54A-B25B297A5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学习机会需要落实到不同学生</a:t>
            </a:r>
          </a:p>
        </p:txBody>
      </p:sp>
      <p:sp>
        <p:nvSpPr>
          <p:cNvPr id="4" name="s29-text-3">
            <a:extLst xmlns:a="http://schemas.openxmlformats.org/drawingml/2006/main">
              <a:ext uri="{FF2B5EF4-FFF2-40B4-BE49-F238E27FC236}">
                <a16:creationId xmlns:a16="http://schemas.microsoft.com/office/drawing/2014/main" id="{F165B632-3D64-46EF-A7E2-331589AE3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76425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共同任务应为不同起点的学生提供参与和发展的路径。</a:t>
            </a:r>
          </a:p>
        </p:txBody>
      </p:sp>
      <p:sp>
        <p:nvSpPr>
          <p:cNvPr id="5" name="s29-rect-4">
            <a:extLst xmlns:a="http://schemas.openxmlformats.org/drawingml/2006/main">
              <a:ext uri="{FF2B5EF4-FFF2-40B4-BE49-F238E27FC236}">
                <a16:creationId xmlns:a16="http://schemas.microsoft.com/office/drawing/2014/main" id="{2EAD8571-3080-4C92-BB8C-C90997343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6" name="s29-text-5">
            <a:extLst xmlns:a="http://schemas.openxmlformats.org/drawingml/2006/main">
              <a:ext uri="{FF2B5EF4-FFF2-40B4-BE49-F238E27FC236}">
                <a16:creationId xmlns:a16="http://schemas.microsoft.com/office/drawing/2014/main" id="{17ABA2D4-818D-4FDF-A42A-F82DDA60D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参与入口</a:t>
            </a:r>
          </a:p>
        </p:txBody>
      </p:sp>
      <p:sp>
        <p:nvSpPr>
          <p:cNvPr id="7" name="s29-text-6">
            <a:extLst xmlns:a="http://schemas.openxmlformats.org/drawingml/2006/main">
              <a:ext uri="{FF2B5EF4-FFF2-40B4-BE49-F238E27FC236}">
                <a16:creationId xmlns:a16="http://schemas.microsoft.com/office/drawing/2014/main" id="{0E1C5E4B-4DED-42A6-A7CC-8DA443DE4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提供表达与阅读支持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使学生能够进入讨论</a:t>
            </a:r>
          </a:p>
        </p:txBody>
      </p:sp>
      <p:sp>
        <p:nvSpPr>
          <p:cNvPr id="8" name="s29-rect-7">
            <a:extLst xmlns:a="http://schemas.openxmlformats.org/drawingml/2006/main">
              <a:ext uri="{FF2B5EF4-FFF2-40B4-BE49-F238E27FC236}">
                <a16:creationId xmlns:a16="http://schemas.microsoft.com/office/drawing/2014/main" id="{80412BCE-D9B4-4F64-A458-743867CF1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9" name="s29-text-8">
            <a:extLst xmlns:a="http://schemas.openxmlformats.org/drawingml/2006/main">
              <a:ext uri="{FF2B5EF4-FFF2-40B4-BE49-F238E27FC236}">
                <a16:creationId xmlns:a16="http://schemas.microsoft.com/office/drawing/2014/main" id="{168A1921-E207-40A2-817F-983F724B9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判断空间</a:t>
            </a:r>
          </a:p>
        </p:txBody>
      </p:sp>
      <p:sp>
        <p:nvSpPr>
          <p:cNvPr id="10" name="s29-text-9">
            <a:extLst xmlns:a="http://schemas.openxmlformats.org/drawingml/2006/main">
              <a:ext uri="{FF2B5EF4-FFF2-40B4-BE49-F238E27FC236}">
                <a16:creationId xmlns:a16="http://schemas.microsoft.com/office/drawing/2014/main" id="{E7E1FD02-EF19-4106-9EC5-F07E21577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保留提出异议的机会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允许有依据地改变方案</a:t>
            </a:r>
          </a:p>
        </p:txBody>
      </p:sp>
      <p:sp>
        <p:nvSpPr>
          <p:cNvPr id="11" name="s29-rect-10">
            <a:extLst xmlns:a="http://schemas.openxmlformats.org/drawingml/2006/main">
              <a:ext uri="{FF2B5EF4-FFF2-40B4-BE49-F238E27FC236}">
                <a16:creationId xmlns:a16="http://schemas.microsoft.com/office/drawing/2014/main" id="{EA3CA2B6-9F2E-4D76-92FF-29D1F0D8D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2" name="s29-text-11">
            <a:extLst xmlns:a="http://schemas.openxmlformats.org/drawingml/2006/main">
              <a:ext uri="{FF2B5EF4-FFF2-40B4-BE49-F238E27FC236}">
                <a16:creationId xmlns:a16="http://schemas.microsoft.com/office/drawing/2014/main" id="{46825E5E-851B-4BF3-9626-EB1533F72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个人理解</a:t>
            </a:r>
          </a:p>
        </p:txBody>
      </p:sp>
      <p:sp>
        <p:nvSpPr>
          <p:cNvPr id="13" name="s29-text-12">
            <a:extLst xmlns:a="http://schemas.openxmlformats.org/drawingml/2006/main">
              <a:ext uri="{FF2B5EF4-FFF2-40B4-BE49-F238E27FC236}">
                <a16:creationId xmlns:a16="http://schemas.microsoft.com/office/drawing/2014/main" id="{EE6E7378-92A7-4475-A8B3-A9865CC87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在关键决定上分别回应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结合口述、图示与操作</a:t>
            </a:r>
          </a:p>
        </p:txBody>
      </p:sp>
      <p:sp>
        <p:nvSpPr>
          <p:cNvPr id="14" name="s29-rect-13">
            <a:extLst xmlns:a="http://schemas.openxmlformats.org/drawingml/2006/main">
              <a:ext uri="{FF2B5EF4-FFF2-40B4-BE49-F238E27FC236}">
                <a16:creationId xmlns:a16="http://schemas.microsoft.com/office/drawing/2014/main" id="{8903F5A3-2F05-41EE-AE36-287C3C28D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5" name="s29-text-14">
            <a:extLst xmlns:a="http://schemas.openxmlformats.org/drawingml/2006/main">
              <a:ext uri="{FF2B5EF4-FFF2-40B4-BE49-F238E27FC236}">
                <a16:creationId xmlns:a16="http://schemas.microsoft.com/office/drawing/2014/main" id="{C3EC0A93-21F7-4A60-93C6-807F23F63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教学设计同时检查：谁获得支持，谁能够影响决定。</a:t>
            </a:r>
          </a:p>
        </p:txBody>
      </p:sp>
      <p:sp>
        <p:nvSpPr>
          <p:cNvPr id="16" name="s29-footer-15">
            <a:extLst xmlns:a="http://schemas.openxmlformats.org/drawingml/2006/main">
              <a:ext uri="{FF2B5EF4-FFF2-40B4-BE49-F238E27FC236}">
                <a16:creationId xmlns:a16="http://schemas.microsoft.com/office/drawing/2014/main" id="{EEBDD086-F6C1-49C3-9027-5884FAC23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7" name="s29-footer-16">
            <a:extLst xmlns:a="http://schemas.openxmlformats.org/drawingml/2006/main">
              <a:ext uri="{FF2B5EF4-FFF2-40B4-BE49-F238E27FC236}">
                <a16:creationId xmlns:a16="http://schemas.microsoft.com/office/drawing/2014/main" id="{C21CCB04-8AF0-4DF9-B865-9FC508122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29 / 36</a:t>
            </a:r>
          </a:p>
        </p:txBody>
      </p:sp>
    </p:spTree>
    <p:extLst>
      <p:ext uri="{BB962C8B-B14F-4D97-AF65-F5344CB8AC3E}">
        <p14:creationId xmlns:p14="http://schemas.microsoft.com/office/powerpoint/2010/main" val="708993027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30-text-0">
            <a:extLst xmlns:a="http://schemas.openxmlformats.org/drawingml/2006/main">
              <a:ext uri="{FF2B5EF4-FFF2-40B4-BE49-F238E27FC236}">
                <a16:creationId xmlns:a16="http://schemas.microsoft.com/office/drawing/2014/main" id="{1FEB3973-6D36-435B-B13E-2F256ED27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教师发展与教学实践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d10041fbe2480c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30-title-2">
            <a:extLst xmlns:a="http://schemas.openxmlformats.org/drawingml/2006/main">
              <a:ext uri="{FF2B5EF4-FFF2-40B4-BE49-F238E27FC236}">
                <a16:creationId xmlns:a16="http://schemas.microsoft.com/office/drawing/2014/main" id="{8E5F6896-7803-42E7-A897-D9AB0714D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AI备课应促进教师形成更有依据的判断</a:t>
            </a:r>
          </a:p>
        </p:txBody>
      </p:sp>
      <p:sp>
        <p:nvSpPr>
          <p:cNvPr id="4" name="s30-text-3">
            <a:extLst xmlns:a="http://schemas.openxmlformats.org/drawingml/2006/main">
              <a:ext uri="{FF2B5EF4-FFF2-40B4-BE49-F238E27FC236}">
                <a16:creationId xmlns:a16="http://schemas.microsoft.com/office/drawing/2014/main" id="{4F27D12C-EB6B-4966-A0AA-D16794623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76425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以学生实际困难为依据，比较方案、实施检查并修订解释。</a:t>
            </a:r>
          </a:p>
        </p:txBody>
      </p:sp>
      <p:sp>
        <p:nvSpPr>
          <p:cNvPr id="5" name="s30-rect-4">
            <a:extLst xmlns:a="http://schemas.openxmlformats.org/drawingml/2006/main">
              <a:ext uri="{FF2B5EF4-FFF2-40B4-BE49-F238E27FC236}">
                <a16:creationId xmlns:a16="http://schemas.microsoft.com/office/drawing/2014/main" id="{F0C22CC4-09DE-4057-BA26-5F11F1FE8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6" name="s30-text-5">
            <a:extLst xmlns:a="http://schemas.openxmlformats.org/drawingml/2006/main">
              <a:ext uri="{FF2B5EF4-FFF2-40B4-BE49-F238E27FC236}">
                <a16:creationId xmlns:a16="http://schemas.microsoft.com/office/drawing/2014/main" id="{84F5EDE9-10C7-408D-B3D7-65910AFC7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比较教学方案</a:t>
            </a:r>
          </a:p>
        </p:txBody>
      </p:sp>
      <p:sp>
        <p:nvSpPr>
          <p:cNvPr id="7" name="s30-text-6">
            <a:extLst xmlns:a="http://schemas.openxmlformats.org/drawingml/2006/main">
              <a:ext uri="{FF2B5EF4-FFF2-40B4-BE49-F238E27FC236}">
                <a16:creationId xmlns:a16="http://schemas.microsoft.com/office/drawing/2014/main" id="{FCE76EE2-FC8D-4271-B847-2304FB585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借AI形成备选安排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说明各自适用条件</a:t>
            </a:r>
          </a:p>
        </p:txBody>
      </p:sp>
      <p:sp>
        <p:nvSpPr>
          <p:cNvPr id="8" name="s30-rect-7">
            <a:extLst xmlns:a="http://schemas.openxmlformats.org/drawingml/2006/main">
              <a:ext uri="{FF2B5EF4-FFF2-40B4-BE49-F238E27FC236}">
                <a16:creationId xmlns:a16="http://schemas.microsoft.com/office/drawing/2014/main" id="{E066AE9B-6A72-4232-9C60-BF6DE7DFD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9" name="s30-text-8">
            <a:extLst xmlns:a="http://schemas.openxmlformats.org/drawingml/2006/main">
              <a:ext uri="{FF2B5EF4-FFF2-40B4-BE49-F238E27FC236}">
                <a16:creationId xmlns:a16="http://schemas.microsoft.com/office/drawing/2014/main" id="{4CEC4F3D-79CE-460F-A397-0B45DCB42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核对学生材料</a:t>
            </a:r>
          </a:p>
        </p:txBody>
      </p:sp>
      <p:sp>
        <p:nvSpPr>
          <p:cNvPr id="10" name="s30-text-9">
            <a:extLst xmlns:a="http://schemas.openxmlformats.org/drawingml/2006/main">
              <a:ext uri="{FF2B5EF4-FFF2-40B4-BE49-F238E27FC236}">
                <a16:creationId xmlns:a16="http://schemas.microsoft.com/office/drawing/2014/main" id="{53CB79ED-F408-46A2-9EB9-C3F3B05BE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回看原话与原始作品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检查困难判断是否准确</a:t>
            </a:r>
          </a:p>
        </p:txBody>
      </p:sp>
      <p:sp>
        <p:nvSpPr>
          <p:cNvPr id="11" name="s30-rect-10">
            <a:extLst xmlns:a="http://schemas.openxmlformats.org/drawingml/2006/main">
              <a:ext uri="{FF2B5EF4-FFF2-40B4-BE49-F238E27FC236}">
                <a16:creationId xmlns:a16="http://schemas.microsoft.com/office/drawing/2014/main" id="{A9C506B5-C5E3-4E4E-ABF5-51F6574BF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2" name="s30-text-11">
            <a:extLst xmlns:a="http://schemas.openxmlformats.org/drawingml/2006/main">
              <a:ext uri="{FF2B5EF4-FFF2-40B4-BE49-F238E27FC236}">
                <a16:creationId xmlns:a16="http://schemas.microsoft.com/office/drawing/2014/main" id="{D6C2FF83-3B6A-413E-9E8F-36AF38007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积累判断经验</a:t>
            </a:r>
          </a:p>
        </p:txBody>
      </p:sp>
      <p:sp>
        <p:nvSpPr>
          <p:cNvPr id="13" name="s30-text-12">
            <a:extLst xmlns:a="http://schemas.openxmlformats.org/drawingml/2006/main">
              <a:ext uri="{FF2B5EF4-FFF2-40B4-BE49-F238E27FC236}">
                <a16:creationId xmlns:a16="http://schemas.microsoft.com/office/drawing/2014/main" id="{2F6CE622-B064-4C77-B9D5-DAAC9D3C6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记录采纳与修改理由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在新班级或任务中再检验</a:t>
            </a:r>
          </a:p>
        </p:txBody>
      </p:sp>
      <p:sp>
        <p:nvSpPr>
          <p:cNvPr id="14" name="s30-footer-13">
            <a:extLst xmlns:a="http://schemas.openxmlformats.org/drawingml/2006/main">
              <a:ext uri="{FF2B5EF4-FFF2-40B4-BE49-F238E27FC236}">
                <a16:creationId xmlns:a16="http://schemas.microsoft.com/office/drawing/2014/main" id="{20037B83-760A-4E59-8EF8-23A75C3D6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Miao &amp; Cukurova, 2024 · UNESCO；Sun et al., 2026 · C&amp;E: AI</a:t>
            </a:r>
          </a:p>
        </p:txBody>
      </p:sp>
      <p:sp>
        <p:nvSpPr>
          <p:cNvPr id="15" name="s30-footer-14">
            <a:extLst xmlns:a="http://schemas.openxmlformats.org/drawingml/2006/main">
              <a:ext uri="{FF2B5EF4-FFF2-40B4-BE49-F238E27FC236}">
                <a16:creationId xmlns:a16="http://schemas.microsoft.com/office/drawing/2014/main" id="{ADB9DB9A-0ED0-41BF-8241-45439DDA0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30 / 36</a:t>
            </a:r>
          </a:p>
        </p:txBody>
      </p:sp>
    </p:spTree>
    <p:extLst>
      <p:ext uri="{BB962C8B-B14F-4D97-AF65-F5344CB8AC3E}">
        <p14:creationId xmlns:p14="http://schemas.microsoft.com/office/powerpoint/2010/main" val="946850370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31-text-0">
            <a:extLst xmlns:a="http://schemas.openxmlformats.org/drawingml/2006/main">
              <a:ext uri="{FF2B5EF4-FFF2-40B4-BE49-F238E27FC236}">
                <a16:creationId xmlns:a16="http://schemas.microsoft.com/office/drawing/2014/main" id="{1C16075C-B937-4658-9129-20D442381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教师发展与教学实践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a1621dfa604669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31-title-2">
            <a:extLst xmlns:a="http://schemas.openxmlformats.org/drawingml/2006/main">
              <a:ext uri="{FF2B5EF4-FFF2-40B4-BE49-F238E27FC236}">
                <a16:creationId xmlns:a16="http://schemas.microsoft.com/office/drawing/2014/main" id="{FE3E7759-14C1-4CE5-B068-165B5DBA1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五项设计判断：以生态瓶课堂为例</a:t>
            </a:r>
          </a:p>
        </p:txBody>
      </p:sp>
      <p:sp>
        <p:nvSpPr>
          <p:cNvPr id="4" name="s31-rect-3">
            <a:extLst xmlns:a="http://schemas.openxmlformats.org/drawingml/2006/main">
              <a:ext uri="{FF2B5EF4-FFF2-40B4-BE49-F238E27FC236}">
                <a16:creationId xmlns:a16="http://schemas.microsoft.com/office/drawing/2014/main" id="{D3193C6C-D19C-410E-A227-4218E07DD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5" name="s31-text-4">
            <a:extLst xmlns:a="http://schemas.openxmlformats.org/drawingml/2006/main">
              <a:ext uri="{FF2B5EF4-FFF2-40B4-BE49-F238E27FC236}">
                <a16:creationId xmlns:a16="http://schemas.microsoft.com/office/drawing/2014/main" id="{069FBFB6-12EE-4162-8A47-3FDF66646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01 发展目标</a:t>
            </a:r>
          </a:p>
        </p:txBody>
      </p:sp>
      <p:sp>
        <p:nvSpPr>
          <p:cNvPr id="6" name="s31-text-5">
            <a:extLst xmlns:a="http://schemas.openxmlformats.org/drawingml/2006/main">
              <a:ext uri="{FF2B5EF4-FFF2-40B4-BE49-F238E27FC236}">
                <a16:creationId xmlns:a16="http://schemas.microsoft.com/office/drawing/2014/main" id="{F0F97296-3379-4438-9392-01CC8E07A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114550"/>
            <a:ext cx="74485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能够解释对照设计的理由。</a:t>
            </a:r>
          </a:p>
        </p:txBody>
      </p:sp>
      <p:sp>
        <p:nvSpPr>
          <p:cNvPr id="7" name="s31-rect-6">
            <a:extLst xmlns:a="http://schemas.openxmlformats.org/drawingml/2006/main">
              <a:ext uri="{FF2B5EF4-FFF2-40B4-BE49-F238E27FC236}">
                <a16:creationId xmlns:a16="http://schemas.microsoft.com/office/drawing/2014/main" id="{1D77F30C-2BFE-4B6F-AA26-04BC94418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765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8" name="s31-text-7">
            <a:extLst xmlns:a="http://schemas.openxmlformats.org/drawingml/2006/main">
              <a:ext uri="{FF2B5EF4-FFF2-40B4-BE49-F238E27FC236}">
                <a16:creationId xmlns:a16="http://schemas.microsoft.com/office/drawing/2014/main" id="{91B211DA-7FB3-4984-BCEA-83AA53C9B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28925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02 关键活动</a:t>
            </a:r>
          </a:p>
        </p:txBody>
      </p:sp>
      <p:sp>
        <p:nvSpPr>
          <p:cNvPr id="9" name="s31-text-8">
            <a:extLst xmlns:a="http://schemas.openxmlformats.org/drawingml/2006/main">
              <a:ext uri="{FF2B5EF4-FFF2-40B4-BE49-F238E27FC236}">
                <a16:creationId xmlns:a16="http://schemas.microsoft.com/office/drawing/2014/main" id="{13604CBA-D35E-4E4D-A239-36414E553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828925"/>
            <a:ext cx="74485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比较条件差异，说明其对结论的影响。</a:t>
            </a:r>
          </a:p>
        </p:txBody>
      </p:sp>
      <p:sp>
        <p:nvSpPr>
          <p:cNvPr id="10" name="s31-rect-9">
            <a:extLst xmlns:a="http://schemas.openxmlformats.org/drawingml/2006/main">
              <a:ext uri="{FF2B5EF4-FFF2-40B4-BE49-F238E27FC236}">
                <a16:creationId xmlns:a16="http://schemas.microsoft.com/office/drawing/2014/main" id="{1BE68478-658C-4A75-A9FF-84B1C74B2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90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1" name="s31-text-10">
            <a:extLst xmlns:a="http://schemas.openxmlformats.org/drawingml/2006/main">
              <a:ext uri="{FF2B5EF4-FFF2-40B4-BE49-F238E27FC236}">
                <a16:creationId xmlns:a16="http://schemas.microsoft.com/office/drawing/2014/main" id="{48107141-2525-4378-B1A4-34B2E8914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4330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03 工作安排</a:t>
            </a:r>
          </a:p>
        </p:txBody>
      </p:sp>
      <p:sp>
        <p:nvSpPr>
          <p:cNvPr id="12" name="s31-text-11">
            <a:extLst xmlns:a="http://schemas.openxmlformats.org/drawingml/2006/main">
              <a:ext uri="{FF2B5EF4-FFF2-40B4-BE49-F238E27FC236}">
                <a16:creationId xmlns:a16="http://schemas.microsoft.com/office/drawing/2014/main" id="{C4B8FA09-C3C5-4BBA-AF84-1DE27D370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543300"/>
            <a:ext cx="74485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AI提供备选，学生依据条件作出取舍。</a:t>
            </a:r>
          </a:p>
        </p:txBody>
      </p:sp>
      <p:sp>
        <p:nvSpPr>
          <p:cNvPr id="13" name="s31-rect-12">
            <a:extLst xmlns:a="http://schemas.openxmlformats.org/drawingml/2006/main">
              <a:ext uri="{FF2B5EF4-FFF2-40B4-BE49-F238E27FC236}">
                <a16:creationId xmlns:a16="http://schemas.microsoft.com/office/drawing/2014/main" id="{E74DCEF7-1939-4C17-AA24-532ACA495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0527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4" name="s31-text-13">
            <a:extLst xmlns:a="http://schemas.openxmlformats.org/drawingml/2006/main">
              <a:ext uri="{FF2B5EF4-FFF2-40B4-BE49-F238E27FC236}">
                <a16:creationId xmlns:a16="http://schemas.microsoft.com/office/drawing/2014/main" id="{DA1B40DF-DE34-4B2E-AAFC-A20DDEAD9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57675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04 参与机会</a:t>
            </a:r>
          </a:p>
        </p:txBody>
      </p:sp>
      <p:sp>
        <p:nvSpPr>
          <p:cNvPr id="15" name="s31-text-14">
            <a:extLst xmlns:a="http://schemas.openxmlformats.org/drawingml/2006/main">
              <a:ext uri="{FF2B5EF4-FFF2-40B4-BE49-F238E27FC236}">
                <a16:creationId xmlns:a16="http://schemas.microsoft.com/office/drawing/2014/main" id="{E4E3EA53-A55E-4718-869A-3B3F2F9CC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257675"/>
            <a:ext cx="74485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不同成员分别解释，再形成小组决定。</a:t>
            </a:r>
          </a:p>
        </p:txBody>
      </p:sp>
      <p:sp>
        <p:nvSpPr>
          <p:cNvPr id="16" name="s31-rect-15">
            <a:extLst xmlns:a="http://schemas.openxmlformats.org/drawingml/2006/main">
              <a:ext uri="{FF2B5EF4-FFF2-40B4-BE49-F238E27FC236}">
                <a16:creationId xmlns:a16="http://schemas.microsoft.com/office/drawing/2014/main" id="{AB374E53-297F-41E7-A44D-858F4FEF8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96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7" name="s31-text-16">
            <a:extLst xmlns:a="http://schemas.openxmlformats.org/drawingml/2006/main">
              <a:ext uri="{FF2B5EF4-FFF2-40B4-BE49-F238E27FC236}">
                <a16:creationId xmlns:a16="http://schemas.microsoft.com/office/drawing/2014/main" id="{AF736026-2DA7-4115-8C44-FFF023438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7205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05 调整依据</a:t>
            </a:r>
          </a:p>
        </p:txBody>
      </p:sp>
      <p:sp>
        <p:nvSpPr>
          <p:cNvPr id="18" name="s31-text-17">
            <a:extLst xmlns:a="http://schemas.openxmlformats.org/drawingml/2006/main">
              <a:ext uri="{FF2B5EF4-FFF2-40B4-BE49-F238E27FC236}">
                <a16:creationId xmlns:a16="http://schemas.microsoft.com/office/drawing/2014/main" id="{45AF7D28-0350-4A34-B6CF-F0A783D62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972050"/>
            <a:ext cx="74485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会识别但不会解释时，补充对照示范。</a:t>
            </a:r>
          </a:p>
        </p:txBody>
      </p:sp>
      <p:sp>
        <p:nvSpPr>
          <p:cNvPr id="19" name="s31-footer-18">
            <a:extLst xmlns:a="http://schemas.openxmlformats.org/drawingml/2006/main">
              <a:ext uri="{FF2B5EF4-FFF2-40B4-BE49-F238E27FC236}">
                <a16:creationId xmlns:a16="http://schemas.microsoft.com/office/drawing/2014/main" id="{2B831F5F-F8E4-49CA-982D-49D5FE7EF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20" name="s31-footer-19">
            <a:extLst xmlns:a="http://schemas.openxmlformats.org/drawingml/2006/main">
              <a:ext uri="{FF2B5EF4-FFF2-40B4-BE49-F238E27FC236}">
                <a16:creationId xmlns:a16="http://schemas.microsoft.com/office/drawing/2014/main" id="{0D4BB752-07C4-4C49-A7B0-596D48A2D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31 / 36</a:t>
            </a:r>
          </a:p>
        </p:txBody>
      </p:sp>
    </p:spTree>
    <p:extLst>
      <p:ext uri="{BB962C8B-B14F-4D97-AF65-F5344CB8AC3E}">
        <p14:creationId xmlns:p14="http://schemas.microsoft.com/office/powerpoint/2010/main" val="495777859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32-text-0">
            <a:extLst xmlns:a="http://schemas.openxmlformats.org/drawingml/2006/main">
              <a:ext uri="{FF2B5EF4-FFF2-40B4-BE49-F238E27FC236}">
                <a16:creationId xmlns:a16="http://schemas.microsoft.com/office/drawing/2014/main" id="{058DF99E-D44A-4492-BE4E-D20088D3E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教师发展与教学实践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4f5d6a00624c45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32-title-2">
            <a:extLst xmlns:a="http://schemas.openxmlformats.org/drawingml/2006/main">
              <a:ext uri="{FF2B5EF4-FFF2-40B4-BE49-F238E27FC236}">
                <a16:creationId xmlns:a16="http://schemas.microsoft.com/office/drawing/2014/main" id="{F76DAEED-498B-418D-9029-2627B9C9F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设计练习：修订一个关键教学环节</a:t>
            </a:r>
          </a:p>
        </p:txBody>
      </p:sp>
      <p:sp>
        <p:nvSpPr>
          <p:cNvPr id="4" name="s32-text-3">
            <a:extLst xmlns:a="http://schemas.openxmlformats.org/drawingml/2006/main">
              <a:ext uri="{FF2B5EF4-FFF2-40B4-BE49-F238E27FC236}">
                <a16:creationId xmlns:a16="http://schemas.microsoft.com/office/drawing/2014/main" id="{517DF98C-1F7A-41CA-B9F2-40019F7A2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276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明确目标</a:t>
            </a:r>
          </a:p>
        </p:txBody>
      </p:sp>
      <p:sp>
        <p:nvSpPr>
          <p:cNvPr id="5" name="s32-text-4">
            <a:extLst xmlns:a="http://schemas.openxmlformats.org/drawingml/2006/main">
              <a:ext uri="{FF2B5EF4-FFF2-40B4-BE49-F238E27FC236}">
                <a16:creationId xmlns:a16="http://schemas.microsoft.com/office/drawing/2014/main" id="{8540E526-003F-4154-A6E4-9F77857D5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247900"/>
            <a:ext cx="774382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选定一项具体能力，以及学生需要经历的关键活动。</a:t>
            </a:r>
          </a:p>
        </p:txBody>
      </p:sp>
      <p:sp>
        <p:nvSpPr>
          <p:cNvPr id="6" name="s32-text-5">
            <a:extLst xmlns:a="http://schemas.openxmlformats.org/drawingml/2006/main">
              <a:ext uri="{FF2B5EF4-FFF2-40B4-BE49-F238E27FC236}">
                <a16:creationId xmlns:a16="http://schemas.microsoft.com/office/drawing/2014/main" id="{BB410363-B2FD-42B5-916E-89AE05FA9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52800"/>
            <a:ext cx="276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安排参与</a:t>
            </a:r>
          </a:p>
        </p:txBody>
      </p:sp>
      <p:sp>
        <p:nvSpPr>
          <p:cNvPr id="7" name="s32-text-6">
            <a:extLst xmlns:a="http://schemas.openxmlformats.org/drawingml/2006/main">
              <a:ext uri="{FF2B5EF4-FFF2-40B4-BE49-F238E27FC236}">
                <a16:creationId xmlns:a16="http://schemas.microsoft.com/office/drawing/2014/main" id="{D4572587-50C6-4E8E-8EF2-DBC7A6021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352800"/>
            <a:ext cx="774382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明确AI、学生与同伴的工作，调整一处分工或顺序。</a:t>
            </a:r>
          </a:p>
        </p:txBody>
      </p:sp>
      <p:sp>
        <p:nvSpPr>
          <p:cNvPr id="8" name="s32-text-7">
            <a:extLst xmlns:a="http://schemas.openxmlformats.org/drawingml/2006/main">
              <a:ext uri="{FF2B5EF4-FFF2-40B4-BE49-F238E27FC236}">
                <a16:creationId xmlns:a16="http://schemas.microsoft.com/office/drawing/2014/main" id="{493FAF78-C3A7-4269-B9EF-6BCE4019C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276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设定检查</a:t>
            </a:r>
          </a:p>
        </p:txBody>
      </p:sp>
      <p:sp>
        <p:nvSpPr>
          <p:cNvPr id="9" name="s32-text-8">
            <a:extLst xmlns:a="http://schemas.openxmlformats.org/drawingml/2006/main">
              <a:ext uri="{FF2B5EF4-FFF2-40B4-BE49-F238E27FC236}">
                <a16:creationId xmlns:a16="http://schemas.microsoft.com/office/drawing/2014/main" id="{214BFE58-1A2A-4798-AA3B-D19B69B1C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4457700"/>
            <a:ext cx="774382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说明预期表现，以及出现何种情况时需要改变支持。</a:t>
            </a:r>
          </a:p>
        </p:txBody>
      </p:sp>
      <p:sp>
        <p:nvSpPr>
          <p:cNvPr id="10" name="s32-rect-9">
            <a:extLst xmlns:a="http://schemas.openxmlformats.org/drawingml/2006/main">
              <a:ext uri="{FF2B5EF4-FFF2-40B4-BE49-F238E27FC236}">
                <a16:creationId xmlns:a16="http://schemas.microsoft.com/office/drawing/2014/main" id="{E5D45FBF-08E6-4B57-9CFC-233A0CFEB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1" name="s32-text-10">
            <a:extLst xmlns:a="http://schemas.openxmlformats.org/drawingml/2006/main">
              <a:ext uri="{FF2B5EF4-FFF2-40B4-BE49-F238E27FC236}">
                <a16:creationId xmlns:a16="http://schemas.microsoft.com/office/drawing/2014/main" id="{99DA6FA5-7A34-429A-8895-E2FD56757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练习成果：一个可以实施、有判断依据的教学改动。</a:t>
            </a:r>
          </a:p>
        </p:txBody>
      </p:sp>
      <p:sp>
        <p:nvSpPr>
          <p:cNvPr id="12" name="s32-footer-11">
            <a:extLst xmlns:a="http://schemas.openxmlformats.org/drawingml/2006/main">
              <a:ext uri="{FF2B5EF4-FFF2-40B4-BE49-F238E27FC236}">
                <a16:creationId xmlns:a16="http://schemas.microsoft.com/office/drawing/2014/main" id="{1B3ABA51-E5E1-43D5-88E7-74F117D31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3" name="s32-footer-12">
            <a:extLst xmlns:a="http://schemas.openxmlformats.org/drawingml/2006/main">
              <a:ext uri="{FF2B5EF4-FFF2-40B4-BE49-F238E27FC236}">
                <a16:creationId xmlns:a16="http://schemas.microsoft.com/office/drawing/2014/main" id="{A83EC00E-3A46-4537-A97E-749B55D42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32 / 36</a:t>
            </a:r>
          </a:p>
        </p:txBody>
      </p:sp>
    </p:spTree>
    <p:extLst>
      <p:ext uri="{BB962C8B-B14F-4D97-AF65-F5344CB8AC3E}">
        <p14:creationId xmlns:p14="http://schemas.microsoft.com/office/powerpoint/2010/main" val="835018589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33-text-0">
            <a:extLst xmlns:a="http://schemas.openxmlformats.org/drawingml/2006/main">
              <a:ext uri="{FF2B5EF4-FFF2-40B4-BE49-F238E27FC236}">
                <a16:creationId xmlns:a16="http://schemas.microsoft.com/office/drawing/2014/main" id="{AF93656C-9507-493B-B8D8-B53A1D0A2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教师发展与教学实践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d3bfb0ed1b43ed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33-title-2">
            <a:extLst xmlns:a="http://schemas.openxmlformats.org/drawingml/2006/main">
              <a:ext uri="{FF2B5EF4-FFF2-40B4-BE49-F238E27FC236}">
                <a16:creationId xmlns:a16="http://schemas.microsoft.com/office/drawing/2014/main" id="{C2A67347-7A24-4C67-AAD1-743F2B323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教研支持应围绕共同的学习问题组织</a:t>
            </a:r>
          </a:p>
        </p:txBody>
      </p:sp>
      <p:sp>
        <p:nvSpPr>
          <p:cNvPr id="4" name="s33-rect-3">
            <a:extLst xmlns:a="http://schemas.openxmlformats.org/drawingml/2006/main">
              <a:ext uri="{FF2B5EF4-FFF2-40B4-BE49-F238E27FC236}">
                <a16:creationId xmlns:a16="http://schemas.microsoft.com/office/drawing/2014/main" id="{971BCD2B-4C30-4173-BB0E-1CD63A227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95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5" name="s33-text-4">
            <a:extLst xmlns:a="http://schemas.openxmlformats.org/drawingml/2006/main">
              <a:ext uri="{FF2B5EF4-FFF2-40B4-BE49-F238E27FC236}">
                <a16:creationId xmlns:a16="http://schemas.microsoft.com/office/drawing/2014/main" id="{825E25D3-08D5-4C6E-B66D-92A14775C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共同确定问题</a:t>
            </a:r>
          </a:p>
        </p:txBody>
      </p:sp>
      <p:sp>
        <p:nvSpPr>
          <p:cNvPr id="6" name="s33-text-5">
            <a:extLst xmlns:a="http://schemas.openxmlformats.org/drawingml/2006/main">
              <a:ext uri="{FF2B5EF4-FFF2-40B4-BE49-F238E27FC236}">
                <a16:creationId xmlns:a16="http://schemas.microsoft.com/office/drawing/2014/main" id="{FEC73B70-B739-406E-90E6-62D920E17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71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选择一个学习目标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明确需要改进的环节</a:t>
            </a:r>
          </a:p>
        </p:txBody>
      </p:sp>
      <p:sp>
        <p:nvSpPr>
          <p:cNvPr id="7" name="s33-rect-6">
            <a:extLst xmlns:a="http://schemas.openxmlformats.org/drawingml/2006/main">
              <a:ext uri="{FF2B5EF4-FFF2-40B4-BE49-F238E27FC236}">
                <a16:creationId xmlns:a16="http://schemas.microsoft.com/office/drawing/2014/main" id="{B44726EF-B29C-4950-AE8E-AB144A5E5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2495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8" name="s33-text-7">
            <a:extLst xmlns:a="http://schemas.openxmlformats.org/drawingml/2006/main">
              <a:ext uri="{FF2B5EF4-FFF2-40B4-BE49-F238E27FC236}">
                <a16:creationId xmlns:a16="http://schemas.microsoft.com/office/drawing/2014/main" id="{9EB113FC-20D0-49AF-A0A0-F2BD0952F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2705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共同分析课堂</a:t>
            </a:r>
          </a:p>
        </p:txBody>
      </p:sp>
      <p:sp>
        <p:nvSpPr>
          <p:cNvPr id="9" name="s33-text-8">
            <a:extLst xmlns:a="http://schemas.openxmlformats.org/drawingml/2006/main">
              <a:ext uri="{FF2B5EF4-FFF2-40B4-BE49-F238E27FC236}">
                <a16:creationId xmlns:a16="http://schemas.microsoft.com/office/drawing/2014/main" id="{EA9EE856-56F3-4E00-912F-8D5E81269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3571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回看少量典型材料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比较不同学生的经历</a:t>
            </a:r>
          </a:p>
        </p:txBody>
      </p:sp>
      <p:sp>
        <p:nvSpPr>
          <p:cNvPr id="10" name="s33-rect-9">
            <a:extLst xmlns:a="http://schemas.openxmlformats.org/drawingml/2006/main">
              <a:ext uri="{FF2B5EF4-FFF2-40B4-BE49-F238E27FC236}">
                <a16:creationId xmlns:a16="http://schemas.microsoft.com/office/drawing/2014/main" id="{496C43C7-089F-4C7F-AEF4-2DD70ED2A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2495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1" name="s33-text-10">
            <a:extLst xmlns:a="http://schemas.openxmlformats.org/drawingml/2006/main">
              <a:ext uri="{FF2B5EF4-FFF2-40B4-BE49-F238E27FC236}">
                <a16:creationId xmlns:a16="http://schemas.microsoft.com/office/drawing/2014/main" id="{51B01B5A-9E65-4ADB-B36F-DFB152440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2705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共同修订设计</a:t>
            </a:r>
          </a:p>
        </p:txBody>
      </p:sp>
      <p:sp>
        <p:nvSpPr>
          <p:cNvPr id="12" name="s33-text-11">
            <a:extLst xmlns:a="http://schemas.openxmlformats.org/drawingml/2006/main">
              <a:ext uri="{FF2B5EF4-FFF2-40B4-BE49-F238E27FC236}">
                <a16:creationId xmlns:a16="http://schemas.microsoft.com/office/drawing/2014/main" id="{7BF0E2AD-5340-41E1-ACBB-3F3B93F91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571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说明下一轮的改动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约定观察与复盘时间</a:t>
            </a:r>
          </a:p>
        </p:txBody>
      </p:sp>
      <p:sp>
        <p:nvSpPr>
          <p:cNvPr id="13" name="s33-footer-12">
            <a:extLst xmlns:a="http://schemas.openxmlformats.org/drawingml/2006/main">
              <a:ext uri="{FF2B5EF4-FFF2-40B4-BE49-F238E27FC236}">
                <a16:creationId xmlns:a16="http://schemas.microsoft.com/office/drawing/2014/main" id="{2E2DEB87-5A4A-4277-BAB3-9CBC0125F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4" name="s33-footer-13">
            <a:extLst xmlns:a="http://schemas.openxmlformats.org/drawingml/2006/main">
              <a:ext uri="{FF2B5EF4-FFF2-40B4-BE49-F238E27FC236}">
                <a16:creationId xmlns:a16="http://schemas.microsoft.com/office/drawing/2014/main" id="{D14E83C9-9C82-4958-9970-C426A7C64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33 / 36</a:t>
            </a:r>
          </a:p>
        </p:txBody>
      </p:sp>
    </p:spTree>
    <p:extLst>
      <p:ext uri="{BB962C8B-B14F-4D97-AF65-F5344CB8AC3E}">
        <p14:creationId xmlns:p14="http://schemas.microsoft.com/office/powerpoint/2010/main" val="453567682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34-text-0">
            <a:extLst xmlns:a="http://schemas.openxmlformats.org/drawingml/2006/main">
              <a:ext uri="{FF2B5EF4-FFF2-40B4-BE49-F238E27FC236}">
                <a16:creationId xmlns:a16="http://schemas.microsoft.com/office/drawing/2014/main" id="{AF93656C-9507-493B-B8D8-B53A1D0A2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教师发展与教学实践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9b567b435440aa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34-title-2">
            <a:extLst xmlns:a="http://schemas.openxmlformats.org/drawingml/2006/main">
              <a:ext uri="{FF2B5EF4-FFF2-40B4-BE49-F238E27FC236}">
                <a16:creationId xmlns:a16="http://schemas.microsoft.com/office/drawing/2014/main" id="{C2A67347-7A24-4C67-AAD1-743F2B323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教师的专业判断贯穿目标、参与与调整</a:t>
            </a:r>
          </a:p>
        </p:txBody>
      </p:sp>
      <p:sp>
        <p:nvSpPr>
          <p:cNvPr id="4" name="s34-rect-3">
            <a:extLst xmlns:a="http://schemas.openxmlformats.org/drawingml/2006/main">
              <a:ext uri="{FF2B5EF4-FFF2-40B4-BE49-F238E27FC236}">
                <a16:creationId xmlns:a16="http://schemas.microsoft.com/office/drawing/2014/main" id="{971BCD2B-4C30-4173-BB0E-1CD63A227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95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5" name="s34-text-4">
            <a:extLst xmlns:a="http://schemas.openxmlformats.org/drawingml/2006/main">
              <a:ext uri="{FF2B5EF4-FFF2-40B4-BE49-F238E27FC236}">
                <a16:creationId xmlns:a16="http://schemas.microsoft.com/office/drawing/2014/main" id="{825E25D3-08D5-4C6E-B66D-92A14775C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确定教育目标</a:t>
            </a:r>
          </a:p>
        </p:txBody>
      </p:sp>
      <p:sp>
        <p:nvSpPr>
          <p:cNvPr id="6" name="s34-text-5">
            <a:extLst xmlns:a="http://schemas.openxmlformats.org/drawingml/2006/main">
              <a:ext uri="{FF2B5EF4-FFF2-40B4-BE49-F238E27FC236}">
                <a16:creationId xmlns:a16="http://schemas.microsoft.com/office/drawing/2014/main" id="{FEC73B70-B739-406E-90E6-62D920E17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71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说明值得发展的理解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及其对学生的意义</a:t>
            </a:r>
          </a:p>
        </p:txBody>
      </p:sp>
      <p:sp>
        <p:nvSpPr>
          <p:cNvPr id="7" name="s34-rect-6">
            <a:extLst xmlns:a="http://schemas.openxmlformats.org/drawingml/2006/main">
              <a:ext uri="{FF2B5EF4-FFF2-40B4-BE49-F238E27FC236}">
                <a16:creationId xmlns:a16="http://schemas.microsoft.com/office/drawing/2014/main" id="{B44726EF-B29C-4950-AE8E-AB144A5E5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2495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8" name="s34-text-7">
            <a:extLst xmlns:a="http://schemas.openxmlformats.org/drawingml/2006/main">
              <a:ext uri="{FF2B5EF4-FFF2-40B4-BE49-F238E27FC236}">
                <a16:creationId xmlns:a16="http://schemas.microsoft.com/office/drawing/2014/main" id="{9EB113FC-20D0-49AF-A0A0-F2BD0952F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2705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组织学习机会</a:t>
            </a:r>
          </a:p>
        </p:txBody>
      </p:sp>
      <p:sp>
        <p:nvSpPr>
          <p:cNvPr id="9" name="s34-text-8">
            <a:extLst xmlns:a="http://schemas.openxmlformats.org/drawingml/2006/main">
              <a:ext uri="{FF2B5EF4-FFF2-40B4-BE49-F238E27FC236}">
                <a16:creationId xmlns:a16="http://schemas.microsoft.com/office/drawing/2014/main" id="{EA9EE856-56F3-4E00-912F-8D5E81269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3571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安排工作与决定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使学生进入关键活动</a:t>
            </a:r>
          </a:p>
        </p:txBody>
      </p:sp>
      <p:sp>
        <p:nvSpPr>
          <p:cNvPr id="10" name="s34-rect-9">
            <a:extLst xmlns:a="http://schemas.openxmlformats.org/drawingml/2006/main">
              <a:ext uri="{FF2B5EF4-FFF2-40B4-BE49-F238E27FC236}">
                <a16:creationId xmlns:a16="http://schemas.microsoft.com/office/drawing/2014/main" id="{496C43C7-089F-4C7F-AEF4-2DD70ED2A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2495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1" name="s34-text-10">
            <a:extLst xmlns:a="http://schemas.openxmlformats.org/drawingml/2006/main">
              <a:ext uri="{FF2B5EF4-FFF2-40B4-BE49-F238E27FC236}">
                <a16:creationId xmlns:a16="http://schemas.microsoft.com/office/drawing/2014/main" id="{51B01B5A-9E65-4ADB-B36F-DFB152440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2705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修订教学支持</a:t>
            </a:r>
          </a:p>
        </p:txBody>
      </p:sp>
      <p:sp>
        <p:nvSpPr>
          <p:cNvPr id="12" name="s34-text-11">
            <a:extLst xmlns:a="http://schemas.openxmlformats.org/drawingml/2006/main">
              <a:ext uri="{FF2B5EF4-FFF2-40B4-BE49-F238E27FC236}">
                <a16:creationId xmlns:a16="http://schemas.microsoft.com/office/drawing/2014/main" id="{7BF0E2AD-5340-41E1-ACBB-3F3B93F91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571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依据已有表现采取行动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在新证据出现时调整</a:t>
            </a:r>
          </a:p>
        </p:txBody>
      </p:sp>
      <p:sp>
        <p:nvSpPr>
          <p:cNvPr id="13" name="s34-footer-12">
            <a:extLst xmlns:a="http://schemas.openxmlformats.org/drawingml/2006/main">
              <a:ext uri="{FF2B5EF4-FFF2-40B4-BE49-F238E27FC236}">
                <a16:creationId xmlns:a16="http://schemas.microsoft.com/office/drawing/2014/main" id="{2E2DEB87-5A4A-4277-BAB3-9CBC0125F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4" name="s34-footer-13">
            <a:extLst xmlns:a="http://schemas.openxmlformats.org/drawingml/2006/main">
              <a:ext uri="{FF2B5EF4-FFF2-40B4-BE49-F238E27FC236}">
                <a16:creationId xmlns:a16="http://schemas.microsoft.com/office/drawing/2014/main" id="{D14E83C9-9C82-4958-9970-C426A7C64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34 / 36</a:t>
            </a:r>
          </a:p>
        </p:txBody>
      </p:sp>
    </p:spTree>
    <p:extLst>
      <p:ext uri="{BB962C8B-B14F-4D97-AF65-F5344CB8AC3E}">
        <p14:creationId xmlns:p14="http://schemas.microsoft.com/office/powerpoint/2010/main" val="453567682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678827e83048cb"/>
          <a:stretch xmlns:a="http://schemas.openxmlformats.org/drawingml/2006/main"/>
        </p:blipFill>
        <p:spPr>
          <a:xfrm xmlns:a="http://schemas.openxmlformats.org/drawingml/2006/main">
            <a:off x="685800" y="454581"/>
            <a:ext cx="1762125" cy="405289"/>
          </a:xfrm>
          <a:prstGeom xmlns:a="http://schemas.openxmlformats.org/drawingml/2006/main" prst="rect">
            <a:avLst/>
          </a:prstGeom>
        </p:spPr>
      </p:pic>
      <p:sp>
        <p:nvSpPr>
          <p:cNvPr id="2" name="s35-text-1">
            <a:extLst xmlns:a="http://schemas.openxmlformats.org/drawingml/2006/main">
              <a:ext uri="{FF2B5EF4-FFF2-40B4-BE49-F238E27FC236}">
                <a16:creationId xmlns:a16="http://schemas.microsoft.com/office/drawing/2014/main" id="{37232008-608A-443E-B075-81C5DB85F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8572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把问题带回课堂</a:t>
            </a:r>
          </a:p>
        </p:txBody>
      </p:sp>
      <p:sp>
        <p:nvSpPr>
          <p:cNvPr id="3" name="s35-text-2">
            <a:extLst xmlns:a="http://schemas.openxmlformats.org/drawingml/2006/main">
              <a:ext uri="{FF2B5EF4-FFF2-40B4-BE49-F238E27FC236}">
                <a16:creationId xmlns:a16="http://schemas.microsoft.com/office/drawing/2014/main" id="{F1214633-C359-44C1-8884-22D7FEF26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108204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57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57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教育要成就什么？</a:t>
            </a:r>
          </a:p>
        </p:txBody>
      </p:sp>
      <p:sp>
        <p:nvSpPr>
          <p:cNvPr id="4" name="s35-text-3">
            <a:extLst xmlns:a="http://schemas.openxmlformats.org/drawingml/2006/main">
              <a:ext uri="{FF2B5EF4-FFF2-40B4-BE49-F238E27FC236}">
                <a16:creationId xmlns:a16="http://schemas.microsoft.com/office/drawing/2014/main" id="{6FF071B1-9303-4247-BCE5-17348224B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90925"/>
            <a:ext cx="9810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50000"/>
              </a:lnSpc>
              <a:buNone/>
              <a:defRPr sz="255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发展学生的理解与判断，</a:t>
            </a:r>
          </a:p>
          <a:p xmlns:a="http://schemas.openxmlformats.org/drawingml/2006/main">
            <a:pPr algn="l">
              <a:lnSpc>
                <a:spcPct val="150000"/>
              </a:lnSpc>
              <a:buNone/>
              <a:defRPr sz="255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支持自主行动，并拓展与他人共同实践的能力。</a:t>
            </a:r>
          </a:p>
        </p:txBody>
      </p:sp>
      <p:sp>
        <p:nvSpPr>
          <p:cNvPr id="5" name="s35-rect-4">
            <a:extLst xmlns:a="http://schemas.openxmlformats.org/drawingml/2006/main">
              <a:ext uri="{FF2B5EF4-FFF2-40B4-BE49-F238E27FC236}">
                <a16:creationId xmlns:a16="http://schemas.microsoft.com/office/drawing/2014/main" id="{E7E37024-C736-452E-96E8-68247F579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673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6" name="s35-text-5">
            <a:extLst xmlns:a="http://schemas.openxmlformats.org/drawingml/2006/main">
              <a:ext uri="{FF2B5EF4-FFF2-40B4-BE49-F238E27FC236}">
                <a16:creationId xmlns:a16="http://schemas.microsoft.com/office/drawing/2014/main" id="{A33C9233-A027-4AA6-8DD1-6AC2869F6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43525"/>
            <a:ext cx="10572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以明确的教育目标，组织值得经历的学习。</a:t>
            </a:r>
          </a:p>
        </p:txBody>
      </p:sp>
      <p:sp>
        <p:nvSpPr>
          <p:cNvPr id="7" name="s35-footer-6">
            <a:extLst xmlns:a="http://schemas.openxmlformats.org/drawingml/2006/main">
              <a:ext uri="{FF2B5EF4-FFF2-40B4-BE49-F238E27FC236}">
                <a16:creationId xmlns:a16="http://schemas.microsoft.com/office/drawing/2014/main" id="{486443E2-B796-4488-9A4E-59A9328B6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8" name="s35-footer-7">
            <a:extLst xmlns:a="http://schemas.openxmlformats.org/drawingml/2006/main">
              <a:ext uri="{FF2B5EF4-FFF2-40B4-BE49-F238E27FC236}">
                <a16:creationId xmlns:a16="http://schemas.microsoft.com/office/drawing/2014/main" id="{3348782C-7AC0-4680-B0D9-756A6592A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35 / 36</a:t>
            </a:r>
          </a:p>
        </p:txBody>
      </p:sp>
    </p:spTree>
    <p:extLst>
      <p:ext uri="{BB962C8B-B14F-4D97-AF65-F5344CB8AC3E}">
        <p14:creationId xmlns:p14="http://schemas.microsoft.com/office/powerpoint/2010/main" val="1761765769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36-text-0">
            <a:extLst xmlns:a="http://schemas.openxmlformats.org/drawingml/2006/main">
              <a:ext uri="{FF2B5EF4-FFF2-40B4-BE49-F238E27FC236}">
                <a16:creationId xmlns:a16="http://schemas.microsoft.com/office/drawing/2014/main" id="{7E21DB5B-6368-4C09-B3BF-2903E4585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教师发展与教学实践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0719931b704ff4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36-title-2">
            <a:extLst xmlns:a="http://schemas.openxmlformats.org/drawingml/2006/main">
              <a:ext uri="{FF2B5EF4-FFF2-40B4-BE49-F238E27FC236}">
                <a16:creationId xmlns:a16="http://schemas.microsoft.com/office/drawing/2014/main" id="{087B9D1F-6C45-46F0-ADB5-E21AF3D2B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参考文献与延伸阅读</a:t>
            </a:r>
          </a:p>
        </p:txBody>
      </p:sp>
      <p:sp>
        <p:nvSpPr>
          <p:cNvPr id="4" name="s36-rect-3">
            <a:extLst xmlns:a="http://schemas.openxmlformats.org/drawingml/2006/main">
              <a:ext uri="{FF2B5EF4-FFF2-40B4-BE49-F238E27FC236}">
                <a16:creationId xmlns:a16="http://schemas.microsoft.com/office/drawing/2014/main" id="{8BC692E0-1145-436A-B364-FE81D4006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5" name="s36-text-4">
            <a:extLst xmlns:a="http://schemas.openxmlformats.org/drawingml/2006/main">
              <a:ext uri="{FF2B5EF4-FFF2-40B4-BE49-F238E27FC236}">
                <a16:creationId xmlns:a16="http://schemas.microsoft.com/office/drawing/2014/main" id="{2DE2D2EE-93C3-428D-8780-1F785359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05025"/>
            <a:ext cx="3219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Cukurova · 2025</a:t>
            </a:r>
          </a:p>
        </p:txBody>
      </p:sp>
      <p:sp>
        <p:nvSpPr>
          <p:cNvPr id="6" name="s36-text-5">
            <a:extLst xmlns:a="http://schemas.openxmlformats.org/drawingml/2006/main">
              <a:ext uri="{FF2B5EF4-FFF2-40B4-BE49-F238E27FC236}">
                <a16:creationId xmlns:a16="http://schemas.microsoft.com/office/drawing/2014/main" id="{3722B82E-B240-49A1-910C-94A12F38D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2105025"/>
            <a:ext cx="73056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The interplay of learning, analytics and artificial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8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intelligence in education: A vision for hybrid intelligence.</a:t>
            </a:r>
          </a:p>
        </p:txBody>
      </p:sp>
      <p:sp>
        <p:nvSpPr>
          <p:cNvPr id="7" name="s36-rect-6">
            <a:extLst xmlns:a="http://schemas.openxmlformats.org/drawingml/2006/main">
              <a:ext uri="{FF2B5EF4-FFF2-40B4-BE49-F238E27FC236}">
                <a16:creationId xmlns:a16="http://schemas.microsoft.com/office/drawing/2014/main" id="{CA24A665-A2FA-42A6-BB5A-DCA4D898F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8" name="s36-text-7">
            <a:extLst xmlns:a="http://schemas.openxmlformats.org/drawingml/2006/main">
              <a:ext uri="{FF2B5EF4-FFF2-40B4-BE49-F238E27FC236}">
                <a16:creationId xmlns:a16="http://schemas.microsoft.com/office/drawing/2014/main" id="{073A01BD-4F95-4C89-9424-775713C7A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19425"/>
            <a:ext cx="3219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UNESCO · 2024</a:t>
            </a:r>
          </a:p>
        </p:txBody>
      </p:sp>
      <p:sp>
        <p:nvSpPr>
          <p:cNvPr id="9" name="s36-text-8">
            <a:extLst xmlns:a="http://schemas.openxmlformats.org/drawingml/2006/main">
              <a:ext uri="{FF2B5EF4-FFF2-40B4-BE49-F238E27FC236}">
                <a16:creationId xmlns:a16="http://schemas.microsoft.com/office/drawing/2014/main" id="{6A8879E5-1566-49F7-83F5-EB5C11146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3019425"/>
            <a:ext cx="73056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AI competency framework for teachers.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8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教师AI教学法、人的能动性与专业学习。</a:t>
            </a:r>
          </a:p>
        </p:txBody>
      </p:sp>
      <p:sp>
        <p:nvSpPr>
          <p:cNvPr id="10" name="s36-rect-9">
            <a:extLst xmlns:a="http://schemas.openxmlformats.org/drawingml/2006/main">
              <a:ext uri="{FF2B5EF4-FFF2-40B4-BE49-F238E27FC236}">
                <a16:creationId xmlns:a16="http://schemas.microsoft.com/office/drawing/2014/main" id="{5B34A935-3DA1-4ADC-AB99-60CB83B3D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1" name="s36-text-10">
            <a:extLst xmlns:a="http://schemas.openxmlformats.org/drawingml/2006/main">
              <a:ext uri="{FF2B5EF4-FFF2-40B4-BE49-F238E27FC236}">
                <a16:creationId xmlns:a16="http://schemas.microsoft.com/office/drawing/2014/main" id="{CFCF9E46-9217-456B-AA3C-BE12C02D0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33825"/>
            <a:ext cx="3219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Sun等 · 2026</a:t>
            </a:r>
          </a:p>
        </p:txBody>
      </p:sp>
      <p:sp>
        <p:nvSpPr>
          <p:cNvPr id="12" name="s36-text-11">
            <a:extLst xmlns:a="http://schemas.openxmlformats.org/drawingml/2006/main">
              <a:ext uri="{FF2B5EF4-FFF2-40B4-BE49-F238E27FC236}">
                <a16:creationId xmlns:a16="http://schemas.microsoft.com/office/drawing/2014/main" id="{D5FCAC2B-7FA9-4D2D-8744-D659CA6B7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3933825"/>
            <a:ext cx="73056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Empowering university teachers in higher education: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8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A generative AI-responsive competency framework.</a:t>
            </a:r>
          </a:p>
        </p:txBody>
      </p:sp>
      <p:sp>
        <p:nvSpPr>
          <p:cNvPr id="13" name="s36-rect-12">
            <a:extLst xmlns:a="http://schemas.openxmlformats.org/drawingml/2006/main">
              <a:ext uri="{FF2B5EF4-FFF2-40B4-BE49-F238E27FC236}">
                <a16:creationId xmlns:a16="http://schemas.microsoft.com/office/drawing/2014/main" id="{26D851F3-3A3C-433D-9FDD-720146BB1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053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4" name="s36-text-13">
            <a:extLst xmlns:a="http://schemas.openxmlformats.org/drawingml/2006/main">
              <a:ext uri="{FF2B5EF4-FFF2-40B4-BE49-F238E27FC236}">
                <a16:creationId xmlns:a16="http://schemas.microsoft.com/office/drawing/2014/main" id="{9F995C1C-6156-47DF-91C1-C61F54C63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48225"/>
            <a:ext cx="3219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Bastani等 · 2025</a:t>
            </a:r>
          </a:p>
        </p:txBody>
      </p:sp>
      <p:sp>
        <p:nvSpPr>
          <p:cNvPr id="15" name="s36-text-14">
            <a:extLst xmlns:a="http://schemas.openxmlformats.org/drawingml/2006/main">
              <a:ext uri="{FF2B5EF4-FFF2-40B4-BE49-F238E27FC236}">
                <a16:creationId xmlns:a16="http://schemas.microsoft.com/office/drawing/2014/main" id="{CFC4234B-4C45-43D2-9D38-46D87CCDA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4848225"/>
            <a:ext cx="73056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Generative AI without guardrails can harm learning: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8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Evidence from high school mathematics.</a:t>
            </a:r>
          </a:p>
        </p:txBody>
      </p:sp>
      <p:sp>
        <p:nvSpPr>
          <p:cNvPr id="16" name="s36-footer-15">
            <a:extLst xmlns:a="http://schemas.openxmlformats.org/drawingml/2006/main">
              <a:ext uri="{FF2B5EF4-FFF2-40B4-BE49-F238E27FC236}">
                <a16:creationId xmlns:a16="http://schemas.microsoft.com/office/drawing/2014/main" id="{6B5E0F86-B841-4656-87D1-6909991E6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Cukurova, 2025 · BJET；Miao &amp; Cukurova, 2024 · UNESCO；Sun et al., 2026 · C&amp;E: AI；Bastani et al., 2025 · PNAS</a:t>
            </a:r>
          </a:p>
        </p:txBody>
      </p:sp>
      <p:sp>
        <p:nvSpPr>
          <p:cNvPr id="17" name="s36-footer-16">
            <a:extLst xmlns:a="http://schemas.openxmlformats.org/drawingml/2006/main">
              <a:ext uri="{FF2B5EF4-FFF2-40B4-BE49-F238E27FC236}">
                <a16:creationId xmlns:a16="http://schemas.microsoft.com/office/drawing/2014/main" id="{49772C7E-B6E7-4728-A0ED-9B90F2DBF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36 / 36</a:t>
            </a:r>
          </a:p>
        </p:txBody>
      </p:sp>
    </p:spTree>
    <p:extLst>
      <p:ext uri="{BB962C8B-B14F-4D97-AF65-F5344CB8AC3E}">
        <p14:creationId xmlns:p14="http://schemas.microsoft.com/office/powerpoint/2010/main" val="4395761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2026-09-08T18:34:00.8310000Z</dcterms:created>
  <dcterms:modified xsi:type="dcterms:W3CDTF">2026-09-08T18:34:00.8310000Z</dcterms:modified>
</coreProperties>
</file>