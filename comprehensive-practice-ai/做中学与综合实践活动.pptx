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年纲要未作这一层约束。小学学段要求识别变量、制订简单的探究方案，初中学段要求应用控制变量方法、制订比较完整的探究方案。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全场第一张表。三列宣读完毕即停，不点破规律。规律是左列均属学生侧，中列均属教师侧，留待听众自行发现，第 19 页收束。第三列是本场可信度的来源之一，须如实陈述：生成式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本页是全场可信度的支点，不可省略，亦不可夸大。先陈述研究设计，再陈述结果，顺序不可颠倒。须主动说明样本为大学生，中小学不可直接套用其数值，但机制一致：生成式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相当一部分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本页承接上一句整屏句，也是本段的收尾。前面讲的是生成式 AI 对既有问题的加剧作用，本页讲它在教师侧的减负作用，两者合起来才是完整的判断。这四项是这批听众当天就能用上的部分，讲述时间不少于三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听众要带走的第一项工具。三项判断的顺序不可调换：先确认能力，再判断替代关系，最后讨论补偿。多数人的顺序相反，先看工具功能再倒推是否使用，该顺序容易导致使用过度。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指南写明鼓励学生大胆尝试，包容失败，在面对具有不确定性的问题时，通过不断试错、反思、改进等，寻求问题解决方案，体验科学探索的曲折过程。本课程的教学资产即试错空间，而生成式 AI 的默认行为是消除试错空间。本页属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本页是听众要带走的工具。说明该表将随讲义发放，教师亦可自行绘制，格式不重要，三项判断是重点。下一段以生命健康的两项任务当场填写一遍。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补充说明：选题环节产生的评价证据是问题意识，而问题意识在四个评价维度中仅此一个来源，替代后无从补偿。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是否说错，这就是判断权留在教师手上的具体形态；其三，整个过程在教师侧完成，学生看到的是教师转述的问题，不接触工具。听众若只记住一页操作，即本页。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听众要带走的第二项工具，成本最低。三项提问指向过程而非结论，无法预先背诵。第三问答不出，说明学生未作验证，该成果为外部获得。若全场只记住一项内容，即这三项提问。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末页停留时间稍长，供拍照。三条说明均须宣读，尤其第三条。将专业判断与政策规定分开，此条不可省略。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5" name="Text 13"/>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6" name="Text 14"/>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7" name="Shape 15"/>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8" name="Text 16"/>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19" name="Shape 17"/>
          <p:cNvSpPr/>
          <p:nvPr/>
        </p:nvSpPr>
        <p:spPr>
          <a:xfrm>
            <a:off x="2776728" y="3538728"/>
            <a:ext cx="182880" cy="0"/>
          </a:xfrm>
          <a:prstGeom prst="line">
            <a:avLst/>
          </a:prstGeom>
          <a:noFill/>
          <a:ln w="12700">
            <a:solidFill>
              <a:srgbClr val="E2E7F0"/>
            </a:solidFill>
            <a:prstDash val="solid"/>
          </a:ln>
        </p:spPr>
      </p:sp>
      <p:sp>
        <p:nvSpPr>
          <p:cNvPr id="20" name="Shape 18"/>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1" name="Text 19"/>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2" name="Shape 20"/>
          <p:cNvSpPr/>
          <p:nvPr/>
        </p:nvSpPr>
        <p:spPr>
          <a:xfrm>
            <a:off x="4440936" y="3538728"/>
            <a:ext cx="182880" cy="0"/>
          </a:xfrm>
          <a:prstGeom prst="line">
            <a:avLst/>
          </a:prstGeom>
          <a:noFill/>
          <a:ln w="12700">
            <a:solidFill>
              <a:srgbClr val="E2E7F0"/>
            </a:solidFill>
            <a:prstDash val="solid"/>
          </a:ln>
        </p:spPr>
      </p:sp>
      <p:sp>
        <p:nvSpPr>
          <p:cNvPr id="23" name="Shape 21"/>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4" name="Text 22"/>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5" name="Shape 23"/>
          <p:cNvSpPr/>
          <p:nvPr/>
        </p:nvSpPr>
        <p:spPr>
          <a:xfrm>
            <a:off x="6105144" y="3538728"/>
            <a:ext cx="182880" cy="0"/>
          </a:xfrm>
          <a:prstGeom prst="line">
            <a:avLst/>
          </a:prstGeom>
          <a:noFill/>
          <a:ln w="12700">
            <a:solidFill>
              <a:srgbClr val="E2E7F0"/>
            </a:solidFill>
            <a:prstDash val="solid"/>
          </a:ln>
        </p:spPr>
      </p:sp>
      <p:sp>
        <p:nvSpPr>
          <p:cNvPr id="26" name="Shape 24"/>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7" name="Text 25"/>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8" name="Shape 26"/>
          <p:cNvSpPr/>
          <p:nvPr/>
        </p:nvSpPr>
        <p:spPr>
          <a:xfrm>
            <a:off x="7769352" y="3538728"/>
            <a:ext cx="182880" cy="0"/>
          </a:xfrm>
          <a:prstGeom prst="line">
            <a:avLst/>
          </a:prstGeom>
          <a:noFill/>
          <a:ln w="12700">
            <a:solidFill>
              <a:srgbClr val="E2E7F0"/>
            </a:solidFill>
            <a:prstDash val="solid"/>
          </a:ln>
        </p:spPr>
      </p:sp>
      <p:sp>
        <p:nvSpPr>
          <p:cNvPr id="29" name="Shape 27"/>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0" name="Text 28"/>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1" name="Shape 29"/>
          <p:cNvSpPr/>
          <p:nvPr/>
        </p:nvSpPr>
        <p:spPr>
          <a:xfrm>
            <a:off x="9433560" y="3538728"/>
            <a:ext cx="182880" cy="0"/>
          </a:xfrm>
          <a:prstGeom prst="line">
            <a:avLst/>
          </a:prstGeom>
          <a:noFill/>
          <a:ln w="12700">
            <a:solidFill>
              <a:srgbClr val="E2E7F0"/>
            </a:solidFill>
            <a:prstDash val="solid"/>
          </a:ln>
        </p:spPr>
      </p:sp>
      <p:sp>
        <p:nvSpPr>
          <p:cNvPr id="32" name="Shape 30"/>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3" name="Text 31"/>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4" name="Text 32"/>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5" name="Text 33"/>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6" name="Text 34"/>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7" name="Text 35"/>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8" name="Text 36"/>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39" name="Text 37"/>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6" name="Text 14"/>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7" name="Shape 15"/>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8" name="Shape 16"/>
          <p:cNvSpPr/>
          <p:nvPr/>
        </p:nvSpPr>
        <p:spPr>
          <a:xfrm>
            <a:off x="1359408" y="2487168"/>
            <a:ext cx="3034690" cy="38100"/>
          </a:xfrm>
          <a:prstGeom prst="rect">
            <a:avLst/>
          </a:prstGeom>
          <a:solidFill>
            <a:srgbClr val="33414F"/>
          </a:solidFill>
          <a:ln w="12700">
            <a:solidFill>
              <a:srgbClr val="33414F"/>
            </a:solidFill>
            <a:prstDash val="solid"/>
          </a:ln>
        </p:spPr>
      </p:sp>
      <p:sp>
        <p:nvSpPr>
          <p:cNvPr id="19" name="Text 17"/>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0" name="Text 18"/>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1" name="Shape 19"/>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4769002" y="2487168"/>
            <a:ext cx="3034690" cy="38100"/>
          </a:xfrm>
          <a:prstGeom prst="rect">
            <a:avLst/>
          </a:prstGeom>
          <a:solidFill>
            <a:srgbClr val="33414F"/>
          </a:solidFill>
          <a:ln w="12700">
            <a:solidFill>
              <a:srgbClr val="33414F"/>
            </a:solidFill>
            <a:prstDash val="solid"/>
          </a:ln>
        </p:spPr>
      </p:sp>
      <p:sp>
        <p:nvSpPr>
          <p:cNvPr id="23" name="Text 21"/>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4" name="Text 22"/>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5" name="Shape 23"/>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8178597" y="2487168"/>
            <a:ext cx="3034690" cy="38100"/>
          </a:xfrm>
          <a:prstGeom prst="rect">
            <a:avLst/>
          </a:prstGeom>
          <a:solidFill>
            <a:srgbClr val="33414F"/>
          </a:solidFill>
          <a:ln w="12700">
            <a:solidFill>
              <a:srgbClr val="33414F"/>
            </a:solidFill>
            <a:prstDash val="solid"/>
          </a:ln>
        </p:spPr>
      </p:sp>
      <p:sp>
        <p:nvSpPr>
          <p:cNvPr id="27" name="Text 25"/>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8" name="Text 26"/>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29" name="Text 27"/>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566182"/>
            <a:ext cx="95250" cy="95250"/>
          </a:xfrm>
          <a:prstGeom prst="ellipse">
            <a:avLst/>
          </a:prstGeom>
          <a:solidFill>
            <a:srgbClr val="FFFFFF"/>
          </a:solidFill>
          <a:ln w="25400">
            <a:solidFill>
              <a:srgbClr val="E2E7F0"/>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6" name="Shape 14"/>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7" name="Shape 15"/>
          <p:cNvSpPr/>
          <p:nvPr/>
        </p:nvSpPr>
        <p:spPr>
          <a:xfrm>
            <a:off x="1295400" y="1915668"/>
            <a:ext cx="38100" cy="1188720"/>
          </a:xfrm>
          <a:prstGeom prst="rect">
            <a:avLst/>
          </a:prstGeom>
          <a:solidFill>
            <a:srgbClr val="33414F"/>
          </a:solidFill>
          <a:ln w="12700">
            <a:solidFill>
              <a:srgbClr val="33414F"/>
            </a:solidFill>
            <a:prstDash val="solid"/>
          </a:ln>
        </p:spPr>
      </p:sp>
      <p:sp>
        <p:nvSpPr>
          <p:cNvPr id="18" name="Text 16"/>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19" name="Text 17"/>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0" name="Shape 18"/>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1" name="Shape 19"/>
          <p:cNvSpPr/>
          <p:nvPr/>
        </p:nvSpPr>
        <p:spPr>
          <a:xfrm>
            <a:off x="1359408" y="3913632"/>
            <a:ext cx="1421333" cy="38100"/>
          </a:xfrm>
          <a:prstGeom prst="rect">
            <a:avLst/>
          </a:prstGeom>
          <a:solidFill>
            <a:srgbClr val="33414F"/>
          </a:solidFill>
          <a:ln w="12700">
            <a:solidFill>
              <a:srgbClr val="33414F"/>
            </a:solidFill>
            <a:prstDash val="solid"/>
          </a:ln>
        </p:spPr>
      </p:sp>
      <p:sp>
        <p:nvSpPr>
          <p:cNvPr id="22" name="Text 20"/>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3" name="Text 21"/>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4" name="Shape 22"/>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5" name="Shape 23"/>
          <p:cNvSpPr/>
          <p:nvPr/>
        </p:nvSpPr>
        <p:spPr>
          <a:xfrm>
            <a:off x="3045917" y="3913632"/>
            <a:ext cx="1421333" cy="38100"/>
          </a:xfrm>
          <a:prstGeom prst="rect">
            <a:avLst/>
          </a:prstGeom>
          <a:solidFill>
            <a:srgbClr val="33414F"/>
          </a:solidFill>
          <a:ln w="12700">
            <a:solidFill>
              <a:srgbClr val="33414F"/>
            </a:solidFill>
            <a:prstDash val="solid"/>
          </a:ln>
        </p:spPr>
      </p:sp>
      <p:sp>
        <p:nvSpPr>
          <p:cNvPr id="26" name="Text 24"/>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7" name="Text 25"/>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8" name="Shape 26"/>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29" name="Shape 27"/>
          <p:cNvSpPr/>
          <p:nvPr/>
        </p:nvSpPr>
        <p:spPr>
          <a:xfrm>
            <a:off x="4732426" y="3913632"/>
            <a:ext cx="1421333" cy="38100"/>
          </a:xfrm>
          <a:prstGeom prst="rect">
            <a:avLst/>
          </a:prstGeom>
          <a:solidFill>
            <a:srgbClr val="33414F"/>
          </a:solidFill>
          <a:ln w="12700">
            <a:solidFill>
              <a:srgbClr val="33414F"/>
            </a:solidFill>
            <a:prstDash val="solid"/>
          </a:ln>
        </p:spPr>
      </p:sp>
      <p:sp>
        <p:nvSpPr>
          <p:cNvPr id="30" name="Text 28"/>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1" name="Text 29"/>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2" name="Shape 30"/>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3" name="Shape 31"/>
          <p:cNvSpPr/>
          <p:nvPr/>
        </p:nvSpPr>
        <p:spPr>
          <a:xfrm>
            <a:off x="6418936" y="3913632"/>
            <a:ext cx="1421333" cy="38100"/>
          </a:xfrm>
          <a:prstGeom prst="rect">
            <a:avLst/>
          </a:prstGeom>
          <a:solidFill>
            <a:srgbClr val="33414F"/>
          </a:solidFill>
          <a:ln w="12700">
            <a:solidFill>
              <a:srgbClr val="33414F"/>
            </a:solidFill>
            <a:prstDash val="solid"/>
          </a:ln>
        </p:spPr>
      </p:sp>
      <p:sp>
        <p:nvSpPr>
          <p:cNvPr id="34" name="Text 32"/>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5" name="Text 33"/>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6" name="Shape 34"/>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7" name="Shape 35"/>
          <p:cNvSpPr/>
          <p:nvPr/>
        </p:nvSpPr>
        <p:spPr>
          <a:xfrm>
            <a:off x="8105445" y="3913632"/>
            <a:ext cx="1421333" cy="38100"/>
          </a:xfrm>
          <a:prstGeom prst="rect">
            <a:avLst/>
          </a:prstGeom>
          <a:solidFill>
            <a:srgbClr val="33414F"/>
          </a:solidFill>
          <a:ln w="12700">
            <a:solidFill>
              <a:srgbClr val="33414F"/>
            </a:solidFill>
            <a:prstDash val="solid"/>
          </a:ln>
        </p:spPr>
      </p:sp>
      <p:sp>
        <p:nvSpPr>
          <p:cNvPr id="38" name="Text 36"/>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39" name="Text 37"/>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0" name="Shape 38"/>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1" name="Shape 39"/>
          <p:cNvSpPr/>
          <p:nvPr/>
        </p:nvSpPr>
        <p:spPr>
          <a:xfrm>
            <a:off x="9791954" y="3913632"/>
            <a:ext cx="1421333" cy="38100"/>
          </a:xfrm>
          <a:prstGeom prst="rect">
            <a:avLst/>
          </a:prstGeom>
          <a:solidFill>
            <a:srgbClr val="33414F"/>
          </a:solidFill>
          <a:ln w="12700">
            <a:solidFill>
              <a:srgbClr val="33414F"/>
            </a:solidFill>
            <a:prstDash val="solid"/>
          </a:ln>
        </p:spPr>
      </p:sp>
      <p:sp>
        <p:nvSpPr>
          <p:cNvPr id="42" name="Text 40"/>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3" name="Text 41"/>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4" name="Shape 42"/>
          <p:cNvSpPr/>
          <p:nvPr/>
        </p:nvSpPr>
        <p:spPr>
          <a:xfrm>
            <a:off x="1295400" y="5888736"/>
            <a:ext cx="9981895" cy="0"/>
          </a:xfrm>
          <a:prstGeom prst="line">
            <a:avLst/>
          </a:prstGeom>
          <a:noFill/>
          <a:ln w="12700">
            <a:solidFill>
              <a:srgbClr val="E2E7F0"/>
            </a:solidFill>
            <a:prstDash val="solid"/>
          </a:ln>
        </p:spPr>
      </p:sp>
      <p:sp>
        <p:nvSpPr>
          <p:cNvPr id="45" name="Text 4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5" name="Text 23"/>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6" name="Shape 24"/>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8" name="Shape 26"/>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0" name="Shape 28"/>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2" name="Shape 30"/>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4" name="Text 32"/>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6" name="Text 14"/>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7" name="Shape 15"/>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8" name="Text 16"/>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19" name="Shape 17"/>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0" name="Text 18"/>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1" name="Shape 19"/>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2" name="Text 20"/>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3" name="Shape 21"/>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4" name="Text 22"/>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5" name="Shape 23"/>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6" name="Text 24"/>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7" name="Shape 25"/>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29" name="Text 27"/>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0" name="Shape 28"/>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1" name="Text 29"/>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2" name="Shape 30"/>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3" name="Text 31"/>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4" name="Shape 32"/>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5" name="Text 33"/>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6" name="Shape 34"/>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7" name="Text 35"/>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8" name="Text 36"/>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6"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547132"/>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265589"/>
            <a:ext cx="95250" cy="95250"/>
          </a:xfrm>
          <a:prstGeom prst="ellipse">
            <a:avLst/>
          </a:prstGeom>
          <a:solidFill>
            <a:srgbClr val="FFFFFF"/>
          </a:solidFill>
          <a:ln w="25400">
            <a:solidFill>
              <a:srgbClr val="E2E7F0"/>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本场主张</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6"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6"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7" name="Text 14"/>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66725" y="2246539"/>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964996"/>
            <a:ext cx="95250" cy="95250"/>
          </a:xfrm>
          <a:prstGeom prst="ellipse">
            <a:avLst/>
          </a:prstGeom>
          <a:solidFill>
            <a:srgbClr val="FFFFFF"/>
          </a:solidFill>
          <a:ln w="25400">
            <a:solidFill>
              <a:srgbClr val="E2E7F0"/>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6" name="Text 14"/>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7" name="Text 15"/>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8" name="Text 16"/>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19" name="Text 17"/>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0" name="Text 18"/>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1" name="Text 19"/>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而耗时的环节正是本课程的教学内容。</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6" name="Shape 14"/>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7" name="Text 15"/>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8" name="Text 16"/>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19" name="Shape 17"/>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0" name="Text 18"/>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1" name="Text 19"/>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2" name="Shape 20"/>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3" name="Text 21"/>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4" name="Text 22"/>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5" name="Shape 23"/>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6" name="Text 24"/>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7" name="Text 25"/>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8" name="Shape 26"/>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29" name="Text 27"/>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0" name="Text 28"/>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1" name="Shape 29"/>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2" name="Text 30"/>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3" name="Text 31"/>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6" name="Shape 14"/>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33414F"/>
          </a:solidFill>
          <a:ln w="12700">
            <a:solidFill>
              <a:srgbClr val="33414F"/>
            </a:solidFill>
            <a:prstDash val="solid"/>
          </a:ln>
        </p:spPr>
      </p:sp>
      <p:sp>
        <p:nvSpPr>
          <p:cNvPr id="18" name="Text 16"/>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19" name="Shape 17"/>
          <p:cNvSpPr/>
          <p:nvPr/>
        </p:nvSpPr>
        <p:spPr>
          <a:xfrm>
            <a:off x="1551432" y="2519172"/>
            <a:ext cx="9469831" cy="0"/>
          </a:xfrm>
          <a:prstGeom prst="line">
            <a:avLst/>
          </a:prstGeom>
          <a:noFill/>
          <a:ln w="12700">
            <a:solidFill>
              <a:srgbClr val="E2E7F0"/>
            </a:solidFill>
            <a:prstDash val="solid"/>
          </a:ln>
        </p:spPr>
      </p:sp>
      <p:sp>
        <p:nvSpPr>
          <p:cNvPr id="20" name="Text 18"/>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1" name="Text 19"/>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2" name="Shape 20"/>
          <p:cNvSpPr/>
          <p:nvPr/>
        </p:nvSpPr>
        <p:spPr>
          <a:xfrm>
            <a:off x="1551432" y="2866644"/>
            <a:ext cx="9469831" cy="0"/>
          </a:xfrm>
          <a:prstGeom prst="line">
            <a:avLst/>
          </a:prstGeom>
          <a:noFill/>
          <a:ln w="12700">
            <a:solidFill>
              <a:srgbClr val="E2E7F0"/>
            </a:solidFill>
            <a:prstDash val="solid"/>
          </a:ln>
        </p:spPr>
      </p:sp>
      <p:sp>
        <p:nvSpPr>
          <p:cNvPr id="23" name="Text 21"/>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4" name="Text 22"/>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5" name="Shape 23"/>
          <p:cNvSpPr/>
          <p:nvPr/>
        </p:nvSpPr>
        <p:spPr>
          <a:xfrm>
            <a:off x="1551432" y="3214116"/>
            <a:ext cx="9469831" cy="0"/>
          </a:xfrm>
          <a:prstGeom prst="line">
            <a:avLst/>
          </a:prstGeom>
          <a:noFill/>
          <a:ln w="12700">
            <a:solidFill>
              <a:srgbClr val="E2E7F0"/>
            </a:solidFill>
            <a:prstDash val="solid"/>
          </a:ln>
        </p:spPr>
      </p:sp>
      <p:sp>
        <p:nvSpPr>
          <p:cNvPr id="26" name="Text 24"/>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7" name="Text 25"/>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8" name="Shape 26"/>
          <p:cNvSpPr/>
          <p:nvPr/>
        </p:nvSpPr>
        <p:spPr>
          <a:xfrm>
            <a:off x="1551432" y="3561588"/>
            <a:ext cx="9469831" cy="0"/>
          </a:xfrm>
          <a:prstGeom prst="line">
            <a:avLst/>
          </a:prstGeom>
          <a:noFill/>
          <a:ln w="12700">
            <a:solidFill>
              <a:srgbClr val="E2E7F0"/>
            </a:solidFill>
            <a:prstDash val="solid"/>
          </a:ln>
        </p:spPr>
      </p:sp>
      <p:sp>
        <p:nvSpPr>
          <p:cNvPr id="29" name="Text 27"/>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0" name="Text 28"/>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1" name="Text 29"/>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2" name="Shape 30"/>
          <p:cNvSpPr/>
          <p:nvPr/>
        </p:nvSpPr>
        <p:spPr>
          <a:xfrm>
            <a:off x="1295400" y="5888736"/>
            <a:ext cx="9981895" cy="0"/>
          </a:xfrm>
          <a:prstGeom prst="line">
            <a:avLst/>
          </a:prstGeom>
          <a:noFill/>
          <a:ln w="12700">
            <a:solidFill>
              <a:srgbClr val="E2E7F0"/>
            </a:solidFill>
            <a:prstDash val="solid"/>
          </a:ln>
        </p:spPr>
      </p:sp>
      <p:sp>
        <p:nvSpPr>
          <p:cNvPr id="33" name="Text 3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6" name="Shape 14"/>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7" name="Shape 15"/>
          <p:cNvSpPr/>
          <p:nvPr/>
        </p:nvSpPr>
        <p:spPr>
          <a:xfrm>
            <a:off x="1359408" y="1860804"/>
            <a:ext cx="3071266" cy="38100"/>
          </a:xfrm>
          <a:prstGeom prst="rect">
            <a:avLst/>
          </a:prstGeom>
          <a:solidFill>
            <a:srgbClr val="B0472A"/>
          </a:solidFill>
          <a:ln w="12700">
            <a:solidFill>
              <a:srgbClr val="B0472A"/>
            </a:solidFill>
            <a:prstDash val="solid"/>
          </a:ln>
        </p:spPr>
      </p:sp>
      <p:sp>
        <p:nvSpPr>
          <p:cNvPr id="18" name="Text 16"/>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19" name="Shape 17"/>
          <p:cNvSpPr/>
          <p:nvPr/>
        </p:nvSpPr>
        <p:spPr>
          <a:xfrm>
            <a:off x="1496568" y="2427732"/>
            <a:ext cx="2796946" cy="0"/>
          </a:xfrm>
          <a:prstGeom prst="line">
            <a:avLst/>
          </a:prstGeom>
          <a:noFill/>
          <a:ln w="25400">
            <a:solidFill>
              <a:srgbClr val="B0472A"/>
            </a:solidFill>
            <a:prstDash val="solid"/>
          </a:ln>
        </p:spPr>
      </p:sp>
      <p:sp>
        <p:nvSpPr>
          <p:cNvPr id="20" name="Text 18"/>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1" name="Shape 19"/>
          <p:cNvSpPr/>
          <p:nvPr/>
        </p:nvSpPr>
        <p:spPr>
          <a:xfrm>
            <a:off x="1496568" y="3031236"/>
            <a:ext cx="2796946" cy="0"/>
          </a:xfrm>
          <a:prstGeom prst="line">
            <a:avLst/>
          </a:prstGeom>
          <a:noFill/>
          <a:ln w="12700">
            <a:solidFill>
              <a:srgbClr val="E2E7F0"/>
            </a:solidFill>
            <a:prstDash val="solid"/>
          </a:ln>
        </p:spPr>
      </p:sp>
      <p:sp>
        <p:nvSpPr>
          <p:cNvPr id="22" name="Text 20"/>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3" name="Shape 21"/>
          <p:cNvSpPr/>
          <p:nvPr/>
        </p:nvSpPr>
        <p:spPr>
          <a:xfrm>
            <a:off x="1496568" y="3634740"/>
            <a:ext cx="2796946" cy="0"/>
          </a:xfrm>
          <a:prstGeom prst="line">
            <a:avLst/>
          </a:prstGeom>
          <a:noFill/>
          <a:ln w="12700">
            <a:solidFill>
              <a:srgbClr val="E2E7F0"/>
            </a:solidFill>
            <a:prstDash val="solid"/>
          </a:ln>
        </p:spPr>
      </p:sp>
      <p:sp>
        <p:nvSpPr>
          <p:cNvPr id="24" name="Text 22"/>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5" name="Shape 23"/>
          <p:cNvSpPr/>
          <p:nvPr/>
        </p:nvSpPr>
        <p:spPr>
          <a:xfrm>
            <a:off x="1496568" y="4238244"/>
            <a:ext cx="2796946" cy="0"/>
          </a:xfrm>
          <a:prstGeom prst="line">
            <a:avLst/>
          </a:prstGeom>
          <a:noFill/>
          <a:ln w="12700">
            <a:solidFill>
              <a:srgbClr val="E2E7F0"/>
            </a:solidFill>
            <a:prstDash val="solid"/>
          </a:ln>
        </p:spPr>
      </p:sp>
      <p:sp>
        <p:nvSpPr>
          <p:cNvPr id="26" name="Text 24"/>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7" name="Shape 25"/>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8" name="Shape 26"/>
          <p:cNvSpPr/>
          <p:nvPr/>
        </p:nvSpPr>
        <p:spPr>
          <a:xfrm>
            <a:off x="4750714" y="1860804"/>
            <a:ext cx="3071266" cy="38100"/>
          </a:xfrm>
          <a:prstGeom prst="rect">
            <a:avLst/>
          </a:prstGeom>
          <a:solidFill>
            <a:srgbClr val="33414F"/>
          </a:solidFill>
          <a:ln w="12700">
            <a:solidFill>
              <a:srgbClr val="33414F"/>
            </a:solidFill>
            <a:prstDash val="solid"/>
          </a:ln>
        </p:spPr>
      </p:sp>
      <p:sp>
        <p:nvSpPr>
          <p:cNvPr id="29" name="Text 27"/>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0" name="Shape 28"/>
          <p:cNvSpPr/>
          <p:nvPr/>
        </p:nvSpPr>
        <p:spPr>
          <a:xfrm>
            <a:off x="4887874" y="2427732"/>
            <a:ext cx="2796946" cy="0"/>
          </a:xfrm>
          <a:prstGeom prst="line">
            <a:avLst/>
          </a:prstGeom>
          <a:noFill/>
          <a:ln w="25400">
            <a:solidFill>
              <a:srgbClr val="33414F"/>
            </a:solidFill>
            <a:prstDash val="solid"/>
          </a:ln>
        </p:spPr>
      </p:sp>
      <p:sp>
        <p:nvSpPr>
          <p:cNvPr id="31" name="Text 29"/>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2" name="Shape 30"/>
          <p:cNvSpPr/>
          <p:nvPr/>
        </p:nvSpPr>
        <p:spPr>
          <a:xfrm>
            <a:off x="4887874" y="3031236"/>
            <a:ext cx="2796946" cy="0"/>
          </a:xfrm>
          <a:prstGeom prst="line">
            <a:avLst/>
          </a:prstGeom>
          <a:noFill/>
          <a:ln w="12700">
            <a:solidFill>
              <a:srgbClr val="E2E7F0"/>
            </a:solidFill>
            <a:prstDash val="solid"/>
          </a:ln>
        </p:spPr>
      </p:sp>
      <p:sp>
        <p:nvSpPr>
          <p:cNvPr id="33" name="Text 31"/>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4" name="Shape 32"/>
          <p:cNvSpPr/>
          <p:nvPr/>
        </p:nvSpPr>
        <p:spPr>
          <a:xfrm>
            <a:off x="4887874" y="3634740"/>
            <a:ext cx="2796946" cy="0"/>
          </a:xfrm>
          <a:prstGeom prst="line">
            <a:avLst/>
          </a:prstGeom>
          <a:noFill/>
          <a:ln w="12700">
            <a:solidFill>
              <a:srgbClr val="E2E7F0"/>
            </a:solidFill>
            <a:prstDash val="solid"/>
          </a:ln>
        </p:spPr>
      </p:sp>
      <p:sp>
        <p:nvSpPr>
          <p:cNvPr id="35" name="Text 33"/>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6" name="Shape 34"/>
          <p:cNvSpPr/>
          <p:nvPr/>
        </p:nvSpPr>
        <p:spPr>
          <a:xfrm>
            <a:off x="4887874" y="4238244"/>
            <a:ext cx="2796946" cy="0"/>
          </a:xfrm>
          <a:prstGeom prst="line">
            <a:avLst/>
          </a:prstGeom>
          <a:noFill/>
          <a:ln w="12700">
            <a:solidFill>
              <a:srgbClr val="E2E7F0"/>
            </a:solidFill>
            <a:prstDash val="solid"/>
          </a:ln>
        </p:spPr>
      </p:sp>
      <p:sp>
        <p:nvSpPr>
          <p:cNvPr id="37" name="Text 35"/>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排版与基础图表</a:t>
            </a:r>
            <a:endParaRPr lang="en-US" sz="1300" dirty="0"/>
          </a:p>
        </p:txBody>
      </p:sp>
      <p:sp>
        <p:nvSpPr>
          <p:cNvPr id="38" name="Shape 36"/>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39" name="Shape 37"/>
          <p:cNvSpPr/>
          <p:nvPr/>
        </p:nvSpPr>
        <p:spPr>
          <a:xfrm>
            <a:off x="8142021" y="1860804"/>
            <a:ext cx="3071266" cy="38100"/>
          </a:xfrm>
          <a:prstGeom prst="rect">
            <a:avLst/>
          </a:prstGeom>
          <a:solidFill>
            <a:srgbClr val="E2E7F0"/>
          </a:solidFill>
          <a:ln w="12700">
            <a:solidFill>
              <a:srgbClr val="E2E7F0"/>
            </a:solidFill>
            <a:prstDash val="solid"/>
          </a:ln>
        </p:spPr>
      </p:sp>
      <p:sp>
        <p:nvSpPr>
          <p:cNvPr id="40" name="Text 38"/>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1" name="Shape 39"/>
          <p:cNvSpPr/>
          <p:nvPr/>
        </p:nvSpPr>
        <p:spPr>
          <a:xfrm>
            <a:off x="8279181" y="2427732"/>
            <a:ext cx="2796946" cy="0"/>
          </a:xfrm>
          <a:prstGeom prst="line">
            <a:avLst/>
          </a:prstGeom>
          <a:noFill/>
          <a:ln w="25400">
            <a:solidFill>
              <a:srgbClr val="5B6470"/>
            </a:solidFill>
            <a:prstDash val="solid"/>
          </a:ln>
        </p:spPr>
      </p:sp>
      <p:sp>
        <p:nvSpPr>
          <p:cNvPr id="42" name="Text 40"/>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3" name="Shape 41"/>
          <p:cNvSpPr/>
          <p:nvPr/>
        </p:nvSpPr>
        <p:spPr>
          <a:xfrm>
            <a:off x="8279181" y="3031236"/>
            <a:ext cx="2796946" cy="0"/>
          </a:xfrm>
          <a:prstGeom prst="line">
            <a:avLst/>
          </a:prstGeom>
          <a:noFill/>
          <a:ln w="12700">
            <a:solidFill>
              <a:srgbClr val="E2E7F0"/>
            </a:solidFill>
            <a:prstDash val="solid"/>
          </a:ln>
        </p:spPr>
      </p:sp>
      <p:sp>
        <p:nvSpPr>
          <p:cNvPr id="44" name="Text 42"/>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5" name="Shape 43"/>
          <p:cNvSpPr/>
          <p:nvPr/>
        </p:nvSpPr>
        <p:spPr>
          <a:xfrm>
            <a:off x="8279181" y="3634740"/>
            <a:ext cx="2796946" cy="0"/>
          </a:xfrm>
          <a:prstGeom prst="line">
            <a:avLst/>
          </a:prstGeom>
          <a:noFill/>
          <a:ln w="12700">
            <a:solidFill>
              <a:srgbClr val="E2E7F0"/>
            </a:solidFill>
            <a:prstDash val="solid"/>
          </a:ln>
        </p:spPr>
      </p:sp>
      <p:sp>
        <p:nvSpPr>
          <p:cNvPr id="46" name="Text 44"/>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7" name="Shape 45"/>
          <p:cNvSpPr/>
          <p:nvPr/>
        </p:nvSpPr>
        <p:spPr>
          <a:xfrm>
            <a:off x="8279181" y="4238244"/>
            <a:ext cx="2796946" cy="0"/>
          </a:xfrm>
          <a:prstGeom prst="line">
            <a:avLst/>
          </a:prstGeom>
          <a:noFill/>
          <a:ln w="12700">
            <a:solidFill>
              <a:srgbClr val="E2E7F0"/>
            </a:solidFill>
            <a:prstDash val="solid"/>
          </a:ln>
        </p:spPr>
      </p:sp>
      <p:sp>
        <p:nvSpPr>
          <p:cNvPr id="48" name="Text 46"/>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6" name="Shape 14"/>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7" name="Shape 15"/>
          <p:cNvSpPr/>
          <p:nvPr/>
        </p:nvSpPr>
        <p:spPr>
          <a:xfrm>
            <a:off x="1359408" y="2043684"/>
            <a:ext cx="3077362" cy="38100"/>
          </a:xfrm>
          <a:prstGeom prst="rect">
            <a:avLst/>
          </a:prstGeom>
          <a:solidFill>
            <a:srgbClr val="33414F"/>
          </a:solidFill>
          <a:ln w="12700">
            <a:solidFill>
              <a:srgbClr val="33414F"/>
            </a:solidFill>
            <a:prstDash val="solid"/>
          </a:ln>
        </p:spPr>
      </p:sp>
      <p:sp>
        <p:nvSpPr>
          <p:cNvPr id="18" name="Text 16"/>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19" name="Text 17"/>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0" name="Shape 18"/>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1" name="Shape 19"/>
          <p:cNvSpPr/>
          <p:nvPr/>
        </p:nvSpPr>
        <p:spPr>
          <a:xfrm>
            <a:off x="4747666" y="2043684"/>
            <a:ext cx="3077362" cy="38100"/>
          </a:xfrm>
          <a:prstGeom prst="rect">
            <a:avLst/>
          </a:prstGeom>
          <a:solidFill>
            <a:srgbClr val="C9714C"/>
          </a:solidFill>
          <a:ln w="12700">
            <a:solidFill>
              <a:srgbClr val="C9714C"/>
            </a:solidFill>
            <a:prstDash val="solid"/>
          </a:ln>
        </p:spPr>
      </p:sp>
      <p:sp>
        <p:nvSpPr>
          <p:cNvPr id="22" name="Text 20"/>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3" name="Text 21"/>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4" name="Shape 22"/>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5" name="Shape 23"/>
          <p:cNvSpPr/>
          <p:nvPr/>
        </p:nvSpPr>
        <p:spPr>
          <a:xfrm>
            <a:off x="8135925" y="2043684"/>
            <a:ext cx="3077362" cy="38100"/>
          </a:xfrm>
          <a:prstGeom prst="rect">
            <a:avLst/>
          </a:prstGeom>
          <a:solidFill>
            <a:srgbClr val="B0472A"/>
          </a:solidFill>
          <a:ln w="12700">
            <a:solidFill>
              <a:srgbClr val="B0472A"/>
            </a:solidFill>
            <a:prstDash val="solid"/>
          </a:ln>
        </p:spPr>
      </p:sp>
      <p:sp>
        <p:nvSpPr>
          <p:cNvPr id="26" name="Text 24"/>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7" name="Text 25"/>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8" name="Text 26"/>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6" name="Shape 14"/>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7" name="Shape 15"/>
          <p:cNvSpPr/>
          <p:nvPr/>
        </p:nvSpPr>
        <p:spPr>
          <a:xfrm>
            <a:off x="1359408" y="1860804"/>
            <a:ext cx="9853879" cy="38100"/>
          </a:xfrm>
          <a:prstGeom prst="rect">
            <a:avLst/>
          </a:prstGeom>
          <a:solidFill>
            <a:srgbClr val="B0472A"/>
          </a:solidFill>
          <a:ln w="12700">
            <a:solidFill>
              <a:srgbClr val="B0472A"/>
            </a:solidFill>
            <a:prstDash val="solid"/>
          </a:ln>
        </p:spPr>
      </p:sp>
      <p:sp>
        <p:nvSpPr>
          <p:cNvPr id="18" name="Shape 16"/>
          <p:cNvSpPr/>
          <p:nvPr/>
        </p:nvSpPr>
        <p:spPr>
          <a:xfrm>
            <a:off x="1551432" y="2080260"/>
            <a:ext cx="9469831" cy="0"/>
          </a:xfrm>
          <a:prstGeom prst="line">
            <a:avLst/>
          </a:prstGeom>
          <a:noFill/>
          <a:ln w="12700">
            <a:solidFill>
              <a:srgbClr val="E2E7F0"/>
            </a:solidFill>
            <a:prstDash val="solid"/>
          </a:ln>
        </p:spPr>
      </p:sp>
      <p:sp>
        <p:nvSpPr>
          <p:cNvPr id="19" name="Text 17"/>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0" name="Text 18"/>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1" name="Shape 19"/>
          <p:cNvSpPr/>
          <p:nvPr/>
        </p:nvSpPr>
        <p:spPr>
          <a:xfrm>
            <a:off x="1551432" y="2427732"/>
            <a:ext cx="9469831" cy="0"/>
          </a:xfrm>
          <a:prstGeom prst="line">
            <a:avLst/>
          </a:prstGeom>
          <a:noFill/>
          <a:ln w="12700">
            <a:solidFill>
              <a:srgbClr val="E2E7F0"/>
            </a:solidFill>
            <a:prstDash val="solid"/>
          </a:ln>
        </p:spPr>
      </p:sp>
      <p:sp>
        <p:nvSpPr>
          <p:cNvPr id="22" name="Text 20"/>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3" name="Text 21"/>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4" name="Shape 22"/>
          <p:cNvSpPr/>
          <p:nvPr/>
        </p:nvSpPr>
        <p:spPr>
          <a:xfrm>
            <a:off x="1551432" y="2775204"/>
            <a:ext cx="9469831" cy="0"/>
          </a:xfrm>
          <a:prstGeom prst="line">
            <a:avLst/>
          </a:prstGeom>
          <a:noFill/>
          <a:ln w="12700">
            <a:solidFill>
              <a:srgbClr val="E2E7F0"/>
            </a:solidFill>
            <a:prstDash val="solid"/>
          </a:ln>
        </p:spPr>
      </p:sp>
      <p:sp>
        <p:nvSpPr>
          <p:cNvPr id="25" name="Text 23"/>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6" name="Text 24"/>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7" name="Shape 25"/>
          <p:cNvSpPr/>
          <p:nvPr/>
        </p:nvSpPr>
        <p:spPr>
          <a:xfrm>
            <a:off x="1551432" y="3122676"/>
            <a:ext cx="9469831" cy="0"/>
          </a:xfrm>
          <a:prstGeom prst="line">
            <a:avLst/>
          </a:prstGeom>
          <a:noFill/>
          <a:ln w="12700">
            <a:solidFill>
              <a:srgbClr val="E2E7F0"/>
            </a:solidFill>
            <a:prstDash val="solid"/>
          </a:ln>
        </p:spPr>
      </p:sp>
      <p:sp>
        <p:nvSpPr>
          <p:cNvPr id="28" name="Text 26"/>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29" name="Text 27"/>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0" name="Text 28"/>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1" name="Text 29"/>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2" name="Text 30"/>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3" name="Text 31"/>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4" name="Shape 32"/>
          <p:cNvSpPr/>
          <p:nvPr/>
        </p:nvSpPr>
        <p:spPr>
          <a:xfrm>
            <a:off x="1295400" y="5888736"/>
            <a:ext cx="9981895" cy="0"/>
          </a:xfrm>
          <a:prstGeom prst="line">
            <a:avLst/>
          </a:prstGeom>
          <a:noFill/>
          <a:ln w="12700">
            <a:solidFill>
              <a:srgbClr val="E2E7F0"/>
            </a:solidFill>
            <a:prstDash val="solid"/>
          </a:ln>
        </p:spPr>
      </p:sp>
      <p:sp>
        <p:nvSpPr>
          <p:cNvPr id="35" name="Text 3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66725" y="2945946"/>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664404"/>
            <a:ext cx="95250" cy="95250"/>
          </a:xfrm>
          <a:prstGeom prst="ellipse">
            <a:avLst/>
          </a:prstGeom>
          <a:solidFill>
            <a:srgbClr val="FFFFFF"/>
          </a:solidFill>
          <a:ln w="25400">
            <a:solidFill>
              <a:srgbClr val="E2E7F0"/>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6" name="Text 14"/>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7" name="Shape 15"/>
          <p:cNvSpPr/>
          <p:nvPr/>
        </p:nvSpPr>
        <p:spPr>
          <a:xfrm>
            <a:off x="1295400" y="2226564"/>
            <a:ext cx="4899508" cy="1298448"/>
          </a:xfrm>
          <a:prstGeom prst="roundRect">
            <a:avLst>
              <a:gd name="adj" fmla="val 6338"/>
            </a:avLst>
          </a:prstGeom>
          <a:solidFill>
            <a:srgbClr val="FFFFFF"/>
          </a:solidFill>
          <a:ln w="12700">
            <a:solidFill>
              <a:srgbClr val="E2E7F0"/>
            </a:solidFill>
            <a:prstDash val="solid"/>
          </a:ln>
        </p:spPr>
      </p:sp>
      <p:sp>
        <p:nvSpPr>
          <p:cNvPr id="18" name="Shape 16"/>
          <p:cNvSpPr/>
          <p:nvPr/>
        </p:nvSpPr>
        <p:spPr>
          <a:xfrm>
            <a:off x="1359408" y="2226564"/>
            <a:ext cx="4771492" cy="38100"/>
          </a:xfrm>
          <a:prstGeom prst="rect">
            <a:avLst/>
          </a:prstGeom>
          <a:solidFill>
            <a:srgbClr val="33414F"/>
          </a:solidFill>
          <a:ln w="12700">
            <a:solidFill>
              <a:srgbClr val="33414F"/>
            </a:solidFill>
            <a:prstDash val="solid"/>
          </a:ln>
        </p:spPr>
      </p:sp>
      <p:sp>
        <p:nvSpPr>
          <p:cNvPr id="19" name="Text 17"/>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评价量规初稿</a:t>
            </a:r>
            <a:endParaRPr lang="en-US" sz="1500" dirty="0"/>
          </a:p>
        </p:txBody>
      </p:sp>
      <p:sp>
        <p:nvSpPr>
          <p:cNvPr id="20" name="Text 18"/>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1" name="Shape 19"/>
          <p:cNvSpPr/>
          <p:nvPr/>
        </p:nvSpPr>
        <p:spPr>
          <a:xfrm>
            <a:off x="1496568" y="3195828"/>
            <a:ext cx="4497172" cy="0"/>
          </a:xfrm>
          <a:prstGeom prst="line">
            <a:avLst/>
          </a:prstGeom>
          <a:noFill/>
          <a:ln w="12700">
            <a:solidFill>
              <a:srgbClr val="E2E7F0"/>
            </a:solidFill>
            <a:prstDash val="solid"/>
          </a:ln>
        </p:spPr>
      </p:sp>
      <p:sp>
        <p:nvSpPr>
          <p:cNvPr id="22" name="Text 20"/>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3" name="Shape 21"/>
          <p:cNvSpPr/>
          <p:nvPr/>
        </p:nvSpPr>
        <p:spPr>
          <a:xfrm>
            <a:off x="6377788" y="2226564"/>
            <a:ext cx="4899508" cy="1298448"/>
          </a:xfrm>
          <a:prstGeom prst="roundRect">
            <a:avLst>
              <a:gd name="adj" fmla="val 6338"/>
            </a:avLst>
          </a:prstGeom>
          <a:solidFill>
            <a:srgbClr val="FFFFFF"/>
          </a:solidFill>
          <a:ln w="12700">
            <a:solidFill>
              <a:srgbClr val="E2E7F0"/>
            </a:solidFill>
            <a:prstDash val="solid"/>
          </a:ln>
        </p:spPr>
      </p:sp>
      <p:sp>
        <p:nvSpPr>
          <p:cNvPr id="24" name="Shape 22"/>
          <p:cNvSpPr/>
          <p:nvPr/>
        </p:nvSpPr>
        <p:spPr>
          <a:xfrm>
            <a:off x="6441796" y="2226564"/>
            <a:ext cx="4771492" cy="38100"/>
          </a:xfrm>
          <a:prstGeom prst="rect">
            <a:avLst/>
          </a:prstGeom>
          <a:solidFill>
            <a:srgbClr val="C9714C"/>
          </a:solidFill>
          <a:ln w="12700">
            <a:solidFill>
              <a:srgbClr val="C9714C"/>
            </a:solidFill>
            <a:prstDash val="solid"/>
          </a:ln>
        </p:spPr>
      </p:sp>
      <p:sp>
        <p:nvSpPr>
          <p:cNvPr id="25" name="Text 23"/>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三档任务单</a:t>
            </a:r>
            <a:endParaRPr lang="en-US" sz="1500" dirty="0"/>
          </a:p>
        </p:txBody>
      </p:sp>
      <p:sp>
        <p:nvSpPr>
          <p:cNvPr id="26" name="Text 24"/>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7" name="Shape 25"/>
          <p:cNvSpPr/>
          <p:nvPr/>
        </p:nvSpPr>
        <p:spPr>
          <a:xfrm>
            <a:off x="6578956" y="3195828"/>
            <a:ext cx="4497172" cy="0"/>
          </a:xfrm>
          <a:prstGeom prst="line">
            <a:avLst/>
          </a:prstGeom>
          <a:noFill/>
          <a:ln w="12700">
            <a:solidFill>
              <a:srgbClr val="E2E7F0"/>
            </a:solidFill>
            <a:prstDash val="solid"/>
          </a:ln>
        </p:spPr>
      </p:sp>
      <p:sp>
        <p:nvSpPr>
          <p:cNvPr id="28" name="Text 26"/>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29" name="Shape 27"/>
          <p:cNvSpPr/>
          <p:nvPr/>
        </p:nvSpPr>
        <p:spPr>
          <a:xfrm>
            <a:off x="1295400" y="3689604"/>
            <a:ext cx="4899508" cy="1298448"/>
          </a:xfrm>
          <a:prstGeom prst="roundRect">
            <a:avLst>
              <a:gd name="adj" fmla="val 6338"/>
            </a:avLst>
          </a:prstGeom>
          <a:solidFill>
            <a:srgbClr val="FFFFFF"/>
          </a:solidFill>
          <a:ln w="12700">
            <a:solidFill>
              <a:srgbClr val="E2E7F0"/>
            </a:solidFill>
            <a:prstDash val="solid"/>
          </a:ln>
        </p:spPr>
      </p:sp>
      <p:sp>
        <p:nvSpPr>
          <p:cNvPr id="30" name="Shape 28"/>
          <p:cNvSpPr/>
          <p:nvPr/>
        </p:nvSpPr>
        <p:spPr>
          <a:xfrm>
            <a:off x="1359408" y="3689604"/>
            <a:ext cx="4771492" cy="38100"/>
          </a:xfrm>
          <a:prstGeom prst="rect">
            <a:avLst/>
          </a:prstGeom>
          <a:solidFill>
            <a:srgbClr val="C9714C"/>
          </a:solidFill>
          <a:ln w="12700">
            <a:solidFill>
              <a:srgbClr val="C9714C"/>
            </a:solidFill>
            <a:prstDash val="solid"/>
          </a:ln>
        </p:spPr>
      </p:sp>
      <p:sp>
        <p:nvSpPr>
          <p:cNvPr id="31" name="Text 29"/>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写实记录的整理</a:t>
            </a:r>
            <a:endParaRPr lang="en-US" sz="1500" dirty="0"/>
          </a:p>
        </p:txBody>
      </p:sp>
      <p:sp>
        <p:nvSpPr>
          <p:cNvPr id="32" name="Text 30"/>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3" name="Shape 31"/>
          <p:cNvSpPr/>
          <p:nvPr/>
        </p:nvSpPr>
        <p:spPr>
          <a:xfrm>
            <a:off x="1496568" y="4658868"/>
            <a:ext cx="4497172" cy="0"/>
          </a:xfrm>
          <a:prstGeom prst="line">
            <a:avLst/>
          </a:prstGeom>
          <a:noFill/>
          <a:ln w="12700">
            <a:solidFill>
              <a:srgbClr val="E2E7F0"/>
            </a:solidFill>
            <a:prstDash val="solid"/>
          </a:ln>
        </p:spPr>
      </p:sp>
      <p:sp>
        <p:nvSpPr>
          <p:cNvPr id="34" name="Text 32"/>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5" name="Shape 33"/>
          <p:cNvSpPr/>
          <p:nvPr/>
        </p:nvSpPr>
        <p:spPr>
          <a:xfrm>
            <a:off x="6377788" y="3689604"/>
            <a:ext cx="4899508" cy="1298448"/>
          </a:xfrm>
          <a:prstGeom prst="roundRect">
            <a:avLst>
              <a:gd name="adj" fmla="val 6338"/>
            </a:avLst>
          </a:prstGeom>
          <a:solidFill>
            <a:srgbClr val="FFFFFF"/>
          </a:solidFill>
          <a:ln w="12700">
            <a:solidFill>
              <a:srgbClr val="E2E7F0"/>
            </a:solidFill>
            <a:prstDash val="solid"/>
          </a:ln>
        </p:spPr>
      </p:sp>
      <p:sp>
        <p:nvSpPr>
          <p:cNvPr id="36" name="Shape 34"/>
          <p:cNvSpPr/>
          <p:nvPr/>
        </p:nvSpPr>
        <p:spPr>
          <a:xfrm>
            <a:off x="6441796" y="3689604"/>
            <a:ext cx="4771492" cy="38100"/>
          </a:xfrm>
          <a:prstGeom prst="rect">
            <a:avLst/>
          </a:prstGeom>
          <a:solidFill>
            <a:srgbClr val="33414F"/>
          </a:solidFill>
          <a:ln w="12700">
            <a:solidFill>
              <a:srgbClr val="33414F"/>
            </a:solidFill>
            <a:prstDash val="solid"/>
          </a:ln>
        </p:spPr>
      </p:sp>
      <p:sp>
        <p:nvSpPr>
          <p:cNvPr id="37" name="Text 35"/>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数据作图</a:t>
            </a:r>
            <a:endParaRPr lang="en-US" sz="1500" dirty="0"/>
          </a:p>
        </p:txBody>
      </p:sp>
      <p:sp>
        <p:nvSpPr>
          <p:cNvPr id="38" name="Text 36"/>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39" name="Shape 37"/>
          <p:cNvSpPr/>
          <p:nvPr/>
        </p:nvSpPr>
        <p:spPr>
          <a:xfrm>
            <a:off x="6578956" y="4658868"/>
            <a:ext cx="4497172" cy="0"/>
          </a:xfrm>
          <a:prstGeom prst="line">
            <a:avLst/>
          </a:prstGeom>
          <a:noFill/>
          <a:ln w="12700">
            <a:solidFill>
              <a:srgbClr val="E2E7F0"/>
            </a:solidFill>
            <a:prstDash val="solid"/>
          </a:ln>
        </p:spPr>
      </p:sp>
      <p:sp>
        <p:nvSpPr>
          <p:cNvPr id="40" name="Text 38"/>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1" name="Shape 39"/>
          <p:cNvSpPr/>
          <p:nvPr/>
        </p:nvSpPr>
        <p:spPr>
          <a:xfrm>
            <a:off x="1295400" y="5888736"/>
            <a:ext cx="9981895" cy="0"/>
          </a:xfrm>
          <a:prstGeom prst="line">
            <a:avLst/>
          </a:prstGeom>
          <a:noFill/>
          <a:ln w="12700">
            <a:solidFill>
              <a:srgbClr val="E2E7F0"/>
            </a:solidFill>
            <a:prstDash val="solid"/>
          </a:ln>
        </p:spPr>
      </p:sp>
      <p:sp>
        <p:nvSpPr>
          <p:cNvPr id="42" name="Text 4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66725" y="3645354"/>
            <a:ext cx="133350" cy="133350"/>
          </a:xfrm>
          <a:prstGeom prst="ellipse">
            <a:avLst/>
          </a:prstGeom>
          <a:solidFill>
            <a:srgbClr val="B0472A"/>
          </a:solidFill>
          <a:ln w="25400">
            <a:solidFill>
              <a:srgbClr val="B0472A"/>
            </a:solidFill>
            <a:prstDash val="solid"/>
          </a:ln>
        </p:spPr>
      </p:sp>
      <p:sp>
        <p:nvSpPr>
          <p:cNvPr id="8" name="Shape 6"/>
          <p:cNvSpPr/>
          <p:nvPr/>
        </p:nvSpPr>
        <p:spPr>
          <a:xfrm>
            <a:off x="485775" y="4363811"/>
            <a:ext cx="95250" cy="95250"/>
          </a:xfrm>
          <a:prstGeom prst="ellipse">
            <a:avLst/>
          </a:prstGeom>
          <a:solidFill>
            <a:srgbClr val="FFFFFF"/>
          </a:solidFill>
          <a:ln w="25400">
            <a:solidFill>
              <a:srgbClr val="E2E7F0"/>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6"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7" name="Text 14"/>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8" name="Text 15"/>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6" name="Shape 14"/>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7" name="Shape 15"/>
          <p:cNvSpPr/>
          <p:nvPr/>
        </p:nvSpPr>
        <p:spPr>
          <a:xfrm>
            <a:off x="1359408" y="186080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19" name="Text 17"/>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0" name="Text 18"/>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1" name="Text 19"/>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2" name="Shape 20"/>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3" name="Shape 21"/>
          <p:cNvSpPr/>
          <p:nvPr/>
        </p:nvSpPr>
        <p:spPr>
          <a:xfrm>
            <a:off x="6460084" y="186080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5" name="Text 23"/>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6" name="Text 24"/>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7" name="Text 25"/>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配套动作</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设置问题墙。学生一周内提交三个真实困扰，教师从中选取一个打磨为驱动性问题。本环节不使用 AI。</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6" name="Shape 14"/>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半收的依据</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一次完整的交互</a:t>
            </a:r>
            <a:endParaRPr lang="en-US" sz="3200" dirty="0"/>
          </a:p>
        </p:txBody>
      </p:sp>
      <p:sp>
        <p:nvSpPr>
          <p:cNvPr id="16" name="Text 14"/>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7" name="Shape 15"/>
          <p:cNvSpPr/>
          <p:nvPr/>
        </p:nvSpPr>
        <p:spPr>
          <a:xfrm>
            <a:off x="1295400" y="2226564"/>
            <a:ext cx="9981895" cy="786384"/>
          </a:xfrm>
          <a:prstGeom prst="roundRect">
            <a:avLst>
              <a:gd name="adj" fmla="val 9302"/>
            </a:avLst>
          </a:prstGeom>
          <a:solidFill>
            <a:srgbClr val="FFFFFF"/>
          </a:solidFill>
          <a:ln w="12700">
            <a:solidFill>
              <a:srgbClr val="E2E7F0"/>
            </a:solidFill>
            <a:prstDash val="solid"/>
          </a:ln>
        </p:spPr>
      </p:sp>
      <p:sp>
        <p:nvSpPr>
          <p:cNvPr id="18" name="Shape 16"/>
          <p:cNvSpPr/>
          <p:nvPr/>
        </p:nvSpPr>
        <p:spPr>
          <a:xfrm>
            <a:off x="1295400" y="2272284"/>
            <a:ext cx="38100" cy="694944"/>
          </a:xfrm>
          <a:prstGeom prst="rect">
            <a:avLst/>
          </a:prstGeom>
          <a:solidFill>
            <a:srgbClr val="33414F"/>
          </a:solidFill>
          <a:ln w="12700">
            <a:solidFill>
              <a:srgbClr val="33414F"/>
            </a:solidFill>
            <a:prstDash val="solid"/>
          </a:ln>
        </p:spPr>
      </p:sp>
      <p:sp>
        <p:nvSpPr>
          <p:cNvPr id="19" name="Text 17"/>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教师输入</a:t>
            </a:r>
            <a:endParaRPr lang="en-US" sz="1000" dirty="0"/>
          </a:p>
        </p:txBody>
      </p:sp>
      <p:sp>
        <p:nvSpPr>
          <p:cNvPr id="20" name="Text 18"/>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1" name="Shape 19"/>
          <p:cNvSpPr/>
          <p:nvPr/>
        </p:nvSpPr>
        <p:spPr>
          <a:xfrm>
            <a:off x="1295400" y="3140964"/>
            <a:ext cx="9981895" cy="896112"/>
          </a:xfrm>
          <a:prstGeom prst="roundRect">
            <a:avLst>
              <a:gd name="adj" fmla="val 8163"/>
            </a:avLst>
          </a:prstGeom>
          <a:solidFill>
            <a:srgbClr val="F5F7FB"/>
          </a:solidFill>
          <a:ln w="12700">
            <a:solidFill>
              <a:srgbClr val="E2E7F0"/>
            </a:solidFill>
            <a:prstDash val="solid"/>
          </a:ln>
        </p:spPr>
      </p:sp>
      <p:sp>
        <p:nvSpPr>
          <p:cNvPr id="22" name="Shape 20"/>
          <p:cNvSpPr/>
          <p:nvPr/>
        </p:nvSpPr>
        <p:spPr>
          <a:xfrm>
            <a:off x="1295400" y="3186684"/>
            <a:ext cx="38100" cy="804672"/>
          </a:xfrm>
          <a:prstGeom prst="rect">
            <a:avLst/>
          </a:prstGeom>
          <a:solidFill>
            <a:srgbClr val="C9714C"/>
          </a:solidFill>
          <a:ln w="12700">
            <a:solidFill>
              <a:srgbClr val="C9714C"/>
            </a:solidFill>
            <a:prstDash val="solid"/>
          </a:ln>
        </p:spPr>
      </p:sp>
      <p:sp>
        <p:nvSpPr>
          <p:cNvPr id="23" name="Text 21"/>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9714C"/>
                </a:solidFill>
                <a:latin typeface="Microsoft YaHei" pitchFamily="34" charset="0"/>
                <a:ea typeface="Microsoft YaHei" pitchFamily="34" charset="-122"/>
                <a:cs typeface="Microsoft YaHei" pitchFamily="34" charset="-120"/>
              </a:rPr>
              <a:t>AI 返回</a:t>
            </a:r>
            <a:endParaRPr lang="en-US" sz="1000" dirty="0"/>
          </a:p>
        </p:txBody>
      </p:sp>
      <p:sp>
        <p:nvSpPr>
          <p:cNvPr id="24" name="Text 22"/>
          <p:cNvSpPr/>
          <p:nvPr/>
        </p:nvSpPr>
        <p:spPr>
          <a:xfrm>
            <a:off x="2612136" y="3250692"/>
            <a:ext cx="8409127" cy="676656"/>
          </a:xfrm>
          <a:prstGeom prst="rect">
            <a:avLst/>
          </a:prstGeom>
          <a:noFill/>
          <a:ln/>
        </p:spPr>
        <p:txBody>
          <a:bodyPr wrap="square" lIns="0" tIns="0" rIns="0" bIns="0" rtlCol="0" anchor="t"/>
          <a:lstStyle/>
          <a:p>
            <a:pPr indent="0" marL="0">
              <a:lnSpc>
                <a:spcPct val="145000"/>
              </a:lnSpc>
              <a:buNone/>
            </a:pPr>
            <a:r>
              <a:rPr lang="en-US" sz="1250" dirty="0">
                <a:solidFill>
                  <a:srgbClr val="5B6470"/>
                </a:solidFill>
                <a:latin typeface="Microsoft YaHei" pitchFamily="34" charset="0"/>
                <a:ea typeface="Microsoft YaHei" pitchFamily="34" charset="-122"/>
                <a:cs typeface="Microsoft YaHei" pitchFamily="34" charset="-120"/>
              </a:rPr>
              <a:t>一、未说明透镜与卡纸之间的距离是否固定。二、未说明使用哪一种透镜，不同度数的结果不同。三、未说明「清不清楚」由谁判断、按什么标准判断。</a:t>
            </a:r>
            <a:endParaRPr lang="en-US" sz="1250" dirty="0"/>
          </a:p>
        </p:txBody>
      </p:sp>
      <p:sp>
        <p:nvSpPr>
          <p:cNvPr id="25" name="Shape 23"/>
          <p:cNvSpPr/>
          <p:nvPr/>
        </p:nvSpPr>
        <p:spPr>
          <a:xfrm>
            <a:off x="1295400" y="4165092"/>
            <a:ext cx="9981895" cy="786384"/>
          </a:xfrm>
          <a:prstGeom prst="roundRect">
            <a:avLst>
              <a:gd name="adj" fmla="val 9302"/>
            </a:avLst>
          </a:prstGeom>
          <a:solidFill>
            <a:srgbClr val="FBF1EC"/>
          </a:solidFill>
          <a:ln w="12700">
            <a:solidFill>
              <a:srgbClr val="D9A98F"/>
            </a:solidFill>
            <a:prstDash val="solid"/>
          </a:ln>
        </p:spPr>
      </p:sp>
      <p:sp>
        <p:nvSpPr>
          <p:cNvPr id="26" name="Shape 24"/>
          <p:cNvSpPr/>
          <p:nvPr/>
        </p:nvSpPr>
        <p:spPr>
          <a:xfrm>
            <a:off x="1295400" y="4210812"/>
            <a:ext cx="38100" cy="694944"/>
          </a:xfrm>
          <a:prstGeom prst="rect">
            <a:avLst/>
          </a:prstGeom>
          <a:solidFill>
            <a:srgbClr val="B0472A"/>
          </a:solidFill>
          <a:ln w="12700">
            <a:solidFill>
              <a:srgbClr val="B0472A"/>
            </a:solidFill>
            <a:prstDash val="solid"/>
          </a:ln>
        </p:spPr>
      </p:sp>
      <p:sp>
        <p:nvSpPr>
          <p:cNvPr id="27" name="Text 25"/>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教师的判断</a:t>
            </a:r>
            <a:endParaRPr lang="en-US" sz="1000" dirty="0"/>
          </a:p>
        </p:txBody>
      </p:sp>
      <p:sp>
        <p:nvSpPr>
          <p:cNvPr id="28" name="Text 26"/>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第一条与第三条采纳，交给学生自己补充。第二条不采纳：五年级实验箱里只有一种透镜，提出来会把任务复杂化，超出该学段的方案要求。</a:t>
            </a:r>
            <a:endParaRPr lang="en-US" sz="12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6" name="Shape 14"/>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7" name="Text 15"/>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原始数据须由学生自行测量或调查获得。数据整理、作图与异常值标注可借助 AI。</a:t>
            </a:r>
            <a:endParaRPr lang="en-US" sz="1800" dirty="0"/>
          </a:p>
        </p:txBody>
      </p:sp>
      <p:sp>
        <p:nvSpPr>
          <p:cNvPr id="27" name="Shape 25"/>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28" name="Text 26"/>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29" name="Text 27"/>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6" name="Shape 14"/>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7" name="Text 15"/>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6" name="Shape 14"/>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7" name="Text 15"/>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迭代要求</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6" name="Shape 14"/>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7" name="Text 15"/>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8" name="Shape 16"/>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19" name="Shape 17"/>
          <p:cNvSpPr/>
          <p:nvPr/>
        </p:nvSpPr>
        <p:spPr>
          <a:xfrm>
            <a:off x="1295400" y="1975104"/>
            <a:ext cx="38100" cy="822960"/>
          </a:xfrm>
          <a:prstGeom prst="rect">
            <a:avLst/>
          </a:prstGeom>
          <a:solidFill>
            <a:srgbClr val="33414F"/>
          </a:solidFill>
          <a:ln w="12700">
            <a:solidFill>
              <a:srgbClr val="33414F"/>
            </a:solidFill>
            <a:prstDash val="solid"/>
          </a:ln>
        </p:spPr>
      </p:sp>
      <p:sp>
        <p:nvSpPr>
          <p:cNvPr id="20" name="Text 18"/>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1" name="Text 19"/>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22" name="Shape 20"/>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3" name="Shape 21"/>
          <p:cNvSpPr/>
          <p:nvPr/>
        </p:nvSpPr>
        <p:spPr>
          <a:xfrm>
            <a:off x="6396076" y="1975104"/>
            <a:ext cx="38100" cy="822960"/>
          </a:xfrm>
          <a:prstGeom prst="rect">
            <a:avLst/>
          </a:prstGeom>
          <a:solidFill>
            <a:srgbClr val="C9714C"/>
          </a:solidFill>
          <a:ln w="12700">
            <a:solidFill>
              <a:srgbClr val="C9714C"/>
            </a:solidFill>
            <a:prstDash val="solid"/>
          </a:ln>
        </p:spPr>
      </p:sp>
      <p:sp>
        <p:nvSpPr>
          <p:cNvPr id="24" name="Text 22"/>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5" name="Text 23"/>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26" name="Text 24"/>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27" name="Shape 25"/>
          <p:cNvSpPr/>
          <p:nvPr/>
        </p:nvSpPr>
        <p:spPr>
          <a:xfrm>
            <a:off x="1295400" y="5376672"/>
            <a:ext cx="9981895" cy="0"/>
          </a:xfrm>
          <a:prstGeom prst="line">
            <a:avLst/>
          </a:prstGeom>
          <a:noFill/>
          <a:ln w="12700">
            <a:solidFill>
              <a:srgbClr val="E2E7F0"/>
            </a:solidFill>
            <a:prstDash val="solid"/>
          </a:ln>
        </p:spPr>
      </p:sp>
      <p:sp>
        <p:nvSpPr>
          <p:cNvPr id="28" name="Text 2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29" name="Text 2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6" name="Shape 14"/>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7" name="Shape 15"/>
          <p:cNvSpPr/>
          <p:nvPr/>
        </p:nvSpPr>
        <p:spPr>
          <a:xfrm>
            <a:off x="1359408" y="2043684"/>
            <a:ext cx="4753204" cy="38100"/>
          </a:xfrm>
          <a:prstGeom prst="rect">
            <a:avLst/>
          </a:prstGeom>
          <a:solidFill>
            <a:srgbClr val="33414F"/>
          </a:solidFill>
          <a:ln w="12700">
            <a:solidFill>
              <a:srgbClr val="33414F"/>
            </a:solidFill>
            <a:prstDash val="solid"/>
          </a:ln>
        </p:spPr>
      </p:sp>
      <p:sp>
        <p:nvSpPr>
          <p:cNvPr id="18" name="Text 16"/>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19" name="Text 17"/>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0" name="Text 18"/>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1" name="Text 19"/>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2" name="Shape 20"/>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3" name="Shape 21"/>
          <p:cNvSpPr/>
          <p:nvPr/>
        </p:nvSpPr>
        <p:spPr>
          <a:xfrm>
            <a:off x="6460084" y="2043684"/>
            <a:ext cx="4753204" cy="38100"/>
          </a:xfrm>
          <a:prstGeom prst="rect">
            <a:avLst/>
          </a:prstGeom>
          <a:solidFill>
            <a:srgbClr val="C9714C"/>
          </a:solidFill>
          <a:ln w="12700">
            <a:solidFill>
              <a:srgbClr val="C9714C"/>
            </a:solidFill>
            <a:prstDash val="solid"/>
          </a:ln>
        </p:spPr>
      </p:sp>
      <p:sp>
        <p:nvSpPr>
          <p:cNvPr id="24" name="Text 22"/>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5" name="Text 23"/>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6" name="Text 24"/>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7" name="Text 25"/>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8" name="Shape 26"/>
          <p:cNvSpPr/>
          <p:nvPr/>
        </p:nvSpPr>
        <p:spPr>
          <a:xfrm>
            <a:off x="1295400" y="5888736"/>
            <a:ext cx="9981895" cy="0"/>
          </a:xfrm>
          <a:prstGeom prst="line">
            <a:avLst/>
          </a:prstGeom>
          <a:noFill/>
          <a:ln w="12700">
            <a:solidFill>
              <a:srgbClr val="E2E7F0"/>
            </a:solidFill>
            <a:prstDash val="solid"/>
          </a:ln>
        </p:spPr>
      </p:sp>
      <p:sp>
        <p:nvSpPr>
          <p:cNvPr id="29" name="Text 2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66725" y="434476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5063218"/>
            <a:ext cx="95250" cy="95250"/>
          </a:xfrm>
          <a:prstGeom prst="ellipse">
            <a:avLst/>
          </a:prstGeom>
          <a:solidFill>
            <a:srgbClr val="FFFFFF"/>
          </a:solidFill>
          <a:ln w="25400">
            <a:solidFill>
              <a:srgbClr val="E2E7F0"/>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5" name="Text 13"/>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6" name="Text 14"/>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6" name="Text 14"/>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7" name="Text 15"/>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8" name="Text 16"/>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19" name="Text 17"/>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0" name="Text 18"/>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1" name="Text 19"/>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2" name="Shape 20"/>
          <p:cNvSpPr/>
          <p:nvPr/>
        </p:nvSpPr>
        <p:spPr>
          <a:xfrm>
            <a:off x="1295400" y="5888736"/>
            <a:ext cx="9981895" cy="0"/>
          </a:xfrm>
          <a:prstGeom prst="line">
            <a:avLst/>
          </a:prstGeom>
          <a:noFill/>
          <a:ln w="12700">
            <a:solidFill>
              <a:srgbClr val="E2E7F0"/>
            </a:solidFill>
            <a:prstDash val="solid"/>
          </a:ln>
        </p:spPr>
      </p:sp>
      <p:sp>
        <p:nvSpPr>
          <p:cNvPr id="23"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6"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7" name="Text 14"/>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6" name="Shape 14"/>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7" name="Shape 15"/>
          <p:cNvSpPr/>
          <p:nvPr/>
        </p:nvSpPr>
        <p:spPr>
          <a:xfrm>
            <a:off x="1295400" y="1906524"/>
            <a:ext cx="38100" cy="420624"/>
          </a:xfrm>
          <a:prstGeom prst="rect">
            <a:avLst/>
          </a:prstGeom>
          <a:solidFill>
            <a:srgbClr val="B0472A"/>
          </a:solidFill>
          <a:ln w="12700">
            <a:solidFill>
              <a:srgbClr val="B0472A"/>
            </a:solidFill>
            <a:prstDash val="solid"/>
          </a:ln>
        </p:spPr>
      </p:sp>
      <p:sp>
        <p:nvSpPr>
          <p:cNvPr id="18" name="Text 16"/>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19" name="Text 17"/>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0" name="Shape 18"/>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1" name="Shape 19"/>
          <p:cNvSpPr/>
          <p:nvPr/>
        </p:nvSpPr>
        <p:spPr>
          <a:xfrm>
            <a:off x="1295400" y="2510028"/>
            <a:ext cx="38100" cy="420624"/>
          </a:xfrm>
          <a:prstGeom prst="rect">
            <a:avLst/>
          </a:prstGeom>
          <a:solidFill>
            <a:srgbClr val="B0472A"/>
          </a:solidFill>
          <a:ln w="12700">
            <a:solidFill>
              <a:srgbClr val="B0472A"/>
            </a:solidFill>
            <a:prstDash val="solid"/>
          </a:ln>
        </p:spPr>
      </p:sp>
      <p:sp>
        <p:nvSpPr>
          <p:cNvPr id="22" name="Text 20"/>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3" name="Text 21"/>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4" name="Shape 22"/>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5" name="Shape 23"/>
          <p:cNvSpPr/>
          <p:nvPr/>
        </p:nvSpPr>
        <p:spPr>
          <a:xfrm>
            <a:off x="1295400" y="3113532"/>
            <a:ext cx="38100" cy="420624"/>
          </a:xfrm>
          <a:prstGeom prst="rect">
            <a:avLst/>
          </a:prstGeom>
          <a:solidFill>
            <a:srgbClr val="B0472A"/>
          </a:solidFill>
          <a:ln w="12700">
            <a:solidFill>
              <a:srgbClr val="B0472A"/>
            </a:solidFill>
            <a:prstDash val="solid"/>
          </a:ln>
        </p:spPr>
      </p:sp>
      <p:sp>
        <p:nvSpPr>
          <p:cNvPr id="26" name="Text 24"/>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7" name="Text 25"/>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8" name="Shape 26"/>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29" name="Shape 27"/>
          <p:cNvSpPr/>
          <p:nvPr/>
        </p:nvSpPr>
        <p:spPr>
          <a:xfrm>
            <a:off x="1295400" y="3717036"/>
            <a:ext cx="38100" cy="420624"/>
          </a:xfrm>
          <a:prstGeom prst="rect">
            <a:avLst/>
          </a:prstGeom>
          <a:solidFill>
            <a:srgbClr val="B0472A"/>
          </a:solidFill>
          <a:ln w="12700">
            <a:solidFill>
              <a:srgbClr val="B0472A"/>
            </a:solidFill>
            <a:prstDash val="solid"/>
          </a:ln>
        </p:spPr>
      </p:sp>
      <p:sp>
        <p:nvSpPr>
          <p:cNvPr id="30" name="Text 28"/>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1" name="Text 29"/>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2" name="Text 30"/>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1A2029"/>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3" name="Text 31"/>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4" name="Shape 32"/>
          <p:cNvSpPr/>
          <p:nvPr/>
        </p:nvSpPr>
        <p:spPr>
          <a:xfrm>
            <a:off x="1295400" y="5888736"/>
            <a:ext cx="9981895" cy="0"/>
          </a:xfrm>
          <a:prstGeom prst="line">
            <a:avLst/>
          </a:prstGeom>
          <a:noFill/>
          <a:ln w="12700">
            <a:solidFill>
              <a:srgbClr val="E2E7F0"/>
            </a:solidFill>
            <a:prstDash val="solid"/>
          </a:ln>
        </p:spPr>
      </p:sp>
      <p:sp>
        <p:nvSpPr>
          <p:cNvPr id="35" name="Text 33"/>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66725" y="5044168"/>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762625"/>
            <a:ext cx="95250" cy="95250"/>
          </a:xfrm>
          <a:prstGeom prst="ellipse">
            <a:avLst/>
          </a:prstGeom>
          <a:solidFill>
            <a:srgbClr val="FFFFFF"/>
          </a:solidFill>
          <a:ln w="25400">
            <a:solidFill>
              <a:srgbClr val="E2E7F0"/>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6" name="Shape 14"/>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7" name="Text 15"/>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8" name="Shape 16"/>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19" name="Text 17"/>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0" name="Shape 18"/>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1" name="Text 19"/>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2" name="Shape 20"/>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3" name="Text 21"/>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4" name="Text 22"/>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5" name="Text 23"/>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6" name="Text 24"/>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7" name="Text 25"/>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8" name="Text 26"/>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智能体是什么</a:t>
            </a:r>
            <a:endParaRPr lang="en-US" sz="3200" dirty="0"/>
          </a:p>
        </p:txBody>
      </p:sp>
      <p:sp>
        <p:nvSpPr>
          <p:cNvPr id="16" name="Text 14"/>
          <p:cNvSpPr/>
          <p:nvPr/>
        </p:nvSpPr>
        <p:spPr>
          <a:xfrm>
            <a:off x="1295400" y="1842516"/>
            <a:ext cx="9981895" cy="548640"/>
          </a:xfrm>
          <a:prstGeom prst="rect">
            <a:avLst/>
          </a:prstGeom>
          <a:noFill/>
          <a:ln/>
        </p:spPr>
        <p:txBody>
          <a:bodyPr wrap="square" lIns="0" tIns="0" rIns="0" bIns="0" rtlCol="0" anchor="t"/>
          <a:lstStyle/>
          <a:p>
            <a:pPr indent="0" marL="0">
              <a:lnSpc>
                <a:spcPct val="145000"/>
              </a:lnSpc>
              <a:buNone/>
            </a:pPr>
            <a:r>
              <a:rPr lang="en-US" sz="1400" dirty="0">
                <a:solidFill>
                  <a:srgbClr val="5B6470"/>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400" dirty="0"/>
          </a:p>
        </p:txBody>
      </p:sp>
      <p:sp>
        <p:nvSpPr>
          <p:cNvPr id="17" name="Shape 15"/>
          <p:cNvSpPr/>
          <p:nvPr/>
        </p:nvSpPr>
        <p:spPr>
          <a:xfrm>
            <a:off x="1295400" y="2574036"/>
            <a:ext cx="9981895" cy="1417320"/>
          </a:xfrm>
          <a:prstGeom prst="roundRect">
            <a:avLst>
              <a:gd name="adj" fmla="val 5806"/>
            </a:avLst>
          </a:prstGeom>
          <a:solidFill>
            <a:srgbClr val="FFFFFF"/>
          </a:solidFill>
          <a:ln w="12700">
            <a:solidFill>
              <a:srgbClr val="E2E7F0"/>
            </a:solidFill>
            <a:prstDash val="solid"/>
          </a:ln>
        </p:spPr>
      </p:sp>
      <p:sp>
        <p:nvSpPr>
          <p:cNvPr id="18" name="Shape 16"/>
          <p:cNvSpPr/>
          <p:nvPr/>
        </p:nvSpPr>
        <p:spPr>
          <a:xfrm>
            <a:off x="1295400" y="2628900"/>
            <a:ext cx="38100" cy="1307592"/>
          </a:xfrm>
          <a:prstGeom prst="rect">
            <a:avLst/>
          </a:prstGeom>
          <a:solidFill>
            <a:srgbClr val="B0472A"/>
          </a:solidFill>
          <a:ln w="12700">
            <a:solidFill>
              <a:srgbClr val="B0472A"/>
            </a:solidFill>
            <a:prstDash val="solid"/>
          </a:ln>
        </p:spPr>
      </p:sp>
      <p:sp>
        <p:nvSpPr>
          <p:cNvPr id="19" name="Text 17"/>
          <p:cNvSpPr/>
          <p:nvPr/>
        </p:nvSpPr>
        <p:spPr>
          <a:xfrm>
            <a:off x="1569720" y="2738628"/>
            <a:ext cx="9433255" cy="201168"/>
          </a:xfrm>
          <a:prstGeom prst="rect">
            <a:avLst/>
          </a:prstGeom>
          <a:noFill/>
          <a:ln/>
        </p:spPr>
        <p:txBody>
          <a:bodyPr wrap="square" lIns="0" tIns="0" rIns="0" bIns="0" rtlCol="0" anchor="ctr"/>
          <a:lstStyle/>
          <a:p>
            <a:pPr indent="0" marL="0">
              <a:buNone/>
            </a:pPr>
            <a:r>
              <a:rPr lang="en-US" sz="1000" b="1" spc="120" kern="0" dirty="0">
                <a:solidFill>
                  <a:srgbClr val="B0472A"/>
                </a:solidFill>
                <a:latin typeface="Microsoft YaHei" pitchFamily="34" charset="0"/>
                <a:ea typeface="Microsoft YaHei" pitchFamily="34" charset="-122"/>
                <a:cs typeface="Microsoft YaHei" pitchFamily="34" charset="-120"/>
              </a:rPr>
              <a:t>可直接照抄的指令</a:t>
            </a:r>
            <a:endParaRPr lang="en-US" sz="1000" dirty="0"/>
          </a:p>
        </p:txBody>
      </p:sp>
      <p:sp>
        <p:nvSpPr>
          <p:cNvPr id="20" name="Text 18"/>
          <p:cNvSpPr/>
          <p:nvPr/>
        </p:nvSpPr>
        <p:spPr>
          <a:xfrm>
            <a:off x="1569720" y="3031236"/>
            <a:ext cx="9433255" cy="795528"/>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500" dirty="0"/>
          </a:p>
        </p:txBody>
      </p:sp>
      <p:sp>
        <p:nvSpPr>
          <p:cNvPr id="21" name="Text 19"/>
          <p:cNvSpPr/>
          <p:nvPr/>
        </p:nvSpPr>
        <p:spPr>
          <a:xfrm>
            <a:off x="1295400" y="4247388"/>
            <a:ext cx="9981895" cy="365760"/>
          </a:xfrm>
          <a:prstGeom prst="rect">
            <a:avLst/>
          </a:prstGeom>
          <a:noFill/>
          <a:ln/>
        </p:spPr>
        <p:txBody>
          <a:bodyPr wrap="square" lIns="0" tIns="0" rIns="0" bIns="0" rtlCol="0" anchor="t"/>
          <a:lstStyle/>
          <a:p>
            <a:pPr indent="0" marL="0">
              <a:lnSpc>
                <a:spcPct val="150000"/>
              </a:lnSpc>
              <a:buNone/>
            </a:pPr>
            <a:r>
              <a:rPr lang="en-US" sz="1350" dirty="0">
                <a:solidFill>
                  <a:srgbClr val="1A2029"/>
                </a:solidFill>
                <a:latin typeface="Microsoft YaHei" pitchFamily="34" charset="0"/>
                <a:ea typeface="Microsoft YaHei" pitchFamily="34" charset="-122"/>
                <a:cs typeface="Microsoft YaHei" pitchFamily="34" charset="-120"/>
              </a:rPr>
              <a:t>把上面这段话贴进任何一个对话框，它就是一个方案质疑员。要换用途，改写这段话即可。</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7" name="Shape 14"/>
          <p:cNvSpPr/>
          <p:nvPr/>
        </p:nvSpPr>
        <p:spPr>
          <a:xfrm>
            <a:off x="1295400" y="5888736"/>
            <a:ext cx="9981895" cy="0"/>
          </a:xfrm>
          <a:prstGeom prst="line">
            <a:avLst/>
          </a:prstGeom>
          <a:noFill/>
          <a:ln w="12700">
            <a:solidFill>
              <a:srgbClr val="E2E7F0"/>
            </a:solidFill>
            <a:prstDash val="solid"/>
          </a:ln>
        </p:spPr>
      </p:sp>
      <p:sp>
        <p:nvSpPr>
          <p:cNvPr id="18" name="Text 1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5" name="Text 13"/>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三周的起步路径</a:t>
            </a:r>
            <a:endParaRPr lang="en-US" sz="3200" dirty="0"/>
          </a:p>
        </p:txBody>
      </p:sp>
      <p:sp>
        <p:nvSpPr>
          <p:cNvPr id="16" name="Text 14"/>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第一周</a:t>
            </a:r>
            <a:endParaRPr lang="en-US" sz="1600" dirty="0"/>
          </a:p>
        </p:txBody>
      </p:sp>
      <p:sp>
        <p:nvSpPr>
          <p:cNvPr id="17" name="Text 15"/>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设置问题墙</a:t>
            </a:r>
            <a:endParaRPr lang="en-US" sz="2000" dirty="0"/>
          </a:p>
        </p:txBody>
      </p:sp>
      <p:sp>
        <p:nvSpPr>
          <p:cNvPr id="18" name="Text 16"/>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19" name="Text 17"/>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第二周</a:t>
            </a:r>
            <a:endParaRPr lang="en-US" sz="1600" dirty="0"/>
          </a:p>
        </p:txBody>
      </p:sp>
      <p:sp>
        <p:nvSpPr>
          <p:cNvPr id="20" name="Text 18"/>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1" name="Text 19"/>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2" name="Text 20"/>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第三周</a:t>
            </a:r>
            <a:endParaRPr lang="en-US" sz="1600" dirty="0"/>
          </a:p>
        </p:txBody>
      </p:sp>
      <p:sp>
        <p:nvSpPr>
          <p:cNvPr id="23" name="Text 21"/>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发出四栏留痕表</a:t>
            </a:r>
            <a:endParaRPr lang="en-US" sz="2000" dirty="0"/>
          </a:p>
        </p:txBody>
      </p:sp>
      <p:sp>
        <p:nvSpPr>
          <p:cNvPr id="24" name="Text 22"/>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5" name="Shape 23"/>
          <p:cNvSpPr/>
          <p:nvPr/>
        </p:nvSpPr>
        <p:spPr>
          <a:xfrm>
            <a:off x="1295400" y="5888736"/>
            <a:ext cx="9981895" cy="0"/>
          </a:xfrm>
          <a:prstGeom prst="line">
            <a:avLst/>
          </a:prstGeom>
          <a:noFill/>
          <a:ln w="12700">
            <a:solidFill>
              <a:srgbClr val="E2E7F0"/>
            </a:solidFill>
            <a:prstDash val="solid"/>
          </a:ln>
        </p:spPr>
      </p:sp>
      <p:sp>
        <p:nvSpPr>
          <p:cNvPr id="26" name="Text 2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三周均不需要安装软件，能打开浏览器中的对话框即可。三项存在先后依赖，顺序不调换。</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566182"/>
            <a:ext cx="95250" cy="95250"/>
          </a:xfrm>
          <a:prstGeom prst="ellipse">
            <a:avLst/>
          </a:prstGeom>
          <a:solidFill>
            <a:srgbClr val="C2CBD8"/>
          </a:solidFill>
          <a:ln w="25400">
            <a:solidFill>
              <a:srgbClr val="C2CBD8"/>
            </a:solidFill>
            <a:prstDash val="solid"/>
          </a:ln>
        </p:spPr>
      </p:sp>
      <p:sp>
        <p:nvSpPr>
          <p:cNvPr id="5" name="Shape 3"/>
          <p:cNvSpPr/>
          <p:nvPr/>
        </p:nvSpPr>
        <p:spPr>
          <a:xfrm>
            <a:off x="485775" y="2265589"/>
            <a:ext cx="95250" cy="95250"/>
          </a:xfrm>
          <a:prstGeom prst="ellipse">
            <a:avLst/>
          </a:prstGeom>
          <a:solidFill>
            <a:srgbClr val="C2CBD8"/>
          </a:solidFill>
          <a:ln w="25400">
            <a:solidFill>
              <a:srgbClr val="C2CBD8"/>
            </a:solidFill>
            <a:prstDash val="solid"/>
          </a:ln>
        </p:spPr>
      </p:sp>
      <p:sp>
        <p:nvSpPr>
          <p:cNvPr id="6" name="Shape 4"/>
          <p:cNvSpPr/>
          <p:nvPr/>
        </p:nvSpPr>
        <p:spPr>
          <a:xfrm>
            <a:off x="485775" y="2964996"/>
            <a:ext cx="95250" cy="95250"/>
          </a:xfrm>
          <a:prstGeom prst="ellipse">
            <a:avLst/>
          </a:prstGeom>
          <a:solidFill>
            <a:srgbClr val="C2CBD8"/>
          </a:solidFill>
          <a:ln w="25400">
            <a:solidFill>
              <a:srgbClr val="C2CBD8"/>
            </a:solidFill>
            <a:prstDash val="solid"/>
          </a:ln>
        </p:spPr>
      </p:sp>
      <p:sp>
        <p:nvSpPr>
          <p:cNvPr id="7" name="Shape 5"/>
          <p:cNvSpPr/>
          <p:nvPr/>
        </p:nvSpPr>
        <p:spPr>
          <a:xfrm>
            <a:off x="485775" y="3664404"/>
            <a:ext cx="95250" cy="95250"/>
          </a:xfrm>
          <a:prstGeom prst="ellipse">
            <a:avLst/>
          </a:prstGeom>
          <a:solidFill>
            <a:srgbClr val="C2CBD8"/>
          </a:solidFill>
          <a:ln w="25400">
            <a:solidFill>
              <a:srgbClr val="C2CBD8"/>
            </a:solidFill>
            <a:prstDash val="solid"/>
          </a:ln>
        </p:spPr>
      </p:sp>
      <p:sp>
        <p:nvSpPr>
          <p:cNvPr id="8" name="Shape 6"/>
          <p:cNvSpPr/>
          <p:nvPr/>
        </p:nvSpPr>
        <p:spPr>
          <a:xfrm>
            <a:off x="485775" y="4363811"/>
            <a:ext cx="95250" cy="95250"/>
          </a:xfrm>
          <a:prstGeom prst="ellipse">
            <a:avLst/>
          </a:prstGeom>
          <a:solidFill>
            <a:srgbClr val="C2CBD8"/>
          </a:solidFill>
          <a:ln w="25400">
            <a:solidFill>
              <a:srgbClr val="C2CBD8"/>
            </a:solidFill>
            <a:prstDash val="solid"/>
          </a:ln>
        </p:spPr>
      </p:sp>
      <p:sp>
        <p:nvSpPr>
          <p:cNvPr id="9" name="Shape 7"/>
          <p:cNvSpPr/>
          <p:nvPr/>
        </p:nvSpPr>
        <p:spPr>
          <a:xfrm>
            <a:off x="485775" y="5063218"/>
            <a:ext cx="95250" cy="95250"/>
          </a:xfrm>
          <a:prstGeom prst="ellipse">
            <a:avLst/>
          </a:prstGeom>
          <a:solidFill>
            <a:srgbClr val="C2CBD8"/>
          </a:solidFill>
          <a:ln w="25400">
            <a:solidFill>
              <a:srgbClr val="C2CBD8"/>
            </a:solidFill>
            <a:prstDash val="solid"/>
          </a:ln>
        </p:spPr>
      </p:sp>
      <p:sp>
        <p:nvSpPr>
          <p:cNvPr id="10" name="Shape 8"/>
          <p:cNvSpPr/>
          <p:nvPr/>
        </p:nvSpPr>
        <p:spPr>
          <a:xfrm>
            <a:off x="466725" y="5743575"/>
            <a:ext cx="133350" cy="133350"/>
          </a:xfrm>
          <a:prstGeom prst="ellipse">
            <a:avLst/>
          </a:prstGeom>
          <a:solidFill>
            <a:srgbClr val="B0472A"/>
          </a:solidFill>
          <a:ln w="25400">
            <a:solidFill>
              <a:srgbClr val="B0472A"/>
            </a:solidFill>
            <a:prstDash val="solid"/>
          </a:ln>
        </p:spPr>
      </p:sp>
      <p:sp>
        <p:nvSpPr>
          <p:cNvPr id="11" name="Text 9"/>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2" name="Text 10"/>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41</a:t>
            </a:r>
            <a:endParaRPr lang="en-US" sz="1000" dirty="0"/>
          </a:p>
        </p:txBody>
      </p:sp>
      <p:sp>
        <p:nvSpPr>
          <p:cNvPr id="13" name="Text 11"/>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4" name="Text 12"/>
          <p:cNvSpPr/>
          <p:nvPr/>
        </p:nvSpPr>
        <p:spPr>
          <a:xfrm>
            <a:off x="1295400" y="195681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350" dirty="0"/>
          </a:p>
        </p:txBody>
      </p:sp>
      <p:sp>
        <p:nvSpPr>
          <p:cNvPr id="15" name="Text 13"/>
          <p:cNvSpPr/>
          <p:nvPr/>
        </p:nvSpPr>
        <p:spPr>
          <a:xfrm>
            <a:off x="1295400" y="268833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350" dirty="0"/>
          </a:p>
        </p:txBody>
      </p:sp>
      <p:sp>
        <p:nvSpPr>
          <p:cNvPr id="16" name="Text 14"/>
          <p:cNvSpPr/>
          <p:nvPr/>
        </p:nvSpPr>
        <p:spPr>
          <a:xfrm>
            <a:off x="1295400" y="341985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350" dirty="0"/>
          </a:p>
        </p:txBody>
      </p:sp>
      <p:sp>
        <p:nvSpPr>
          <p:cNvPr id="17" name="Text 15"/>
          <p:cNvSpPr/>
          <p:nvPr/>
        </p:nvSpPr>
        <p:spPr>
          <a:xfrm>
            <a:off x="1295400" y="4572000"/>
            <a:ext cx="9981895" cy="292608"/>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400" dirty="0"/>
          </a:p>
        </p:txBody>
      </p:sp>
      <p:sp>
        <p:nvSpPr>
          <p:cNvPr id="18" name="Shape 16"/>
          <p:cNvSpPr/>
          <p:nvPr/>
        </p:nvSpPr>
        <p:spPr>
          <a:xfrm>
            <a:off x="1295400" y="4992624"/>
            <a:ext cx="2926080" cy="457200"/>
          </a:xfrm>
          <a:prstGeom prst="roundRect">
            <a:avLst>
              <a:gd name="adj" fmla="val 16000"/>
            </a:avLst>
          </a:prstGeom>
          <a:solidFill>
            <a:srgbClr val="F5F7FB"/>
          </a:solidFill>
          <a:ln w="12700">
            <a:solidFill>
              <a:srgbClr val="D9A98F"/>
            </a:solidFill>
            <a:prstDash val="dash"/>
          </a:ln>
        </p:spPr>
      </p:sp>
      <p:sp>
        <p:nvSpPr>
          <p:cNvPr id="19" name="Text 17"/>
          <p:cNvSpPr/>
          <p:nvPr/>
        </p:nvSpPr>
        <p:spPr>
          <a:xfrm>
            <a:off x="1295400" y="4992624"/>
            <a:ext cx="2926080" cy="457200"/>
          </a:xfrm>
          <a:prstGeom prst="rect">
            <a:avLst/>
          </a:prstGeom>
          <a:noFill/>
          <a:ln/>
        </p:spPr>
        <p:txBody>
          <a:bodyPr wrap="square" lIns="0" tIns="0" rIns="0" bIns="0" rtlCol="0" anchor="ctr"/>
          <a:lstStyle/>
          <a:p>
            <a:pPr algn="ctr" indent="0" marL="0">
              <a:buNone/>
            </a:pPr>
            <a:r>
              <a:rPr lang="en-US" sz="1150" dirty="0">
                <a:solidFill>
                  <a:srgbClr val="B0472A"/>
                </a:solidFill>
                <a:latin typeface="Microsoft YaHei" pitchFamily="34" charset="0"/>
                <a:ea typeface="Microsoft YaHei" pitchFamily="34" charset="-122"/>
                <a:cs typeface="Microsoft YaHei" pitchFamily="34" charset="-120"/>
              </a:rPr>
              <a:t>【占位】讲义与二维码</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2026-08-21T14:26:14Z</dcterms:created>
  <dcterms:modified xsi:type="dcterms:W3CDTF">2026-08-21T14:26:14Z</dcterms:modified>
</cp:coreProperties>
</file>