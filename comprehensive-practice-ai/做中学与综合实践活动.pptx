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本页用于建立时间坐标，不作评论。有两点需要指出：2017 年纲要至今未废止，本课程的培养目标与活动方式仍依其执行；2022 年课程方案将劳动与信息科技从综合实践活动中独立设置，本课程的现行定位为跨学科研究性学习与社会实践。本页属 B 档，60 分钟版删除，直接进入第 5 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年纲要未作这一层约束。小学学段要求识别变量、制订简单的探究方案，初中学段要求应用控制变量方法、制订比较完整的探究方案。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现场辨识，先甲后乙，记录大致比例，暂不揭晓。两份均为虚构的平行案例，不涉及任何真实学生，此点在揭晓页说明。本页属 B 档，60 分钟版整段删除，直接进入第 11 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须说明两份均为虚构，未使用真实学生作业。揭晓的落点不在指出 AI 文本的破绽。乙的文本质量高于甲，按纸面标准应当给乙更高分数，问题在于评价对象是纸面。成果可替代性至此由一项断言转为听众刚刚经历的判断。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全场第一张表。三列宣读完毕即停，不点破规律。规律是左列均属学生侧，中列均属教师侧，留待听众自行发现，第 19 页收束。第三列是本场可信度的来源之一，须如实陈述：生成式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本页是全场可信度的支点，不可省略，亦不可夸大。先陈述研究设计，再陈述结果，顺序不可颠倒。须主动说明样本为大学生，中小学不可直接套用其数值，但机制一致：生成式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相当一部分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听众要带走的第一项工具。三项判断的顺序不可调换：先确认能力，再判断替代关系，最后讨论补偿。多数人的顺序相反，先看工具功能再倒推是否使用，该顺序容易导致使用过度。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指南写明鼓励学生大胆尝试，包容失败，在面对具有不确定性的问题时，通过不断试错、反思、改进等，寻求问题解决方案，体验科学探索的曲折过程。本课程的教学资产即试错空间，而生成式 AI 的默认行为是消除试错空间。本页属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本页是听众要带走的工具。说明该表将随讲义发放，教师亦可自行绘制，格式不重要，三项判断是重点。下一段以生命健康的两项任务当场填写一遍。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补充说明：选题环节产生的评价证据是问题意识，而问题意识在四个评价维度中仅此一个来源，替代后无从补偿。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听众要带走的第二项工具，成本最低。三项提问指向过程而非结论，无法预先背诵。第三问答不出，说明学生未作验证，该成果为外部获得。若全场只记住一项内容，即这三项提问。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指南列举的评价主体即这四类，其中没有 AI。以 AI 自动批阅探究日志、自动生成评语并直接进入档案，超出该文件的授权范围。本页的作用是保护教师：责任由签字者承担，判断权亦须留在签字者手中。本页属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收束即止，不作展望。三项动作存在先后依赖：先有真实问题，方能对方案提出质疑；先有方案与质疑记录，留痕方有内容。直接从第二项入手者多数会做成问答助手。三项讲完即结束。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末页停留时间稍长，供拍照。三条说明均须宣读，尤其第三条。将专业判断与政策规定分开，此条不可省略。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5" name="Text 13"/>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F1B2D"/>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6" name="Text 14"/>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B6470"/>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7" name="Shape 15"/>
          <p:cNvSpPr/>
          <p:nvPr/>
        </p:nvSpPr>
        <p:spPr>
          <a:xfrm>
            <a:off x="1295400" y="3346704"/>
            <a:ext cx="1481328" cy="384048"/>
          </a:xfrm>
          <a:prstGeom prst="roundRect">
            <a:avLst>
              <a:gd name="adj" fmla="val 16667"/>
            </a:avLst>
          </a:prstGeom>
          <a:solidFill>
            <a:srgbClr val="FFFFFF"/>
          </a:solidFill>
          <a:ln w="12700">
            <a:solidFill>
              <a:srgbClr val="E2E7F0"/>
            </a:solidFill>
            <a:prstDash val="solid"/>
          </a:ln>
        </p:spPr>
      </p:sp>
      <p:sp>
        <p:nvSpPr>
          <p:cNvPr id="18" name="Text 16"/>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19" name="Shape 17"/>
          <p:cNvSpPr/>
          <p:nvPr/>
        </p:nvSpPr>
        <p:spPr>
          <a:xfrm>
            <a:off x="2776728" y="3538728"/>
            <a:ext cx="182880" cy="0"/>
          </a:xfrm>
          <a:prstGeom prst="line">
            <a:avLst/>
          </a:prstGeom>
          <a:noFill/>
          <a:ln w="12700">
            <a:solidFill>
              <a:srgbClr val="E2E7F0"/>
            </a:solidFill>
            <a:prstDash val="solid"/>
          </a:ln>
        </p:spPr>
      </p:sp>
      <p:sp>
        <p:nvSpPr>
          <p:cNvPr id="20" name="Shape 18"/>
          <p:cNvSpPr/>
          <p:nvPr/>
        </p:nvSpPr>
        <p:spPr>
          <a:xfrm>
            <a:off x="2959608" y="3346704"/>
            <a:ext cx="1481328" cy="384048"/>
          </a:xfrm>
          <a:prstGeom prst="roundRect">
            <a:avLst>
              <a:gd name="adj" fmla="val 16667"/>
            </a:avLst>
          </a:prstGeom>
          <a:solidFill>
            <a:srgbClr val="FFFFFF"/>
          </a:solidFill>
          <a:ln w="12700">
            <a:solidFill>
              <a:srgbClr val="E2E7F0"/>
            </a:solidFill>
            <a:prstDash val="solid"/>
          </a:ln>
        </p:spPr>
      </p:sp>
      <p:sp>
        <p:nvSpPr>
          <p:cNvPr id="21" name="Text 19"/>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22" name="Shape 20"/>
          <p:cNvSpPr/>
          <p:nvPr/>
        </p:nvSpPr>
        <p:spPr>
          <a:xfrm>
            <a:off x="4440936" y="3538728"/>
            <a:ext cx="182880" cy="0"/>
          </a:xfrm>
          <a:prstGeom prst="line">
            <a:avLst/>
          </a:prstGeom>
          <a:noFill/>
          <a:ln w="12700">
            <a:solidFill>
              <a:srgbClr val="E2E7F0"/>
            </a:solidFill>
            <a:prstDash val="solid"/>
          </a:ln>
        </p:spPr>
      </p:sp>
      <p:sp>
        <p:nvSpPr>
          <p:cNvPr id="23" name="Shape 21"/>
          <p:cNvSpPr/>
          <p:nvPr/>
        </p:nvSpPr>
        <p:spPr>
          <a:xfrm>
            <a:off x="4623816" y="3346704"/>
            <a:ext cx="1481328" cy="384048"/>
          </a:xfrm>
          <a:prstGeom prst="roundRect">
            <a:avLst>
              <a:gd name="adj" fmla="val 16667"/>
            </a:avLst>
          </a:prstGeom>
          <a:solidFill>
            <a:srgbClr val="FFFFFF"/>
          </a:solidFill>
          <a:ln w="12700">
            <a:solidFill>
              <a:srgbClr val="E2E7F0"/>
            </a:solidFill>
            <a:prstDash val="solid"/>
          </a:ln>
        </p:spPr>
      </p:sp>
      <p:sp>
        <p:nvSpPr>
          <p:cNvPr id="24" name="Text 22"/>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25" name="Shape 23"/>
          <p:cNvSpPr/>
          <p:nvPr/>
        </p:nvSpPr>
        <p:spPr>
          <a:xfrm>
            <a:off x="6105144" y="3538728"/>
            <a:ext cx="182880" cy="0"/>
          </a:xfrm>
          <a:prstGeom prst="line">
            <a:avLst/>
          </a:prstGeom>
          <a:noFill/>
          <a:ln w="12700">
            <a:solidFill>
              <a:srgbClr val="E2E7F0"/>
            </a:solidFill>
            <a:prstDash val="solid"/>
          </a:ln>
        </p:spPr>
      </p:sp>
      <p:sp>
        <p:nvSpPr>
          <p:cNvPr id="26" name="Shape 24"/>
          <p:cNvSpPr/>
          <p:nvPr/>
        </p:nvSpPr>
        <p:spPr>
          <a:xfrm>
            <a:off x="6288024" y="3346704"/>
            <a:ext cx="1481328" cy="384048"/>
          </a:xfrm>
          <a:prstGeom prst="roundRect">
            <a:avLst>
              <a:gd name="adj" fmla="val 16667"/>
            </a:avLst>
          </a:prstGeom>
          <a:solidFill>
            <a:srgbClr val="FFFFFF"/>
          </a:solidFill>
          <a:ln w="12700">
            <a:solidFill>
              <a:srgbClr val="E2E7F0"/>
            </a:solidFill>
            <a:prstDash val="solid"/>
          </a:ln>
        </p:spPr>
      </p:sp>
      <p:sp>
        <p:nvSpPr>
          <p:cNvPr id="27" name="Text 25"/>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28" name="Shape 26"/>
          <p:cNvSpPr/>
          <p:nvPr/>
        </p:nvSpPr>
        <p:spPr>
          <a:xfrm>
            <a:off x="7769352" y="3538728"/>
            <a:ext cx="182880" cy="0"/>
          </a:xfrm>
          <a:prstGeom prst="line">
            <a:avLst/>
          </a:prstGeom>
          <a:noFill/>
          <a:ln w="12700">
            <a:solidFill>
              <a:srgbClr val="E2E7F0"/>
            </a:solidFill>
            <a:prstDash val="solid"/>
          </a:ln>
        </p:spPr>
      </p:sp>
      <p:sp>
        <p:nvSpPr>
          <p:cNvPr id="29" name="Shape 27"/>
          <p:cNvSpPr/>
          <p:nvPr/>
        </p:nvSpPr>
        <p:spPr>
          <a:xfrm>
            <a:off x="7952232" y="3346704"/>
            <a:ext cx="1481328" cy="384048"/>
          </a:xfrm>
          <a:prstGeom prst="roundRect">
            <a:avLst>
              <a:gd name="adj" fmla="val 16667"/>
            </a:avLst>
          </a:prstGeom>
          <a:solidFill>
            <a:srgbClr val="FFFFFF"/>
          </a:solidFill>
          <a:ln w="12700">
            <a:solidFill>
              <a:srgbClr val="E2E7F0"/>
            </a:solidFill>
            <a:prstDash val="solid"/>
          </a:ln>
        </p:spPr>
      </p:sp>
      <p:sp>
        <p:nvSpPr>
          <p:cNvPr id="30" name="Text 28"/>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31" name="Shape 29"/>
          <p:cNvSpPr/>
          <p:nvPr/>
        </p:nvSpPr>
        <p:spPr>
          <a:xfrm>
            <a:off x="9433560" y="3538728"/>
            <a:ext cx="182880" cy="0"/>
          </a:xfrm>
          <a:prstGeom prst="line">
            <a:avLst/>
          </a:prstGeom>
          <a:noFill/>
          <a:ln w="12700">
            <a:solidFill>
              <a:srgbClr val="E2E7F0"/>
            </a:solidFill>
            <a:prstDash val="solid"/>
          </a:ln>
        </p:spPr>
      </p:sp>
      <p:sp>
        <p:nvSpPr>
          <p:cNvPr id="32" name="Shape 30"/>
          <p:cNvSpPr/>
          <p:nvPr/>
        </p:nvSpPr>
        <p:spPr>
          <a:xfrm>
            <a:off x="9616440" y="3346704"/>
            <a:ext cx="1481328" cy="384048"/>
          </a:xfrm>
          <a:prstGeom prst="roundRect">
            <a:avLst>
              <a:gd name="adj" fmla="val 16667"/>
            </a:avLst>
          </a:prstGeom>
          <a:solidFill>
            <a:srgbClr val="FFFFFF"/>
          </a:solidFill>
          <a:ln w="12700">
            <a:solidFill>
              <a:srgbClr val="E2E7F0"/>
            </a:solidFill>
            <a:prstDash val="solid"/>
          </a:ln>
        </p:spPr>
      </p:sp>
      <p:sp>
        <p:nvSpPr>
          <p:cNvPr id="33" name="Text 31"/>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34" name="Text 32"/>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主讲</a:t>
            </a:r>
            <a:endParaRPr lang="en-US" sz="1100" dirty="0"/>
          </a:p>
        </p:txBody>
      </p:sp>
      <p:sp>
        <p:nvSpPr>
          <p:cNvPr id="35" name="Text 33"/>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a:t>
            </a:r>
            <a:endParaRPr lang="en-US" sz="1400" dirty="0"/>
          </a:p>
        </p:txBody>
      </p:sp>
      <p:sp>
        <p:nvSpPr>
          <p:cNvPr id="36" name="Text 34"/>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日期</a:t>
            </a:r>
            <a:endParaRPr lang="en-US" sz="1100" dirty="0"/>
          </a:p>
        </p:txBody>
      </p:sp>
      <p:sp>
        <p:nvSpPr>
          <p:cNvPr id="37" name="Text 35"/>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2026 年 8 月 21 日</a:t>
            </a:r>
            <a:endParaRPr lang="en-US" sz="1400" dirty="0"/>
          </a:p>
        </p:txBody>
      </p:sp>
      <p:sp>
        <p:nvSpPr>
          <p:cNvPr id="38" name="Text 36"/>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时长</a:t>
            </a:r>
            <a:endParaRPr lang="en-US" sz="1100" dirty="0"/>
          </a:p>
        </p:txBody>
      </p:sp>
      <p:sp>
        <p:nvSpPr>
          <p:cNvPr id="39" name="Text 37"/>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6" name="Text 14"/>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F1B2D"/>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7" name="Shape 15"/>
          <p:cNvSpPr/>
          <p:nvPr/>
        </p:nvSpPr>
        <p:spPr>
          <a:xfrm>
            <a:off x="1295400" y="2487168"/>
            <a:ext cx="3162706" cy="786384"/>
          </a:xfrm>
          <a:prstGeom prst="roundRect">
            <a:avLst>
              <a:gd name="adj" fmla="val 10465"/>
            </a:avLst>
          </a:prstGeom>
          <a:solidFill>
            <a:srgbClr val="FFFFFF"/>
          </a:solidFill>
          <a:ln w="12700">
            <a:solidFill>
              <a:srgbClr val="E2E7F0"/>
            </a:solidFill>
            <a:prstDash val="solid"/>
          </a:ln>
        </p:spPr>
      </p:sp>
      <p:sp>
        <p:nvSpPr>
          <p:cNvPr id="18" name="Shape 16"/>
          <p:cNvSpPr/>
          <p:nvPr/>
        </p:nvSpPr>
        <p:spPr>
          <a:xfrm>
            <a:off x="1359408" y="2487168"/>
            <a:ext cx="3034690" cy="38100"/>
          </a:xfrm>
          <a:prstGeom prst="rect">
            <a:avLst/>
          </a:prstGeom>
          <a:solidFill>
            <a:srgbClr val="33414F"/>
          </a:solidFill>
          <a:ln w="12700">
            <a:solidFill>
              <a:srgbClr val="33414F"/>
            </a:solidFill>
            <a:prstDash val="solid"/>
          </a:ln>
        </p:spPr>
      </p:sp>
      <p:sp>
        <p:nvSpPr>
          <p:cNvPr id="19" name="Text 17"/>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文号</a:t>
            </a:r>
            <a:endParaRPr lang="en-US" sz="950" dirty="0"/>
          </a:p>
        </p:txBody>
      </p:sp>
      <p:sp>
        <p:nvSpPr>
          <p:cNvPr id="20" name="Text 18"/>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教监管厅〔2026〕1 号</a:t>
            </a:r>
            <a:endParaRPr lang="en-US" sz="1300" dirty="0"/>
          </a:p>
        </p:txBody>
      </p:sp>
      <p:sp>
        <p:nvSpPr>
          <p:cNvPr id="21" name="Shape 19"/>
          <p:cNvSpPr/>
          <p:nvPr/>
        </p:nvSpPr>
        <p:spPr>
          <a:xfrm>
            <a:off x="4704994" y="2487168"/>
            <a:ext cx="3162706" cy="786384"/>
          </a:xfrm>
          <a:prstGeom prst="roundRect">
            <a:avLst>
              <a:gd name="adj" fmla="val 10465"/>
            </a:avLst>
          </a:prstGeom>
          <a:solidFill>
            <a:srgbClr val="FFFFFF"/>
          </a:solidFill>
          <a:ln w="12700">
            <a:solidFill>
              <a:srgbClr val="E2E7F0"/>
            </a:solidFill>
            <a:prstDash val="solid"/>
          </a:ln>
        </p:spPr>
      </p:sp>
      <p:sp>
        <p:nvSpPr>
          <p:cNvPr id="22" name="Shape 20"/>
          <p:cNvSpPr/>
          <p:nvPr/>
        </p:nvSpPr>
        <p:spPr>
          <a:xfrm>
            <a:off x="4769002" y="2487168"/>
            <a:ext cx="3034690" cy="38100"/>
          </a:xfrm>
          <a:prstGeom prst="rect">
            <a:avLst/>
          </a:prstGeom>
          <a:solidFill>
            <a:srgbClr val="33414F"/>
          </a:solidFill>
          <a:ln w="12700">
            <a:solidFill>
              <a:srgbClr val="33414F"/>
            </a:solidFill>
            <a:prstDash val="solid"/>
          </a:ln>
        </p:spPr>
      </p:sp>
      <p:sp>
        <p:nvSpPr>
          <p:cNvPr id="23" name="Text 21"/>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印发</a:t>
            </a:r>
            <a:endParaRPr lang="en-US" sz="950" dirty="0"/>
          </a:p>
        </p:txBody>
      </p:sp>
      <p:sp>
        <p:nvSpPr>
          <p:cNvPr id="24" name="Text 22"/>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教育部办公厅</a:t>
            </a:r>
            <a:endParaRPr lang="en-US" sz="1300" dirty="0"/>
          </a:p>
        </p:txBody>
      </p:sp>
      <p:sp>
        <p:nvSpPr>
          <p:cNvPr id="25" name="Shape 23"/>
          <p:cNvSpPr/>
          <p:nvPr/>
        </p:nvSpPr>
        <p:spPr>
          <a:xfrm>
            <a:off x="8114589" y="2487168"/>
            <a:ext cx="3162706" cy="786384"/>
          </a:xfrm>
          <a:prstGeom prst="roundRect">
            <a:avLst>
              <a:gd name="adj" fmla="val 10465"/>
            </a:avLst>
          </a:prstGeom>
          <a:solidFill>
            <a:srgbClr val="FFFFFF"/>
          </a:solidFill>
          <a:ln w="12700">
            <a:solidFill>
              <a:srgbClr val="E2E7F0"/>
            </a:solidFill>
            <a:prstDash val="solid"/>
          </a:ln>
        </p:spPr>
      </p:sp>
      <p:sp>
        <p:nvSpPr>
          <p:cNvPr id="26" name="Shape 24"/>
          <p:cNvSpPr/>
          <p:nvPr/>
        </p:nvSpPr>
        <p:spPr>
          <a:xfrm>
            <a:off x="8178597" y="2487168"/>
            <a:ext cx="3034690" cy="38100"/>
          </a:xfrm>
          <a:prstGeom prst="rect">
            <a:avLst/>
          </a:prstGeom>
          <a:solidFill>
            <a:srgbClr val="33414F"/>
          </a:solidFill>
          <a:ln w="12700">
            <a:solidFill>
              <a:srgbClr val="33414F"/>
            </a:solidFill>
            <a:prstDash val="solid"/>
          </a:ln>
        </p:spPr>
      </p:sp>
      <p:sp>
        <p:nvSpPr>
          <p:cNvPr id="27" name="Text 25"/>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日期</a:t>
            </a:r>
            <a:endParaRPr lang="en-US" sz="950" dirty="0"/>
          </a:p>
        </p:txBody>
      </p:sp>
      <p:sp>
        <p:nvSpPr>
          <p:cNvPr id="28" name="Text 26"/>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2026 年 7 月 29 日</a:t>
            </a:r>
            <a:endParaRPr lang="en-US" sz="1300" dirty="0"/>
          </a:p>
        </p:txBody>
      </p:sp>
      <p:sp>
        <p:nvSpPr>
          <p:cNvPr id="29" name="Text 27"/>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6" name="Shape 14"/>
          <p:cNvSpPr/>
          <p:nvPr/>
        </p:nvSpPr>
        <p:spPr>
          <a:xfrm>
            <a:off x="1295400" y="1860804"/>
            <a:ext cx="9981895" cy="1298448"/>
          </a:xfrm>
          <a:prstGeom prst="roundRect">
            <a:avLst>
              <a:gd name="adj" fmla="val 6338"/>
            </a:avLst>
          </a:prstGeom>
          <a:solidFill>
            <a:srgbClr val="FFFFFF"/>
          </a:solidFill>
          <a:ln w="12700">
            <a:solidFill>
              <a:srgbClr val="E2E7F0"/>
            </a:solidFill>
            <a:prstDash val="solid"/>
          </a:ln>
        </p:spPr>
      </p:sp>
      <p:sp>
        <p:nvSpPr>
          <p:cNvPr id="17" name="Shape 15"/>
          <p:cNvSpPr/>
          <p:nvPr/>
        </p:nvSpPr>
        <p:spPr>
          <a:xfrm>
            <a:off x="1295400" y="1915668"/>
            <a:ext cx="38100" cy="1188720"/>
          </a:xfrm>
          <a:prstGeom prst="rect">
            <a:avLst/>
          </a:prstGeom>
          <a:solidFill>
            <a:srgbClr val="33414F"/>
          </a:solidFill>
          <a:ln w="12700">
            <a:solidFill>
              <a:srgbClr val="33414F"/>
            </a:solidFill>
            <a:prstDash val="solid"/>
          </a:ln>
        </p:spPr>
      </p:sp>
      <p:sp>
        <p:nvSpPr>
          <p:cNvPr id="18" name="Text 16"/>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19" name="Text 17"/>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0" name="Shape 18"/>
          <p:cNvSpPr/>
          <p:nvPr/>
        </p:nvSpPr>
        <p:spPr>
          <a:xfrm>
            <a:off x="1295400" y="3913632"/>
            <a:ext cx="1549349" cy="786384"/>
          </a:xfrm>
          <a:prstGeom prst="roundRect">
            <a:avLst>
              <a:gd name="adj" fmla="val 10465"/>
            </a:avLst>
          </a:prstGeom>
          <a:solidFill>
            <a:srgbClr val="FFFFFF"/>
          </a:solidFill>
          <a:ln w="12700">
            <a:solidFill>
              <a:srgbClr val="E2E7F0"/>
            </a:solidFill>
            <a:prstDash val="solid"/>
          </a:ln>
        </p:spPr>
      </p:sp>
      <p:sp>
        <p:nvSpPr>
          <p:cNvPr id="21" name="Shape 19"/>
          <p:cNvSpPr/>
          <p:nvPr/>
        </p:nvSpPr>
        <p:spPr>
          <a:xfrm>
            <a:off x="1359408" y="3913632"/>
            <a:ext cx="1421333" cy="38100"/>
          </a:xfrm>
          <a:prstGeom prst="rect">
            <a:avLst/>
          </a:prstGeom>
          <a:solidFill>
            <a:srgbClr val="33414F"/>
          </a:solidFill>
          <a:ln w="12700">
            <a:solidFill>
              <a:srgbClr val="33414F"/>
            </a:solidFill>
            <a:prstDash val="solid"/>
          </a:ln>
        </p:spPr>
      </p:sp>
      <p:sp>
        <p:nvSpPr>
          <p:cNvPr id="22" name="Text 20"/>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一</a:t>
            </a:r>
            <a:endParaRPr lang="en-US" sz="950" dirty="0"/>
          </a:p>
        </p:txBody>
      </p:sp>
      <p:sp>
        <p:nvSpPr>
          <p:cNvPr id="23" name="Text 21"/>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提出问题和假设</a:t>
            </a:r>
            <a:endParaRPr lang="en-US" sz="1150" dirty="0"/>
          </a:p>
        </p:txBody>
      </p:sp>
      <p:sp>
        <p:nvSpPr>
          <p:cNvPr id="24" name="Shape 22"/>
          <p:cNvSpPr/>
          <p:nvPr/>
        </p:nvSpPr>
        <p:spPr>
          <a:xfrm>
            <a:off x="2981909" y="3913632"/>
            <a:ext cx="1549349" cy="786384"/>
          </a:xfrm>
          <a:prstGeom prst="roundRect">
            <a:avLst>
              <a:gd name="adj" fmla="val 10465"/>
            </a:avLst>
          </a:prstGeom>
          <a:solidFill>
            <a:srgbClr val="FFFFFF"/>
          </a:solidFill>
          <a:ln w="12700">
            <a:solidFill>
              <a:srgbClr val="E2E7F0"/>
            </a:solidFill>
            <a:prstDash val="solid"/>
          </a:ln>
        </p:spPr>
      </p:sp>
      <p:sp>
        <p:nvSpPr>
          <p:cNvPr id="25" name="Shape 23"/>
          <p:cNvSpPr/>
          <p:nvPr/>
        </p:nvSpPr>
        <p:spPr>
          <a:xfrm>
            <a:off x="3045917" y="3913632"/>
            <a:ext cx="1421333" cy="38100"/>
          </a:xfrm>
          <a:prstGeom prst="rect">
            <a:avLst/>
          </a:prstGeom>
          <a:solidFill>
            <a:srgbClr val="33414F"/>
          </a:solidFill>
          <a:ln w="12700">
            <a:solidFill>
              <a:srgbClr val="33414F"/>
            </a:solidFill>
            <a:prstDash val="solid"/>
          </a:ln>
        </p:spPr>
      </p:sp>
      <p:sp>
        <p:nvSpPr>
          <p:cNvPr id="26" name="Text 24"/>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二</a:t>
            </a:r>
            <a:endParaRPr lang="en-US" sz="950" dirty="0"/>
          </a:p>
        </p:txBody>
      </p:sp>
      <p:sp>
        <p:nvSpPr>
          <p:cNvPr id="27" name="Text 25"/>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设计方案</a:t>
            </a:r>
            <a:endParaRPr lang="en-US" sz="1150" dirty="0"/>
          </a:p>
        </p:txBody>
      </p:sp>
      <p:sp>
        <p:nvSpPr>
          <p:cNvPr id="28" name="Shape 26"/>
          <p:cNvSpPr/>
          <p:nvPr/>
        </p:nvSpPr>
        <p:spPr>
          <a:xfrm>
            <a:off x="4668418" y="3913632"/>
            <a:ext cx="1549349" cy="786384"/>
          </a:xfrm>
          <a:prstGeom prst="roundRect">
            <a:avLst>
              <a:gd name="adj" fmla="val 10465"/>
            </a:avLst>
          </a:prstGeom>
          <a:solidFill>
            <a:srgbClr val="FFFFFF"/>
          </a:solidFill>
          <a:ln w="12700">
            <a:solidFill>
              <a:srgbClr val="E2E7F0"/>
            </a:solidFill>
            <a:prstDash val="solid"/>
          </a:ln>
        </p:spPr>
      </p:sp>
      <p:sp>
        <p:nvSpPr>
          <p:cNvPr id="29" name="Shape 27"/>
          <p:cNvSpPr/>
          <p:nvPr/>
        </p:nvSpPr>
        <p:spPr>
          <a:xfrm>
            <a:off x="4732426" y="3913632"/>
            <a:ext cx="1421333" cy="38100"/>
          </a:xfrm>
          <a:prstGeom prst="rect">
            <a:avLst/>
          </a:prstGeom>
          <a:solidFill>
            <a:srgbClr val="33414F"/>
          </a:solidFill>
          <a:ln w="12700">
            <a:solidFill>
              <a:srgbClr val="33414F"/>
            </a:solidFill>
            <a:prstDash val="solid"/>
          </a:ln>
        </p:spPr>
      </p:sp>
      <p:sp>
        <p:nvSpPr>
          <p:cNvPr id="30" name="Text 28"/>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三</a:t>
            </a:r>
            <a:endParaRPr lang="en-US" sz="950" dirty="0"/>
          </a:p>
        </p:txBody>
      </p:sp>
      <p:sp>
        <p:nvSpPr>
          <p:cNvPr id="31" name="Text 29"/>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搜集分析证据</a:t>
            </a:r>
            <a:endParaRPr lang="en-US" sz="1150" dirty="0"/>
          </a:p>
        </p:txBody>
      </p:sp>
      <p:sp>
        <p:nvSpPr>
          <p:cNvPr id="32" name="Shape 30"/>
          <p:cNvSpPr/>
          <p:nvPr/>
        </p:nvSpPr>
        <p:spPr>
          <a:xfrm>
            <a:off x="6354928" y="3913632"/>
            <a:ext cx="1549349" cy="786384"/>
          </a:xfrm>
          <a:prstGeom prst="roundRect">
            <a:avLst>
              <a:gd name="adj" fmla="val 10465"/>
            </a:avLst>
          </a:prstGeom>
          <a:solidFill>
            <a:srgbClr val="FFFFFF"/>
          </a:solidFill>
          <a:ln w="12700">
            <a:solidFill>
              <a:srgbClr val="E2E7F0"/>
            </a:solidFill>
            <a:prstDash val="solid"/>
          </a:ln>
        </p:spPr>
      </p:sp>
      <p:sp>
        <p:nvSpPr>
          <p:cNvPr id="33" name="Shape 31"/>
          <p:cNvSpPr/>
          <p:nvPr/>
        </p:nvSpPr>
        <p:spPr>
          <a:xfrm>
            <a:off x="6418936" y="3913632"/>
            <a:ext cx="1421333" cy="38100"/>
          </a:xfrm>
          <a:prstGeom prst="rect">
            <a:avLst/>
          </a:prstGeom>
          <a:solidFill>
            <a:srgbClr val="33414F"/>
          </a:solidFill>
          <a:ln w="12700">
            <a:solidFill>
              <a:srgbClr val="33414F"/>
            </a:solidFill>
            <a:prstDash val="solid"/>
          </a:ln>
        </p:spPr>
      </p:sp>
      <p:sp>
        <p:nvSpPr>
          <p:cNvPr id="34" name="Text 32"/>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四</a:t>
            </a:r>
            <a:endParaRPr lang="en-US" sz="950" dirty="0"/>
          </a:p>
        </p:txBody>
      </p:sp>
      <p:sp>
        <p:nvSpPr>
          <p:cNvPr id="35" name="Text 33"/>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得出结论并解释</a:t>
            </a:r>
            <a:endParaRPr lang="en-US" sz="1150" dirty="0"/>
          </a:p>
        </p:txBody>
      </p:sp>
      <p:sp>
        <p:nvSpPr>
          <p:cNvPr id="36" name="Shape 34"/>
          <p:cNvSpPr/>
          <p:nvPr/>
        </p:nvSpPr>
        <p:spPr>
          <a:xfrm>
            <a:off x="8041437" y="3913632"/>
            <a:ext cx="1549349" cy="786384"/>
          </a:xfrm>
          <a:prstGeom prst="roundRect">
            <a:avLst>
              <a:gd name="adj" fmla="val 10465"/>
            </a:avLst>
          </a:prstGeom>
          <a:solidFill>
            <a:srgbClr val="FFFFFF"/>
          </a:solidFill>
          <a:ln w="12700">
            <a:solidFill>
              <a:srgbClr val="E2E7F0"/>
            </a:solidFill>
            <a:prstDash val="solid"/>
          </a:ln>
        </p:spPr>
      </p:sp>
      <p:sp>
        <p:nvSpPr>
          <p:cNvPr id="37" name="Shape 35"/>
          <p:cNvSpPr/>
          <p:nvPr/>
        </p:nvSpPr>
        <p:spPr>
          <a:xfrm>
            <a:off x="8105445" y="3913632"/>
            <a:ext cx="1421333" cy="38100"/>
          </a:xfrm>
          <a:prstGeom prst="rect">
            <a:avLst/>
          </a:prstGeom>
          <a:solidFill>
            <a:srgbClr val="33414F"/>
          </a:solidFill>
          <a:ln w="12700">
            <a:solidFill>
              <a:srgbClr val="33414F"/>
            </a:solidFill>
            <a:prstDash val="solid"/>
          </a:ln>
        </p:spPr>
      </p:sp>
      <p:sp>
        <p:nvSpPr>
          <p:cNvPr id="38" name="Text 36"/>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五</a:t>
            </a:r>
            <a:endParaRPr lang="en-US" sz="950" dirty="0"/>
          </a:p>
        </p:txBody>
      </p:sp>
      <p:sp>
        <p:nvSpPr>
          <p:cNvPr id="39" name="Text 37"/>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制作改进</a:t>
            </a:r>
            <a:endParaRPr lang="en-US" sz="1150" dirty="0"/>
          </a:p>
        </p:txBody>
      </p:sp>
      <p:sp>
        <p:nvSpPr>
          <p:cNvPr id="40" name="Shape 38"/>
          <p:cNvSpPr/>
          <p:nvPr/>
        </p:nvSpPr>
        <p:spPr>
          <a:xfrm>
            <a:off x="9727946" y="3913632"/>
            <a:ext cx="1549349" cy="786384"/>
          </a:xfrm>
          <a:prstGeom prst="roundRect">
            <a:avLst>
              <a:gd name="adj" fmla="val 10465"/>
            </a:avLst>
          </a:prstGeom>
          <a:solidFill>
            <a:srgbClr val="FFFFFF"/>
          </a:solidFill>
          <a:ln w="12700">
            <a:solidFill>
              <a:srgbClr val="E2E7F0"/>
            </a:solidFill>
            <a:prstDash val="solid"/>
          </a:ln>
        </p:spPr>
      </p:sp>
      <p:sp>
        <p:nvSpPr>
          <p:cNvPr id="41" name="Shape 39"/>
          <p:cNvSpPr/>
          <p:nvPr/>
        </p:nvSpPr>
        <p:spPr>
          <a:xfrm>
            <a:off x="9791954" y="3913632"/>
            <a:ext cx="1421333" cy="38100"/>
          </a:xfrm>
          <a:prstGeom prst="rect">
            <a:avLst/>
          </a:prstGeom>
          <a:solidFill>
            <a:srgbClr val="33414F"/>
          </a:solidFill>
          <a:ln w="12700">
            <a:solidFill>
              <a:srgbClr val="33414F"/>
            </a:solidFill>
            <a:prstDash val="solid"/>
          </a:ln>
        </p:spPr>
      </p:sp>
      <p:sp>
        <p:nvSpPr>
          <p:cNvPr id="42" name="Text 40"/>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六</a:t>
            </a:r>
            <a:endParaRPr lang="en-US" sz="950" dirty="0"/>
          </a:p>
        </p:txBody>
      </p:sp>
      <p:sp>
        <p:nvSpPr>
          <p:cNvPr id="43" name="Text 41"/>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交流反思</a:t>
            </a:r>
            <a:endParaRPr lang="en-US" sz="1150" dirty="0"/>
          </a:p>
        </p:txBody>
      </p:sp>
      <p:sp>
        <p:nvSpPr>
          <p:cNvPr id="44" name="Shape 42"/>
          <p:cNvSpPr/>
          <p:nvPr/>
        </p:nvSpPr>
        <p:spPr>
          <a:xfrm>
            <a:off x="1295400" y="5888736"/>
            <a:ext cx="9981895" cy="0"/>
          </a:xfrm>
          <a:prstGeom prst="line">
            <a:avLst/>
          </a:prstGeom>
          <a:noFill/>
          <a:ln w="12700">
            <a:solidFill>
              <a:srgbClr val="E2E7F0"/>
            </a:solidFill>
            <a:prstDash val="solid"/>
          </a:ln>
        </p:spPr>
      </p:sp>
      <p:sp>
        <p:nvSpPr>
          <p:cNvPr id="45" name="Text 4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综合实践活动的课程沿革</a:t>
            </a:r>
            <a:endParaRPr lang="en-US" sz="3200" dirty="0"/>
          </a:p>
        </p:txBody>
      </p:sp>
      <p:pic>
        <p:nvPicPr>
          <p:cNvPr id="16" name="Image 0" descr="/home/user/slides/comprehensive-practice-ai/figures/timeline.png">    </p:cNvPr>
          <p:cNvPicPr>
            <a:picLocks noChangeAspect="1"/>
          </p:cNvPicPr>
          <p:nvPr/>
        </p:nvPicPr>
        <p:blipFill>
          <a:blip r:embed="rId1"/>
          <a:stretch>
            <a:fillRect/>
          </a:stretch>
        </p:blipFill>
        <p:spPr>
          <a:xfrm>
            <a:off x="1295400" y="2135124"/>
            <a:ext cx="9981895" cy="21525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四项培养目标</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价值体认</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责任担当</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问题解决</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创意物化</a:t>
            </a:r>
            <a:endParaRPr lang="en-US" sz="1400" dirty="0"/>
          </a:p>
        </p:txBody>
      </p:sp>
      <p:sp>
        <p:nvSpPr>
          <p:cNvPr id="25" name="Text 23"/>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四种活动方式</a:t>
            </a:r>
            <a:endParaRPr lang="en-US" sz="950" dirty="0"/>
          </a:p>
        </p:txBody>
      </p:sp>
      <p:sp>
        <p:nvSpPr>
          <p:cNvPr id="26" name="Shape 24"/>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27" name="Text 25"/>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考察探究</a:t>
            </a:r>
            <a:endParaRPr lang="en-US" sz="1400" dirty="0"/>
          </a:p>
        </p:txBody>
      </p:sp>
      <p:sp>
        <p:nvSpPr>
          <p:cNvPr id="28" name="Shape 26"/>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29" name="Text 27"/>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社会服务</a:t>
            </a:r>
            <a:endParaRPr lang="en-US" sz="1400" dirty="0"/>
          </a:p>
        </p:txBody>
      </p:sp>
      <p:sp>
        <p:nvSpPr>
          <p:cNvPr id="30" name="Shape 28"/>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设计制作</a:t>
            </a:r>
            <a:endParaRPr lang="en-US" sz="1400" dirty="0"/>
          </a:p>
        </p:txBody>
      </p:sp>
      <p:sp>
        <p:nvSpPr>
          <p:cNvPr id="32" name="Shape 30"/>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职业体验</a:t>
            </a:r>
            <a:endParaRPr lang="en-US" sz="1400" dirty="0"/>
          </a:p>
        </p:txBody>
      </p:sp>
      <p:sp>
        <p:nvSpPr>
          <p:cNvPr id="34" name="Text 32"/>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六个环节</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p>
        </p:txBody>
      </p:sp>
      <p:sp>
        <p:nvSpPr>
          <p:cNvPr id="25" name="Shape 23"/>
          <p:cNvSpPr/>
          <p:nvPr/>
        </p:nvSpPr>
        <p:spPr>
          <a:xfrm>
            <a:off x="1295400" y="4110228"/>
            <a:ext cx="4762348" cy="402336"/>
          </a:xfrm>
          <a:prstGeom prst="roundRect">
            <a:avLst>
              <a:gd name="adj" fmla="val 15909"/>
            </a:avLst>
          </a:prstGeom>
          <a:solidFill>
            <a:srgbClr val="FFFFFF"/>
          </a:solidFill>
          <a:ln w="12700">
            <a:solidFill>
              <a:srgbClr val="E2E7F0"/>
            </a:solidFill>
            <a:prstDash val="solid"/>
          </a:ln>
        </p:spPr>
      </p:sp>
      <p:sp>
        <p:nvSpPr>
          <p:cNvPr id="26" name="Text 24"/>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p>
        </p:txBody>
      </p:sp>
      <p:sp>
        <p:nvSpPr>
          <p:cNvPr id="27" name="Shape 25"/>
          <p:cNvSpPr/>
          <p:nvPr/>
        </p:nvSpPr>
        <p:spPr>
          <a:xfrm>
            <a:off x="1295400" y="4594860"/>
            <a:ext cx="4762348" cy="402336"/>
          </a:xfrm>
          <a:prstGeom prst="roundRect">
            <a:avLst>
              <a:gd name="adj" fmla="val 15909"/>
            </a:avLst>
          </a:prstGeom>
          <a:solidFill>
            <a:srgbClr val="FFFFFF"/>
          </a:solidFill>
          <a:ln w="12700">
            <a:solidFill>
              <a:srgbClr val="E2E7F0"/>
            </a:solidFill>
            <a:prstDash val="solid"/>
          </a:ln>
        </p:spPr>
      </p:sp>
      <p:sp>
        <p:nvSpPr>
          <p:cNvPr id="28" name="Text 26"/>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p>
        </p:txBody>
      </p:sp>
      <p:sp>
        <p:nvSpPr>
          <p:cNvPr id="29" name="Text 27"/>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四个评价维度</a:t>
            </a:r>
            <a:endParaRPr lang="en-US" sz="950" dirty="0"/>
          </a:p>
        </p:txBody>
      </p:sp>
      <p:sp>
        <p:nvSpPr>
          <p:cNvPr id="30" name="Shape 28"/>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问题意识</a:t>
            </a:r>
            <a:endParaRPr lang="en-US" sz="1400" dirty="0"/>
          </a:p>
        </p:txBody>
      </p:sp>
      <p:sp>
        <p:nvSpPr>
          <p:cNvPr id="32" name="Shape 30"/>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探究实践能力</a:t>
            </a:r>
            <a:endParaRPr lang="en-US" sz="1400" dirty="0"/>
          </a:p>
        </p:txBody>
      </p:sp>
      <p:sp>
        <p:nvSpPr>
          <p:cNvPr id="34" name="Shape 32"/>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5" name="Text 33"/>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反思改进能力</a:t>
            </a:r>
            <a:endParaRPr lang="en-US" sz="1400" dirty="0"/>
          </a:p>
        </p:txBody>
      </p:sp>
      <p:sp>
        <p:nvSpPr>
          <p:cNvPr id="36" name="Shape 34"/>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7" name="Text 35"/>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合作交流能力</a:t>
            </a:r>
            <a:endParaRPr lang="en-US" sz="1400" dirty="0"/>
          </a:p>
        </p:txBody>
      </p:sp>
      <p:sp>
        <p:nvSpPr>
          <p:cNvPr id="38" name="Text 36"/>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6"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本场主张</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两份研究方案的辨识</a:t>
            </a:r>
            <a:endParaRPr lang="en-US" sz="3200" dirty="0"/>
          </a:p>
        </p:txBody>
      </p:sp>
      <p:sp>
        <p:nvSpPr>
          <p:cNvPr id="16" name="Shape 14"/>
          <p:cNvSpPr/>
          <p:nvPr/>
        </p:nvSpPr>
        <p:spPr>
          <a:xfrm>
            <a:off x="1295400" y="1860804"/>
            <a:ext cx="4881220" cy="2834640"/>
          </a:xfrm>
          <a:prstGeom prst="roundRect">
            <a:avLst>
              <a:gd name="adj" fmla="val 2903"/>
            </a:avLst>
          </a:prstGeom>
          <a:solidFill>
            <a:srgbClr val="FFFFFF"/>
          </a:solidFill>
          <a:ln w="12700">
            <a:solidFill>
              <a:srgbClr val="E2E7F0"/>
            </a:solidFill>
            <a:prstDash val="solid"/>
          </a:ln>
        </p:spPr>
      </p:sp>
      <p:sp>
        <p:nvSpPr>
          <p:cNvPr id="17" name="Shape 15"/>
          <p:cNvSpPr/>
          <p:nvPr/>
        </p:nvSpPr>
        <p:spPr>
          <a:xfrm>
            <a:off x="1359408" y="1860804"/>
            <a:ext cx="4753204" cy="38100"/>
          </a:xfrm>
          <a:prstGeom prst="rect">
            <a:avLst/>
          </a:prstGeom>
          <a:solidFill>
            <a:srgbClr val="33414F"/>
          </a:solidFill>
          <a:ln w="12700">
            <a:solidFill>
              <a:srgbClr val="33414F"/>
            </a:solidFill>
            <a:prstDash val="solid"/>
          </a:ln>
        </p:spPr>
      </p:sp>
      <p:sp>
        <p:nvSpPr>
          <p:cNvPr id="18" name="Text 16"/>
          <p:cNvSpPr/>
          <p:nvPr/>
        </p:nvSpPr>
        <p:spPr>
          <a:xfrm>
            <a:off x="1478280" y="2025396"/>
            <a:ext cx="4515460" cy="201168"/>
          </a:xfrm>
          <a:prstGeom prst="rect">
            <a:avLst/>
          </a:prstGeom>
          <a:noFill/>
          <a:ln/>
        </p:spPr>
        <p:txBody>
          <a:bodyPr wrap="square" lIns="0" tIns="0" rIns="0" bIns="0" rtlCol="0" anchor="ctr"/>
          <a:lstStyle/>
          <a:p>
            <a:pPr indent="0" marL="0">
              <a:buNone/>
            </a:pPr>
            <a:r>
              <a:rPr lang="en-US" sz="950" spc="100" kern="0" dirty="0">
                <a:solidFill>
                  <a:srgbClr val="5B6470"/>
                </a:solidFill>
                <a:latin typeface="Microsoft YaHei" pitchFamily="34" charset="0"/>
                <a:ea typeface="Microsoft YaHei" pitchFamily="34" charset="-122"/>
                <a:cs typeface="Microsoft YaHei" pitchFamily="34" charset="-120"/>
              </a:rPr>
              <a:t>方案甲</a:t>
            </a:r>
            <a:endParaRPr lang="en-US" sz="950" dirty="0"/>
          </a:p>
        </p:txBody>
      </p:sp>
      <p:sp>
        <p:nvSpPr>
          <p:cNvPr id="19" name="Text 17"/>
          <p:cNvSpPr/>
          <p:nvPr/>
        </p:nvSpPr>
        <p:spPr>
          <a:xfrm>
            <a:off x="1478280" y="2318004"/>
            <a:ext cx="4515460" cy="2194560"/>
          </a:xfrm>
          <a:prstGeom prst="rect">
            <a:avLst/>
          </a:prstGeom>
          <a:noFill/>
          <a:ln/>
        </p:spPr>
        <p:txBody>
          <a:bodyPr wrap="square" lIns="0" tIns="0" rIns="0" bIns="0" rtlCol="0" anchor="t"/>
          <a:lstStyle/>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题目：校园里哪些位置的光照最适合绿萝生长</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一、研究背景　教室走廊的绿萝长得参差不齐，有几盆叶子发黄。</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二、研究问题　不同位置的光照强度是否影响绿萝的生长状况。</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三、研究方法　选取六个位置，每天上午十点用照度计测一次，连续两周；每周量一次新叶长度。</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四、预期成果　一张位置与长势对照表，一份摆放建议。</a:t>
            </a:r>
            <a:endParaRPr lang="en-US" sz="1000" dirty="0"/>
          </a:p>
        </p:txBody>
      </p:sp>
      <p:sp>
        <p:nvSpPr>
          <p:cNvPr id="20" name="Shape 18"/>
          <p:cNvSpPr/>
          <p:nvPr/>
        </p:nvSpPr>
        <p:spPr>
          <a:xfrm>
            <a:off x="6396076" y="1860804"/>
            <a:ext cx="4881220" cy="2834640"/>
          </a:xfrm>
          <a:prstGeom prst="roundRect">
            <a:avLst>
              <a:gd name="adj" fmla="val 2903"/>
            </a:avLst>
          </a:prstGeom>
          <a:solidFill>
            <a:srgbClr val="FFFFFF"/>
          </a:solidFill>
          <a:ln w="12700">
            <a:solidFill>
              <a:srgbClr val="E2E7F0"/>
            </a:solidFill>
            <a:prstDash val="solid"/>
          </a:ln>
        </p:spPr>
      </p:sp>
      <p:sp>
        <p:nvSpPr>
          <p:cNvPr id="21" name="Shape 19"/>
          <p:cNvSpPr/>
          <p:nvPr/>
        </p:nvSpPr>
        <p:spPr>
          <a:xfrm>
            <a:off x="6460084" y="1860804"/>
            <a:ext cx="4753204" cy="38100"/>
          </a:xfrm>
          <a:prstGeom prst="rect">
            <a:avLst/>
          </a:prstGeom>
          <a:solidFill>
            <a:srgbClr val="C9714C"/>
          </a:solidFill>
          <a:ln w="12700">
            <a:solidFill>
              <a:srgbClr val="C9714C"/>
            </a:solidFill>
            <a:prstDash val="solid"/>
          </a:ln>
        </p:spPr>
      </p:sp>
      <p:sp>
        <p:nvSpPr>
          <p:cNvPr id="22" name="Text 20"/>
          <p:cNvSpPr/>
          <p:nvPr/>
        </p:nvSpPr>
        <p:spPr>
          <a:xfrm>
            <a:off x="6578956" y="2025396"/>
            <a:ext cx="4515460" cy="201168"/>
          </a:xfrm>
          <a:prstGeom prst="rect">
            <a:avLst/>
          </a:prstGeom>
          <a:noFill/>
          <a:ln/>
        </p:spPr>
        <p:txBody>
          <a:bodyPr wrap="square" lIns="0" tIns="0" rIns="0" bIns="0" rtlCol="0" anchor="ctr"/>
          <a:lstStyle/>
          <a:p>
            <a:pPr indent="0" marL="0">
              <a:buNone/>
            </a:pPr>
            <a:r>
              <a:rPr lang="en-US" sz="950" spc="100" kern="0" dirty="0">
                <a:solidFill>
                  <a:srgbClr val="5B6470"/>
                </a:solidFill>
                <a:latin typeface="Microsoft YaHei" pitchFamily="34" charset="0"/>
                <a:ea typeface="Microsoft YaHei" pitchFamily="34" charset="-122"/>
                <a:cs typeface="Microsoft YaHei" pitchFamily="34" charset="-120"/>
              </a:rPr>
              <a:t>方案乙</a:t>
            </a:r>
            <a:endParaRPr lang="en-US" sz="950" dirty="0"/>
          </a:p>
        </p:txBody>
      </p:sp>
      <p:sp>
        <p:nvSpPr>
          <p:cNvPr id="23" name="Text 21"/>
          <p:cNvSpPr/>
          <p:nvPr/>
        </p:nvSpPr>
        <p:spPr>
          <a:xfrm>
            <a:off x="6578956" y="2318004"/>
            <a:ext cx="4515460" cy="2194560"/>
          </a:xfrm>
          <a:prstGeom prst="rect">
            <a:avLst/>
          </a:prstGeom>
          <a:noFill/>
          <a:ln/>
        </p:spPr>
        <p:txBody>
          <a:bodyPr wrap="square" lIns="0" tIns="0" rIns="0" bIns="0" rtlCol="0" anchor="t"/>
          <a:lstStyle/>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题目：基于光照梯度的校园绿萝生长适应性探究</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一、研究背景　绿萝作为常见室内观叶植物，其生长状况受光照条件显著影响。</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二、研究问题　探究不同光照强度梯度下绿萝的生长差异及其适应机制。</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三、研究方法　设置高、中、低三个光照梯度，采用对照实验法，测定叶绿素含量、叶面积及株高等指标。</a:t>
            </a:r>
            <a:endParaRPr lang="en-US" sz="1000" dirty="0"/>
          </a:p>
          <a:p>
            <a:pPr indent="0" marL="0">
              <a:lnSpc>
                <a:spcPct val="145000"/>
              </a:lnSpc>
              <a:spcAft>
                <a:spcPts val="400"/>
              </a:spcAft>
              <a:buNone/>
            </a:pPr>
            <a:r>
              <a:rPr lang="en-US" sz="1000" dirty="0">
                <a:solidFill>
                  <a:srgbClr val="1A2029"/>
                </a:solidFill>
                <a:latin typeface="Microsoft YaHei" pitchFamily="34" charset="0"/>
                <a:ea typeface="Microsoft YaHei" pitchFamily="34" charset="-122"/>
                <a:cs typeface="Microsoft YaHei" pitchFamily="34" charset="-120"/>
              </a:rPr>
              <a:t>四、预期成果　形成光照强度与绿萝生长的相关性分析报告，为校园绿化布置提供科学依据。</a:t>
            </a:r>
            <a:endParaRPr lang="en-US" sz="1000" dirty="0"/>
          </a:p>
        </p:txBody>
      </p:sp>
      <p:sp>
        <p:nvSpPr>
          <p:cNvPr id="24" name="Text 22"/>
          <p:cNvSpPr/>
          <p:nvPr/>
        </p:nvSpPr>
        <p:spPr>
          <a:xfrm>
            <a:off x="1295400" y="4896612"/>
            <a:ext cx="9981895" cy="320040"/>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请判断：哪一份出自学生本人。</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辨识结果</a:t>
            </a:r>
            <a:endParaRPr lang="en-US" sz="3200" dirty="0"/>
          </a:p>
        </p:txBody>
      </p:sp>
      <p:sp>
        <p:nvSpPr>
          <p:cNvPr id="16" name="Text 14"/>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7" name="Text 15"/>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两份均为虚构。甲按小学生的实际水平撰写，乙按生成式 AI 的默认输出撰写。</a:t>
            </a:r>
            <a:endParaRPr lang="en-US" sz="1600" dirty="0"/>
          </a:p>
        </p:txBody>
      </p:sp>
      <p:sp>
        <p:nvSpPr>
          <p:cNvPr id="18" name="Text 16"/>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19" name="Text 17"/>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乙在完整度、规范性与术语密度上均优于甲，更接近一份合格的研究方案。</a:t>
            </a:r>
            <a:endParaRPr lang="en-US" sz="1600" dirty="0"/>
          </a:p>
        </p:txBody>
      </p:sp>
      <p:sp>
        <p:nvSpPr>
          <p:cNvPr id="20" name="Text 18"/>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1" name="Text 19"/>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差别不在文本层面。甲的作者实地清点过那六个位置，乙的作者没有。</a:t>
            </a:r>
            <a:endParaRPr lang="en-US" sz="16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两份方案在文本层面均可判为合格。评价依据何在，是后续内容的起点。</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6" name="Image 0" descr="/home/user/slides/comprehensive-practice-ai/figures/impact.png">    </p:cNvPr>
          <p:cNvPicPr>
            <a:picLocks noChangeAspect="1"/>
          </p:cNvPicPr>
          <p:nvPr/>
        </p:nvPicPr>
        <p:blipFill>
          <a:blip r:embed="rId1"/>
          <a:stretch>
            <a:fillRect/>
          </a:stretch>
        </p:blipFill>
        <p:spPr>
          <a:xfrm>
            <a:off x="1353966" y="2080260"/>
            <a:ext cx="9864762" cy="3200400"/>
          </a:xfrm>
          <a:prstGeom prst="rect">
            <a:avLst/>
          </a:prstGeom>
        </p:spPr>
      </p:pic>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6"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7" name="Text 14"/>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1A2029"/>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6" name="Text 14"/>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7" name="Text 15"/>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8" name="Text 16"/>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19" name="Text 17"/>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0" name="Text 18"/>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1" name="Text 19"/>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而耗时的环节正是本课程的教学内容。</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6" name="Shape 14"/>
          <p:cNvSpPr/>
          <p:nvPr/>
        </p:nvSpPr>
        <p:spPr>
          <a:xfrm>
            <a:off x="1295400" y="2286000"/>
            <a:ext cx="4798924" cy="530352"/>
          </a:xfrm>
          <a:prstGeom prst="roundRect">
            <a:avLst>
              <a:gd name="adj" fmla="val 12069"/>
            </a:avLst>
          </a:prstGeom>
          <a:solidFill>
            <a:srgbClr val="FFFFFF"/>
          </a:solidFill>
          <a:ln w="12700">
            <a:solidFill>
              <a:srgbClr val="E2E7F0"/>
            </a:solidFill>
            <a:prstDash val="solid"/>
          </a:ln>
        </p:spPr>
      </p:sp>
      <p:sp>
        <p:nvSpPr>
          <p:cNvPr id="17" name="Text 15"/>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01</a:t>
            </a:r>
            <a:endParaRPr lang="en-US" sz="1200" dirty="0"/>
          </a:p>
        </p:txBody>
      </p:sp>
      <p:sp>
        <p:nvSpPr>
          <p:cNvPr id="18" name="Text 16"/>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课时被挤占</a:t>
            </a:r>
            <a:endParaRPr lang="en-US" sz="1450" dirty="0"/>
          </a:p>
        </p:txBody>
      </p:sp>
      <p:sp>
        <p:nvSpPr>
          <p:cNvPr id="19" name="Shape 17"/>
          <p:cNvSpPr/>
          <p:nvPr/>
        </p:nvSpPr>
        <p:spPr>
          <a:xfrm>
            <a:off x="6478372" y="2286000"/>
            <a:ext cx="4798924" cy="530352"/>
          </a:xfrm>
          <a:prstGeom prst="roundRect">
            <a:avLst>
              <a:gd name="adj" fmla="val 12069"/>
            </a:avLst>
          </a:prstGeom>
          <a:solidFill>
            <a:srgbClr val="FFFFFF"/>
          </a:solidFill>
          <a:ln w="12700">
            <a:solidFill>
              <a:srgbClr val="E2E7F0"/>
            </a:solidFill>
            <a:prstDash val="solid"/>
          </a:ln>
        </p:spPr>
      </p:sp>
      <p:sp>
        <p:nvSpPr>
          <p:cNvPr id="20" name="Text 18"/>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02</a:t>
            </a:r>
            <a:endParaRPr lang="en-US" sz="1200" dirty="0"/>
          </a:p>
        </p:txBody>
      </p:sp>
      <p:sp>
        <p:nvSpPr>
          <p:cNvPr id="21" name="Text 19"/>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师资兼任</a:t>
            </a:r>
            <a:endParaRPr lang="en-US" sz="1450" dirty="0"/>
          </a:p>
        </p:txBody>
      </p:sp>
      <p:sp>
        <p:nvSpPr>
          <p:cNvPr id="22" name="Shape 20"/>
          <p:cNvSpPr/>
          <p:nvPr/>
        </p:nvSpPr>
        <p:spPr>
          <a:xfrm>
            <a:off x="1295400" y="2962656"/>
            <a:ext cx="4798924" cy="530352"/>
          </a:xfrm>
          <a:prstGeom prst="roundRect">
            <a:avLst>
              <a:gd name="adj" fmla="val 12069"/>
            </a:avLst>
          </a:prstGeom>
          <a:solidFill>
            <a:srgbClr val="FFFFFF"/>
          </a:solidFill>
          <a:ln w="12700">
            <a:solidFill>
              <a:srgbClr val="E2E7F0"/>
            </a:solidFill>
            <a:prstDash val="solid"/>
          </a:ln>
        </p:spPr>
      </p:sp>
      <p:sp>
        <p:nvSpPr>
          <p:cNvPr id="23" name="Text 21"/>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03</a:t>
            </a:r>
            <a:endParaRPr lang="en-US" sz="1200" dirty="0"/>
          </a:p>
        </p:txBody>
      </p:sp>
      <p:sp>
        <p:nvSpPr>
          <p:cNvPr id="24" name="Text 22"/>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5" name="Shape 23"/>
          <p:cNvSpPr/>
          <p:nvPr/>
        </p:nvSpPr>
        <p:spPr>
          <a:xfrm>
            <a:off x="6478372" y="2962656"/>
            <a:ext cx="4798924" cy="530352"/>
          </a:xfrm>
          <a:prstGeom prst="roundRect">
            <a:avLst>
              <a:gd name="adj" fmla="val 12069"/>
            </a:avLst>
          </a:prstGeom>
          <a:solidFill>
            <a:srgbClr val="FFFFFF"/>
          </a:solidFill>
          <a:ln w="12700">
            <a:solidFill>
              <a:srgbClr val="E2E7F0"/>
            </a:solidFill>
            <a:prstDash val="solid"/>
          </a:ln>
        </p:spPr>
      </p:sp>
      <p:sp>
        <p:nvSpPr>
          <p:cNvPr id="26" name="Text 24"/>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04</a:t>
            </a:r>
            <a:endParaRPr lang="en-US" sz="1200" dirty="0"/>
          </a:p>
        </p:txBody>
      </p:sp>
      <p:sp>
        <p:nvSpPr>
          <p:cNvPr id="27" name="Text 25"/>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研学只旅不学</a:t>
            </a:r>
            <a:endParaRPr lang="en-US" sz="1450" dirty="0"/>
          </a:p>
        </p:txBody>
      </p:sp>
      <p:sp>
        <p:nvSpPr>
          <p:cNvPr id="28" name="Shape 26"/>
          <p:cNvSpPr/>
          <p:nvPr/>
        </p:nvSpPr>
        <p:spPr>
          <a:xfrm>
            <a:off x="1295400" y="3639312"/>
            <a:ext cx="4798924" cy="530352"/>
          </a:xfrm>
          <a:prstGeom prst="roundRect">
            <a:avLst>
              <a:gd name="adj" fmla="val 12069"/>
            </a:avLst>
          </a:prstGeom>
          <a:solidFill>
            <a:srgbClr val="FFFFFF"/>
          </a:solidFill>
          <a:ln w="12700">
            <a:solidFill>
              <a:srgbClr val="E2E7F0"/>
            </a:solidFill>
            <a:prstDash val="solid"/>
          </a:ln>
        </p:spPr>
      </p:sp>
      <p:sp>
        <p:nvSpPr>
          <p:cNvPr id="29" name="Text 27"/>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05</a:t>
            </a:r>
            <a:endParaRPr lang="en-US" sz="1200" dirty="0"/>
          </a:p>
        </p:txBody>
      </p:sp>
      <p:sp>
        <p:nvSpPr>
          <p:cNvPr id="30" name="Text 28"/>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1" name="Shape 29"/>
          <p:cNvSpPr/>
          <p:nvPr/>
        </p:nvSpPr>
        <p:spPr>
          <a:xfrm>
            <a:off x="6478372" y="3639312"/>
            <a:ext cx="4798924" cy="530352"/>
          </a:xfrm>
          <a:prstGeom prst="roundRect">
            <a:avLst>
              <a:gd name="adj" fmla="val 12069"/>
            </a:avLst>
          </a:prstGeom>
          <a:solidFill>
            <a:srgbClr val="FFFFFF"/>
          </a:solidFill>
          <a:ln w="12700">
            <a:solidFill>
              <a:srgbClr val="E2E7F0"/>
            </a:solidFill>
            <a:prstDash val="solid"/>
          </a:ln>
        </p:spPr>
      </p:sp>
      <p:sp>
        <p:nvSpPr>
          <p:cNvPr id="32" name="Text 30"/>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06</a:t>
            </a:r>
            <a:endParaRPr lang="en-US" sz="1200" dirty="0"/>
          </a:p>
        </p:txBody>
      </p:sp>
      <p:sp>
        <p:nvSpPr>
          <p:cNvPr id="33" name="Text 31"/>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6" name="Shape 14"/>
          <p:cNvSpPr/>
          <p:nvPr/>
        </p:nvSpPr>
        <p:spPr>
          <a:xfrm>
            <a:off x="1295400" y="1860804"/>
            <a:ext cx="9981895" cy="2148840"/>
          </a:xfrm>
          <a:prstGeom prst="roundRect">
            <a:avLst>
              <a:gd name="adj" fmla="val 3830"/>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33414F"/>
          </a:solidFill>
          <a:ln w="12700">
            <a:solidFill>
              <a:srgbClr val="33414F"/>
            </a:solidFill>
            <a:prstDash val="solid"/>
          </a:ln>
        </p:spPr>
      </p:sp>
      <p:sp>
        <p:nvSpPr>
          <p:cNvPr id="18" name="Text 16"/>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19" name="Shape 17"/>
          <p:cNvSpPr/>
          <p:nvPr/>
        </p:nvSpPr>
        <p:spPr>
          <a:xfrm>
            <a:off x="1551432" y="2519172"/>
            <a:ext cx="9469831" cy="0"/>
          </a:xfrm>
          <a:prstGeom prst="line">
            <a:avLst/>
          </a:prstGeom>
          <a:noFill/>
          <a:ln w="12700">
            <a:solidFill>
              <a:srgbClr val="E2E7F0"/>
            </a:solidFill>
            <a:prstDash val="solid"/>
          </a:ln>
        </p:spPr>
      </p:sp>
      <p:sp>
        <p:nvSpPr>
          <p:cNvPr id="20" name="Text 18"/>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1" name="Text 19"/>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2" name="Shape 20"/>
          <p:cNvSpPr/>
          <p:nvPr/>
        </p:nvSpPr>
        <p:spPr>
          <a:xfrm>
            <a:off x="1551432" y="2866644"/>
            <a:ext cx="9469831" cy="0"/>
          </a:xfrm>
          <a:prstGeom prst="line">
            <a:avLst/>
          </a:prstGeom>
          <a:noFill/>
          <a:ln w="12700">
            <a:solidFill>
              <a:srgbClr val="E2E7F0"/>
            </a:solidFill>
            <a:prstDash val="solid"/>
          </a:ln>
        </p:spPr>
      </p:sp>
      <p:sp>
        <p:nvSpPr>
          <p:cNvPr id="23" name="Text 21"/>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构成</a:t>
            </a:r>
            <a:endParaRPr lang="en-US" sz="950" dirty="0"/>
          </a:p>
        </p:txBody>
      </p:sp>
      <p:sp>
        <p:nvSpPr>
          <p:cNvPr id="24" name="Text 22"/>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5" name="Shape 23"/>
          <p:cNvSpPr/>
          <p:nvPr/>
        </p:nvSpPr>
        <p:spPr>
          <a:xfrm>
            <a:off x="1551432" y="3214116"/>
            <a:ext cx="9469831" cy="0"/>
          </a:xfrm>
          <a:prstGeom prst="line">
            <a:avLst/>
          </a:prstGeom>
          <a:noFill/>
          <a:ln w="12700">
            <a:solidFill>
              <a:srgbClr val="E2E7F0"/>
            </a:solidFill>
            <a:prstDash val="solid"/>
          </a:ln>
        </p:spPr>
      </p:sp>
      <p:sp>
        <p:nvSpPr>
          <p:cNvPr id="26" name="Text 24"/>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差异</a:t>
            </a:r>
            <a:endParaRPr lang="en-US" sz="950" dirty="0"/>
          </a:p>
        </p:txBody>
      </p:sp>
      <p:sp>
        <p:nvSpPr>
          <p:cNvPr id="27" name="Text 25"/>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8" name="Shape 26"/>
          <p:cNvSpPr/>
          <p:nvPr/>
        </p:nvSpPr>
        <p:spPr>
          <a:xfrm>
            <a:off x="1551432" y="3561588"/>
            <a:ext cx="9469831" cy="0"/>
          </a:xfrm>
          <a:prstGeom prst="line">
            <a:avLst/>
          </a:prstGeom>
          <a:noFill/>
          <a:ln w="12700">
            <a:solidFill>
              <a:srgbClr val="E2E7F0"/>
            </a:solidFill>
            <a:prstDash val="solid"/>
          </a:ln>
        </p:spPr>
      </p:sp>
      <p:sp>
        <p:nvSpPr>
          <p:cNvPr id="29" name="Text 27"/>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分布</a:t>
            </a:r>
            <a:endParaRPr lang="en-US" sz="950" dirty="0"/>
          </a:p>
        </p:txBody>
      </p:sp>
      <p:sp>
        <p:nvSpPr>
          <p:cNvPr id="30" name="Text 28"/>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1" name="Text 29"/>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2" name="Shape 30"/>
          <p:cNvSpPr/>
          <p:nvPr/>
        </p:nvSpPr>
        <p:spPr>
          <a:xfrm>
            <a:off x="1295400" y="5888736"/>
            <a:ext cx="9981895" cy="0"/>
          </a:xfrm>
          <a:prstGeom prst="line">
            <a:avLst/>
          </a:prstGeom>
          <a:noFill/>
          <a:ln w="12700">
            <a:solidFill>
              <a:srgbClr val="E2E7F0"/>
            </a:solidFill>
            <a:prstDash val="solid"/>
          </a:ln>
        </p:spPr>
      </p:sp>
      <p:sp>
        <p:nvSpPr>
          <p:cNvPr id="33" name="Text 3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6" name="Shape 14"/>
          <p:cNvSpPr/>
          <p:nvPr/>
        </p:nvSpPr>
        <p:spPr>
          <a:xfrm>
            <a:off x="1295400" y="1860804"/>
            <a:ext cx="3199282" cy="3200400"/>
          </a:xfrm>
          <a:prstGeom prst="roundRect">
            <a:avLst>
              <a:gd name="adj" fmla="val 2572"/>
            </a:avLst>
          </a:prstGeom>
          <a:solidFill>
            <a:srgbClr val="FFFFFF"/>
          </a:solidFill>
          <a:ln w="12700">
            <a:solidFill>
              <a:srgbClr val="E2E7F0"/>
            </a:solidFill>
            <a:prstDash val="solid"/>
          </a:ln>
        </p:spPr>
      </p:sp>
      <p:sp>
        <p:nvSpPr>
          <p:cNvPr id="17" name="Shape 15"/>
          <p:cNvSpPr/>
          <p:nvPr/>
        </p:nvSpPr>
        <p:spPr>
          <a:xfrm>
            <a:off x="1359408" y="1860804"/>
            <a:ext cx="3071266" cy="38100"/>
          </a:xfrm>
          <a:prstGeom prst="rect">
            <a:avLst/>
          </a:prstGeom>
          <a:solidFill>
            <a:srgbClr val="B0472A"/>
          </a:solidFill>
          <a:ln w="12700">
            <a:solidFill>
              <a:srgbClr val="B0472A"/>
            </a:solidFill>
            <a:prstDash val="solid"/>
          </a:ln>
        </p:spPr>
      </p:sp>
      <p:sp>
        <p:nvSpPr>
          <p:cNvPr id="18" name="Text 16"/>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AI 会加剧</a:t>
            </a:r>
            <a:endParaRPr lang="en-US" sz="1600" dirty="0"/>
          </a:p>
        </p:txBody>
      </p:sp>
      <p:sp>
        <p:nvSpPr>
          <p:cNvPr id="19" name="Shape 17"/>
          <p:cNvSpPr/>
          <p:nvPr/>
        </p:nvSpPr>
        <p:spPr>
          <a:xfrm>
            <a:off x="1496568" y="2427732"/>
            <a:ext cx="2796946" cy="0"/>
          </a:xfrm>
          <a:prstGeom prst="line">
            <a:avLst/>
          </a:prstGeom>
          <a:noFill/>
          <a:ln w="25400">
            <a:solidFill>
              <a:srgbClr val="B0472A"/>
            </a:solidFill>
            <a:prstDash val="solid"/>
          </a:ln>
        </p:spPr>
      </p:sp>
      <p:sp>
        <p:nvSpPr>
          <p:cNvPr id="20" name="Text 18"/>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形式化、成果拼盘</a:t>
            </a:r>
            <a:endParaRPr lang="en-US" sz="1300" dirty="0"/>
          </a:p>
        </p:txBody>
      </p:sp>
      <p:sp>
        <p:nvSpPr>
          <p:cNvPr id="21" name="Shape 19"/>
          <p:cNvSpPr/>
          <p:nvPr/>
        </p:nvSpPr>
        <p:spPr>
          <a:xfrm>
            <a:off x="1496568" y="3031236"/>
            <a:ext cx="2796946" cy="0"/>
          </a:xfrm>
          <a:prstGeom prst="line">
            <a:avLst/>
          </a:prstGeom>
          <a:noFill/>
          <a:ln w="12700">
            <a:solidFill>
              <a:srgbClr val="E2E7F0"/>
            </a:solidFill>
            <a:prstDash val="solid"/>
          </a:ln>
        </p:spPr>
      </p:sp>
      <p:sp>
        <p:nvSpPr>
          <p:cNvPr id="22" name="Text 20"/>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3" name="Shape 21"/>
          <p:cNvSpPr/>
          <p:nvPr/>
        </p:nvSpPr>
        <p:spPr>
          <a:xfrm>
            <a:off x="1496568" y="3634740"/>
            <a:ext cx="2796946" cy="0"/>
          </a:xfrm>
          <a:prstGeom prst="line">
            <a:avLst/>
          </a:prstGeom>
          <a:noFill/>
          <a:ln w="12700">
            <a:solidFill>
              <a:srgbClr val="E2E7F0"/>
            </a:solidFill>
            <a:prstDash val="solid"/>
          </a:ln>
        </p:spPr>
      </p:sp>
      <p:sp>
        <p:nvSpPr>
          <p:cNvPr id="24" name="Text 22"/>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选题雷同</a:t>
            </a:r>
            <a:endParaRPr lang="en-US" sz="1300" dirty="0"/>
          </a:p>
        </p:txBody>
      </p:sp>
      <p:sp>
        <p:nvSpPr>
          <p:cNvPr id="25" name="Shape 23"/>
          <p:cNvSpPr/>
          <p:nvPr/>
        </p:nvSpPr>
        <p:spPr>
          <a:xfrm>
            <a:off x="1496568" y="4238244"/>
            <a:ext cx="2796946" cy="0"/>
          </a:xfrm>
          <a:prstGeom prst="line">
            <a:avLst/>
          </a:prstGeom>
          <a:noFill/>
          <a:ln w="12700">
            <a:solidFill>
              <a:srgbClr val="E2E7F0"/>
            </a:solidFill>
            <a:prstDash val="solid"/>
          </a:ln>
        </p:spPr>
      </p:sp>
      <p:sp>
        <p:nvSpPr>
          <p:cNvPr id="26" name="Text 24"/>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研学只旅不学</a:t>
            </a:r>
            <a:endParaRPr lang="en-US" sz="1300" dirty="0"/>
          </a:p>
        </p:txBody>
      </p:sp>
      <p:sp>
        <p:nvSpPr>
          <p:cNvPr id="27" name="Shape 25"/>
          <p:cNvSpPr/>
          <p:nvPr/>
        </p:nvSpPr>
        <p:spPr>
          <a:xfrm>
            <a:off x="4686706" y="1860804"/>
            <a:ext cx="3199282" cy="3200400"/>
          </a:xfrm>
          <a:prstGeom prst="roundRect">
            <a:avLst>
              <a:gd name="adj" fmla="val 2572"/>
            </a:avLst>
          </a:prstGeom>
          <a:solidFill>
            <a:srgbClr val="FFFFFF"/>
          </a:solidFill>
          <a:ln w="12700">
            <a:solidFill>
              <a:srgbClr val="E2E7F0"/>
            </a:solidFill>
            <a:prstDash val="solid"/>
          </a:ln>
        </p:spPr>
      </p:sp>
      <p:sp>
        <p:nvSpPr>
          <p:cNvPr id="28" name="Shape 26"/>
          <p:cNvSpPr/>
          <p:nvPr/>
        </p:nvSpPr>
        <p:spPr>
          <a:xfrm>
            <a:off x="4750714" y="1860804"/>
            <a:ext cx="3071266" cy="38100"/>
          </a:xfrm>
          <a:prstGeom prst="rect">
            <a:avLst/>
          </a:prstGeom>
          <a:solidFill>
            <a:srgbClr val="33414F"/>
          </a:solidFill>
          <a:ln w="12700">
            <a:solidFill>
              <a:srgbClr val="33414F"/>
            </a:solidFill>
            <a:prstDash val="solid"/>
          </a:ln>
        </p:spPr>
      </p:sp>
      <p:sp>
        <p:nvSpPr>
          <p:cNvPr id="29" name="Text 27"/>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AI 能减轻</a:t>
            </a:r>
            <a:endParaRPr lang="en-US" sz="1600" dirty="0"/>
          </a:p>
        </p:txBody>
      </p:sp>
      <p:sp>
        <p:nvSpPr>
          <p:cNvPr id="30" name="Shape 28"/>
          <p:cNvSpPr/>
          <p:nvPr/>
        </p:nvSpPr>
        <p:spPr>
          <a:xfrm>
            <a:off x="4887874" y="2427732"/>
            <a:ext cx="2796946" cy="0"/>
          </a:xfrm>
          <a:prstGeom prst="line">
            <a:avLst/>
          </a:prstGeom>
          <a:noFill/>
          <a:ln w="25400">
            <a:solidFill>
              <a:srgbClr val="33414F"/>
            </a:solidFill>
            <a:prstDash val="solid"/>
          </a:ln>
        </p:spPr>
      </p:sp>
      <p:sp>
        <p:nvSpPr>
          <p:cNvPr id="31" name="Text 29"/>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2" name="Shape 30"/>
          <p:cNvSpPr/>
          <p:nvPr/>
        </p:nvSpPr>
        <p:spPr>
          <a:xfrm>
            <a:off x="4887874" y="3031236"/>
            <a:ext cx="2796946" cy="0"/>
          </a:xfrm>
          <a:prstGeom prst="line">
            <a:avLst/>
          </a:prstGeom>
          <a:noFill/>
          <a:ln w="12700">
            <a:solidFill>
              <a:srgbClr val="E2E7F0"/>
            </a:solidFill>
            <a:prstDash val="solid"/>
          </a:ln>
        </p:spPr>
      </p:sp>
      <p:sp>
        <p:nvSpPr>
          <p:cNvPr id="33" name="Text 31"/>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4" name="Shape 32"/>
          <p:cNvSpPr/>
          <p:nvPr/>
        </p:nvSpPr>
        <p:spPr>
          <a:xfrm>
            <a:off x="4887874" y="3634740"/>
            <a:ext cx="2796946" cy="0"/>
          </a:xfrm>
          <a:prstGeom prst="line">
            <a:avLst/>
          </a:prstGeom>
          <a:noFill/>
          <a:ln w="12700">
            <a:solidFill>
              <a:srgbClr val="E2E7F0"/>
            </a:solidFill>
            <a:prstDash val="solid"/>
          </a:ln>
        </p:spPr>
      </p:sp>
      <p:sp>
        <p:nvSpPr>
          <p:cNvPr id="35" name="Text 33"/>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6" name="Shape 34"/>
          <p:cNvSpPr/>
          <p:nvPr/>
        </p:nvSpPr>
        <p:spPr>
          <a:xfrm>
            <a:off x="4887874" y="4238244"/>
            <a:ext cx="2796946" cy="0"/>
          </a:xfrm>
          <a:prstGeom prst="line">
            <a:avLst/>
          </a:prstGeom>
          <a:noFill/>
          <a:ln w="12700">
            <a:solidFill>
              <a:srgbClr val="E2E7F0"/>
            </a:solidFill>
            <a:prstDash val="solid"/>
          </a:ln>
        </p:spPr>
      </p:sp>
      <p:sp>
        <p:nvSpPr>
          <p:cNvPr id="37" name="Text 35"/>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排版与基础图表</a:t>
            </a:r>
            <a:endParaRPr lang="en-US" sz="1300" dirty="0"/>
          </a:p>
        </p:txBody>
      </p:sp>
      <p:sp>
        <p:nvSpPr>
          <p:cNvPr id="38" name="Shape 36"/>
          <p:cNvSpPr/>
          <p:nvPr/>
        </p:nvSpPr>
        <p:spPr>
          <a:xfrm>
            <a:off x="8078013" y="1860804"/>
            <a:ext cx="3199282" cy="3200400"/>
          </a:xfrm>
          <a:prstGeom prst="roundRect">
            <a:avLst>
              <a:gd name="adj" fmla="val 2572"/>
            </a:avLst>
          </a:prstGeom>
          <a:solidFill>
            <a:srgbClr val="FFFFFF"/>
          </a:solidFill>
          <a:ln w="12700">
            <a:solidFill>
              <a:srgbClr val="E2E7F0"/>
            </a:solidFill>
            <a:prstDash val="solid"/>
          </a:ln>
        </p:spPr>
      </p:sp>
      <p:sp>
        <p:nvSpPr>
          <p:cNvPr id="39" name="Shape 37"/>
          <p:cNvSpPr/>
          <p:nvPr/>
        </p:nvSpPr>
        <p:spPr>
          <a:xfrm>
            <a:off x="8142021" y="1860804"/>
            <a:ext cx="3071266" cy="38100"/>
          </a:xfrm>
          <a:prstGeom prst="rect">
            <a:avLst/>
          </a:prstGeom>
          <a:solidFill>
            <a:srgbClr val="E2E7F0"/>
          </a:solidFill>
          <a:ln w="12700">
            <a:solidFill>
              <a:srgbClr val="E2E7F0"/>
            </a:solidFill>
            <a:prstDash val="solid"/>
          </a:ln>
        </p:spPr>
      </p:sp>
      <p:sp>
        <p:nvSpPr>
          <p:cNvPr id="40" name="Text 38"/>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B6470"/>
                </a:solidFill>
                <a:latin typeface="Microsoft YaHei" pitchFamily="34" charset="0"/>
                <a:ea typeface="Microsoft YaHei" pitchFamily="34" charset="-122"/>
                <a:cs typeface="Microsoft YaHei" pitchFamily="34" charset="-120"/>
              </a:rPr>
              <a:t>AI 无关</a:t>
            </a:r>
            <a:endParaRPr lang="en-US" sz="1600" dirty="0"/>
          </a:p>
        </p:txBody>
      </p:sp>
      <p:sp>
        <p:nvSpPr>
          <p:cNvPr id="41" name="Shape 39"/>
          <p:cNvSpPr/>
          <p:nvPr/>
        </p:nvSpPr>
        <p:spPr>
          <a:xfrm>
            <a:off x="8279181" y="2427732"/>
            <a:ext cx="2796946" cy="0"/>
          </a:xfrm>
          <a:prstGeom prst="line">
            <a:avLst/>
          </a:prstGeom>
          <a:noFill/>
          <a:ln w="25400">
            <a:solidFill>
              <a:srgbClr val="5B6470"/>
            </a:solidFill>
            <a:prstDash val="solid"/>
          </a:ln>
        </p:spPr>
      </p:sp>
      <p:sp>
        <p:nvSpPr>
          <p:cNvPr id="42" name="Text 40"/>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课时被挤占</a:t>
            </a:r>
            <a:endParaRPr lang="en-US" sz="1300" dirty="0"/>
          </a:p>
        </p:txBody>
      </p:sp>
      <p:sp>
        <p:nvSpPr>
          <p:cNvPr id="43" name="Shape 41"/>
          <p:cNvSpPr/>
          <p:nvPr/>
        </p:nvSpPr>
        <p:spPr>
          <a:xfrm>
            <a:off x="8279181" y="3031236"/>
            <a:ext cx="2796946" cy="0"/>
          </a:xfrm>
          <a:prstGeom prst="line">
            <a:avLst/>
          </a:prstGeom>
          <a:noFill/>
          <a:ln w="12700">
            <a:solidFill>
              <a:srgbClr val="E2E7F0"/>
            </a:solidFill>
            <a:prstDash val="solid"/>
          </a:ln>
        </p:spPr>
      </p:sp>
      <p:sp>
        <p:nvSpPr>
          <p:cNvPr id="44" name="Text 42"/>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5" name="Shape 43"/>
          <p:cNvSpPr/>
          <p:nvPr/>
        </p:nvSpPr>
        <p:spPr>
          <a:xfrm>
            <a:off x="8279181" y="3634740"/>
            <a:ext cx="2796946" cy="0"/>
          </a:xfrm>
          <a:prstGeom prst="line">
            <a:avLst/>
          </a:prstGeom>
          <a:noFill/>
          <a:ln w="12700">
            <a:solidFill>
              <a:srgbClr val="E2E7F0"/>
            </a:solidFill>
            <a:prstDash val="solid"/>
          </a:ln>
        </p:spPr>
      </p:sp>
      <p:sp>
        <p:nvSpPr>
          <p:cNvPr id="46" name="Text 44"/>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校外基地质量</a:t>
            </a:r>
            <a:endParaRPr lang="en-US" sz="1300" dirty="0"/>
          </a:p>
        </p:txBody>
      </p:sp>
      <p:sp>
        <p:nvSpPr>
          <p:cNvPr id="47" name="Shape 45"/>
          <p:cNvSpPr/>
          <p:nvPr/>
        </p:nvSpPr>
        <p:spPr>
          <a:xfrm>
            <a:off x="8279181" y="4238244"/>
            <a:ext cx="2796946" cy="0"/>
          </a:xfrm>
          <a:prstGeom prst="line">
            <a:avLst/>
          </a:prstGeom>
          <a:noFill/>
          <a:ln w="12700">
            <a:solidFill>
              <a:srgbClr val="E2E7F0"/>
            </a:solidFill>
            <a:prstDash val="solid"/>
          </a:ln>
        </p:spPr>
      </p:sp>
      <p:sp>
        <p:nvSpPr>
          <p:cNvPr id="48" name="Text 46"/>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6" name="Shape 14"/>
          <p:cNvSpPr/>
          <p:nvPr/>
        </p:nvSpPr>
        <p:spPr>
          <a:xfrm>
            <a:off x="1295400" y="2043684"/>
            <a:ext cx="3205378" cy="1207008"/>
          </a:xfrm>
          <a:prstGeom prst="roundRect">
            <a:avLst>
              <a:gd name="adj" fmla="val 6818"/>
            </a:avLst>
          </a:prstGeom>
          <a:solidFill>
            <a:srgbClr val="FFFFFF"/>
          </a:solidFill>
          <a:ln w="12700">
            <a:solidFill>
              <a:srgbClr val="E2E7F0"/>
            </a:solidFill>
            <a:prstDash val="solid"/>
          </a:ln>
        </p:spPr>
      </p:sp>
      <p:sp>
        <p:nvSpPr>
          <p:cNvPr id="17" name="Shape 15"/>
          <p:cNvSpPr/>
          <p:nvPr/>
        </p:nvSpPr>
        <p:spPr>
          <a:xfrm>
            <a:off x="1359408" y="2043684"/>
            <a:ext cx="3077362" cy="38100"/>
          </a:xfrm>
          <a:prstGeom prst="rect">
            <a:avLst/>
          </a:prstGeom>
          <a:solidFill>
            <a:srgbClr val="33414F"/>
          </a:solidFill>
          <a:ln w="12700">
            <a:solidFill>
              <a:srgbClr val="33414F"/>
            </a:solidFill>
            <a:prstDash val="solid"/>
          </a:ln>
        </p:spPr>
      </p:sp>
      <p:sp>
        <p:nvSpPr>
          <p:cNvPr id="18" name="Text 16"/>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花瓶项目</a:t>
            </a:r>
            <a:endParaRPr lang="en-US" sz="1600" dirty="0"/>
          </a:p>
        </p:txBody>
      </p:sp>
      <p:sp>
        <p:nvSpPr>
          <p:cNvPr id="19" name="Text 17"/>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0" name="Shape 18"/>
          <p:cNvSpPr/>
          <p:nvPr/>
        </p:nvSpPr>
        <p:spPr>
          <a:xfrm>
            <a:off x="4683658" y="2043684"/>
            <a:ext cx="3205378" cy="1207008"/>
          </a:xfrm>
          <a:prstGeom prst="roundRect">
            <a:avLst>
              <a:gd name="adj" fmla="val 6818"/>
            </a:avLst>
          </a:prstGeom>
          <a:solidFill>
            <a:srgbClr val="FFFFFF"/>
          </a:solidFill>
          <a:ln w="12700">
            <a:solidFill>
              <a:srgbClr val="E2E7F0"/>
            </a:solidFill>
            <a:prstDash val="solid"/>
          </a:ln>
        </p:spPr>
      </p:sp>
      <p:sp>
        <p:nvSpPr>
          <p:cNvPr id="21" name="Shape 19"/>
          <p:cNvSpPr/>
          <p:nvPr/>
        </p:nvSpPr>
        <p:spPr>
          <a:xfrm>
            <a:off x="4747666" y="2043684"/>
            <a:ext cx="3077362" cy="38100"/>
          </a:xfrm>
          <a:prstGeom prst="rect">
            <a:avLst/>
          </a:prstGeom>
          <a:solidFill>
            <a:srgbClr val="C9714C"/>
          </a:solidFill>
          <a:ln w="12700">
            <a:solidFill>
              <a:srgbClr val="C9714C"/>
            </a:solidFill>
            <a:prstDash val="solid"/>
          </a:ln>
        </p:spPr>
      </p:sp>
      <p:sp>
        <p:nvSpPr>
          <p:cNvPr id="22" name="Text 20"/>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拼盘项目</a:t>
            </a:r>
            <a:endParaRPr lang="en-US" sz="1600" dirty="0"/>
          </a:p>
        </p:txBody>
      </p:sp>
      <p:sp>
        <p:nvSpPr>
          <p:cNvPr id="23" name="Text 21"/>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4" name="Shape 22"/>
          <p:cNvSpPr/>
          <p:nvPr/>
        </p:nvSpPr>
        <p:spPr>
          <a:xfrm>
            <a:off x="8071917" y="2043684"/>
            <a:ext cx="3205378" cy="1207008"/>
          </a:xfrm>
          <a:prstGeom prst="roundRect">
            <a:avLst>
              <a:gd name="adj" fmla="val 6818"/>
            </a:avLst>
          </a:prstGeom>
          <a:solidFill>
            <a:srgbClr val="FFFFFF"/>
          </a:solidFill>
          <a:ln w="12700">
            <a:solidFill>
              <a:srgbClr val="E2E7F0"/>
            </a:solidFill>
            <a:prstDash val="solid"/>
          </a:ln>
        </p:spPr>
      </p:sp>
      <p:sp>
        <p:nvSpPr>
          <p:cNvPr id="25" name="Shape 23"/>
          <p:cNvSpPr/>
          <p:nvPr/>
        </p:nvSpPr>
        <p:spPr>
          <a:xfrm>
            <a:off x="8135925" y="2043684"/>
            <a:ext cx="3077362" cy="38100"/>
          </a:xfrm>
          <a:prstGeom prst="rect">
            <a:avLst/>
          </a:prstGeom>
          <a:solidFill>
            <a:srgbClr val="B0472A"/>
          </a:solidFill>
          <a:ln w="12700">
            <a:solidFill>
              <a:srgbClr val="B0472A"/>
            </a:solidFill>
            <a:prstDash val="solid"/>
          </a:ln>
        </p:spPr>
      </p:sp>
      <p:sp>
        <p:nvSpPr>
          <p:cNvPr id="26" name="Text 24"/>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空心项目</a:t>
            </a:r>
            <a:endParaRPr lang="en-US" sz="1600" dirty="0"/>
          </a:p>
        </p:txBody>
      </p:sp>
      <p:sp>
        <p:nvSpPr>
          <p:cNvPr id="27" name="Text 25"/>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8" name="Text 26"/>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6" name="Shape 14"/>
          <p:cNvSpPr/>
          <p:nvPr/>
        </p:nvSpPr>
        <p:spPr>
          <a:xfrm>
            <a:off x="1295400" y="1860804"/>
            <a:ext cx="9981895" cy="1965960"/>
          </a:xfrm>
          <a:prstGeom prst="roundRect">
            <a:avLst>
              <a:gd name="adj" fmla="val 4186"/>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B0472A"/>
          </a:solidFill>
          <a:ln w="12700">
            <a:solidFill>
              <a:srgbClr val="B0472A"/>
            </a:solidFill>
            <a:prstDash val="solid"/>
          </a:ln>
        </p:spPr>
      </p:sp>
      <p:sp>
        <p:nvSpPr>
          <p:cNvPr id="18" name="Shape 16"/>
          <p:cNvSpPr/>
          <p:nvPr/>
        </p:nvSpPr>
        <p:spPr>
          <a:xfrm>
            <a:off x="1551432" y="2080260"/>
            <a:ext cx="9469831" cy="0"/>
          </a:xfrm>
          <a:prstGeom prst="line">
            <a:avLst/>
          </a:prstGeom>
          <a:noFill/>
          <a:ln w="12700">
            <a:solidFill>
              <a:srgbClr val="E2E7F0"/>
            </a:solidFill>
            <a:prstDash val="solid"/>
          </a:ln>
        </p:spPr>
      </p:sp>
      <p:sp>
        <p:nvSpPr>
          <p:cNvPr id="19" name="Text 17"/>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设计</a:t>
            </a:r>
            <a:endParaRPr lang="en-US" sz="950" dirty="0"/>
          </a:p>
        </p:txBody>
      </p:sp>
      <p:sp>
        <p:nvSpPr>
          <p:cNvPr id="20" name="Text 18"/>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1" name="Shape 19"/>
          <p:cNvSpPr/>
          <p:nvPr/>
        </p:nvSpPr>
        <p:spPr>
          <a:xfrm>
            <a:off x="1551432" y="2427732"/>
            <a:ext cx="9469831" cy="0"/>
          </a:xfrm>
          <a:prstGeom prst="line">
            <a:avLst/>
          </a:prstGeom>
          <a:noFill/>
          <a:ln w="12700">
            <a:solidFill>
              <a:srgbClr val="E2E7F0"/>
            </a:solidFill>
            <a:prstDash val="solid"/>
          </a:ln>
        </p:spPr>
      </p:sp>
      <p:sp>
        <p:nvSpPr>
          <p:cNvPr id="22" name="Text 20"/>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3" name="Text 21"/>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4" name="Shape 22"/>
          <p:cNvSpPr/>
          <p:nvPr/>
        </p:nvSpPr>
        <p:spPr>
          <a:xfrm>
            <a:off x="1551432" y="2775204"/>
            <a:ext cx="9469831" cy="0"/>
          </a:xfrm>
          <a:prstGeom prst="line">
            <a:avLst/>
          </a:prstGeom>
          <a:noFill/>
          <a:ln w="12700">
            <a:solidFill>
              <a:srgbClr val="E2E7F0"/>
            </a:solidFill>
            <a:prstDash val="solid"/>
          </a:ln>
        </p:spPr>
      </p:sp>
      <p:sp>
        <p:nvSpPr>
          <p:cNvPr id="25" name="Text 23"/>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结果</a:t>
            </a:r>
            <a:endParaRPr lang="en-US" sz="950" dirty="0"/>
          </a:p>
        </p:txBody>
      </p:sp>
      <p:sp>
        <p:nvSpPr>
          <p:cNvPr id="26" name="Text 24"/>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7" name="Shape 25"/>
          <p:cNvSpPr/>
          <p:nvPr/>
        </p:nvSpPr>
        <p:spPr>
          <a:xfrm>
            <a:off x="1551432" y="3122676"/>
            <a:ext cx="9469831" cy="0"/>
          </a:xfrm>
          <a:prstGeom prst="line">
            <a:avLst/>
          </a:prstGeom>
          <a:noFill/>
          <a:ln w="12700">
            <a:solidFill>
              <a:srgbClr val="E2E7F0"/>
            </a:solidFill>
            <a:prstDash val="solid"/>
          </a:ln>
        </p:spPr>
      </p:sp>
      <p:sp>
        <p:nvSpPr>
          <p:cNvPr id="28" name="Text 26"/>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但是</a:t>
            </a:r>
            <a:endParaRPr lang="en-US" sz="950" dirty="0"/>
          </a:p>
        </p:txBody>
      </p:sp>
      <p:sp>
        <p:nvSpPr>
          <p:cNvPr id="29" name="Text 27"/>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0" name="Text 28"/>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1" name="Text 29"/>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2" name="Text 30"/>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3" name="Text 31"/>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4" name="Shape 32"/>
          <p:cNvSpPr/>
          <p:nvPr/>
        </p:nvSpPr>
        <p:spPr>
          <a:xfrm>
            <a:off x="1295400" y="5888736"/>
            <a:ext cx="9981895" cy="0"/>
          </a:xfrm>
          <a:prstGeom prst="line">
            <a:avLst/>
          </a:prstGeom>
          <a:noFill/>
          <a:ln w="12700">
            <a:solidFill>
              <a:srgbClr val="E2E7F0"/>
            </a:solidFill>
            <a:prstDash val="solid"/>
          </a:ln>
        </p:spPr>
      </p:sp>
      <p:sp>
        <p:nvSpPr>
          <p:cNvPr id="35" name="Text 3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判据</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6"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7" name="Text 14"/>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8" name="Text 15"/>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6" name="Shape 14"/>
          <p:cNvSpPr/>
          <p:nvPr/>
        </p:nvSpPr>
        <p:spPr>
          <a:xfrm>
            <a:off x="1295400" y="1860804"/>
            <a:ext cx="4881220" cy="2971800"/>
          </a:xfrm>
          <a:prstGeom prst="roundRect">
            <a:avLst>
              <a:gd name="adj" fmla="val 2769"/>
            </a:avLst>
          </a:prstGeom>
          <a:solidFill>
            <a:srgbClr val="FFFFFF"/>
          </a:solidFill>
          <a:ln w="12700">
            <a:solidFill>
              <a:srgbClr val="E2E7F0"/>
            </a:solidFill>
            <a:prstDash val="solid"/>
          </a:ln>
        </p:spPr>
      </p:sp>
      <p:sp>
        <p:nvSpPr>
          <p:cNvPr id="17" name="Shape 15"/>
          <p:cNvSpPr/>
          <p:nvPr/>
        </p:nvSpPr>
        <p:spPr>
          <a:xfrm>
            <a:off x="1359408" y="186080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科学护眼</a:t>
            </a:r>
            <a:endParaRPr lang="en-US" sz="1700" dirty="0"/>
          </a:p>
        </p:txBody>
      </p:sp>
      <p:sp>
        <p:nvSpPr>
          <p:cNvPr id="19" name="Text 17"/>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0" name="Text 18"/>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1" name="Text 19"/>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2" name="Shape 20"/>
          <p:cNvSpPr/>
          <p:nvPr/>
        </p:nvSpPr>
        <p:spPr>
          <a:xfrm>
            <a:off x="6396076" y="1860804"/>
            <a:ext cx="4881220" cy="2971800"/>
          </a:xfrm>
          <a:prstGeom prst="roundRect">
            <a:avLst>
              <a:gd name="adj" fmla="val 2769"/>
            </a:avLst>
          </a:prstGeom>
          <a:solidFill>
            <a:srgbClr val="FFFFFF"/>
          </a:solidFill>
          <a:ln w="12700">
            <a:solidFill>
              <a:srgbClr val="E2E7F0"/>
            </a:solidFill>
            <a:prstDash val="solid"/>
          </a:ln>
        </p:spPr>
      </p:sp>
      <p:sp>
        <p:nvSpPr>
          <p:cNvPr id="23" name="Shape 21"/>
          <p:cNvSpPr/>
          <p:nvPr/>
        </p:nvSpPr>
        <p:spPr>
          <a:xfrm>
            <a:off x="6460084" y="186080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健康饮食</a:t>
            </a:r>
            <a:endParaRPr lang="en-US" sz="1700" dirty="0"/>
          </a:p>
        </p:txBody>
      </p:sp>
      <p:sp>
        <p:nvSpPr>
          <p:cNvPr id="25" name="Text 23"/>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6" name="Text 24"/>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7" name="Text 25"/>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提出问题和假设</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配套动作</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设置问题墙。学生一周内提交三个真实困扰，教师从中选取一个打磨为驱动性问题。本环节不使用 AI。</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设计方案</a:t>
            </a:r>
            <a:endParaRPr lang="en-US" sz="3200" dirty="0"/>
          </a:p>
        </p:txBody>
      </p:sp>
      <p:sp>
        <p:nvSpPr>
          <p:cNvPr id="16" name="Shape 14"/>
          <p:cNvSpPr/>
          <p:nvPr/>
        </p:nvSpPr>
        <p:spPr>
          <a:xfrm>
            <a:off x="3233928" y="1220724"/>
            <a:ext cx="822960"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半收的依据</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搜集分析证据</a:t>
            </a:r>
            <a:endParaRPr lang="en-US" sz="3200" dirty="0"/>
          </a:p>
        </p:txBody>
      </p:sp>
      <p:sp>
        <p:nvSpPr>
          <p:cNvPr id="16" name="Shape 14"/>
          <p:cNvSpPr/>
          <p:nvPr/>
        </p:nvSpPr>
        <p:spPr>
          <a:xfrm>
            <a:off x="4075176" y="1220724"/>
            <a:ext cx="1956816"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原始数据须由学生自行测量或调查获得。数据整理、作图与异常值标注可借助 AI。</a:t>
            </a:r>
            <a:endParaRPr lang="en-US" sz="1800" dirty="0"/>
          </a:p>
        </p:txBody>
      </p:sp>
      <p:sp>
        <p:nvSpPr>
          <p:cNvPr id="27" name="Shape 25"/>
          <p:cNvSpPr/>
          <p:nvPr/>
        </p:nvSpPr>
        <p:spPr>
          <a:xfrm>
            <a:off x="1295400" y="5321808"/>
            <a:ext cx="9981895" cy="932688"/>
          </a:xfrm>
          <a:prstGeom prst="roundRect">
            <a:avLst>
              <a:gd name="adj" fmla="val 7843"/>
            </a:avLst>
          </a:prstGeom>
          <a:solidFill>
            <a:srgbClr val="FBF1EC"/>
          </a:solidFill>
          <a:ln w="12700">
            <a:solidFill>
              <a:srgbClr val="FBF1EC"/>
            </a:solidFill>
            <a:prstDash val="solid"/>
          </a:ln>
        </p:spPr>
      </p:sp>
      <p:sp>
        <p:nvSpPr>
          <p:cNvPr id="28" name="Text 26"/>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B0472A"/>
                </a:solidFill>
                <a:latin typeface="Microsoft YaHei" pitchFamily="34" charset="0"/>
                <a:ea typeface="Microsoft YaHei" pitchFamily="34" charset="-122"/>
                <a:cs typeface="Microsoft YaHei" pitchFamily="34" charset="-120"/>
              </a:rPr>
              <a:t>数据红线</a:t>
            </a:r>
            <a:endParaRPr lang="en-US" sz="950" dirty="0"/>
          </a:p>
        </p:txBody>
      </p:sp>
      <p:sp>
        <p:nvSpPr>
          <p:cNvPr id="29" name="Text 27"/>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得出结论并解释</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制作改进</a:t>
            </a:r>
            <a:endParaRPr lang="en-US" sz="3200" dirty="0"/>
          </a:p>
        </p:txBody>
      </p:sp>
      <p:sp>
        <p:nvSpPr>
          <p:cNvPr id="16" name="Shape 14"/>
          <p:cNvSpPr/>
          <p:nvPr/>
        </p:nvSpPr>
        <p:spPr>
          <a:xfrm>
            <a:off x="3233928" y="1220724"/>
            <a:ext cx="822960" cy="329184"/>
          </a:xfrm>
          <a:prstGeom prst="roundRect">
            <a:avLst>
              <a:gd name="adj" fmla="val 50000"/>
            </a:avLst>
          </a:prstGeom>
          <a:solidFill>
            <a:srgbClr val="EBC4B2"/>
          </a:solidFill>
          <a:ln w="12700">
            <a:solidFill>
              <a:srgbClr val="D9A98F"/>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1A2029"/>
                </a:solidFill>
                <a:latin typeface="Microsoft YaHei" pitchFamily="34" charset="0"/>
                <a:ea typeface="Microsoft YaHei" pitchFamily="34" charset="-122"/>
                <a:cs typeface="Microsoft YaHei" pitchFamily="34" charset="-120"/>
              </a:rPr>
              <a:t>半放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迭代要求</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交流反思</a:t>
            </a:r>
            <a:endParaRPr lang="en-US" sz="3200" dirty="0"/>
          </a:p>
        </p:txBody>
      </p:sp>
      <p:sp>
        <p:nvSpPr>
          <p:cNvPr id="16" name="Shape 14"/>
          <p:cNvSpPr/>
          <p:nvPr/>
        </p:nvSpPr>
        <p:spPr>
          <a:xfrm>
            <a:off x="3233928" y="1220724"/>
            <a:ext cx="1408176" cy="329184"/>
          </a:xfrm>
          <a:prstGeom prst="roundRect">
            <a:avLst>
              <a:gd name="adj" fmla="val 50000"/>
            </a:avLst>
          </a:prstGeom>
          <a:solidFill>
            <a:srgbClr val="FFFFFF"/>
          </a:solidFill>
          <a:ln w="12700">
            <a:solidFill>
              <a:srgbClr val="D9A98F"/>
            </a:solidFill>
            <a:prstDash val="solid"/>
          </a:ln>
        </p:spPr>
      </p:sp>
      <p:sp>
        <p:nvSpPr>
          <p:cNvPr id="17" name="Text 15"/>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B6470"/>
                </a:solidFill>
                <a:latin typeface="Microsoft YaHei" pitchFamily="34" charset="0"/>
                <a:ea typeface="Microsoft YaHei" pitchFamily="34" charset="-122"/>
                <a:cs typeface="Microsoft YaHei" pitchFamily="34" charset="-120"/>
              </a:rPr>
              <a:t>放，但要标注</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6" name="Shape 14"/>
          <p:cNvSpPr/>
          <p:nvPr/>
        </p:nvSpPr>
        <p:spPr>
          <a:xfrm>
            <a:off x="1295400" y="2043684"/>
            <a:ext cx="4881220" cy="1755648"/>
          </a:xfrm>
          <a:prstGeom prst="roundRect">
            <a:avLst>
              <a:gd name="adj" fmla="val 4688"/>
            </a:avLst>
          </a:prstGeom>
          <a:solidFill>
            <a:srgbClr val="FFFFFF"/>
          </a:solidFill>
          <a:ln w="12700">
            <a:solidFill>
              <a:srgbClr val="E2E7F0"/>
            </a:solidFill>
            <a:prstDash val="solid"/>
          </a:ln>
        </p:spPr>
      </p:sp>
      <p:sp>
        <p:nvSpPr>
          <p:cNvPr id="17" name="Shape 15"/>
          <p:cNvSpPr/>
          <p:nvPr/>
        </p:nvSpPr>
        <p:spPr>
          <a:xfrm>
            <a:off x="1359408" y="204368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19" name="Text 17"/>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0" name="Text 18"/>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1" name="Text 19"/>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2" name="Shape 20"/>
          <p:cNvSpPr/>
          <p:nvPr/>
        </p:nvSpPr>
        <p:spPr>
          <a:xfrm>
            <a:off x="6396076" y="2043684"/>
            <a:ext cx="4881220" cy="1755648"/>
          </a:xfrm>
          <a:prstGeom prst="roundRect">
            <a:avLst>
              <a:gd name="adj" fmla="val 4688"/>
            </a:avLst>
          </a:prstGeom>
          <a:solidFill>
            <a:srgbClr val="FFFFFF"/>
          </a:solidFill>
          <a:ln w="12700">
            <a:solidFill>
              <a:srgbClr val="E2E7F0"/>
            </a:solidFill>
            <a:prstDash val="solid"/>
          </a:ln>
        </p:spPr>
      </p:sp>
      <p:sp>
        <p:nvSpPr>
          <p:cNvPr id="23" name="Shape 21"/>
          <p:cNvSpPr/>
          <p:nvPr/>
        </p:nvSpPr>
        <p:spPr>
          <a:xfrm>
            <a:off x="6460084" y="204368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5" name="Text 23"/>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6" name="Text 24"/>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7" name="Text 25"/>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6" name="Text 14"/>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B6470"/>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1554480">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6"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7" name="Text 14"/>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6" name="Shape 14"/>
          <p:cNvSpPr/>
          <p:nvPr/>
        </p:nvSpPr>
        <p:spPr>
          <a:xfrm>
            <a:off x="1295400" y="1860804"/>
            <a:ext cx="9981895" cy="512064"/>
          </a:xfrm>
          <a:prstGeom prst="roundRect">
            <a:avLst>
              <a:gd name="adj" fmla="val 12500"/>
            </a:avLst>
          </a:prstGeom>
          <a:solidFill>
            <a:srgbClr val="FFFFFF"/>
          </a:solidFill>
          <a:ln w="12700">
            <a:solidFill>
              <a:srgbClr val="E2E7F0"/>
            </a:solidFill>
            <a:prstDash val="solid"/>
          </a:ln>
        </p:spPr>
      </p:sp>
      <p:sp>
        <p:nvSpPr>
          <p:cNvPr id="17" name="Shape 15"/>
          <p:cNvSpPr/>
          <p:nvPr/>
        </p:nvSpPr>
        <p:spPr>
          <a:xfrm>
            <a:off x="1295400" y="1906524"/>
            <a:ext cx="38100" cy="420624"/>
          </a:xfrm>
          <a:prstGeom prst="rect">
            <a:avLst/>
          </a:prstGeom>
          <a:solidFill>
            <a:srgbClr val="B0472A"/>
          </a:solidFill>
          <a:ln w="12700">
            <a:solidFill>
              <a:srgbClr val="B0472A"/>
            </a:solidFill>
            <a:prstDash val="solid"/>
          </a:ln>
        </p:spPr>
      </p:sp>
      <p:sp>
        <p:nvSpPr>
          <p:cNvPr id="18" name="Text 16"/>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小学阶段</a:t>
            </a:r>
            <a:endParaRPr lang="en-US" sz="1300" dirty="0"/>
          </a:p>
        </p:txBody>
      </p:sp>
      <p:sp>
        <p:nvSpPr>
          <p:cNvPr id="19" name="Text 17"/>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0" name="Shape 18"/>
          <p:cNvSpPr/>
          <p:nvPr/>
        </p:nvSpPr>
        <p:spPr>
          <a:xfrm>
            <a:off x="1295400" y="2464308"/>
            <a:ext cx="9981895" cy="512064"/>
          </a:xfrm>
          <a:prstGeom prst="roundRect">
            <a:avLst>
              <a:gd name="adj" fmla="val 12500"/>
            </a:avLst>
          </a:prstGeom>
          <a:solidFill>
            <a:srgbClr val="FFFFFF"/>
          </a:solidFill>
          <a:ln w="12700">
            <a:solidFill>
              <a:srgbClr val="E2E7F0"/>
            </a:solidFill>
            <a:prstDash val="solid"/>
          </a:ln>
        </p:spPr>
      </p:sp>
      <p:sp>
        <p:nvSpPr>
          <p:cNvPr id="21" name="Shape 19"/>
          <p:cNvSpPr/>
          <p:nvPr/>
        </p:nvSpPr>
        <p:spPr>
          <a:xfrm>
            <a:off x="1295400" y="2510028"/>
            <a:ext cx="38100" cy="420624"/>
          </a:xfrm>
          <a:prstGeom prst="rect">
            <a:avLst/>
          </a:prstGeom>
          <a:solidFill>
            <a:srgbClr val="B0472A"/>
          </a:solidFill>
          <a:ln w="12700">
            <a:solidFill>
              <a:srgbClr val="B0472A"/>
            </a:solidFill>
            <a:prstDash val="solid"/>
          </a:ln>
        </p:spPr>
      </p:sp>
      <p:sp>
        <p:nvSpPr>
          <p:cNvPr id="22" name="Text 20"/>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作业与考试</a:t>
            </a:r>
            <a:endParaRPr lang="en-US" sz="1300" dirty="0"/>
          </a:p>
        </p:txBody>
      </p:sp>
      <p:sp>
        <p:nvSpPr>
          <p:cNvPr id="23" name="Text 21"/>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4" name="Shape 22"/>
          <p:cNvSpPr/>
          <p:nvPr/>
        </p:nvSpPr>
        <p:spPr>
          <a:xfrm>
            <a:off x="1295400" y="3067812"/>
            <a:ext cx="9981895" cy="512064"/>
          </a:xfrm>
          <a:prstGeom prst="roundRect">
            <a:avLst>
              <a:gd name="adj" fmla="val 12500"/>
            </a:avLst>
          </a:prstGeom>
          <a:solidFill>
            <a:srgbClr val="FFFFFF"/>
          </a:solidFill>
          <a:ln w="12700">
            <a:solidFill>
              <a:srgbClr val="E2E7F0"/>
            </a:solidFill>
            <a:prstDash val="solid"/>
          </a:ln>
        </p:spPr>
      </p:sp>
      <p:sp>
        <p:nvSpPr>
          <p:cNvPr id="25" name="Shape 23"/>
          <p:cNvSpPr/>
          <p:nvPr/>
        </p:nvSpPr>
        <p:spPr>
          <a:xfrm>
            <a:off x="1295400" y="3113532"/>
            <a:ext cx="38100" cy="420624"/>
          </a:xfrm>
          <a:prstGeom prst="rect">
            <a:avLst/>
          </a:prstGeom>
          <a:solidFill>
            <a:srgbClr val="B0472A"/>
          </a:solidFill>
          <a:ln w="12700">
            <a:solidFill>
              <a:srgbClr val="B0472A"/>
            </a:solidFill>
            <a:prstDash val="solid"/>
          </a:ln>
        </p:spPr>
      </p:sp>
      <p:sp>
        <p:nvSpPr>
          <p:cNvPr id="26" name="Text 24"/>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数据</a:t>
            </a:r>
            <a:endParaRPr lang="en-US" sz="1300" dirty="0"/>
          </a:p>
        </p:txBody>
      </p:sp>
      <p:sp>
        <p:nvSpPr>
          <p:cNvPr id="27" name="Text 25"/>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8" name="Shape 26"/>
          <p:cNvSpPr/>
          <p:nvPr/>
        </p:nvSpPr>
        <p:spPr>
          <a:xfrm>
            <a:off x="1295400" y="3671316"/>
            <a:ext cx="9981895" cy="512064"/>
          </a:xfrm>
          <a:prstGeom prst="roundRect">
            <a:avLst>
              <a:gd name="adj" fmla="val 12500"/>
            </a:avLst>
          </a:prstGeom>
          <a:solidFill>
            <a:srgbClr val="FFFFFF"/>
          </a:solidFill>
          <a:ln w="12700">
            <a:solidFill>
              <a:srgbClr val="E2E7F0"/>
            </a:solidFill>
            <a:prstDash val="solid"/>
          </a:ln>
        </p:spPr>
      </p:sp>
      <p:sp>
        <p:nvSpPr>
          <p:cNvPr id="29" name="Shape 27"/>
          <p:cNvSpPr/>
          <p:nvPr/>
        </p:nvSpPr>
        <p:spPr>
          <a:xfrm>
            <a:off x="1295400" y="3717036"/>
            <a:ext cx="38100" cy="420624"/>
          </a:xfrm>
          <a:prstGeom prst="rect">
            <a:avLst/>
          </a:prstGeom>
          <a:solidFill>
            <a:srgbClr val="B0472A"/>
          </a:solidFill>
          <a:ln w="12700">
            <a:solidFill>
              <a:srgbClr val="B0472A"/>
            </a:solidFill>
            <a:prstDash val="solid"/>
          </a:ln>
        </p:spPr>
      </p:sp>
      <p:sp>
        <p:nvSpPr>
          <p:cNvPr id="30" name="Text 28"/>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标注</a:t>
            </a:r>
            <a:endParaRPr lang="en-US" sz="1300" dirty="0"/>
          </a:p>
        </p:txBody>
      </p:sp>
      <p:sp>
        <p:nvSpPr>
          <p:cNvPr id="31" name="Text 29"/>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2" name="Text 30"/>
          <p:cNvSpPr/>
          <p:nvPr/>
        </p:nvSpPr>
        <p:spPr>
          <a:xfrm>
            <a:off x="1295400" y="436626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3" name="Shape 31"/>
          <p:cNvSpPr/>
          <p:nvPr/>
        </p:nvSpPr>
        <p:spPr>
          <a:xfrm>
            <a:off x="1295400" y="5888736"/>
            <a:ext cx="9981895" cy="0"/>
          </a:xfrm>
          <a:prstGeom prst="line">
            <a:avLst/>
          </a:prstGeom>
          <a:noFill/>
          <a:ln w="12700">
            <a:solidFill>
              <a:srgbClr val="E2E7F0"/>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6" name="Shape 14"/>
          <p:cNvSpPr/>
          <p:nvPr/>
        </p:nvSpPr>
        <p:spPr>
          <a:xfrm>
            <a:off x="1295400" y="2468880"/>
            <a:ext cx="896112" cy="530352"/>
          </a:xfrm>
          <a:prstGeom prst="roundRect">
            <a:avLst>
              <a:gd name="adj" fmla="val 15517"/>
            </a:avLst>
          </a:prstGeom>
          <a:solidFill>
            <a:srgbClr val="FFFFFF"/>
          </a:solidFill>
          <a:ln w="12700">
            <a:solidFill>
              <a:srgbClr val="E2E7F0"/>
            </a:solidFill>
            <a:prstDash val="solid"/>
          </a:ln>
        </p:spPr>
      </p:sp>
      <p:sp>
        <p:nvSpPr>
          <p:cNvPr id="17" name="Text 15"/>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教师</a:t>
            </a:r>
            <a:endParaRPr lang="en-US" sz="1500" dirty="0"/>
          </a:p>
        </p:txBody>
      </p:sp>
      <p:sp>
        <p:nvSpPr>
          <p:cNvPr id="18" name="Shape 16"/>
          <p:cNvSpPr/>
          <p:nvPr/>
        </p:nvSpPr>
        <p:spPr>
          <a:xfrm>
            <a:off x="2374392" y="2468880"/>
            <a:ext cx="896112" cy="530352"/>
          </a:xfrm>
          <a:prstGeom prst="roundRect">
            <a:avLst>
              <a:gd name="adj" fmla="val 15517"/>
            </a:avLst>
          </a:prstGeom>
          <a:solidFill>
            <a:srgbClr val="FFFFFF"/>
          </a:solidFill>
          <a:ln w="12700">
            <a:solidFill>
              <a:srgbClr val="E2E7F0"/>
            </a:solidFill>
            <a:prstDash val="solid"/>
          </a:ln>
        </p:spPr>
      </p:sp>
      <p:sp>
        <p:nvSpPr>
          <p:cNvPr id="19" name="Text 17"/>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学生</a:t>
            </a:r>
            <a:endParaRPr lang="en-US" sz="1500" dirty="0"/>
          </a:p>
        </p:txBody>
      </p:sp>
      <p:sp>
        <p:nvSpPr>
          <p:cNvPr id="20" name="Shape 18"/>
          <p:cNvSpPr/>
          <p:nvPr/>
        </p:nvSpPr>
        <p:spPr>
          <a:xfrm>
            <a:off x="3453384" y="2468880"/>
            <a:ext cx="896112" cy="530352"/>
          </a:xfrm>
          <a:prstGeom prst="roundRect">
            <a:avLst>
              <a:gd name="adj" fmla="val 15517"/>
            </a:avLst>
          </a:prstGeom>
          <a:solidFill>
            <a:srgbClr val="FFFFFF"/>
          </a:solidFill>
          <a:ln w="12700">
            <a:solidFill>
              <a:srgbClr val="E2E7F0"/>
            </a:solidFill>
            <a:prstDash val="solid"/>
          </a:ln>
        </p:spPr>
      </p:sp>
      <p:sp>
        <p:nvSpPr>
          <p:cNvPr id="21" name="Text 19"/>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同伴</a:t>
            </a:r>
            <a:endParaRPr lang="en-US" sz="1500" dirty="0"/>
          </a:p>
        </p:txBody>
      </p:sp>
      <p:sp>
        <p:nvSpPr>
          <p:cNvPr id="22" name="Shape 20"/>
          <p:cNvSpPr/>
          <p:nvPr/>
        </p:nvSpPr>
        <p:spPr>
          <a:xfrm>
            <a:off x="4532376" y="2468880"/>
            <a:ext cx="2871216" cy="530352"/>
          </a:xfrm>
          <a:prstGeom prst="roundRect">
            <a:avLst>
              <a:gd name="adj" fmla="val 15517"/>
            </a:avLst>
          </a:prstGeom>
          <a:solidFill>
            <a:srgbClr val="FFFFFF"/>
          </a:solidFill>
          <a:ln w="12700">
            <a:solidFill>
              <a:srgbClr val="E2E7F0"/>
            </a:solidFill>
            <a:prstDash val="solid"/>
          </a:ln>
        </p:spPr>
      </p:sp>
      <p:sp>
        <p:nvSpPr>
          <p:cNvPr id="23" name="Text 21"/>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4" name="Text 22"/>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没有 AI</a:t>
            </a:r>
            <a:endParaRPr lang="en-US" sz="1500" dirty="0"/>
          </a:p>
        </p:txBody>
      </p:sp>
      <p:sp>
        <p:nvSpPr>
          <p:cNvPr id="25" name="Text 23"/>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6" name="Text 24"/>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提出、确认</a:t>
            </a:r>
            <a:endParaRPr lang="en-US" sz="2100" dirty="0"/>
          </a:p>
        </p:txBody>
      </p:sp>
      <p:sp>
        <p:nvSpPr>
          <p:cNvPr id="27" name="Text 25"/>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落在教师签名上</a:t>
            </a:r>
            <a:endParaRPr lang="en-US" sz="950" dirty="0"/>
          </a:p>
        </p:txBody>
      </p:sp>
      <p:sp>
        <p:nvSpPr>
          <p:cNvPr id="28" name="Text 26"/>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可即时实施的三项动作</a:t>
            </a:r>
            <a:endParaRPr lang="en-US" sz="3200" dirty="0"/>
          </a:p>
        </p:txBody>
      </p:sp>
      <p:sp>
        <p:nvSpPr>
          <p:cNvPr id="16" name="Text 14"/>
          <p:cNvSpPr/>
          <p:nvPr/>
        </p:nvSpPr>
        <p:spPr>
          <a:xfrm>
            <a:off x="1295400" y="2286000"/>
            <a:ext cx="411480"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286000"/>
            <a:ext cx="9414967"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设置问题墙</a:t>
            </a:r>
            <a:endParaRPr lang="en-US" sz="2000" dirty="0"/>
          </a:p>
        </p:txBody>
      </p:sp>
      <p:sp>
        <p:nvSpPr>
          <p:cNvPr id="18" name="Text 16"/>
          <p:cNvSpPr/>
          <p:nvPr/>
        </p:nvSpPr>
        <p:spPr>
          <a:xfrm>
            <a:off x="1862328" y="2688336"/>
            <a:ext cx="9414967"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学生一周内提交三个真实困扰，教师选取一个打磨为驱动性问题。本项不使用 AI。</a:t>
            </a:r>
            <a:endParaRPr lang="en-US" sz="1150" dirty="0"/>
          </a:p>
        </p:txBody>
      </p:sp>
      <p:sp>
        <p:nvSpPr>
          <p:cNvPr id="19" name="Text 17"/>
          <p:cNvSpPr/>
          <p:nvPr/>
        </p:nvSpPr>
        <p:spPr>
          <a:xfrm>
            <a:off x="1295400" y="3218688"/>
            <a:ext cx="411480"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18688"/>
            <a:ext cx="9414967"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构建方案质疑智能体</a:t>
            </a:r>
            <a:endParaRPr lang="en-US" sz="2000" dirty="0"/>
          </a:p>
        </p:txBody>
      </p:sp>
      <p:sp>
        <p:nvSpPr>
          <p:cNvPr id="21" name="Text 19"/>
          <p:cNvSpPr/>
          <p:nvPr/>
        </p:nvSpPr>
        <p:spPr>
          <a:xfrm>
            <a:off x="1862328" y="3621024"/>
            <a:ext cx="9414967"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只提问，不作答。学生须先有方案，该工具才有质疑对象。</a:t>
            </a:r>
            <a:endParaRPr lang="en-US" sz="1150" dirty="0"/>
          </a:p>
        </p:txBody>
      </p:sp>
      <p:sp>
        <p:nvSpPr>
          <p:cNvPr id="22" name="Text 20"/>
          <p:cNvSpPr/>
          <p:nvPr/>
        </p:nvSpPr>
        <p:spPr>
          <a:xfrm>
            <a:off x="1295400" y="4151376"/>
            <a:ext cx="411480"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3" name="Text 21"/>
          <p:cNvSpPr/>
          <p:nvPr/>
        </p:nvSpPr>
        <p:spPr>
          <a:xfrm>
            <a:off x="1862328" y="4151376"/>
            <a:ext cx="9414967"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启用过程证据留痕</a:t>
            </a:r>
            <a:endParaRPr lang="en-US" sz="2000" dirty="0"/>
          </a:p>
        </p:txBody>
      </p:sp>
      <p:sp>
        <p:nvSpPr>
          <p:cNvPr id="24" name="Text 22"/>
          <p:cNvSpPr/>
          <p:nvPr/>
        </p:nvSpPr>
        <p:spPr>
          <a:xfrm>
            <a:off x="1862328" y="4553712"/>
            <a:ext cx="9414967"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四栏留痕表随任务单一并发放，不在结题时补录。</a:t>
            </a:r>
            <a:endParaRPr lang="en-US" sz="1150" dirty="0"/>
          </a:p>
        </p:txBody>
      </p:sp>
      <p:sp>
        <p:nvSpPr>
          <p:cNvPr id="25" name="Shape 23"/>
          <p:cNvSpPr/>
          <p:nvPr/>
        </p:nvSpPr>
        <p:spPr>
          <a:xfrm>
            <a:off x="1295400" y="5888736"/>
            <a:ext cx="9981895" cy="0"/>
          </a:xfrm>
          <a:prstGeom prst="line">
            <a:avLst/>
          </a:prstGeom>
          <a:noFill/>
          <a:ln w="12700">
            <a:solidFill>
              <a:srgbClr val="E2E7F0"/>
            </a:solidFill>
            <a:prstDash val="solid"/>
          </a:ln>
        </p:spPr>
      </p:sp>
      <p:sp>
        <p:nvSpPr>
          <p:cNvPr id="26" name="Text 2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三项动作存在先后依赖，第一项不涉及 AI。</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95681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350" dirty="0"/>
          </a:p>
        </p:txBody>
      </p:sp>
      <p:sp>
        <p:nvSpPr>
          <p:cNvPr id="15" name="Text 13"/>
          <p:cNvSpPr/>
          <p:nvPr/>
        </p:nvSpPr>
        <p:spPr>
          <a:xfrm>
            <a:off x="1295400" y="268833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350" dirty="0"/>
          </a:p>
        </p:txBody>
      </p:sp>
      <p:sp>
        <p:nvSpPr>
          <p:cNvPr id="16" name="Text 14"/>
          <p:cNvSpPr/>
          <p:nvPr/>
        </p:nvSpPr>
        <p:spPr>
          <a:xfrm>
            <a:off x="1295400" y="341985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350" dirty="0"/>
          </a:p>
        </p:txBody>
      </p:sp>
      <p:sp>
        <p:nvSpPr>
          <p:cNvPr id="17" name="Text 15"/>
          <p:cNvSpPr/>
          <p:nvPr/>
        </p:nvSpPr>
        <p:spPr>
          <a:xfrm>
            <a:off x="1295400" y="4572000"/>
            <a:ext cx="9981895" cy="292608"/>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　2026 年 8 月 21 日　深圳</a:t>
            </a:r>
            <a:endParaRPr lang="en-US" sz="1400" dirty="0"/>
          </a:p>
        </p:txBody>
      </p:sp>
      <p:sp>
        <p:nvSpPr>
          <p:cNvPr id="18" name="Shape 16"/>
          <p:cNvSpPr/>
          <p:nvPr/>
        </p:nvSpPr>
        <p:spPr>
          <a:xfrm>
            <a:off x="1295400" y="4992624"/>
            <a:ext cx="2926080" cy="457200"/>
          </a:xfrm>
          <a:prstGeom prst="roundRect">
            <a:avLst>
              <a:gd name="adj" fmla="val 16000"/>
            </a:avLst>
          </a:prstGeom>
          <a:solidFill>
            <a:srgbClr val="F5F7FB"/>
          </a:solidFill>
          <a:ln w="12700">
            <a:solidFill>
              <a:srgbClr val="D9A98F"/>
            </a:solidFill>
            <a:prstDash val="dash"/>
          </a:ln>
        </p:spPr>
      </p:sp>
      <p:sp>
        <p:nvSpPr>
          <p:cNvPr id="19" name="Text 17"/>
          <p:cNvSpPr/>
          <p:nvPr/>
        </p:nvSpPr>
        <p:spPr>
          <a:xfrm>
            <a:off x="1295400" y="4992624"/>
            <a:ext cx="2926080" cy="457200"/>
          </a:xfrm>
          <a:prstGeom prst="rect">
            <a:avLst/>
          </a:prstGeom>
          <a:noFill/>
          <a:ln/>
        </p:spPr>
        <p:txBody>
          <a:bodyPr wrap="square" lIns="0" tIns="0" rIns="0" bIns="0" rtlCol="0" anchor="ctr"/>
          <a:lstStyle/>
          <a:p>
            <a:pPr algn="ctr" indent="0" marL="0">
              <a:buNone/>
            </a:pPr>
            <a:r>
              <a:rPr lang="en-US" sz="1150" dirty="0">
                <a:solidFill>
                  <a:srgbClr val="B0472A"/>
                </a:solidFill>
                <a:latin typeface="Microsoft YaHei" pitchFamily="34" charset="0"/>
                <a:ea typeface="Microsoft YaHei" pitchFamily="34" charset="-122"/>
                <a:cs typeface="Microsoft YaHei" pitchFamily="34" charset="-120"/>
              </a:rPr>
              <a:t>【占位】讲义与二维码</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2026-08-21T13:25:38Z</dcterms:created>
  <dcterms:modified xsi:type="dcterms:W3CDTF">2026-08-21T13:25:38Z</dcterms:modified>
</cp:coreProperties>
</file>