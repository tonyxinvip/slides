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本段不涉及 AI。内容限于一项事实：该文件已经印发，九月起实施。八分钟，节奏放缓，让听众先建立背景。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依次陈述文件名称、文号与印发日期，再引人民日报的报道，不作评论。多数听众尚未接触过这份文件，需要留出记住名称的时间。做中学并非新提法，2001 年教育部与中国科协曾共同发起做中学科学教育改革工作，对资深教师口头补充一句可以节省解释成本。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逐字宣读六个环节，随后停顿。有两点需要说明：其一，1—3 年级不另作要求，低学段教师本学期可以暂不调整；其二，该文件未要求综合实践活动教师讲授科学原理，其要求是学生完整经历这六个环节。听众最关心的是学科背景问题，这一点须表述清楚。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只作宣读，不展开定义。定义通过下一页的对比自行呈现，这八个词的作用是充当对照基准。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与上一页并置阅读。做中学对本课程做了两件事：其一是加密，将探究拆解为六个环节并要求完整走完；其二是提标，引入变量识别、控制变量、证据推理与误差分析等方法论要求，2017 年纲要未作这一层约束。小学学段要求识别变量、制订简单的探究方案，初中学段要求应用控制变量方法、制订比较完整的探究方案。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页是全场的支点，需要放缓。做中学对应本课程探究与物化的一半，并作了加密与提标。它未覆盖社会服务与职业体验，对责任担当的处理停留在态度表述，未要求学生对他人或社区采取行动；价值体认走的是主题绑定路径，与 2017 年纲要经由个体生活、社会生活及与自然接触获得体验的路径不同。这一判断的意义在于：做中学是本课程的一个子集被单独提出并提高了要求，不构成外部介入。听众的抵触情绪主要在本页化解。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场主张，全场仅出现一次，陈述后停顿。随后给出两项具体补法，均取自指南原文。其一，将附件任务末端的交流分享改为有对象、有回应、有留痕的行动，责任担当即可落到行动层，任务结构不变。其二，指南社会协同条款写明鼓励有条件的学校邀请科学家、工程师等专业技术人员对学生的科学探究实践过程和结果进行指导评价；同一次到访，安排为点评则仅获得评价资源，安排为学生持问题清单访谈其日常工作与判断依据则构成职业体验。差别在设计，不在成本。补这两处缺口不需要学科知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说明排序的依据，不作为结论陈述。考察探究受影响最重，因其全部产出均为文本；设计制作次之，实物仍需动手，但方案设计一步已不稀缺；社会服务与职业体验最轻，依据只有一条，即身体必须在场。页脚的说明须主动讲出，此处是判断而非测量数据，听众中有研究背景者会追问。</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本页需要把两条线索接起来，放缓。第一段指出社会服务与职业体验是做中学的覆盖缺口，也是综合实践活动教师的专业位置；上一页指出这两种方式受生成式 AI 影响最轻，依据是身体必须在场。两者叠加的结论是：教师的专业位置与最不易被替代的位置重合。该结论有依据，不作安慰性表述。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过渡页，一分钟。不在此展开，展开在第三段。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宣读，不作评论。这六条听众比讲者熟悉，宣读时放缓，留出对照的时间，不附加评价性表述。本段的作用是先陈列公认事实，再讨论生成式 AI 的作用方向。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只用这一组数据。补充第二组会使听众产生被指责感，而本段所需的只是确认问题的真实性。末句须讲出：该状况属全国范围的普遍现象。本页属 B 档，60 分钟版删除。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全场第一张表。三列宣读完毕即停，不点破规律。规律是左列均属学生侧，中列均属教师侧，留待听众自行发现，由第 16 页的整屏句收束。第三列是本场可信度的来源之一，须如实陈述：生成式 AI 不能解决课时挤占，不能解决师资兼任，不能解决基地质量，也不能替代综合素质评价的公示与签字程序。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这三个名称出自夏雪梅团队的反面清单，出处为 2022 年国家级教学成果一等奖，讲述时须带出出处。落点在末句：空心项目原本可以从成果的粗糙程度识别，生成式 AI 提高完成度之后，这一识别线索消失。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本页是全场可信度的支点，不可省略，亦不可夸大。先陈述研究设计，再陈述结果，顺序不可颠倒。须主动说明样本为大学生，中小学不可直接套用其数值，但机制一致：生成式 AI 完成了产出，学生跳过了形成该产出所需的思考。边界条件两条亦须讲出，国内两项元分析一致显示，干预时间较长或样本量较大时效应量转为负向或不显著，提示相当一部分宣传依据的是小规模短周期的演示效应。本页属 B 档，60 分钟版删除，但该证据须备于口头，遇质疑时使用。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整屏一句，陈述后停顿。此处可以点破三分表的规律：左列均为学生侧事项，中列均为教师侧事项。生成式 AI 用于教师侧是减负，用于学生侧则替代了学生本应完成的学习。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本页承接上一句整屏句，与下一页的指令原文合为本段的收尾。前面讲的是生成式 AI 对既有问题的加剧作用，本页讲它在教师侧的减负作用，两者合起来才是完整的判断。这四项是这批听众当天就能用上的部分，与下一页合计讲述时间不少于五分钟。四项按投入产出排序：量规初稿最省时，教师改一遍即可使用；三档任务单解决的是差异化分层这项一直缺人手的工作；写实记录整理须先做代号替换，此点必须讲，否则触碰红线；数据作图门槛最低。四项的共同点是产出物均须经教师修改后使用，AI 提供的是初稿而非终稿。</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页是上一页的操作层，两页连着讲。要点在于指令的写法：每条由三部分构成，交代场景、说明所需产出、限定不取何种表述。第三部分最关键，量规那条限定了不要使用评价性形容词，任务单那条限定了字数，写实记录那条限定了不出现形容词，正是这些限定把返回结果从泛泛的套话拉回可用的初稿。不具备撰写指令经验的听众，照抄这三条并替换其中的学段与任务名称即可使用。第三条使用前的代号替换须再强调一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听众要带走的第一项工具。三项判断的顺序不可调换：先确认能力，再判断替代关系，最后讨论补偿。多数人的顺序相反，先看工具功能再倒推是否使用，该顺序容易导致使用过度。</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一句话页。该句是三项判断的压缩形式，陈述后停顿。指南写明鼓励学生大胆尝试，包容失败，在面对具有不确定性的问题时，通过不断试错、反思、改进等，寻求问题解决方案，体验科学探索的曲折过程。本课程的教学资产即试错空间，而生成式 AI 的默认行为是消除试错空间。本页属 B 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本页是听众要带走的工具。说明该表将随讲义发放，教师亦可自行绘制，格式不重要，三项判断是重点。下一段以生命健康的两项任务当场填写一遍。</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页给出配置形态，下一页落到学生的具体动作，再下一段以案例填实。两点须讲准：其一，内核指六个环节这条主干，外圈指任务前的背景检索与任务后的表达传播，并非六个环节内部的两端；其二，六个环节自身呈前紧后松，越靠后越可以放开。反直觉一句需要停顿，听众多数正持相反预期。补充说明：选题环节产生的评价证据是问题意识，而问题意识在四个评价维度中仅此一个来源，替代后无从补偿。该收放配置系依据评价维度推演的专业判断，指南原文仅有辅助二字，讲述时须表述为建议，不得冒充政策要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页把收放刻度图落到学生的具体动作上。三种用法的共同结构是：动作、约束、留痕，三者缺一不可。只讲动作，学生会越界；只讲约束，学生会整体回避；没有留痕，教师无从评价。第一种最容易被误用，须强调学生要先有自己的问法，检索是为了对照而不是替代。第三种风险最低，因为思维过程此时已经完成。三种之外的环节按上一页刻度收紧，这句话要讲出来，否则听众会以为放开的范围更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先说明一项事实：附件任务写为四步，指南正文要求六个环节，两者并非一一对应。后续六页所做的即是将四步展开为六个环节，并在每个环节上确定 AI 的配置。该动作可以迁移至任何一项附件任务。亦须说明附件为参考，非规定动作。</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本环节产生的评价证据是问题意识，而问题意识在四个评价维度中仅此一个来源，别处无从补偿。生成式 AI 的默认危害是直接给出可探究问题，学生因此跳过了从现象到问题的转化。故本环节收紧。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小学学段的要求是识别变量、制订简单的探究方案，初中学段是应用控制变量方法、制订比较完整的探究方案，差别在此。让 AI 对方案提出质疑是可用的设计：学生须先有方案才能被质疑，质疑之后仍须自行判断是否修改。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全场唯一一处看得见的 AI 行为，须放慢，逐块念。三点要讲到：其一，输入里最关键的是末句的限定，它把工具限制在提问而不出方案，这正是设计方案环节的半收配置；其二，返回的三条中教师否决了一条，否决的依据是学段目标而非 AI 是否说错，这就是判断权留在教师手上的具体形态；其三，整个过程在教师侧完成，学生看到的是教师转述的问题，不接触工具。听众若只记住一页操作，即本页。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上一页给了一次交互的实例，本页给的是可迁移到任何一次交互的方法。三问的顺序与用途对应：第一问筛掉答非所问，第二问拦住编造，第三问回到本场的收放判断。第二问要展开讲，生成式工具在数字、文献名称、文号这几类内容上出错的形态是给出格式正确但并不存在的条目，教师无法凭语感识别，只能逐条核对。第三问是把前面讲过的判据用在教师自己身上：教师若直接采用返回结果，学生少做的那一步就是这次使用的代价。</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本页涉及红线，须讲清楚。《中小学生成式人工智能使用指南（2025 年版）》要求学校建立工具白名单，严禁输入考试试题、个人身份信息等敏感数据。健康饮食任务本身要使用体质健康监测数据，因此须在任务单上写明代号规则，不能依赖学生自觉。生成式 AI 在本环节的默认危害是生成表面合理的数据，原始数据一旦不是自行获得，后续全部推论均不成立。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六个环节中收得最紧的一步，紧于选题。本环节产生的评价证据是反思改进能力。生成式 AI 对一组异常数据能够给出表面合理的解释，学生因此不再对其产生疑问。指南的包容失败条款落在此处，附件任务中亦反复出现如果任务完成没有达到预期效果、做好分析总结一类表述。宣读该条原文，听众易于记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半放的边界在于：查询资料属于背景工作，输出设计图则代替学生作出决定。本环节的评价证据同时落在探究实践能力与综合实践活动的创意物化上。须强调单一版本不构成完成，测试之后必须修改一版，这是做中学强于 2017 年纲要之处。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页是第一段所述缺口的兑现处。附件原文中健康饮食任务已经写明面向公众如社区居民开展科普宣传，对外的接口是现成的，不需另加课时。关键动作是事先约定对方给出一次书面或口头答复，有回应方构成服务，仅展示不构成。本环节同时是职业体验的接口：邀请验光师或营养师到访一次，学生持问题清单访谈，而非听讲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两项各一分钟，不展开。作用是说明配置并非一刀切：低学段的生物多样性调查可以整项任务学生不使用设备，初中的工程探究可以两端都开放。决定配置的是任务中哪一步属于学生应当经历的困难，而非学段或主题。本页属 B 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整屏一句，收束第五段，陈述后停顿。该句是六页走查的压缩形式。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一句话页，承接第五段的配置。查重无法识别生成式 AI 的产出，听众多数已知。可用的办法只有两项：课时纪律，即规定何时开放设备；留痕表，即使用后即记录。两项均属事前设计。本页属 B 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随任务单一并发放，不在结题时补录。须说明一项反直觉的作用：教师普遍认为过程性证据难以采集，而 AI 交互本身结构化、带时间戳、可复现，该表反而是四个评价维度中最易采集的一份证据。第四栏是关键，前三栏为记录，第四栏为判断；学生无法填写第四栏，说明其未作修改，该信息本身即评价依据。</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听众要带走的第二项工具，成本最低。三项提问指向过程而非结论，无法预先背诵。第三问答不出，说明学生未作验证，该成果为外部获得。若全场只记住一项内容，即这三项提问。</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本链条说明的是过程证据具有制度出口。2017 年纲要对档案袋的要求是事实材料要真实、有据可查，指南要求纳入综合素质评价档案，留痕由此成为该链条的入口。深圳一句须宣读准确：写实记录须有佐证材料、签字与公示。不得表述为 AI 素养已纳入综合素质评价，教育部、广东省与深圳市的文件均为鼓励探索，只能表述为对接或探索纳入。本页属 B 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四条逐条宣读。第一条须补充：识别类工具属分类判别，不属于开放式内容生成，教师在场的课堂使用不触及小学阶段红线；此点须主动说明，否则教师会因不确定而整体回避。第四条的分寸须准确：标识办法规范的是网络信息服务提供者，表述为学生必须标注属于拔高，表述为诚信要求方为恰当。初中阶段可适度探索生成内容的逻辑性分析，此句可以一并带出。</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指南列举的评价主体即这四类，其中没有 AI。以 AI 自动批阅探究日志、自动生成评语并直接进入档案，超出该文件的授权范围。本页的作用是保护教师：责任由签字者承担，判断权亦须留在签字者手中。本页属 B 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页解决的是执行障碍。多数听众听到智能体会以为需要开发，须当场说明它就是一段文字。指令中的三处限定要逐一指出：只提出问题、不提供修改后的方案、每次最多三个，前两处限定方向，第三处限定数量，避免学生被淹没。最后一句说明这段话可以照抄，也可以按自己的环节改写。若现场有投影和网络，可以当场贴一次，但不作为必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全场第二张表，亦是最后一张。此处讲的是工具类别而非具体产品，教师使用任何一款均可对应。须提醒一点：多数人构建智能体的第一直觉是问答助手，而问答助手恰好落在提出问题与解释结论两个环节，与前述配置相反。可行的做法是构建只提问、不作答的工具，例如方案质疑或答辩追问。</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收束即止，不作展望。改为按周排布，是因为这批听众的技术基础较弱，三件事同时铺开会全部落空。第一周不涉及 AI，先把真实问题这一头做实；第二周只做一次交互，用的是上一页可以照抄的指令；第三周才把学生纳入。末句回应的是听众最常见的顾虑，即是否需要额外的软件与设备。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末页停留时间稍长，供拍照。三条说明均须宣读，尤其第三条。将专业判断与政策规定分开，此条不可省略。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66725" y="847725"/>
            <a:ext cx="133350" cy="133350"/>
          </a:xfrm>
          <a:prstGeom prst="ellipse">
            <a:avLst/>
          </a:prstGeom>
          <a:solidFill>
            <a:srgbClr val="B0472A"/>
          </a:solidFill>
          <a:ln w="25400">
            <a:solidFill>
              <a:srgbClr val="B0472A"/>
            </a:solidFill>
            <a:prstDash val="solid"/>
          </a:ln>
        </p:spPr>
      </p:sp>
      <p:sp>
        <p:nvSpPr>
          <p:cNvPr id="4" name="Shape 2"/>
          <p:cNvSpPr/>
          <p:nvPr/>
        </p:nvSpPr>
        <p:spPr>
          <a:xfrm>
            <a:off x="485775" y="1566182"/>
            <a:ext cx="95250" cy="95250"/>
          </a:xfrm>
          <a:prstGeom prst="ellipse">
            <a:avLst/>
          </a:prstGeom>
          <a:solidFill>
            <a:srgbClr val="FFFFFF"/>
          </a:solidFill>
          <a:ln w="25400">
            <a:solidFill>
              <a:srgbClr val="E2E7F0"/>
            </a:solidFill>
            <a:prstDash val="solid"/>
          </a:ln>
        </p:spPr>
      </p:sp>
      <p:sp>
        <p:nvSpPr>
          <p:cNvPr id="5" name="Shape 3"/>
          <p:cNvSpPr/>
          <p:nvPr/>
        </p:nvSpPr>
        <p:spPr>
          <a:xfrm>
            <a:off x="485775" y="2265589"/>
            <a:ext cx="95250" cy="95250"/>
          </a:xfrm>
          <a:prstGeom prst="ellipse">
            <a:avLst/>
          </a:prstGeom>
          <a:solidFill>
            <a:srgbClr val="FFFFFF"/>
          </a:solidFill>
          <a:ln w="25400">
            <a:solidFill>
              <a:srgbClr val="E2E7F0"/>
            </a:solidFill>
            <a:prstDash val="solid"/>
          </a:ln>
        </p:spPr>
      </p:sp>
      <p:sp>
        <p:nvSpPr>
          <p:cNvPr id="6" name="Shape 4"/>
          <p:cNvSpPr/>
          <p:nvPr/>
        </p:nvSpPr>
        <p:spPr>
          <a:xfrm>
            <a:off x="485775" y="2964996"/>
            <a:ext cx="95250" cy="95250"/>
          </a:xfrm>
          <a:prstGeom prst="ellipse">
            <a:avLst/>
          </a:prstGeom>
          <a:solidFill>
            <a:srgbClr val="FFFFFF"/>
          </a:solidFill>
          <a:ln w="25400">
            <a:solidFill>
              <a:srgbClr val="E2E7F0"/>
            </a:solidFill>
            <a:prstDash val="solid"/>
          </a:ln>
        </p:spPr>
      </p:sp>
      <p:sp>
        <p:nvSpPr>
          <p:cNvPr id="7" name="Shape 5"/>
          <p:cNvSpPr/>
          <p:nvPr/>
        </p:nvSpPr>
        <p:spPr>
          <a:xfrm>
            <a:off x="485775" y="3664404"/>
            <a:ext cx="95250" cy="95250"/>
          </a:xfrm>
          <a:prstGeom prst="ellipse">
            <a:avLst/>
          </a:prstGeom>
          <a:solidFill>
            <a:srgbClr val="FFFFFF"/>
          </a:solidFill>
          <a:ln w="25400">
            <a:solidFill>
              <a:srgbClr val="E2E7F0"/>
            </a:solidFill>
            <a:prstDash val="solid"/>
          </a:ln>
        </p:spPr>
      </p:sp>
      <p:sp>
        <p:nvSpPr>
          <p:cNvPr id="8" name="Shape 6"/>
          <p:cNvSpPr/>
          <p:nvPr/>
        </p:nvSpPr>
        <p:spPr>
          <a:xfrm>
            <a:off x="485775" y="4363811"/>
            <a:ext cx="95250" cy="95250"/>
          </a:xfrm>
          <a:prstGeom prst="ellipse">
            <a:avLst/>
          </a:prstGeom>
          <a:solidFill>
            <a:srgbClr val="FFFFFF"/>
          </a:solidFill>
          <a:ln w="25400">
            <a:solidFill>
              <a:srgbClr val="E2E7F0"/>
            </a:solidFill>
            <a:prstDash val="solid"/>
          </a:ln>
        </p:spPr>
      </p:sp>
      <p:sp>
        <p:nvSpPr>
          <p:cNvPr id="9" name="Shape 7"/>
          <p:cNvSpPr/>
          <p:nvPr/>
        </p:nvSpPr>
        <p:spPr>
          <a:xfrm>
            <a:off x="485775" y="5063218"/>
            <a:ext cx="95250" cy="95250"/>
          </a:xfrm>
          <a:prstGeom prst="ellipse">
            <a:avLst/>
          </a:prstGeom>
          <a:solidFill>
            <a:srgbClr val="FFFFFF"/>
          </a:solidFill>
          <a:ln w="25400">
            <a:solidFill>
              <a:srgbClr val="E2E7F0"/>
            </a:solidFill>
            <a:prstDash val="solid"/>
          </a:ln>
        </p:spPr>
      </p:sp>
      <p:sp>
        <p:nvSpPr>
          <p:cNvPr id="10" name="Shape 8"/>
          <p:cNvSpPr/>
          <p:nvPr/>
        </p:nvSpPr>
        <p:spPr>
          <a:xfrm>
            <a:off x="485775" y="5762625"/>
            <a:ext cx="95250" cy="95250"/>
          </a:xfrm>
          <a:prstGeom prst="ellipse">
            <a:avLst/>
          </a:prstGeom>
          <a:solidFill>
            <a:srgbClr val="FFFFFF"/>
          </a:solidFill>
          <a:ln w="25400">
            <a:solidFill>
              <a:srgbClr val="E2E7F0"/>
            </a:solidFill>
            <a:prstDash val="solid"/>
          </a:ln>
        </p:spPr>
      </p:sp>
      <p:sp>
        <p:nvSpPr>
          <p:cNvPr id="11" name="Text 9"/>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开</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场</a:t>
            </a:r>
            <a:endParaRPr lang="en-US" sz="900" dirty="0"/>
          </a:p>
        </p:txBody>
      </p:sp>
      <p:sp>
        <p:nvSpPr>
          <p:cNvPr id="12" name="Text 10"/>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01</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44</a:t>
            </a:r>
            <a:endParaRPr lang="en-US" sz="1000" dirty="0"/>
          </a:p>
        </p:txBody>
      </p:sp>
      <p:sp>
        <p:nvSpPr>
          <p:cNvPr id="13" name="Text 11"/>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4" name="Text 12"/>
          <p:cNvSpPr/>
          <p:nvPr/>
        </p:nvSpPr>
        <p:spPr>
          <a:xfrm>
            <a:off x="1295400" y="1207008"/>
            <a:ext cx="9981895" cy="237744"/>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综合实践活动教师专题</a:t>
            </a:r>
            <a:endParaRPr lang="en-US" sz="1000" dirty="0"/>
          </a:p>
        </p:txBody>
      </p:sp>
      <p:sp>
        <p:nvSpPr>
          <p:cNvPr id="15" name="Text 13"/>
          <p:cNvSpPr/>
          <p:nvPr/>
        </p:nvSpPr>
        <p:spPr>
          <a:xfrm>
            <a:off x="1295400" y="1572768"/>
            <a:ext cx="9981895" cy="1005840"/>
          </a:xfrm>
          <a:prstGeom prst="rect">
            <a:avLst/>
          </a:prstGeom>
          <a:noFill/>
          <a:ln/>
        </p:spPr>
        <p:txBody>
          <a:bodyPr wrap="square" lIns="0" tIns="0" rIns="0" bIns="0" rtlCol="0" anchor="ctr"/>
          <a:lstStyle/>
          <a:p>
            <a:pPr indent="0" marL="0">
              <a:buNone/>
            </a:pPr>
            <a:r>
              <a:rPr lang="en-US" sz="5000" b="1" dirty="0">
                <a:solidFill>
                  <a:srgbClr val="0F1B2D"/>
                </a:solidFill>
                <a:latin typeface="Microsoft YaHei" pitchFamily="34" charset="0"/>
                <a:ea typeface="Microsoft YaHei" pitchFamily="34" charset="-122"/>
                <a:cs typeface="Microsoft YaHei" pitchFamily="34" charset="-120"/>
              </a:rPr>
              <a:t>做中学与综合实践活动</a:t>
            </a:r>
            <a:endParaRPr lang="en-US" sz="5000" dirty="0"/>
          </a:p>
        </p:txBody>
      </p:sp>
      <p:sp>
        <p:nvSpPr>
          <p:cNvPr id="16" name="Text 14"/>
          <p:cNvSpPr/>
          <p:nvPr/>
        </p:nvSpPr>
        <p:spPr>
          <a:xfrm>
            <a:off x="1295400" y="2670048"/>
            <a:ext cx="9981895" cy="402336"/>
          </a:xfrm>
          <a:prstGeom prst="rect">
            <a:avLst/>
          </a:prstGeom>
          <a:noFill/>
          <a:ln/>
        </p:spPr>
        <p:txBody>
          <a:bodyPr wrap="square" lIns="0" tIns="0" rIns="0" bIns="0" rtlCol="0" anchor="ctr"/>
          <a:lstStyle/>
          <a:p>
            <a:pPr indent="0" marL="0">
              <a:buNone/>
            </a:pPr>
            <a:r>
              <a:rPr lang="en-US" sz="1900" dirty="0">
                <a:solidFill>
                  <a:srgbClr val="5B6470"/>
                </a:solidFill>
                <a:latin typeface="Microsoft YaHei" pitchFamily="34" charset="0"/>
                <a:ea typeface="Microsoft YaHei" pitchFamily="34" charset="-122"/>
                <a:cs typeface="Microsoft YaHei" pitchFamily="34" charset="-120"/>
              </a:rPr>
              <a:t>AI 在任务链条上的位置</a:t>
            </a:r>
            <a:endParaRPr lang="en-US" sz="1900" dirty="0"/>
          </a:p>
        </p:txBody>
      </p:sp>
      <p:sp>
        <p:nvSpPr>
          <p:cNvPr id="17" name="Shape 15"/>
          <p:cNvSpPr/>
          <p:nvPr/>
        </p:nvSpPr>
        <p:spPr>
          <a:xfrm>
            <a:off x="1295400" y="3346704"/>
            <a:ext cx="1481328" cy="384048"/>
          </a:xfrm>
          <a:prstGeom prst="roundRect">
            <a:avLst>
              <a:gd name="adj" fmla="val 16667"/>
            </a:avLst>
          </a:prstGeom>
          <a:solidFill>
            <a:srgbClr val="FFFFFF"/>
          </a:solidFill>
          <a:ln w="12700">
            <a:solidFill>
              <a:srgbClr val="E2E7F0"/>
            </a:solidFill>
            <a:prstDash val="solid"/>
          </a:ln>
        </p:spPr>
      </p:sp>
      <p:sp>
        <p:nvSpPr>
          <p:cNvPr id="18" name="Text 16"/>
          <p:cNvSpPr/>
          <p:nvPr/>
        </p:nvSpPr>
        <p:spPr>
          <a:xfrm>
            <a:off x="1295400" y="3346704"/>
            <a:ext cx="1481328" cy="384048"/>
          </a:xfrm>
          <a:prstGeom prst="rect">
            <a:avLst/>
          </a:prstGeom>
          <a:noFill/>
          <a:ln/>
        </p:spPr>
        <p:txBody>
          <a:bodyPr wrap="square" lIns="0" tIns="0" rIns="0" bIns="0" rtlCol="0" anchor="ctr"/>
          <a:lstStyle/>
          <a:p>
            <a:pPr algn="ctr" indent="0" marL="0">
              <a:buNone/>
            </a:pPr>
            <a:r>
              <a:rPr lang="en-US" sz="1000" dirty="0">
                <a:solidFill>
                  <a:srgbClr val="33414F"/>
                </a:solidFill>
                <a:latin typeface="Microsoft YaHei" pitchFamily="34" charset="0"/>
                <a:ea typeface="Microsoft YaHei" pitchFamily="34" charset="-122"/>
                <a:cs typeface="Microsoft YaHei" pitchFamily="34" charset="-120"/>
              </a:rPr>
              <a:t>提出问题和假设</a:t>
            </a:r>
            <a:endParaRPr lang="en-US" sz="1000" dirty="0"/>
          </a:p>
        </p:txBody>
      </p:sp>
      <p:sp>
        <p:nvSpPr>
          <p:cNvPr id="19" name="Shape 17"/>
          <p:cNvSpPr/>
          <p:nvPr/>
        </p:nvSpPr>
        <p:spPr>
          <a:xfrm>
            <a:off x="2776728" y="3538728"/>
            <a:ext cx="182880" cy="0"/>
          </a:xfrm>
          <a:prstGeom prst="line">
            <a:avLst/>
          </a:prstGeom>
          <a:noFill/>
          <a:ln w="12700">
            <a:solidFill>
              <a:srgbClr val="E2E7F0"/>
            </a:solidFill>
            <a:prstDash val="solid"/>
          </a:ln>
        </p:spPr>
      </p:sp>
      <p:sp>
        <p:nvSpPr>
          <p:cNvPr id="20" name="Shape 18"/>
          <p:cNvSpPr/>
          <p:nvPr/>
        </p:nvSpPr>
        <p:spPr>
          <a:xfrm>
            <a:off x="2959608" y="3346704"/>
            <a:ext cx="1481328" cy="384048"/>
          </a:xfrm>
          <a:prstGeom prst="roundRect">
            <a:avLst>
              <a:gd name="adj" fmla="val 16667"/>
            </a:avLst>
          </a:prstGeom>
          <a:solidFill>
            <a:srgbClr val="FFFFFF"/>
          </a:solidFill>
          <a:ln w="12700">
            <a:solidFill>
              <a:srgbClr val="E2E7F0"/>
            </a:solidFill>
            <a:prstDash val="solid"/>
          </a:ln>
        </p:spPr>
      </p:sp>
      <p:sp>
        <p:nvSpPr>
          <p:cNvPr id="21" name="Text 19"/>
          <p:cNvSpPr/>
          <p:nvPr/>
        </p:nvSpPr>
        <p:spPr>
          <a:xfrm>
            <a:off x="2959608" y="3346704"/>
            <a:ext cx="1481328" cy="384048"/>
          </a:xfrm>
          <a:prstGeom prst="rect">
            <a:avLst/>
          </a:prstGeom>
          <a:noFill/>
          <a:ln/>
        </p:spPr>
        <p:txBody>
          <a:bodyPr wrap="square" lIns="0" tIns="0" rIns="0" bIns="0" rtlCol="0" anchor="ctr"/>
          <a:lstStyle/>
          <a:p>
            <a:pPr algn="ctr" indent="0" marL="0">
              <a:buNone/>
            </a:pPr>
            <a:r>
              <a:rPr lang="en-US" sz="1000" dirty="0">
                <a:solidFill>
                  <a:srgbClr val="33414F"/>
                </a:solidFill>
                <a:latin typeface="Microsoft YaHei" pitchFamily="34" charset="0"/>
                <a:ea typeface="Microsoft YaHei" pitchFamily="34" charset="-122"/>
                <a:cs typeface="Microsoft YaHei" pitchFamily="34" charset="-120"/>
              </a:rPr>
              <a:t>设计方案</a:t>
            </a:r>
            <a:endParaRPr lang="en-US" sz="1000" dirty="0"/>
          </a:p>
        </p:txBody>
      </p:sp>
      <p:sp>
        <p:nvSpPr>
          <p:cNvPr id="22" name="Shape 20"/>
          <p:cNvSpPr/>
          <p:nvPr/>
        </p:nvSpPr>
        <p:spPr>
          <a:xfrm>
            <a:off x="4440936" y="3538728"/>
            <a:ext cx="182880" cy="0"/>
          </a:xfrm>
          <a:prstGeom prst="line">
            <a:avLst/>
          </a:prstGeom>
          <a:noFill/>
          <a:ln w="12700">
            <a:solidFill>
              <a:srgbClr val="E2E7F0"/>
            </a:solidFill>
            <a:prstDash val="solid"/>
          </a:ln>
        </p:spPr>
      </p:sp>
      <p:sp>
        <p:nvSpPr>
          <p:cNvPr id="23" name="Shape 21"/>
          <p:cNvSpPr/>
          <p:nvPr/>
        </p:nvSpPr>
        <p:spPr>
          <a:xfrm>
            <a:off x="4623816" y="3346704"/>
            <a:ext cx="1481328" cy="384048"/>
          </a:xfrm>
          <a:prstGeom prst="roundRect">
            <a:avLst>
              <a:gd name="adj" fmla="val 16667"/>
            </a:avLst>
          </a:prstGeom>
          <a:solidFill>
            <a:srgbClr val="FFFFFF"/>
          </a:solidFill>
          <a:ln w="12700">
            <a:solidFill>
              <a:srgbClr val="E2E7F0"/>
            </a:solidFill>
            <a:prstDash val="solid"/>
          </a:ln>
        </p:spPr>
      </p:sp>
      <p:sp>
        <p:nvSpPr>
          <p:cNvPr id="24" name="Text 22"/>
          <p:cNvSpPr/>
          <p:nvPr/>
        </p:nvSpPr>
        <p:spPr>
          <a:xfrm>
            <a:off x="4623816" y="3346704"/>
            <a:ext cx="1481328" cy="384048"/>
          </a:xfrm>
          <a:prstGeom prst="rect">
            <a:avLst/>
          </a:prstGeom>
          <a:noFill/>
          <a:ln/>
        </p:spPr>
        <p:txBody>
          <a:bodyPr wrap="square" lIns="0" tIns="0" rIns="0" bIns="0" rtlCol="0" anchor="ctr"/>
          <a:lstStyle/>
          <a:p>
            <a:pPr algn="ctr" indent="0" marL="0">
              <a:buNone/>
            </a:pPr>
            <a:r>
              <a:rPr lang="en-US" sz="1000" dirty="0">
                <a:solidFill>
                  <a:srgbClr val="33414F"/>
                </a:solidFill>
                <a:latin typeface="Microsoft YaHei" pitchFamily="34" charset="0"/>
                <a:ea typeface="Microsoft YaHei" pitchFamily="34" charset="-122"/>
                <a:cs typeface="Microsoft YaHei" pitchFamily="34" charset="-120"/>
              </a:rPr>
              <a:t>搜集分析证据</a:t>
            </a:r>
            <a:endParaRPr lang="en-US" sz="1000" dirty="0"/>
          </a:p>
        </p:txBody>
      </p:sp>
      <p:sp>
        <p:nvSpPr>
          <p:cNvPr id="25" name="Shape 23"/>
          <p:cNvSpPr/>
          <p:nvPr/>
        </p:nvSpPr>
        <p:spPr>
          <a:xfrm>
            <a:off x="6105144" y="3538728"/>
            <a:ext cx="182880" cy="0"/>
          </a:xfrm>
          <a:prstGeom prst="line">
            <a:avLst/>
          </a:prstGeom>
          <a:noFill/>
          <a:ln w="12700">
            <a:solidFill>
              <a:srgbClr val="E2E7F0"/>
            </a:solidFill>
            <a:prstDash val="solid"/>
          </a:ln>
        </p:spPr>
      </p:sp>
      <p:sp>
        <p:nvSpPr>
          <p:cNvPr id="26" name="Shape 24"/>
          <p:cNvSpPr/>
          <p:nvPr/>
        </p:nvSpPr>
        <p:spPr>
          <a:xfrm>
            <a:off x="6288024" y="3346704"/>
            <a:ext cx="1481328" cy="384048"/>
          </a:xfrm>
          <a:prstGeom prst="roundRect">
            <a:avLst>
              <a:gd name="adj" fmla="val 16667"/>
            </a:avLst>
          </a:prstGeom>
          <a:solidFill>
            <a:srgbClr val="FFFFFF"/>
          </a:solidFill>
          <a:ln w="12700">
            <a:solidFill>
              <a:srgbClr val="E2E7F0"/>
            </a:solidFill>
            <a:prstDash val="solid"/>
          </a:ln>
        </p:spPr>
      </p:sp>
      <p:sp>
        <p:nvSpPr>
          <p:cNvPr id="27" name="Text 25"/>
          <p:cNvSpPr/>
          <p:nvPr/>
        </p:nvSpPr>
        <p:spPr>
          <a:xfrm>
            <a:off x="6288024" y="3346704"/>
            <a:ext cx="1481328" cy="384048"/>
          </a:xfrm>
          <a:prstGeom prst="rect">
            <a:avLst/>
          </a:prstGeom>
          <a:noFill/>
          <a:ln/>
        </p:spPr>
        <p:txBody>
          <a:bodyPr wrap="square" lIns="0" tIns="0" rIns="0" bIns="0" rtlCol="0" anchor="ctr"/>
          <a:lstStyle/>
          <a:p>
            <a:pPr algn="ctr" indent="0" marL="0">
              <a:buNone/>
            </a:pPr>
            <a:r>
              <a:rPr lang="en-US" sz="1000" dirty="0">
                <a:solidFill>
                  <a:srgbClr val="33414F"/>
                </a:solidFill>
                <a:latin typeface="Microsoft YaHei" pitchFamily="34" charset="0"/>
                <a:ea typeface="Microsoft YaHei" pitchFamily="34" charset="-122"/>
                <a:cs typeface="Microsoft YaHei" pitchFamily="34" charset="-120"/>
              </a:rPr>
              <a:t>得出结论并解释</a:t>
            </a:r>
            <a:endParaRPr lang="en-US" sz="1000" dirty="0"/>
          </a:p>
        </p:txBody>
      </p:sp>
      <p:sp>
        <p:nvSpPr>
          <p:cNvPr id="28" name="Shape 26"/>
          <p:cNvSpPr/>
          <p:nvPr/>
        </p:nvSpPr>
        <p:spPr>
          <a:xfrm>
            <a:off x="7769352" y="3538728"/>
            <a:ext cx="182880" cy="0"/>
          </a:xfrm>
          <a:prstGeom prst="line">
            <a:avLst/>
          </a:prstGeom>
          <a:noFill/>
          <a:ln w="12700">
            <a:solidFill>
              <a:srgbClr val="E2E7F0"/>
            </a:solidFill>
            <a:prstDash val="solid"/>
          </a:ln>
        </p:spPr>
      </p:sp>
      <p:sp>
        <p:nvSpPr>
          <p:cNvPr id="29" name="Shape 27"/>
          <p:cNvSpPr/>
          <p:nvPr/>
        </p:nvSpPr>
        <p:spPr>
          <a:xfrm>
            <a:off x="7952232" y="3346704"/>
            <a:ext cx="1481328" cy="384048"/>
          </a:xfrm>
          <a:prstGeom prst="roundRect">
            <a:avLst>
              <a:gd name="adj" fmla="val 16667"/>
            </a:avLst>
          </a:prstGeom>
          <a:solidFill>
            <a:srgbClr val="FFFFFF"/>
          </a:solidFill>
          <a:ln w="12700">
            <a:solidFill>
              <a:srgbClr val="E2E7F0"/>
            </a:solidFill>
            <a:prstDash val="solid"/>
          </a:ln>
        </p:spPr>
      </p:sp>
      <p:sp>
        <p:nvSpPr>
          <p:cNvPr id="30" name="Text 28"/>
          <p:cNvSpPr/>
          <p:nvPr/>
        </p:nvSpPr>
        <p:spPr>
          <a:xfrm>
            <a:off x="7952232" y="3346704"/>
            <a:ext cx="1481328" cy="384048"/>
          </a:xfrm>
          <a:prstGeom prst="rect">
            <a:avLst/>
          </a:prstGeom>
          <a:noFill/>
          <a:ln/>
        </p:spPr>
        <p:txBody>
          <a:bodyPr wrap="square" lIns="0" tIns="0" rIns="0" bIns="0" rtlCol="0" anchor="ctr"/>
          <a:lstStyle/>
          <a:p>
            <a:pPr algn="ctr" indent="0" marL="0">
              <a:buNone/>
            </a:pPr>
            <a:r>
              <a:rPr lang="en-US" sz="1000" dirty="0">
                <a:solidFill>
                  <a:srgbClr val="33414F"/>
                </a:solidFill>
                <a:latin typeface="Microsoft YaHei" pitchFamily="34" charset="0"/>
                <a:ea typeface="Microsoft YaHei" pitchFamily="34" charset="-122"/>
                <a:cs typeface="Microsoft YaHei" pitchFamily="34" charset="-120"/>
              </a:rPr>
              <a:t>制作改进</a:t>
            </a:r>
            <a:endParaRPr lang="en-US" sz="1000" dirty="0"/>
          </a:p>
        </p:txBody>
      </p:sp>
      <p:sp>
        <p:nvSpPr>
          <p:cNvPr id="31" name="Shape 29"/>
          <p:cNvSpPr/>
          <p:nvPr/>
        </p:nvSpPr>
        <p:spPr>
          <a:xfrm>
            <a:off x="9433560" y="3538728"/>
            <a:ext cx="182880" cy="0"/>
          </a:xfrm>
          <a:prstGeom prst="line">
            <a:avLst/>
          </a:prstGeom>
          <a:noFill/>
          <a:ln w="12700">
            <a:solidFill>
              <a:srgbClr val="E2E7F0"/>
            </a:solidFill>
            <a:prstDash val="solid"/>
          </a:ln>
        </p:spPr>
      </p:sp>
      <p:sp>
        <p:nvSpPr>
          <p:cNvPr id="32" name="Shape 30"/>
          <p:cNvSpPr/>
          <p:nvPr/>
        </p:nvSpPr>
        <p:spPr>
          <a:xfrm>
            <a:off x="9616440" y="3346704"/>
            <a:ext cx="1481328" cy="384048"/>
          </a:xfrm>
          <a:prstGeom prst="roundRect">
            <a:avLst>
              <a:gd name="adj" fmla="val 16667"/>
            </a:avLst>
          </a:prstGeom>
          <a:solidFill>
            <a:srgbClr val="FFFFFF"/>
          </a:solidFill>
          <a:ln w="12700">
            <a:solidFill>
              <a:srgbClr val="E2E7F0"/>
            </a:solidFill>
            <a:prstDash val="solid"/>
          </a:ln>
        </p:spPr>
      </p:sp>
      <p:sp>
        <p:nvSpPr>
          <p:cNvPr id="33" name="Text 31"/>
          <p:cNvSpPr/>
          <p:nvPr/>
        </p:nvSpPr>
        <p:spPr>
          <a:xfrm>
            <a:off x="9616440" y="3346704"/>
            <a:ext cx="1481328" cy="384048"/>
          </a:xfrm>
          <a:prstGeom prst="rect">
            <a:avLst/>
          </a:prstGeom>
          <a:noFill/>
          <a:ln/>
        </p:spPr>
        <p:txBody>
          <a:bodyPr wrap="square" lIns="0" tIns="0" rIns="0" bIns="0" rtlCol="0" anchor="ctr"/>
          <a:lstStyle/>
          <a:p>
            <a:pPr algn="ctr" indent="0" marL="0">
              <a:buNone/>
            </a:pPr>
            <a:r>
              <a:rPr lang="en-US" sz="1000" dirty="0">
                <a:solidFill>
                  <a:srgbClr val="33414F"/>
                </a:solidFill>
                <a:latin typeface="Microsoft YaHei" pitchFamily="34" charset="0"/>
                <a:ea typeface="Microsoft YaHei" pitchFamily="34" charset="-122"/>
                <a:cs typeface="Microsoft YaHei" pitchFamily="34" charset="-120"/>
              </a:rPr>
              <a:t>交流反思</a:t>
            </a:r>
            <a:endParaRPr lang="en-US" sz="1000" dirty="0"/>
          </a:p>
        </p:txBody>
      </p:sp>
      <p:sp>
        <p:nvSpPr>
          <p:cNvPr id="34" name="Text 32"/>
          <p:cNvSpPr/>
          <p:nvPr/>
        </p:nvSpPr>
        <p:spPr>
          <a:xfrm>
            <a:off x="1295400" y="4572000"/>
            <a:ext cx="2103120" cy="219456"/>
          </a:xfrm>
          <a:prstGeom prst="rect">
            <a:avLst/>
          </a:prstGeom>
          <a:noFill/>
          <a:ln/>
        </p:spPr>
        <p:txBody>
          <a:bodyPr wrap="square" lIns="0" tIns="0" rIns="0" bIns="0" rtlCol="0" anchor="ctr"/>
          <a:lstStyle/>
          <a:p>
            <a:pPr indent="0" marL="0">
              <a:buNone/>
            </a:pPr>
            <a:r>
              <a:rPr lang="en-US" sz="1100" dirty="0">
                <a:solidFill>
                  <a:srgbClr val="5B6470"/>
                </a:solidFill>
                <a:latin typeface="Microsoft YaHei" pitchFamily="34" charset="0"/>
                <a:ea typeface="Microsoft YaHei" pitchFamily="34" charset="-122"/>
                <a:cs typeface="Microsoft YaHei" pitchFamily="34" charset="-120"/>
              </a:rPr>
              <a:t>主讲</a:t>
            </a:r>
            <a:endParaRPr lang="en-US" sz="1100" dirty="0"/>
          </a:p>
        </p:txBody>
      </p:sp>
      <p:sp>
        <p:nvSpPr>
          <p:cNvPr id="35" name="Text 33"/>
          <p:cNvSpPr/>
          <p:nvPr/>
        </p:nvSpPr>
        <p:spPr>
          <a:xfrm>
            <a:off x="1295400" y="4846320"/>
            <a:ext cx="2103120" cy="274320"/>
          </a:xfrm>
          <a:prstGeom prst="rect">
            <a:avLst/>
          </a:prstGeom>
          <a:noFill/>
          <a:ln/>
        </p:spPr>
        <p:txBody>
          <a:bodyPr wrap="square" lIns="0" tIns="0" rIns="0" bIns="0" rtlCol="0" anchor="ctr"/>
          <a:lstStyle/>
          <a:p>
            <a:pPr indent="0" marL="0">
              <a:buNone/>
            </a:pPr>
            <a:r>
              <a:rPr lang="en-US" sz="1400" dirty="0">
                <a:solidFill>
                  <a:srgbClr val="0F1B2D"/>
                </a:solidFill>
                <a:latin typeface="Microsoft YaHei" pitchFamily="34" charset="0"/>
                <a:ea typeface="Microsoft YaHei" pitchFamily="34" charset="-122"/>
                <a:cs typeface="Microsoft YaHei" pitchFamily="34" charset="-120"/>
              </a:rPr>
              <a:t>辛海洋</a:t>
            </a:r>
            <a:endParaRPr lang="en-US" sz="1400" dirty="0"/>
          </a:p>
        </p:txBody>
      </p:sp>
      <p:sp>
        <p:nvSpPr>
          <p:cNvPr id="36" name="Text 34"/>
          <p:cNvSpPr/>
          <p:nvPr/>
        </p:nvSpPr>
        <p:spPr>
          <a:xfrm>
            <a:off x="3581400" y="4572000"/>
            <a:ext cx="2103120" cy="219456"/>
          </a:xfrm>
          <a:prstGeom prst="rect">
            <a:avLst/>
          </a:prstGeom>
          <a:noFill/>
          <a:ln/>
        </p:spPr>
        <p:txBody>
          <a:bodyPr wrap="square" lIns="0" tIns="0" rIns="0" bIns="0" rtlCol="0" anchor="ctr"/>
          <a:lstStyle/>
          <a:p>
            <a:pPr indent="0" marL="0">
              <a:buNone/>
            </a:pPr>
            <a:r>
              <a:rPr lang="en-US" sz="1100" dirty="0">
                <a:solidFill>
                  <a:srgbClr val="5B6470"/>
                </a:solidFill>
                <a:latin typeface="Microsoft YaHei" pitchFamily="34" charset="0"/>
                <a:ea typeface="Microsoft YaHei" pitchFamily="34" charset="-122"/>
                <a:cs typeface="Microsoft YaHei" pitchFamily="34" charset="-120"/>
              </a:rPr>
              <a:t>日期</a:t>
            </a:r>
            <a:endParaRPr lang="en-US" sz="1100" dirty="0"/>
          </a:p>
        </p:txBody>
      </p:sp>
      <p:sp>
        <p:nvSpPr>
          <p:cNvPr id="37" name="Text 35"/>
          <p:cNvSpPr/>
          <p:nvPr/>
        </p:nvSpPr>
        <p:spPr>
          <a:xfrm>
            <a:off x="3581400" y="4846320"/>
            <a:ext cx="2103120" cy="274320"/>
          </a:xfrm>
          <a:prstGeom prst="rect">
            <a:avLst/>
          </a:prstGeom>
          <a:noFill/>
          <a:ln/>
        </p:spPr>
        <p:txBody>
          <a:bodyPr wrap="square" lIns="0" tIns="0" rIns="0" bIns="0" rtlCol="0" anchor="ctr"/>
          <a:lstStyle/>
          <a:p>
            <a:pPr indent="0" marL="0">
              <a:buNone/>
            </a:pPr>
            <a:r>
              <a:rPr lang="en-US" sz="1400" dirty="0">
                <a:solidFill>
                  <a:srgbClr val="0F1B2D"/>
                </a:solidFill>
                <a:latin typeface="Microsoft YaHei" pitchFamily="34" charset="0"/>
                <a:ea typeface="Microsoft YaHei" pitchFamily="34" charset="-122"/>
                <a:cs typeface="Microsoft YaHei" pitchFamily="34" charset="-120"/>
              </a:rPr>
              <a:t>2026 年 8 月 21 日</a:t>
            </a:r>
            <a:endParaRPr lang="en-US" sz="1400" dirty="0"/>
          </a:p>
        </p:txBody>
      </p:sp>
      <p:sp>
        <p:nvSpPr>
          <p:cNvPr id="38" name="Text 36"/>
          <p:cNvSpPr/>
          <p:nvPr/>
        </p:nvSpPr>
        <p:spPr>
          <a:xfrm>
            <a:off x="5867400" y="4572000"/>
            <a:ext cx="2103120" cy="219456"/>
          </a:xfrm>
          <a:prstGeom prst="rect">
            <a:avLst/>
          </a:prstGeom>
          <a:noFill/>
          <a:ln/>
        </p:spPr>
        <p:txBody>
          <a:bodyPr wrap="square" lIns="0" tIns="0" rIns="0" bIns="0" rtlCol="0" anchor="ctr"/>
          <a:lstStyle/>
          <a:p>
            <a:pPr indent="0" marL="0">
              <a:buNone/>
            </a:pPr>
            <a:r>
              <a:rPr lang="en-US" sz="1100" dirty="0">
                <a:solidFill>
                  <a:srgbClr val="5B6470"/>
                </a:solidFill>
                <a:latin typeface="Microsoft YaHei" pitchFamily="34" charset="0"/>
                <a:ea typeface="Microsoft YaHei" pitchFamily="34" charset="-122"/>
                <a:cs typeface="Microsoft YaHei" pitchFamily="34" charset="-120"/>
              </a:rPr>
              <a:t>时长</a:t>
            </a:r>
            <a:endParaRPr lang="en-US" sz="1100" dirty="0"/>
          </a:p>
        </p:txBody>
      </p:sp>
      <p:sp>
        <p:nvSpPr>
          <p:cNvPr id="39" name="Text 37"/>
          <p:cNvSpPr/>
          <p:nvPr/>
        </p:nvSpPr>
        <p:spPr>
          <a:xfrm>
            <a:off x="5867400" y="4846320"/>
            <a:ext cx="2103120" cy="274320"/>
          </a:xfrm>
          <a:prstGeom prst="rect">
            <a:avLst/>
          </a:prstGeom>
          <a:noFill/>
          <a:ln/>
        </p:spPr>
        <p:txBody>
          <a:bodyPr wrap="square" lIns="0" tIns="0" rIns="0" bIns="0" rtlCol="0" anchor="ctr"/>
          <a:lstStyle/>
          <a:p>
            <a:pPr indent="0" marL="0">
              <a:buNone/>
            </a:pPr>
            <a:r>
              <a:rPr lang="en-US" sz="1400" dirty="0">
                <a:solidFill>
                  <a:srgbClr val="0F1B2D"/>
                </a:solidFill>
                <a:latin typeface="Microsoft YaHei" pitchFamily="34" charset="0"/>
                <a:ea typeface="Microsoft YaHei" pitchFamily="34" charset="-122"/>
                <a:cs typeface="Microsoft YaHei" pitchFamily="34" charset="-120"/>
              </a:rPr>
              <a:t>90 分钟</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66725" y="847725"/>
            <a:ext cx="133350" cy="133350"/>
          </a:xfrm>
          <a:prstGeom prst="ellipse">
            <a:avLst/>
          </a:prstGeom>
          <a:solidFill>
            <a:srgbClr val="B0472A"/>
          </a:solidFill>
          <a:ln w="25400">
            <a:solidFill>
              <a:srgbClr val="B0472A"/>
            </a:solidFill>
            <a:prstDash val="solid"/>
          </a:ln>
        </p:spPr>
      </p:sp>
      <p:sp>
        <p:nvSpPr>
          <p:cNvPr id="4" name="Shape 2"/>
          <p:cNvSpPr/>
          <p:nvPr/>
        </p:nvSpPr>
        <p:spPr>
          <a:xfrm>
            <a:off x="485775" y="1566182"/>
            <a:ext cx="95250" cy="95250"/>
          </a:xfrm>
          <a:prstGeom prst="ellipse">
            <a:avLst/>
          </a:prstGeom>
          <a:solidFill>
            <a:srgbClr val="FFFFFF"/>
          </a:solidFill>
          <a:ln w="25400">
            <a:solidFill>
              <a:srgbClr val="E2E7F0"/>
            </a:solidFill>
            <a:prstDash val="solid"/>
          </a:ln>
        </p:spPr>
      </p:sp>
      <p:sp>
        <p:nvSpPr>
          <p:cNvPr id="5" name="Shape 3"/>
          <p:cNvSpPr/>
          <p:nvPr/>
        </p:nvSpPr>
        <p:spPr>
          <a:xfrm>
            <a:off x="485775" y="2265589"/>
            <a:ext cx="95250" cy="95250"/>
          </a:xfrm>
          <a:prstGeom prst="ellipse">
            <a:avLst/>
          </a:prstGeom>
          <a:solidFill>
            <a:srgbClr val="FFFFFF"/>
          </a:solidFill>
          <a:ln w="25400">
            <a:solidFill>
              <a:srgbClr val="E2E7F0"/>
            </a:solidFill>
            <a:prstDash val="solid"/>
          </a:ln>
        </p:spPr>
      </p:sp>
      <p:sp>
        <p:nvSpPr>
          <p:cNvPr id="6" name="Shape 4"/>
          <p:cNvSpPr/>
          <p:nvPr/>
        </p:nvSpPr>
        <p:spPr>
          <a:xfrm>
            <a:off x="485775" y="2964996"/>
            <a:ext cx="95250" cy="95250"/>
          </a:xfrm>
          <a:prstGeom prst="ellipse">
            <a:avLst/>
          </a:prstGeom>
          <a:solidFill>
            <a:srgbClr val="FFFFFF"/>
          </a:solidFill>
          <a:ln w="25400">
            <a:solidFill>
              <a:srgbClr val="E2E7F0"/>
            </a:solidFill>
            <a:prstDash val="solid"/>
          </a:ln>
        </p:spPr>
      </p:sp>
      <p:sp>
        <p:nvSpPr>
          <p:cNvPr id="7" name="Shape 5"/>
          <p:cNvSpPr/>
          <p:nvPr/>
        </p:nvSpPr>
        <p:spPr>
          <a:xfrm>
            <a:off x="485775" y="3664404"/>
            <a:ext cx="95250" cy="95250"/>
          </a:xfrm>
          <a:prstGeom prst="ellipse">
            <a:avLst/>
          </a:prstGeom>
          <a:solidFill>
            <a:srgbClr val="FFFFFF"/>
          </a:solidFill>
          <a:ln w="25400">
            <a:solidFill>
              <a:srgbClr val="E2E7F0"/>
            </a:solidFill>
            <a:prstDash val="solid"/>
          </a:ln>
        </p:spPr>
      </p:sp>
      <p:sp>
        <p:nvSpPr>
          <p:cNvPr id="8" name="Shape 6"/>
          <p:cNvSpPr/>
          <p:nvPr/>
        </p:nvSpPr>
        <p:spPr>
          <a:xfrm>
            <a:off x="485775" y="4363811"/>
            <a:ext cx="95250" cy="95250"/>
          </a:xfrm>
          <a:prstGeom prst="ellipse">
            <a:avLst/>
          </a:prstGeom>
          <a:solidFill>
            <a:srgbClr val="FFFFFF"/>
          </a:solidFill>
          <a:ln w="25400">
            <a:solidFill>
              <a:srgbClr val="E2E7F0"/>
            </a:solidFill>
            <a:prstDash val="solid"/>
          </a:ln>
        </p:spPr>
      </p:sp>
      <p:sp>
        <p:nvSpPr>
          <p:cNvPr id="9" name="Shape 7"/>
          <p:cNvSpPr/>
          <p:nvPr/>
        </p:nvSpPr>
        <p:spPr>
          <a:xfrm>
            <a:off x="485775" y="5063218"/>
            <a:ext cx="95250" cy="95250"/>
          </a:xfrm>
          <a:prstGeom prst="ellipse">
            <a:avLst/>
          </a:prstGeom>
          <a:solidFill>
            <a:srgbClr val="FFFFFF"/>
          </a:solidFill>
          <a:ln w="25400">
            <a:solidFill>
              <a:srgbClr val="E2E7F0"/>
            </a:solidFill>
            <a:prstDash val="solid"/>
          </a:ln>
        </p:spPr>
      </p:sp>
      <p:sp>
        <p:nvSpPr>
          <p:cNvPr id="10" name="Shape 8"/>
          <p:cNvSpPr/>
          <p:nvPr/>
        </p:nvSpPr>
        <p:spPr>
          <a:xfrm>
            <a:off x="485775" y="5762625"/>
            <a:ext cx="95250" cy="95250"/>
          </a:xfrm>
          <a:prstGeom prst="ellipse">
            <a:avLst/>
          </a:prstGeom>
          <a:solidFill>
            <a:srgbClr val="FFFFFF"/>
          </a:solidFill>
          <a:ln w="25400">
            <a:solidFill>
              <a:srgbClr val="E2E7F0"/>
            </a:solidFill>
            <a:prstDash val="solid"/>
          </a:ln>
        </p:spPr>
      </p:sp>
      <p:sp>
        <p:nvSpPr>
          <p:cNvPr id="11" name="Text 9"/>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开</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场</a:t>
            </a:r>
            <a:endParaRPr lang="en-US" sz="900" dirty="0"/>
          </a:p>
        </p:txBody>
      </p:sp>
      <p:sp>
        <p:nvSpPr>
          <p:cNvPr id="12" name="Text 10"/>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02</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44</a:t>
            </a:r>
            <a:endParaRPr lang="en-US" sz="1000" dirty="0"/>
          </a:p>
        </p:txBody>
      </p:sp>
      <p:sp>
        <p:nvSpPr>
          <p:cNvPr id="13" name="Text 11"/>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4" name="Text 12"/>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开场　·　领航行动指南与本课程的关系</a:t>
            </a:r>
            <a:endParaRPr lang="en-US" sz="1000" dirty="0"/>
          </a:p>
        </p:txBody>
      </p:sp>
      <p:sp>
        <p:nvSpPr>
          <p:cNvPr id="15" name="Text 13"/>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领航行动指南的文件信息</a:t>
            </a:r>
            <a:endParaRPr lang="en-US" sz="3200" dirty="0"/>
          </a:p>
        </p:txBody>
      </p:sp>
      <p:sp>
        <p:nvSpPr>
          <p:cNvPr id="16" name="Text 14"/>
          <p:cNvSpPr/>
          <p:nvPr/>
        </p:nvSpPr>
        <p:spPr>
          <a:xfrm>
            <a:off x="1295400" y="1824228"/>
            <a:ext cx="9981895" cy="502920"/>
          </a:xfrm>
          <a:prstGeom prst="rect">
            <a:avLst/>
          </a:prstGeom>
          <a:noFill/>
          <a:ln/>
        </p:spPr>
        <p:txBody>
          <a:bodyPr wrap="square" lIns="0" tIns="0" rIns="0" bIns="0" rtlCol="0" anchor="ctr"/>
          <a:lstStyle/>
          <a:p>
            <a:pPr indent="0" marL="0">
              <a:lnSpc>
                <a:spcPct val="135000"/>
              </a:lnSpc>
              <a:buNone/>
            </a:pPr>
            <a:r>
              <a:rPr lang="en-US" sz="2100" b="1" dirty="0">
                <a:solidFill>
                  <a:srgbClr val="0F1B2D"/>
                </a:solidFill>
                <a:latin typeface="Microsoft YaHei" pitchFamily="34" charset="0"/>
                <a:ea typeface="Microsoft YaHei" pitchFamily="34" charset="-122"/>
                <a:cs typeface="Microsoft YaHei" pitchFamily="34" charset="-120"/>
              </a:rPr>
              <a:t>《义务教育阶段科学教育“做中学”领航行动指南》</a:t>
            </a:r>
            <a:endParaRPr lang="en-US" sz="2100" dirty="0"/>
          </a:p>
        </p:txBody>
      </p:sp>
      <p:sp>
        <p:nvSpPr>
          <p:cNvPr id="17" name="Shape 15"/>
          <p:cNvSpPr/>
          <p:nvPr/>
        </p:nvSpPr>
        <p:spPr>
          <a:xfrm>
            <a:off x="1295400" y="2487168"/>
            <a:ext cx="3162706" cy="786384"/>
          </a:xfrm>
          <a:prstGeom prst="roundRect">
            <a:avLst>
              <a:gd name="adj" fmla="val 10465"/>
            </a:avLst>
          </a:prstGeom>
          <a:solidFill>
            <a:srgbClr val="FFFFFF"/>
          </a:solidFill>
          <a:ln w="12700">
            <a:solidFill>
              <a:srgbClr val="E2E7F0"/>
            </a:solidFill>
            <a:prstDash val="solid"/>
          </a:ln>
        </p:spPr>
      </p:sp>
      <p:sp>
        <p:nvSpPr>
          <p:cNvPr id="18" name="Shape 16"/>
          <p:cNvSpPr/>
          <p:nvPr/>
        </p:nvSpPr>
        <p:spPr>
          <a:xfrm>
            <a:off x="1359408" y="2487168"/>
            <a:ext cx="3034690" cy="38100"/>
          </a:xfrm>
          <a:prstGeom prst="rect">
            <a:avLst/>
          </a:prstGeom>
          <a:solidFill>
            <a:srgbClr val="33414F"/>
          </a:solidFill>
          <a:ln w="12700">
            <a:solidFill>
              <a:srgbClr val="33414F"/>
            </a:solidFill>
            <a:prstDash val="solid"/>
          </a:ln>
        </p:spPr>
      </p:sp>
      <p:sp>
        <p:nvSpPr>
          <p:cNvPr id="19" name="Text 17"/>
          <p:cNvSpPr/>
          <p:nvPr/>
        </p:nvSpPr>
        <p:spPr>
          <a:xfrm>
            <a:off x="1478280" y="2633472"/>
            <a:ext cx="2796946" cy="201168"/>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文号</a:t>
            </a:r>
            <a:endParaRPr lang="en-US" sz="950" dirty="0"/>
          </a:p>
        </p:txBody>
      </p:sp>
      <p:sp>
        <p:nvSpPr>
          <p:cNvPr id="20" name="Text 18"/>
          <p:cNvSpPr/>
          <p:nvPr/>
        </p:nvSpPr>
        <p:spPr>
          <a:xfrm>
            <a:off x="1478280" y="2871216"/>
            <a:ext cx="2796946" cy="274320"/>
          </a:xfrm>
          <a:prstGeom prst="rect">
            <a:avLst/>
          </a:prstGeom>
          <a:noFill/>
          <a:ln/>
        </p:spPr>
        <p:txBody>
          <a:bodyPr wrap="square" lIns="0" tIns="0" rIns="0" bIns="0" rtlCol="0" anchor="ctr"/>
          <a:lstStyle/>
          <a:p>
            <a:pPr indent="0" marL="0">
              <a:buNone/>
            </a:pPr>
            <a:r>
              <a:rPr lang="en-US" sz="1300" dirty="0">
                <a:solidFill>
                  <a:srgbClr val="0F1B2D"/>
                </a:solidFill>
                <a:latin typeface="Microsoft YaHei" pitchFamily="34" charset="0"/>
                <a:ea typeface="Microsoft YaHei" pitchFamily="34" charset="-122"/>
                <a:cs typeface="Microsoft YaHei" pitchFamily="34" charset="-120"/>
              </a:rPr>
              <a:t>教监管厅〔2026〕1 号</a:t>
            </a:r>
            <a:endParaRPr lang="en-US" sz="1300" dirty="0"/>
          </a:p>
        </p:txBody>
      </p:sp>
      <p:sp>
        <p:nvSpPr>
          <p:cNvPr id="21" name="Shape 19"/>
          <p:cNvSpPr/>
          <p:nvPr/>
        </p:nvSpPr>
        <p:spPr>
          <a:xfrm>
            <a:off x="4704994" y="2487168"/>
            <a:ext cx="3162706" cy="786384"/>
          </a:xfrm>
          <a:prstGeom prst="roundRect">
            <a:avLst>
              <a:gd name="adj" fmla="val 10465"/>
            </a:avLst>
          </a:prstGeom>
          <a:solidFill>
            <a:srgbClr val="FFFFFF"/>
          </a:solidFill>
          <a:ln w="12700">
            <a:solidFill>
              <a:srgbClr val="E2E7F0"/>
            </a:solidFill>
            <a:prstDash val="solid"/>
          </a:ln>
        </p:spPr>
      </p:sp>
      <p:sp>
        <p:nvSpPr>
          <p:cNvPr id="22" name="Shape 20"/>
          <p:cNvSpPr/>
          <p:nvPr/>
        </p:nvSpPr>
        <p:spPr>
          <a:xfrm>
            <a:off x="4769002" y="2487168"/>
            <a:ext cx="3034690" cy="38100"/>
          </a:xfrm>
          <a:prstGeom prst="rect">
            <a:avLst/>
          </a:prstGeom>
          <a:solidFill>
            <a:srgbClr val="33414F"/>
          </a:solidFill>
          <a:ln w="12700">
            <a:solidFill>
              <a:srgbClr val="33414F"/>
            </a:solidFill>
            <a:prstDash val="solid"/>
          </a:ln>
        </p:spPr>
      </p:sp>
      <p:sp>
        <p:nvSpPr>
          <p:cNvPr id="23" name="Text 21"/>
          <p:cNvSpPr/>
          <p:nvPr/>
        </p:nvSpPr>
        <p:spPr>
          <a:xfrm>
            <a:off x="4887874" y="2633472"/>
            <a:ext cx="2796946" cy="201168"/>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印发</a:t>
            </a:r>
            <a:endParaRPr lang="en-US" sz="950" dirty="0"/>
          </a:p>
        </p:txBody>
      </p:sp>
      <p:sp>
        <p:nvSpPr>
          <p:cNvPr id="24" name="Text 22"/>
          <p:cNvSpPr/>
          <p:nvPr/>
        </p:nvSpPr>
        <p:spPr>
          <a:xfrm>
            <a:off x="4887874" y="2871216"/>
            <a:ext cx="2796946" cy="274320"/>
          </a:xfrm>
          <a:prstGeom prst="rect">
            <a:avLst/>
          </a:prstGeom>
          <a:noFill/>
          <a:ln/>
        </p:spPr>
        <p:txBody>
          <a:bodyPr wrap="square" lIns="0" tIns="0" rIns="0" bIns="0" rtlCol="0" anchor="ctr"/>
          <a:lstStyle/>
          <a:p>
            <a:pPr indent="0" marL="0">
              <a:buNone/>
            </a:pPr>
            <a:r>
              <a:rPr lang="en-US" sz="1300" dirty="0">
                <a:solidFill>
                  <a:srgbClr val="0F1B2D"/>
                </a:solidFill>
                <a:latin typeface="Microsoft YaHei" pitchFamily="34" charset="0"/>
                <a:ea typeface="Microsoft YaHei" pitchFamily="34" charset="-122"/>
                <a:cs typeface="Microsoft YaHei" pitchFamily="34" charset="-120"/>
              </a:rPr>
              <a:t>教育部办公厅</a:t>
            </a:r>
            <a:endParaRPr lang="en-US" sz="1300" dirty="0"/>
          </a:p>
        </p:txBody>
      </p:sp>
      <p:sp>
        <p:nvSpPr>
          <p:cNvPr id="25" name="Shape 23"/>
          <p:cNvSpPr/>
          <p:nvPr/>
        </p:nvSpPr>
        <p:spPr>
          <a:xfrm>
            <a:off x="8114589" y="2487168"/>
            <a:ext cx="3162706" cy="786384"/>
          </a:xfrm>
          <a:prstGeom prst="roundRect">
            <a:avLst>
              <a:gd name="adj" fmla="val 10465"/>
            </a:avLst>
          </a:prstGeom>
          <a:solidFill>
            <a:srgbClr val="FFFFFF"/>
          </a:solidFill>
          <a:ln w="12700">
            <a:solidFill>
              <a:srgbClr val="E2E7F0"/>
            </a:solidFill>
            <a:prstDash val="solid"/>
          </a:ln>
        </p:spPr>
      </p:sp>
      <p:sp>
        <p:nvSpPr>
          <p:cNvPr id="26" name="Shape 24"/>
          <p:cNvSpPr/>
          <p:nvPr/>
        </p:nvSpPr>
        <p:spPr>
          <a:xfrm>
            <a:off x="8178597" y="2487168"/>
            <a:ext cx="3034690" cy="38100"/>
          </a:xfrm>
          <a:prstGeom prst="rect">
            <a:avLst/>
          </a:prstGeom>
          <a:solidFill>
            <a:srgbClr val="33414F"/>
          </a:solidFill>
          <a:ln w="12700">
            <a:solidFill>
              <a:srgbClr val="33414F"/>
            </a:solidFill>
            <a:prstDash val="solid"/>
          </a:ln>
        </p:spPr>
      </p:sp>
      <p:sp>
        <p:nvSpPr>
          <p:cNvPr id="27" name="Text 25"/>
          <p:cNvSpPr/>
          <p:nvPr/>
        </p:nvSpPr>
        <p:spPr>
          <a:xfrm>
            <a:off x="8297469" y="2633472"/>
            <a:ext cx="2796946" cy="201168"/>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日期</a:t>
            </a:r>
            <a:endParaRPr lang="en-US" sz="950" dirty="0"/>
          </a:p>
        </p:txBody>
      </p:sp>
      <p:sp>
        <p:nvSpPr>
          <p:cNvPr id="28" name="Text 26"/>
          <p:cNvSpPr/>
          <p:nvPr/>
        </p:nvSpPr>
        <p:spPr>
          <a:xfrm>
            <a:off x="8297469" y="2871216"/>
            <a:ext cx="2796946" cy="274320"/>
          </a:xfrm>
          <a:prstGeom prst="rect">
            <a:avLst/>
          </a:prstGeom>
          <a:noFill/>
          <a:ln/>
        </p:spPr>
        <p:txBody>
          <a:bodyPr wrap="square" lIns="0" tIns="0" rIns="0" bIns="0" rtlCol="0" anchor="ctr"/>
          <a:lstStyle/>
          <a:p>
            <a:pPr indent="0" marL="0">
              <a:buNone/>
            </a:pPr>
            <a:r>
              <a:rPr lang="en-US" sz="1300" dirty="0">
                <a:solidFill>
                  <a:srgbClr val="0F1B2D"/>
                </a:solidFill>
                <a:latin typeface="Microsoft YaHei" pitchFamily="34" charset="0"/>
                <a:ea typeface="Microsoft YaHei" pitchFamily="34" charset="-122"/>
                <a:cs typeface="Microsoft YaHei" pitchFamily="34" charset="-120"/>
              </a:rPr>
              <a:t>2026 年 7 月 29 日</a:t>
            </a:r>
            <a:endParaRPr lang="en-US" sz="1300" dirty="0"/>
          </a:p>
        </p:txBody>
      </p:sp>
      <p:sp>
        <p:nvSpPr>
          <p:cNvPr id="29" name="Text 27"/>
          <p:cNvSpPr/>
          <p:nvPr/>
        </p:nvSpPr>
        <p:spPr>
          <a:xfrm>
            <a:off x="1295400" y="3675888"/>
            <a:ext cx="9067495" cy="822960"/>
          </a:xfrm>
          <a:prstGeom prst="rect">
            <a:avLst/>
          </a:prstGeom>
          <a:noFill/>
          <a:ln/>
        </p:spPr>
        <p:txBody>
          <a:bodyPr wrap="square" lIns="0" tIns="0" rIns="0" bIns="0" rtlCol="0" anchor="t"/>
          <a:lstStyle/>
          <a:p>
            <a:pPr indent="0" marL="0">
              <a:lnSpc>
                <a:spcPct val="140000"/>
              </a:lnSpc>
              <a:buNone/>
            </a:pPr>
            <a:r>
              <a:rPr lang="en-US" sz="1600" dirty="0">
                <a:solidFill>
                  <a:srgbClr val="1A2029"/>
                </a:solidFill>
                <a:latin typeface="Microsoft YaHei" pitchFamily="34" charset="0"/>
                <a:ea typeface="Microsoft YaHei" pitchFamily="34" charset="-122"/>
                <a:cs typeface="Microsoft YaHei" pitchFamily="34" charset="-120"/>
              </a:rPr>
              <a:t>据人民日报 2026 年 8 月 5 日 06 版，今年 9 月开学起，领航行动将在全国的小学、初中全面开展。</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66725" y="847725"/>
            <a:ext cx="133350" cy="133350"/>
          </a:xfrm>
          <a:prstGeom prst="ellipse">
            <a:avLst/>
          </a:prstGeom>
          <a:solidFill>
            <a:srgbClr val="B0472A"/>
          </a:solidFill>
          <a:ln w="25400">
            <a:solidFill>
              <a:srgbClr val="B0472A"/>
            </a:solidFill>
            <a:prstDash val="solid"/>
          </a:ln>
        </p:spPr>
      </p:sp>
      <p:sp>
        <p:nvSpPr>
          <p:cNvPr id="4" name="Shape 2"/>
          <p:cNvSpPr/>
          <p:nvPr/>
        </p:nvSpPr>
        <p:spPr>
          <a:xfrm>
            <a:off x="485775" y="1566182"/>
            <a:ext cx="95250" cy="95250"/>
          </a:xfrm>
          <a:prstGeom prst="ellipse">
            <a:avLst/>
          </a:prstGeom>
          <a:solidFill>
            <a:srgbClr val="FFFFFF"/>
          </a:solidFill>
          <a:ln w="25400">
            <a:solidFill>
              <a:srgbClr val="E2E7F0"/>
            </a:solidFill>
            <a:prstDash val="solid"/>
          </a:ln>
        </p:spPr>
      </p:sp>
      <p:sp>
        <p:nvSpPr>
          <p:cNvPr id="5" name="Shape 3"/>
          <p:cNvSpPr/>
          <p:nvPr/>
        </p:nvSpPr>
        <p:spPr>
          <a:xfrm>
            <a:off x="485775" y="2265589"/>
            <a:ext cx="95250" cy="95250"/>
          </a:xfrm>
          <a:prstGeom prst="ellipse">
            <a:avLst/>
          </a:prstGeom>
          <a:solidFill>
            <a:srgbClr val="FFFFFF"/>
          </a:solidFill>
          <a:ln w="25400">
            <a:solidFill>
              <a:srgbClr val="E2E7F0"/>
            </a:solidFill>
            <a:prstDash val="solid"/>
          </a:ln>
        </p:spPr>
      </p:sp>
      <p:sp>
        <p:nvSpPr>
          <p:cNvPr id="6" name="Shape 4"/>
          <p:cNvSpPr/>
          <p:nvPr/>
        </p:nvSpPr>
        <p:spPr>
          <a:xfrm>
            <a:off x="485775" y="2964996"/>
            <a:ext cx="95250" cy="95250"/>
          </a:xfrm>
          <a:prstGeom prst="ellipse">
            <a:avLst/>
          </a:prstGeom>
          <a:solidFill>
            <a:srgbClr val="FFFFFF"/>
          </a:solidFill>
          <a:ln w="25400">
            <a:solidFill>
              <a:srgbClr val="E2E7F0"/>
            </a:solidFill>
            <a:prstDash val="solid"/>
          </a:ln>
        </p:spPr>
      </p:sp>
      <p:sp>
        <p:nvSpPr>
          <p:cNvPr id="7" name="Shape 5"/>
          <p:cNvSpPr/>
          <p:nvPr/>
        </p:nvSpPr>
        <p:spPr>
          <a:xfrm>
            <a:off x="485775" y="3664404"/>
            <a:ext cx="95250" cy="95250"/>
          </a:xfrm>
          <a:prstGeom prst="ellipse">
            <a:avLst/>
          </a:prstGeom>
          <a:solidFill>
            <a:srgbClr val="FFFFFF"/>
          </a:solidFill>
          <a:ln w="25400">
            <a:solidFill>
              <a:srgbClr val="E2E7F0"/>
            </a:solidFill>
            <a:prstDash val="solid"/>
          </a:ln>
        </p:spPr>
      </p:sp>
      <p:sp>
        <p:nvSpPr>
          <p:cNvPr id="8" name="Shape 6"/>
          <p:cNvSpPr/>
          <p:nvPr/>
        </p:nvSpPr>
        <p:spPr>
          <a:xfrm>
            <a:off x="485775" y="4363811"/>
            <a:ext cx="95250" cy="95250"/>
          </a:xfrm>
          <a:prstGeom prst="ellipse">
            <a:avLst/>
          </a:prstGeom>
          <a:solidFill>
            <a:srgbClr val="FFFFFF"/>
          </a:solidFill>
          <a:ln w="25400">
            <a:solidFill>
              <a:srgbClr val="E2E7F0"/>
            </a:solidFill>
            <a:prstDash val="solid"/>
          </a:ln>
        </p:spPr>
      </p:sp>
      <p:sp>
        <p:nvSpPr>
          <p:cNvPr id="9" name="Shape 7"/>
          <p:cNvSpPr/>
          <p:nvPr/>
        </p:nvSpPr>
        <p:spPr>
          <a:xfrm>
            <a:off x="485775" y="5063218"/>
            <a:ext cx="95250" cy="95250"/>
          </a:xfrm>
          <a:prstGeom prst="ellipse">
            <a:avLst/>
          </a:prstGeom>
          <a:solidFill>
            <a:srgbClr val="FFFFFF"/>
          </a:solidFill>
          <a:ln w="25400">
            <a:solidFill>
              <a:srgbClr val="E2E7F0"/>
            </a:solidFill>
            <a:prstDash val="solid"/>
          </a:ln>
        </p:spPr>
      </p:sp>
      <p:sp>
        <p:nvSpPr>
          <p:cNvPr id="10" name="Shape 8"/>
          <p:cNvSpPr/>
          <p:nvPr/>
        </p:nvSpPr>
        <p:spPr>
          <a:xfrm>
            <a:off x="485775" y="5762625"/>
            <a:ext cx="95250" cy="95250"/>
          </a:xfrm>
          <a:prstGeom prst="ellipse">
            <a:avLst/>
          </a:prstGeom>
          <a:solidFill>
            <a:srgbClr val="FFFFFF"/>
          </a:solidFill>
          <a:ln w="25400">
            <a:solidFill>
              <a:srgbClr val="E2E7F0"/>
            </a:solidFill>
            <a:prstDash val="solid"/>
          </a:ln>
        </p:spPr>
      </p:sp>
      <p:sp>
        <p:nvSpPr>
          <p:cNvPr id="11" name="Text 9"/>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开</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场</a:t>
            </a:r>
            <a:endParaRPr lang="en-US" sz="900" dirty="0"/>
          </a:p>
        </p:txBody>
      </p:sp>
      <p:sp>
        <p:nvSpPr>
          <p:cNvPr id="12" name="Text 10"/>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03</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44</a:t>
            </a:r>
            <a:endParaRPr lang="en-US" sz="1000" dirty="0"/>
          </a:p>
        </p:txBody>
      </p:sp>
      <p:sp>
        <p:nvSpPr>
          <p:cNvPr id="13" name="Text 11"/>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4" name="Text 12"/>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开场　·　领航行动指南与本课程的关系</a:t>
            </a:r>
            <a:endParaRPr lang="en-US" sz="1000" dirty="0"/>
          </a:p>
        </p:txBody>
      </p:sp>
      <p:sp>
        <p:nvSpPr>
          <p:cNvPr id="15" name="Text 13"/>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指南对学习过程的要求</a:t>
            </a:r>
            <a:endParaRPr lang="en-US" sz="3200" dirty="0"/>
          </a:p>
        </p:txBody>
      </p:sp>
      <p:sp>
        <p:nvSpPr>
          <p:cNvPr id="16" name="Shape 14"/>
          <p:cNvSpPr/>
          <p:nvPr/>
        </p:nvSpPr>
        <p:spPr>
          <a:xfrm>
            <a:off x="1295400" y="1860804"/>
            <a:ext cx="9981895" cy="1298448"/>
          </a:xfrm>
          <a:prstGeom prst="roundRect">
            <a:avLst>
              <a:gd name="adj" fmla="val 6338"/>
            </a:avLst>
          </a:prstGeom>
          <a:solidFill>
            <a:srgbClr val="FFFFFF"/>
          </a:solidFill>
          <a:ln w="12700">
            <a:solidFill>
              <a:srgbClr val="E2E7F0"/>
            </a:solidFill>
            <a:prstDash val="solid"/>
          </a:ln>
        </p:spPr>
      </p:sp>
      <p:sp>
        <p:nvSpPr>
          <p:cNvPr id="17" name="Shape 15"/>
          <p:cNvSpPr/>
          <p:nvPr/>
        </p:nvSpPr>
        <p:spPr>
          <a:xfrm>
            <a:off x="1295400" y="1915668"/>
            <a:ext cx="38100" cy="1188720"/>
          </a:xfrm>
          <a:prstGeom prst="rect">
            <a:avLst/>
          </a:prstGeom>
          <a:solidFill>
            <a:srgbClr val="33414F"/>
          </a:solidFill>
          <a:ln w="12700">
            <a:solidFill>
              <a:srgbClr val="33414F"/>
            </a:solidFill>
            <a:prstDash val="solid"/>
          </a:ln>
        </p:spPr>
      </p:sp>
      <p:sp>
        <p:nvSpPr>
          <p:cNvPr id="18" name="Text 16"/>
          <p:cNvSpPr/>
          <p:nvPr/>
        </p:nvSpPr>
        <p:spPr>
          <a:xfrm>
            <a:off x="1551432" y="2007108"/>
            <a:ext cx="9469831" cy="1005840"/>
          </a:xfrm>
          <a:prstGeom prst="rect">
            <a:avLst/>
          </a:prstGeom>
          <a:noFill/>
          <a:ln/>
        </p:spPr>
        <p:txBody>
          <a:bodyPr wrap="square" lIns="0" tIns="0" rIns="0" bIns="0" rtlCol="0" anchor="t"/>
          <a:lstStyle/>
          <a:p>
            <a:pPr indent="0" marL="0">
              <a:lnSpc>
                <a:spcPct val="160000"/>
              </a:lnSpc>
              <a:buNone/>
            </a:pPr>
            <a:r>
              <a:rPr lang="en-US" sz="1500" dirty="0">
                <a:solidFill>
                  <a:srgbClr val="1A2029"/>
                </a:solidFill>
                <a:latin typeface="Microsoft YaHei" pitchFamily="34" charset="0"/>
                <a:ea typeface="Microsoft YaHei" pitchFamily="34" charset="-122"/>
                <a:cs typeface="Microsoft YaHei" pitchFamily="34" charset="-120"/>
              </a:rPr>
              <a:t>通过提出问题和假设、设计方案、搜集分析证据、得出结论并解释、制作改进、交流反思等过程，形成初步的科学观念，掌握基本的科学方法，具有初步的科学思维能力，树立基本的科学态度，具有正确的价值观和社会责任感。</a:t>
            </a:r>
            <a:endParaRPr lang="en-US" sz="1500" dirty="0"/>
          </a:p>
        </p:txBody>
      </p:sp>
      <p:sp>
        <p:nvSpPr>
          <p:cNvPr id="19" name="Text 17"/>
          <p:cNvSpPr/>
          <p:nvPr/>
        </p:nvSpPr>
        <p:spPr>
          <a:xfrm>
            <a:off x="1295400" y="3287268"/>
            <a:ext cx="9981895" cy="256032"/>
          </a:xfrm>
          <a:prstGeom prst="rect">
            <a:avLst/>
          </a:prstGeom>
          <a:noFill/>
          <a:ln/>
        </p:spPr>
        <p:txBody>
          <a:bodyPr wrap="square" lIns="0" tIns="0" rIns="0" bIns="0" rtlCol="0" anchor="ctr"/>
          <a:lstStyle/>
          <a:p>
            <a:pPr indent="0" marL="0">
              <a:buNone/>
            </a:pPr>
            <a:r>
              <a:rPr lang="en-US" sz="1000" dirty="0">
                <a:solidFill>
                  <a:srgbClr val="5B6470"/>
                </a:solidFill>
                <a:latin typeface="Microsoft YaHei" pitchFamily="34" charset="0"/>
                <a:ea typeface="Microsoft YaHei" pitchFamily="34" charset="-122"/>
                <a:cs typeface="Microsoft YaHei" pitchFamily="34" charset="-120"/>
              </a:rPr>
              <a:t>《义务教育阶段科学教育“做中学”领航行动指南》，教监管厅〔2026〕1 号</a:t>
            </a:r>
            <a:endParaRPr lang="en-US" sz="1000" dirty="0"/>
          </a:p>
        </p:txBody>
      </p:sp>
      <p:sp>
        <p:nvSpPr>
          <p:cNvPr id="20" name="Shape 18"/>
          <p:cNvSpPr/>
          <p:nvPr/>
        </p:nvSpPr>
        <p:spPr>
          <a:xfrm>
            <a:off x="1295400" y="3913632"/>
            <a:ext cx="1549349" cy="786384"/>
          </a:xfrm>
          <a:prstGeom prst="roundRect">
            <a:avLst>
              <a:gd name="adj" fmla="val 10465"/>
            </a:avLst>
          </a:prstGeom>
          <a:solidFill>
            <a:srgbClr val="FFFFFF"/>
          </a:solidFill>
          <a:ln w="12700">
            <a:solidFill>
              <a:srgbClr val="E2E7F0"/>
            </a:solidFill>
            <a:prstDash val="solid"/>
          </a:ln>
        </p:spPr>
      </p:sp>
      <p:sp>
        <p:nvSpPr>
          <p:cNvPr id="21" name="Shape 19"/>
          <p:cNvSpPr/>
          <p:nvPr/>
        </p:nvSpPr>
        <p:spPr>
          <a:xfrm>
            <a:off x="1359408" y="3913632"/>
            <a:ext cx="1421333" cy="38100"/>
          </a:xfrm>
          <a:prstGeom prst="rect">
            <a:avLst/>
          </a:prstGeom>
          <a:solidFill>
            <a:srgbClr val="33414F"/>
          </a:solidFill>
          <a:ln w="12700">
            <a:solidFill>
              <a:srgbClr val="33414F"/>
            </a:solidFill>
            <a:prstDash val="solid"/>
          </a:ln>
        </p:spPr>
      </p:sp>
      <p:sp>
        <p:nvSpPr>
          <p:cNvPr id="22" name="Text 20"/>
          <p:cNvSpPr/>
          <p:nvPr/>
        </p:nvSpPr>
        <p:spPr>
          <a:xfrm>
            <a:off x="1423416" y="4059936"/>
            <a:ext cx="1293317" cy="182880"/>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一</a:t>
            </a:r>
            <a:endParaRPr lang="en-US" sz="950" dirty="0"/>
          </a:p>
        </p:txBody>
      </p:sp>
      <p:sp>
        <p:nvSpPr>
          <p:cNvPr id="23" name="Text 21"/>
          <p:cNvSpPr/>
          <p:nvPr/>
        </p:nvSpPr>
        <p:spPr>
          <a:xfrm>
            <a:off x="1423416" y="4261104"/>
            <a:ext cx="1293317" cy="365760"/>
          </a:xfrm>
          <a:prstGeom prst="rect">
            <a:avLst/>
          </a:prstGeom>
          <a:noFill/>
          <a:ln/>
        </p:spPr>
        <p:txBody>
          <a:bodyPr wrap="square" lIns="0" tIns="0" rIns="0" bIns="0" rtlCol="0" anchor="t"/>
          <a:lstStyle/>
          <a:p>
            <a:pPr indent="0" marL="0">
              <a:lnSpc>
                <a:spcPct val="120000"/>
              </a:lnSpc>
              <a:buNone/>
            </a:pPr>
            <a:r>
              <a:rPr lang="en-US" sz="1150" b="1" dirty="0">
                <a:solidFill>
                  <a:srgbClr val="0F1B2D"/>
                </a:solidFill>
                <a:latin typeface="Microsoft YaHei" pitchFamily="34" charset="0"/>
                <a:ea typeface="Microsoft YaHei" pitchFamily="34" charset="-122"/>
                <a:cs typeface="Microsoft YaHei" pitchFamily="34" charset="-120"/>
              </a:rPr>
              <a:t>提出问题和假设</a:t>
            </a:r>
            <a:endParaRPr lang="en-US" sz="1150" dirty="0"/>
          </a:p>
        </p:txBody>
      </p:sp>
      <p:sp>
        <p:nvSpPr>
          <p:cNvPr id="24" name="Shape 22"/>
          <p:cNvSpPr/>
          <p:nvPr/>
        </p:nvSpPr>
        <p:spPr>
          <a:xfrm>
            <a:off x="2981909" y="3913632"/>
            <a:ext cx="1549349" cy="786384"/>
          </a:xfrm>
          <a:prstGeom prst="roundRect">
            <a:avLst>
              <a:gd name="adj" fmla="val 10465"/>
            </a:avLst>
          </a:prstGeom>
          <a:solidFill>
            <a:srgbClr val="FFFFFF"/>
          </a:solidFill>
          <a:ln w="12700">
            <a:solidFill>
              <a:srgbClr val="E2E7F0"/>
            </a:solidFill>
            <a:prstDash val="solid"/>
          </a:ln>
        </p:spPr>
      </p:sp>
      <p:sp>
        <p:nvSpPr>
          <p:cNvPr id="25" name="Shape 23"/>
          <p:cNvSpPr/>
          <p:nvPr/>
        </p:nvSpPr>
        <p:spPr>
          <a:xfrm>
            <a:off x="3045917" y="3913632"/>
            <a:ext cx="1421333" cy="38100"/>
          </a:xfrm>
          <a:prstGeom prst="rect">
            <a:avLst/>
          </a:prstGeom>
          <a:solidFill>
            <a:srgbClr val="33414F"/>
          </a:solidFill>
          <a:ln w="12700">
            <a:solidFill>
              <a:srgbClr val="33414F"/>
            </a:solidFill>
            <a:prstDash val="solid"/>
          </a:ln>
        </p:spPr>
      </p:sp>
      <p:sp>
        <p:nvSpPr>
          <p:cNvPr id="26" name="Text 24"/>
          <p:cNvSpPr/>
          <p:nvPr/>
        </p:nvSpPr>
        <p:spPr>
          <a:xfrm>
            <a:off x="3109925" y="4059936"/>
            <a:ext cx="1293317" cy="182880"/>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二</a:t>
            </a:r>
            <a:endParaRPr lang="en-US" sz="950" dirty="0"/>
          </a:p>
        </p:txBody>
      </p:sp>
      <p:sp>
        <p:nvSpPr>
          <p:cNvPr id="27" name="Text 25"/>
          <p:cNvSpPr/>
          <p:nvPr/>
        </p:nvSpPr>
        <p:spPr>
          <a:xfrm>
            <a:off x="3109925" y="4261104"/>
            <a:ext cx="1293317" cy="365760"/>
          </a:xfrm>
          <a:prstGeom prst="rect">
            <a:avLst/>
          </a:prstGeom>
          <a:noFill/>
          <a:ln/>
        </p:spPr>
        <p:txBody>
          <a:bodyPr wrap="square" lIns="0" tIns="0" rIns="0" bIns="0" rtlCol="0" anchor="t"/>
          <a:lstStyle/>
          <a:p>
            <a:pPr indent="0" marL="0">
              <a:lnSpc>
                <a:spcPct val="120000"/>
              </a:lnSpc>
              <a:buNone/>
            </a:pPr>
            <a:r>
              <a:rPr lang="en-US" sz="1150" b="1" dirty="0">
                <a:solidFill>
                  <a:srgbClr val="0F1B2D"/>
                </a:solidFill>
                <a:latin typeface="Microsoft YaHei" pitchFamily="34" charset="0"/>
                <a:ea typeface="Microsoft YaHei" pitchFamily="34" charset="-122"/>
                <a:cs typeface="Microsoft YaHei" pitchFamily="34" charset="-120"/>
              </a:rPr>
              <a:t>设计方案</a:t>
            </a:r>
            <a:endParaRPr lang="en-US" sz="1150" dirty="0"/>
          </a:p>
        </p:txBody>
      </p:sp>
      <p:sp>
        <p:nvSpPr>
          <p:cNvPr id="28" name="Shape 26"/>
          <p:cNvSpPr/>
          <p:nvPr/>
        </p:nvSpPr>
        <p:spPr>
          <a:xfrm>
            <a:off x="4668418" y="3913632"/>
            <a:ext cx="1549349" cy="786384"/>
          </a:xfrm>
          <a:prstGeom prst="roundRect">
            <a:avLst>
              <a:gd name="adj" fmla="val 10465"/>
            </a:avLst>
          </a:prstGeom>
          <a:solidFill>
            <a:srgbClr val="FFFFFF"/>
          </a:solidFill>
          <a:ln w="12700">
            <a:solidFill>
              <a:srgbClr val="E2E7F0"/>
            </a:solidFill>
            <a:prstDash val="solid"/>
          </a:ln>
        </p:spPr>
      </p:sp>
      <p:sp>
        <p:nvSpPr>
          <p:cNvPr id="29" name="Shape 27"/>
          <p:cNvSpPr/>
          <p:nvPr/>
        </p:nvSpPr>
        <p:spPr>
          <a:xfrm>
            <a:off x="4732426" y="3913632"/>
            <a:ext cx="1421333" cy="38100"/>
          </a:xfrm>
          <a:prstGeom prst="rect">
            <a:avLst/>
          </a:prstGeom>
          <a:solidFill>
            <a:srgbClr val="33414F"/>
          </a:solidFill>
          <a:ln w="12700">
            <a:solidFill>
              <a:srgbClr val="33414F"/>
            </a:solidFill>
            <a:prstDash val="solid"/>
          </a:ln>
        </p:spPr>
      </p:sp>
      <p:sp>
        <p:nvSpPr>
          <p:cNvPr id="30" name="Text 28"/>
          <p:cNvSpPr/>
          <p:nvPr/>
        </p:nvSpPr>
        <p:spPr>
          <a:xfrm>
            <a:off x="4796434" y="4059936"/>
            <a:ext cx="1293317" cy="182880"/>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三</a:t>
            </a:r>
            <a:endParaRPr lang="en-US" sz="950" dirty="0"/>
          </a:p>
        </p:txBody>
      </p:sp>
      <p:sp>
        <p:nvSpPr>
          <p:cNvPr id="31" name="Text 29"/>
          <p:cNvSpPr/>
          <p:nvPr/>
        </p:nvSpPr>
        <p:spPr>
          <a:xfrm>
            <a:off x="4796434" y="4261104"/>
            <a:ext cx="1293317" cy="365760"/>
          </a:xfrm>
          <a:prstGeom prst="rect">
            <a:avLst/>
          </a:prstGeom>
          <a:noFill/>
          <a:ln/>
        </p:spPr>
        <p:txBody>
          <a:bodyPr wrap="square" lIns="0" tIns="0" rIns="0" bIns="0" rtlCol="0" anchor="t"/>
          <a:lstStyle/>
          <a:p>
            <a:pPr indent="0" marL="0">
              <a:lnSpc>
                <a:spcPct val="120000"/>
              </a:lnSpc>
              <a:buNone/>
            </a:pPr>
            <a:r>
              <a:rPr lang="en-US" sz="1150" b="1" dirty="0">
                <a:solidFill>
                  <a:srgbClr val="0F1B2D"/>
                </a:solidFill>
                <a:latin typeface="Microsoft YaHei" pitchFamily="34" charset="0"/>
                <a:ea typeface="Microsoft YaHei" pitchFamily="34" charset="-122"/>
                <a:cs typeface="Microsoft YaHei" pitchFamily="34" charset="-120"/>
              </a:rPr>
              <a:t>搜集分析证据</a:t>
            </a:r>
            <a:endParaRPr lang="en-US" sz="1150" dirty="0"/>
          </a:p>
        </p:txBody>
      </p:sp>
      <p:sp>
        <p:nvSpPr>
          <p:cNvPr id="32" name="Shape 30"/>
          <p:cNvSpPr/>
          <p:nvPr/>
        </p:nvSpPr>
        <p:spPr>
          <a:xfrm>
            <a:off x="6354928" y="3913632"/>
            <a:ext cx="1549349" cy="786384"/>
          </a:xfrm>
          <a:prstGeom prst="roundRect">
            <a:avLst>
              <a:gd name="adj" fmla="val 10465"/>
            </a:avLst>
          </a:prstGeom>
          <a:solidFill>
            <a:srgbClr val="FFFFFF"/>
          </a:solidFill>
          <a:ln w="12700">
            <a:solidFill>
              <a:srgbClr val="E2E7F0"/>
            </a:solidFill>
            <a:prstDash val="solid"/>
          </a:ln>
        </p:spPr>
      </p:sp>
      <p:sp>
        <p:nvSpPr>
          <p:cNvPr id="33" name="Shape 31"/>
          <p:cNvSpPr/>
          <p:nvPr/>
        </p:nvSpPr>
        <p:spPr>
          <a:xfrm>
            <a:off x="6418936" y="3913632"/>
            <a:ext cx="1421333" cy="38100"/>
          </a:xfrm>
          <a:prstGeom prst="rect">
            <a:avLst/>
          </a:prstGeom>
          <a:solidFill>
            <a:srgbClr val="33414F"/>
          </a:solidFill>
          <a:ln w="12700">
            <a:solidFill>
              <a:srgbClr val="33414F"/>
            </a:solidFill>
            <a:prstDash val="solid"/>
          </a:ln>
        </p:spPr>
      </p:sp>
      <p:sp>
        <p:nvSpPr>
          <p:cNvPr id="34" name="Text 32"/>
          <p:cNvSpPr/>
          <p:nvPr/>
        </p:nvSpPr>
        <p:spPr>
          <a:xfrm>
            <a:off x="6482944" y="4059936"/>
            <a:ext cx="1293317" cy="182880"/>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四</a:t>
            </a:r>
            <a:endParaRPr lang="en-US" sz="950" dirty="0"/>
          </a:p>
        </p:txBody>
      </p:sp>
      <p:sp>
        <p:nvSpPr>
          <p:cNvPr id="35" name="Text 33"/>
          <p:cNvSpPr/>
          <p:nvPr/>
        </p:nvSpPr>
        <p:spPr>
          <a:xfrm>
            <a:off x="6482944" y="4261104"/>
            <a:ext cx="1293317" cy="365760"/>
          </a:xfrm>
          <a:prstGeom prst="rect">
            <a:avLst/>
          </a:prstGeom>
          <a:noFill/>
          <a:ln/>
        </p:spPr>
        <p:txBody>
          <a:bodyPr wrap="square" lIns="0" tIns="0" rIns="0" bIns="0" rtlCol="0" anchor="t"/>
          <a:lstStyle/>
          <a:p>
            <a:pPr indent="0" marL="0">
              <a:lnSpc>
                <a:spcPct val="120000"/>
              </a:lnSpc>
              <a:buNone/>
            </a:pPr>
            <a:r>
              <a:rPr lang="en-US" sz="1150" b="1" dirty="0">
                <a:solidFill>
                  <a:srgbClr val="0F1B2D"/>
                </a:solidFill>
                <a:latin typeface="Microsoft YaHei" pitchFamily="34" charset="0"/>
                <a:ea typeface="Microsoft YaHei" pitchFamily="34" charset="-122"/>
                <a:cs typeface="Microsoft YaHei" pitchFamily="34" charset="-120"/>
              </a:rPr>
              <a:t>得出结论并解释</a:t>
            </a:r>
            <a:endParaRPr lang="en-US" sz="1150" dirty="0"/>
          </a:p>
        </p:txBody>
      </p:sp>
      <p:sp>
        <p:nvSpPr>
          <p:cNvPr id="36" name="Shape 34"/>
          <p:cNvSpPr/>
          <p:nvPr/>
        </p:nvSpPr>
        <p:spPr>
          <a:xfrm>
            <a:off x="8041437" y="3913632"/>
            <a:ext cx="1549349" cy="786384"/>
          </a:xfrm>
          <a:prstGeom prst="roundRect">
            <a:avLst>
              <a:gd name="adj" fmla="val 10465"/>
            </a:avLst>
          </a:prstGeom>
          <a:solidFill>
            <a:srgbClr val="FFFFFF"/>
          </a:solidFill>
          <a:ln w="12700">
            <a:solidFill>
              <a:srgbClr val="E2E7F0"/>
            </a:solidFill>
            <a:prstDash val="solid"/>
          </a:ln>
        </p:spPr>
      </p:sp>
      <p:sp>
        <p:nvSpPr>
          <p:cNvPr id="37" name="Shape 35"/>
          <p:cNvSpPr/>
          <p:nvPr/>
        </p:nvSpPr>
        <p:spPr>
          <a:xfrm>
            <a:off x="8105445" y="3913632"/>
            <a:ext cx="1421333" cy="38100"/>
          </a:xfrm>
          <a:prstGeom prst="rect">
            <a:avLst/>
          </a:prstGeom>
          <a:solidFill>
            <a:srgbClr val="33414F"/>
          </a:solidFill>
          <a:ln w="12700">
            <a:solidFill>
              <a:srgbClr val="33414F"/>
            </a:solidFill>
            <a:prstDash val="solid"/>
          </a:ln>
        </p:spPr>
      </p:sp>
      <p:sp>
        <p:nvSpPr>
          <p:cNvPr id="38" name="Text 36"/>
          <p:cNvSpPr/>
          <p:nvPr/>
        </p:nvSpPr>
        <p:spPr>
          <a:xfrm>
            <a:off x="8169453" y="4059936"/>
            <a:ext cx="1293317" cy="182880"/>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五</a:t>
            </a:r>
            <a:endParaRPr lang="en-US" sz="950" dirty="0"/>
          </a:p>
        </p:txBody>
      </p:sp>
      <p:sp>
        <p:nvSpPr>
          <p:cNvPr id="39" name="Text 37"/>
          <p:cNvSpPr/>
          <p:nvPr/>
        </p:nvSpPr>
        <p:spPr>
          <a:xfrm>
            <a:off x="8169453" y="4261104"/>
            <a:ext cx="1293317" cy="365760"/>
          </a:xfrm>
          <a:prstGeom prst="rect">
            <a:avLst/>
          </a:prstGeom>
          <a:noFill/>
          <a:ln/>
        </p:spPr>
        <p:txBody>
          <a:bodyPr wrap="square" lIns="0" tIns="0" rIns="0" bIns="0" rtlCol="0" anchor="t"/>
          <a:lstStyle/>
          <a:p>
            <a:pPr indent="0" marL="0">
              <a:lnSpc>
                <a:spcPct val="120000"/>
              </a:lnSpc>
              <a:buNone/>
            </a:pPr>
            <a:r>
              <a:rPr lang="en-US" sz="1150" b="1" dirty="0">
                <a:solidFill>
                  <a:srgbClr val="0F1B2D"/>
                </a:solidFill>
                <a:latin typeface="Microsoft YaHei" pitchFamily="34" charset="0"/>
                <a:ea typeface="Microsoft YaHei" pitchFamily="34" charset="-122"/>
                <a:cs typeface="Microsoft YaHei" pitchFamily="34" charset="-120"/>
              </a:rPr>
              <a:t>制作改进</a:t>
            </a:r>
            <a:endParaRPr lang="en-US" sz="1150" dirty="0"/>
          </a:p>
        </p:txBody>
      </p:sp>
      <p:sp>
        <p:nvSpPr>
          <p:cNvPr id="40" name="Shape 38"/>
          <p:cNvSpPr/>
          <p:nvPr/>
        </p:nvSpPr>
        <p:spPr>
          <a:xfrm>
            <a:off x="9727946" y="3913632"/>
            <a:ext cx="1549349" cy="786384"/>
          </a:xfrm>
          <a:prstGeom prst="roundRect">
            <a:avLst>
              <a:gd name="adj" fmla="val 10465"/>
            </a:avLst>
          </a:prstGeom>
          <a:solidFill>
            <a:srgbClr val="FFFFFF"/>
          </a:solidFill>
          <a:ln w="12700">
            <a:solidFill>
              <a:srgbClr val="E2E7F0"/>
            </a:solidFill>
            <a:prstDash val="solid"/>
          </a:ln>
        </p:spPr>
      </p:sp>
      <p:sp>
        <p:nvSpPr>
          <p:cNvPr id="41" name="Shape 39"/>
          <p:cNvSpPr/>
          <p:nvPr/>
        </p:nvSpPr>
        <p:spPr>
          <a:xfrm>
            <a:off x="9791954" y="3913632"/>
            <a:ext cx="1421333" cy="38100"/>
          </a:xfrm>
          <a:prstGeom prst="rect">
            <a:avLst/>
          </a:prstGeom>
          <a:solidFill>
            <a:srgbClr val="33414F"/>
          </a:solidFill>
          <a:ln w="12700">
            <a:solidFill>
              <a:srgbClr val="33414F"/>
            </a:solidFill>
            <a:prstDash val="solid"/>
          </a:ln>
        </p:spPr>
      </p:sp>
      <p:sp>
        <p:nvSpPr>
          <p:cNvPr id="42" name="Text 40"/>
          <p:cNvSpPr/>
          <p:nvPr/>
        </p:nvSpPr>
        <p:spPr>
          <a:xfrm>
            <a:off x="9855962" y="4059936"/>
            <a:ext cx="1293317" cy="182880"/>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六</a:t>
            </a:r>
            <a:endParaRPr lang="en-US" sz="950" dirty="0"/>
          </a:p>
        </p:txBody>
      </p:sp>
      <p:sp>
        <p:nvSpPr>
          <p:cNvPr id="43" name="Text 41"/>
          <p:cNvSpPr/>
          <p:nvPr/>
        </p:nvSpPr>
        <p:spPr>
          <a:xfrm>
            <a:off x="9855962" y="4261104"/>
            <a:ext cx="1293317" cy="365760"/>
          </a:xfrm>
          <a:prstGeom prst="rect">
            <a:avLst/>
          </a:prstGeom>
          <a:noFill/>
          <a:ln/>
        </p:spPr>
        <p:txBody>
          <a:bodyPr wrap="square" lIns="0" tIns="0" rIns="0" bIns="0" rtlCol="0" anchor="t"/>
          <a:lstStyle/>
          <a:p>
            <a:pPr indent="0" marL="0">
              <a:lnSpc>
                <a:spcPct val="120000"/>
              </a:lnSpc>
              <a:buNone/>
            </a:pPr>
            <a:r>
              <a:rPr lang="en-US" sz="1150" b="1" dirty="0">
                <a:solidFill>
                  <a:srgbClr val="0F1B2D"/>
                </a:solidFill>
                <a:latin typeface="Microsoft YaHei" pitchFamily="34" charset="0"/>
                <a:ea typeface="Microsoft YaHei" pitchFamily="34" charset="-122"/>
                <a:cs typeface="Microsoft YaHei" pitchFamily="34" charset="-120"/>
              </a:rPr>
              <a:t>交流反思</a:t>
            </a:r>
            <a:endParaRPr lang="en-US" sz="1150" dirty="0"/>
          </a:p>
        </p:txBody>
      </p:sp>
      <p:sp>
        <p:nvSpPr>
          <p:cNvPr id="44" name="Shape 42"/>
          <p:cNvSpPr/>
          <p:nvPr/>
        </p:nvSpPr>
        <p:spPr>
          <a:xfrm>
            <a:off x="1295400" y="5888736"/>
            <a:ext cx="9981895" cy="0"/>
          </a:xfrm>
          <a:prstGeom prst="line">
            <a:avLst/>
          </a:prstGeom>
          <a:noFill/>
          <a:ln w="12700">
            <a:solidFill>
              <a:srgbClr val="E2E7F0"/>
            </a:solidFill>
            <a:prstDash val="solid"/>
          </a:ln>
        </p:spPr>
      </p:sp>
      <p:sp>
        <p:nvSpPr>
          <p:cNvPr id="45" name="Text 43"/>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B6470"/>
                </a:solidFill>
                <a:latin typeface="Microsoft YaHei" pitchFamily="34" charset="0"/>
                <a:ea typeface="Microsoft YaHei" pitchFamily="34" charset="-122"/>
                <a:cs typeface="Microsoft YaHei" pitchFamily="34" charset="-120"/>
              </a:rPr>
              <a:t>1－3 年级完成科学课程规定的探究实践活动即可，不另作要求。</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66725" y="1547132"/>
            <a:ext cx="133350" cy="133350"/>
          </a:xfrm>
          <a:prstGeom prst="ellipse">
            <a:avLst/>
          </a:prstGeom>
          <a:solidFill>
            <a:srgbClr val="B0472A"/>
          </a:solidFill>
          <a:ln w="25400">
            <a:solidFill>
              <a:srgbClr val="B0472A"/>
            </a:solidFill>
            <a:prstDash val="solid"/>
          </a:ln>
        </p:spPr>
      </p:sp>
      <p:sp>
        <p:nvSpPr>
          <p:cNvPr id="5" name="Shape 3"/>
          <p:cNvSpPr/>
          <p:nvPr/>
        </p:nvSpPr>
        <p:spPr>
          <a:xfrm>
            <a:off x="485775" y="2265589"/>
            <a:ext cx="95250" cy="95250"/>
          </a:xfrm>
          <a:prstGeom prst="ellipse">
            <a:avLst/>
          </a:prstGeom>
          <a:solidFill>
            <a:srgbClr val="FFFFFF"/>
          </a:solidFill>
          <a:ln w="25400">
            <a:solidFill>
              <a:srgbClr val="E2E7F0"/>
            </a:solidFill>
            <a:prstDash val="solid"/>
          </a:ln>
        </p:spPr>
      </p:sp>
      <p:sp>
        <p:nvSpPr>
          <p:cNvPr id="6" name="Shape 4"/>
          <p:cNvSpPr/>
          <p:nvPr/>
        </p:nvSpPr>
        <p:spPr>
          <a:xfrm>
            <a:off x="485775" y="2964996"/>
            <a:ext cx="95250" cy="95250"/>
          </a:xfrm>
          <a:prstGeom prst="ellipse">
            <a:avLst/>
          </a:prstGeom>
          <a:solidFill>
            <a:srgbClr val="FFFFFF"/>
          </a:solidFill>
          <a:ln w="25400">
            <a:solidFill>
              <a:srgbClr val="E2E7F0"/>
            </a:solidFill>
            <a:prstDash val="solid"/>
          </a:ln>
        </p:spPr>
      </p:sp>
      <p:sp>
        <p:nvSpPr>
          <p:cNvPr id="7" name="Shape 5"/>
          <p:cNvSpPr/>
          <p:nvPr/>
        </p:nvSpPr>
        <p:spPr>
          <a:xfrm>
            <a:off x="485775" y="3664404"/>
            <a:ext cx="95250" cy="95250"/>
          </a:xfrm>
          <a:prstGeom prst="ellipse">
            <a:avLst/>
          </a:prstGeom>
          <a:solidFill>
            <a:srgbClr val="FFFFFF"/>
          </a:solidFill>
          <a:ln w="25400">
            <a:solidFill>
              <a:srgbClr val="E2E7F0"/>
            </a:solidFill>
            <a:prstDash val="solid"/>
          </a:ln>
        </p:spPr>
      </p:sp>
      <p:sp>
        <p:nvSpPr>
          <p:cNvPr id="8" name="Shape 6"/>
          <p:cNvSpPr/>
          <p:nvPr/>
        </p:nvSpPr>
        <p:spPr>
          <a:xfrm>
            <a:off x="485775" y="4363811"/>
            <a:ext cx="95250" cy="95250"/>
          </a:xfrm>
          <a:prstGeom prst="ellipse">
            <a:avLst/>
          </a:prstGeom>
          <a:solidFill>
            <a:srgbClr val="FFFFFF"/>
          </a:solidFill>
          <a:ln w="25400">
            <a:solidFill>
              <a:srgbClr val="E2E7F0"/>
            </a:solidFill>
            <a:prstDash val="solid"/>
          </a:ln>
        </p:spPr>
      </p:sp>
      <p:sp>
        <p:nvSpPr>
          <p:cNvPr id="9" name="Shape 7"/>
          <p:cNvSpPr/>
          <p:nvPr/>
        </p:nvSpPr>
        <p:spPr>
          <a:xfrm>
            <a:off x="485775" y="5063218"/>
            <a:ext cx="95250" cy="95250"/>
          </a:xfrm>
          <a:prstGeom prst="ellipse">
            <a:avLst/>
          </a:prstGeom>
          <a:solidFill>
            <a:srgbClr val="FFFFFF"/>
          </a:solidFill>
          <a:ln w="25400">
            <a:solidFill>
              <a:srgbClr val="E2E7F0"/>
            </a:solidFill>
            <a:prstDash val="solid"/>
          </a:ln>
        </p:spPr>
      </p:sp>
      <p:sp>
        <p:nvSpPr>
          <p:cNvPr id="10" name="Shape 8"/>
          <p:cNvSpPr/>
          <p:nvPr/>
        </p:nvSpPr>
        <p:spPr>
          <a:xfrm>
            <a:off x="485775" y="5762625"/>
            <a:ext cx="95250" cy="95250"/>
          </a:xfrm>
          <a:prstGeom prst="ellipse">
            <a:avLst/>
          </a:prstGeom>
          <a:solidFill>
            <a:srgbClr val="FFFFFF"/>
          </a:solidFill>
          <a:ln w="25400">
            <a:solidFill>
              <a:srgbClr val="E2E7F0"/>
            </a:solidFill>
            <a:prstDash val="solid"/>
          </a:ln>
        </p:spPr>
      </p:sp>
      <p:sp>
        <p:nvSpPr>
          <p:cNvPr id="11" name="Text 9"/>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一</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2" name="Text 10"/>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04</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44</a:t>
            </a:r>
            <a:endParaRPr lang="en-US" sz="1000" dirty="0"/>
          </a:p>
        </p:txBody>
      </p:sp>
      <p:sp>
        <p:nvSpPr>
          <p:cNvPr id="13" name="Text 11"/>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4" name="Text 12"/>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第一段　·　做中学对综合实践活动的覆盖范围</a:t>
            </a:r>
            <a:endParaRPr lang="en-US" sz="1000" dirty="0"/>
          </a:p>
        </p:txBody>
      </p:sp>
      <p:sp>
        <p:nvSpPr>
          <p:cNvPr id="15" name="Text 13"/>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综合实践活动的四目标与四方式</a:t>
            </a:r>
            <a:endParaRPr lang="en-US" sz="3200" dirty="0"/>
          </a:p>
        </p:txBody>
      </p:sp>
      <p:sp>
        <p:nvSpPr>
          <p:cNvPr id="16" name="Text 14"/>
          <p:cNvSpPr/>
          <p:nvPr/>
        </p:nvSpPr>
        <p:spPr>
          <a:xfrm>
            <a:off x="1295400" y="1860804"/>
            <a:ext cx="4762348" cy="201168"/>
          </a:xfrm>
          <a:prstGeom prst="rect">
            <a:avLst/>
          </a:prstGeom>
          <a:noFill/>
          <a:ln/>
        </p:spPr>
        <p:txBody>
          <a:bodyPr wrap="square" lIns="0" tIns="0" rIns="0" bIns="0" rtlCol="0" anchor="ctr"/>
          <a:lstStyle/>
          <a:p>
            <a:pPr indent="0" marL="0">
              <a:buNone/>
            </a:pPr>
            <a:r>
              <a:rPr lang="en-US" sz="950" spc="80" kern="0" dirty="0">
                <a:solidFill>
                  <a:srgbClr val="5B6470"/>
                </a:solidFill>
                <a:latin typeface="Microsoft YaHei" pitchFamily="34" charset="0"/>
                <a:ea typeface="Microsoft YaHei" pitchFamily="34" charset="-122"/>
                <a:cs typeface="Microsoft YaHei" pitchFamily="34" charset="-120"/>
              </a:rPr>
              <a:t>四项培养目标</a:t>
            </a:r>
            <a:endParaRPr lang="en-US" sz="950" dirty="0"/>
          </a:p>
        </p:txBody>
      </p:sp>
      <p:sp>
        <p:nvSpPr>
          <p:cNvPr id="17" name="Shape 15"/>
          <p:cNvSpPr/>
          <p:nvPr/>
        </p:nvSpPr>
        <p:spPr>
          <a:xfrm>
            <a:off x="1295400" y="2171700"/>
            <a:ext cx="4762348" cy="402336"/>
          </a:xfrm>
          <a:prstGeom prst="roundRect">
            <a:avLst>
              <a:gd name="adj" fmla="val 15909"/>
            </a:avLst>
          </a:prstGeom>
          <a:solidFill>
            <a:srgbClr val="FFFFFF"/>
          </a:solidFill>
          <a:ln w="12700">
            <a:solidFill>
              <a:srgbClr val="E2E7F0"/>
            </a:solidFill>
            <a:prstDash val="solid"/>
          </a:ln>
        </p:spPr>
      </p:sp>
      <p:sp>
        <p:nvSpPr>
          <p:cNvPr id="18" name="Text 16"/>
          <p:cNvSpPr/>
          <p:nvPr/>
        </p:nvSpPr>
        <p:spPr>
          <a:xfrm>
            <a:off x="1459992" y="2171700"/>
            <a:ext cx="4433164" cy="402336"/>
          </a:xfrm>
          <a:prstGeom prst="rect">
            <a:avLst/>
          </a:prstGeom>
          <a:noFill/>
          <a:ln/>
        </p:spPr>
        <p:txBody>
          <a:bodyPr wrap="square" lIns="0" tIns="0" rIns="0" bIns="0" rtlCol="0" anchor="ctr"/>
          <a:lstStyle/>
          <a:p>
            <a:pPr indent="0" marL="0">
              <a:buNone/>
            </a:pPr>
            <a:r>
              <a:rPr lang="en-US" sz="1400" dirty="0">
                <a:solidFill>
                  <a:srgbClr val="1A2029"/>
                </a:solidFill>
                <a:latin typeface="Microsoft YaHei" pitchFamily="34" charset="0"/>
                <a:ea typeface="Microsoft YaHei" pitchFamily="34" charset="-122"/>
                <a:cs typeface="Microsoft YaHei" pitchFamily="34" charset="-120"/>
              </a:rPr>
              <a:t>价值体认</a:t>
            </a:r>
            <a:endParaRPr lang="en-US" sz="1400" dirty="0"/>
          </a:p>
        </p:txBody>
      </p:sp>
      <p:sp>
        <p:nvSpPr>
          <p:cNvPr id="19" name="Shape 17"/>
          <p:cNvSpPr/>
          <p:nvPr/>
        </p:nvSpPr>
        <p:spPr>
          <a:xfrm>
            <a:off x="1295400" y="2656332"/>
            <a:ext cx="4762348" cy="402336"/>
          </a:xfrm>
          <a:prstGeom prst="roundRect">
            <a:avLst>
              <a:gd name="adj" fmla="val 15909"/>
            </a:avLst>
          </a:prstGeom>
          <a:solidFill>
            <a:srgbClr val="FFFFFF"/>
          </a:solidFill>
          <a:ln w="12700">
            <a:solidFill>
              <a:srgbClr val="E2E7F0"/>
            </a:solidFill>
            <a:prstDash val="solid"/>
          </a:ln>
        </p:spPr>
      </p:sp>
      <p:sp>
        <p:nvSpPr>
          <p:cNvPr id="20" name="Text 18"/>
          <p:cNvSpPr/>
          <p:nvPr/>
        </p:nvSpPr>
        <p:spPr>
          <a:xfrm>
            <a:off x="1459992" y="2656332"/>
            <a:ext cx="4433164" cy="402336"/>
          </a:xfrm>
          <a:prstGeom prst="rect">
            <a:avLst/>
          </a:prstGeom>
          <a:noFill/>
          <a:ln/>
        </p:spPr>
        <p:txBody>
          <a:bodyPr wrap="square" lIns="0" tIns="0" rIns="0" bIns="0" rtlCol="0" anchor="ctr"/>
          <a:lstStyle/>
          <a:p>
            <a:pPr indent="0" marL="0">
              <a:buNone/>
            </a:pPr>
            <a:r>
              <a:rPr lang="en-US" sz="1400" dirty="0">
                <a:solidFill>
                  <a:srgbClr val="1A2029"/>
                </a:solidFill>
                <a:latin typeface="Microsoft YaHei" pitchFamily="34" charset="0"/>
                <a:ea typeface="Microsoft YaHei" pitchFamily="34" charset="-122"/>
                <a:cs typeface="Microsoft YaHei" pitchFamily="34" charset="-120"/>
              </a:rPr>
              <a:t>责任担当</a:t>
            </a:r>
            <a:endParaRPr lang="en-US" sz="1400" dirty="0"/>
          </a:p>
        </p:txBody>
      </p:sp>
      <p:sp>
        <p:nvSpPr>
          <p:cNvPr id="21" name="Shape 19"/>
          <p:cNvSpPr/>
          <p:nvPr/>
        </p:nvSpPr>
        <p:spPr>
          <a:xfrm>
            <a:off x="1295400" y="3140964"/>
            <a:ext cx="4762348" cy="402336"/>
          </a:xfrm>
          <a:prstGeom prst="roundRect">
            <a:avLst>
              <a:gd name="adj" fmla="val 15909"/>
            </a:avLst>
          </a:prstGeom>
          <a:solidFill>
            <a:srgbClr val="FFFFFF"/>
          </a:solidFill>
          <a:ln w="12700">
            <a:solidFill>
              <a:srgbClr val="E2E7F0"/>
            </a:solidFill>
            <a:prstDash val="solid"/>
          </a:ln>
        </p:spPr>
      </p:sp>
      <p:sp>
        <p:nvSpPr>
          <p:cNvPr id="22" name="Text 20"/>
          <p:cNvSpPr/>
          <p:nvPr/>
        </p:nvSpPr>
        <p:spPr>
          <a:xfrm>
            <a:off x="1459992" y="3140964"/>
            <a:ext cx="4433164" cy="402336"/>
          </a:xfrm>
          <a:prstGeom prst="rect">
            <a:avLst/>
          </a:prstGeom>
          <a:noFill/>
          <a:ln/>
        </p:spPr>
        <p:txBody>
          <a:bodyPr wrap="square" lIns="0" tIns="0" rIns="0" bIns="0" rtlCol="0" anchor="ctr"/>
          <a:lstStyle/>
          <a:p>
            <a:pPr indent="0" marL="0">
              <a:buNone/>
            </a:pPr>
            <a:r>
              <a:rPr lang="en-US" sz="1400" dirty="0">
                <a:solidFill>
                  <a:srgbClr val="1A2029"/>
                </a:solidFill>
                <a:latin typeface="Microsoft YaHei" pitchFamily="34" charset="0"/>
                <a:ea typeface="Microsoft YaHei" pitchFamily="34" charset="-122"/>
                <a:cs typeface="Microsoft YaHei" pitchFamily="34" charset="-120"/>
              </a:rPr>
              <a:t>问题解决</a:t>
            </a:r>
            <a:endParaRPr lang="en-US" sz="1400" dirty="0"/>
          </a:p>
        </p:txBody>
      </p:sp>
      <p:sp>
        <p:nvSpPr>
          <p:cNvPr id="23" name="Shape 21"/>
          <p:cNvSpPr/>
          <p:nvPr/>
        </p:nvSpPr>
        <p:spPr>
          <a:xfrm>
            <a:off x="1295400" y="3625596"/>
            <a:ext cx="4762348" cy="402336"/>
          </a:xfrm>
          <a:prstGeom prst="roundRect">
            <a:avLst>
              <a:gd name="adj" fmla="val 15909"/>
            </a:avLst>
          </a:prstGeom>
          <a:solidFill>
            <a:srgbClr val="FFFFFF"/>
          </a:solidFill>
          <a:ln w="12700">
            <a:solidFill>
              <a:srgbClr val="E2E7F0"/>
            </a:solidFill>
            <a:prstDash val="solid"/>
          </a:ln>
        </p:spPr>
      </p:sp>
      <p:sp>
        <p:nvSpPr>
          <p:cNvPr id="24" name="Text 22"/>
          <p:cNvSpPr/>
          <p:nvPr/>
        </p:nvSpPr>
        <p:spPr>
          <a:xfrm>
            <a:off x="1459992" y="3625596"/>
            <a:ext cx="4433164" cy="402336"/>
          </a:xfrm>
          <a:prstGeom prst="rect">
            <a:avLst/>
          </a:prstGeom>
          <a:noFill/>
          <a:ln/>
        </p:spPr>
        <p:txBody>
          <a:bodyPr wrap="square" lIns="0" tIns="0" rIns="0" bIns="0" rtlCol="0" anchor="ctr"/>
          <a:lstStyle/>
          <a:p>
            <a:pPr indent="0" marL="0">
              <a:buNone/>
            </a:pPr>
            <a:r>
              <a:rPr lang="en-US" sz="1400" dirty="0">
                <a:solidFill>
                  <a:srgbClr val="1A2029"/>
                </a:solidFill>
                <a:latin typeface="Microsoft YaHei" pitchFamily="34" charset="0"/>
                <a:ea typeface="Microsoft YaHei" pitchFamily="34" charset="-122"/>
                <a:cs typeface="Microsoft YaHei" pitchFamily="34" charset="-120"/>
              </a:rPr>
              <a:t>创意物化</a:t>
            </a:r>
            <a:endParaRPr lang="en-US" sz="1400" dirty="0"/>
          </a:p>
        </p:txBody>
      </p:sp>
      <p:sp>
        <p:nvSpPr>
          <p:cNvPr id="25" name="Text 23"/>
          <p:cNvSpPr/>
          <p:nvPr/>
        </p:nvSpPr>
        <p:spPr>
          <a:xfrm>
            <a:off x="6514948" y="1860804"/>
            <a:ext cx="4762348" cy="201168"/>
          </a:xfrm>
          <a:prstGeom prst="rect">
            <a:avLst/>
          </a:prstGeom>
          <a:noFill/>
          <a:ln/>
        </p:spPr>
        <p:txBody>
          <a:bodyPr wrap="square" lIns="0" tIns="0" rIns="0" bIns="0" rtlCol="0" anchor="ctr"/>
          <a:lstStyle/>
          <a:p>
            <a:pPr indent="0" marL="0">
              <a:buNone/>
            </a:pPr>
            <a:r>
              <a:rPr lang="en-US" sz="950" spc="80" kern="0" dirty="0">
                <a:solidFill>
                  <a:srgbClr val="5B6470"/>
                </a:solidFill>
                <a:latin typeface="Microsoft YaHei" pitchFamily="34" charset="0"/>
                <a:ea typeface="Microsoft YaHei" pitchFamily="34" charset="-122"/>
                <a:cs typeface="Microsoft YaHei" pitchFamily="34" charset="-120"/>
              </a:rPr>
              <a:t>四种活动方式</a:t>
            </a:r>
            <a:endParaRPr lang="en-US" sz="950" dirty="0"/>
          </a:p>
        </p:txBody>
      </p:sp>
      <p:sp>
        <p:nvSpPr>
          <p:cNvPr id="26" name="Shape 24"/>
          <p:cNvSpPr/>
          <p:nvPr/>
        </p:nvSpPr>
        <p:spPr>
          <a:xfrm>
            <a:off x="6514948" y="2171700"/>
            <a:ext cx="4762348" cy="402336"/>
          </a:xfrm>
          <a:prstGeom prst="roundRect">
            <a:avLst>
              <a:gd name="adj" fmla="val 15909"/>
            </a:avLst>
          </a:prstGeom>
          <a:solidFill>
            <a:srgbClr val="FFFFFF"/>
          </a:solidFill>
          <a:ln w="12700">
            <a:solidFill>
              <a:srgbClr val="E2E7F0"/>
            </a:solidFill>
            <a:prstDash val="solid"/>
          </a:ln>
        </p:spPr>
      </p:sp>
      <p:sp>
        <p:nvSpPr>
          <p:cNvPr id="27" name="Text 25"/>
          <p:cNvSpPr/>
          <p:nvPr/>
        </p:nvSpPr>
        <p:spPr>
          <a:xfrm>
            <a:off x="6679540" y="2171700"/>
            <a:ext cx="4433164" cy="402336"/>
          </a:xfrm>
          <a:prstGeom prst="rect">
            <a:avLst/>
          </a:prstGeom>
          <a:noFill/>
          <a:ln/>
        </p:spPr>
        <p:txBody>
          <a:bodyPr wrap="square" lIns="0" tIns="0" rIns="0" bIns="0" rtlCol="0" anchor="ctr"/>
          <a:lstStyle/>
          <a:p>
            <a:pPr indent="0" marL="0">
              <a:buNone/>
            </a:pPr>
            <a:r>
              <a:rPr lang="en-US" sz="1400" dirty="0">
                <a:solidFill>
                  <a:srgbClr val="1A2029"/>
                </a:solidFill>
                <a:latin typeface="Microsoft YaHei" pitchFamily="34" charset="0"/>
                <a:ea typeface="Microsoft YaHei" pitchFamily="34" charset="-122"/>
                <a:cs typeface="Microsoft YaHei" pitchFamily="34" charset="-120"/>
              </a:rPr>
              <a:t>考察探究</a:t>
            </a:r>
            <a:endParaRPr lang="en-US" sz="1400" dirty="0"/>
          </a:p>
        </p:txBody>
      </p:sp>
      <p:sp>
        <p:nvSpPr>
          <p:cNvPr id="28" name="Shape 26"/>
          <p:cNvSpPr/>
          <p:nvPr/>
        </p:nvSpPr>
        <p:spPr>
          <a:xfrm>
            <a:off x="6514948" y="2656332"/>
            <a:ext cx="4762348" cy="402336"/>
          </a:xfrm>
          <a:prstGeom prst="roundRect">
            <a:avLst>
              <a:gd name="adj" fmla="val 15909"/>
            </a:avLst>
          </a:prstGeom>
          <a:solidFill>
            <a:srgbClr val="FFFFFF"/>
          </a:solidFill>
          <a:ln w="12700">
            <a:solidFill>
              <a:srgbClr val="E2E7F0"/>
            </a:solidFill>
            <a:prstDash val="solid"/>
          </a:ln>
        </p:spPr>
      </p:sp>
      <p:sp>
        <p:nvSpPr>
          <p:cNvPr id="29" name="Text 27"/>
          <p:cNvSpPr/>
          <p:nvPr/>
        </p:nvSpPr>
        <p:spPr>
          <a:xfrm>
            <a:off x="6679540" y="2656332"/>
            <a:ext cx="4433164" cy="402336"/>
          </a:xfrm>
          <a:prstGeom prst="rect">
            <a:avLst/>
          </a:prstGeom>
          <a:noFill/>
          <a:ln/>
        </p:spPr>
        <p:txBody>
          <a:bodyPr wrap="square" lIns="0" tIns="0" rIns="0" bIns="0" rtlCol="0" anchor="ctr"/>
          <a:lstStyle/>
          <a:p>
            <a:pPr indent="0" marL="0">
              <a:buNone/>
            </a:pPr>
            <a:r>
              <a:rPr lang="en-US" sz="1400" dirty="0">
                <a:solidFill>
                  <a:srgbClr val="1A2029"/>
                </a:solidFill>
                <a:latin typeface="Microsoft YaHei" pitchFamily="34" charset="0"/>
                <a:ea typeface="Microsoft YaHei" pitchFamily="34" charset="-122"/>
                <a:cs typeface="Microsoft YaHei" pitchFamily="34" charset="-120"/>
              </a:rPr>
              <a:t>社会服务</a:t>
            </a:r>
            <a:endParaRPr lang="en-US" sz="1400" dirty="0"/>
          </a:p>
        </p:txBody>
      </p:sp>
      <p:sp>
        <p:nvSpPr>
          <p:cNvPr id="30" name="Shape 28"/>
          <p:cNvSpPr/>
          <p:nvPr/>
        </p:nvSpPr>
        <p:spPr>
          <a:xfrm>
            <a:off x="6514948" y="3140964"/>
            <a:ext cx="4762348" cy="402336"/>
          </a:xfrm>
          <a:prstGeom prst="roundRect">
            <a:avLst>
              <a:gd name="adj" fmla="val 15909"/>
            </a:avLst>
          </a:prstGeom>
          <a:solidFill>
            <a:srgbClr val="FFFFFF"/>
          </a:solidFill>
          <a:ln w="12700">
            <a:solidFill>
              <a:srgbClr val="E2E7F0"/>
            </a:solidFill>
            <a:prstDash val="solid"/>
          </a:ln>
        </p:spPr>
      </p:sp>
      <p:sp>
        <p:nvSpPr>
          <p:cNvPr id="31" name="Text 29"/>
          <p:cNvSpPr/>
          <p:nvPr/>
        </p:nvSpPr>
        <p:spPr>
          <a:xfrm>
            <a:off x="6679540" y="3140964"/>
            <a:ext cx="4433164" cy="402336"/>
          </a:xfrm>
          <a:prstGeom prst="rect">
            <a:avLst/>
          </a:prstGeom>
          <a:noFill/>
          <a:ln/>
        </p:spPr>
        <p:txBody>
          <a:bodyPr wrap="square" lIns="0" tIns="0" rIns="0" bIns="0" rtlCol="0" anchor="ctr"/>
          <a:lstStyle/>
          <a:p>
            <a:pPr indent="0" marL="0">
              <a:buNone/>
            </a:pPr>
            <a:r>
              <a:rPr lang="en-US" sz="1400" dirty="0">
                <a:solidFill>
                  <a:srgbClr val="1A2029"/>
                </a:solidFill>
                <a:latin typeface="Microsoft YaHei" pitchFamily="34" charset="0"/>
                <a:ea typeface="Microsoft YaHei" pitchFamily="34" charset="-122"/>
                <a:cs typeface="Microsoft YaHei" pitchFamily="34" charset="-120"/>
              </a:rPr>
              <a:t>设计制作</a:t>
            </a:r>
            <a:endParaRPr lang="en-US" sz="1400" dirty="0"/>
          </a:p>
        </p:txBody>
      </p:sp>
      <p:sp>
        <p:nvSpPr>
          <p:cNvPr id="32" name="Shape 30"/>
          <p:cNvSpPr/>
          <p:nvPr/>
        </p:nvSpPr>
        <p:spPr>
          <a:xfrm>
            <a:off x="6514948" y="3625596"/>
            <a:ext cx="4762348" cy="402336"/>
          </a:xfrm>
          <a:prstGeom prst="roundRect">
            <a:avLst>
              <a:gd name="adj" fmla="val 15909"/>
            </a:avLst>
          </a:prstGeom>
          <a:solidFill>
            <a:srgbClr val="FFFFFF"/>
          </a:solidFill>
          <a:ln w="12700">
            <a:solidFill>
              <a:srgbClr val="E2E7F0"/>
            </a:solidFill>
            <a:prstDash val="solid"/>
          </a:ln>
        </p:spPr>
      </p:sp>
      <p:sp>
        <p:nvSpPr>
          <p:cNvPr id="33" name="Text 31"/>
          <p:cNvSpPr/>
          <p:nvPr/>
        </p:nvSpPr>
        <p:spPr>
          <a:xfrm>
            <a:off x="6679540" y="3625596"/>
            <a:ext cx="4433164" cy="402336"/>
          </a:xfrm>
          <a:prstGeom prst="rect">
            <a:avLst/>
          </a:prstGeom>
          <a:noFill/>
          <a:ln/>
        </p:spPr>
        <p:txBody>
          <a:bodyPr wrap="square" lIns="0" tIns="0" rIns="0" bIns="0" rtlCol="0" anchor="ctr"/>
          <a:lstStyle/>
          <a:p>
            <a:pPr indent="0" marL="0">
              <a:buNone/>
            </a:pPr>
            <a:r>
              <a:rPr lang="en-US" sz="1400" dirty="0">
                <a:solidFill>
                  <a:srgbClr val="1A2029"/>
                </a:solidFill>
                <a:latin typeface="Microsoft YaHei" pitchFamily="34" charset="0"/>
                <a:ea typeface="Microsoft YaHei" pitchFamily="34" charset="-122"/>
                <a:cs typeface="Microsoft YaHei" pitchFamily="34" charset="-120"/>
              </a:rPr>
              <a:t>职业体验</a:t>
            </a:r>
            <a:endParaRPr lang="en-US" sz="1400" dirty="0"/>
          </a:p>
        </p:txBody>
      </p:sp>
      <p:sp>
        <p:nvSpPr>
          <p:cNvPr id="34" name="Text 32"/>
          <p:cNvSpPr/>
          <p:nvPr/>
        </p:nvSpPr>
        <p:spPr>
          <a:xfrm>
            <a:off x="1295400" y="5943600"/>
            <a:ext cx="9981895" cy="256032"/>
          </a:xfrm>
          <a:prstGeom prst="rect">
            <a:avLst/>
          </a:prstGeom>
          <a:noFill/>
          <a:ln/>
        </p:spPr>
        <p:txBody>
          <a:bodyPr wrap="square" lIns="0" tIns="0" rIns="0" bIns="0" rtlCol="0" anchor="ctr"/>
          <a:lstStyle/>
          <a:p>
            <a:pPr indent="0" marL="0">
              <a:buNone/>
            </a:pPr>
            <a:r>
              <a:rPr lang="en-US" sz="1000" dirty="0">
                <a:solidFill>
                  <a:srgbClr val="5B6470"/>
                </a:solidFill>
                <a:latin typeface="Microsoft YaHei" pitchFamily="34" charset="0"/>
                <a:ea typeface="Microsoft YaHei" pitchFamily="34" charset="-122"/>
                <a:cs typeface="Microsoft YaHei" pitchFamily="34" charset="-120"/>
              </a:rPr>
              <a:t>《中小学综合实践活动课程指导纲要》，教材〔2017〕4 号</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66725" y="1547132"/>
            <a:ext cx="133350" cy="133350"/>
          </a:xfrm>
          <a:prstGeom prst="ellipse">
            <a:avLst/>
          </a:prstGeom>
          <a:solidFill>
            <a:srgbClr val="B0472A"/>
          </a:solidFill>
          <a:ln w="25400">
            <a:solidFill>
              <a:srgbClr val="B0472A"/>
            </a:solidFill>
            <a:prstDash val="solid"/>
          </a:ln>
        </p:spPr>
      </p:sp>
      <p:sp>
        <p:nvSpPr>
          <p:cNvPr id="5" name="Shape 3"/>
          <p:cNvSpPr/>
          <p:nvPr/>
        </p:nvSpPr>
        <p:spPr>
          <a:xfrm>
            <a:off x="485775" y="2265589"/>
            <a:ext cx="95250" cy="95250"/>
          </a:xfrm>
          <a:prstGeom prst="ellipse">
            <a:avLst/>
          </a:prstGeom>
          <a:solidFill>
            <a:srgbClr val="FFFFFF"/>
          </a:solidFill>
          <a:ln w="25400">
            <a:solidFill>
              <a:srgbClr val="E2E7F0"/>
            </a:solidFill>
            <a:prstDash val="solid"/>
          </a:ln>
        </p:spPr>
      </p:sp>
      <p:sp>
        <p:nvSpPr>
          <p:cNvPr id="6" name="Shape 4"/>
          <p:cNvSpPr/>
          <p:nvPr/>
        </p:nvSpPr>
        <p:spPr>
          <a:xfrm>
            <a:off x="485775" y="2964996"/>
            <a:ext cx="95250" cy="95250"/>
          </a:xfrm>
          <a:prstGeom prst="ellipse">
            <a:avLst/>
          </a:prstGeom>
          <a:solidFill>
            <a:srgbClr val="FFFFFF"/>
          </a:solidFill>
          <a:ln w="25400">
            <a:solidFill>
              <a:srgbClr val="E2E7F0"/>
            </a:solidFill>
            <a:prstDash val="solid"/>
          </a:ln>
        </p:spPr>
      </p:sp>
      <p:sp>
        <p:nvSpPr>
          <p:cNvPr id="7" name="Shape 5"/>
          <p:cNvSpPr/>
          <p:nvPr/>
        </p:nvSpPr>
        <p:spPr>
          <a:xfrm>
            <a:off x="485775" y="3664404"/>
            <a:ext cx="95250" cy="95250"/>
          </a:xfrm>
          <a:prstGeom prst="ellipse">
            <a:avLst/>
          </a:prstGeom>
          <a:solidFill>
            <a:srgbClr val="FFFFFF"/>
          </a:solidFill>
          <a:ln w="25400">
            <a:solidFill>
              <a:srgbClr val="E2E7F0"/>
            </a:solidFill>
            <a:prstDash val="solid"/>
          </a:ln>
        </p:spPr>
      </p:sp>
      <p:sp>
        <p:nvSpPr>
          <p:cNvPr id="8" name="Shape 6"/>
          <p:cNvSpPr/>
          <p:nvPr/>
        </p:nvSpPr>
        <p:spPr>
          <a:xfrm>
            <a:off x="485775" y="4363811"/>
            <a:ext cx="95250" cy="95250"/>
          </a:xfrm>
          <a:prstGeom prst="ellipse">
            <a:avLst/>
          </a:prstGeom>
          <a:solidFill>
            <a:srgbClr val="FFFFFF"/>
          </a:solidFill>
          <a:ln w="25400">
            <a:solidFill>
              <a:srgbClr val="E2E7F0"/>
            </a:solidFill>
            <a:prstDash val="solid"/>
          </a:ln>
        </p:spPr>
      </p:sp>
      <p:sp>
        <p:nvSpPr>
          <p:cNvPr id="9" name="Shape 7"/>
          <p:cNvSpPr/>
          <p:nvPr/>
        </p:nvSpPr>
        <p:spPr>
          <a:xfrm>
            <a:off x="485775" y="5063218"/>
            <a:ext cx="95250" cy="95250"/>
          </a:xfrm>
          <a:prstGeom prst="ellipse">
            <a:avLst/>
          </a:prstGeom>
          <a:solidFill>
            <a:srgbClr val="FFFFFF"/>
          </a:solidFill>
          <a:ln w="25400">
            <a:solidFill>
              <a:srgbClr val="E2E7F0"/>
            </a:solidFill>
            <a:prstDash val="solid"/>
          </a:ln>
        </p:spPr>
      </p:sp>
      <p:sp>
        <p:nvSpPr>
          <p:cNvPr id="10" name="Shape 8"/>
          <p:cNvSpPr/>
          <p:nvPr/>
        </p:nvSpPr>
        <p:spPr>
          <a:xfrm>
            <a:off x="485775" y="5762625"/>
            <a:ext cx="95250" cy="95250"/>
          </a:xfrm>
          <a:prstGeom prst="ellipse">
            <a:avLst/>
          </a:prstGeom>
          <a:solidFill>
            <a:srgbClr val="FFFFFF"/>
          </a:solidFill>
          <a:ln w="25400">
            <a:solidFill>
              <a:srgbClr val="E2E7F0"/>
            </a:solidFill>
            <a:prstDash val="solid"/>
          </a:ln>
        </p:spPr>
      </p:sp>
      <p:sp>
        <p:nvSpPr>
          <p:cNvPr id="11" name="Text 9"/>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一</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2" name="Text 10"/>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05</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44</a:t>
            </a:r>
            <a:endParaRPr lang="en-US" sz="1000" dirty="0"/>
          </a:p>
        </p:txBody>
      </p:sp>
      <p:sp>
        <p:nvSpPr>
          <p:cNvPr id="13" name="Text 11"/>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4" name="Text 12"/>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第一段　·　做中学对综合实践活动的覆盖范围</a:t>
            </a:r>
            <a:endParaRPr lang="en-US" sz="1000" dirty="0"/>
          </a:p>
        </p:txBody>
      </p:sp>
      <p:sp>
        <p:nvSpPr>
          <p:cNvPr id="15" name="Text 13"/>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做中学的六个环节与四个评价维度</a:t>
            </a:r>
            <a:endParaRPr lang="en-US" sz="3200" dirty="0"/>
          </a:p>
        </p:txBody>
      </p:sp>
      <p:sp>
        <p:nvSpPr>
          <p:cNvPr id="16" name="Text 14"/>
          <p:cNvSpPr/>
          <p:nvPr/>
        </p:nvSpPr>
        <p:spPr>
          <a:xfrm>
            <a:off x="1295400" y="1860804"/>
            <a:ext cx="4762348" cy="201168"/>
          </a:xfrm>
          <a:prstGeom prst="rect">
            <a:avLst/>
          </a:prstGeom>
          <a:noFill/>
          <a:ln/>
        </p:spPr>
        <p:txBody>
          <a:bodyPr wrap="square" lIns="0" tIns="0" rIns="0" bIns="0" rtlCol="0" anchor="ctr"/>
          <a:lstStyle/>
          <a:p>
            <a:pPr indent="0" marL="0">
              <a:buNone/>
            </a:pPr>
            <a:r>
              <a:rPr lang="en-US" sz="950" spc="80" kern="0" dirty="0">
                <a:solidFill>
                  <a:srgbClr val="5B6470"/>
                </a:solidFill>
                <a:latin typeface="Microsoft YaHei" pitchFamily="34" charset="0"/>
                <a:ea typeface="Microsoft YaHei" pitchFamily="34" charset="-122"/>
                <a:cs typeface="Microsoft YaHei" pitchFamily="34" charset="-120"/>
              </a:rPr>
              <a:t>六个环节</a:t>
            </a:r>
            <a:endParaRPr lang="en-US" sz="950" dirty="0"/>
          </a:p>
        </p:txBody>
      </p:sp>
      <p:sp>
        <p:nvSpPr>
          <p:cNvPr id="17" name="Shape 15"/>
          <p:cNvSpPr/>
          <p:nvPr/>
        </p:nvSpPr>
        <p:spPr>
          <a:xfrm>
            <a:off x="1295400" y="2171700"/>
            <a:ext cx="4762348" cy="402336"/>
          </a:xfrm>
          <a:prstGeom prst="roundRect">
            <a:avLst>
              <a:gd name="adj" fmla="val 15909"/>
            </a:avLst>
          </a:prstGeom>
          <a:solidFill>
            <a:srgbClr val="FFFFFF"/>
          </a:solidFill>
          <a:ln w="12700">
            <a:solidFill>
              <a:srgbClr val="E2E7F0"/>
            </a:solidFill>
            <a:prstDash val="solid"/>
          </a:ln>
        </p:spPr>
      </p:sp>
      <p:sp>
        <p:nvSpPr>
          <p:cNvPr id="18" name="Text 16"/>
          <p:cNvSpPr/>
          <p:nvPr/>
        </p:nvSpPr>
        <p:spPr>
          <a:xfrm>
            <a:off x="1459992" y="2171700"/>
            <a:ext cx="4433164" cy="402336"/>
          </a:xfrm>
          <a:prstGeom prst="rect">
            <a:avLst/>
          </a:prstGeom>
          <a:noFill/>
          <a:ln/>
        </p:spPr>
        <p:txBody>
          <a:bodyPr wrap="square" lIns="0" tIns="0" rIns="0" bIns="0" rtlCol="0" anchor="ctr"/>
          <a:lstStyle/>
          <a:p>
            <a:pPr indent="0" marL="0">
              <a:buNone/>
            </a:pPr>
            <a:r>
              <a:rPr lang="en-US" sz="1400" dirty="0">
                <a:solidFill>
                  <a:srgbClr val="1A2029"/>
                </a:solidFill>
                <a:latin typeface="Microsoft YaHei" pitchFamily="34" charset="0"/>
                <a:ea typeface="Microsoft YaHei" pitchFamily="34" charset="-122"/>
                <a:cs typeface="Microsoft YaHei" pitchFamily="34" charset="-120"/>
              </a:rPr>
              <a:t>提出问题和假设</a:t>
            </a:r>
            <a:endParaRPr lang="en-US" sz="1400" dirty="0"/>
          </a:p>
        </p:txBody>
      </p:sp>
      <p:sp>
        <p:nvSpPr>
          <p:cNvPr id="19" name="Shape 17"/>
          <p:cNvSpPr/>
          <p:nvPr/>
        </p:nvSpPr>
        <p:spPr>
          <a:xfrm>
            <a:off x="1295400" y="2656332"/>
            <a:ext cx="4762348" cy="402336"/>
          </a:xfrm>
          <a:prstGeom prst="roundRect">
            <a:avLst>
              <a:gd name="adj" fmla="val 15909"/>
            </a:avLst>
          </a:prstGeom>
          <a:solidFill>
            <a:srgbClr val="FFFFFF"/>
          </a:solidFill>
          <a:ln w="12700">
            <a:solidFill>
              <a:srgbClr val="E2E7F0"/>
            </a:solidFill>
            <a:prstDash val="solid"/>
          </a:ln>
        </p:spPr>
      </p:sp>
      <p:sp>
        <p:nvSpPr>
          <p:cNvPr id="20" name="Text 18"/>
          <p:cNvSpPr/>
          <p:nvPr/>
        </p:nvSpPr>
        <p:spPr>
          <a:xfrm>
            <a:off x="1459992" y="2656332"/>
            <a:ext cx="4433164" cy="402336"/>
          </a:xfrm>
          <a:prstGeom prst="rect">
            <a:avLst/>
          </a:prstGeom>
          <a:noFill/>
          <a:ln/>
        </p:spPr>
        <p:txBody>
          <a:bodyPr wrap="square" lIns="0" tIns="0" rIns="0" bIns="0" rtlCol="0" anchor="ctr"/>
          <a:lstStyle/>
          <a:p>
            <a:pPr indent="0" marL="0">
              <a:buNone/>
            </a:pPr>
            <a:r>
              <a:rPr lang="en-US" sz="1400" dirty="0">
                <a:solidFill>
                  <a:srgbClr val="1A2029"/>
                </a:solidFill>
                <a:latin typeface="Microsoft YaHei" pitchFamily="34" charset="0"/>
                <a:ea typeface="Microsoft YaHei" pitchFamily="34" charset="-122"/>
                <a:cs typeface="Microsoft YaHei" pitchFamily="34" charset="-120"/>
              </a:rPr>
              <a:t>设计方案</a:t>
            </a:r>
            <a:endParaRPr lang="en-US" sz="1400" dirty="0"/>
          </a:p>
        </p:txBody>
      </p:sp>
      <p:sp>
        <p:nvSpPr>
          <p:cNvPr id="21" name="Shape 19"/>
          <p:cNvSpPr/>
          <p:nvPr/>
        </p:nvSpPr>
        <p:spPr>
          <a:xfrm>
            <a:off x="1295400" y="3140964"/>
            <a:ext cx="4762348" cy="402336"/>
          </a:xfrm>
          <a:prstGeom prst="roundRect">
            <a:avLst>
              <a:gd name="adj" fmla="val 15909"/>
            </a:avLst>
          </a:prstGeom>
          <a:solidFill>
            <a:srgbClr val="FFFFFF"/>
          </a:solidFill>
          <a:ln w="12700">
            <a:solidFill>
              <a:srgbClr val="E2E7F0"/>
            </a:solidFill>
            <a:prstDash val="solid"/>
          </a:ln>
        </p:spPr>
      </p:sp>
      <p:sp>
        <p:nvSpPr>
          <p:cNvPr id="22" name="Text 20"/>
          <p:cNvSpPr/>
          <p:nvPr/>
        </p:nvSpPr>
        <p:spPr>
          <a:xfrm>
            <a:off x="1459992" y="3140964"/>
            <a:ext cx="4433164" cy="402336"/>
          </a:xfrm>
          <a:prstGeom prst="rect">
            <a:avLst/>
          </a:prstGeom>
          <a:noFill/>
          <a:ln/>
        </p:spPr>
        <p:txBody>
          <a:bodyPr wrap="square" lIns="0" tIns="0" rIns="0" bIns="0" rtlCol="0" anchor="ctr"/>
          <a:lstStyle/>
          <a:p>
            <a:pPr indent="0" marL="0">
              <a:buNone/>
            </a:pPr>
            <a:r>
              <a:rPr lang="en-US" sz="1400" dirty="0">
                <a:solidFill>
                  <a:srgbClr val="1A2029"/>
                </a:solidFill>
                <a:latin typeface="Microsoft YaHei" pitchFamily="34" charset="0"/>
                <a:ea typeface="Microsoft YaHei" pitchFamily="34" charset="-122"/>
                <a:cs typeface="Microsoft YaHei" pitchFamily="34" charset="-120"/>
              </a:rPr>
              <a:t>搜集分析证据</a:t>
            </a:r>
            <a:endParaRPr lang="en-US" sz="1400" dirty="0"/>
          </a:p>
        </p:txBody>
      </p:sp>
      <p:sp>
        <p:nvSpPr>
          <p:cNvPr id="23" name="Shape 21"/>
          <p:cNvSpPr/>
          <p:nvPr/>
        </p:nvSpPr>
        <p:spPr>
          <a:xfrm>
            <a:off x="1295400" y="3625596"/>
            <a:ext cx="4762348" cy="402336"/>
          </a:xfrm>
          <a:prstGeom prst="roundRect">
            <a:avLst>
              <a:gd name="adj" fmla="val 15909"/>
            </a:avLst>
          </a:prstGeom>
          <a:solidFill>
            <a:srgbClr val="FFFFFF"/>
          </a:solidFill>
          <a:ln w="12700">
            <a:solidFill>
              <a:srgbClr val="E2E7F0"/>
            </a:solidFill>
            <a:prstDash val="solid"/>
          </a:ln>
        </p:spPr>
      </p:sp>
      <p:sp>
        <p:nvSpPr>
          <p:cNvPr id="24" name="Text 22"/>
          <p:cNvSpPr/>
          <p:nvPr/>
        </p:nvSpPr>
        <p:spPr>
          <a:xfrm>
            <a:off x="1459992" y="3625596"/>
            <a:ext cx="4433164" cy="402336"/>
          </a:xfrm>
          <a:prstGeom prst="rect">
            <a:avLst/>
          </a:prstGeom>
          <a:noFill/>
          <a:ln/>
        </p:spPr>
        <p:txBody>
          <a:bodyPr wrap="square" lIns="0" tIns="0" rIns="0" bIns="0" rtlCol="0" anchor="ctr"/>
          <a:lstStyle/>
          <a:p>
            <a:pPr indent="0" marL="0">
              <a:buNone/>
            </a:pPr>
            <a:r>
              <a:rPr lang="en-US" sz="1400" dirty="0">
                <a:solidFill>
                  <a:srgbClr val="1A2029"/>
                </a:solidFill>
                <a:latin typeface="Microsoft YaHei" pitchFamily="34" charset="0"/>
                <a:ea typeface="Microsoft YaHei" pitchFamily="34" charset="-122"/>
                <a:cs typeface="Microsoft YaHei" pitchFamily="34" charset="-120"/>
              </a:rPr>
              <a:t>得出结论并解释</a:t>
            </a:r>
            <a:endParaRPr lang="en-US" sz="1400" dirty="0"/>
          </a:p>
        </p:txBody>
      </p:sp>
      <p:sp>
        <p:nvSpPr>
          <p:cNvPr id="25" name="Shape 23"/>
          <p:cNvSpPr/>
          <p:nvPr/>
        </p:nvSpPr>
        <p:spPr>
          <a:xfrm>
            <a:off x="1295400" y="4110228"/>
            <a:ext cx="4762348" cy="402336"/>
          </a:xfrm>
          <a:prstGeom prst="roundRect">
            <a:avLst>
              <a:gd name="adj" fmla="val 15909"/>
            </a:avLst>
          </a:prstGeom>
          <a:solidFill>
            <a:srgbClr val="FFFFFF"/>
          </a:solidFill>
          <a:ln w="12700">
            <a:solidFill>
              <a:srgbClr val="E2E7F0"/>
            </a:solidFill>
            <a:prstDash val="solid"/>
          </a:ln>
        </p:spPr>
      </p:sp>
      <p:sp>
        <p:nvSpPr>
          <p:cNvPr id="26" name="Text 24"/>
          <p:cNvSpPr/>
          <p:nvPr/>
        </p:nvSpPr>
        <p:spPr>
          <a:xfrm>
            <a:off x="1459992" y="4110228"/>
            <a:ext cx="4433164" cy="402336"/>
          </a:xfrm>
          <a:prstGeom prst="rect">
            <a:avLst/>
          </a:prstGeom>
          <a:noFill/>
          <a:ln/>
        </p:spPr>
        <p:txBody>
          <a:bodyPr wrap="square" lIns="0" tIns="0" rIns="0" bIns="0" rtlCol="0" anchor="ctr"/>
          <a:lstStyle/>
          <a:p>
            <a:pPr indent="0" marL="0">
              <a:buNone/>
            </a:pPr>
            <a:r>
              <a:rPr lang="en-US" sz="1400" dirty="0">
                <a:solidFill>
                  <a:srgbClr val="1A2029"/>
                </a:solidFill>
                <a:latin typeface="Microsoft YaHei" pitchFamily="34" charset="0"/>
                <a:ea typeface="Microsoft YaHei" pitchFamily="34" charset="-122"/>
                <a:cs typeface="Microsoft YaHei" pitchFamily="34" charset="-120"/>
              </a:rPr>
              <a:t>制作改进</a:t>
            </a:r>
            <a:endParaRPr lang="en-US" sz="1400" dirty="0"/>
          </a:p>
        </p:txBody>
      </p:sp>
      <p:sp>
        <p:nvSpPr>
          <p:cNvPr id="27" name="Shape 25"/>
          <p:cNvSpPr/>
          <p:nvPr/>
        </p:nvSpPr>
        <p:spPr>
          <a:xfrm>
            <a:off x="1295400" y="4594860"/>
            <a:ext cx="4762348" cy="402336"/>
          </a:xfrm>
          <a:prstGeom prst="roundRect">
            <a:avLst>
              <a:gd name="adj" fmla="val 15909"/>
            </a:avLst>
          </a:prstGeom>
          <a:solidFill>
            <a:srgbClr val="FFFFFF"/>
          </a:solidFill>
          <a:ln w="12700">
            <a:solidFill>
              <a:srgbClr val="E2E7F0"/>
            </a:solidFill>
            <a:prstDash val="solid"/>
          </a:ln>
        </p:spPr>
      </p:sp>
      <p:sp>
        <p:nvSpPr>
          <p:cNvPr id="28" name="Text 26"/>
          <p:cNvSpPr/>
          <p:nvPr/>
        </p:nvSpPr>
        <p:spPr>
          <a:xfrm>
            <a:off x="1459992" y="4594860"/>
            <a:ext cx="4433164" cy="402336"/>
          </a:xfrm>
          <a:prstGeom prst="rect">
            <a:avLst/>
          </a:prstGeom>
          <a:noFill/>
          <a:ln/>
        </p:spPr>
        <p:txBody>
          <a:bodyPr wrap="square" lIns="0" tIns="0" rIns="0" bIns="0" rtlCol="0" anchor="ctr"/>
          <a:lstStyle/>
          <a:p>
            <a:pPr indent="0" marL="0">
              <a:buNone/>
            </a:pPr>
            <a:r>
              <a:rPr lang="en-US" sz="1400" dirty="0">
                <a:solidFill>
                  <a:srgbClr val="1A2029"/>
                </a:solidFill>
                <a:latin typeface="Microsoft YaHei" pitchFamily="34" charset="0"/>
                <a:ea typeface="Microsoft YaHei" pitchFamily="34" charset="-122"/>
                <a:cs typeface="Microsoft YaHei" pitchFamily="34" charset="-120"/>
              </a:rPr>
              <a:t>交流反思</a:t>
            </a:r>
            <a:endParaRPr lang="en-US" sz="1400" dirty="0"/>
          </a:p>
        </p:txBody>
      </p:sp>
      <p:sp>
        <p:nvSpPr>
          <p:cNvPr id="29" name="Text 27"/>
          <p:cNvSpPr/>
          <p:nvPr/>
        </p:nvSpPr>
        <p:spPr>
          <a:xfrm>
            <a:off x="6514948" y="1860804"/>
            <a:ext cx="4762348" cy="201168"/>
          </a:xfrm>
          <a:prstGeom prst="rect">
            <a:avLst/>
          </a:prstGeom>
          <a:noFill/>
          <a:ln/>
        </p:spPr>
        <p:txBody>
          <a:bodyPr wrap="square" lIns="0" tIns="0" rIns="0" bIns="0" rtlCol="0" anchor="ctr"/>
          <a:lstStyle/>
          <a:p>
            <a:pPr indent="0" marL="0">
              <a:buNone/>
            </a:pPr>
            <a:r>
              <a:rPr lang="en-US" sz="950" spc="80" kern="0" dirty="0">
                <a:solidFill>
                  <a:srgbClr val="5B6470"/>
                </a:solidFill>
                <a:latin typeface="Microsoft YaHei" pitchFamily="34" charset="0"/>
                <a:ea typeface="Microsoft YaHei" pitchFamily="34" charset="-122"/>
                <a:cs typeface="Microsoft YaHei" pitchFamily="34" charset="-120"/>
              </a:rPr>
              <a:t>四个评价维度</a:t>
            </a:r>
            <a:endParaRPr lang="en-US" sz="950" dirty="0"/>
          </a:p>
        </p:txBody>
      </p:sp>
      <p:sp>
        <p:nvSpPr>
          <p:cNvPr id="30" name="Shape 28"/>
          <p:cNvSpPr/>
          <p:nvPr/>
        </p:nvSpPr>
        <p:spPr>
          <a:xfrm>
            <a:off x="6514948" y="2171700"/>
            <a:ext cx="4762348" cy="402336"/>
          </a:xfrm>
          <a:prstGeom prst="roundRect">
            <a:avLst>
              <a:gd name="adj" fmla="val 15909"/>
            </a:avLst>
          </a:prstGeom>
          <a:solidFill>
            <a:srgbClr val="FFFFFF"/>
          </a:solidFill>
          <a:ln w="12700">
            <a:solidFill>
              <a:srgbClr val="E2E7F0"/>
            </a:solidFill>
            <a:prstDash val="solid"/>
          </a:ln>
        </p:spPr>
      </p:sp>
      <p:sp>
        <p:nvSpPr>
          <p:cNvPr id="31" name="Text 29"/>
          <p:cNvSpPr/>
          <p:nvPr/>
        </p:nvSpPr>
        <p:spPr>
          <a:xfrm>
            <a:off x="6679540" y="2171700"/>
            <a:ext cx="4433164" cy="402336"/>
          </a:xfrm>
          <a:prstGeom prst="rect">
            <a:avLst/>
          </a:prstGeom>
          <a:noFill/>
          <a:ln/>
        </p:spPr>
        <p:txBody>
          <a:bodyPr wrap="square" lIns="0" tIns="0" rIns="0" bIns="0" rtlCol="0" anchor="ctr"/>
          <a:lstStyle/>
          <a:p>
            <a:pPr indent="0" marL="0">
              <a:buNone/>
            </a:pPr>
            <a:r>
              <a:rPr lang="en-US" sz="1400" dirty="0">
                <a:solidFill>
                  <a:srgbClr val="1A2029"/>
                </a:solidFill>
                <a:latin typeface="Microsoft YaHei" pitchFamily="34" charset="0"/>
                <a:ea typeface="Microsoft YaHei" pitchFamily="34" charset="-122"/>
                <a:cs typeface="Microsoft YaHei" pitchFamily="34" charset="-120"/>
              </a:rPr>
              <a:t>问题意识</a:t>
            </a:r>
            <a:endParaRPr lang="en-US" sz="1400" dirty="0"/>
          </a:p>
        </p:txBody>
      </p:sp>
      <p:sp>
        <p:nvSpPr>
          <p:cNvPr id="32" name="Shape 30"/>
          <p:cNvSpPr/>
          <p:nvPr/>
        </p:nvSpPr>
        <p:spPr>
          <a:xfrm>
            <a:off x="6514948" y="2656332"/>
            <a:ext cx="4762348" cy="402336"/>
          </a:xfrm>
          <a:prstGeom prst="roundRect">
            <a:avLst>
              <a:gd name="adj" fmla="val 15909"/>
            </a:avLst>
          </a:prstGeom>
          <a:solidFill>
            <a:srgbClr val="FFFFFF"/>
          </a:solidFill>
          <a:ln w="12700">
            <a:solidFill>
              <a:srgbClr val="E2E7F0"/>
            </a:solidFill>
            <a:prstDash val="solid"/>
          </a:ln>
        </p:spPr>
      </p:sp>
      <p:sp>
        <p:nvSpPr>
          <p:cNvPr id="33" name="Text 31"/>
          <p:cNvSpPr/>
          <p:nvPr/>
        </p:nvSpPr>
        <p:spPr>
          <a:xfrm>
            <a:off x="6679540" y="2656332"/>
            <a:ext cx="4433164" cy="402336"/>
          </a:xfrm>
          <a:prstGeom prst="rect">
            <a:avLst/>
          </a:prstGeom>
          <a:noFill/>
          <a:ln/>
        </p:spPr>
        <p:txBody>
          <a:bodyPr wrap="square" lIns="0" tIns="0" rIns="0" bIns="0" rtlCol="0" anchor="ctr"/>
          <a:lstStyle/>
          <a:p>
            <a:pPr indent="0" marL="0">
              <a:buNone/>
            </a:pPr>
            <a:r>
              <a:rPr lang="en-US" sz="1400" dirty="0">
                <a:solidFill>
                  <a:srgbClr val="1A2029"/>
                </a:solidFill>
                <a:latin typeface="Microsoft YaHei" pitchFamily="34" charset="0"/>
                <a:ea typeface="Microsoft YaHei" pitchFamily="34" charset="-122"/>
                <a:cs typeface="Microsoft YaHei" pitchFamily="34" charset="-120"/>
              </a:rPr>
              <a:t>探究实践能力</a:t>
            </a:r>
            <a:endParaRPr lang="en-US" sz="1400" dirty="0"/>
          </a:p>
        </p:txBody>
      </p:sp>
      <p:sp>
        <p:nvSpPr>
          <p:cNvPr id="34" name="Shape 32"/>
          <p:cNvSpPr/>
          <p:nvPr/>
        </p:nvSpPr>
        <p:spPr>
          <a:xfrm>
            <a:off x="6514948" y="3140964"/>
            <a:ext cx="4762348" cy="402336"/>
          </a:xfrm>
          <a:prstGeom prst="roundRect">
            <a:avLst>
              <a:gd name="adj" fmla="val 15909"/>
            </a:avLst>
          </a:prstGeom>
          <a:solidFill>
            <a:srgbClr val="FFFFFF"/>
          </a:solidFill>
          <a:ln w="12700">
            <a:solidFill>
              <a:srgbClr val="E2E7F0"/>
            </a:solidFill>
            <a:prstDash val="solid"/>
          </a:ln>
        </p:spPr>
      </p:sp>
      <p:sp>
        <p:nvSpPr>
          <p:cNvPr id="35" name="Text 33"/>
          <p:cNvSpPr/>
          <p:nvPr/>
        </p:nvSpPr>
        <p:spPr>
          <a:xfrm>
            <a:off x="6679540" y="3140964"/>
            <a:ext cx="4433164" cy="402336"/>
          </a:xfrm>
          <a:prstGeom prst="rect">
            <a:avLst/>
          </a:prstGeom>
          <a:noFill/>
          <a:ln/>
        </p:spPr>
        <p:txBody>
          <a:bodyPr wrap="square" lIns="0" tIns="0" rIns="0" bIns="0" rtlCol="0" anchor="ctr"/>
          <a:lstStyle/>
          <a:p>
            <a:pPr indent="0" marL="0">
              <a:buNone/>
            </a:pPr>
            <a:r>
              <a:rPr lang="en-US" sz="1400" dirty="0">
                <a:solidFill>
                  <a:srgbClr val="1A2029"/>
                </a:solidFill>
                <a:latin typeface="Microsoft YaHei" pitchFamily="34" charset="0"/>
                <a:ea typeface="Microsoft YaHei" pitchFamily="34" charset="-122"/>
                <a:cs typeface="Microsoft YaHei" pitchFamily="34" charset="-120"/>
              </a:rPr>
              <a:t>反思改进能力</a:t>
            </a:r>
            <a:endParaRPr lang="en-US" sz="1400" dirty="0"/>
          </a:p>
        </p:txBody>
      </p:sp>
      <p:sp>
        <p:nvSpPr>
          <p:cNvPr id="36" name="Shape 34"/>
          <p:cNvSpPr/>
          <p:nvPr/>
        </p:nvSpPr>
        <p:spPr>
          <a:xfrm>
            <a:off x="6514948" y="3625596"/>
            <a:ext cx="4762348" cy="402336"/>
          </a:xfrm>
          <a:prstGeom prst="roundRect">
            <a:avLst>
              <a:gd name="adj" fmla="val 15909"/>
            </a:avLst>
          </a:prstGeom>
          <a:solidFill>
            <a:srgbClr val="FFFFFF"/>
          </a:solidFill>
          <a:ln w="12700">
            <a:solidFill>
              <a:srgbClr val="E2E7F0"/>
            </a:solidFill>
            <a:prstDash val="solid"/>
          </a:ln>
        </p:spPr>
      </p:sp>
      <p:sp>
        <p:nvSpPr>
          <p:cNvPr id="37" name="Text 35"/>
          <p:cNvSpPr/>
          <p:nvPr/>
        </p:nvSpPr>
        <p:spPr>
          <a:xfrm>
            <a:off x="6679540" y="3625596"/>
            <a:ext cx="4433164" cy="402336"/>
          </a:xfrm>
          <a:prstGeom prst="rect">
            <a:avLst/>
          </a:prstGeom>
          <a:noFill/>
          <a:ln/>
        </p:spPr>
        <p:txBody>
          <a:bodyPr wrap="square" lIns="0" tIns="0" rIns="0" bIns="0" rtlCol="0" anchor="ctr"/>
          <a:lstStyle/>
          <a:p>
            <a:pPr indent="0" marL="0">
              <a:buNone/>
            </a:pPr>
            <a:r>
              <a:rPr lang="en-US" sz="1400" dirty="0">
                <a:solidFill>
                  <a:srgbClr val="1A2029"/>
                </a:solidFill>
                <a:latin typeface="Microsoft YaHei" pitchFamily="34" charset="0"/>
                <a:ea typeface="Microsoft YaHei" pitchFamily="34" charset="-122"/>
                <a:cs typeface="Microsoft YaHei" pitchFamily="34" charset="-120"/>
              </a:rPr>
              <a:t>合作交流能力</a:t>
            </a:r>
            <a:endParaRPr lang="en-US" sz="1400" dirty="0"/>
          </a:p>
        </p:txBody>
      </p:sp>
      <p:sp>
        <p:nvSpPr>
          <p:cNvPr id="38" name="Text 36"/>
          <p:cNvSpPr/>
          <p:nvPr/>
        </p:nvSpPr>
        <p:spPr>
          <a:xfrm>
            <a:off x="1295400" y="5943600"/>
            <a:ext cx="9981895" cy="256032"/>
          </a:xfrm>
          <a:prstGeom prst="rect">
            <a:avLst/>
          </a:prstGeom>
          <a:noFill/>
          <a:ln/>
        </p:spPr>
        <p:txBody>
          <a:bodyPr wrap="square" lIns="0" tIns="0" rIns="0" bIns="0" rtlCol="0" anchor="ctr"/>
          <a:lstStyle/>
          <a:p>
            <a:pPr indent="0" marL="0">
              <a:buNone/>
            </a:pPr>
            <a:r>
              <a:rPr lang="en-US" sz="1000" dirty="0">
                <a:solidFill>
                  <a:srgbClr val="5B6470"/>
                </a:solidFill>
                <a:latin typeface="Microsoft YaHei" pitchFamily="34" charset="0"/>
                <a:ea typeface="Microsoft YaHei" pitchFamily="34" charset="-122"/>
                <a:cs typeface="Microsoft YaHei" pitchFamily="34" charset="-120"/>
              </a:rPr>
              <a:t>《义务教育阶段科学教育“做中学”领航行动指南》，教监管厅〔2026〕1 号</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66725" y="1547132"/>
            <a:ext cx="133350" cy="133350"/>
          </a:xfrm>
          <a:prstGeom prst="ellipse">
            <a:avLst/>
          </a:prstGeom>
          <a:solidFill>
            <a:srgbClr val="B0472A"/>
          </a:solidFill>
          <a:ln w="25400">
            <a:solidFill>
              <a:srgbClr val="B0472A"/>
            </a:solidFill>
            <a:prstDash val="solid"/>
          </a:ln>
        </p:spPr>
      </p:sp>
      <p:sp>
        <p:nvSpPr>
          <p:cNvPr id="5" name="Shape 3"/>
          <p:cNvSpPr/>
          <p:nvPr/>
        </p:nvSpPr>
        <p:spPr>
          <a:xfrm>
            <a:off x="485775" y="2265589"/>
            <a:ext cx="95250" cy="95250"/>
          </a:xfrm>
          <a:prstGeom prst="ellipse">
            <a:avLst/>
          </a:prstGeom>
          <a:solidFill>
            <a:srgbClr val="FFFFFF"/>
          </a:solidFill>
          <a:ln w="25400">
            <a:solidFill>
              <a:srgbClr val="E2E7F0"/>
            </a:solidFill>
            <a:prstDash val="solid"/>
          </a:ln>
        </p:spPr>
      </p:sp>
      <p:sp>
        <p:nvSpPr>
          <p:cNvPr id="6" name="Shape 4"/>
          <p:cNvSpPr/>
          <p:nvPr/>
        </p:nvSpPr>
        <p:spPr>
          <a:xfrm>
            <a:off x="485775" y="2964996"/>
            <a:ext cx="95250" cy="95250"/>
          </a:xfrm>
          <a:prstGeom prst="ellipse">
            <a:avLst/>
          </a:prstGeom>
          <a:solidFill>
            <a:srgbClr val="FFFFFF"/>
          </a:solidFill>
          <a:ln w="25400">
            <a:solidFill>
              <a:srgbClr val="E2E7F0"/>
            </a:solidFill>
            <a:prstDash val="solid"/>
          </a:ln>
        </p:spPr>
      </p:sp>
      <p:sp>
        <p:nvSpPr>
          <p:cNvPr id="7" name="Shape 5"/>
          <p:cNvSpPr/>
          <p:nvPr/>
        </p:nvSpPr>
        <p:spPr>
          <a:xfrm>
            <a:off x="485775" y="3664404"/>
            <a:ext cx="95250" cy="95250"/>
          </a:xfrm>
          <a:prstGeom prst="ellipse">
            <a:avLst/>
          </a:prstGeom>
          <a:solidFill>
            <a:srgbClr val="FFFFFF"/>
          </a:solidFill>
          <a:ln w="25400">
            <a:solidFill>
              <a:srgbClr val="E2E7F0"/>
            </a:solidFill>
            <a:prstDash val="solid"/>
          </a:ln>
        </p:spPr>
      </p:sp>
      <p:sp>
        <p:nvSpPr>
          <p:cNvPr id="8" name="Shape 6"/>
          <p:cNvSpPr/>
          <p:nvPr/>
        </p:nvSpPr>
        <p:spPr>
          <a:xfrm>
            <a:off x="485775" y="4363811"/>
            <a:ext cx="95250" cy="95250"/>
          </a:xfrm>
          <a:prstGeom prst="ellipse">
            <a:avLst/>
          </a:prstGeom>
          <a:solidFill>
            <a:srgbClr val="FFFFFF"/>
          </a:solidFill>
          <a:ln w="25400">
            <a:solidFill>
              <a:srgbClr val="E2E7F0"/>
            </a:solidFill>
            <a:prstDash val="solid"/>
          </a:ln>
        </p:spPr>
      </p:sp>
      <p:sp>
        <p:nvSpPr>
          <p:cNvPr id="9" name="Shape 7"/>
          <p:cNvSpPr/>
          <p:nvPr/>
        </p:nvSpPr>
        <p:spPr>
          <a:xfrm>
            <a:off x="485775" y="5063218"/>
            <a:ext cx="95250" cy="95250"/>
          </a:xfrm>
          <a:prstGeom prst="ellipse">
            <a:avLst/>
          </a:prstGeom>
          <a:solidFill>
            <a:srgbClr val="FFFFFF"/>
          </a:solidFill>
          <a:ln w="25400">
            <a:solidFill>
              <a:srgbClr val="E2E7F0"/>
            </a:solidFill>
            <a:prstDash val="solid"/>
          </a:ln>
        </p:spPr>
      </p:sp>
      <p:sp>
        <p:nvSpPr>
          <p:cNvPr id="10" name="Shape 8"/>
          <p:cNvSpPr/>
          <p:nvPr/>
        </p:nvSpPr>
        <p:spPr>
          <a:xfrm>
            <a:off x="485775" y="5762625"/>
            <a:ext cx="95250" cy="95250"/>
          </a:xfrm>
          <a:prstGeom prst="ellipse">
            <a:avLst/>
          </a:prstGeom>
          <a:solidFill>
            <a:srgbClr val="FFFFFF"/>
          </a:solidFill>
          <a:ln w="25400">
            <a:solidFill>
              <a:srgbClr val="E2E7F0"/>
            </a:solidFill>
            <a:prstDash val="solid"/>
          </a:ln>
        </p:spPr>
      </p:sp>
      <p:sp>
        <p:nvSpPr>
          <p:cNvPr id="11" name="Text 9"/>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一</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2" name="Text 10"/>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06</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44</a:t>
            </a:r>
            <a:endParaRPr lang="en-US" sz="1000" dirty="0"/>
          </a:p>
        </p:txBody>
      </p:sp>
      <p:sp>
        <p:nvSpPr>
          <p:cNvPr id="13" name="Text 11"/>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4" name="Text 12"/>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第一段　·　做中学对综合实践活动的覆盖范围</a:t>
            </a:r>
            <a:endParaRPr lang="en-US" sz="1000" dirty="0"/>
          </a:p>
        </p:txBody>
      </p:sp>
      <p:sp>
        <p:nvSpPr>
          <p:cNvPr id="15" name="Text 13"/>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做中学对综合实践活动的覆盖关系</a:t>
            </a:r>
            <a:endParaRPr lang="en-US" sz="3200" dirty="0"/>
          </a:p>
        </p:txBody>
      </p:sp>
      <p:pic>
        <p:nvPicPr>
          <p:cNvPr id="16" name="Image 0" descr="/home/user/slides/comprehensive-practice-ai/figures/coverage.png">    </p:cNvPr>
          <p:cNvPicPr>
            <a:picLocks noChangeAspect="1"/>
          </p:cNvPicPr>
          <p:nvPr/>
        </p:nvPicPr>
        <p:blipFill>
          <a:blip r:embed="rId1"/>
          <a:stretch>
            <a:fillRect/>
          </a:stretch>
        </p:blipFill>
        <p:spPr>
          <a:xfrm>
            <a:off x="1295400" y="1952244"/>
            <a:ext cx="9981895" cy="3543192"/>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66725" y="1547132"/>
            <a:ext cx="133350" cy="133350"/>
          </a:xfrm>
          <a:prstGeom prst="ellipse">
            <a:avLst/>
          </a:prstGeom>
          <a:solidFill>
            <a:srgbClr val="B0472A"/>
          </a:solidFill>
          <a:ln w="25400">
            <a:solidFill>
              <a:srgbClr val="B0472A"/>
            </a:solidFill>
            <a:prstDash val="solid"/>
          </a:ln>
        </p:spPr>
      </p:sp>
      <p:sp>
        <p:nvSpPr>
          <p:cNvPr id="5" name="Shape 3"/>
          <p:cNvSpPr/>
          <p:nvPr/>
        </p:nvSpPr>
        <p:spPr>
          <a:xfrm>
            <a:off x="485775" y="2265589"/>
            <a:ext cx="95250" cy="95250"/>
          </a:xfrm>
          <a:prstGeom prst="ellipse">
            <a:avLst/>
          </a:prstGeom>
          <a:solidFill>
            <a:srgbClr val="FFFFFF"/>
          </a:solidFill>
          <a:ln w="25400">
            <a:solidFill>
              <a:srgbClr val="E2E7F0"/>
            </a:solidFill>
            <a:prstDash val="solid"/>
          </a:ln>
        </p:spPr>
      </p:sp>
      <p:sp>
        <p:nvSpPr>
          <p:cNvPr id="6" name="Shape 4"/>
          <p:cNvSpPr/>
          <p:nvPr/>
        </p:nvSpPr>
        <p:spPr>
          <a:xfrm>
            <a:off x="485775" y="2964996"/>
            <a:ext cx="95250" cy="95250"/>
          </a:xfrm>
          <a:prstGeom prst="ellipse">
            <a:avLst/>
          </a:prstGeom>
          <a:solidFill>
            <a:srgbClr val="FFFFFF"/>
          </a:solidFill>
          <a:ln w="25400">
            <a:solidFill>
              <a:srgbClr val="E2E7F0"/>
            </a:solidFill>
            <a:prstDash val="solid"/>
          </a:ln>
        </p:spPr>
      </p:sp>
      <p:sp>
        <p:nvSpPr>
          <p:cNvPr id="7" name="Shape 5"/>
          <p:cNvSpPr/>
          <p:nvPr/>
        </p:nvSpPr>
        <p:spPr>
          <a:xfrm>
            <a:off x="485775" y="3664404"/>
            <a:ext cx="95250" cy="95250"/>
          </a:xfrm>
          <a:prstGeom prst="ellipse">
            <a:avLst/>
          </a:prstGeom>
          <a:solidFill>
            <a:srgbClr val="FFFFFF"/>
          </a:solidFill>
          <a:ln w="25400">
            <a:solidFill>
              <a:srgbClr val="E2E7F0"/>
            </a:solidFill>
            <a:prstDash val="solid"/>
          </a:ln>
        </p:spPr>
      </p:sp>
      <p:sp>
        <p:nvSpPr>
          <p:cNvPr id="8" name="Shape 6"/>
          <p:cNvSpPr/>
          <p:nvPr/>
        </p:nvSpPr>
        <p:spPr>
          <a:xfrm>
            <a:off x="485775" y="4363811"/>
            <a:ext cx="95250" cy="95250"/>
          </a:xfrm>
          <a:prstGeom prst="ellipse">
            <a:avLst/>
          </a:prstGeom>
          <a:solidFill>
            <a:srgbClr val="FFFFFF"/>
          </a:solidFill>
          <a:ln w="25400">
            <a:solidFill>
              <a:srgbClr val="E2E7F0"/>
            </a:solidFill>
            <a:prstDash val="solid"/>
          </a:ln>
        </p:spPr>
      </p:sp>
      <p:sp>
        <p:nvSpPr>
          <p:cNvPr id="9" name="Shape 7"/>
          <p:cNvSpPr/>
          <p:nvPr/>
        </p:nvSpPr>
        <p:spPr>
          <a:xfrm>
            <a:off x="485775" y="5063218"/>
            <a:ext cx="95250" cy="95250"/>
          </a:xfrm>
          <a:prstGeom prst="ellipse">
            <a:avLst/>
          </a:prstGeom>
          <a:solidFill>
            <a:srgbClr val="FFFFFF"/>
          </a:solidFill>
          <a:ln w="25400">
            <a:solidFill>
              <a:srgbClr val="E2E7F0"/>
            </a:solidFill>
            <a:prstDash val="solid"/>
          </a:ln>
        </p:spPr>
      </p:sp>
      <p:sp>
        <p:nvSpPr>
          <p:cNvPr id="10" name="Shape 8"/>
          <p:cNvSpPr/>
          <p:nvPr/>
        </p:nvSpPr>
        <p:spPr>
          <a:xfrm>
            <a:off x="485775" y="5762625"/>
            <a:ext cx="95250" cy="95250"/>
          </a:xfrm>
          <a:prstGeom prst="ellipse">
            <a:avLst/>
          </a:prstGeom>
          <a:solidFill>
            <a:srgbClr val="FFFFFF"/>
          </a:solidFill>
          <a:ln w="25400">
            <a:solidFill>
              <a:srgbClr val="E2E7F0"/>
            </a:solidFill>
            <a:prstDash val="solid"/>
          </a:ln>
        </p:spPr>
      </p:sp>
      <p:sp>
        <p:nvSpPr>
          <p:cNvPr id="11" name="Text 9"/>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一</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2" name="Text 10"/>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07</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44</a:t>
            </a:r>
            <a:endParaRPr lang="en-US" sz="1000" dirty="0"/>
          </a:p>
        </p:txBody>
      </p:sp>
      <p:sp>
        <p:nvSpPr>
          <p:cNvPr id="13" name="Text 11"/>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4" name="Text 12"/>
          <p:cNvSpPr/>
          <p:nvPr/>
        </p:nvSpPr>
        <p:spPr>
          <a:xfrm>
            <a:off x="1295400" y="2212848"/>
            <a:ext cx="9981895" cy="237744"/>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本场主张</a:t>
            </a:r>
            <a:endParaRPr lang="en-US" sz="1000" dirty="0"/>
          </a:p>
        </p:txBody>
      </p:sp>
      <p:sp>
        <p:nvSpPr>
          <p:cNvPr id="15" name="Text 13"/>
          <p:cNvSpPr/>
          <p:nvPr/>
        </p:nvSpPr>
        <p:spPr>
          <a:xfrm>
            <a:off x="1295400" y="2615184"/>
            <a:ext cx="9158935" cy="2286000"/>
          </a:xfrm>
          <a:prstGeom prst="rect">
            <a:avLst/>
          </a:prstGeom>
          <a:noFill/>
          <a:ln/>
        </p:spPr>
        <p:txBody>
          <a:bodyPr wrap="square" lIns="0" tIns="0" rIns="0" bIns="0" rtlCol="0" anchor="t"/>
          <a:lstStyle/>
          <a:p>
            <a:pPr indent="0" marL="0">
              <a:lnSpc>
                <a:spcPct val="145000"/>
              </a:lnSpc>
              <a:buNone/>
            </a:pPr>
            <a:r>
              <a:rPr lang="en-US" sz="2500" b="1" dirty="0">
                <a:solidFill>
                  <a:srgbClr val="0F1B2D"/>
                </a:solidFill>
                <a:latin typeface="Microsoft YaHei" pitchFamily="34" charset="0"/>
                <a:ea typeface="Microsoft YaHei" pitchFamily="34" charset="-122"/>
                <a:cs typeface="Microsoft YaHei" pitchFamily="34" charset="-120"/>
              </a:rPr>
              <a:t>生成式 AI 并非解决本课程既有问题的工具，而是一个同时放大两端的变量。本课程既有的实施问题，恰是 AI 最容易加剧的部分；既有的教师负担，恰是 AI 最容易减轻的部分。</a:t>
            </a:r>
            <a:endParaRPr lang="en-US" sz="2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566182"/>
            <a:ext cx="95250" cy="95250"/>
          </a:xfrm>
          <a:prstGeom prst="ellipse">
            <a:avLst/>
          </a:prstGeom>
          <a:solidFill>
            <a:srgbClr val="C2CBD8"/>
          </a:solidFill>
          <a:ln w="25400">
            <a:solidFill>
              <a:srgbClr val="C2CBD8"/>
            </a:solidFill>
            <a:prstDash val="solid"/>
          </a:ln>
        </p:spPr>
      </p:sp>
      <p:sp>
        <p:nvSpPr>
          <p:cNvPr id="5" name="Shape 3"/>
          <p:cNvSpPr/>
          <p:nvPr/>
        </p:nvSpPr>
        <p:spPr>
          <a:xfrm>
            <a:off x="466725" y="2246539"/>
            <a:ext cx="133350" cy="133350"/>
          </a:xfrm>
          <a:prstGeom prst="ellipse">
            <a:avLst/>
          </a:prstGeom>
          <a:solidFill>
            <a:srgbClr val="B0472A"/>
          </a:solidFill>
          <a:ln w="25400">
            <a:solidFill>
              <a:srgbClr val="B0472A"/>
            </a:solidFill>
            <a:prstDash val="solid"/>
          </a:ln>
        </p:spPr>
      </p:sp>
      <p:sp>
        <p:nvSpPr>
          <p:cNvPr id="6" name="Shape 4"/>
          <p:cNvSpPr/>
          <p:nvPr/>
        </p:nvSpPr>
        <p:spPr>
          <a:xfrm>
            <a:off x="485775" y="2964996"/>
            <a:ext cx="95250" cy="95250"/>
          </a:xfrm>
          <a:prstGeom prst="ellipse">
            <a:avLst/>
          </a:prstGeom>
          <a:solidFill>
            <a:srgbClr val="FFFFFF"/>
          </a:solidFill>
          <a:ln w="25400">
            <a:solidFill>
              <a:srgbClr val="E2E7F0"/>
            </a:solidFill>
            <a:prstDash val="solid"/>
          </a:ln>
        </p:spPr>
      </p:sp>
      <p:sp>
        <p:nvSpPr>
          <p:cNvPr id="7" name="Shape 5"/>
          <p:cNvSpPr/>
          <p:nvPr/>
        </p:nvSpPr>
        <p:spPr>
          <a:xfrm>
            <a:off x="485775" y="3664404"/>
            <a:ext cx="95250" cy="95250"/>
          </a:xfrm>
          <a:prstGeom prst="ellipse">
            <a:avLst/>
          </a:prstGeom>
          <a:solidFill>
            <a:srgbClr val="FFFFFF"/>
          </a:solidFill>
          <a:ln w="25400">
            <a:solidFill>
              <a:srgbClr val="E2E7F0"/>
            </a:solidFill>
            <a:prstDash val="solid"/>
          </a:ln>
        </p:spPr>
      </p:sp>
      <p:sp>
        <p:nvSpPr>
          <p:cNvPr id="8" name="Shape 6"/>
          <p:cNvSpPr/>
          <p:nvPr/>
        </p:nvSpPr>
        <p:spPr>
          <a:xfrm>
            <a:off x="485775" y="4363811"/>
            <a:ext cx="95250" cy="95250"/>
          </a:xfrm>
          <a:prstGeom prst="ellipse">
            <a:avLst/>
          </a:prstGeom>
          <a:solidFill>
            <a:srgbClr val="FFFFFF"/>
          </a:solidFill>
          <a:ln w="25400">
            <a:solidFill>
              <a:srgbClr val="E2E7F0"/>
            </a:solidFill>
            <a:prstDash val="solid"/>
          </a:ln>
        </p:spPr>
      </p:sp>
      <p:sp>
        <p:nvSpPr>
          <p:cNvPr id="9" name="Shape 7"/>
          <p:cNvSpPr/>
          <p:nvPr/>
        </p:nvSpPr>
        <p:spPr>
          <a:xfrm>
            <a:off x="485775" y="5063218"/>
            <a:ext cx="95250" cy="95250"/>
          </a:xfrm>
          <a:prstGeom prst="ellipse">
            <a:avLst/>
          </a:prstGeom>
          <a:solidFill>
            <a:srgbClr val="FFFFFF"/>
          </a:solidFill>
          <a:ln w="25400">
            <a:solidFill>
              <a:srgbClr val="E2E7F0"/>
            </a:solidFill>
            <a:prstDash val="solid"/>
          </a:ln>
        </p:spPr>
      </p:sp>
      <p:sp>
        <p:nvSpPr>
          <p:cNvPr id="10" name="Shape 8"/>
          <p:cNvSpPr/>
          <p:nvPr/>
        </p:nvSpPr>
        <p:spPr>
          <a:xfrm>
            <a:off x="485775" y="5762625"/>
            <a:ext cx="95250" cy="95250"/>
          </a:xfrm>
          <a:prstGeom prst="ellipse">
            <a:avLst/>
          </a:prstGeom>
          <a:solidFill>
            <a:srgbClr val="FFFFFF"/>
          </a:solidFill>
          <a:ln w="25400">
            <a:solidFill>
              <a:srgbClr val="E2E7F0"/>
            </a:solidFill>
            <a:prstDash val="solid"/>
          </a:ln>
        </p:spPr>
      </p:sp>
      <p:sp>
        <p:nvSpPr>
          <p:cNvPr id="11" name="Text 9"/>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二</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2" name="Text 10"/>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08</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44</a:t>
            </a:r>
            <a:endParaRPr lang="en-US" sz="1000" dirty="0"/>
          </a:p>
        </p:txBody>
      </p:sp>
      <p:sp>
        <p:nvSpPr>
          <p:cNvPr id="13" name="Text 11"/>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4" name="Text 12"/>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第二段　·　成果可替代性与教师的专业位置</a:t>
            </a:r>
            <a:endParaRPr lang="en-US" sz="1000" dirty="0"/>
          </a:p>
        </p:txBody>
      </p:sp>
      <p:sp>
        <p:nvSpPr>
          <p:cNvPr id="15" name="Text 13"/>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四种活动方式受生成式 AI 影响的程度</a:t>
            </a:r>
            <a:endParaRPr lang="en-US" sz="3200" dirty="0"/>
          </a:p>
        </p:txBody>
      </p:sp>
      <p:pic>
        <p:nvPicPr>
          <p:cNvPr id="16" name="Image 0" descr="/home/user/slides/comprehensive-practice-ai/figures/impact.png">    </p:cNvPr>
          <p:cNvPicPr>
            <a:picLocks noChangeAspect="1"/>
          </p:cNvPicPr>
          <p:nvPr/>
        </p:nvPicPr>
        <p:blipFill>
          <a:blip r:embed="rId1"/>
          <a:stretch>
            <a:fillRect/>
          </a:stretch>
        </p:blipFill>
        <p:spPr>
          <a:xfrm>
            <a:off x="1353966" y="2080260"/>
            <a:ext cx="9864762" cy="3200400"/>
          </a:xfrm>
          <a:prstGeom prst="rect">
            <a:avLst/>
          </a:prstGeom>
        </p:spPr>
      </p:pic>
      <p:sp>
        <p:nvSpPr>
          <p:cNvPr id="17" name="Shape 14"/>
          <p:cNvSpPr/>
          <p:nvPr/>
        </p:nvSpPr>
        <p:spPr>
          <a:xfrm>
            <a:off x="1295400" y="5888736"/>
            <a:ext cx="9981895" cy="0"/>
          </a:xfrm>
          <a:prstGeom prst="line">
            <a:avLst/>
          </a:prstGeom>
          <a:noFill/>
          <a:ln w="12700">
            <a:solidFill>
              <a:srgbClr val="E2E7F0"/>
            </a:solidFill>
            <a:prstDash val="solid"/>
          </a:ln>
        </p:spPr>
      </p:sp>
      <p:sp>
        <p:nvSpPr>
          <p:cNvPr id="18" name="Text 15"/>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B6470"/>
                </a:solidFill>
                <a:latin typeface="Microsoft YaHei" pitchFamily="34" charset="0"/>
                <a:ea typeface="Microsoft YaHei" pitchFamily="34" charset="-122"/>
                <a:cs typeface="Microsoft YaHei" pitchFamily="34" charset="-120"/>
              </a:rPr>
              <a:t>四种活动方式出自《中小学综合实践活动课程指导纲要》（教材〔2017〕4 号）。此处的排序是按成果可替代性做的判断，不是测量数据，故不设数值轴。</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566182"/>
            <a:ext cx="95250" cy="95250"/>
          </a:xfrm>
          <a:prstGeom prst="ellipse">
            <a:avLst/>
          </a:prstGeom>
          <a:solidFill>
            <a:srgbClr val="C2CBD8"/>
          </a:solidFill>
          <a:ln w="25400">
            <a:solidFill>
              <a:srgbClr val="C2CBD8"/>
            </a:solidFill>
            <a:prstDash val="solid"/>
          </a:ln>
        </p:spPr>
      </p:sp>
      <p:sp>
        <p:nvSpPr>
          <p:cNvPr id="5" name="Shape 3"/>
          <p:cNvSpPr/>
          <p:nvPr/>
        </p:nvSpPr>
        <p:spPr>
          <a:xfrm>
            <a:off x="466725" y="2246539"/>
            <a:ext cx="133350" cy="133350"/>
          </a:xfrm>
          <a:prstGeom prst="ellipse">
            <a:avLst/>
          </a:prstGeom>
          <a:solidFill>
            <a:srgbClr val="B0472A"/>
          </a:solidFill>
          <a:ln w="25400">
            <a:solidFill>
              <a:srgbClr val="B0472A"/>
            </a:solidFill>
            <a:prstDash val="solid"/>
          </a:ln>
        </p:spPr>
      </p:sp>
      <p:sp>
        <p:nvSpPr>
          <p:cNvPr id="6" name="Shape 4"/>
          <p:cNvSpPr/>
          <p:nvPr/>
        </p:nvSpPr>
        <p:spPr>
          <a:xfrm>
            <a:off x="485775" y="2964996"/>
            <a:ext cx="95250" cy="95250"/>
          </a:xfrm>
          <a:prstGeom prst="ellipse">
            <a:avLst/>
          </a:prstGeom>
          <a:solidFill>
            <a:srgbClr val="FFFFFF"/>
          </a:solidFill>
          <a:ln w="25400">
            <a:solidFill>
              <a:srgbClr val="E2E7F0"/>
            </a:solidFill>
            <a:prstDash val="solid"/>
          </a:ln>
        </p:spPr>
      </p:sp>
      <p:sp>
        <p:nvSpPr>
          <p:cNvPr id="7" name="Shape 5"/>
          <p:cNvSpPr/>
          <p:nvPr/>
        </p:nvSpPr>
        <p:spPr>
          <a:xfrm>
            <a:off x="485775" y="3664404"/>
            <a:ext cx="95250" cy="95250"/>
          </a:xfrm>
          <a:prstGeom prst="ellipse">
            <a:avLst/>
          </a:prstGeom>
          <a:solidFill>
            <a:srgbClr val="FFFFFF"/>
          </a:solidFill>
          <a:ln w="25400">
            <a:solidFill>
              <a:srgbClr val="E2E7F0"/>
            </a:solidFill>
            <a:prstDash val="solid"/>
          </a:ln>
        </p:spPr>
      </p:sp>
      <p:sp>
        <p:nvSpPr>
          <p:cNvPr id="8" name="Shape 6"/>
          <p:cNvSpPr/>
          <p:nvPr/>
        </p:nvSpPr>
        <p:spPr>
          <a:xfrm>
            <a:off x="485775" y="4363811"/>
            <a:ext cx="95250" cy="95250"/>
          </a:xfrm>
          <a:prstGeom prst="ellipse">
            <a:avLst/>
          </a:prstGeom>
          <a:solidFill>
            <a:srgbClr val="FFFFFF"/>
          </a:solidFill>
          <a:ln w="25400">
            <a:solidFill>
              <a:srgbClr val="E2E7F0"/>
            </a:solidFill>
            <a:prstDash val="solid"/>
          </a:ln>
        </p:spPr>
      </p:sp>
      <p:sp>
        <p:nvSpPr>
          <p:cNvPr id="9" name="Shape 7"/>
          <p:cNvSpPr/>
          <p:nvPr/>
        </p:nvSpPr>
        <p:spPr>
          <a:xfrm>
            <a:off x="485775" y="5063218"/>
            <a:ext cx="95250" cy="95250"/>
          </a:xfrm>
          <a:prstGeom prst="ellipse">
            <a:avLst/>
          </a:prstGeom>
          <a:solidFill>
            <a:srgbClr val="FFFFFF"/>
          </a:solidFill>
          <a:ln w="25400">
            <a:solidFill>
              <a:srgbClr val="E2E7F0"/>
            </a:solidFill>
            <a:prstDash val="solid"/>
          </a:ln>
        </p:spPr>
      </p:sp>
      <p:sp>
        <p:nvSpPr>
          <p:cNvPr id="10" name="Shape 8"/>
          <p:cNvSpPr/>
          <p:nvPr/>
        </p:nvSpPr>
        <p:spPr>
          <a:xfrm>
            <a:off x="485775" y="5762625"/>
            <a:ext cx="95250" cy="95250"/>
          </a:xfrm>
          <a:prstGeom prst="ellipse">
            <a:avLst/>
          </a:prstGeom>
          <a:solidFill>
            <a:srgbClr val="FFFFFF"/>
          </a:solidFill>
          <a:ln w="25400">
            <a:solidFill>
              <a:srgbClr val="E2E7F0"/>
            </a:solidFill>
            <a:prstDash val="solid"/>
          </a:ln>
        </p:spPr>
      </p:sp>
      <p:sp>
        <p:nvSpPr>
          <p:cNvPr id="11" name="Text 9"/>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二</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2" name="Text 10"/>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09</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44</a:t>
            </a:r>
            <a:endParaRPr lang="en-US" sz="1000" dirty="0"/>
          </a:p>
        </p:txBody>
      </p:sp>
      <p:sp>
        <p:nvSpPr>
          <p:cNvPr id="13" name="Text 11"/>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4" name="Text 12"/>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第二段　·　成果可替代性与教师的专业位置</a:t>
            </a:r>
            <a:endParaRPr lang="en-US" sz="1000" dirty="0"/>
          </a:p>
        </p:txBody>
      </p:sp>
      <p:sp>
        <p:nvSpPr>
          <p:cNvPr id="15" name="Text 13"/>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覆盖缺口与影响强度的交集</a:t>
            </a:r>
            <a:endParaRPr lang="en-US" sz="3200" dirty="0"/>
          </a:p>
        </p:txBody>
      </p:sp>
      <p:pic>
        <p:nvPicPr>
          <p:cNvPr id="16" name="Image 0" descr="/home/user/slides/comprehensive-practice-ai/figures/overlap.png">    </p:cNvPr>
          <p:cNvPicPr>
            <a:picLocks noChangeAspect="1"/>
          </p:cNvPicPr>
          <p:nvPr/>
        </p:nvPicPr>
        <p:blipFill>
          <a:blip r:embed="rId1"/>
          <a:stretch>
            <a:fillRect/>
          </a:stretch>
        </p:blipFill>
        <p:spPr>
          <a:xfrm>
            <a:off x="1704354" y="1879092"/>
            <a:ext cx="9163987" cy="3200400"/>
          </a:xfrm>
          <a:prstGeom prst="rect">
            <a:avLst/>
          </a:prstGeom>
        </p:spPr>
      </p:pic>
      <p:sp>
        <p:nvSpPr>
          <p:cNvPr id="17" name="Text 14"/>
          <p:cNvSpPr/>
          <p:nvPr/>
        </p:nvSpPr>
        <p:spPr>
          <a:xfrm>
            <a:off x="1295400" y="5244084"/>
            <a:ext cx="9981895" cy="365760"/>
          </a:xfrm>
          <a:prstGeom prst="rect">
            <a:avLst/>
          </a:prstGeom>
          <a:noFill/>
          <a:ln/>
        </p:spPr>
        <p:txBody>
          <a:bodyPr wrap="square" lIns="0" tIns="0" rIns="0" bIns="0" rtlCol="0" anchor="ctr"/>
          <a:lstStyle/>
          <a:p>
            <a:pPr indent="0" marL="0">
              <a:buNone/>
            </a:pPr>
            <a:r>
              <a:rPr lang="en-US" sz="1500" dirty="0">
                <a:solidFill>
                  <a:srgbClr val="1A2029"/>
                </a:solidFill>
                <a:latin typeface="Microsoft YaHei" pitchFamily="34" charset="0"/>
                <a:ea typeface="Microsoft YaHei" pitchFamily="34" charset="-122"/>
                <a:cs typeface="Microsoft YaHei" pitchFamily="34" charset="-120"/>
              </a:rPr>
              <a:t>做中学未覆盖的两种活动方式，正是受生成式 AI 影响最轻的两种。</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566182"/>
            <a:ext cx="95250" cy="95250"/>
          </a:xfrm>
          <a:prstGeom prst="ellipse">
            <a:avLst/>
          </a:prstGeom>
          <a:solidFill>
            <a:srgbClr val="C2CBD8"/>
          </a:solidFill>
          <a:ln w="25400">
            <a:solidFill>
              <a:srgbClr val="C2CBD8"/>
            </a:solidFill>
            <a:prstDash val="solid"/>
          </a:ln>
        </p:spPr>
      </p:sp>
      <p:sp>
        <p:nvSpPr>
          <p:cNvPr id="5" name="Shape 3"/>
          <p:cNvSpPr/>
          <p:nvPr/>
        </p:nvSpPr>
        <p:spPr>
          <a:xfrm>
            <a:off x="466725" y="2246539"/>
            <a:ext cx="133350" cy="133350"/>
          </a:xfrm>
          <a:prstGeom prst="ellipse">
            <a:avLst/>
          </a:prstGeom>
          <a:solidFill>
            <a:srgbClr val="B0472A"/>
          </a:solidFill>
          <a:ln w="25400">
            <a:solidFill>
              <a:srgbClr val="B0472A"/>
            </a:solidFill>
            <a:prstDash val="solid"/>
          </a:ln>
        </p:spPr>
      </p:sp>
      <p:sp>
        <p:nvSpPr>
          <p:cNvPr id="6" name="Shape 4"/>
          <p:cNvSpPr/>
          <p:nvPr/>
        </p:nvSpPr>
        <p:spPr>
          <a:xfrm>
            <a:off x="485775" y="2964996"/>
            <a:ext cx="95250" cy="95250"/>
          </a:xfrm>
          <a:prstGeom prst="ellipse">
            <a:avLst/>
          </a:prstGeom>
          <a:solidFill>
            <a:srgbClr val="FFFFFF"/>
          </a:solidFill>
          <a:ln w="25400">
            <a:solidFill>
              <a:srgbClr val="E2E7F0"/>
            </a:solidFill>
            <a:prstDash val="solid"/>
          </a:ln>
        </p:spPr>
      </p:sp>
      <p:sp>
        <p:nvSpPr>
          <p:cNvPr id="7" name="Shape 5"/>
          <p:cNvSpPr/>
          <p:nvPr/>
        </p:nvSpPr>
        <p:spPr>
          <a:xfrm>
            <a:off x="485775" y="3664404"/>
            <a:ext cx="95250" cy="95250"/>
          </a:xfrm>
          <a:prstGeom prst="ellipse">
            <a:avLst/>
          </a:prstGeom>
          <a:solidFill>
            <a:srgbClr val="FFFFFF"/>
          </a:solidFill>
          <a:ln w="25400">
            <a:solidFill>
              <a:srgbClr val="E2E7F0"/>
            </a:solidFill>
            <a:prstDash val="solid"/>
          </a:ln>
        </p:spPr>
      </p:sp>
      <p:sp>
        <p:nvSpPr>
          <p:cNvPr id="8" name="Shape 6"/>
          <p:cNvSpPr/>
          <p:nvPr/>
        </p:nvSpPr>
        <p:spPr>
          <a:xfrm>
            <a:off x="485775" y="4363811"/>
            <a:ext cx="95250" cy="95250"/>
          </a:xfrm>
          <a:prstGeom prst="ellipse">
            <a:avLst/>
          </a:prstGeom>
          <a:solidFill>
            <a:srgbClr val="FFFFFF"/>
          </a:solidFill>
          <a:ln w="25400">
            <a:solidFill>
              <a:srgbClr val="E2E7F0"/>
            </a:solidFill>
            <a:prstDash val="solid"/>
          </a:ln>
        </p:spPr>
      </p:sp>
      <p:sp>
        <p:nvSpPr>
          <p:cNvPr id="9" name="Shape 7"/>
          <p:cNvSpPr/>
          <p:nvPr/>
        </p:nvSpPr>
        <p:spPr>
          <a:xfrm>
            <a:off x="485775" y="5063218"/>
            <a:ext cx="95250" cy="95250"/>
          </a:xfrm>
          <a:prstGeom prst="ellipse">
            <a:avLst/>
          </a:prstGeom>
          <a:solidFill>
            <a:srgbClr val="FFFFFF"/>
          </a:solidFill>
          <a:ln w="25400">
            <a:solidFill>
              <a:srgbClr val="E2E7F0"/>
            </a:solidFill>
            <a:prstDash val="solid"/>
          </a:ln>
        </p:spPr>
      </p:sp>
      <p:sp>
        <p:nvSpPr>
          <p:cNvPr id="10" name="Shape 8"/>
          <p:cNvSpPr/>
          <p:nvPr/>
        </p:nvSpPr>
        <p:spPr>
          <a:xfrm>
            <a:off x="485775" y="5762625"/>
            <a:ext cx="95250" cy="95250"/>
          </a:xfrm>
          <a:prstGeom prst="ellipse">
            <a:avLst/>
          </a:prstGeom>
          <a:solidFill>
            <a:srgbClr val="FFFFFF"/>
          </a:solidFill>
          <a:ln w="25400">
            <a:solidFill>
              <a:srgbClr val="E2E7F0"/>
            </a:solidFill>
            <a:prstDash val="solid"/>
          </a:ln>
        </p:spPr>
      </p:sp>
      <p:sp>
        <p:nvSpPr>
          <p:cNvPr id="11" name="Text 9"/>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二</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2" name="Text 10"/>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10</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44</a:t>
            </a:r>
            <a:endParaRPr lang="en-US" sz="1000" dirty="0"/>
          </a:p>
        </p:txBody>
      </p:sp>
      <p:sp>
        <p:nvSpPr>
          <p:cNvPr id="13" name="Text 11"/>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4" name="Text 12"/>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第二段　·　成果可替代性与教师的专业位置</a:t>
            </a:r>
            <a:endParaRPr lang="en-US" sz="1000" dirty="0"/>
          </a:p>
        </p:txBody>
      </p:sp>
      <p:sp>
        <p:nvSpPr>
          <p:cNvPr id="15" name="Text 13"/>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被覆盖部分的教学压力</a:t>
            </a:r>
            <a:endParaRPr lang="en-US" sz="3200" dirty="0"/>
          </a:p>
        </p:txBody>
      </p:sp>
      <p:sp>
        <p:nvSpPr>
          <p:cNvPr id="16" name="Text 14"/>
          <p:cNvSpPr/>
          <p:nvPr/>
        </p:nvSpPr>
        <p:spPr>
          <a:xfrm>
            <a:off x="1295400" y="2377440"/>
            <a:ext cx="365760" cy="365760"/>
          </a:xfrm>
          <a:prstGeom prst="rect">
            <a:avLst/>
          </a:prstGeom>
          <a:noFill/>
          <a:ln/>
        </p:spPr>
        <p:txBody>
          <a:bodyPr wrap="square" lIns="0" tIns="0" rIns="0" bIns="0" rtlCol="0" anchor="ctr"/>
          <a:lstStyle/>
          <a:p>
            <a:pPr indent="0" marL="0">
              <a:buNone/>
            </a:pPr>
            <a:r>
              <a:rPr lang="en-US" sz="1500" b="1" dirty="0">
                <a:solidFill>
                  <a:srgbClr val="B0472A"/>
                </a:solidFill>
                <a:latin typeface="Microsoft YaHei" pitchFamily="34" charset="0"/>
                <a:ea typeface="Microsoft YaHei" pitchFamily="34" charset="-122"/>
                <a:cs typeface="Microsoft YaHei" pitchFamily="34" charset="-120"/>
              </a:rPr>
              <a:t>1</a:t>
            </a:r>
            <a:endParaRPr lang="en-US" sz="1500" dirty="0"/>
          </a:p>
        </p:txBody>
      </p:sp>
      <p:sp>
        <p:nvSpPr>
          <p:cNvPr id="17" name="Text 15"/>
          <p:cNvSpPr/>
          <p:nvPr/>
        </p:nvSpPr>
        <p:spPr>
          <a:xfrm>
            <a:off x="1770888" y="2350008"/>
            <a:ext cx="9506407" cy="548640"/>
          </a:xfrm>
          <a:prstGeom prst="rect">
            <a:avLst/>
          </a:prstGeom>
          <a:noFill/>
          <a:ln/>
        </p:spPr>
        <p:txBody>
          <a:bodyPr wrap="square" lIns="0" tIns="0" rIns="0" bIns="0" rtlCol="0" anchor="t"/>
          <a:lstStyle/>
          <a:p>
            <a:pPr indent="0" marL="0">
              <a:lnSpc>
                <a:spcPct val="140000"/>
              </a:lnSpc>
              <a:buNone/>
            </a:pPr>
            <a:r>
              <a:rPr lang="en-US" sz="1600" dirty="0">
                <a:solidFill>
                  <a:srgbClr val="1A2029"/>
                </a:solidFill>
                <a:latin typeface="Microsoft YaHei" pitchFamily="34" charset="0"/>
                <a:ea typeface="Microsoft YaHei" pitchFamily="34" charset="-122"/>
                <a:cs typeface="Microsoft YaHei" pitchFamily="34" charset="-120"/>
              </a:rPr>
              <a:t>被覆盖的一半仍须教学，且是当前政策加压的一半。</a:t>
            </a:r>
            <a:endParaRPr lang="en-US" sz="1600" dirty="0"/>
          </a:p>
        </p:txBody>
      </p:sp>
      <p:sp>
        <p:nvSpPr>
          <p:cNvPr id="18" name="Text 16"/>
          <p:cNvSpPr/>
          <p:nvPr/>
        </p:nvSpPr>
        <p:spPr>
          <a:xfrm>
            <a:off x="1295400" y="3035808"/>
            <a:ext cx="365760" cy="365760"/>
          </a:xfrm>
          <a:prstGeom prst="rect">
            <a:avLst/>
          </a:prstGeom>
          <a:noFill/>
          <a:ln/>
        </p:spPr>
        <p:txBody>
          <a:bodyPr wrap="square" lIns="0" tIns="0" rIns="0" bIns="0" rtlCol="0" anchor="ctr"/>
          <a:lstStyle/>
          <a:p>
            <a:pPr indent="0" marL="0">
              <a:buNone/>
            </a:pPr>
            <a:r>
              <a:rPr lang="en-US" sz="1500" b="1" dirty="0">
                <a:solidFill>
                  <a:srgbClr val="B0472A"/>
                </a:solidFill>
                <a:latin typeface="Microsoft YaHei" pitchFamily="34" charset="0"/>
                <a:ea typeface="Microsoft YaHei" pitchFamily="34" charset="-122"/>
                <a:cs typeface="Microsoft YaHei" pitchFamily="34" charset="-120"/>
              </a:rPr>
              <a:t>2</a:t>
            </a:r>
            <a:endParaRPr lang="en-US" sz="1500" dirty="0"/>
          </a:p>
        </p:txBody>
      </p:sp>
      <p:sp>
        <p:nvSpPr>
          <p:cNvPr id="19" name="Text 17"/>
          <p:cNvSpPr/>
          <p:nvPr/>
        </p:nvSpPr>
        <p:spPr>
          <a:xfrm>
            <a:off x="1770888" y="3008376"/>
            <a:ext cx="9506407" cy="548640"/>
          </a:xfrm>
          <a:prstGeom prst="rect">
            <a:avLst/>
          </a:prstGeom>
          <a:noFill/>
          <a:ln/>
        </p:spPr>
        <p:txBody>
          <a:bodyPr wrap="square" lIns="0" tIns="0" rIns="0" bIns="0" rtlCol="0" anchor="t"/>
          <a:lstStyle/>
          <a:p>
            <a:pPr indent="0" marL="0">
              <a:lnSpc>
                <a:spcPct val="140000"/>
              </a:lnSpc>
              <a:buNone/>
            </a:pPr>
            <a:r>
              <a:rPr lang="en-US" sz="1600" dirty="0">
                <a:solidFill>
                  <a:srgbClr val="1A2029"/>
                </a:solidFill>
                <a:latin typeface="Microsoft YaHei" pitchFamily="34" charset="0"/>
                <a:ea typeface="Microsoft YaHei" pitchFamily="34" charset="-122"/>
                <a:cs typeface="Microsoft YaHei" pitchFamily="34" charset="-120"/>
              </a:rPr>
              <a:t>任务周期紧张时，教师的本能是借助 AI 加速耗时的环节。</a:t>
            </a:r>
            <a:endParaRPr lang="en-US" sz="1600" dirty="0"/>
          </a:p>
        </p:txBody>
      </p:sp>
      <p:sp>
        <p:nvSpPr>
          <p:cNvPr id="20" name="Text 18"/>
          <p:cNvSpPr/>
          <p:nvPr/>
        </p:nvSpPr>
        <p:spPr>
          <a:xfrm>
            <a:off x="1295400" y="3694176"/>
            <a:ext cx="365760" cy="365760"/>
          </a:xfrm>
          <a:prstGeom prst="rect">
            <a:avLst/>
          </a:prstGeom>
          <a:noFill/>
          <a:ln/>
        </p:spPr>
        <p:txBody>
          <a:bodyPr wrap="square" lIns="0" tIns="0" rIns="0" bIns="0" rtlCol="0" anchor="ctr"/>
          <a:lstStyle/>
          <a:p>
            <a:pPr indent="0" marL="0">
              <a:buNone/>
            </a:pPr>
            <a:r>
              <a:rPr lang="en-US" sz="1500" b="1" dirty="0">
                <a:solidFill>
                  <a:srgbClr val="B0472A"/>
                </a:solidFill>
                <a:latin typeface="Microsoft YaHei" pitchFamily="34" charset="0"/>
                <a:ea typeface="Microsoft YaHei" pitchFamily="34" charset="-122"/>
                <a:cs typeface="Microsoft YaHei" pitchFamily="34" charset="-120"/>
              </a:rPr>
              <a:t>3</a:t>
            </a:r>
            <a:endParaRPr lang="en-US" sz="1500" dirty="0"/>
          </a:p>
        </p:txBody>
      </p:sp>
      <p:sp>
        <p:nvSpPr>
          <p:cNvPr id="21" name="Text 19"/>
          <p:cNvSpPr/>
          <p:nvPr/>
        </p:nvSpPr>
        <p:spPr>
          <a:xfrm>
            <a:off x="1770888" y="3666744"/>
            <a:ext cx="9506407" cy="548640"/>
          </a:xfrm>
          <a:prstGeom prst="rect">
            <a:avLst/>
          </a:prstGeom>
          <a:noFill/>
          <a:ln/>
        </p:spPr>
        <p:txBody>
          <a:bodyPr wrap="square" lIns="0" tIns="0" rIns="0" bIns="0" rtlCol="0" anchor="t"/>
          <a:lstStyle/>
          <a:p>
            <a:pPr indent="0" marL="0">
              <a:lnSpc>
                <a:spcPct val="140000"/>
              </a:lnSpc>
              <a:buNone/>
            </a:pPr>
            <a:r>
              <a:rPr lang="en-US" sz="1600" dirty="0">
                <a:solidFill>
                  <a:srgbClr val="1A2029"/>
                </a:solidFill>
                <a:latin typeface="Microsoft YaHei" pitchFamily="34" charset="0"/>
                <a:ea typeface="Microsoft YaHei" pitchFamily="34" charset="-122"/>
                <a:cs typeface="Microsoft YaHei" pitchFamily="34" charset="-120"/>
              </a:rPr>
              <a:t>而耗时的环节正是本课程的教学内容。</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566182"/>
            <a:ext cx="95250" cy="95250"/>
          </a:xfrm>
          <a:prstGeom prst="ellipse">
            <a:avLst/>
          </a:prstGeom>
          <a:solidFill>
            <a:srgbClr val="C2CBD8"/>
          </a:solidFill>
          <a:ln w="25400">
            <a:solidFill>
              <a:srgbClr val="C2CBD8"/>
            </a:solidFill>
            <a:prstDash val="solid"/>
          </a:ln>
        </p:spPr>
      </p:sp>
      <p:sp>
        <p:nvSpPr>
          <p:cNvPr id="5" name="Shape 3"/>
          <p:cNvSpPr/>
          <p:nvPr/>
        </p:nvSpPr>
        <p:spPr>
          <a:xfrm>
            <a:off x="485775" y="2265589"/>
            <a:ext cx="95250" cy="95250"/>
          </a:xfrm>
          <a:prstGeom prst="ellipse">
            <a:avLst/>
          </a:prstGeom>
          <a:solidFill>
            <a:srgbClr val="C2CBD8"/>
          </a:solidFill>
          <a:ln w="25400">
            <a:solidFill>
              <a:srgbClr val="C2CBD8"/>
            </a:solidFill>
            <a:prstDash val="solid"/>
          </a:ln>
        </p:spPr>
      </p:sp>
      <p:sp>
        <p:nvSpPr>
          <p:cNvPr id="6" name="Shape 4"/>
          <p:cNvSpPr/>
          <p:nvPr/>
        </p:nvSpPr>
        <p:spPr>
          <a:xfrm>
            <a:off x="466725" y="2945946"/>
            <a:ext cx="133350" cy="133350"/>
          </a:xfrm>
          <a:prstGeom prst="ellipse">
            <a:avLst/>
          </a:prstGeom>
          <a:solidFill>
            <a:srgbClr val="B0472A"/>
          </a:solidFill>
          <a:ln w="25400">
            <a:solidFill>
              <a:srgbClr val="B0472A"/>
            </a:solidFill>
            <a:prstDash val="solid"/>
          </a:ln>
        </p:spPr>
      </p:sp>
      <p:sp>
        <p:nvSpPr>
          <p:cNvPr id="7" name="Shape 5"/>
          <p:cNvSpPr/>
          <p:nvPr/>
        </p:nvSpPr>
        <p:spPr>
          <a:xfrm>
            <a:off x="485775" y="3664404"/>
            <a:ext cx="95250" cy="95250"/>
          </a:xfrm>
          <a:prstGeom prst="ellipse">
            <a:avLst/>
          </a:prstGeom>
          <a:solidFill>
            <a:srgbClr val="FFFFFF"/>
          </a:solidFill>
          <a:ln w="25400">
            <a:solidFill>
              <a:srgbClr val="E2E7F0"/>
            </a:solidFill>
            <a:prstDash val="solid"/>
          </a:ln>
        </p:spPr>
      </p:sp>
      <p:sp>
        <p:nvSpPr>
          <p:cNvPr id="8" name="Shape 6"/>
          <p:cNvSpPr/>
          <p:nvPr/>
        </p:nvSpPr>
        <p:spPr>
          <a:xfrm>
            <a:off x="485775" y="4363811"/>
            <a:ext cx="95250" cy="95250"/>
          </a:xfrm>
          <a:prstGeom prst="ellipse">
            <a:avLst/>
          </a:prstGeom>
          <a:solidFill>
            <a:srgbClr val="FFFFFF"/>
          </a:solidFill>
          <a:ln w="25400">
            <a:solidFill>
              <a:srgbClr val="E2E7F0"/>
            </a:solidFill>
            <a:prstDash val="solid"/>
          </a:ln>
        </p:spPr>
      </p:sp>
      <p:sp>
        <p:nvSpPr>
          <p:cNvPr id="9" name="Shape 7"/>
          <p:cNvSpPr/>
          <p:nvPr/>
        </p:nvSpPr>
        <p:spPr>
          <a:xfrm>
            <a:off x="485775" y="5063218"/>
            <a:ext cx="95250" cy="95250"/>
          </a:xfrm>
          <a:prstGeom prst="ellipse">
            <a:avLst/>
          </a:prstGeom>
          <a:solidFill>
            <a:srgbClr val="FFFFFF"/>
          </a:solidFill>
          <a:ln w="25400">
            <a:solidFill>
              <a:srgbClr val="E2E7F0"/>
            </a:solidFill>
            <a:prstDash val="solid"/>
          </a:ln>
        </p:spPr>
      </p:sp>
      <p:sp>
        <p:nvSpPr>
          <p:cNvPr id="10" name="Shape 8"/>
          <p:cNvSpPr/>
          <p:nvPr/>
        </p:nvSpPr>
        <p:spPr>
          <a:xfrm>
            <a:off x="485775" y="5762625"/>
            <a:ext cx="95250" cy="95250"/>
          </a:xfrm>
          <a:prstGeom prst="ellipse">
            <a:avLst/>
          </a:prstGeom>
          <a:solidFill>
            <a:srgbClr val="FFFFFF"/>
          </a:solidFill>
          <a:ln w="25400">
            <a:solidFill>
              <a:srgbClr val="E2E7F0"/>
            </a:solidFill>
            <a:prstDash val="solid"/>
          </a:ln>
        </p:spPr>
      </p:sp>
      <p:sp>
        <p:nvSpPr>
          <p:cNvPr id="11" name="Text 9"/>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三</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2" name="Text 10"/>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11</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44</a:t>
            </a:r>
            <a:endParaRPr lang="en-US" sz="1000" dirty="0"/>
          </a:p>
        </p:txBody>
      </p:sp>
      <p:sp>
        <p:nvSpPr>
          <p:cNvPr id="13" name="Text 11"/>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4" name="Text 12"/>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第三段　·　既有问题与生成式 AI 的作用方向</a:t>
            </a:r>
            <a:endParaRPr lang="en-US" sz="1000" dirty="0"/>
          </a:p>
        </p:txBody>
      </p:sp>
      <p:sp>
        <p:nvSpPr>
          <p:cNvPr id="15" name="Text 13"/>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课程实施的六类既有问题</a:t>
            </a:r>
            <a:endParaRPr lang="en-US" sz="3200" dirty="0"/>
          </a:p>
        </p:txBody>
      </p:sp>
      <p:sp>
        <p:nvSpPr>
          <p:cNvPr id="16" name="Shape 14"/>
          <p:cNvSpPr/>
          <p:nvPr/>
        </p:nvSpPr>
        <p:spPr>
          <a:xfrm>
            <a:off x="1295400" y="2286000"/>
            <a:ext cx="4798924" cy="530352"/>
          </a:xfrm>
          <a:prstGeom prst="roundRect">
            <a:avLst>
              <a:gd name="adj" fmla="val 12069"/>
            </a:avLst>
          </a:prstGeom>
          <a:solidFill>
            <a:srgbClr val="FFFFFF"/>
          </a:solidFill>
          <a:ln w="12700">
            <a:solidFill>
              <a:srgbClr val="E2E7F0"/>
            </a:solidFill>
            <a:prstDash val="solid"/>
          </a:ln>
        </p:spPr>
      </p:sp>
      <p:sp>
        <p:nvSpPr>
          <p:cNvPr id="17" name="Text 15"/>
          <p:cNvSpPr/>
          <p:nvPr/>
        </p:nvSpPr>
        <p:spPr>
          <a:xfrm>
            <a:off x="1478280" y="2286000"/>
            <a:ext cx="365760" cy="530352"/>
          </a:xfrm>
          <a:prstGeom prst="rect">
            <a:avLst/>
          </a:prstGeom>
          <a:noFill/>
          <a:ln/>
        </p:spPr>
        <p:txBody>
          <a:bodyPr wrap="square" lIns="0" tIns="0" rIns="0" bIns="0" rtlCol="0" anchor="ctr"/>
          <a:lstStyle/>
          <a:p>
            <a:pPr indent="0" marL="0">
              <a:buNone/>
            </a:pPr>
            <a:r>
              <a:rPr lang="en-US" sz="1200" b="1" dirty="0">
                <a:solidFill>
                  <a:srgbClr val="A9B3C0"/>
                </a:solidFill>
                <a:latin typeface="Microsoft YaHei" pitchFamily="34" charset="0"/>
                <a:ea typeface="Microsoft YaHei" pitchFamily="34" charset="-122"/>
                <a:cs typeface="Microsoft YaHei" pitchFamily="34" charset="-120"/>
              </a:rPr>
              <a:t>01</a:t>
            </a:r>
            <a:endParaRPr lang="en-US" sz="1200" dirty="0"/>
          </a:p>
        </p:txBody>
      </p:sp>
      <p:sp>
        <p:nvSpPr>
          <p:cNvPr id="18" name="Text 16"/>
          <p:cNvSpPr/>
          <p:nvPr/>
        </p:nvSpPr>
        <p:spPr>
          <a:xfrm>
            <a:off x="1898904" y="2286000"/>
            <a:ext cx="4012540" cy="530352"/>
          </a:xfrm>
          <a:prstGeom prst="rect">
            <a:avLst/>
          </a:prstGeom>
          <a:noFill/>
          <a:ln/>
        </p:spPr>
        <p:txBody>
          <a:bodyPr wrap="square" lIns="0" tIns="0" rIns="0" bIns="0" rtlCol="0" anchor="ctr"/>
          <a:lstStyle/>
          <a:p>
            <a:pPr indent="0" marL="0">
              <a:buNone/>
            </a:pPr>
            <a:r>
              <a:rPr lang="en-US" sz="1450" dirty="0">
                <a:solidFill>
                  <a:srgbClr val="1A2029"/>
                </a:solidFill>
                <a:latin typeface="Microsoft YaHei" pitchFamily="34" charset="0"/>
                <a:ea typeface="Microsoft YaHei" pitchFamily="34" charset="-122"/>
                <a:cs typeface="Microsoft YaHei" pitchFamily="34" charset="-120"/>
              </a:rPr>
              <a:t>课时被挤占</a:t>
            </a:r>
            <a:endParaRPr lang="en-US" sz="1450" dirty="0"/>
          </a:p>
        </p:txBody>
      </p:sp>
      <p:sp>
        <p:nvSpPr>
          <p:cNvPr id="19" name="Shape 17"/>
          <p:cNvSpPr/>
          <p:nvPr/>
        </p:nvSpPr>
        <p:spPr>
          <a:xfrm>
            <a:off x="6478372" y="2286000"/>
            <a:ext cx="4798924" cy="530352"/>
          </a:xfrm>
          <a:prstGeom prst="roundRect">
            <a:avLst>
              <a:gd name="adj" fmla="val 12069"/>
            </a:avLst>
          </a:prstGeom>
          <a:solidFill>
            <a:srgbClr val="FFFFFF"/>
          </a:solidFill>
          <a:ln w="12700">
            <a:solidFill>
              <a:srgbClr val="E2E7F0"/>
            </a:solidFill>
            <a:prstDash val="solid"/>
          </a:ln>
        </p:spPr>
      </p:sp>
      <p:sp>
        <p:nvSpPr>
          <p:cNvPr id="20" name="Text 18"/>
          <p:cNvSpPr/>
          <p:nvPr/>
        </p:nvSpPr>
        <p:spPr>
          <a:xfrm>
            <a:off x="6661252" y="2286000"/>
            <a:ext cx="365760" cy="530352"/>
          </a:xfrm>
          <a:prstGeom prst="rect">
            <a:avLst/>
          </a:prstGeom>
          <a:noFill/>
          <a:ln/>
        </p:spPr>
        <p:txBody>
          <a:bodyPr wrap="square" lIns="0" tIns="0" rIns="0" bIns="0" rtlCol="0" anchor="ctr"/>
          <a:lstStyle/>
          <a:p>
            <a:pPr indent="0" marL="0">
              <a:buNone/>
            </a:pPr>
            <a:r>
              <a:rPr lang="en-US" sz="1200" b="1" dirty="0">
                <a:solidFill>
                  <a:srgbClr val="A9B3C0"/>
                </a:solidFill>
                <a:latin typeface="Microsoft YaHei" pitchFamily="34" charset="0"/>
                <a:ea typeface="Microsoft YaHei" pitchFamily="34" charset="-122"/>
                <a:cs typeface="Microsoft YaHei" pitchFamily="34" charset="-120"/>
              </a:rPr>
              <a:t>02</a:t>
            </a:r>
            <a:endParaRPr lang="en-US" sz="1200" dirty="0"/>
          </a:p>
        </p:txBody>
      </p:sp>
      <p:sp>
        <p:nvSpPr>
          <p:cNvPr id="21" name="Text 19"/>
          <p:cNvSpPr/>
          <p:nvPr/>
        </p:nvSpPr>
        <p:spPr>
          <a:xfrm>
            <a:off x="7081876" y="2286000"/>
            <a:ext cx="4012540" cy="530352"/>
          </a:xfrm>
          <a:prstGeom prst="rect">
            <a:avLst/>
          </a:prstGeom>
          <a:noFill/>
          <a:ln/>
        </p:spPr>
        <p:txBody>
          <a:bodyPr wrap="square" lIns="0" tIns="0" rIns="0" bIns="0" rtlCol="0" anchor="ctr"/>
          <a:lstStyle/>
          <a:p>
            <a:pPr indent="0" marL="0">
              <a:buNone/>
            </a:pPr>
            <a:r>
              <a:rPr lang="en-US" sz="1450" dirty="0">
                <a:solidFill>
                  <a:srgbClr val="1A2029"/>
                </a:solidFill>
                <a:latin typeface="Microsoft YaHei" pitchFamily="34" charset="0"/>
                <a:ea typeface="Microsoft YaHei" pitchFamily="34" charset="-122"/>
                <a:cs typeface="Microsoft YaHei" pitchFamily="34" charset="-120"/>
              </a:rPr>
              <a:t>师资兼任</a:t>
            </a:r>
            <a:endParaRPr lang="en-US" sz="1450" dirty="0"/>
          </a:p>
        </p:txBody>
      </p:sp>
      <p:sp>
        <p:nvSpPr>
          <p:cNvPr id="22" name="Shape 20"/>
          <p:cNvSpPr/>
          <p:nvPr/>
        </p:nvSpPr>
        <p:spPr>
          <a:xfrm>
            <a:off x="1295400" y="2962656"/>
            <a:ext cx="4798924" cy="530352"/>
          </a:xfrm>
          <a:prstGeom prst="roundRect">
            <a:avLst>
              <a:gd name="adj" fmla="val 12069"/>
            </a:avLst>
          </a:prstGeom>
          <a:solidFill>
            <a:srgbClr val="FFFFFF"/>
          </a:solidFill>
          <a:ln w="12700">
            <a:solidFill>
              <a:srgbClr val="E2E7F0"/>
            </a:solidFill>
            <a:prstDash val="solid"/>
          </a:ln>
        </p:spPr>
      </p:sp>
      <p:sp>
        <p:nvSpPr>
          <p:cNvPr id="23" name="Text 21"/>
          <p:cNvSpPr/>
          <p:nvPr/>
        </p:nvSpPr>
        <p:spPr>
          <a:xfrm>
            <a:off x="1478280" y="2962656"/>
            <a:ext cx="365760" cy="530352"/>
          </a:xfrm>
          <a:prstGeom prst="rect">
            <a:avLst/>
          </a:prstGeom>
          <a:noFill/>
          <a:ln/>
        </p:spPr>
        <p:txBody>
          <a:bodyPr wrap="square" lIns="0" tIns="0" rIns="0" bIns="0" rtlCol="0" anchor="ctr"/>
          <a:lstStyle/>
          <a:p>
            <a:pPr indent="0" marL="0">
              <a:buNone/>
            </a:pPr>
            <a:r>
              <a:rPr lang="en-US" sz="1200" b="1" dirty="0">
                <a:solidFill>
                  <a:srgbClr val="A9B3C0"/>
                </a:solidFill>
                <a:latin typeface="Microsoft YaHei" pitchFamily="34" charset="0"/>
                <a:ea typeface="Microsoft YaHei" pitchFamily="34" charset="-122"/>
                <a:cs typeface="Microsoft YaHei" pitchFamily="34" charset="-120"/>
              </a:rPr>
              <a:t>03</a:t>
            </a:r>
            <a:endParaRPr lang="en-US" sz="1200" dirty="0"/>
          </a:p>
        </p:txBody>
      </p:sp>
      <p:sp>
        <p:nvSpPr>
          <p:cNvPr id="24" name="Text 22"/>
          <p:cNvSpPr/>
          <p:nvPr/>
        </p:nvSpPr>
        <p:spPr>
          <a:xfrm>
            <a:off x="1898904" y="2962656"/>
            <a:ext cx="4012540" cy="530352"/>
          </a:xfrm>
          <a:prstGeom prst="rect">
            <a:avLst/>
          </a:prstGeom>
          <a:noFill/>
          <a:ln/>
        </p:spPr>
        <p:txBody>
          <a:bodyPr wrap="square" lIns="0" tIns="0" rIns="0" bIns="0" rtlCol="0" anchor="ctr"/>
          <a:lstStyle/>
          <a:p>
            <a:pPr indent="0" marL="0">
              <a:buNone/>
            </a:pPr>
            <a:r>
              <a:rPr lang="en-US" sz="1450" dirty="0">
                <a:solidFill>
                  <a:srgbClr val="1A2029"/>
                </a:solidFill>
                <a:latin typeface="Microsoft YaHei" pitchFamily="34" charset="0"/>
                <a:ea typeface="Microsoft YaHei" pitchFamily="34" charset="-122"/>
                <a:cs typeface="Microsoft YaHei" pitchFamily="34" charset="-120"/>
              </a:rPr>
              <a:t>形式化、材料化、成果拼盘</a:t>
            </a:r>
            <a:endParaRPr lang="en-US" sz="1450" dirty="0"/>
          </a:p>
        </p:txBody>
      </p:sp>
      <p:sp>
        <p:nvSpPr>
          <p:cNvPr id="25" name="Shape 23"/>
          <p:cNvSpPr/>
          <p:nvPr/>
        </p:nvSpPr>
        <p:spPr>
          <a:xfrm>
            <a:off x="6478372" y="2962656"/>
            <a:ext cx="4798924" cy="530352"/>
          </a:xfrm>
          <a:prstGeom prst="roundRect">
            <a:avLst>
              <a:gd name="adj" fmla="val 12069"/>
            </a:avLst>
          </a:prstGeom>
          <a:solidFill>
            <a:srgbClr val="FFFFFF"/>
          </a:solidFill>
          <a:ln w="12700">
            <a:solidFill>
              <a:srgbClr val="E2E7F0"/>
            </a:solidFill>
            <a:prstDash val="solid"/>
          </a:ln>
        </p:spPr>
      </p:sp>
      <p:sp>
        <p:nvSpPr>
          <p:cNvPr id="26" name="Text 24"/>
          <p:cNvSpPr/>
          <p:nvPr/>
        </p:nvSpPr>
        <p:spPr>
          <a:xfrm>
            <a:off x="6661252" y="2962656"/>
            <a:ext cx="365760" cy="530352"/>
          </a:xfrm>
          <a:prstGeom prst="rect">
            <a:avLst/>
          </a:prstGeom>
          <a:noFill/>
          <a:ln/>
        </p:spPr>
        <p:txBody>
          <a:bodyPr wrap="square" lIns="0" tIns="0" rIns="0" bIns="0" rtlCol="0" anchor="ctr"/>
          <a:lstStyle/>
          <a:p>
            <a:pPr indent="0" marL="0">
              <a:buNone/>
            </a:pPr>
            <a:r>
              <a:rPr lang="en-US" sz="1200" b="1" dirty="0">
                <a:solidFill>
                  <a:srgbClr val="A9B3C0"/>
                </a:solidFill>
                <a:latin typeface="Microsoft YaHei" pitchFamily="34" charset="0"/>
                <a:ea typeface="Microsoft YaHei" pitchFamily="34" charset="-122"/>
                <a:cs typeface="Microsoft YaHei" pitchFamily="34" charset="-120"/>
              </a:rPr>
              <a:t>04</a:t>
            </a:r>
            <a:endParaRPr lang="en-US" sz="1200" dirty="0"/>
          </a:p>
        </p:txBody>
      </p:sp>
      <p:sp>
        <p:nvSpPr>
          <p:cNvPr id="27" name="Text 25"/>
          <p:cNvSpPr/>
          <p:nvPr/>
        </p:nvSpPr>
        <p:spPr>
          <a:xfrm>
            <a:off x="7081876" y="2962656"/>
            <a:ext cx="4012540" cy="530352"/>
          </a:xfrm>
          <a:prstGeom prst="rect">
            <a:avLst/>
          </a:prstGeom>
          <a:noFill/>
          <a:ln/>
        </p:spPr>
        <p:txBody>
          <a:bodyPr wrap="square" lIns="0" tIns="0" rIns="0" bIns="0" rtlCol="0" anchor="ctr"/>
          <a:lstStyle/>
          <a:p>
            <a:pPr indent="0" marL="0">
              <a:buNone/>
            </a:pPr>
            <a:r>
              <a:rPr lang="en-US" sz="1450" dirty="0">
                <a:solidFill>
                  <a:srgbClr val="1A2029"/>
                </a:solidFill>
                <a:latin typeface="Microsoft YaHei" pitchFamily="34" charset="0"/>
                <a:ea typeface="Microsoft YaHei" pitchFamily="34" charset="-122"/>
                <a:cs typeface="Microsoft YaHei" pitchFamily="34" charset="-120"/>
              </a:rPr>
              <a:t>研学只旅不学</a:t>
            </a:r>
            <a:endParaRPr lang="en-US" sz="1450" dirty="0"/>
          </a:p>
        </p:txBody>
      </p:sp>
      <p:sp>
        <p:nvSpPr>
          <p:cNvPr id="28" name="Shape 26"/>
          <p:cNvSpPr/>
          <p:nvPr/>
        </p:nvSpPr>
        <p:spPr>
          <a:xfrm>
            <a:off x="1295400" y="3639312"/>
            <a:ext cx="4798924" cy="530352"/>
          </a:xfrm>
          <a:prstGeom prst="roundRect">
            <a:avLst>
              <a:gd name="adj" fmla="val 12069"/>
            </a:avLst>
          </a:prstGeom>
          <a:solidFill>
            <a:srgbClr val="FFFFFF"/>
          </a:solidFill>
          <a:ln w="12700">
            <a:solidFill>
              <a:srgbClr val="E2E7F0"/>
            </a:solidFill>
            <a:prstDash val="solid"/>
          </a:ln>
        </p:spPr>
      </p:sp>
      <p:sp>
        <p:nvSpPr>
          <p:cNvPr id="29" name="Text 27"/>
          <p:cNvSpPr/>
          <p:nvPr/>
        </p:nvSpPr>
        <p:spPr>
          <a:xfrm>
            <a:off x="1478280" y="3639312"/>
            <a:ext cx="365760" cy="530352"/>
          </a:xfrm>
          <a:prstGeom prst="rect">
            <a:avLst/>
          </a:prstGeom>
          <a:noFill/>
          <a:ln/>
        </p:spPr>
        <p:txBody>
          <a:bodyPr wrap="square" lIns="0" tIns="0" rIns="0" bIns="0" rtlCol="0" anchor="ctr"/>
          <a:lstStyle/>
          <a:p>
            <a:pPr indent="0" marL="0">
              <a:buNone/>
            </a:pPr>
            <a:r>
              <a:rPr lang="en-US" sz="1200" b="1" dirty="0">
                <a:solidFill>
                  <a:srgbClr val="A9B3C0"/>
                </a:solidFill>
                <a:latin typeface="Microsoft YaHei" pitchFamily="34" charset="0"/>
                <a:ea typeface="Microsoft YaHei" pitchFamily="34" charset="-122"/>
                <a:cs typeface="Microsoft YaHei" pitchFamily="34" charset="-120"/>
              </a:rPr>
              <a:t>05</a:t>
            </a:r>
            <a:endParaRPr lang="en-US" sz="1200" dirty="0"/>
          </a:p>
        </p:txBody>
      </p:sp>
      <p:sp>
        <p:nvSpPr>
          <p:cNvPr id="30" name="Text 28"/>
          <p:cNvSpPr/>
          <p:nvPr/>
        </p:nvSpPr>
        <p:spPr>
          <a:xfrm>
            <a:off x="1898904" y="3639312"/>
            <a:ext cx="4012540" cy="530352"/>
          </a:xfrm>
          <a:prstGeom prst="rect">
            <a:avLst/>
          </a:prstGeom>
          <a:noFill/>
          <a:ln/>
        </p:spPr>
        <p:txBody>
          <a:bodyPr wrap="square" lIns="0" tIns="0" rIns="0" bIns="0" rtlCol="0" anchor="ctr"/>
          <a:lstStyle/>
          <a:p>
            <a:pPr indent="0" marL="0">
              <a:buNone/>
            </a:pPr>
            <a:r>
              <a:rPr lang="en-US" sz="1450" dirty="0">
                <a:solidFill>
                  <a:srgbClr val="1A2029"/>
                </a:solidFill>
                <a:latin typeface="Microsoft YaHei" pitchFamily="34" charset="0"/>
                <a:ea typeface="Microsoft YaHei" pitchFamily="34" charset="-122"/>
                <a:cs typeface="Microsoft YaHei" pitchFamily="34" charset="-120"/>
              </a:rPr>
              <a:t>家长代劳、成果造假</a:t>
            </a:r>
            <a:endParaRPr lang="en-US" sz="1450" dirty="0"/>
          </a:p>
        </p:txBody>
      </p:sp>
      <p:sp>
        <p:nvSpPr>
          <p:cNvPr id="31" name="Shape 29"/>
          <p:cNvSpPr/>
          <p:nvPr/>
        </p:nvSpPr>
        <p:spPr>
          <a:xfrm>
            <a:off x="6478372" y="3639312"/>
            <a:ext cx="4798924" cy="530352"/>
          </a:xfrm>
          <a:prstGeom prst="roundRect">
            <a:avLst>
              <a:gd name="adj" fmla="val 12069"/>
            </a:avLst>
          </a:prstGeom>
          <a:solidFill>
            <a:srgbClr val="FFFFFF"/>
          </a:solidFill>
          <a:ln w="12700">
            <a:solidFill>
              <a:srgbClr val="E2E7F0"/>
            </a:solidFill>
            <a:prstDash val="solid"/>
          </a:ln>
        </p:spPr>
      </p:sp>
      <p:sp>
        <p:nvSpPr>
          <p:cNvPr id="32" name="Text 30"/>
          <p:cNvSpPr/>
          <p:nvPr/>
        </p:nvSpPr>
        <p:spPr>
          <a:xfrm>
            <a:off x="6661252" y="3639312"/>
            <a:ext cx="365760" cy="530352"/>
          </a:xfrm>
          <a:prstGeom prst="rect">
            <a:avLst/>
          </a:prstGeom>
          <a:noFill/>
          <a:ln/>
        </p:spPr>
        <p:txBody>
          <a:bodyPr wrap="square" lIns="0" tIns="0" rIns="0" bIns="0" rtlCol="0" anchor="ctr"/>
          <a:lstStyle/>
          <a:p>
            <a:pPr indent="0" marL="0">
              <a:buNone/>
            </a:pPr>
            <a:r>
              <a:rPr lang="en-US" sz="1200" b="1" dirty="0">
                <a:solidFill>
                  <a:srgbClr val="A9B3C0"/>
                </a:solidFill>
                <a:latin typeface="Microsoft YaHei" pitchFamily="34" charset="0"/>
                <a:ea typeface="Microsoft YaHei" pitchFamily="34" charset="-122"/>
                <a:cs typeface="Microsoft YaHei" pitchFamily="34" charset="-120"/>
              </a:rPr>
              <a:t>06</a:t>
            </a:r>
            <a:endParaRPr lang="en-US" sz="1200" dirty="0"/>
          </a:p>
        </p:txBody>
      </p:sp>
      <p:sp>
        <p:nvSpPr>
          <p:cNvPr id="33" name="Text 31"/>
          <p:cNvSpPr/>
          <p:nvPr/>
        </p:nvSpPr>
        <p:spPr>
          <a:xfrm>
            <a:off x="7081876" y="3639312"/>
            <a:ext cx="4012540" cy="530352"/>
          </a:xfrm>
          <a:prstGeom prst="rect">
            <a:avLst/>
          </a:prstGeom>
          <a:noFill/>
          <a:ln/>
        </p:spPr>
        <p:txBody>
          <a:bodyPr wrap="square" lIns="0" tIns="0" rIns="0" bIns="0" rtlCol="0" anchor="ctr"/>
          <a:lstStyle/>
          <a:p>
            <a:pPr indent="0" marL="0">
              <a:buNone/>
            </a:pPr>
            <a:r>
              <a:rPr lang="en-US" sz="1450" dirty="0">
                <a:solidFill>
                  <a:srgbClr val="1A2029"/>
                </a:solidFill>
                <a:latin typeface="Microsoft YaHei" pitchFamily="34" charset="0"/>
                <a:ea typeface="Microsoft YaHei" pitchFamily="34" charset="-122"/>
                <a:cs typeface="Microsoft YaHei" pitchFamily="34" charset="-120"/>
              </a:rPr>
              <a:t>档案袋加重教师负担</a:t>
            </a:r>
            <a:endParaRPr lang="en-US" sz="14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566182"/>
            <a:ext cx="95250" cy="95250"/>
          </a:xfrm>
          <a:prstGeom prst="ellipse">
            <a:avLst/>
          </a:prstGeom>
          <a:solidFill>
            <a:srgbClr val="C2CBD8"/>
          </a:solidFill>
          <a:ln w="25400">
            <a:solidFill>
              <a:srgbClr val="C2CBD8"/>
            </a:solidFill>
            <a:prstDash val="solid"/>
          </a:ln>
        </p:spPr>
      </p:sp>
      <p:sp>
        <p:nvSpPr>
          <p:cNvPr id="5" name="Shape 3"/>
          <p:cNvSpPr/>
          <p:nvPr/>
        </p:nvSpPr>
        <p:spPr>
          <a:xfrm>
            <a:off x="485775" y="2265589"/>
            <a:ext cx="95250" cy="95250"/>
          </a:xfrm>
          <a:prstGeom prst="ellipse">
            <a:avLst/>
          </a:prstGeom>
          <a:solidFill>
            <a:srgbClr val="C2CBD8"/>
          </a:solidFill>
          <a:ln w="25400">
            <a:solidFill>
              <a:srgbClr val="C2CBD8"/>
            </a:solidFill>
            <a:prstDash val="solid"/>
          </a:ln>
        </p:spPr>
      </p:sp>
      <p:sp>
        <p:nvSpPr>
          <p:cNvPr id="6" name="Shape 4"/>
          <p:cNvSpPr/>
          <p:nvPr/>
        </p:nvSpPr>
        <p:spPr>
          <a:xfrm>
            <a:off x="466725" y="2945946"/>
            <a:ext cx="133350" cy="133350"/>
          </a:xfrm>
          <a:prstGeom prst="ellipse">
            <a:avLst/>
          </a:prstGeom>
          <a:solidFill>
            <a:srgbClr val="B0472A"/>
          </a:solidFill>
          <a:ln w="25400">
            <a:solidFill>
              <a:srgbClr val="B0472A"/>
            </a:solidFill>
            <a:prstDash val="solid"/>
          </a:ln>
        </p:spPr>
      </p:sp>
      <p:sp>
        <p:nvSpPr>
          <p:cNvPr id="7" name="Shape 5"/>
          <p:cNvSpPr/>
          <p:nvPr/>
        </p:nvSpPr>
        <p:spPr>
          <a:xfrm>
            <a:off x="485775" y="3664404"/>
            <a:ext cx="95250" cy="95250"/>
          </a:xfrm>
          <a:prstGeom prst="ellipse">
            <a:avLst/>
          </a:prstGeom>
          <a:solidFill>
            <a:srgbClr val="FFFFFF"/>
          </a:solidFill>
          <a:ln w="25400">
            <a:solidFill>
              <a:srgbClr val="E2E7F0"/>
            </a:solidFill>
            <a:prstDash val="solid"/>
          </a:ln>
        </p:spPr>
      </p:sp>
      <p:sp>
        <p:nvSpPr>
          <p:cNvPr id="8" name="Shape 6"/>
          <p:cNvSpPr/>
          <p:nvPr/>
        </p:nvSpPr>
        <p:spPr>
          <a:xfrm>
            <a:off x="485775" y="4363811"/>
            <a:ext cx="95250" cy="95250"/>
          </a:xfrm>
          <a:prstGeom prst="ellipse">
            <a:avLst/>
          </a:prstGeom>
          <a:solidFill>
            <a:srgbClr val="FFFFFF"/>
          </a:solidFill>
          <a:ln w="25400">
            <a:solidFill>
              <a:srgbClr val="E2E7F0"/>
            </a:solidFill>
            <a:prstDash val="solid"/>
          </a:ln>
        </p:spPr>
      </p:sp>
      <p:sp>
        <p:nvSpPr>
          <p:cNvPr id="9" name="Shape 7"/>
          <p:cNvSpPr/>
          <p:nvPr/>
        </p:nvSpPr>
        <p:spPr>
          <a:xfrm>
            <a:off x="485775" y="5063218"/>
            <a:ext cx="95250" cy="95250"/>
          </a:xfrm>
          <a:prstGeom prst="ellipse">
            <a:avLst/>
          </a:prstGeom>
          <a:solidFill>
            <a:srgbClr val="FFFFFF"/>
          </a:solidFill>
          <a:ln w="25400">
            <a:solidFill>
              <a:srgbClr val="E2E7F0"/>
            </a:solidFill>
            <a:prstDash val="solid"/>
          </a:ln>
        </p:spPr>
      </p:sp>
      <p:sp>
        <p:nvSpPr>
          <p:cNvPr id="10" name="Shape 8"/>
          <p:cNvSpPr/>
          <p:nvPr/>
        </p:nvSpPr>
        <p:spPr>
          <a:xfrm>
            <a:off x="485775" y="5762625"/>
            <a:ext cx="95250" cy="95250"/>
          </a:xfrm>
          <a:prstGeom prst="ellipse">
            <a:avLst/>
          </a:prstGeom>
          <a:solidFill>
            <a:srgbClr val="FFFFFF"/>
          </a:solidFill>
          <a:ln w="25400">
            <a:solidFill>
              <a:srgbClr val="E2E7F0"/>
            </a:solidFill>
            <a:prstDash val="solid"/>
          </a:ln>
        </p:spPr>
      </p:sp>
      <p:sp>
        <p:nvSpPr>
          <p:cNvPr id="11" name="Text 9"/>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三</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2" name="Text 10"/>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12</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44</a:t>
            </a:r>
            <a:endParaRPr lang="en-US" sz="1000" dirty="0"/>
          </a:p>
        </p:txBody>
      </p:sp>
      <p:sp>
        <p:nvSpPr>
          <p:cNvPr id="13" name="Text 11"/>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B 档</a:t>
            </a:r>
            <a:endParaRPr lang="en-US" sz="800" dirty="0"/>
          </a:p>
        </p:txBody>
      </p:sp>
      <p:sp>
        <p:nvSpPr>
          <p:cNvPr id="14" name="Text 12"/>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第三段　·　既有问题与生成式 AI 的作用方向</a:t>
            </a:r>
            <a:endParaRPr lang="en-US" sz="1000" dirty="0"/>
          </a:p>
        </p:txBody>
      </p:sp>
      <p:sp>
        <p:nvSpPr>
          <p:cNvPr id="15" name="Text 13"/>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师资结构的实证依据</a:t>
            </a:r>
            <a:endParaRPr lang="en-US" sz="3200" dirty="0"/>
          </a:p>
        </p:txBody>
      </p:sp>
      <p:sp>
        <p:nvSpPr>
          <p:cNvPr id="16" name="Shape 14"/>
          <p:cNvSpPr/>
          <p:nvPr/>
        </p:nvSpPr>
        <p:spPr>
          <a:xfrm>
            <a:off x="1295400" y="1860804"/>
            <a:ext cx="9981895" cy="2148840"/>
          </a:xfrm>
          <a:prstGeom prst="roundRect">
            <a:avLst>
              <a:gd name="adj" fmla="val 3830"/>
            </a:avLst>
          </a:prstGeom>
          <a:solidFill>
            <a:srgbClr val="FFFFFF"/>
          </a:solidFill>
          <a:ln w="12700">
            <a:solidFill>
              <a:srgbClr val="E2E7F0"/>
            </a:solidFill>
            <a:prstDash val="solid"/>
          </a:ln>
        </p:spPr>
      </p:sp>
      <p:sp>
        <p:nvSpPr>
          <p:cNvPr id="17" name="Shape 15"/>
          <p:cNvSpPr/>
          <p:nvPr/>
        </p:nvSpPr>
        <p:spPr>
          <a:xfrm>
            <a:off x="1359408" y="1860804"/>
            <a:ext cx="9853879" cy="38100"/>
          </a:xfrm>
          <a:prstGeom prst="rect">
            <a:avLst/>
          </a:prstGeom>
          <a:solidFill>
            <a:srgbClr val="33414F"/>
          </a:solidFill>
          <a:ln w="12700">
            <a:solidFill>
              <a:srgbClr val="33414F"/>
            </a:solidFill>
            <a:prstDash val="solid"/>
          </a:ln>
        </p:spPr>
      </p:sp>
      <p:sp>
        <p:nvSpPr>
          <p:cNvPr id="18" name="Text 16"/>
          <p:cNvSpPr/>
          <p:nvPr/>
        </p:nvSpPr>
        <p:spPr>
          <a:xfrm>
            <a:off x="1551432" y="2043684"/>
            <a:ext cx="9469831" cy="329184"/>
          </a:xfrm>
          <a:prstGeom prst="rect">
            <a:avLst/>
          </a:prstGeom>
          <a:noFill/>
          <a:ln/>
        </p:spPr>
        <p:txBody>
          <a:bodyPr wrap="square" lIns="0" tIns="0" rIns="0" bIns="0" rtlCol="0" anchor="ctr"/>
          <a:lstStyle/>
          <a:p>
            <a:pPr indent="0" marL="0">
              <a:buNone/>
            </a:pPr>
            <a:r>
              <a:rPr lang="en-US" sz="1600" b="1" dirty="0">
                <a:solidFill>
                  <a:srgbClr val="0F1B2D"/>
                </a:solidFill>
                <a:latin typeface="Microsoft YaHei" pitchFamily="34" charset="0"/>
                <a:ea typeface="Microsoft YaHei" pitchFamily="34" charset="-122"/>
                <a:cs typeface="Microsoft YaHei" pitchFamily="34" charset="-120"/>
              </a:rPr>
              <a:t>师资兼任为普遍状况，兼职教师的课程实施水平显著低于专职教师。</a:t>
            </a:r>
            <a:endParaRPr lang="en-US" sz="1600" dirty="0"/>
          </a:p>
        </p:txBody>
      </p:sp>
      <p:sp>
        <p:nvSpPr>
          <p:cNvPr id="19" name="Shape 17"/>
          <p:cNvSpPr/>
          <p:nvPr/>
        </p:nvSpPr>
        <p:spPr>
          <a:xfrm>
            <a:off x="1551432" y="2519172"/>
            <a:ext cx="9469831" cy="0"/>
          </a:xfrm>
          <a:prstGeom prst="line">
            <a:avLst/>
          </a:prstGeom>
          <a:noFill/>
          <a:ln w="12700">
            <a:solidFill>
              <a:srgbClr val="E2E7F0"/>
            </a:solidFill>
            <a:prstDash val="solid"/>
          </a:ln>
        </p:spPr>
      </p:sp>
      <p:sp>
        <p:nvSpPr>
          <p:cNvPr id="20" name="Text 18"/>
          <p:cNvSpPr/>
          <p:nvPr/>
        </p:nvSpPr>
        <p:spPr>
          <a:xfrm>
            <a:off x="1551432" y="2583180"/>
            <a:ext cx="868680" cy="237744"/>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样本</a:t>
            </a:r>
            <a:endParaRPr lang="en-US" sz="950" dirty="0"/>
          </a:p>
        </p:txBody>
      </p:sp>
      <p:sp>
        <p:nvSpPr>
          <p:cNvPr id="21" name="Text 19"/>
          <p:cNvSpPr/>
          <p:nvPr/>
        </p:nvSpPr>
        <p:spPr>
          <a:xfrm>
            <a:off x="2538984" y="2564892"/>
            <a:ext cx="8482279" cy="274320"/>
          </a:xfrm>
          <a:prstGeom prst="rect">
            <a:avLst/>
          </a:prstGeom>
          <a:noFill/>
          <a:ln/>
        </p:spPr>
        <p:txBody>
          <a:bodyPr wrap="square" lIns="0" tIns="0" rIns="0" bIns="0" rtlCol="0" anchor="ctr"/>
          <a:lstStyle/>
          <a:p>
            <a:pPr indent="0" marL="0">
              <a:buNone/>
            </a:pPr>
            <a:r>
              <a:rPr lang="en-US" sz="1250" dirty="0">
                <a:solidFill>
                  <a:srgbClr val="1A2029"/>
                </a:solidFill>
                <a:latin typeface="Microsoft YaHei" pitchFamily="34" charset="0"/>
                <a:ea typeface="Microsoft YaHei" pitchFamily="34" charset="-122"/>
                <a:cs typeface="Microsoft YaHei" pitchFamily="34" charset="-120"/>
              </a:rPr>
              <a:t>北京市 527 名小学综合实践活动教师</a:t>
            </a:r>
            <a:endParaRPr lang="en-US" sz="1250" dirty="0"/>
          </a:p>
        </p:txBody>
      </p:sp>
      <p:sp>
        <p:nvSpPr>
          <p:cNvPr id="22" name="Shape 20"/>
          <p:cNvSpPr/>
          <p:nvPr/>
        </p:nvSpPr>
        <p:spPr>
          <a:xfrm>
            <a:off x="1551432" y="2866644"/>
            <a:ext cx="9469831" cy="0"/>
          </a:xfrm>
          <a:prstGeom prst="line">
            <a:avLst/>
          </a:prstGeom>
          <a:noFill/>
          <a:ln w="12700">
            <a:solidFill>
              <a:srgbClr val="E2E7F0"/>
            </a:solidFill>
            <a:prstDash val="solid"/>
          </a:ln>
        </p:spPr>
      </p:sp>
      <p:sp>
        <p:nvSpPr>
          <p:cNvPr id="23" name="Text 21"/>
          <p:cNvSpPr/>
          <p:nvPr/>
        </p:nvSpPr>
        <p:spPr>
          <a:xfrm>
            <a:off x="1551432" y="2930652"/>
            <a:ext cx="868680" cy="237744"/>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构成</a:t>
            </a:r>
            <a:endParaRPr lang="en-US" sz="950" dirty="0"/>
          </a:p>
        </p:txBody>
      </p:sp>
      <p:sp>
        <p:nvSpPr>
          <p:cNvPr id="24" name="Text 22"/>
          <p:cNvSpPr/>
          <p:nvPr/>
        </p:nvSpPr>
        <p:spPr>
          <a:xfrm>
            <a:off x="2538984" y="2912364"/>
            <a:ext cx="8482279" cy="274320"/>
          </a:xfrm>
          <a:prstGeom prst="rect">
            <a:avLst/>
          </a:prstGeom>
          <a:noFill/>
          <a:ln/>
        </p:spPr>
        <p:txBody>
          <a:bodyPr wrap="square" lIns="0" tIns="0" rIns="0" bIns="0" rtlCol="0" anchor="ctr"/>
          <a:lstStyle/>
          <a:p>
            <a:pPr indent="0" marL="0">
              <a:buNone/>
            </a:pPr>
            <a:r>
              <a:rPr lang="en-US" sz="1250" dirty="0">
                <a:solidFill>
                  <a:srgbClr val="1A2029"/>
                </a:solidFill>
                <a:latin typeface="Microsoft YaHei" pitchFamily="34" charset="0"/>
                <a:ea typeface="Microsoft YaHei" pitchFamily="34" charset="-122"/>
                <a:cs typeface="Microsoft YaHei" pitchFamily="34" charset="-120"/>
              </a:rPr>
              <a:t>兼职占 56.9%，专职占 43.1%</a:t>
            </a:r>
            <a:endParaRPr lang="en-US" sz="1250" dirty="0"/>
          </a:p>
        </p:txBody>
      </p:sp>
      <p:sp>
        <p:nvSpPr>
          <p:cNvPr id="25" name="Shape 23"/>
          <p:cNvSpPr/>
          <p:nvPr/>
        </p:nvSpPr>
        <p:spPr>
          <a:xfrm>
            <a:off x="1551432" y="3214116"/>
            <a:ext cx="9469831" cy="0"/>
          </a:xfrm>
          <a:prstGeom prst="line">
            <a:avLst/>
          </a:prstGeom>
          <a:noFill/>
          <a:ln w="12700">
            <a:solidFill>
              <a:srgbClr val="E2E7F0"/>
            </a:solidFill>
            <a:prstDash val="solid"/>
          </a:ln>
        </p:spPr>
      </p:sp>
      <p:sp>
        <p:nvSpPr>
          <p:cNvPr id="26" name="Text 24"/>
          <p:cNvSpPr/>
          <p:nvPr/>
        </p:nvSpPr>
        <p:spPr>
          <a:xfrm>
            <a:off x="1551432" y="3278124"/>
            <a:ext cx="868680" cy="237744"/>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差异</a:t>
            </a:r>
            <a:endParaRPr lang="en-US" sz="950" dirty="0"/>
          </a:p>
        </p:txBody>
      </p:sp>
      <p:sp>
        <p:nvSpPr>
          <p:cNvPr id="27" name="Text 25"/>
          <p:cNvSpPr/>
          <p:nvPr/>
        </p:nvSpPr>
        <p:spPr>
          <a:xfrm>
            <a:off x="2538984" y="3259836"/>
            <a:ext cx="8482279" cy="274320"/>
          </a:xfrm>
          <a:prstGeom prst="rect">
            <a:avLst/>
          </a:prstGeom>
          <a:noFill/>
          <a:ln/>
        </p:spPr>
        <p:txBody>
          <a:bodyPr wrap="square" lIns="0" tIns="0" rIns="0" bIns="0" rtlCol="0" anchor="ctr"/>
          <a:lstStyle/>
          <a:p>
            <a:pPr indent="0" marL="0">
              <a:buNone/>
            </a:pPr>
            <a:r>
              <a:rPr lang="en-US" sz="1250" dirty="0">
                <a:solidFill>
                  <a:srgbClr val="1A2029"/>
                </a:solidFill>
                <a:latin typeface="Microsoft YaHei" pitchFamily="34" charset="0"/>
                <a:ea typeface="Microsoft YaHei" pitchFamily="34" charset="-122"/>
                <a:cs typeface="Microsoft YaHei" pitchFamily="34" charset="-120"/>
              </a:rPr>
              <a:t>专职教师课程实施水平显著高于兼职，p&lt;0.001</a:t>
            </a:r>
            <a:endParaRPr lang="en-US" sz="1250" dirty="0"/>
          </a:p>
        </p:txBody>
      </p:sp>
      <p:sp>
        <p:nvSpPr>
          <p:cNvPr id="28" name="Shape 26"/>
          <p:cNvSpPr/>
          <p:nvPr/>
        </p:nvSpPr>
        <p:spPr>
          <a:xfrm>
            <a:off x="1551432" y="3561588"/>
            <a:ext cx="9469831" cy="0"/>
          </a:xfrm>
          <a:prstGeom prst="line">
            <a:avLst/>
          </a:prstGeom>
          <a:noFill/>
          <a:ln w="12700">
            <a:solidFill>
              <a:srgbClr val="E2E7F0"/>
            </a:solidFill>
            <a:prstDash val="solid"/>
          </a:ln>
        </p:spPr>
      </p:sp>
      <p:sp>
        <p:nvSpPr>
          <p:cNvPr id="29" name="Text 27"/>
          <p:cNvSpPr/>
          <p:nvPr/>
        </p:nvSpPr>
        <p:spPr>
          <a:xfrm>
            <a:off x="1551432" y="3625596"/>
            <a:ext cx="868680" cy="237744"/>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分布</a:t>
            </a:r>
            <a:endParaRPr lang="en-US" sz="950" dirty="0"/>
          </a:p>
        </p:txBody>
      </p:sp>
      <p:sp>
        <p:nvSpPr>
          <p:cNvPr id="30" name="Text 28"/>
          <p:cNvSpPr/>
          <p:nvPr/>
        </p:nvSpPr>
        <p:spPr>
          <a:xfrm>
            <a:off x="2538984" y="3607308"/>
            <a:ext cx="8482279" cy="274320"/>
          </a:xfrm>
          <a:prstGeom prst="rect">
            <a:avLst/>
          </a:prstGeom>
          <a:noFill/>
          <a:ln/>
        </p:spPr>
        <p:txBody>
          <a:bodyPr wrap="square" lIns="0" tIns="0" rIns="0" bIns="0" rtlCol="0" anchor="ctr"/>
          <a:lstStyle/>
          <a:p>
            <a:pPr indent="0" marL="0">
              <a:buNone/>
            </a:pPr>
            <a:r>
              <a:rPr lang="en-US" sz="1250" dirty="0">
                <a:solidFill>
                  <a:srgbClr val="1A2029"/>
                </a:solidFill>
                <a:latin typeface="Microsoft YaHei" pitchFamily="34" charset="0"/>
                <a:ea typeface="Microsoft YaHei" pitchFamily="34" charset="-122"/>
                <a:cs typeface="Microsoft YaHei" pitchFamily="34" charset="-120"/>
              </a:rPr>
              <a:t>平稳实施型与机械执行型合计超过 60%</a:t>
            </a:r>
            <a:endParaRPr lang="en-US" sz="1250" dirty="0"/>
          </a:p>
        </p:txBody>
      </p:sp>
      <p:sp>
        <p:nvSpPr>
          <p:cNvPr id="31" name="Text 29"/>
          <p:cNvSpPr/>
          <p:nvPr/>
        </p:nvSpPr>
        <p:spPr>
          <a:xfrm>
            <a:off x="1295400" y="4155948"/>
            <a:ext cx="9981895" cy="256032"/>
          </a:xfrm>
          <a:prstGeom prst="rect">
            <a:avLst/>
          </a:prstGeom>
          <a:noFill/>
          <a:ln/>
        </p:spPr>
        <p:txBody>
          <a:bodyPr wrap="square" lIns="0" tIns="0" rIns="0" bIns="0" rtlCol="0" anchor="ctr"/>
          <a:lstStyle/>
          <a:p>
            <a:pPr indent="0" marL="0">
              <a:buNone/>
            </a:pPr>
            <a:r>
              <a:rPr lang="en-US" sz="1000" dirty="0">
                <a:solidFill>
                  <a:srgbClr val="5B6470"/>
                </a:solidFill>
                <a:latin typeface="Microsoft YaHei" pitchFamily="34" charset="0"/>
                <a:ea typeface="Microsoft YaHei" pitchFamily="34" charset="-122"/>
                <a:cs typeface="Microsoft YaHei" pitchFamily="34" charset="-120"/>
              </a:rPr>
              <a:t>李小红等，2019，《华东师范大学学报（教育科学版）》37 卷 4 期</a:t>
            </a:r>
            <a:endParaRPr lang="en-US" sz="1000" dirty="0"/>
          </a:p>
        </p:txBody>
      </p:sp>
      <p:sp>
        <p:nvSpPr>
          <p:cNvPr id="32" name="Shape 30"/>
          <p:cNvSpPr/>
          <p:nvPr/>
        </p:nvSpPr>
        <p:spPr>
          <a:xfrm>
            <a:off x="1295400" y="5888736"/>
            <a:ext cx="9981895" cy="0"/>
          </a:xfrm>
          <a:prstGeom prst="line">
            <a:avLst/>
          </a:prstGeom>
          <a:noFill/>
          <a:ln w="12700">
            <a:solidFill>
              <a:srgbClr val="E2E7F0"/>
            </a:solidFill>
            <a:prstDash val="solid"/>
          </a:ln>
        </p:spPr>
      </p:sp>
      <p:sp>
        <p:nvSpPr>
          <p:cNvPr id="33" name="Text 31"/>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B6470"/>
                </a:solidFill>
                <a:latin typeface="Microsoft YaHei" pitchFamily="34" charset="0"/>
                <a:ea typeface="Microsoft YaHei" pitchFamily="34" charset="-122"/>
                <a:cs typeface="Microsoft YaHei" pitchFamily="34" charset="-120"/>
              </a:rPr>
              <a:t>该状况属全国范围的普遍现象，非深圳一地的问题。</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566182"/>
            <a:ext cx="95250" cy="95250"/>
          </a:xfrm>
          <a:prstGeom prst="ellipse">
            <a:avLst/>
          </a:prstGeom>
          <a:solidFill>
            <a:srgbClr val="C2CBD8"/>
          </a:solidFill>
          <a:ln w="25400">
            <a:solidFill>
              <a:srgbClr val="C2CBD8"/>
            </a:solidFill>
            <a:prstDash val="solid"/>
          </a:ln>
        </p:spPr>
      </p:sp>
      <p:sp>
        <p:nvSpPr>
          <p:cNvPr id="5" name="Shape 3"/>
          <p:cNvSpPr/>
          <p:nvPr/>
        </p:nvSpPr>
        <p:spPr>
          <a:xfrm>
            <a:off x="485775" y="2265589"/>
            <a:ext cx="95250" cy="95250"/>
          </a:xfrm>
          <a:prstGeom prst="ellipse">
            <a:avLst/>
          </a:prstGeom>
          <a:solidFill>
            <a:srgbClr val="C2CBD8"/>
          </a:solidFill>
          <a:ln w="25400">
            <a:solidFill>
              <a:srgbClr val="C2CBD8"/>
            </a:solidFill>
            <a:prstDash val="solid"/>
          </a:ln>
        </p:spPr>
      </p:sp>
      <p:sp>
        <p:nvSpPr>
          <p:cNvPr id="6" name="Shape 4"/>
          <p:cNvSpPr/>
          <p:nvPr/>
        </p:nvSpPr>
        <p:spPr>
          <a:xfrm>
            <a:off x="466725" y="2945946"/>
            <a:ext cx="133350" cy="133350"/>
          </a:xfrm>
          <a:prstGeom prst="ellipse">
            <a:avLst/>
          </a:prstGeom>
          <a:solidFill>
            <a:srgbClr val="B0472A"/>
          </a:solidFill>
          <a:ln w="25400">
            <a:solidFill>
              <a:srgbClr val="B0472A"/>
            </a:solidFill>
            <a:prstDash val="solid"/>
          </a:ln>
        </p:spPr>
      </p:sp>
      <p:sp>
        <p:nvSpPr>
          <p:cNvPr id="7" name="Shape 5"/>
          <p:cNvSpPr/>
          <p:nvPr/>
        </p:nvSpPr>
        <p:spPr>
          <a:xfrm>
            <a:off x="485775" y="3664404"/>
            <a:ext cx="95250" cy="95250"/>
          </a:xfrm>
          <a:prstGeom prst="ellipse">
            <a:avLst/>
          </a:prstGeom>
          <a:solidFill>
            <a:srgbClr val="FFFFFF"/>
          </a:solidFill>
          <a:ln w="25400">
            <a:solidFill>
              <a:srgbClr val="E2E7F0"/>
            </a:solidFill>
            <a:prstDash val="solid"/>
          </a:ln>
        </p:spPr>
      </p:sp>
      <p:sp>
        <p:nvSpPr>
          <p:cNvPr id="8" name="Shape 6"/>
          <p:cNvSpPr/>
          <p:nvPr/>
        </p:nvSpPr>
        <p:spPr>
          <a:xfrm>
            <a:off x="485775" y="4363811"/>
            <a:ext cx="95250" cy="95250"/>
          </a:xfrm>
          <a:prstGeom prst="ellipse">
            <a:avLst/>
          </a:prstGeom>
          <a:solidFill>
            <a:srgbClr val="FFFFFF"/>
          </a:solidFill>
          <a:ln w="25400">
            <a:solidFill>
              <a:srgbClr val="E2E7F0"/>
            </a:solidFill>
            <a:prstDash val="solid"/>
          </a:ln>
        </p:spPr>
      </p:sp>
      <p:sp>
        <p:nvSpPr>
          <p:cNvPr id="9" name="Shape 7"/>
          <p:cNvSpPr/>
          <p:nvPr/>
        </p:nvSpPr>
        <p:spPr>
          <a:xfrm>
            <a:off x="485775" y="5063218"/>
            <a:ext cx="95250" cy="95250"/>
          </a:xfrm>
          <a:prstGeom prst="ellipse">
            <a:avLst/>
          </a:prstGeom>
          <a:solidFill>
            <a:srgbClr val="FFFFFF"/>
          </a:solidFill>
          <a:ln w="25400">
            <a:solidFill>
              <a:srgbClr val="E2E7F0"/>
            </a:solidFill>
            <a:prstDash val="solid"/>
          </a:ln>
        </p:spPr>
      </p:sp>
      <p:sp>
        <p:nvSpPr>
          <p:cNvPr id="10" name="Shape 8"/>
          <p:cNvSpPr/>
          <p:nvPr/>
        </p:nvSpPr>
        <p:spPr>
          <a:xfrm>
            <a:off x="485775" y="5762625"/>
            <a:ext cx="95250" cy="95250"/>
          </a:xfrm>
          <a:prstGeom prst="ellipse">
            <a:avLst/>
          </a:prstGeom>
          <a:solidFill>
            <a:srgbClr val="FFFFFF"/>
          </a:solidFill>
          <a:ln w="25400">
            <a:solidFill>
              <a:srgbClr val="E2E7F0"/>
            </a:solidFill>
            <a:prstDash val="solid"/>
          </a:ln>
        </p:spPr>
      </p:sp>
      <p:sp>
        <p:nvSpPr>
          <p:cNvPr id="11" name="Text 9"/>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三</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2" name="Text 10"/>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13</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44</a:t>
            </a:r>
            <a:endParaRPr lang="en-US" sz="1000" dirty="0"/>
          </a:p>
        </p:txBody>
      </p:sp>
      <p:sp>
        <p:nvSpPr>
          <p:cNvPr id="13" name="Text 11"/>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4" name="Text 12"/>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第三段　·　既有问题与生成式 AI 的作用方向</a:t>
            </a:r>
            <a:endParaRPr lang="en-US" sz="1000" dirty="0"/>
          </a:p>
        </p:txBody>
      </p:sp>
      <p:sp>
        <p:nvSpPr>
          <p:cNvPr id="15" name="Text 13"/>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生成式 AI 对既有问题的作用方向</a:t>
            </a:r>
            <a:endParaRPr lang="en-US" sz="3200" dirty="0"/>
          </a:p>
        </p:txBody>
      </p:sp>
      <p:sp>
        <p:nvSpPr>
          <p:cNvPr id="16" name="Shape 14"/>
          <p:cNvSpPr/>
          <p:nvPr/>
        </p:nvSpPr>
        <p:spPr>
          <a:xfrm>
            <a:off x="1295400" y="1860804"/>
            <a:ext cx="3199282" cy="3200400"/>
          </a:xfrm>
          <a:prstGeom prst="roundRect">
            <a:avLst>
              <a:gd name="adj" fmla="val 2572"/>
            </a:avLst>
          </a:prstGeom>
          <a:solidFill>
            <a:srgbClr val="FFFFFF"/>
          </a:solidFill>
          <a:ln w="12700">
            <a:solidFill>
              <a:srgbClr val="E2E7F0"/>
            </a:solidFill>
            <a:prstDash val="solid"/>
          </a:ln>
        </p:spPr>
      </p:sp>
      <p:sp>
        <p:nvSpPr>
          <p:cNvPr id="17" name="Shape 15"/>
          <p:cNvSpPr/>
          <p:nvPr/>
        </p:nvSpPr>
        <p:spPr>
          <a:xfrm>
            <a:off x="1359408" y="1860804"/>
            <a:ext cx="3071266" cy="38100"/>
          </a:xfrm>
          <a:prstGeom prst="rect">
            <a:avLst/>
          </a:prstGeom>
          <a:solidFill>
            <a:srgbClr val="B0472A"/>
          </a:solidFill>
          <a:ln w="12700">
            <a:solidFill>
              <a:srgbClr val="B0472A"/>
            </a:solidFill>
            <a:prstDash val="solid"/>
          </a:ln>
        </p:spPr>
      </p:sp>
      <p:sp>
        <p:nvSpPr>
          <p:cNvPr id="18" name="Text 16"/>
          <p:cNvSpPr/>
          <p:nvPr/>
        </p:nvSpPr>
        <p:spPr>
          <a:xfrm>
            <a:off x="1496568" y="2043684"/>
            <a:ext cx="2796946" cy="310896"/>
          </a:xfrm>
          <a:prstGeom prst="rect">
            <a:avLst/>
          </a:prstGeom>
          <a:noFill/>
          <a:ln/>
        </p:spPr>
        <p:txBody>
          <a:bodyPr wrap="square" lIns="0" tIns="0" rIns="0" bIns="0" rtlCol="0" anchor="ctr"/>
          <a:lstStyle/>
          <a:p>
            <a:pPr indent="0" marL="0">
              <a:buNone/>
            </a:pPr>
            <a:r>
              <a:rPr lang="en-US" sz="1600" b="1" dirty="0">
                <a:solidFill>
                  <a:srgbClr val="B0472A"/>
                </a:solidFill>
                <a:latin typeface="Microsoft YaHei" pitchFamily="34" charset="0"/>
                <a:ea typeface="Microsoft YaHei" pitchFamily="34" charset="-122"/>
                <a:cs typeface="Microsoft YaHei" pitchFamily="34" charset="-120"/>
              </a:rPr>
              <a:t>AI 会加剧</a:t>
            </a:r>
            <a:endParaRPr lang="en-US" sz="1600" dirty="0"/>
          </a:p>
        </p:txBody>
      </p:sp>
      <p:sp>
        <p:nvSpPr>
          <p:cNvPr id="19" name="Shape 17"/>
          <p:cNvSpPr/>
          <p:nvPr/>
        </p:nvSpPr>
        <p:spPr>
          <a:xfrm>
            <a:off x="1496568" y="2427732"/>
            <a:ext cx="2796946" cy="0"/>
          </a:xfrm>
          <a:prstGeom prst="line">
            <a:avLst/>
          </a:prstGeom>
          <a:noFill/>
          <a:ln w="25400">
            <a:solidFill>
              <a:srgbClr val="B0472A"/>
            </a:solidFill>
            <a:prstDash val="solid"/>
          </a:ln>
        </p:spPr>
      </p:sp>
      <p:sp>
        <p:nvSpPr>
          <p:cNvPr id="20" name="Text 18"/>
          <p:cNvSpPr/>
          <p:nvPr/>
        </p:nvSpPr>
        <p:spPr>
          <a:xfrm>
            <a:off x="1496568" y="2519172"/>
            <a:ext cx="2796946" cy="457200"/>
          </a:xfrm>
          <a:prstGeom prst="rect">
            <a:avLst/>
          </a:prstGeom>
          <a:noFill/>
          <a:ln/>
        </p:spPr>
        <p:txBody>
          <a:bodyPr wrap="square" lIns="0" tIns="0" rIns="0" bIns="0" rtlCol="0" anchor="ctr"/>
          <a:lstStyle/>
          <a:p>
            <a:pPr indent="0" marL="0">
              <a:lnSpc>
                <a:spcPct val="125000"/>
              </a:lnSpc>
              <a:buNone/>
            </a:pPr>
            <a:r>
              <a:rPr lang="en-US" sz="1300" dirty="0">
                <a:solidFill>
                  <a:srgbClr val="1A2029"/>
                </a:solidFill>
                <a:latin typeface="Microsoft YaHei" pitchFamily="34" charset="0"/>
                <a:ea typeface="Microsoft YaHei" pitchFamily="34" charset="-122"/>
                <a:cs typeface="Microsoft YaHei" pitchFamily="34" charset="-120"/>
              </a:rPr>
              <a:t>形式化、成果拼盘</a:t>
            </a:r>
            <a:endParaRPr lang="en-US" sz="1300" dirty="0"/>
          </a:p>
        </p:txBody>
      </p:sp>
      <p:sp>
        <p:nvSpPr>
          <p:cNvPr id="21" name="Shape 19"/>
          <p:cNvSpPr/>
          <p:nvPr/>
        </p:nvSpPr>
        <p:spPr>
          <a:xfrm>
            <a:off x="1496568" y="3031236"/>
            <a:ext cx="2796946" cy="0"/>
          </a:xfrm>
          <a:prstGeom prst="line">
            <a:avLst/>
          </a:prstGeom>
          <a:noFill/>
          <a:ln w="12700">
            <a:solidFill>
              <a:srgbClr val="E2E7F0"/>
            </a:solidFill>
            <a:prstDash val="solid"/>
          </a:ln>
        </p:spPr>
      </p:sp>
      <p:sp>
        <p:nvSpPr>
          <p:cNvPr id="22" name="Text 20"/>
          <p:cNvSpPr/>
          <p:nvPr/>
        </p:nvSpPr>
        <p:spPr>
          <a:xfrm>
            <a:off x="1496568" y="3122676"/>
            <a:ext cx="2796946" cy="457200"/>
          </a:xfrm>
          <a:prstGeom prst="rect">
            <a:avLst/>
          </a:prstGeom>
          <a:noFill/>
          <a:ln/>
        </p:spPr>
        <p:txBody>
          <a:bodyPr wrap="square" lIns="0" tIns="0" rIns="0" bIns="0" rtlCol="0" anchor="ctr"/>
          <a:lstStyle/>
          <a:p>
            <a:pPr indent="0" marL="0">
              <a:lnSpc>
                <a:spcPct val="125000"/>
              </a:lnSpc>
              <a:buNone/>
            </a:pPr>
            <a:r>
              <a:rPr lang="en-US" sz="1300" dirty="0">
                <a:solidFill>
                  <a:srgbClr val="1A2029"/>
                </a:solidFill>
                <a:latin typeface="Microsoft YaHei" pitchFamily="34" charset="0"/>
                <a:ea typeface="Microsoft YaHei" pitchFamily="34" charset="-122"/>
                <a:cs typeface="Microsoft YaHei" pitchFamily="34" charset="-120"/>
              </a:rPr>
              <a:t>家长代劳、成果造假</a:t>
            </a:r>
            <a:endParaRPr lang="en-US" sz="1300" dirty="0"/>
          </a:p>
        </p:txBody>
      </p:sp>
      <p:sp>
        <p:nvSpPr>
          <p:cNvPr id="23" name="Shape 21"/>
          <p:cNvSpPr/>
          <p:nvPr/>
        </p:nvSpPr>
        <p:spPr>
          <a:xfrm>
            <a:off x="1496568" y="3634740"/>
            <a:ext cx="2796946" cy="0"/>
          </a:xfrm>
          <a:prstGeom prst="line">
            <a:avLst/>
          </a:prstGeom>
          <a:noFill/>
          <a:ln w="12700">
            <a:solidFill>
              <a:srgbClr val="E2E7F0"/>
            </a:solidFill>
            <a:prstDash val="solid"/>
          </a:ln>
        </p:spPr>
      </p:sp>
      <p:sp>
        <p:nvSpPr>
          <p:cNvPr id="24" name="Text 22"/>
          <p:cNvSpPr/>
          <p:nvPr/>
        </p:nvSpPr>
        <p:spPr>
          <a:xfrm>
            <a:off x="1496568" y="3726180"/>
            <a:ext cx="2796946" cy="457200"/>
          </a:xfrm>
          <a:prstGeom prst="rect">
            <a:avLst/>
          </a:prstGeom>
          <a:noFill/>
          <a:ln/>
        </p:spPr>
        <p:txBody>
          <a:bodyPr wrap="square" lIns="0" tIns="0" rIns="0" bIns="0" rtlCol="0" anchor="ctr"/>
          <a:lstStyle/>
          <a:p>
            <a:pPr indent="0" marL="0">
              <a:lnSpc>
                <a:spcPct val="125000"/>
              </a:lnSpc>
              <a:buNone/>
            </a:pPr>
            <a:r>
              <a:rPr lang="en-US" sz="1300" dirty="0">
                <a:solidFill>
                  <a:srgbClr val="1A2029"/>
                </a:solidFill>
                <a:latin typeface="Microsoft YaHei" pitchFamily="34" charset="0"/>
                <a:ea typeface="Microsoft YaHei" pitchFamily="34" charset="-122"/>
                <a:cs typeface="Microsoft YaHei" pitchFamily="34" charset="-120"/>
              </a:rPr>
              <a:t>选题雷同</a:t>
            </a:r>
            <a:endParaRPr lang="en-US" sz="1300" dirty="0"/>
          </a:p>
        </p:txBody>
      </p:sp>
      <p:sp>
        <p:nvSpPr>
          <p:cNvPr id="25" name="Shape 23"/>
          <p:cNvSpPr/>
          <p:nvPr/>
        </p:nvSpPr>
        <p:spPr>
          <a:xfrm>
            <a:off x="1496568" y="4238244"/>
            <a:ext cx="2796946" cy="0"/>
          </a:xfrm>
          <a:prstGeom prst="line">
            <a:avLst/>
          </a:prstGeom>
          <a:noFill/>
          <a:ln w="12700">
            <a:solidFill>
              <a:srgbClr val="E2E7F0"/>
            </a:solidFill>
            <a:prstDash val="solid"/>
          </a:ln>
        </p:spPr>
      </p:sp>
      <p:sp>
        <p:nvSpPr>
          <p:cNvPr id="26" name="Text 24"/>
          <p:cNvSpPr/>
          <p:nvPr/>
        </p:nvSpPr>
        <p:spPr>
          <a:xfrm>
            <a:off x="1496568" y="4329684"/>
            <a:ext cx="2796946" cy="457200"/>
          </a:xfrm>
          <a:prstGeom prst="rect">
            <a:avLst/>
          </a:prstGeom>
          <a:noFill/>
          <a:ln/>
        </p:spPr>
        <p:txBody>
          <a:bodyPr wrap="square" lIns="0" tIns="0" rIns="0" bIns="0" rtlCol="0" anchor="ctr"/>
          <a:lstStyle/>
          <a:p>
            <a:pPr indent="0" marL="0">
              <a:lnSpc>
                <a:spcPct val="125000"/>
              </a:lnSpc>
              <a:buNone/>
            </a:pPr>
            <a:r>
              <a:rPr lang="en-US" sz="1300" dirty="0">
                <a:solidFill>
                  <a:srgbClr val="1A2029"/>
                </a:solidFill>
                <a:latin typeface="Microsoft YaHei" pitchFamily="34" charset="0"/>
                <a:ea typeface="Microsoft YaHei" pitchFamily="34" charset="-122"/>
                <a:cs typeface="Microsoft YaHei" pitchFamily="34" charset="-120"/>
              </a:rPr>
              <a:t>研学只旅不学</a:t>
            </a:r>
            <a:endParaRPr lang="en-US" sz="1300" dirty="0"/>
          </a:p>
        </p:txBody>
      </p:sp>
      <p:sp>
        <p:nvSpPr>
          <p:cNvPr id="27" name="Shape 25"/>
          <p:cNvSpPr/>
          <p:nvPr/>
        </p:nvSpPr>
        <p:spPr>
          <a:xfrm>
            <a:off x="4686706" y="1860804"/>
            <a:ext cx="3199282" cy="3200400"/>
          </a:xfrm>
          <a:prstGeom prst="roundRect">
            <a:avLst>
              <a:gd name="adj" fmla="val 2572"/>
            </a:avLst>
          </a:prstGeom>
          <a:solidFill>
            <a:srgbClr val="FFFFFF"/>
          </a:solidFill>
          <a:ln w="12700">
            <a:solidFill>
              <a:srgbClr val="E2E7F0"/>
            </a:solidFill>
            <a:prstDash val="solid"/>
          </a:ln>
        </p:spPr>
      </p:sp>
      <p:sp>
        <p:nvSpPr>
          <p:cNvPr id="28" name="Shape 26"/>
          <p:cNvSpPr/>
          <p:nvPr/>
        </p:nvSpPr>
        <p:spPr>
          <a:xfrm>
            <a:off x="4750714" y="1860804"/>
            <a:ext cx="3071266" cy="38100"/>
          </a:xfrm>
          <a:prstGeom prst="rect">
            <a:avLst/>
          </a:prstGeom>
          <a:solidFill>
            <a:srgbClr val="33414F"/>
          </a:solidFill>
          <a:ln w="12700">
            <a:solidFill>
              <a:srgbClr val="33414F"/>
            </a:solidFill>
            <a:prstDash val="solid"/>
          </a:ln>
        </p:spPr>
      </p:sp>
      <p:sp>
        <p:nvSpPr>
          <p:cNvPr id="29" name="Text 27"/>
          <p:cNvSpPr/>
          <p:nvPr/>
        </p:nvSpPr>
        <p:spPr>
          <a:xfrm>
            <a:off x="4887874" y="2043684"/>
            <a:ext cx="2796946" cy="310896"/>
          </a:xfrm>
          <a:prstGeom prst="rect">
            <a:avLst/>
          </a:prstGeom>
          <a:noFill/>
          <a:ln/>
        </p:spPr>
        <p:txBody>
          <a:bodyPr wrap="square" lIns="0" tIns="0" rIns="0" bIns="0" rtlCol="0" anchor="ctr"/>
          <a:lstStyle/>
          <a:p>
            <a:pPr indent="0" marL="0">
              <a:buNone/>
            </a:pPr>
            <a:r>
              <a:rPr lang="en-US" sz="1600" b="1" dirty="0">
                <a:solidFill>
                  <a:srgbClr val="33414F"/>
                </a:solidFill>
                <a:latin typeface="Microsoft YaHei" pitchFamily="34" charset="0"/>
                <a:ea typeface="Microsoft YaHei" pitchFamily="34" charset="-122"/>
                <a:cs typeface="Microsoft YaHei" pitchFamily="34" charset="-120"/>
              </a:rPr>
              <a:t>AI 能减轻</a:t>
            </a:r>
            <a:endParaRPr lang="en-US" sz="1600" dirty="0"/>
          </a:p>
        </p:txBody>
      </p:sp>
      <p:sp>
        <p:nvSpPr>
          <p:cNvPr id="30" name="Shape 28"/>
          <p:cNvSpPr/>
          <p:nvPr/>
        </p:nvSpPr>
        <p:spPr>
          <a:xfrm>
            <a:off x="4887874" y="2427732"/>
            <a:ext cx="2796946" cy="0"/>
          </a:xfrm>
          <a:prstGeom prst="line">
            <a:avLst/>
          </a:prstGeom>
          <a:noFill/>
          <a:ln w="25400">
            <a:solidFill>
              <a:srgbClr val="33414F"/>
            </a:solidFill>
            <a:prstDash val="solid"/>
          </a:ln>
        </p:spPr>
      </p:sp>
      <p:sp>
        <p:nvSpPr>
          <p:cNvPr id="31" name="Text 29"/>
          <p:cNvSpPr/>
          <p:nvPr/>
        </p:nvSpPr>
        <p:spPr>
          <a:xfrm>
            <a:off x="4887874" y="2519172"/>
            <a:ext cx="2796946" cy="457200"/>
          </a:xfrm>
          <a:prstGeom prst="rect">
            <a:avLst/>
          </a:prstGeom>
          <a:noFill/>
          <a:ln/>
        </p:spPr>
        <p:txBody>
          <a:bodyPr wrap="square" lIns="0" tIns="0" rIns="0" bIns="0" rtlCol="0" anchor="ctr"/>
          <a:lstStyle/>
          <a:p>
            <a:pPr indent="0" marL="0">
              <a:lnSpc>
                <a:spcPct val="125000"/>
              </a:lnSpc>
              <a:buNone/>
            </a:pPr>
            <a:r>
              <a:rPr lang="en-US" sz="1300" dirty="0">
                <a:solidFill>
                  <a:srgbClr val="1A2029"/>
                </a:solidFill>
                <a:latin typeface="Microsoft YaHei" pitchFamily="34" charset="0"/>
                <a:ea typeface="Microsoft YaHei" pitchFamily="34" charset="-122"/>
                <a:cs typeface="Microsoft YaHei" pitchFamily="34" charset="-120"/>
              </a:rPr>
              <a:t>过程证据的采集与结构化</a:t>
            </a:r>
            <a:endParaRPr lang="en-US" sz="1300" dirty="0"/>
          </a:p>
        </p:txBody>
      </p:sp>
      <p:sp>
        <p:nvSpPr>
          <p:cNvPr id="32" name="Shape 30"/>
          <p:cNvSpPr/>
          <p:nvPr/>
        </p:nvSpPr>
        <p:spPr>
          <a:xfrm>
            <a:off x="4887874" y="3031236"/>
            <a:ext cx="2796946" cy="0"/>
          </a:xfrm>
          <a:prstGeom prst="line">
            <a:avLst/>
          </a:prstGeom>
          <a:noFill/>
          <a:ln w="12700">
            <a:solidFill>
              <a:srgbClr val="E2E7F0"/>
            </a:solidFill>
            <a:prstDash val="solid"/>
          </a:ln>
        </p:spPr>
      </p:sp>
      <p:sp>
        <p:nvSpPr>
          <p:cNvPr id="33" name="Text 31"/>
          <p:cNvSpPr/>
          <p:nvPr/>
        </p:nvSpPr>
        <p:spPr>
          <a:xfrm>
            <a:off x="4887874" y="3122676"/>
            <a:ext cx="2796946" cy="457200"/>
          </a:xfrm>
          <a:prstGeom prst="rect">
            <a:avLst/>
          </a:prstGeom>
          <a:noFill/>
          <a:ln/>
        </p:spPr>
        <p:txBody>
          <a:bodyPr wrap="square" lIns="0" tIns="0" rIns="0" bIns="0" rtlCol="0" anchor="ctr"/>
          <a:lstStyle/>
          <a:p>
            <a:pPr indent="0" marL="0">
              <a:lnSpc>
                <a:spcPct val="125000"/>
              </a:lnSpc>
              <a:buNone/>
            </a:pPr>
            <a:r>
              <a:rPr lang="en-US" sz="1300" dirty="0">
                <a:solidFill>
                  <a:srgbClr val="1A2029"/>
                </a:solidFill>
                <a:latin typeface="Microsoft YaHei" pitchFamily="34" charset="0"/>
                <a:ea typeface="Microsoft YaHei" pitchFamily="34" charset="-122"/>
                <a:cs typeface="Microsoft YaHei" pitchFamily="34" charset="-120"/>
              </a:rPr>
              <a:t>量规、任务单、差异化分层</a:t>
            </a:r>
            <a:endParaRPr lang="en-US" sz="1300" dirty="0"/>
          </a:p>
        </p:txBody>
      </p:sp>
      <p:sp>
        <p:nvSpPr>
          <p:cNvPr id="34" name="Shape 32"/>
          <p:cNvSpPr/>
          <p:nvPr/>
        </p:nvSpPr>
        <p:spPr>
          <a:xfrm>
            <a:off x="4887874" y="3634740"/>
            <a:ext cx="2796946" cy="0"/>
          </a:xfrm>
          <a:prstGeom prst="line">
            <a:avLst/>
          </a:prstGeom>
          <a:noFill/>
          <a:ln w="12700">
            <a:solidFill>
              <a:srgbClr val="E2E7F0"/>
            </a:solidFill>
            <a:prstDash val="solid"/>
          </a:ln>
        </p:spPr>
      </p:sp>
      <p:sp>
        <p:nvSpPr>
          <p:cNvPr id="35" name="Text 33"/>
          <p:cNvSpPr/>
          <p:nvPr/>
        </p:nvSpPr>
        <p:spPr>
          <a:xfrm>
            <a:off x="4887874" y="3726180"/>
            <a:ext cx="2796946" cy="457200"/>
          </a:xfrm>
          <a:prstGeom prst="rect">
            <a:avLst/>
          </a:prstGeom>
          <a:noFill/>
          <a:ln/>
        </p:spPr>
        <p:txBody>
          <a:bodyPr wrap="square" lIns="0" tIns="0" rIns="0" bIns="0" rtlCol="0" anchor="ctr"/>
          <a:lstStyle/>
          <a:p>
            <a:pPr indent="0" marL="0">
              <a:lnSpc>
                <a:spcPct val="125000"/>
              </a:lnSpc>
              <a:buNone/>
            </a:pPr>
            <a:r>
              <a:rPr lang="en-US" sz="1300" dirty="0">
                <a:solidFill>
                  <a:srgbClr val="1A2029"/>
                </a:solidFill>
                <a:latin typeface="Microsoft YaHei" pitchFamily="34" charset="0"/>
                <a:ea typeface="Microsoft YaHei" pitchFamily="34" charset="-122"/>
                <a:cs typeface="Microsoft YaHei" pitchFamily="34" charset="-120"/>
              </a:rPr>
              <a:t>评语与写实记录的整理</a:t>
            </a:r>
            <a:endParaRPr lang="en-US" sz="1300" dirty="0"/>
          </a:p>
        </p:txBody>
      </p:sp>
      <p:sp>
        <p:nvSpPr>
          <p:cNvPr id="36" name="Shape 34"/>
          <p:cNvSpPr/>
          <p:nvPr/>
        </p:nvSpPr>
        <p:spPr>
          <a:xfrm>
            <a:off x="4887874" y="4238244"/>
            <a:ext cx="2796946" cy="0"/>
          </a:xfrm>
          <a:prstGeom prst="line">
            <a:avLst/>
          </a:prstGeom>
          <a:noFill/>
          <a:ln w="12700">
            <a:solidFill>
              <a:srgbClr val="E2E7F0"/>
            </a:solidFill>
            <a:prstDash val="solid"/>
          </a:ln>
        </p:spPr>
      </p:sp>
      <p:sp>
        <p:nvSpPr>
          <p:cNvPr id="37" name="Text 35"/>
          <p:cNvSpPr/>
          <p:nvPr/>
        </p:nvSpPr>
        <p:spPr>
          <a:xfrm>
            <a:off x="4887874" y="4329684"/>
            <a:ext cx="2796946" cy="457200"/>
          </a:xfrm>
          <a:prstGeom prst="rect">
            <a:avLst/>
          </a:prstGeom>
          <a:noFill/>
          <a:ln/>
        </p:spPr>
        <p:txBody>
          <a:bodyPr wrap="square" lIns="0" tIns="0" rIns="0" bIns="0" rtlCol="0" anchor="ctr"/>
          <a:lstStyle/>
          <a:p>
            <a:pPr indent="0" marL="0">
              <a:lnSpc>
                <a:spcPct val="125000"/>
              </a:lnSpc>
              <a:buNone/>
            </a:pPr>
            <a:r>
              <a:rPr lang="en-US" sz="1300" dirty="0">
                <a:solidFill>
                  <a:srgbClr val="1A2029"/>
                </a:solidFill>
                <a:latin typeface="Microsoft YaHei" pitchFamily="34" charset="0"/>
                <a:ea typeface="Microsoft YaHei" pitchFamily="34" charset="-122"/>
                <a:cs typeface="Microsoft YaHei" pitchFamily="34" charset="-120"/>
              </a:rPr>
              <a:t>排版与基础图表</a:t>
            </a:r>
            <a:endParaRPr lang="en-US" sz="1300" dirty="0"/>
          </a:p>
        </p:txBody>
      </p:sp>
      <p:sp>
        <p:nvSpPr>
          <p:cNvPr id="38" name="Shape 36"/>
          <p:cNvSpPr/>
          <p:nvPr/>
        </p:nvSpPr>
        <p:spPr>
          <a:xfrm>
            <a:off x="8078013" y="1860804"/>
            <a:ext cx="3199282" cy="3200400"/>
          </a:xfrm>
          <a:prstGeom prst="roundRect">
            <a:avLst>
              <a:gd name="adj" fmla="val 2572"/>
            </a:avLst>
          </a:prstGeom>
          <a:solidFill>
            <a:srgbClr val="FFFFFF"/>
          </a:solidFill>
          <a:ln w="12700">
            <a:solidFill>
              <a:srgbClr val="E2E7F0"/>
            </a:solidFill>
            <a:prstDash val="solid"/>
          </a:ln>
        </p:spPr>
      </p:sp>
      <p:sp>
        <p:nvSpPr>
          <p:cNvPr id="39" name="Shape 37"/>
          <p:cNvSpPr/>
          <p:nvPr/>
        </p:nvSpPr>
        <p:spPr>
          <a:xfrm>
            <a:off x="8142021" y="1860804"/>
            <a:ext cx="3071266" cy="38100"/>
          </a:xfrm>
          <a:prstGeom prst="rect">
            <a:avLst/>
          </a:prstGeom>
          <a:solidFill>
            <a:srgbClr val="E2E7F0"/>
          </a:solidFill>
          <a:ln w="12700">
            <a:solidFill>
              <a:srgbClr val="E2E7F0"/>
            </a:solidFill>
            <a:prstDash val="solid"/>
          </a:ln>
        </p:spPr>
      </p:sp>
      <p:sp>
        <p:nvSpPr>
          <p:cNvPr id="40" name="Text 38"/>
          <p:cNvSpPr/>
          <p:nvPr/>
        </p:nvSpPr>
        <p:spPr>
          <a:xfrm>
            <a:off x="8279181" y="2043684"/>
            <a:ext cx="2796946" cy="310896"/>
          </a:xfrm>
          <a:prstGeom prst="rect">
            <a:avLst/>
          </a:prstGeom>
          <a:noFill/>
          <a:ln/>
        </p:spPr>
        <p:txBody>
          <a:bodyPr wrap="square" lIns="0" tIns="0" rIns="0" bIns="0" rtlCol="0" anchor="ctr"/>
          <a:lstStyle/>
          <a:p>
            <a:pPr indent="0" marL="0">
              <a:buNone/>
            </a:pPr>
            <a:r>
              <a:rPr lang="en-US" sz="1600" b="1" dirty="0">
                <a:solidFill>
                  <a:srgbClr val="5B6470"/>
                </a:solidFill>
                <a:latin typeface="Microsoft YaHei" pitchFamily="34" charset="0"/>
                <a:ea typeface="Microsoft YaHei" pitchFamily="34" charset="-122"/>
                <a:cs typeface="Microsoft YaHei" pitchFamily="34" charset="-120"/>
              </a:rPr>
              <a:t>AI 无关</a:t>
            </a:r>
            <a:endParaRPr lang="en-US" sz="1600" dirty="0"/>
          </a:p>
        </p:txBody>
      </p:sp>
      <p:sp>
        <p:nvSpPr>
          <p:cNvPr id="41" name="Shape 39"/>
          <p:cNvSpPr/>
          <p:nvPr/>
        </p:nvSpPr>
        <p:spPr>
          <a:xfrm>
            <a:off x="8279181" y="2427732"/>
            <a:ext cx="2796946" cy="0"/>
          </a:xfrm>
          <a:prstGeom prst="line">
            <a:avLst/>
          </a:prstGeom>
          <a:noFill/>
          <a:ln w="25400">
            <a:solidFill>
              <a:srgbClr val="5B6470"/>
            </a:solidFill>
            <a:prstDash val="solid"/>
          </a:ln>
        </p:spPr>
      </p:sp>
      <p:sp>
        <p:nvSpPr>
          <p:cNvPr id="42" name="Text 40"/>
          <p:cNvSpPr/>
          <p:nvPr/>
        </p:nvSpPr>
        <p:spPr>
          <a:xfrm>
            <a:off x="8279181" y="2519172"/>
            <a:ext cx="2796946" cy="457200"/>
          </a:xfrm>
          <a:prstGeom prst="rect">
            <a:avLst/>
          </a:prstGeom>
          <a:noFill/>
          <a:ln/>
        </p:spPr>
        <p:txBody>
          <a:bodyPr wrap="square" lIns="0" tIns="0" rIns="0" bIns="0" rtlCol="0" anchor="ctr"/>
          <a:lstStyle/>
          <a:p>
            <a:pPr indent="0" marL="0">
              <a:lnSpc>
                <a:spcPct val="125000"/>
              </a:lnSpc>
              <a:buNone/>
            </a:pPr>
            <a:r>
              <a:rPr lang="en-US" sz="1300" dirty="0">
                <a:solidFill>
                  <a:srgbClr val="5B6470"/>
                </a:solidFill>
                <a:latin typeface="Microsoft YaHei" pitchFamily="34" charset="0"/>
                <a:ea typeface="Microsoft YaHei" pitchFamily="34" charset="-122"/>
                <a:cs typeface="Microsoft YaHei" pitchFamily="34" charset="-120"/>
              </a:rPr>
              <a:t>课时被挤占</a:t>
            </a:r>
            <a:endParaRPr lang="en-US" sz="1300" dirty="0"/>
          </a:p>
        </p:txBody>
      </p:sp>
      <p:sp>
        <p:nvSpPr>
          <p:cNvPr id="43" name="Shape 41"/>
          <p:cNvSpPr/>
          <p:nvPr/>
        </p:nvSpPr>
        <p:spPr>
          <a:xfrm>
            <a:off x="8279181" y="3031236"/>
            <a:ext cx="2796946" cy="0"/>
          </a:xfrm>
          <a:prstGeom prst="line">
            <a:avLst/>
          </a:prstGeom>
          <a:noFill/>
          <a:ln w="12700">
            <a:solidFill>
              <a:srgbClr val="E2E7F0"/>
            </a:solidFill>
            <a:prstDash val="solid"/>
          </a:ln>
        </p:spPr>
      </p:sp>
      <p:sp>
        <p:nvSpPr>
          <p:cNvPr id="44" name="Text 42"/>
          <p:cNvSpPr/>
          <p:nvPr/>
        </p:nvSpPr>
        <p:spPr>
          <a:xfrm>
            <a:off x="8279181" y="3122676"/>
            <a:ext cx="2796946" cy="457200"/>
          </a:xfrm>
          <a:prstGeom prst="rect">
            <a:avLst/>
          </a:prstGeom>
          <a:noFill/>
          <a:ln/>
        </p:spPr>
        <p:txBody>
          <a:bodyPr wrap="square" lIns="0" tIns="0" rIns="0" bIns="0" rtlCol="0" anchor="ctr"/>
          <a:lstStyle/>
          <a:p>
            <a:pPr indent="0" marL="0">
              <a:lnSpc>
                <a:spcPct val="125000"/>
              </a:lnSpc>
              <a:buNone/>
            </a:pPr>
            <a:r>
              <a:rPr lang="en-US" sz="1300" dirty="0">
                <a:solidFill>
                  <a:srgbClr val="5B6470"/>
                </a:solidFill>
                <a:latin typeface="Microsoft YaHei" pitchFamily="34" charset="0"/>
                <a:ea typeface="Microsoft YaHei" pitchFamily="34" charset="-122"/>
                <a:cs typeface="Microsoft YaHei" pitchFamily="34" charset="-120"/>
              </a:rPr>
              <a:t>师资兼任与工作量</a:t>
            </a:r>
            <a:endParaRPr lang="en-US" sz="1300" dirty="0"/>
          </a:p>
        </p:txBody>
      </p:sp>
      <p:sp>
        <p:nvSpPr>
          <p:cNvPr id="45" name="Shape 43"/>
          <p:cNvSpPr/>
          <p:nvPr/>
        </p:nvSpPr>
        <p:spPr>
          <a:xfrm>
            <a:off x="8279181" y="3634740"/>
            <a:ext cx="2796946" cy="0"/>
          </a:xfrm>
          <a:prstGeom prst="line">
            <a:avLst/>
          </a:prstGeom>
          <a:noFill/>
          <a:ln w="12700">
            <a:solidFill>
              <a:srgbClr val="E2E7F0"/>
            </a:solidFill>
            <a:prstDash val="solid"/>
          </a:ln>
        </p:spPr>
      </p:sp>
      <p:sp>
        <p:nvSpPr>
          <p:cNvPr id="46" name="Text 44"/>
          <p:cNvSpPr/>
          <p:nvPr/>
        </p:nvSpPr>
        <p:spPr>
          <a:xfrm>
            <a:off x="8279181" y="3726180"/>
            <a:ext cx="2796946" cy="457200"/>
          </a:xfrm>
          <a:prstGeom prst="rect">
            <a:avLst/>
          </a:prstGeom>
          <a:noFill/>
          <a:ln/>
        </p:spPr>
        <p:txBody>
          <a:bodyPr wrap="square" lIns="0" tIns="0" rIns="0" bIns="0" rtlCol="0" anchor="ctr"/>
          <a:lstStyle/>
          <a:p>
            <a:pPr indent="0" marL="0">
              <a:lnSpc>
                <a:spcPct val="125000"/>
              </a:lnSpc>
              <a:buNone/>
            </a:pPr>
            <a:r>
              <a:rPr lang="en-US" sz="1300" dirty="0">
                <a:solidFill>
                  <a:srgbClr val="5B6470"/>
                </a:solidFill>
                <a:latin typeface="Microsoft YaHei" pitchFamily="34" charset="0"/>
                <a:ea typeface="Microsoft YaHei" pitchFamily="34" charset="-122"/>
                <a:cs typeface="Microsoft YaHei" pitchFamily="34" charset="-120"/>
              </a:rPr>
              <a:t>校外基地质量</a:t>
            </a:r>
            <a:endParaRPr lang="en-US" sz="1300" dirty="0"/>
          </a:p>
        </p:txBody>
      </p:sp>
      <p:sp>
        <p:nvSpPr>
          <p:cNvPr id="47" name="Shape 45"/>
          <p:cNvSpPr/>
          <p:nvPr/>
        </p:nvSpPr>
        <p:spPr>
          <a:xfrm>
            <a:off x="8279181" y="4238244"/>
            <a:ext cx="2796946" cy="0"/>
          </a:xfrm>
          <a:prstGeom prst="line">
            <a:avLst/>
          </a:prstGeom>
          <a:noFill/>
          <a:ln w="12700">
            <a:solidFill>
              <a:srgbClr val="E2E7F0"/>
            </a:solidFill>
            <a:prstDash val="solid"/>
          </a:ln>
        </p:spPr>
      </p:sp>
      <p:sp>
        <p:nvSpPr>
          <p:cNvPr id="48" name="Text 46"/>
          <p:cNvSpPr/>
          <p:nvPr/>
        </p:nvSpPr>
        <p:spPr>
          <a:xfrm>
            <a:off x="8279181" y="4329684"/>
            <a:ext cx="2796946" cy="457200"/>
          </a:xfrm>
          <a:prstGeom prst="rect">
            <a:avLst/>
          </a:prstGeom>
          <a:noFill/>
          <a:ln/>
        </p:spPr>
        <p:txBody>
          <a:bodyPr wrap="square" lIns="0" tIns="0" rIns="0" bIns="0" rtlCol="0" anchor="ctr"/>
          <a:lstStyle/>
          <a:p>
            <a:pPr indent="0" marL="0">
              <a:lnSpc>
                <a:spcPct val="125000"/>
              </a:lnSpc>
              <a:buNone/>
            </a:pPr>
            <a:r>
              <a:rPr lang="en-US" sz="1300" dirty="0">
                <a:solidFill>
                  <a:srgbClr val="5B6470"/>
                </a:solidFill>
                <a:latin typeface="Microsoft YaHei" pitchFamily="34" charset="0"/>
                <a:ea typeface="Microsoft YaHei" pitchFamily="34" charset="-122"/>
                <a:cs typeface="Microsoft YaHei" pitchFamily="34" charset="-120"/>
              </a:rPr>
              <a:t>综合素质评价的公示与签字程序</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566182"/>
            <a:ext cx="95250" cy="95250"/>
          </a:xfrm>
          <a:prstGeom prst="ellipse">
            <a:avLst/>
          </a:prstGeom>
          <a:solidFill>
            <a:srgbClr val="C2CBD8"/>
          </a:solidFill>
          <a:ln w="25400">
            <a:solidFill>
              <a:srgbClr val="C2CBD8"/>
            </a:solidFill>
            <a:prstDash val="solid"/>
          </a:ln>
        </p:spPr>
      </p:sp>
      <p:sp>
        <p:nvSpPr>
          <p:cNvPr id="5" name="Shape 3"/>
          <p:cNvSpPr/>
          <p:nvPr/>
        </p:nvSpPr>
        <p:spPr>
          <a:xfrm>
            <a:off x="485775" y="2265589"/>
            <a:ext cx="95250" cy="95250"/>
          </a:xfrm>
          <a:prstGeom prst="ellipse">
            <a:avLst/>
          </a:prstGeom>
          <a:solidFill>
            <a:srgbClr val="C2CBD8"/>
          </a:solidFill>
          <a:ln w="25400">
            <a:solidFill>
              <a:srgbClr val="C2CBD8"/>
            </a:solidFill>
            <a:prstDash val="solid"/>
          </a:ln>
        </p:spPr>
      </p:sp>
      <p:sp>
        <p:nvSpPr>
          <p:cNvPr id="6" name="Shape 4"/>
          <p:cNvSpPr/>
          <p:nvPr/>
        </p:nvSpPr>
        <p:spPr>
          <a:xfrm>
            <a:off x="466725" y="2945946"/>
            <a:ext cx="133350" cy="133350"/>
          </a:xfrm>
          <a:prstGeom prst="ellipse">
            <a:avLst/>
          </a:prstGeom>
          <a:solidFill>
            <a:srgbClr val="B0472A"/>
          </a:solidFill>
          <a:ln w="25400">
            <a:solidFill>
              <a:srgbClr val="B0472A"/>
            </a:solidFill>
            <a:prstDash val="solid"/>
          </a:ln>
        </p:spPr>
      </p:sp>
      <p:sp>
        <p:nvSpPr>
          <p:cNvPr id="7" name="Shape 5"/>
          <p:cNvSpPr/>
          <p:nvPr/>
        </p:nvSpPr>
        <p:spPr>
          <a:xfrm>
            <a:off x="485775" y="3664404"/>
            <a:ext cx="95250" cy="95250"/>
          </a:xfrm>
          <a:prstGeom prst="ellipse">
            <a:avLst/>
          </a:prstGeom>
          <a:solidFill>
            <a:srgbClr val="FFFFFF"/>
          </a:solidFill>
          <a:ln w="25400">
            <a:solidFill>
              <a:srgbClr val="E2E7F0"/>
            </a:solidFill>
            <a:prstDash val="solid"/>
          </a:ln>
        </p:spPr>
      </p:sp>
      <p:sp>
        <p:nvSpPr>
          <p:cNvPr id="8" name="Shape 6"/>
          <p:cNvSpPr/>
          <p:nvPr/>
        </p:nvSpPr>
        <p:spPr>
          <a:xfrm>
            <a:off x="485775" y="4363811"/>
            <a:ext cx="95250" cy="95250"/>
          </a:xfrm>
          <a:prstGeom prst="ellipse">
            <a:avLst/>
          </a:prstGeom>
          <a:solidFill>
            <a:srgbClr val="FFFFFF"/>
          </a:solidFill>
          <a:ln w="25400">
            <a:solidFill>
              <a:srgbClr val="E2E7F0"/>
            </a:solidFill>
            <a:prstDash val="solid"/>
          </a:ln>
        </p:spPr>
      </p:sp>
      <p:sp>
        <p:nvSpPr>
          <p:cNvPr id="9" name="Shape 7"/>
          <p:cNvSpPr/>
          <p:nvPr/>
        </p:nvSpPr>
        <p:spPr>
          <a:xfrm>
            <a:off x="485775" y="5063218"/>
            <a:ext cx="95250" cy="95250"/>
          </a:xfrm>
          <a:prstGeom prst="ellipse">
            <a:avLst/>
          </a:prstGeom>
          <a:solidFill>
            <a:srgbClr val="FFFFFF"/>
          </a:solidFill>
          <a:ln w="25400">
            <a:solidFill>
              <a:srgbClr val="E2E7F0"/>
            </a:solidFill>
            <a:prstDash val="solid"/>
          </a:ln>
        </p:spPr>
      </p:sp>
      <p:sp>
        <p:nvSpPr>
          <p:cNvPr id="10" name="Shape 8"/>
          <p:cNvSpPr/>
          <p:nvPr/>
        </p:nvSpPr>
        <p:spPr>
          <a:xfrm>
            <a:off x="485775" y="5762625"/>
            <a:ext cx="95250" cy="95250"/>
          </a:xfrm>
          <a:prstGeom prst="ellipse">
            <a:avLst/>
          </a:prstGeom>
          <a:solidFill>
            <a:srgbClr val="FFFFFF"/>
          </a:solidFill>
          <a:ln w="25400">
            <a:solidFill>
              <a:srgbClr val="E2E7F0"/>
            </a:solidFill>
            <a:prstDash val="solid"/>
          </a:ln>
        </p:spPr>
      </p:sp>
      <p:sp>
        <p:nvSpPr>
          <p:cNvPr id="11" name="Text 9"/>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三</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2" name="Text 10"/>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14</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44</a:t>
            </a:r>
            <a:endParaRPr lang="en-US" sz="1000" dirty="0"/>
          </a:p>
        </p:txBody>
      </p:sp>
      <p:sp>
        <p:nvSpPr>
          <p:cNvPr id="13" name="Text 11"/>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4" name="Text 12"/>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第三段　·　既有问题与生成式 AI 的作用方向</a:t>
            </a:r>
            <a:endParaRPr lang="en-US" sz="1000" dirty="0"/>
          </a:p>
        </p:txBody>
      </p:sp>
      <p:sp>
        <p:nvSpPr>
          <p:cNvPr id="15" name="Text 13"/>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项目化学习的三类失效形态</a:t>
            </a:r>
            <a:endParaRPr lang="en-US" sz="3200" dirty="0"/>
          </a:p>
        </p:txBody>
      </p:sp>
      <p:sp>
        <p:nvSpPr>
          <p:cNvPr id="16" name="Shape 14"/>
          <p:cNvSpPr/>
          <p:nvPr/>
        </p:nvSpPr>
        <p:spPr>
          <a:xfrm>
            <a:off x="1295400" y="2043684"/>
            <a:ext cx="3205378" cy="1207008"/>
          </a:xfrm>
          <a:prstGeom prst="roundRect">
            <a:avLst>
              <a:gd name="adj" fmla="val 6818"/>
            </a:avLst>
          </a:prstGeom>
          <a:solidFill>
            <a:srgbClr val="FFFFFF"/>
          </a:solidFill>
          <a:ln w="12700">
            <a:solidFill>
              <a:srgbClr val="E2E7F0"/>
            </a:solidFill>
            <a:prstDash val="solid"/>
          </a:ln>
        </p:spPr>
      </p:sp>
      <p:sp>
        <p:nvSpPr>
          <p:cNvPr id="17" name="Shape 15"/>
          <p:cNvSpPr/>
          <p:nvPr/>
        </p:nvSpPr>
        <p:spPr>
          <a:xfrm>
            <a:off x="1359408" y="2043684"/>
            <a:ext cx="3077362" cy="38100"/>
          </a:xfrm>
          <a:prstGeom prst="rect">
            <a:avLst/>
          </a:prstGeom>
          <a:solidFill>
            <a:srgbClr val="33414F"/>
          </a:solidFill>
          <a:ln w="12700">
            <a:solidFill>
              <a:srgbClr val="33414F"/>
            </a:solidFill>
            <a:prstDash val="solid"/>
          </a:ln>
        </p:spPr>
      </p:sp>
      <p:sp>
        <p:nvSpPr>
          <p:cNvPr id="18" name="Text 16"/>
          <p:cNvSpPr/>
          <p:nvPr/>
        </p:nvSpPr>
        <p:spPr>
          <a:xfrm>
            <a:off x="1496568" y="2226564"/>
            <a:ext cx="2803042" cy="329184"/>
          </a:xfrm>
          <a:prstGeom prst="rect">
            <a:avLst/>
          </a:prstGeom>
          <a:noFill/>
          <a:ln/>
        </p:spPr>
        <p:txBody>
          <a:bodyPr wrap="square" lIns="0" tIns="0" rIns="0" bIns="0" rtlCol="0" anchor="ctr"/>
          <a:lstStyle/>
          <a:p>
            <a:pPr indent="0" marL="0">
              <a:buNone/>
            </a:pPr>
            <a:r>
              <a:rPr lang="en-US" sz="1600" b="1" dirty="0">
                <a:solidFill>
                  <a:srgbClr val="0F1B2D"/>
                </a:solidFill>
                <a:latin typeface="Microsoft YaHei" pitchFamily="34" charset="0"/>
                <a:ea typeface="Microsoft YaHei" pitchFamily="34" charset="-122"/>
                <a:cs typeface="Microsoft YaHei" pitchFamily="34" charset="-120"/>
              </a:rPr>
              <a:t>花瓶项目</a:t>
            </a:r>
            <a:endParaRPr lang="en-US" sz="1600" dirty="0"/>
          </a:p>
        </p:txBody>
      </p:sp>
      <p:sp>
        <p:nvSpPr>
          <p:cNvPr id="19" name="Text 17"/>
          <p:cNvSpPr/>
          <p:nvPr/>
        </p:nvSpPr>
        <p:spPr>
          <a:xfrm>
            <a:off x="1496568" y="2610612"/>
            <a:ext cx="2803042" cy="502920"/>
          </a:xfrm>
          <a:prstGeom prst="rect">
            <a:avLst/>
          </a:prstGeom>
          <a:noFill/>
          <a:ln/>
        </p:spPr>
        <p:txBody>
          <a:bodyPr wrap="square" lIns="0" tIns="0" rIns="0" bIns="0" rtlCol="0" anchor="t"/>
          <a:lstStyle/>
          <a:p>
            <a:pPr indent="0" marL="0">
              <a:lnSpc>
                <a:spcPct val="135000"/>
              </a:lnSpc>
              <a:buNone/>
            </a:pPr>
            <a:r>
              <a:rPr lang="en-US" sz="1150" dirty="0">
                <a:solidFill>
                  <a:srgbClr val="5B6470"/>
                </a:solidFill>
                <a:latin typeface="Microsoft YaHei" pitchFamily="34" charset="0"/>
                <a:ea typeface="Microsoft YaHei" pitchFamily="34" charset="-122"/>
                <a:cs typeface="Microsoft YaHei" pitchFamily="34" charset="-120"/>
              </a:rPr>
              <a:t>成果形态完整，但缺少真实问题</a:t>
            </a:r>
            <a:endParaRPr lang="en-US" sz="1150" dirty="0"/>
          </a:p>
        </p:txBody>
      </p:sp>
      <p:sp>
        <p:nvSpPr>
          <p:cNvPr id="20" name="Shape 18"/>
          <p:cNvSpPr/>
          <p:nvPr/>
        </p:nvSpPr>
        <p:spPr>
          <a:xfrm>
            <a:off x="4683658" y="2043684"/>
            <a:ext cx="3205378" cy="1207008"/>
          </a:xfrm>
          <a:prstGeom prst="roundRect">
            <a:avLst>
              <a:gd name="adj" fmla="val 6818"/>
            </a:avLst>
          </a:prstGeom>
          <a:solidFill>
            <a:srgbClr val="FFFFFF"/>
          </a:solidFill>
          <a:ln w="12700">
            <a:solidFill>
              <a:srgbClr val="E2E7F0"/>
            </a:solidFill>
            <a:prstDash val="solid"/>
          </a:ln>
        </p:spPr>
      </p:sp>
      <p:sp>
        <p:nvSpPr>
          <p:cNvPr id="21" name="Shape 19"/>
          <p:cNvSpPr/>
          <p:nvPr/>
        </p:nvSpPr>
        <p:spPr>
          <a:xfrm>
            <a:off x="4747666" y="2043684"/>
            <a:ext cx="3077362" cy="38100"/>
          </a:xfrm>
          <a:prstGeom prst="rect">
            <a:avLst/>
          </a:prstGeom>
          <a:solidFill>
            <a:srgbClr val="C9714C"/>
          </a:solidFill>
          <a:ln w="12700">
            <a:solidFill>
              <a:srgbClr val="C9714C"/>
            </a:solidFill>
            <a:prstDash val="solid"/>
          </a:ln>
        </p:spPr>
      </p:sp>
      <p:sp>
        <p:nvSpPr>
          <p:cNvPr id="22" name="Text 20"/>
          <p:cNvSpPr/>
          <p:nvPr/>
        </p:nvSpPr>
        <p:spPr>
          <a:xfrm>
            <a:off x="4884826" y="2226564"/>
            <a:ext cx="2803042" cy="329184"/>
          </a:xfrm>
          <a:prstGeom prst="rect">
            <a:avLst/>
          </a:prstGeom>
          <a:noFill/>
          <a:ln/>
        </p:spPr>
        <p:txBody>
          <a:bodyPr wrap="square" lIns="0" tIns="0" rIns="0" bIns="0" rtlCol="0" anchor="ctr"/>
          <a:lstStyle/>
          <a:p>
            <a:pPr indent="0" marL="0">
              <a:buNone/>
            </a:pPr>
            <a:r>
              <a:rPr lang="en-US" sz="1600" b="1" dirty="0">
                <a:solidFill>
                  <a:srgbClr val="0F1B2D"/>
                </a:solidFill>
                <a:latin typeface="Microsoft YaHei" pitchFamily="34" charset="0"/>
                <a:ea typeface="Microsoft YaHei" pitchFamily="34" charset="-122"/>
                <a:cs typeface="Microsoft YaHei" pitchFamily="34" charset="-120"/>
              </a:rPr>
              <a:t>拼盘项目</a:t>
            </a:r>
            <a:endParaRPr lang="en-US" sz="1600" dirty="0"/>
          </a:p>
        </p:txBody>
      </p:sp>
      <p:sp>
        <p:nvSpPr>
          <p:cNvPr id="23" name="Text 21"/>
          <p:cNvSpPr/>
          <p:nvPr/>
        </p:nvSpPr>
        <p:spPr>
          <a:xfrm>
            <a:off x="4884826" y="2610612"/>
            <a:ext cx="2803042" cy="502920"/>
          </a:xfrm>
          <a:prstGeom prst="rect">
            <a:avLst/>
          </a:prstGeom>
          <a:noFill/>
          <a:ln/>
        </p:spPr>
        <p:txBody>
          <a:bodyPr wrap="square" lIns="0" tIns="0" rIns="0" bIns="0" rtlCol="0" anchor="t"/>
          <a:lstStyle/>
          <a:p>
            <a:pPr indent="0" marL="0">
              <a:lnSpc>
                <a:spcPct val="135000"/>
              </a:lnSpc>
              <a:buNone/>
            </a:pPr>
            <a:r>
              <a:rPr lang="en-US" sz="1150" dirty="0">
                <a:solidFill>
                  <a:srgbClr val="5B6470"/>
                </a:solidFill>
                <a:latin typeface="Microsoft YaHei" pitchFamily="34" charset="0"/>
                <a:ea typeface="Microsoft YaHei" pitchFamily="34" charset="-122"/>
                <a:cs typeface="Microsoft YaHei" pitchFamily="34" charset="-120"/>
              </a:rPr>
              <a:t>多学科并置，各自独立，未形成整合</a:t>
            </a:r>
            <a:endParaRPr lang="en-US" sz="1150" dirty="0"/>
          </a:p>
        </p:txBody>
      </p:sp>
      <p:sp>
        <p:nvSpPr>
          <p:cNvPr id="24" name="Shape 22"/>
          <p:cNvSpPr/>
          <p:nvPr/>
        </p:nvSpPr>
        <p:spPr>
          <a:xfrm>
            <a:off x="8071917" y="2043684"/>
            <a:ext cx="3205378" cy="1207008"/>
          </a:xfrm>
          <a:prstGeom prst="roundRect">
            <a:avLst>
              <a:gd name="adj" fmla="val 6818"/>
            </a:avLst>
          </a:prstGeom>
          <a:solidFill>
            <a:srgbClr val="FFFFFF"/>
          </a:solidFill>
          <a:ln w="12700">
            <a:solidFill>
              <a:srgbClr val="E2E7F0"/>
            </a:solidFill>
            <a:prstDash val="solid"/>
          </a:ln>
        </p:spPr>
      </p:sp>
      <p:sp>
        <p:nvSpPr>
          <p:cNvPr id="25" name="Shape 23"/>
          <p:cNvSpPr/>
          <p:nvPr/>
        </p:nvSpPr>
        <p:spPr>
          <a:xfrm>
            <a:off x="8135925" y="2043684"/>
            <a:ext cx="3077362" cy="38100"/>
          </a:xfrm>
          <a:prstGeom prst="rect">
            <a:avLst/>
          </a:prstGeom>
          <a:solidFill>
            <a:srgbClr val="B0472A"/>
          </a:solidFill>
          <a:ln w="12700">
            <a:solidFill>
              <a:srgbClr val="B0472A"/>
            </a:solidFill>
            <a:prstDash val="solid"/>
          </a:ln>
        </p:spPr>
      </p:sp>
      <p:sp>
        <p:nvSpPr>
          <p:cNvPr id="26" name="Text 24"/>
          <p:cNvSpPr/>
          <p:nvPr/>
        </p:nvSpPr>
        <p:spPr>
          <a:xfrm>
            <a:off x="8273085" y="2226564"/>
            <a:ext cx="2803042" cy="329184"/>
          </a:xfrm>
          <a:prstGeom prst="rect">
            <a:avLst/>
          </a:prstGeom>
          <a:noFill/>
          <a:ln/>
        </p:spPr>
        <p:txBody>
          <a:bodyPr wrap="square" lIns="0" tIns="0" rIns="0" bIns="0" rtlCol="0" anchor="ctr"/>
          <a:lstStyle/>
          <a:p>
            <a:pPr indent="0" marL="0">
              <a:buNone/>
            </a:pPr>
            <a:r>
              <a:rPr lang="en-US" sz="1600" b="1" dirty="0">
                <a:solidFill>
                  <a:srgbClr val="0F1B2D"/>
                </a:solidFill>
                <a:latin typeface="Microsoft YaHei" pitchFamily="34" charset="0"/>
                <a:ea typeface="Microsoft YaHei" pitchFamily="34" charset="-122"/>
                <a:cs typeface="Microsoft YaHei" pitchFamily="34" charset="-120"/>
              </a:rPr>
              <a:t>空心项目</a:t>
            </a:r>
            <a:endParaRPr lang="en-US" sz="1600" dirty="0"/>
          </a:p>
        </p:txBody>
      </p:sp>
      <p:sp>
        <p:nvSpPr>
          <p:cNvPr id="27" name="Text 25"/>
          <p:cNvSpPr/>
          <p:nvPr/>
        </p:nvSpPr>
        <p:spPr>
          <a:xfrm>
            <a:off x="8273085" y="2610612"/>
            <a:ext cx="2803042" cy="502920"/>
          </a:xfrm>
          <a:prstGeom prst="rect">
            <a:avLst/>
          </a:prstGeom>
          <a:noFill/>
          <a:ln/>
        </p:spPr>
        <p:txBody>
          <a:bodyPr wrap="square" lIns="0" tIns="0" rIns="0" bIns="0" rtlCol="0" anchor="t"/>
          <a:lstStyle/>
          <a:p>
            <a:pPr indent="0" marL="0">
              <a:lnSpc>
                <a:spcPct val="135000"/>
              </a:lnSpc>
              <a:buNone/>
            </a:pPr>
            <a:r>
              <a:rPr lang="en-US" sz="1150" dirty="0">
                <a:solidFill>
                  <a:srgbClr val="5B6470"/>
                </a:solidFill>
                <a:latin typeface="Microsoft YaHei" pitchFamily="34" charset="0"/>
                <a:ea typeface="Microsoft YaHei" pitchFamily="34" charset="-122"/>
                <a:cs typeface="Microsoft YaHei" pitchFamily="34" charset="-120"/>
              </a:rPr>
              <a:t>有活动过程，无思维发生</a:t>
            </a:r>
            <a:endParaRPr lang="en-US" sz="1150" dirty="0"/>
          </a:p>
        </p:txBody>
      </p:sp>
      <p:sp>
        <p:nvSpPr>
          <p:cNvPr id="28" name="Text 26"/>
          <p:cNvSpPr/>
          <p:nvPr/>
        </p:nvSpPr>
        <p:spPr>
          <a:xfrm>
            <a:off x="1295400" y="3433572"/>
            <a:ext cx="9981895" cy="256032"/>
          </a:xfrm>
          <a:prstGeom prst="rect">
            <a:avLst/>
          </a:prstGeom>
          <a:noFill/>
          <a:ln/>
        </p:spPr>
        <p:txBody>
          <a:bodyPr wrap="square" lIns="0" tIns="0" rIns="0" bIns="0" rtlCol="0" anchor="ctr"/>
          <a:lstStyle/>
          <a:p>
            <a:pPr indent="0" marL="0">
              <a:buNone/>
            </a:pPr>
            <a:r>
              <a:rPr lang="en-US" sz="1000" dirty="0">
                <a:solidFill>
                  <a:srgbClr val="5B6470"/>
                </a:solidFill>
                <a:latin typeface="Microsoft YaHei" pitchFamily="34" charset="0"/>
                <a:ea typeface="Microsoft YaHei" pitchFamily="34" charset="-122"/>
                <a:cs typeface="Microsoft YaHei" pitchFamily="34" charset="-120"/>
              </a:rPr>
              <a:t>夏雪梅团队《素养如何落地：项目化学习育人的上海创新与实践》，2022 年国家级教学成果一等奖</a:t>
            </a:r>
            <a:endParaRPr lang="en-US" sz="1000" dirty="0"/>
          </a:p>
        </p:txBody>
      </p:sp>
      <p:sp>
        <p:nvSpPr>
          <p:cNvPr id="29" name="Shape 27"/>
          <p:cNvSpPr/>
          <p:nvPr/>
        </p:nvSpPr>
        <p:spPr>
          <a:xfrm>
            <a:off x="1295400" y="5888736"/>
            <a:ext cx="9981895" cy="0"/>
          </a:xfrm>
          <a:prstGeom prst="line">
            <a:avLst/>
          </a:prstGeom>
          <a:noFill/>
          <a:ln w="12700">
            <a:solidFill>
              <a:srgbClr val="E2E7F0"/>
            </a:solidFill>
            <a:prstDash val="solid"/>
          </a:ln>
        </p:spPr>
      </p:sp>
      <p:sp>
        <p:nvSpPr>
          <p:cNvPr id="30" name="Text 28"/>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B6470"/>
                </a:solidFill>
                <a:latin typeface="Microsoft YaHei" pitchFamily="34" charset="0"/>
                <a:ea typeface="Microsoft YaHei" pitchFamily="34" charset="-122"/>
                <a:cs typeface="Microsoft YaHei" pitchFamily="34" charset="-120"/>
              </a:rPr>
              <a:t>生成式 AI 提高的是成果的完成度。空心项目因此更难从成果上识别。</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566182"/>
            <a:ext cx="95250" cy="95250"/>
          </a:xfrm>
          <a:prstGeom prst="ellipse">
            <a:avLst/>
          </a:prstGeom>
          <a:solidFill>
            <a:srgbClr val="C2CBD8"/>
          </a:solidFill>
          <a:ln w="25400">
            <a:solidFill>
              <a:srgbClr val="C2CBD8"/>
            </a:solidFill>
            <a:prstDash val="solid"/>
          </a:ln>
        </p:spPr>
      </p:sp>
      <p:sp>
        <p:nvSpPr>
          <p:cNvPr id="5" name="Shape 3"/>
          <p:cNvSpPr/>
          <p:nvPr/>
        </p:nvSpPr>
        <p:spPr>
          <a:xfrm>
            <a:off x="485775" y="2265589"/>
            <a:ext cx="95250" cy="95250"/>
          </a:xfrm>
          <a:prstGeom prst="ellipse">
            <a:avLst/>
          </a:prstGeom>
          <a:solidFill>
            <a:srgbClr val="C2CBD8"/>
          </a:solidFill>
          <a:ln w="25400">
            <a:solidFill>
              <a:srgbClr val="C2CBD8"/>
            </a:solidFill>
            <a:prstDash val="solid"/>
          </a:ln>
        </p:spPr>
      </p:sp>
      <p:sp>
        <p:nvSpPr>
          <p:cNvPr id="6" name="Shape 4"/>
          <p:cNvSpPr/>
          <p:nvPr/>
        </p:nvSpPr>
        <p:spPr>
          <a:xfrm>
            <a:off x="466725" y="2945946"/>
            <a:ext cx="133350" cy="133350"/>
          </a:xfrm>
          <a:prstGeom prst="ellipse">
            <a:avLst/>
          </a:prstGeom>
          <a:solidFill>
            <a:srgbClr val="B0472A"/>
          </a:solidFill>
          <a:ln w="25400">
            <a:solidFill>
              <a:srgbClr val="B0472A"/>
            </a:solidFill>
            <a:prstDash val="solid"/>
          </a:ln>
        </p:spPr>
      </p:sp>
      <p:sp>
        <p:nvSpPr>
          <p:cNvPr id="7" name="Shape 5"/>
          <p:cNvSpPr/>
          <p:nvPr/>
        </p:nvSpPr>
        <p:spPr>
          <a:xfrm>
            <a:off x="485775" y="3664404"/>
            <a:ext cx="95250" cy="95250"/>
          </a:xfrm>
          <a:prstGeom prst="ellipse">
            <a:avLst/>
          </a:prstGeom>
          <a:solidFill>
            <a:srgbClr val="FFFFFF"/>
          </a:solidFill>
          <a:ln w="25400">
            <a:solidFill>
              <a:srgbClr val="E2E7F0"/>
            </a:solidFill>
            <a:prstDash val="solid"/>
          </a:ln>
        </p:spPr>
      </p:sp>
      <p:sp>
        <p:nvSpPr>
          <p:cNvPr id="8" name="Shape 6"/>
          <p:cNvSpPr/>
          <p:nvPr/>
        </p:nvSpPr>
        <p:spPr>
          <a:xfrm>
            <a:off x="485775" y="4363811"/>
            <a:ext cx="95250" cy="95250"/>
          </a:xfrm>
          <a:prstGeom prst="ellipse">
            <a:avLst/>
          </a:prstGeom>
          <a:solidFill>
            <a:srgbClr val="FFFFFF"/>
          </a:solidFill>
          <a:ln w="25400">
            <a:solidFill>
              <a:srgbClr val="E2E7F0"/>
            </a:solidFill>
            <a:prstDash val="solid"/>
          </a:ln>
        </p:spPr>
      </p:sp>
      <p:sp>
        <p:nvSpPr>
          <p:cNvPr id="9" name="Shape 7"/>
          <p:cNvSpPr/>
          <p:nvPr/>
        </p:nvSpPr>
        <p:spPr>
          <a:xfrm>
            <a:off x="485775" y="5063218"/>
            <a:ext cx="95250" cy="95250"/>
          </a:xfrm>
          <a:prstGeom prst="ellipse">
            <a:avLst/>
          </a:prstGeom>
          <a:solidFill>
            <a:srgbClr val="FFFFFF"/>
          </a:solidFill>
          <a:ln w="25400">
            <a:solidFill>
              <a:srgbClr val="E2E7F0"/>
            </a:solidFill>
            <a:prstDash val="solid"/>
          </a:ln>
        </p:spPr>
      </p:sp>
      <p:sp>
        <p:nvSpPr>
          <p:cNvPr id="10" name="Shape 8"/>
          <p:cNvSpPr/>
          <p:nvPr/>
        </p:nvSpPr>
        <p:spPr>
          <a:xfrm>
            <a:off x="485775" y="5762625"/>
            <a:ext cx="95250" cy="95250"/>
          </a:xfrm>
          <a:prstGeom prst="ellipse">
            <a:avLst/>
          </a:prstGeom>
          <a:solidFill>
            <a:srgbClr val="FFFFFF"/>
          </a:solidFill>
          <a:ln w="25400">
            <a:solidFill>
              <a:srgbClr val="E2E7F0"/>
            </a:solidFill>
            <a:prstDash val="solid"/>
          </a:ln>
        </p:spPr>
      </p:sp>
      <p:sp>
        <p:nvSpPr>
          <p:cNvPr id="11" name="Text 9"/>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三</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2" name="Text 10"/>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15</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44</a:t>
            </a:r>
            <a:endParaRPr lang="en-US" sz="1000" dirty="0"/>
          </a:p>
        </p:txBody>
      </p:sp>
      <p:sp>
        <p:nvSpPr>
          <p:cNvPr id="13" name="Text 11"/>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B 档</a:t>
            </a:r>
            <a:endParaRPr lang="en-US" sz="800" dirty="0"/>
          </a:p>
        </p:txBody>
      </p:sp>
      <p:sp>
        <p:nvSpPr>
          <p:cNvPr id="14" name="Text 12"/>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第三段　·　既有问题与生成式 AI 的作用方向</a:t>
            </a:r>
            <a:endParaRPr lang="en-US" sz="1000" dirty="0"/>
          </a:p>
        </p:txBody>
      </p:sp>
      <p:sp>
        <p:nvSpPr>
          <p:cNvPr id="15" name="Text 13"/>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表现提升与学习发生的分离</a:t>
            </a:r>
            <a:endParaRPr lang="en-US" sz="3200" dirty="0"/>
          </a:p>
        </p:txBody>
      </p:sp>
      <p:sp>
        <p:nvSpPr>
          <p:cNvPr id="16" name="Shape 14"/>
          <p:cNvSpPr/>
          <p:nvPr/>
        </p:nvSpPr>
        <p:spPr>
          <a:xfrm>
            <a:off x="1295400" y="1860804"/>
            <a:ext cx="9981895" cy="1965960"/>
          </a:xfrm>
          <a:prstGeom prst="roundRect">
            <a:avLst>
              <a:gd name="adj" fmla="val 4186"/>
            </a:avLst>
          </a:prstGeom>
          <a:solidFill>
            <a:srgbClr val="FFFFFF"/>
          </a:solidFill>
          <a:ln w="12700">
            <a:solidFill>
              <a:srgbClr val="E2E7F0"/>
            </a:solidFill>
            <a:prstDash val="solid"/>
          </a:ln>
        </p:spPr>
      </p:sp>
      <p:sp>
        <p:nvSpPr>
          <p:cNvPr id="17" name="Shape 15"/>
          <p:cNvSpPr/>
          <p:nvPr/>
        </p:nvSpPr>
        <p:spPr>
          <a:xfrm>
            <a:off x="1359408" y="1860804"/>
            <a:ext cx="9853879" cy="38100"/>
          </a:xfrm>
          <a:prstGeom prst="rect">
            <a:avLst/>
          </a:prstGeom>
          <a:solidFill>
            <a:srgbClr val="B0472A"/>
          </a:solidFill>
          <a:ln w="12700">
            <a:solidFill>
              <a:srgbClr val="B0472A"/>
            </a:solidFill>
            <a:prstDash val="solid"/>
          </a:ln>
        </p:spPr>
      </p:sp>
      <p:sp>
        <p:nvSpPr>
          <p:cNvPr id="18" name="Shape 16"/>
          <p:cNvSpPr/>
          <p:nvPr/>
        </p:nvSpPr>
        <p:spPr>
          <a:xfrm>
            <a:off x="1551432" y="2080260"/>
            <a:ext cx="9469831" cy="0"/>
          </a:xfrm>
          <a:prstGeom prst="line">
            <a:avLst/>
          </a:prstGeom>
          <a:noFill/>
          <a:ln w="12700">
            <a:solidFill>
              <a:srgbClr val="E2E7F0"/>
            </a:solidFill>
            <a:prstDash val="solid"/>
          </a:ln>
        </p:spPr>
      </p:sp>
      <p:sp>
        <p:nvSpPr>
          <p:cNvPr id="19" name="Text 17"/>
          <p:cNvSpPr/>
          <p:nvPr/>
        </p:nvSpPr>
        <p:spPr>
          <a:xfrm>
            <a:off x="1551432" y="2144268"/>
            <a:ext cx="868680" cy="237744"/>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设计</a:t>
            </a:r>
            <a:endParaRPr lang="en-US" sz="950" dirty="0"/>
          </a:p>
        </p:txBody>
      </p:sp>
      <p:sp>
        <p:nvSpPr>
          <p:cNvPr id="20" name="Text 18"/>
          <p:cNvSpPr/>
          <p:nvPr/>
        </p:nvSpPr>
        <p:spPr>
          <a:xfrm>
            <a:off x="2538984" y="2125980"/>
            <a:ext cx="8482279" cy="274320"/>
          </a:xfrm>
          <a:prstGeom prst="rect">
            <a:avLst/>
          </a:prstGeom>
          <a:noFill/>
          <a:ln/>
        </p:spPr>
        <p:txBody>
          <a:bodyPr wrap="square" lIns="0" tIns="0" rIns="0" bIns="0" rtlCol="0" anchor="ctr"/>
          <a:lstStyle/>
          <a:p>
            <a:pPr indent="0" marL="0">
              <a:buNone/>
            </a:pPr>
            <a:r>
              <a:rPr lang="en-US" sz="1250" dirty="0">
                <a:solidFill>
                  <a:srgbClr val="1A2029"/>
                </a:solidFill>
                <a:latin typeface="Microsoft YaHei" pitchFamily="34" charset="0"/>
                <a:ea typeface="Microsoft YaHei" pitchFamily="34" charset="-122"/>
                <a:cs typeface="Microsoft YaHei" pitchFamily="34" charset="-120"/>
              </a:rPr>
              <a:t>随机实验，四组对照：ChatGPT 组、人类专家组、清单工具组、无支持组</a:t>
            </a:r>
            <a:endParaRPr lang="en-US" sz="1250" dirty="0"/>
          </a:p>
        </p:txBody>
      </p:sp>
      <p:sp>
        <p:nvSpPr>
          <p:cNvPr id="21" name="Shape 19"/>
          <p:cNvSpPr/>
          <p:nvPr/>
        </p:nvSpPr>
        <p:spPr>
          <a:xfrm>
            <a:off x="1551432" y="2427732"/>
            <a:ext cx="9469831" cy="0"/>
          </a:xfrm>
          <a:prstGeom prst="line">
            <a:avLst/>
          </a:prstGeom>
          <a:noFill/>
          <a:ln w="12700">
            <a:solidFill>
              <a:srgbClr val="E2E7F0"/>
            </a:solidFill>
            <a:prstDash val="solid"/>
          </a:ln>
        </p:spPr>
      </p:sp>
      <p:sp>
        <p:nvSpPr>
          <p:cNvPr id="22" name="Text 20"/>
          <p:cNvSpPr/>
          <p:nvPr/>
        </p:nvSpPr>
        <p:spPr>
          <a:xfrm>
            <a:off x="1551432" y="2491740"/>
            <a:ext cx="868680" cy="237744"/>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样本</a:t>
            </a:r>
            <a:endParaRPr lang="en-US" sz="950" dirty="0"/>
          </a:p>
        </p:txBody>
      </p:sp>
      <p:sp>
        <p:nvSpPr>
          <p:cNvPr id="23" name="Text 21"/>
          <p:cNvSpPr/>
          <p:nvPr/>
        </p:nvSpPr>
        <p:spPr>
          <a:xfrm>
            <a:off x="2538984" y="2473452"/>
            <a:ext cx="8482279" cy="274320"/>
          </a:xfrm>
          <a:prstGeom prst="rect">
            <a:avLst/>
          </a:prstGeom>
          <a:noFill/>
          <a:ln/>
        </p:spPr>
        <p:txBody>
          <a:bodyPr wrap="square" lIns="0" tIns="0" rIns="0" bIns="0" rtlCol="0" anchor="ctr"/>
          <a:lstStyle/>
          <a:p>
            <a:pPr indent="0" marL="0">
              <a:buNone/>
            </a:pPr>
            <a:r>
              <a:rPr lang="en-US" sz="1250" dirty="0">
                <a:solidFill>
                  <a:srgbClr val="1A2029"/>
                </a:solidFill>
                <a:latin typeface="Microsoft YaHei" pitchFamily="34" charset="0"/>
                <a:ea typeface="Microsoft YaHei" pitchFamily="34" charset="-122"/>
                <a:cs typeface="Microsoft YaHei" pitchFamily="34" charset="-120"/>
              </a:rPr>
              <a:t>117 名中国大学生，英语读写任务</a:t>
            </a:r>
            <a:endParaRPr lang="en-US" sz="1250" dirty="0"/>
          </a:p>
        </p:txBody>
      </p:sp>
      <p:sp>
        <p:nvSpPr>
          <p:cNvPr id="24" name="Shape 22"/>
          <p:cNvSpPr/>
          <p:nvPr/>
        </p:nvSpPr>
        <p:spPr>
          <a:xfrm>
            <a:off x="1551432" y="2775204"/>
            <a:ext cx="9469831" cy="0"/>
          </a:xfrm>
          <a:prstGeom prst="line">
            <a:avLst/>
          </a:prstGeom>
          <a:noFill/>
          <a:ln w="12700">
            <a:solidFill>
              <a:srgbClr val="E2E7F0"/>
            </a:solidFill>
            <a:prstDash val="solid"/>
          </a:ln>
        </p:spPr>
      </p:sp>
      <p:sp>
        <p:nvSpPr>
          <p:cNvPr id="25" name="Text 23"/>
          <p:cNvSpPr/>
          <p:nvPr/>
        </p:nvSpPr>
        <p:spPr>
          <a:xfrm>
            <a:off x="1551432" y="2839212"/>
            <a:ext cx="868680" cy="237744"/>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结果</a:t>
            </a:r>
            <a:endParaRPr lang="en-US" sz="950" dirty="0"/>
          </a:p>
        </p:txBody>
      </p:sp>
      <p:sp>
        <p:nvSpPr>
          <p:cNvPr id="26" name="Text 24"/>
          <p:cNvSpPr/>
          <p:nvPr/>
        </p:nvSpPr>
        <p:spPr>
          <a:xfrm>
            <a:off x="2538984" y="2820924"/>
            <a:ext cx="8482279" cy="274320"/>
          </a:xfrm>
          <a:prstGeom prst="rect">
            <a:avLst/>
          </a:prstGeom>
          <a:noFill/>
          <a:ln/>
        </p:spPr>
        <p:txBody>
          <a:bodyPr wrap="square" lIns="0" tIns="0" rIns="0" bIns="0" rtlCol="0" anchor="ctr"/>
          <a:lstStyle/>
          <a:p>
            <a:pPr indent="0" marL="0">
              <a:buNone/>
            </a:pPr>
            <a:r>
              <a:rPr lang="en-US" sz="1250" dirty="0">
                <a:solidFill>
                  <a:srgbClr val="1A2029"/>
                </a:solidFill>
                <a:latin typeface="Microsoft YaHei" pitchFamily="34" charset="0"/>
                <a:ea typeface="Microsoft YaHei" pitchFamily="34" charset="-122"/>
                <a:cs typeface="Microsoft YaHei" pitchFamily="34" charset="-120"/>
              </a:rPr>
              <a:t>ChatGPT 组作文成绩显著提升</a:t>
            </a:r>
            <a:endParaRPr lang="en-US" sz="1250" dirty="0"/>
          </a:p>
        </p:txBody>
      </p:sp>
      <p:sp>
        <p:nvSpPr>
          <p:cNvPr id="27" name="Shape 25"/>
          <p:cNvSpPr/>
          <p:nvPr/>
        </p:nvSpPr>
        <p:spPr>
          <a:xfrm>
            <a:off x="1551432" y="3122676"/>
            <a:ext cx="9469831" cy="0"/>
          </a:xfrm>
          <a:prstGeom prst="line">
            <a:avLst/>
          </a:prstGeom>
          <a:noFill/>
          <a:ln w="12700">
            <a:solidFill>
              <a:srgbClr val="E2E7F0"/>
            </a:solidFill>
            <a:prstDash val="solid"/>
          </a:ln>
        </p:spPr>
      </p:sp>
      <p:sp>
        <p:nvSpPr>
          <p:cNvPr id="28" name="Text 26"/>
          <p:cNvSpPr/>
          <p:nvPr/>
        </p:nvSpPr>
        <p:spPr>
          <a:xfrm>
            <a:off x="1551432" y="3186684"/>
            <a:ext cx="868680" cy="237744"/>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但是</a:t>
            </a:r>
            <a:endParaRPr lang="en-US" sz="950" dirty="0"/>
          </a:p>
        </p:txBody>
      </p:sp>
      <p:sp>
        <p:nvSpPr>
          <p:cNvPr id="29" name="Text 27"/>
          <p:cNvSpPr/>
          <p:nvPr/>
        </p:nvSpPr>
        <p:spPr>
          <a:xfrm>
            <a:off x="2538984" y="3168396"/>
            <a:ext cx="8482279" cy="274320"/>
          </a:xfrm>
          <a:prstGeom prst="rect">
            <a:avLst/>
          </a:prstGeom>
          <a:noFill/>
          <a:ln/>
        </p:spPr>
        <p:txBody>
          <a:bodyPr wrap="square" lIns="0" tIns="0" rIns="0" bIns="0" rtlCol="0" anchor="ctr"/>
          <a:lstStyle/>
          <a:p>
            <a:pPr indent="0" marL="0">
              <a:buNone/>
            </a:pPr>
            <a:r>
              <a:rPr lang="en-US" sz="1250" dirty="0">
                <a:solidFill>
                  <a:srgbClr val="1A2029"/>
                </a:solidFill>
                <a:latin typeface="Microsoft YaHei" pitchFamily="34" charset="0"/>
                <a:ea typeface="Microsoft YaHei" pitchFamily="34" charset="-122"/>
                <a:cs typeface="Microsoft YaHei" pitchFamily="34" charset="-120"/>
              </a:rPr>
              <a:t>知识获得与迁移，与其他组无显著差异</a:t>
            </a:r>
            <a:endParaRPr lang="en-US" sz="1250" dirty="0"/>
          </a:p>
        </p:txBody>
      </p:sp>
      <p:sp>
        <p:nvSpPr>
          <p:cNvPr id="30" name="Text 28"/>
          <p:cNvSpPr/>
          <p:nvPr/>
        </p:nvSpPr>
        <p:spPr>
          <a:xfrm>
            <a:off x="1551432" y="3488436"/>
            <a:ext cx="9469831" cy="256032"/>
          </a:xfrm>
          <a:prstGeom prst="rect">
            <a:avLst/>
          </a:prstGeom>
          <a:noFill/>
          <a:ln/>
        </p:spPr>
        <p:txBody>
          <a:bodyPr wrap="square" lIns="0" tIns="0" rIns="0" bIns="0" rtlCol="0" anchor="ctr"/>
          <a:lstStyle/>
          <a:p>
            <a:pPr indent="0" marL="0">
              <a:buNone/>
            </a:pPr>
            <a:r>
              <a:rPr lang="en-US" sz="1350" b="1" dirty="0">
                <a:solidFill>
                  <a:srgbClr val="B0472A"/>
                </a:solidFill>
                <a:latin typeface="Microsoft YaHei" pitchFamily="34" charset="0"/>
                <a:ea typeface="Microsoft YaHei" pitchFamily="34" charset="-122"/>
                <a:cs typeface="Microsoft YaHei" pitchFamily="34" charset="-120"/>
              </a:rPr>
              <a:t>作者称之为「元认知懒惰」</a:t>
            </a:r>
            <a:endParaRPr lang="en-US" sz="1350" dirty="0"/>
          </a:p>
        </p:txBody>
      </p:sp>
      <p:sp>
        <p:nvSpPr>
          <p:cNvPr id="31" name="Text 29"/>
          <p:cNvSpPr/>
          <p:nvPr/>
        </p:nvSpPr>
        <p:spPr>
          <a:xfrm>
            <a:off x="1295400" y="3936492"/>
            <a:ext cx="9981895" cy="256032"/>
          </a:xfrm>
          <a:prstGeom prst="rect">
            <a:avLst/>
          </a:prstGeom>
          <a:noFill/>
          <a:ln/>
        </p:spPr>
        <p:txBody>
          <a:bodyPr wrap="square" lIns="0" tIns="0" rIns="0" bIns="0" rtlCol="0" anchor="ctr"/>
          <a:lstStyle/>
          <a:p>
            <a:pPr indent="0" marL="0">
              <a:buNone/>
            </a:pPr>
            <a:r>
              <a:rPr lang="en-US" sz="1000" dirty="0">
                <a:solidFill>
                  <a:srgbClr val="5B6470"/>
                </a:solidFill>
                <a:latin typeface="Microsoft YaHei" pitchFamily="34" charset="0"/>
                <a:ea typeface="Microsoft YaHei" pitchFamily="34" charset="-122"/>
                <a:cs typeface="Microsoft YaHei" pitchFamily="34" charset="-120"/>
              </a:rPr>
              <a:t>Fan 等，2025，British Journal of Educational Technology 56(2)</a:t>
            </a:r>
            <a:endParaRPr lang="en-US" sz="1000" dirty="0"/>
          </a:p>
        </p:txBody>
      </p:sp>
      <p:sp>
        <p:nvSpPr>
          <p:cNvPr id="32" name="Text 30"/>
          <p:cNvSpPr/>
          <p:nvPr/>
        </p:nvSpPr>
        <p:spPr>
          <a:xfrm>
            <a:off x="1295400" y="4210812"/>
            <a:ext cx="9981895" cy="237744"/>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和文斌等，2024，《开放教育研究》30 卷 5 期：干预超过 12 周，效应量转为负向。</a:t>
            </a:r>
            <a:endParaRPr lang="en-US" sz="950" dirty="0"/>
          </a:p>
        </p:txBody>
      </p:sp>
      <p:sp>
        <p:nvSpPr>
          <p:cNvPr id="33" name="Text 31"/>
          <p:cNvSpPr/>
          <p:nvPr/>
        </p:nvSpPr>
        <p:spPr>
          <a:xfrm>
            <a:off x="1295400" y="4466844"/>
            <a:ext cx="9981895" cy="237744"/>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钱莉等，2025，《现代教育技术》35 卷 8 期：样本超过 150 人时，效应不显著。</a:t>
            </a:r>
            <a:endParaRPr lang="en-US" sz="950" dirty="0"/>
          </a:p>
        </p:txBody>
      </p:sp>
      <p:sp>
        <p:nvSpPr>
          <p:cNvPr id="34" name="Shape 32"/>
          <p:cNvSpPr/>
          <p:nvPr/>
        </p:nvSpPr>
        <p:spPr>
          <a:xfrm>
            <a:off x="1295400" y="5888736"/>
            <a:ext cx="9981895" cy="0"/>
          </a:xfrm>
          <a:prstGeom prst="line">
            <a:avLst/>
          </a:prstGeom>
          <a:noFill/>
          <a:ln w="12700">
            <a:solidFill>
              <a:srgbClr val="E2E7F0"/>
            </a:solidFill>
            <a:prstDash val="solid"/>
          </a:ln>
        </p:spPr>
      </p:sp>
      <p:sp>
        <p:nvSpPr>
          <p:cNvPr id="35" name="Text 33"/>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B6470"/>
                </a:solidFill>
                <a:latin typeface="Microsoft YaHei" pitchFamily="34" charset="0"/>
                <a:ea typeface="Microsoft YaHei" pitchFamily="34" charset="-122"/>
                <a:cs typeface="Microsoft YaHei" pitchFamily="34" charset="-120"/>
              </a:rPr>
              <a:t>该研究的样本为大学生。此处引用的是其揭示的机制，而非效应量数值。</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566182"/>
            <a:ext cx="95250" cy="95250"/>
          </a:xfrm>
          <a:prstGeom prst="ellipse">
            <a:avLst/>
          </a:prstGeom>
          <a:solidFill>
            <a:srgbClr val="C2CBD8"/>
          </a:solidFill>
          <a:ln w="25400">
            <a:solidFill>
              <a:srgbClr val="C2CBD8"/>
            </a:solidFill>
            <a:prstDash val="solid"/>
          </a:ln>
        </p:spPr>
      </p:sp>
      <p:sp>
        <p:nvSpPr>
          <p:cNvPr id="5" name="Shape 3"/>
          <p:cNvSpPr/>
          <p:nvPr/>
        </p:nvSpPr>
        <p:spPr>
          <a:xfrm>
            <a:off x="485775" y="2265589"/>
            <a:ext cx="95250" cy="95250"/>
          </a:xfrm>
          <a:prstGeom prst="ellipse">
            <a:avLst/>
          </a:prstGeom>
          <a:solidFill>
            <a:srgbClr val="C2CBD8"/>
          </a:solidFill>
          <a:ln w="25400">
            <a:solidFill>
              <a:srgbClr val="C2CBD8"/>
            </a:solidFill>
            <a:prstDash val="solid"/>
          </a:ln>
        </p:spPr>
      </p:sp>
      <p:sp>
        <p:nvSpPr>
          <p:cNvPr id="6" name="Shape 4"/>
          <p:cNvSpPr/>
          <p:nvPr/>
        </p:nvSpPr>
        <p:spPr>
          <a:xfrm>
            <a:off x="466725" y="2945946"/>
            <a:ext cx="133350" cy="133350"/>
          </a:xfrm>
          <a:prstGeom prst="ellipse">
            <a:avLst/>
          </a:prstGeom>
          <a:solidFill>
            <a:srgbClr val="B0472A"/>
          </a:solidFill>
          <a:ln w="25400">
            <a:solidFill>
              <a:srgbClr val="B0472A"/>
            </a:solidFill>
            <a:prstDash val="solid"/>
          </a:ln>
        </p:spPr>
      </p:sp>
      <p:sp>
        <p:nvSpPr>
          <p:cNvPr id="7" name="Shape 5"/>
          <p:cNvSpPr/>
          <p:nvPr/>
        </p:nvSpPr>
        <p:spPr>
          <a:xfrm>
            <a:off x="485775" y="3664404"/>
            <a:ext cx="95250" cy="95250"/>
          </a:xfrm>
          <a:prstGeom prst="ellipse">
            <a:avLst/>
          </a:prstGeom>
          <a:solidFill>
            <a:srgbClr val="FFFFFF"/>
          </a:solidFill>
          <a:ln w="25400">
            <a:solidFill>
              <a:srgbClr val="E2E7F0"/>
            </a:solidFill>
            <a:prstDash val="solid"/>
          </a:ln>
        </p:spPr>
      </p:sp>
      <p:sp>
        <p:nvSpPr>
          <p:cNvPr id="8" name="Shape 6"/>
          <p:cNvSpPr/>
          <p:nvPr/>
        </p:nvSpPr>
        <p:spPr>
          <a:xfrm>
            <a:off x="485775" y="4363811"/>
            <a:ext cx="95250" cy="95250"/>
          </a:xfrm>
          <a:prstGeom prst="ellipse">
            <a:avLst/>
          </a:prstGeom>
          <a:solidFill>
            <a:srgbClr val="FFFFFF"/>
          </a:solidFill>
          <a:ln w="25400">
            <a:solidFill>
              <a:srgbClr val="E2E7F0"/>
            </a:solidFill>
            <a:prstDash val="solid"/>
          </a:ln>
        </p:spPr>
      </p:sp>
      <p:sp>
        <p:nvSpPr>
          <p:cNvPr id="9" name="Shape 7"/>
          <p:cNvSpPr/>
          <p:nvPr/>
        </p:nvSpPr>
        <p:spPr>
          <a:xfrm>
            <a:off x="485775" y="5063218"/>
            <a:ext cx="95250" cy="95250"/>
          </a:xfrm>
          <a:prstGeom prst="ellipse">
            <a:avLst/>
          </a:prstGeom>
          <a:solidFill>
            <a:srgbClr val="FFFFFF"/>
          </a:solidFill>
          <a:ln w="25400">
            <a:solidFill>
              <a:srgbClr val="E2E7F0"/>
            </a:solidFill>
            <a:prstDash val="solid"/>
          </a:ln>
        </p:spPr>
      </p:sp>
      <p:sp>
        <p:nvSpPr>
          <p:cNvPr id="10" name="Shape 8"/>
          <p:cNvSpPr/>
          <p:nvPr/>
        </p:nvSpPr>
        <p:spPr>
          <a:xfrm>
            <a:off x="485775" y="5762625"/>
            <a:ext cx="95250" cy="95250"/>
          </a:xfrm>
          <a:prstGeom prst="ellipse">
            <a:avLst/>
          </a:prstGeom>
          <a:solidFill>
            <a:srgbClr val="FFFFFF"/>
          </a:solidFill>
          <a:ln w="25400">
            <a:solidFill>
              <a:srgbClr val="E2E7F0"/>
            </a:solidFill>
            <a:prstDash val="solid"/>
          </a:ln>
        </p:spPr>
      </p:sp>
      <p:sp>
        <p:nvSpPr>
          <p:cNvPr id="11" name="Text 9"/>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三</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2" name="Text 10"/>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16</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44</a:t>
            </a:r>
            <a:endParaRPr lang="en-US" sz="1000" dirty="0"/>
          </a:p>
        </p:txBody>
      </p:sp>
      <p:sp>
        <p:nvSpPr>
          <p:cNvPr id="13" name="Text 11"/>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4" name="Text 12"/>
          <p:cNvSpPr/>
          <p:nvPr/>
        </p:nvSpPr>
        <p:spPr>
          <a:xfrm>
            <a:off x="1295400" y="2468880"/>
            <a:ext cx="9158935" cy="2286000"/>
          </a:xfrm>
          <a:prstGeom prst="rect">
            <a:avLst/>
          </a:prstGeom>
          <a:noFill/>
          <a:ln/>
        </p:spPr>
        <p:txBody>
          <a:bodyPr wrap="square" lIns="0" tIns="0" rIns="0" bIns="0" rtlCol="0" anchor="t"/>
          <a:lstStyle/>
          <a:p>
            <a:pPr indent="0" marL="0">
              <a:lnSpc>
                <a:spcPct val="145000"/>
              </a:lnSpc>
              <a:buNone/>
            </a:pPr>
            <a:r>
              <a:rPr lang="en-US" sz="2500" b="1" dirty="0">
                <a:solidFill>
                  <a:srgbClr val="0F1B2D"/>
                </a:solidFill>
                <a:latin typeface="Microsoft YaHei" pitchFamily="34" charset="0"/>
                <a:ea typeface="Microsoft YaHei" pitchFamily="34" charset="-122"/>
                <a:cs typeface="Microsoft YaHei" pitchFamily="34" charset="-120"/>
              </a:rPr>
              <a:t>生成式 AI 所加速的环节，正是本课程的教学内容本身。</a:t>
            </a:r>
            <a:endParaRPr lang="en-US" sz="2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566182"/>
            <a:ext cx="95250" cy="95250"/>
          </a:xfrm>
          <a:prstGeom prst="ellipse">
            <a:avLst/>
          </a:prstGeom>
          <a:solidFill>
            <a:srgbClr val="C2CBD8"/>
          </a:solidFill>
          <a:ln w="25400">
            <a:solidFill>
              <a:srgbClr val="C2CBD8"/>
            </a:solidFill>
            <a:prstDash val="solid"/>
          </a:ln>
        </p:spPr>
      </p:sp>
      <p:sp>
        <p:nvSpPr>
          <p:cNvPr id="5" name="Shape 3"/>
          <p:cNvSpPr/>
          <p:nvPr/>
        </p:nvSpPr>
        <p:spPr>
          <a:xfrm>
            <a:off x="485775" y="2265589"/>
            <a:ext cx="95250" cy="95250"/>
          </a:xfrm>
          <a:prstGeom prst="ellipse">
            <a:avLst/>
          </a:prstGeom>
          <a:solidFill>
            <a:srgbClr val="C2CBD8"/>
          </a:solidFill>
          <a:ln w="25400">
            <a:solidFill>
              <a:srgbClr val="C2CBD8"/>
            </a:solidFill>
            <a:prstDash val="solid"/>
          </a:ln>
        </p:spPr>
      </p:sp>
      <p:sp>
        <p:nvSpPr>
          <p:cNvPr id="6" name="Shape 4"/>
          <p:cNvSpPr/>
          <p:nvPr/>
        </p:nvSpPr>
        <p:spPr>
          <a:xfrm>
            <a:off x="466725" y="2945946"/>
            <a:ext cx="133350" cy="133350"/>
          </a:xfrm>
          <a:prstGeom prst="ellipse">
            <a:avLst/>
          </a:prstGeom>
          <a:solidFill>
            <a:srgbClr val="B0472A"/>
          </a:solidFill>
          <a:ln w="25400">
            <a:solidFill>
              <a:srgbClr val="B0472A"/>
            </a:solidFill>
            <a:prstDash val="solid"/>
          </a:ln>
        </p:spPr>
      </p:sp>
      <p:sp>
        <p:nvSpPr>
          <p:cNvPr id="7" name="Shape 5"/>
          <p:cNvSpPr/>
          <p:nvPr/>
        </p:nvSpPr>
        <p:spPr>
          <a:xfrm>
            <a:off x="485775" y="3664404"/>
            <a:ext cx="95250" cy="95250"/>
          </a:xfrm>
          <a:prstGeom prst="ellipse">
            <a:avLst/>
          </a:prstGeom>
          <a:solidFill>
            <a:srgbClr val="FFFFFF"/>
          </a:solidFill>
          <a:ln w="25400">
            <a:solidFill>
              <a:srgbClr val="E2E7F0"/>
            </a:solidFill>
            <a:prstDash val="solid"/>
          </a:ln>
        </p:spPr>
      </p:sp>
      <p:sp>
        <p:nvSpPr>
          <p:cNvPr id="8" name="Shape 6"/>
          <p:cNvSpPr/>
          <p:nvPr/>
        </p:nvSpPr>
        <p:spPr>
          <a:xfrm>
            <a:off x="485775" y="4363811"/>
            <a:ext cx="95250" cy="95250"/>
          </a:xfrm>
          <a:prstGeom prst="ellipse">
            <a:avLst/>
          </a:prstGeom>
          <a:solidFill>
            <a:srgbClr val="FFFFFF"/>
          </a:solidFill>
          <a:ln w="25400">
            <a:solidFill>
              <a:srgbClr val="E2E7F0"/>
            </a:solidFill>
            <a:prstDash val="solid"/>
          </a:ln>
        </p:spPr>
      </p:sp>
      <p:sp>
        <p:nvSpPr>
          <p:cNvPr id="9" name="Shape 7"/>
          <p:cNvSpPr/>
          <p:nvPr/>
        </p:nvSpPr>
        <p:spPr>
          <a:xfrm>
            <a:off x="485775" y="5063218"/>
            <a:ext cx="95250" cy="95250"/>
          </a:xfrm>
          <a:prstGeom prst="ellipse">
            <a:avLst/>
          </a:prstGeom>
          <a:solidFill>
            <a:srgbClr val="FFFFFF"/>
          </a:solidFill>
          <a:ln w="25400">
            <a:solidFill>
              <a:srgbClr val="E2E7F0"/>
            </a:solidFill>
            <a:prstDash val="solid"/>
          </a:ln>
        </p:spPr>
      </p:sp>
      <p:sp>
        <p:nvSpPr>
          <p:cNvPr id="10" name="Shape 8"/>
          <p:cNvSpPr/>
          <p:nvPr/>
        </p:nvSpPr>
        <p:spPr>
          <a:xfrm>
            <a:off x="485775" y="5762625"/>
            <a:ext cx="95250" cy="95250"/>
          </a:xfrm>
          <a:prstGeom prst="ellipse">
            <a:avLst/>
          </a:prstGeom>
          <a:solidFill>
            <a:srgbClr val="FFFFFF"/>
          </a:solidFill>
          <a:ln w="25400">
            <a:solidFill>
              <a:srgbClr val="E2E7F0"/>
            </a:solidFill>
            <a:prstDash val="solid"/>
          </a:ln>
        </p:spPr>
      </p:sp>
      <p:sp>
        <p:nvSpPr>
          <p:cNvPr id="11" name="Text 9"/>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三</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2" name="Text 10"/>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17</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44</a:t>
            </a:r>
            <a:endParaRPr lang="en-US" sz="1000" dirty="0"/>
          </a:p>
        </p:txBody>
      </p:sp>
      <p:sp>
        <p:nvSpPr>
          <p:cNvPr id="13" name="Text 11"/>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4" name="Text 12"/>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第三段　·　既有问题与生成式 AI 的作用方向</a:t>
            </a:r>
            <a:endParaRPr lang="en-US" sz="1000" dirty="0"/>
          </a:p>
        </p:txBody>
      </p:sp>
      <p:sp>
        <p:nvSpPr>
          <p:cNvPr id="15" name="Text 13"/>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教师侧的四项用途</a:t>
            </a:r>
            <a:endParaRPr lang="en-US" sz="3200" dirty="0"/>
          </a:p>
        </p:txBody>
      </p:sp>
      <p:sp>
        <p:nvSpPr>
          <p:cNvPr id="16" name="Text 14"/>
          <p:cNvSpPr/>
          <p:nvPr/>
        </p:nvSpPr>
        <p:spPr>
          <a:xfrm>
            <a:off x="1295400" y="1805940"/>
            <a:ext cx="9981895" cy="274320"/>
          </a:xfrm>
          <a:prstGeom prst="rect">
            <a:avLst/>
          </a:prstGeom>
          <a:noFill/>
          <a:ln/>
        </p:spPr>
        <p:txBody>
          <a:bodyPr wrap="square" lIns="0" tIns="0" rIns="0" bIns="0" rtlCol="0" anchor="ctr"/>
          <a:lstStyle/>
          <a:p>
            <a:pPr indent="0" marL="0">
              <a:buNone/>
            </a:pPr>
            <a:r>
              <a:rPr lang="en-US" sz="1150" dirty="0">
                <a:solidFill>
                  <a:srgbClr val="5B6470"/>
                </a:solidFill>
                <a:latin typeface="Microsoft YaHei" pitchFamily="34" charset="0"/>
                <a:ea typeface="Microsoft YaHei" pitchFamily="34" charset="-122"/>
                <a:cs typeface="Microsoft YaHei" pitchFamily="34" charset="-120"/>
              </a:rPr>
              <a:t>上表中列的四项，都在教师侧，学生不接触，也不涉及学生数据。以下各给一个具体做法。</a:t>
            </a:r>
            <a:endParaRPr lang="en-US" sz="1150" dirty="0"/>
          </a:p>
        </p:txBody>
      </p:sp>
      <p:sp>
        <p:nvSpPr>
          <p:cNvPr id="17" name="Shape 15"/>
          <p:cNvSpPr/>
          <p:nvPr/>
        </p:nvSpPr>
        <p:spPr>
          <a:xfrm>
            <a:off x="1295400" y="2226564"/>
            <a:ext cx="4899508" cy="1298448"/>
          </a:xfrm>
          <a:prstGeom prst="roundRect">
            <a:avLst>
              <a:gd name="adj" fmla="val 6338"/>
            </a:avLst>
          </a:prstGeom>
          <a:solidFill>
            <a:srgbClr val="FFFFFF"/>
          </a:solidFill>
          <a:ln w="12700">
            <a:solidFill>
              <a:srgbClr val="E2E7F0"/>
            </a:solidFill>
            <a:prstDash val="solid"/>
          </a:ln>
        </p:spPr>
      </p:sp>
      <p:sp>
        <p:nvSpPr>
          <p:cNvPr id="18" name="Shape 16"/>
          <p:cNvSpPr/>
          <p:nvPr/>
        </p:nvSpPr>
        <p:spPr>
          <a:xfrm>
            <a:off x="1359408" y="2226564"/>
            <a:ext cx="4771492" cy="38100"/>
          </a:xfrm>
          <a:prstGeom prst="rect">
            <a:avLst/>
          </a:prstGeom>
          <a:solidFill>
            <a:srgbClr val="33414F"/>
          </a:solidFill>
          <a:ln w="12700">
            <a:solidFill>
              <a:srgbClr val="33414F"/>
            </a:solidFill>
            <a:prstDash val="solid"/>
          </a:ln>
        </p:spPr>
      </p:sp>
      <p:sp>
        <p:nvSpPr>
          <p:cNvPr id="19" name="Text 17"/>
          <p:cNvSpPr/>
          <p:nvPr/>
        </p:nvSpPr>
        <p:spPr>
          <a:xfrm>
            <a:off x="1496568" y="2372868"/>
            <a:ext cx="4497172" cy="292608"/>
          </a:xfrm>
          <a:prstGeom prst="rect">
            <a:avLst/>
          </a:prstGeom>
          <a:noFill/>
          <a:ln/>
        </p:spPr>
        <p:txBody>
          <a:bodyPr wrap="square" lIns="0" tIns="0" rIns="0" bIns="0" rtlCol="0" anchor="ctr"/>
          <a:lstStyle/>
          <a:p>
            <a:pPr indent="0" marL="0">
              <a:buNone/>
            </a:pPr>
            <a:r>
              <a:rPr lang="en-US" sz="1500" b="1" dirty="0">
                <a:solidFill>
                  <a:srgbClr val="0F1B2D"/>
                </a:solidFill>
                <a:latin typeface="Microsoft YaHei" pitchFamily="34" charset="0"/>
                <a:ea typeface="Microsoft YaHei" pitchFamily="34" charset="-122"/>
                <a:cs typeface="Microsoft YaHei" pitchFamily="34" charset="-120"/>
              </a:rPr>
              <a:t>评价量规初稿</a:t>
            </a:r>
            <a:endParaRPr lang="en-US" sz="1500" dirty="0"/>
          </a:p>
        </p:txBody>
      </p:sp>
      <p:sp>
        <p:nvSpPr>
          <p:cNvPr id="20" name="Text 18"/>
          <p:cNvSpPr/>
          <p:nvPr/>
        </p:nvSpPr>
        <p:spPr>
          <a:xfrm>
            <a:off x="1496568" y="2702052"/>
            <a:ext cx="4497172" cy="457200"/>
          </a:xfrm>
          <a:prstGeom prst="rect">
            <a:avLst/>
          </a:prstGeom>
          <a:noFill/>
          <a:ln/>
        </p:spPr>
        <p:txBody>
          <a:bodyPr wrap="square" lIns="0" tIns="0" rIns="0" bIns="0" rtlCol="0" anchor="t"/>
          <a:lstStyle/>
          <a:p>
            <a:pPr indent="0" marL="0">
              <a:lnSpc>
                <a:spcPct val="135000"/>
              </a:lnSpc>
              <a:buNone/>
            </a:pPr>
            <a:r>
              <a:rPr lang="en-US" sz="1150" dirty="0">
                <a:solidFill>
                  <a:srgbClr val="1A2029"/>
                </a:solidFill>
                <a:latin typeface="Microsoft YaHei" pitchFamily="34" charset="0"/>
                <a:ea typeface="Microsoft YaHei" pitchFamily="34" charset="-122"/>
                <a:cs typeface="Microsoft YaHei" pitchFamily="34" charset="-120"/>
              </a:rPr>
              <a:t>把任务描述与四个评价维度交给 AI，要求输出一张四级量规草稿，教师逐条修改。</a:t>
            </a:r>
            <a:endParaRPr lang="en-US" sz="1150" dirty="0"/>
          </a:p>
        </p:txBody>
      </p:sp>
      <p:sp>
        <p:nvSpPr>
          <p:cNvPr id="21" name="Shape 19"/>
          <p:cNvSpPr/>
          <p:nvPr/>
        </p:nvSpPr>
        <p:spPr>
          <a:xfrm>
            <a:off x="1496568" y="3195828"/>
            <a:ext cx="4497172" cy="0"/>
          </a:xfrm>
          <a:prstGeom prst="line">
            <a:avLst/>
          </a:prstGeom>
          <a:noFill/>
          <a:ln w="12700">
            <a:solidFill>
              <a:srgbClr val="E2E7F0"/>
            </a:solidFill>
            <a:prstDash val="solid"/>
          </a:ln>
        </p:spPr>
      </p:sp>
      <p:sp>
        <p:nvSpPr>
          <p:cNvPr id="22" name="Text 20"/>
          <p:cNvSpPr/>
          <p:nvPr/>
        </p:nvSpPr>
        <p:spPr>
          <a:xfrm>
            <a:off x="1496568" y="3259836"/>
            <a:ext cx="4497172" cy="219456"/>
          </a:xfrm>
          <a:prstGeom prst="rect">
            <a:avLst/>
          </a:prstGeom>
          <a:noFill/>
          <a:ln/>
        </p:spPr>
        <p:txBody>
          <a:bodyPr wrap="square" lIns="0" tIns="0" rIns="0" bIns="0" rtlCol="0" anchor="ctr"/>
          <a:lstStyle/>
          <a:p>
            <a:pPr indent="0" marL="0">
              <a:buNone/>
            </a:pPr>
            <a:r>
              <a:rPr lang="en-US" sz="1000" b="1" dirty="0">
                <a:solidFill>
                  <a:srgbClr val="33414F"/>
                </a:solidFill>
                <a:latin typeface="Microsoft YaHei" pitchFamily="34" charset="0"/>
                <a:ea typeface="Microsoft YaHei" pitchFamily="34" charset="-122"/>
                <a:cs typeface="Microsoft YaHei" pitchFamily="34" charset="-120"/>
              </a:rPr>
              <a:t>产出　</a:t>
            </a:r>
            <a:pPr indent="0" marL="0">
              <a:buNone/>
            </a:pPr>
            <a:r>
              <a:rPr lang="en-US" sz="1000" dirty="0">
                <a:solidFill>
                  <a:srgbClr val="5B6470"/>
                </a:solidFill>
                <a:latin typeface="Microsoft YaHei" pitchFamily="34" charset="0"/>
                <a:ea typeface="Microsoft YaHei" pitchFamily="34" charset="-122"/>
                <a:cs typeface="Microsoft YaHei" pitchFamily="34" charset="-120"/>
              </a:rPr>
              <a:t>一张开题时就能发给学生的量规</a:t>
            </a:r>
            <a:endParaRPr lang="en-US" sz="1000" dirty="0"/>
          </a:p>
        </p:txBody>
      </p:sp>
      <p:sp>
        <p:nvSpPr>
          <p:cNvPr id="23" name="Shape 21"/>
          <p:cNvSpPr/>
          <p:nvPr/>
        </p:nvSpPr>
        <p:spPr>
          <a:xfrm>
            <a:off x="6377788" y="2226564"/>
            <a:ext cx="4899508" cy="1298448"/>
          </a:xfrm>
          <a:prstGeom prst="roundRect">
            <a:avLst>
              <a:gd name="adj" fmla="val 6338"/>
            </a:avLst>
          </a:prstGeom>
          <a:solidFill>
            <a:srgbClr val="FFFFFF"/>
          </a:solidFill>
          <a:ln w="12700">
            <a:solidFill>
              <a:srgbClr val="E2E7F0"/>
            </a:solidFill>
            <a:prstDash val="solid"/>
          </a:ln>
        </p:spPr>
      </p:sp>
      <p:sp>
        <p:nvSpPr>
          <p:cNvPr id="24" name="Shape 22"/>
          <p:cNvSpPr/>
          <p:nvPr/>
        </p:nvSpPr>
        <p:spPr>
          <a:xfrm>
            <a:off x="6441796" y="2226564"/>
            <a:ext cx="4771492" cy="38100"/>
          </a:xfrm>
          <a:prstGeom prst="rect">
            <a:avLst/>
          </a:prstGeom>
          <a:solidFill>
            <a:srgbClr val="C9714C"/>
          </a:solidFill>
          <a:ln w="12700">
            <a:solidFill>
              <a:srgbClr val="C9714C"/>
            </a:solidFill>
            <a:prstDash val="solid"/>
          </a:ln>
        </p:spPr>
      </p:sp>
      <p:sp>
        <p:nvSpPr>
          <p:cNvPr id="25" name="Text 23"/>
          <p:cNvSpPr/>
          <p:nvPr/>
        </p:nvSpPr>
        <p:spPr>
          <a:xfrm>
            <a:off x="6578956" y="2372868"/>
            <a:ext cx="4497172" cy="292608"/>
          </a:xfrm>
          <a:prstGeom prst="rect">
            <a:avLst/>
          </a:prstGeom>
          <a:noFill/>
          <a:ln/>
        </p:spPr>
        <p:txBody>
          <a:bodyPr wrap="square" lIns="0" tIns="0" rIns="0" bIns="0" rtlCol="0" anchor="ctr"/>
          <a:lstStyle/>
          <a:p>
            <a:pPr indent="0" marL="0">
              <a:buNone/>
            </a:pPr>
            <a:r>
              <a:rPr lang="en-US" sz="1500" b="1" dirty="0">
                <a:solidFill>
                  <a:srgbClr val="0F1B2D"/>
                </a:solidFill>
                <a:latin typeface="Microsoft YaHei" pitchFamily="34" charset="0"/>
                <a:ea typeface="Microsoft YaHei" pitchFamily="34" charset="-122"/>
                <a:cs typeface="Microsoft YaHei" pitchFamily="34" charset="-120"/>
              </a:rPr>
              <a:t>三档任务单</a:t>
            </a:r>
            <a:endParaRPr lang="en-US" sz="1500" dirty="0"/>
          </a:p>
        </p:txBody>
      </p:sp>
      <p:sp>
        <p:nvSpPr>
          <p:cNvPr id="26" name="Text 24"/>
          <p:cNvSpPr/>
          <p:nvPr/>
        </p:nvSpPr>
        <p:spPr>
          <a:xfrm>
            <a:off x="6578956" y="2702052"/>
            <a:ext cx="4497172" cy="457200"/>
          </a:xfrm>
          <a:prstGeom prst="rect">
            <a:avLst/>
          </a:prstGeom>
          <a:noFill/>
          <a:ln/>
        </p:spPr>
        <p:txBody>
          <a:bodyPr wrap="square" lIns="0" tIns="0" rIns="0" bIns="0" rtlCol="0" anchor="t"/>
          <a:lstStyle/>
          <a:p>
            <a:pPr indent="0" marL="0">
              <a:lnSpc>
                <a:spcPct val="135000"/>
              </a:lnSpc>
              <a:buNone/>
            </a:pPr>
            <a:r>
              <a:rPr lang="en-US" sz="1150" dirty="0">
                <a:solidFill>
                  <a:srgbClr val="1A2029"/>
                </a:solidFill>
                <a:latin typeface="Microsoft YaHei" pitchFamily="34" charset="0"/>
                <a:ea typeface="Microsoft YaHei" pitchFamily="34" charset="-122"/>
                <a:cs typeface="Microsoft YaHei" pitchFamily="34" charset="-120"/>
              </a:rPr>
              <a:t>同一项任务，要求 AI 按基础、常规、拓展三档各写一份任务单。</a:t>
            </a:r>
            <a:endParaRPr lang="en-US" sz="1150" dirty="0"/>
          </a:p>
        </p:txBody>
      </p:sp>
      <p:sp>
        <p:nvSpPr>
          <p:cNvPr id="27" name="Shape 25"/>
          <p:cNvSpPr/>
          <p:nvPr/>
        </p:nvSpPr>
        <p:spPr>
          <a:xfrm>
            <a:off x="6578956" y="3195828"/>
            <a:ext cx="4497172" cy="0"/>
          </a:xfrm>
          <a:prstGeom prst="line">
            <a:avLst/>
          </a:prstGeom>
          <a:noFill/>
          <a:ln w="12700">
            <a:solidFill>
              <a:srgbClr val="E2E7F0"/>
            </a:solidFill>
            <a:prstDash val="solid"/>
          </a:ln>
        </p:spPr>
      </p:sp>
      <p:sp>
        <p:nvSpPr>
          <p:cNvPr id="28" name="Text 26"/>
          <p:cNvSpPr/>
          <p:nvPr/>
        </p:nvSpPr>
        <p:spPr>
          <a:xfrm>
            <a:off x="6578956" y="3259836"/>
            <a:ext cx="4497172" cy="219456"/>
          </a:xfrm>
          <a:prstGeom prst="rect">
            <a:avLst/>
          </a:prstGeom>
          <a:noFill/>
          <a:ln/>
        </p:spPr>
        <p:txBody>
          <a:bodyPr wrap="square" lIns="0" tIns="0" rIns="0" bIns="0" rtlCol="0" anchor="ctr"/>
          <a:lstStyle/>
          <a:p>
            <a:pPr indent="0" marL="0">
              <a:buNone/>
            </a:pPr>
            <a:r>
              <a:rPr lang="en-US" sz="1000" b="1" dirty="0">
                <a:solidFill>
                  <a:srgbClr val="33414F"/>
                </a:solidFill>
                <a:latin typeface="Microsoft YaHei" pitchFamily="34" charset="0"/>
                <a:ea typeface="Microsoft YaHei" pitchFamily="34" charset="-122"/>
                <a:cs typeface="Microsoft YaHei" pitchFamily="34" charset="-120"/>
              </a:rPr>
              <a:t>产出　</a:t>
            </a:r>
            <a:pPr indent="0" marL="0">
              <a:buNone/>
            </a:pPr>
            <a:r>
              <a:rPr lang="en-US" sz="1000" dirty="0">
                <a:solidFill>
                  <a:srgbClr val="5B6470"/>
                </a:solidFill>
                <a:latin typeface="Microsoft YaHei" pitchFamily="34" charset="0"/>
                <a:ea typeface="Microsoft YaHei" pitchFamily="34" charset="-122"/>
                <a:cs typeface="Microsoft YaHei" pitchFamily="34" charset="-120"/>
              </a:rPr>
              <a:t>可直接分发的差异化任务单</a:t>
            </a:r>
            <a:endParaRPr lang="en-US" sz="1000" dirty="0"/>
          </a:p>
        </p:txBody>
      </p:sp>
      <p:sp>
        <p:nvSpPr>
          <p:cNvPr id="29" name="Shape 27"/>
          <p:cNvSpPr/>
          <p:nvPr/>
        </p:nvSpPr>
        <p:spPr>
          <a:xfrm>
            <a:off x="1295400" y="3689604"/>
            <a:ext cx="4899508" cy="1298448"/>
          </a:xfrm>
          <a:prstGeom prst="roundRect">
            <a:avLst>
              <a:gd name="adj" fmla="val 6338"/>
            </a:avLst>
          </a:prstGeom>
          <a:solidFill>
            <a:srgbClr val="FFFFFF"/>
          </a:solidFill>
          <a:ln w="12700">
            <a:solidFill>
              <a:srgbClr val="E2E7F0"/>
            </a:solidFill>
            <a:prstDash val="solid"/>
          </a:ln>
        </p:spPr>
      </p:sp>
      <p:sp>
        <p:nvSpPr>
          <p:cNvPr id="30" name="Shape 28"/>
          <p:cNvSpPr/>
          <p:nvPr/>
        </p:nvSpPr>
        <p:spPr>
          <a:xfrm>
            <a:off x="1359408" y="3689604"/>
            <a:ext cx="4771492" cy="38100"/>
          </a:xfrm>
          <a:prstGeom prst="rect">
            <a:avLst/>
          </a:prstGeom>
          <a:solidFill>
            <a:srgbClr val="C9714C"/>
          </a:solidFill>
          <a:ln w="12700">
            <a:solidFill>
              <a:srgbClr val="C9714C"/>
            </a:solidFill>
            <a:prstDash val="solid"/>
          </a:ln>
        </p:spPr>
      </p:sp>
      <p:sp>
        <p:nvSpPr>
          <p:cNvPr id="31" name="Text 29"/>
          <p:cNvSpPr/>
          <p:nvPr/>
        </p:nvSpPr>
        <p:spPr>
          <a:xfrm>
            <a:off x="1496568" y="3835908"/>
            <a:ext cx="4497172" cy="292608"/>
          </a:xfrm>
          <a:prstGeom prst="rect">
            <a:avLst/>
          </a:prstGeom>
          <a:noFill/>
          <a:ln/>
        </p:spPr>
        <p:txBody>
          <a:bodyPr wrap="square" lIns="0" tIns="0" rIns="0" bIns="0" rtlCol="0" anchor="ctr"/>
          <a:lstStyle/>
          <a:p>
            <a:pPr indent="0" marL="0">
              <a:buNone/>
            </a:pPr>
            <a:r>
              <a:rPr lang="en-US" sz="1500" b="1" dirty="0">
                <a:solidFill>
                  <a:srgbClr val="0F1B2D"/>
                </a:solidFill>
                <a:latin typeface="Microsoft YaHei" pitchFamily="34" charset="0"/>
                <a:ea typeface="Microsoft YaHei" pitchFamily="34" charset="-122"/>
                <a:cs typeface="Microsoft YaHei" pitchFamily="34" charset="-120"/>
              </a:rPr>
              <a:t>写实记录的整理</a:t>
            </a:r>
            <a:endParaRPr lang="en-US" sz="1500" dirty="0"/>
          </a:p>
        </p:txBody>
      </p:sp>
      <p:sp>
        <p:nvSpPr>
          <p:cNvPr id="32" name="Text 30"/>
          <p:cNvSpPr/>
          <p:nvPr/>
        </p:nvSpPr>
        <p:spPr>
          <a:xfrm>
            <a:off x="1496568" y="4165092"/>
            <a:ext cx="4497172" cy="457200"/>
          </a:xfrm>
          <a:prstGeom prst="rect">
            <a:avLst/>
          </a:prstGeom>
          <a:noFill/>
          <a:ln/>
        </p:spPr>
        <p:txBody>
          <a:bodyPr wrap="square" lIns="0" tIns="0" rIns="0" bIns="0" rtlCol="0" anchor="t"/>
          <a:lstStyle/>
          <a:p>
            <a:pPr indent="0" marL="0">
              <a:lnSpc>
                <a:spcPct val="135000"/>
              </a:lnSpc>
              <a:buNone/>
            </a:pPr>
            <a:r>
              <a:rPr lang="en-US" sz="1150" dirty="0">
                <a:solidFill>
                  <a:srgbClr val="1A2029"/>
                </a:solidFill>
                <a:latin typeface="Microsoft YaHei" pitchFamily="34" charset="0"/>
                <a:ea typeface="Microsoft YaHei" pitchFamily="34" charset="-122"/>
                <a:cs typeface="Microsoft YaHei" pitchFamily="34" charset="-120"/>
              </a:rPr>
              <a:t>把一学期的过程记录按代号整理后交给 AI，要求归并为综评写实记录的条目格式。</a:t>
            </a:r>
            <a:endParaRPr lang="en-US" sz="1150" dirty="0"/>
          </a:p>
        </p:txBody>
      </p:sp>
      <p:sp>
        <p:nvSpPr>
          <p:cNvPr id="33" name="Shape 31"/>
          <p:cNvSpPr/>
          <p:nvPr/>
        </p:nvSpPr>
        <p:spPr>
          <a:xfrm>
            <a:off x="1496568" y="4658868"/>
            <a:ext cx="4497172" cy="0"/>
          </a:xfrm>
          <a:prstGeom prst="line">
            <a:avLst/>
          </a:prstGeom>
          <a:noFill/>
          <a:ln w="12700">
            <a:solidFill>
              <a:srgbClr val="E2E7F0"/>
            </a:solidFill>
            <a:prstDash val="solid"/>
          </a:ln>
        </p:spPr>
      </p:sp>
      <p:sp>
        <p:nvSpPr>
          <p:cNvPr id="34" name="Text 32"/>
          <p:cNvSpPr/>
          <p:nvPr/>
        </p:nvSpPr>
        <p:spPr>
          <a:xfrm>
            <a:off x="1496568" y="4722876"/>
            <a:ext cx="4497172" cy="219456"/>
          </a:xfrm>
          <a:prstGeom prst="rect">
            <a:avLst/>
          </a:prstGeom>
          <a:noFill/>
          <a:ln/>
        </p:spPr>
        <p:txBody>
          <a:bodyPr wrap="square" lIns="0" tIns="0" rIns="0" bIns="0" rtlCol="0" anchor="ctr"/>
          <a:lstStyle/>
          <a:p>
            <a:pPr indent="0" marL="0">
              <a:buNone/>
            </a:pPr>
            <a:r>
              <a:rPr lang="en-US" sz="1000" b="1" dirty="0">
                <a:solidFill>
                  <a:srgbClr val="33414F"/>
                </a:solidFill>
                <a:latin typeface="Microsoft YaHei" pitchFamily="34" charset="0"/>
                <a:ea typeface="Microsoft YaHei" pitchFamily="34" charset="-122"/>
                <a:cs typeface="Microsoft YaHei" pitchFamily="34" charset="-120"/>
              </a:rPr>
              <a:t>产出　</a:t>
            </a:r>
            <a:pPr indent="0" marL="0">
              <a:buNone/>
            </a:pPr>
            <a:r>
              <a:rPr lang="en-US" sz="1000" dirty="0">
                <a:solidFill>
                  <a:srgbClr val="5B6470"/>
                </a:solidFill>
                <a:latin typeface="Microsoft YaHei" pitchFamily="34" charset="0"/>
                <a:ea typeface="Microsoft YaHei" pitchFamily="34" charset="-122"/>
                <a:cs typeface="Microsoft YaHei" pitchFamily="34" charset="-120"/>
              </a:rPr>
              <a:t>写实记录草稿，教师核对后签字</a:t>
            </a:r>
            <a:endParaRPr lang="en-US" sz="1000" dirty="0"/>
          </a:p>
        </p:txBody>
      </p:sp>
      <p:sp>
        <p:nvSpPr>
          <p:cNvPr id="35" name="Shape 33"/>
          <p:cNvSpPr/>
          <p:nvPr/>
        </p:nvSpPr>
        <p:spPr>
          <a:xfrm>
            <a:off x="6377788" y="3689604"/>
            <a:ext cx="4899508" cy="1298448"/>
          </a:xfrm>
          <a:prstGeom prst="roundRect">
            <a:avLst>
              <a:gd name="adj" fmla="val 6338"/>
            </a:avLst>
          </a:prstGeom>
          <a:solidFill>
            <a:srgbClr val="FFFFFF"/>
          </a:solidFill>
          <a:ln w="12700">
            <a:solidFill>
              <a:srgbClr val="E2E7F0"/>
            </a:solidFill>
            <a:prstDash val="solid"/>
          </a:ln>
        </p:spPr>
      </p:sp>
      <p:sp>
        <p:nvSpPr>
          <p:cNvPr id="36" name="Shape 34"/>
          <p:cNvSpPr/>
          <p:nvPr/>
        </p:nvSpPr>
        <p:spPr>
          <a:xfrm>
            <a:off x="6441796" y="3689604"/>
            <a:ext cx="4771492" cy="38100"/>
          </a:xfrm>
          <a:prstGeom prst="rect">
            <a:avLst/>
          </a:prstGeom>
          <a:solidFill>
            <a:srgbClr val="33414F"/>
          </a:solidFill>
          <a:ln w="12700">
            <a:solidFill>
              <a:srgbClr val="33414F"/>
            </a:solidFill>
            <a:prstDash val="solid"/>
          </a:ln>
        </p:spPr>
      </p:sp>
      <p:sp>
        <p:nvSpPr>
          <p:cNvPr id="37" name="Text 35"/>
          <p:cNvSpPr/>
          <p:nvPr/>
        </p:nvSpPr>
        <p:spPr>
          <a:xfrm>
            <a:off x="6578956" y="3835908"/>
            <a:ext cx="4497172" cy="292608"/>
          </a:xfrm>
          <a:prstGeom prst="rect">
            <a:avLst/>
          </a:prstGeom>
          <a:noFill/>
          <a:ln/>
        </p:spPr>
        <p:txBody>
          <a:bodyPr wrap="square" lIns="0" tIns="0" rIns="0" bIns="0" rtlCol="0" anchor="ctr"/>
          <a:lstStyle/>
          <a:p>
            <a:pPr indent="0" marL="0">
              <a:buNone/>
            </a:pPr>
            <a:r>
              <a:rPr lang="en-US" sz="1500" b="1" dirty="0">
                <a:solidFill>
                  <a:srgbClr val="0F1B2D"/>
                </a:solidFill>
                <a:latin typeface="Microsoft YaHei" pitchFamily="34" charset="0"/>
                <a:ea typeface="Microsoft YaHei" pitchFamily="34" charset="-122"/>
                <a:cs typeface="Microsoft YaHei" pitchFamily="34" charset="-120"/>
              </a:rPr>
              <a:t>数据作图</a:t>
            </a:r>
            <a:endParaRPr lang="en-US" sz="1500" dirty="0"/>
          </a:p>
        </p:txBody>
      </p:sp>
      <p:sp>
        <p:nvSpPr>
          <p:cNvPr id="38" name="Text 36"/>
          <p:cNvSpPr/>
          <p:nvPr/>
        </p:nvSpPr>
        <p:spPr>
          <a:xfrm>
            <a:off x="6578956" y="4165092"/>
            <a:ext cx="4497172" cy="457200"/>
          </a:xfrm>
          <a:prstGeom prst="rect">
            <a:avLst/>
          </a:prstGeom>
          <a:noFill/>
          <a:ln/>
        </p:spPr>
        <p:txBody>
          <a:bodyPr wrap="square" lIns="0" tIns="0" rIns="0" bIns="0" rtlCol="0" anchor="t"/>
          <a:lstStyle/>
          <a:p>
            <a:pPr indent="0" marL="0">
              <a:lnSpc>
                <a:spcPct val="135000"/>
              </a:lnSpc>
              <a:buNone/>
            </a:pPr>
            <a:r>
              <a:rPr lang="en-US" sz="1150" dirty="0">
                <a:solidFill>
                  <a:srgbClr val="1A2029"/>
                </a:solidFill>
                <a:latin typeface="Microsoft YaHei" pitchFamily="34" charset="0"/>
                <a:ea typeface="Microsoft YaHei" pitchFamily="34" charset="-122"/>
                <a:cs typeface="Microsoft YaHei" pitchFamily="34" charset="-120"/>
              </a:rPr>
              <a:t>把学生自己测得的数据交给 AI，要求输出展示用图表。</a:t>
            </a:r>
            <a:endParaRPr lang="en-US" sz="1150" dirty="0"/>
          </a:p>
        </p:txBody>
      </p:sp>
      <p:sp>
        <p:nvSpPr>
          <p:cNvPr id="39" name="Shape 37"/>
          <p:cNvSpPr/>
          <p:nvPr/>
        </p:nvSpPr>
        <p:spPr>
          <a:xfrm>
            <a:off x="6578956" y="4658868"/>
            <a:ext cx="4497172" cy="0"/>
          </a:xfrm>
          <a:prstGeom prst="line">
            <a:avLst/>
          </a:prstGeom>
          <a:noFill/>
          <a:ln w="12700">
            <a:solidFill>
              <a:srgbClr val="E2E7F0"/>
            </a:solidFill>
            <a:prstDash val="solid"/>
          </a:ln>
        </p:spPr>
      </p:sp>
      <p:sp>
        <p:nvSpPr>
          <p:cNvPr id="40" name="Text 38"/>
          <p:cNvSpPr/>
          <p:nvPr/>
        </p:nvSpPr>
        <p:spPr>
          <a:xfrm>
            <a:off x="6578956" y="4722876"/>
            <a:ext cx="4497172" cy="219456"/>
          </a:xfrm>
          <a:prstGeom prst="rect">
            <a:avLst/>
          </a:prstGeom>
          <a:noFill/>
          <a:ln/>
        </p:spPr>
        <p:txBody>
          <a:bodyPr wrap="square" lIns="0" tIns="0" rIns="0" bIns="0" rtlCol="0" anchor="ctr"/>
          <a:lstStyle/>
          <a:p>
            <a:pPr indent="0" marL="0">
              <a:buNone/>
            </a:pPr>
            <a:r>
              <a:rPr lang="en-US" sz="1000" b="1" dirty="0">
                <a:solidFill>
                  <a:srgbClr val="33414F"/>
                </a:solidFill>
                <a:latin typeface="Microsoft YaHei" pitchFamily="34" charset="0"/>
                <a:ea typeface="Microsoft YaHei" pitchFamily="34" charset="-122"/>
                <a:cs typeface="Microsoft YaHei" pitchFamily="34" charset="-120"/>
              </a:rPr>
              <a:t>产出　</a:t>
            </a:r>
            <a:pPr indent="0" marL="0">
              <a:buNone/>
            </a:pPr>
            <a:r>
              <a:rPr lang="en-US" sz="1000" dirty="0">
                <a:solidFill>
                  <a:srgbClr val="5B6470"/>
                </a:solidFill>
                <a:latin typeface="Microsoft YaHei" pitchFamily="34" charset="0"/>
                <a:ea typeface="Microsoft YaHei" pitchFamily="34" charset="-122"/>
                <a:cs typeface="Microsoft YaHei" pitchFamily="34" charset="-120"/>
              </a:rPr>
              <a:t>成果展示与结题报告用图</a:t>
            </a:r>
            <a:endParaRPr lang="en-US" sz="1000" dirty="0"/>
          </a:p>
        </p:txBody>
      </p:sp>
      <p:sp>
        <p:nvSpPr>
          <p:cNvPr id="41" name="Shape 39"/>
          <p:cNvSpPr/>
          <p:nvPr/>
        </p:nvSpPr>
        <p:spPr>
          <a:xfrm>
            <a:off x="1295400" y="5888736"/>
            <a:ext cx="9981895" cy="0"/>
          </a:xfrm>
          <a:prstGeom prst="line">
            <a:avLst/>
          </a:prstGeom>
          <a:noFill/>
          <a:ln w="12700">
            <a:solidFill>
              <a:srgbClr val="E2E7F0"/>
            </a:solidFill>
            <a:prstDash val="solid"/>
          </a:ln>
        </p:spPr>
      </p:sp>
      <p:sp>
        <p:nvSpPr>
          <p:cNvPr id="42" name="Text 40"/>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B6470"/>
                </a:solidFill>
                <a:latin typeface="Microsoft YaHei" pitchFamily="34" charset="0"/>
                <a:ea typeface="Microsoft YaHei" pitchFamily="34" charset="-122"/>
                <a:cs typeface="Microsoft YaHei" pitchFamily="34" charset="-120"/>
              </a:rPr>
              <a:t>四项均不上传学生姓名与学号。第三项须先按代号替换，再交给工具处理。</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566182"/>
            <a:ext cx="95250" cy="95250"/>
          </a:xfrm>
          <a:prstGeom prst="ellipse">
            <a:avLst/>
          </a:prstGeom>
          <a:solidFill>
            <a:srgbClr val="C2CBD8"/>
          </a:solidFill>
          <a:ln w="25400">
            <a:solidFill>
              <a:srgbClr val="C2CBD8"/>
            </a:solidFill>
            <a:prstDash val="solid"/>
          </a:ln>
        </p:spPr>
      </p:sp>
      <p:sp>
        <p:nvSpPr>
          <p:cNvPr id="5" name="Shape 3"/>
          <p:cNvSpPr/>
          <p:nvPr/>
        </p:nvSpPr>
        <p:spPr>
          <a:xfrm>
            <a:off x="485775" y="2265589"/>
            <a:ext cx="95250" cy="95250"/>
          </a:xfrm>
          <a:prstGeom prst="ellipse">
            <a:avLst/>
          </a:prstGeom>
          <a:solidFill>
            <a:srgbClr val="C2CBD8"/>
          </a:solidFill>
          <a:ln w="25400">
            <a:solidFill>
              <a:srgbClr val="C2CBD8"/>
            </a:solidFill>
            <a:prstDash val="solid"/>
          </a:ln>
        </p:spPr>
      </p:sp>
      <p:sp>
        <p:nvSpPr>
          <p:cNvPr id="6" name="Shape 4"/>
          <p:cNvSpPr/>
          <p:nvPr/>
        </p:nvSpPr>
        <p:spPr>
          <a:xfrm>
            <a:off x="466725" y="2945946"/>
            <a:ext cx="133350" cy="133350"/>
          </a:xfrm>
          <a:prstGeom prst="ellipse">
            <a:avLst/>
          </a:prstGeom>
          <a:solidFill>
            <a:srgbClr val="B0472A"/>
          </a:solidFill>
          <a:ln w="25400">
            <a:solidFill>
              <a:srgbClr val="B0472A"/>
            </a:solidFill>
            <a:prstDash val="solid"/>
          </a:ln>
        </p:spPr>
      </p:sp>
      <p:sp>
        <p:nvSpPr>
          <p:cNvPr id="7" name="Shape 5"/>
          <p:cNvSpPr/>
          <p:nvPr/>
        </p:nvSpPr>
        <p:spPr>
          <a:xfrm>
            <a:off x="485775" y="3664404"/>
            <a:ext cx="95250" cy="95250"/>
          </a:xfrm>
          <a:prstGeom prst="ellipse">
            <a:avLst/>
          </a:prstGeom>
          <a:solidFill>
            <a:srgbClr val="FFFFFF"/>
          </a:solidFill>
          <a:ln w="25400">
            <a:solidFill>
              <a:srgbClr val="E2E7F0"/>
            </a:solidFill>
            <a:prstDash val="solid"/>
          </a:ln>
        </p:spPr>
      </p:sp>
      <p:sp>
        <p:nvSpPr>
          <p:cNvPr id="8" name="Shape 6"/>
          <p:cNvSpPr/>
          <p:nvPr/>
        </p:nvSpPr>
        <p:spPr>
          <a:xfrm>
            <a:off x="485775" y="4363811"/>
            <a:ext cx="95250" cy="95250"/>
          </a:xfrm>
          <a:prstGeom prst="ellipse">
            <a:avLst/>
          </a:prstGeom>
          <a:solidFill>
            <a:srgbClr val="FFFFFF"/>
          </a:solidFill>
          <a:ln w="25400">
            <a:solidFill>
              <a:srgbClr val="E2E7F0"/>
            </a:solidFill>
            <a:prstDash val="solid"/>
          </a:ln>
        </p:spPr>
      </p:sp>
      <p:sp>
        <p:nvSpPr>
          <p:cNvPr id="9" name="Shape 7"/>
          <p:cNvSpPr/>
          <p:nvPr/>
        </p:nvSpPr>
        <p:spPr>
          <a:xfrm>
            <a:off x="485775" y="5063218"/>
            <a:ext cx="95250" cy="95250"/>
          </a:xfrm>
          <a:prstGeom prst="ellipse">
            <a:avLst/>
          </a:prstGeom>
          <a:solidFill>
            <a:srgbClr val="FFFFFF"/>
          </a:solidFill>
          <a:ln w="25400">
            <a:solidFill>
              <a:srgbClr val="E2E7F0"/>
            </a:solidFill>
            <a:prstDash val="solid"/>
          </a:ln>
        </p:spPr>
      </p:sp>
      <p:sp>
        <p:nvSpPr>
          <p:cNvPr id="10" name="Shape 8"/>
          <p:cNvSpPr/>
          <p:nvPr/>
        </p:nvSpPr>
        <p:spPr>
          <a:xfrm>
            <a:off x="485775" y="5762625"/>
            <a:ext cx="95250" cy="95250"/>
          </a:xfrm>
          <a:prstGeom prst="ellipse">
            <a:avLst/>
          </a:prstGeom>
          <a:solidFill>
            <a:srgbClr val="FFFFFF"/>
          </a:solidFill>
          <a:ln w="25400">
            <a:solidFill>
              <a:srgbClr val="E2E7F0"/>
            </a:solidFill>
            <a:prstDash val="solid"/>
          </a:ln>
        </p:spPr>
      </p:sp>
      <p:sp>
        <p:nvSpPr>
          <p:cNvPr id="11" name="Text 9"/>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三</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2" name="Text 10"/>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18</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44</a:t>
            </a:r>
            <a:endParaRPr lang="en-US" sz="1000" dirty="0"/>
          </a:p>
        </p:txBody>
      </p:sp>
      <p:sp>
        <p:nvSpPr>
          <p:cNvPr id="13" name="Text 11"/>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4" name="Text 12"/>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第三段　·　既有问题与生成式 AI 的作用方向</a:t>
            </a:r>
            <a:endParaRPr lang="en-US" sz="1000" dirty="0"/>
          </a:p>
        </p:txBody>
      </p:sp>
      <p:sp>
        <p:nvSpPr>
          <p:cNvPr id="15" name="Text 13"/>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教师侧的指令原文</a:t>
            </a:r>
            <a:endParaRPr lang="en-US" sz="3200" dirty="0"/>
          </a:p>
        </p:txBody>
      </p:sp>
      <p:sp>
        <p:nvSpPr>
          <p:cNvPr id="16" name="Text 14"/>
          <p:cNvSpPr/>
          <p:nvPr/>
        </p:nvSpPr>
        <p:spPr>
          <a:xfrm>
            <a:off x="1295400" y="1805940"/>
            <a:ext cx="9981895" cy="457200"/>
          </a:xfrm>
          <a:prstGeom prst="rect">
            <a:avLst/>
          </a:prstGeom>
          <a:noFill/>
          <a:ln/>
        </p:spPr>
        <p:txBody>
          <a:bodyPr wrap="square" lIns="0" tIns="0" rIns="0" bIns="0" rtlCol="0" anchor="t"/>
          <a:lstStyle/>
          <a:p>
            <a:pPr indent="0" marL="0">
              <a:lnSpc>
                <a:spcPct val="140000"/>
              </a:lnSpc>
              <a:buNone/>
            </a:pPr>
            <a:r>
              <a:rPr lang="en-US" sz="1150" dirty="0">
                <a:solidFill>
                  <a:srgbClr val="5B6470"/>
                </a:solidFill>
                <a:latin typeface="Microsoft YaHei" pitchFamily="34" charset="0"/>
                <a:ea typeface="Microsoft YaHei" pitchFamily="34" charset="-122"/>
                <a:cs typeface="Microsoft YaHei" pitchFamily="34" charset="-120"/>
              </a:rPr>
              <a:t>上一页四项用途中前三项的指令原文，可直接照抄，也可按自己的任务改写。第四项数据作图只需交出数据并说明所需图型，无须另写。三条的共同点是把要求写死：留给工具自由发挥的余地越小，返回的初稿越可用。</a:t>
            </a:r>
            <a:endParaRPr lang="en-US" sz="1150" dirty="0"/>
          </a:p>
        </p:txBody>
      </p:sp>
      <p:sp>
        <p:nvSpPr>
          <p:cNvPr id="17" name="Shape 15"/>
          <p:cNvSpPr/>
          <p:nvPr/>
        </p:nvSpPr>
        <p:spPr>
          <a:xfrm>
            <a:off x="1295400" y="2427732"/>
            <a:ext cx="9981895" cy="822960"/>
          </a:xfrm>
          <a:prstGeom prst="roundRect">
            <a:avLst>
              <a:gd name="adj" fmla="val 8889"/>
            </a:avLst>
          </a:prstGeom>
          <a:solidFill>
            <a:srgbClr val="FFFFFF"/>
          </a:solidFill>
          <a:ln w="12700">
            <a:solidFill>
              <a:srgbClr val="E2E7F0"/>
            </a:solidFill>
            <a:prstDash val="solid"/>
          </a:ln>
        </p:spPr>
      </p:sp>
      <p:sp>
        <p:nvSpPr>
          <p:cNvPr id="18" name="Shape 16"/>
          <p:cNvSpPr/>
          <p:nvPr/>
        </p:nvSpPr>
        <p:spPr>
          <a:xfrm>
            <a:off x="1295400" y="2473452"/>
            <a:ext cx="38100" cy="731520"/>
          </a:xfrm>
          <a:prstGeom prst="rect">
            <a:avLst/>
          </a:prstGeom>
          <a:solidFill>
            <a:srgbClr val="B0472A"/>
          </a:solidFill>
          <a:ln w="12700">
            <a:solidFill>
              <a:srgbClr val="B0472A"/>
            </a:solidFill>
            <a:prstDash val="solid"/>
          </a:ln>
        </p:spPr>
      </p:sp>
      <p:sp>
        <p:nvSpPr>
          <p:cNvPr id="19" name="Text 17"/>
          <p:cNvSpPr/>
          <p:nvPr/>
        </p:nvSpPr>
        <p:spPr>
          <a:xfrm>
            <a:off x="1533144" y="2583180"/>
            <a:ext cx="1060704" cy="256032"/>
          </a:xfrm>
          <a:prstGeom prst="rect">
            <a:avLst/>
          </a:prstGeom>
          <a:noFill/>
          <a:ln/>
        </p:spPr>
        <p:txBody>
          <a:bodyPr wrap="square" lIns="0" tIns="0" rIns="0" bIns="0" rtlCol="0" anchor="ctr"/>
          <a:lstStyle/>
          <a:p>
            <a:pPr indent="0" marL="0">
              <a:buNone/>
            </a:pPr>
            <a:r>
              <a:rPr lang="en-US" sz="1150" b="1" dirty="0">
                <a:solidFill>
                  <a:srgbClr val="B0472A"/>
                </a:solidFill>
                <a:latin typeface="Microsoft YaHei" pitchFamily="34" charset="0"/>
                <a:ea typeface="Microsoft YaHei" pitchFamily="34" charset="-122"/>
                <a:cs typeface="Microsoft YaHei" pitchFamily="34" charset="-120"/>
              </a:rPr>
              <a:t>量规初稿</a:t>
            </a:r>
            <a:endParaRPr lang="en-US" sz="1150" dirty="0"/>
          </a:p>
        </p:txBody>
      </p:sp>
      <p:sp>
        <p:nvSpPr>
          <p:cNvPr id="20" name="Text 18"/>
          <p:cNvSpPr/>
          <p:nvPr/>
        </p:nvSpPr>
        <p:spPr>
          <a:xfrm>
            <a:off x="2795016" y="2555748"/>
            <a:ext cx="8281111" cy="566928"/>
          </a:xfrm>
          <a:prstGeom prst="rect">
            <a:avLst/>
          </a:prstGeom>
          <a:noFill/>
          <a:ln/>
        </p:spPr>
        <p:txBody>
          <a:bodyPr wrap="square" lIns="0" tIns="0" rIns="0" bIns="0" rtlCol="0" anchor="t"/>
          <a:lstStyle/>
          <a:p>
            <a:pPr indent="0" marL="0">
              <a:lnSpc>
                <a:spcPct val="150000"/>
              </a:lnSpc>
              <a:buNone/>
            </a:pPr>
            <a:r>
              <a:rPr lang="en-US" sz="1200" dirty="0">
                <a:solidFill>
                  <a:srgbClr val="1A2029"/>
                </a:solidFill>
                <a:latin typeface="Microsoft YaHei" pitchFamily="34" charset="0"/>
                <a:ea typeface="Microsoft YaHei" pitchFamily="34" charset="-122"/>
                <a:cs typeface="Microsoft YaHei" pitchFamily="34" charset="-120"/>
              </a:rPr>
              <a:t>我要给五年级一项科学护眼探究任务。评价维度是问题意识、探究实践能力、反思改进能力、合作交流能力。请为这四个维度各写一张四级量规，每一级用学生做得出来的行为来描述，不要使用较好、优秀这类词。</a:t>
            </a:r>
            <a:endParaRPr lang="en-US" sz="1200" dirty="0"/>
          </a:p>
        </p:txBody>
      </p:sp>
      <p:sp>
        <p:nvSpPr>
          <p:cNvPr id="21" name="Shape 19"/>
          <p:cNvSpPr/>
          <p:nvPr/>
        </p:nvSpPr>
        <p:spPr>
          <a:xfrm>
            <a:off x="1295400" y="3378708"/>
            <a:ext cx="9981895" cy="822960"/>
          </a:xfrm>
          <a:prstGeom prst="roundRect">
            <a:avLst>
              <a:gd name="adj" fmla="val 8889"/>
            </a:avLst>
          </a:prstGeom>
          <a:solidFill>
            <a:srgbClr val="FFFFFF"/>
          </a:solidFill>
          <a:ln w="12700">
            <a:solidFill>
              <a:srgbClr val="E2E7F0"/>
            </a:solidFill>
            <a:prstDash val="solid"/>
          </a:ln>
        </p:spPr>
      </p:sp>
      <p:sp>
        <p:nvSpPr>
          <p:cNvPr id="22" name="Shape 20"/>
          <p:cNvSpPr/>
          <p:nvPr/>
        </p:nvSpPr>
        <p:spPr>
          <a:xfrm>
            <a:off x="1295400" y="3424428"/>
            <a:ext cx="38100" cy="731520"/>
          </a:xfrm>
          <a:prstGeom prst="rect">
            <a:avLst/>
          </a:prstGeom>
          <a:solidFill>
            <a:srgbClr val="B0472A"/>
          </a:solidFill>
          <a:ln w="12700">
            <a:solidFill>
              <a:srgbClr val="B0472A"/>
            </a:solidFill>
            <a:prstDash val="solid"/>
          </a:ln>
        </p:spPr>
      </p:sp>
      <p:sp>
        <p:nvSpPr>
          <p:cNvPr id="23" name="Text 21"/>
          <p:cNvSpPr/>
          <p:nvPr/>
        </p:nvSpPr>
        <p:spPr>
          <a:xfrm>
            <a:off x="1533144" y="3534156"/>
            <a:ext cx="1060704" cy="256032"/>
          </a:xfrm>
          <a:prstGeom prst="rect">
            <a:avLst/>
          </a:prstGeom>
          <a:noFill/>
          <a:ln/>
        </p:spPr>
        <p:txBody>
          <a:bodyPr wrap="square" lIns="0" tIns="0" rIns="0" bIns="0" rtlCol="0" anchor="ctr"/>
          <a:lstStyle/>
          <a:p>
            <a:pPr indent="0" marL="0">
              <a:buNone/>
            </a:pPr>
            <a:r>
              <a:rPr lang="en-US" sz="1150" b="1" dirty="0">
                <a:solidFill>
                  <a:srgbClr val="B0472A"/>
                </a:solidFill>
                <a:latin typeface="Microsoft YaHei" pitchFamily="34" charset="0"/>
                <a:ea typeface="Microsoft YaHei" pitchFamily="34" charset="-122"/>
                <a:cs typeface="Microsoft YaHei" pitchFamily="34" charset="-120"/>
              </a:rPr>
              <a:t>三档任务单</a:t>
            </a:r>
            <a:endParaRPr lang="en-US" sz="1150" dirty="0"/>
          </a:p>
        </p:txBody>
      </p:sp>
      <p:sp>
        <p:nvSpPr>
          <p:cNvPr id="24" name="Text 22"/>
          <p:cNvSpPr/>
          <p:nvPr/>
        </p:nvSpPr>
        <p:spPr>
          <a:xfrm>
            <a:off x="2795016" y="3506724"/>
            <a:ext cx="8281111" cy="566928"/>
          </a:xfrm>
          <a:prstGeom prst="rect">
            <a:avLst/>
          </a:prstGeom>
          <a:noFill/>
          <a:ln/>
        </p:spPr>
        <p:txBody>
          <a:bodyPr wrap="square" lIns="0" tIns="0" rIns="0" bIns="0" rtlCol="0" anchor="t"/>
          <a:lstStyle/>
          <a:p>
            <a:pPr indent="0" marL="0">
              <a:lnSpc>
                <a:spcPct val="150000"/>
              </a:lnSpc>
              <a:buNone/>
            </a:pPr>
            <a:r>
              <a:rPr lang="en-US" sz="1200" dirty="0">
                <a:solidFill>
                  <a:srgbClr val="1A2029"/>
                </a:solidFill>
                <a:latin typeface="Microsoft YaHei" pitchFamily="34" charset="0"/>
                <a:ea typeface="Microsoft YaHei" pitchFamily="34" charset="-122"/>
                <a:cs typeface="Microsoft YaHei" pitchFamily="34" charset="-120"/>
              </a:rPr>
              <a:t>同一项任务，请写三份任务单。基础档只要求完成规定步骤，常规档要求学生自主设计一个变量，拓展档要求增加一次测试与改进。每份不超过二百字。</a:t>
            </a:r>
            <a:endParaRPr lang="en-US" sz="1200" dirty="0"/>
          </a:p>
        </p:txBody>
      </p:sp>
      <p:sp>
        <p:nvSpPr>
          <p:cNvPr id="25" name="Shape 23"/>
          <p:cNvSpPr/>
          <p:nvPr/>
        </p:nvSpPr>
        <p:spPr>
          <a:xfrm>
            <a:off x="1295400" y="4329684"/>
            <a:ext cx="9981895" cy="822960"/>
          </a:xfrm>
          <a:prstGeom prst="roundRect">
            <a:avLst>
              <a:gd name="adj" fmla="val 8889"/>
            </a:avLst>
          </a:prstGeom>
          <a:solidFill>
            <a:srgbClr val="FFFFFF"/>
          </a:solidFill>
          <a:ln w="12700">
            <a:solidFill>
              <a:srgbClr val="E2E7F0"/>
            </a:solidFill>
            <a:prstDash val="solid"/>
          </a:ln>
        </p:spPr>
      </p:sp>
      <p:sp>
        <p:nvSpPr>
          <p:cNvPr id="26" name="Shape 24"/>
          <p:cNvSpPr/>
          <p:nvPr/>
        </p:nvSpPr>
        <p:spPr>
          <a:xfrm>
            <a:off x="1295400" y="4375404"/>
            <a:ext cx="38100" cy="731520"/>
          </a:xfrm>
          <a:prstGeom prst="rect">
            <a:avLst/>
          </a:prstGeom>
          <a:solidFill>
            <a:srgbClr val="B0472A"/>
          </a:solidFill>
          <a:ln w="12700">
            <a:solidFill>
              <a:srgbClr val="B0472A"/>
            </a:solidFill>
            <a:prstDash val="solid"/>
          </a:ln>
        </p:spPr>
      </p:sp>
      <p:sp>
        <p:nvSpPr>
          <p:cNvPr id="27" name="Text 25"/>
          <p:cNvSpPr/>
          <p:nvPr/>
        </p:nvSpPr>
        <p:spPr>
          <a:xfrm>
            <a:off x="1533144" y="4485132"/>
            <a:ext cx="1060704" cy="256032"/>
          </a:xfrm>
          <a:prstGeom prst="rect">
            <a:avLst/>
          </a:prstGeom>
          <a:noFill/>
          <a:ln/>
        </p:spPr>
        <p:txBody>
          <a:bodyPr wrap="square" lIns="0" tIns="0" rIns="0" bIns="0" rtlCol="0" anchor="ctr"/>
          <a:lstStyle/>
          <a:p>
            <a:pPr indent="0" marL="0">
              <a:buNone/>
            </a:pPr>
            <a:r>
              <a:rPr lang="en-US" sz="1150" b="1" dirty="0">
                <a:solidFill>
                  <a:srgbClr val="B0472A"/>
                </a:solidFill>
                <a:latin typeface="Microsoft YaHei" pitchFamily="34" charset="0"/>
                <a:ea typeface="Microsoft YaHei" pitchFamily="34" charset="-122"/>
                <a:cs typeface="Microsoft YaHei" pitchFamily="34" charset="-120"/>
              </a:rPr>
              <a:t>写实记录整理</a:t>
            </a:r>
            <a:endParaRPr lang="en-US" sz="1150" dirty="0"/>
          </a:p>
        </p:txBody>
      </p:sp>
      <p:sp>
        <p:nvSpPr>
          <p:cNvPr id="28" name="Text 26"/>
          <p:cNvSpPr/>
          <p:nvPr/>
        </p:nvSpPr>
        <p:spPr>
          <a:xfrm>
            <a:off x="2795016" y="4457700"/>
            <a:ext cx="8281111" cy="566928"/>
          </a:xfrm>
          <a:prstGeom prst="rect">
            <a:avLst/>
          </a:prstGeom>
          <a:noFill/>
          <a:ln/>
        </p:spPr>
        <p:txBody>
          <a:bodyPr wrap="square" lIns="0" tIns="0" rIns="0" bIns="0" rtlCol="0" anchor="t"/>
          <a:lstStyle/>
          <a:p>
            <a:pPr indent="0" marL="0">
              <a:lnSpc>
                <a:spcPct val="150000"/>
              </a:lnSpc>
              <a:buNone/>
            </a:pPr>
            <a:r>
              <a:rPr lang="en-US" sz="1200" dirty="0">
                <a:solidFill>
                  <a:srgbClr val="1A2029"/>
                </a:solidFill>
                <a:latin typeface="Microsoft YaHei" pitchFamily="34" charset="0"/>
                <a:ea typeface="Microsoft YaHei" pitchFamily="34" charset="-122"/>
                <a:cs typeface="Microsoft YaHei" pitchFamily="34" charset="-120"/>
              </a:rPr>
              <a:t>以下是一名学生一学期的过程记录，该生以代号 A3 表示。请归并为综合素质评价写实记录的条目，每条包含时间、活动名称与该生的具体行为，不要出现评价性形容词。</a:t>
            </a:r>
            <a:endParaRPr lang="en-US" sz="1200" dirty="0"/>
          </a:p>
        </p:txBody>
      </p:sp>
      <p:sp>
        <p:nvSpPr>
          <p:cNvPr id="29" name="Shape 27"/>
          <p:cNvSpPr/>
          <p:nvPr/>
        </p:nvSpPr>
        <p:spPr>
          <a:xfrm>
            <a:off x="1295400" y="5888736"/>
            <a:ext cx="9981895" cy="0"/>
          </a:xfrm>
          <a:prstGeom prst="line">
            <a:avLst/>
          </a:prstGeom>
          <a:noFill/>
          <a:ln w="12700">
            <a:solidFill>
              <a:srgbClr val="E2E7F0"/>
            </a:solidFill>
            <a:prstDash val="solid"/>
          </a:ln>
        </p:spPr>
      </p:sp>
      <p:sp>
        <p:nvSpPr>
          <p:cNvPr id="30" name="Text 28"/>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B6470"/>
                </a:solidFill>
                <a:latin typeface="Microsoft YaHei" pitchFamily="34" charset="0"/>
                <a:ea typeface="Microsoft YaHei" pitchFamily="34" charset="-122"/>
                <a:cs typeface="Microsoft YaHei" pitchFamily="34" charset="-120"/>
              </a:rPr>
              <a:t>第三条使用前须先把姓名与学号替换为代号。三条返回的都是初稿，教师修改后才能使用。</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566182"/>
            <a:ext cx="95250" cy="95250"/>
          </a:xfrm>
          <a:prstGeom prst="ellipse">
            <a:avLst/>
          </a:prstGeom>
          <a:solidFill>
            <a:srgbClr val="C2CBD8"/>
          </a:solidFill>
          <a:ln w="25400">
            <a:solidFill>
              <a:srgbClr val="C2CBD8"/>
            </a:solidFill>
            <a:prstDash val="solid"/>
          </a:ln>
        </p:spPr>
      </p:sp>
      <p:sp>
        <p:nvSpPr>
          <p:cNvPr id="5" name="Shape 3"/>
          <p:cNvSpPr/>
          <p:nvPr/>
        </p:nvSpPr>
        <p:spPr>
          <a:xfrm>
            <a:off x="485775" y="2265589"/>
            <a:ext cx="95250" cy="95250"/>
          </a:xfrm>
          <a:prstGeom prst="ellipse">
            <a:avLst/>
          </a:prstGeom>
          <a:solidFill>
            <a:srgbClr val="C2CBD8"/>
          </a:solidFill>
          <a:ln w="25400">
            <a:solidFill>
              <a:srgbClr val="C2CBD8"/>
            </a:solidFill>
            <a:prstDash val="solid"/>
          </a:ln>
        </p:spPr>
      </p:sp>
      <p:sp>
        <p:nvSpPr>
          <p:cNvPr id="6" name="Shape 4"/>
          <p:cNvSpPr/>
          <p:nvPr/>
        </p:nvSpPr>
        <p:spPr>
          <a:xfrm>
            <a:off x="485775" y="2964996"/>
            <a:ext cx="95250" cy="95250"/>
          </a:xfrm>
          <a:prstGeom prst="ellipse">
            <a:avLst/>
          </a:prstGeom>
          <a:solidFill>
            <a:srgbClr val="C2CBD8"/>
          </a:solidFill>
          <a:ln w="25400">
            <a:solidFill>
              <a:srgbClr val="C2CBD8"/>
            </a:solidFill>
            <a:prstDash val="solid"/>
          </a:ln>
        </p:spPr>
      </p:sp>
      <p:sp>
        <p:nvSpPr>
          <p:cNvPr id="7" name="Shape 5"/>
          <p:cNvSpPr/>
          <p:nvPr/>
        </p:nvSpPr>
        <p:spPr>
          <a:xfrm>
            <a:off x="466725" y="3645354"/>
            <a:ext cx="133350" cy="133350"/>
          </a:xfrm>
          <a:prstGeom prst="ellipse">
            <a:avLst/>
          </a:prstGeom>
          <a:solidFill>
            <a:srgbClr val="B0472A"/>
          </a:solidFill>
          <a:ln w="25400">
            <a:solidFill>
              <a:srgbClr val="B0472A"/>
            </a:solidFill>
            <a:prstDash val="solid"/>
          </a:ln>
        </p:spPr>
      </p:sp>
      <p:sp>
        <p:nvSpPr>
          <p:cNvPr id="8" name="Shape 6"/>
          <p:cNvSpPr/>
          <p:nvPr/>
        </p:nvSpPr>
        <p:spPr>
          <a:xfrm>
            <a:off x="485775" y="4363811"/>
            <a:ext cx="95250" cy="95250"/>
          </a:xfrm>
          <a:prstGeom prst="ellipse">
            <a:avLst/>
          </a:prstGeom>
          <a:solidFill>
            <a:srgbClr val="FFFFFF"/>
          </a:solidFill>
          <a:ln w="25400">
            <a:solidFill>
              <a:srgbClr val="E2E7F0"/>
            </a:solidFill>
            <a:prstDash val="solid"/>
          </a:ln>
        </p:spPr>
      </p:sp>
      <p:sp>
        <p:nvSpPr>
          <p:cNvPr id="9" name="Shape 7"/>
          <p:cNvSpPr/>
          <p:nvPr/>
        </p:nvSpPr>
        <p:spPr>
          <a:xfrm>
            <a:off x="485775" y="5063218"/>
            <a:ext cx="95250" cy="95250"/>
          </a:xfrm>
          <a:prstGeom prst="ellipse">
            <a:avLst/>
          </a:prstGeom>
          <a:solidFill>
            <a:srgbClr val="FFFFFF"/>
          </a:solidFill>
          <a:ln w="25400">
            <a:solidFill>
              <a:srgbClr val="E2E7F0"/>
            </a:solidFill>
            <a:prstDash val="solid"/>
          </a:ln>
        </p:spPr>
      </p:sp>
      <p:sp>
        <p:nvSpPr>
          <p:cNvPr id="10" name="Shape 8"/>
          <p:cNvSpPr/>
          <p:nvPr/>
        </p:nvSpPr>
        <p:spPr>
          <a:xfrm>
            <a:off x="485775" y="5762625"/>
            <a:ext cx="95250" cy="95250"/>
          </a:xfrm>
          <a:prstGeom prst="ellipse">
            <a:avLst/>
          </a:prstGeom>
          <a:solidFill>
            <a:srgbClr val="FFFFFF"/>
          </a:solidFill>
          <a:ln w="25400">
            <a:solidFill>
              <a:srgbClr val="E2E7F0"/>
            </a:solidFill>
            <a:prstDash val="solid"/>
          </a:ln>
        </p:spPr>
      </p:sp>
      <p:sp>
        <p:nvSpPr>
          <p:cNvPr id="11" name="Text 9"/>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四</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2" name="Text 10"/>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19</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44</a:t>
            </a:r>
            <a:endParaRPr lang="en-US" sz="1000" dirty="0"/>
          </a:p>
        </p:txBody>
      </p:sp>
      <p:sp>
        <p:nvSpPr>
          <p:cNvPr id="13" name="Text 11"/>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4" name="Text 12"/>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第四段　·　环节配置的判断方法</a:t>
            </a:r>
            <a:endParaRPr lang="en-US" sz="1000" dirty="0"/>
          </a:p>
        </p:txBody>
      </p:sp>
      <p:sp>
        <p:nvSpPr>
          <p:cNvPr id="15" name="Text 13"/>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环节配置的三项判断</a:t>
            </a:r>
            <a:endParaRPr lang="en-US" sz="3200" dirty="0"/>
          </a:p>
        </p:txBody>
      </p:sp>
      <p:sp>
        <p:nvSpPr>
          <p:cNvPr id="16" name="Text 14"/>
          <p:cNvSpPr/>
          <p:nvPr/>
        </p:nvSpPr>
        <p:spPr>
          <a:xfrm>
            <a:off x="1295400" y="2468880"/>
            <a:ext cx="411480" cy="457200"/>
          </a:xfrm>
          <a:prstGeom prst="rect">
            <a:avLst/>
          </a:prstGeom>
          <a:noFill/>
          <a:ln/>
        </p:spPr>
        <p:txBody>
          <a:bodyPr wrap="square" lIns="0" tIns="0" rIns="0" bIns="0" rtlCol="0" anchor="ctr"/>
          <a:lstStyle/>
          <a:p>
            <a:pPr indent="0" marL="0">
              <a:buNone/>
            </a:pPr>
            <a:r>
              <a:rPr lang="en-US" sz="1600" b="1" dirty="0">
                <a:solidFill>
                  <a:srgbClr val="B0472A"/>
                </a:solidFill>
                <a:latin typeface="Microsoft YaHei" pitchFamily="34" charset="0"/>
                <a:ea typeface="Microsoft YaHei" pitchFamily="34" charset="-122"/>
                <a:cs typeface="Microsoft YaHei" pitchFamily="34" charset="-120"/>
              </a:rPr>
              <a:t>一</a:t>
            </a:r>
            <a:endParaRPr lang="en-US" sz="1600" dirty="0"/>
          </a:p>
        </p:txBody>
      </p:sp>
      <p:sp>
        <p:nvSpPr>
          <p:cNvPr id="17" name="Text 15"/>
          <p:cNvSpPr/>
          <p:nvPr/>
        </p:nvSpPr>
        <p:spPr>
          <a:xfrm>
            <a:off x="1862328" y="2414016"/>
            <a:ext cx="9414967" cy="548640"/>
          </a:xfrm>
          <a:prstGeom prst="rect">
            <a:avLst/>
          </a:prstGeom>
          <a:noFill/>
          <a:ln/>
        </p:spPr>
        <p:txBody>
          <a:bodyPr wrap="square" lIns="0" tIns="0" rIns="0" bIns="0" rtlCol="0" anchor="t"/>
          <a:lstStyle/>
          <a:p>
            <a:pPr indent="0" marL="0">
              <a:buNone/>
            </a:pPr>
            <a:r>
              <a:rPr lang="en-US" sz="2300" b="1" dirty="0">
                <a:solidFill>
                  <a:srgbClr val="0F1B2D"/>
                </a:solidFill>
                <a:latin typeface="Microsoft YaHei" pitchFamily="34" charset="0"/>
                <a:ea typeface="Microsoft YaHei" pitchFamily="34" charset="-122"/>
                <a:cs typeface="Microsoft YaHei" pitchFamily="34" charset="-120"/>
              </a:rPr>
              <a:t>该环节要训练的能力是什么</a:t>
            </a:r>
            <a:endParaRPr lang="en-US" sz="2300" dirty="0"/>
          </a:p>
        </p:txBody>
      </p:sp>
      <p:sp>
        <p:nvSpPr>
          <p:cNvPr id="18" name="Text 16"/>
          <p:cNvSpPr/>
          <p:nvPr/>
        </p:nvSpPr>
        <p:spPr>
          <a:xfrm>
            <a:off x="1295400" y="3255264"/>
            <a:ext cx="411480" cy="457200"/>
          </a:xfrm>
          <a:prstGeom prst="rect">
            <a:avLst/>
          </a:prstGeom>
          <a:noFill/>
          <a:ln/>
        </p:spPr>
        <p:txBody>
          <a:bodyPr wrap="square" lIns="0" tIns="0" rIns="0" bIns="0" rtlCol="0" anchor="ctr"/>
          <a:lstStyle/>
          <a:p>
            <a:pPr indent="0" marL="0">
              <a:buNone/>
            </a:pPr>
            <a:r>
              <a:rPr lang="en-US" sz="1600" b="1" dirty="0">
                <a:solidFill>
                  <a:srgbClr val="B0472A"/>
                </a:solidFill>
                <a:latin typeface="Microsoft YaHei" pitchFamily="34" charset="0"/>
                <a:ea typeface="Microsoft YaHei" pitchFamily="34" charset="-122"/>
                <a:cs typeface="Microsoft YaHei" pitchFamily="34" charset="-120"/>
              </a:rPr>
              <a:t>二</a:t>
            </a:r>
            <a:endParaRPr lang="en-US" sz="1600" dirty="0"/>
          </a:p>
        </p:txBody>
      </p:sp>
      <p:sp>
        <p:nvSpPr>
          <p:cNvPr id="19" name="Text 17"/>
          <p:cNvSpPr/>
          <p:nvPr/>
        </p:nvSpPr>
        <p:spPr>
          <a:xfrm>
            <a:off x="1862328" y="3200400"/>
            <a:ext cx="9414967" cy="548640"/>
          </a:xfrm>
          <a:prstGeom prst="rect">
            <a:avLst/>
          </a:prstGeom>
          <a:noFill/>
          <a:ln/>
        </p:spPr>
        <p:txBody>
          <a:bodyPr wrap="square" lIns="0" tIns="0" rIns="0" bIns="0" rtlCol="0" anchor="t"/>
          <a:lstStyle/>
          <a:p>
            <a:pPr indent="0" marL="0">
              <a:buNone/>
            </a:pPr>
            <a:r>
              <a:rPr lang="en-US" sz="2300" b="1" dirty="0">
                <a:solidFill>
                  <a:srgbClr val="0F1B2D"/>
                </a:solidFill>
                <a:latin typeface="Microsoft YaHei" pitchFamily="34" charset="0"/>
                <a:ea typeface="Microsoft YaHei" pitchFamily="34" charset="-122"/>
                <a:cs typeface="Microsoft YaHei" pitchFamily="34" charset="-120"/>
              </a:rPr>
              <a:t>AI 替代的是否正是该能力</a:t>
            </a:r>
            <a:endParaRPr lang="en-US" sz="2300" dirty="0"/>
          </a:p>
        </p:txBody>
      </p:sp>
      <p:sp>
        <p:nvSpPr>
          <p:cNvPr id="20" name="Text 18"/>
          <p:cNvSpPr/>
          <p:nvPr/>
        </p:nvSpPr>
        <p:spPr>
          <a:xfrm>
            <a:off x="1295400" y="4041648"/>
            <a:ext cx="411480" cy="457200"/>
          </a:xfrm>
          <a:prstGeom prst="rect">
            <a:avLst/>
          </a:prstGeom>
          <a:noFill/>
          <a:ln/>
        </p:spPr>
        <p:txBody>
          <a:bodyPr wrap="square" lIns="0" tIns="0" rIns="0" bIns="0" rtlCol="0" anchor="ctr"/>
          <a:lstStyle/>
          <a:p>
            <a:pPr indent="0" marL="0">
              <a:buNone/>
            </a:pPr>
            <a:r>
              <a:rPr lang="en-US" sz="1600" b="1" dirty="0">
                <a:solidFill>
                  <a:srgbClr val="B0472A"/>
                </a:solidFill>
                <a:latin typeface="Microsoft YaHei" pitchFamily="34" charset="0"/>
                <a:ea typeface="Microsoft YaHei" pitchFamily="34" charset="-122"/>
                <a:cs typeface="Microsoft YaHei" pitchFamily="34" charset="-120"/>
              </a:rPr>
              <a:t>三</a:t>
            </a:r>
            <a:endParaRPr lang="en-US" sz="1600" dirty="0"/>
          </a:p>
        </p:txBody>
      </p:sp>
      <p:sp>
        <p:nvSpPr>
          <p:cNvPr id="21" name="Text 19"/>
          <p:cNvSpPr/>
          <p:nvPr/>
        </p:nvSpPr>
        <p:spPr>
          <a:xfrm>
            <a:off x="1862328" y="3986784"/>
            <a:ext cx="9414967" cy="548640"/>
          </a:xfrm>
          <a:prstGeom prst="rect">
            <a:avLst/>
          </a:prstGeom>
          <a:noFill/>
          <a:ln/>
        </p:spPr>
        <p:txBody>
          <a:bodyPr wrap="square" lIns="0" tIns="0" rIns="0" bIns="0" rtlCol="0" anchor="t"/>
          <a:lstStyle/>
          <a:p>
            <a:pPr indent="0" marL="0">
              <a:buNone/>
            </a:pPr>
            <a:r>
              <a:rPr lang="en-US" sz="2300" b="1" dirty="0">
                <a:solidFill>
                  <a:srgbClr val="0F1B2D"/>
                </a:solidFill>
                <a:latin typeface="Microsoft YaHei" pitchFamily="34" charset="0"/>
                <a:ea typeface="Microsoft YaHei" pitchFamily="34" charset="-122"/>
                <a:cs typeface="Microsoft YaHei" pitchFamily="34" charset="-120"/>
              </a:rPr>
              <a:t>若已被替代，用什么加以补偿</a:t>
            </a:r>
            <a:endParaRPr lang="en-US" sz="2300" dirty="0"/>
          </a:p>
        </p:txBody>
      </p:sp>
      <p:sp>
        <p:nvSpPr>
          <p:cNvPr id="22" name="Shape 20"/>
          <p:cNvSpPr/>
          <p:nvPr/>
        </p:nvSpPr>
        <p:spPr>
          <a:xfrm>
            <a:off x="1295400" y="5888736"/>
            <a:ext cx="9981895" cy="0"/>
          </a:xfrm>
          <a:prstGeom prst="line">
            <a:avLst/>
          </a:prstGeom>
          <a:noFill/>
          <a:ln w="12700">
            <a:solidFill>
              <a:srgbClr val="E2E7F0"/>
            </a:solidFill>
            <a:prstDash val="solid"/>
          </a:ln>
        </p:spPr>
      </p:sp>
      <p:sp>
        <p:nvSpPr>
          <p:cNvPr id="23" name="Text 21"/>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B6470"/>
                </a:solidFill>
                <a:latin typeface="Microsoft YaHei" pitchFamily="34" charset="0"/>
                <a:ea typeface="Microsoft YaHei" pitchFamily="34" charset="-122"/>
                <a:cs typeface="Microsoft YaHei" pitchFamily="34" charset="-120"/>
              </a:rPr>
              <a:t>三项判断适用于任何一个环节，不依赖对具体工具的了解。</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566182"/>
            <a:ext cx="95250" cy="95250"/>
          </a:xfrm>
          <a:prstGeom prst="ellipse">
            <a:avLst/>
          </a:prstGeom>
          <a:solidFill>
            <a:srgbClr val="C2CBD8"/>
          </a:solidFill>
          <a:ln w="25400">
            <a:solidFill>
              <a:srgbClr val="C2CBD8"/>
            </a:solidFill>
            <a:prstDash val="solid"/>
          </a:ln>
        </p:spPr>
      </p:sp>
      <p:sp>
        <p:nvSpPr>
          <p:cNvPr id="5" name="Shape 3"/>
          <p:cNvSpPr/>
          <p:nvPr/>
        </p:nvSpPr>
        <p:spPr>
          <a:xfrm>
            <a:off x="485775" y="2265589"/>
            <a:ext cx="95250" cy="95250"/>
          </a:xfrm>
          <a:prstGeom prst="ellipse">
            <a:avLst/>
          </a:prstGeom>
          <a:solidFill>
            <a:srgbClr val="C2CBD8"/>
          </a:solidFill>
          <a:ln w="25400">
            <a:solidFill>
              <a:srgbClr val="C2CBD8"/>
            </a:solidFill>
            <a:prstDash val="solid"/>
          </a:ln>
        </p:spPr>
      </p:sp>
      <p:sp>
        <p:nvSpPr>
          <p:cNvPr id="6" name="Shape 4"/>
          <p:cNvSpPr/>
          <p:nvPr/>
        </p:nvSpPr>
        <p:spPr>
          <a:xfrm>
            <a:off x="485775" y="2964996"/>
            <a:ext cx="95250" cy="95250"/>
          </a:xfrm>
          <a:prstGeom prst="ellipse">
            <a:avLst/>
          </a:prstGeom>
          <a:solidFill>
            <a:srgbClr val="C2CBD8"/>
          </a:solidFill>
          <a:ln w="25400">
            <a:solidFill>
              <a:srgbClr val="C2CBD8"/>
            </a:solidFill>
            <a:prstDash val="solid"/>
          </a:ln>
        </p:spPr>
      </p:sp>
      <p:sp>
        <p:nvSpPr>
          <p:cNvPr id="7" name="Shape 5"/>
          <p:cNvSpPr/>
          <p:nvPr/>
        </p:nvSpPr>
        <p:spPr>
          <a:xfrm>
            <a:off x="466725" y="3645354"/>
            <a:ext cx="133350" cy="133350"/>
          </a:xfrm>
          <a:prstGeom prst="ellipse">
            <a:avLst/>
          </a:prstGeom>
          <a:solidFill>
            <a:srgbClr val="B0472A"/>
          </a:solidFill>
          <a:ln w="25400">
            <a:solidFill>
              <a:srgbClr val="B0472A"/>
            </a:solidFill>
            <a:prstDash val="solid"/>
          </a:ln>
        </p:spPr>
      </p:sp>
      <p:sp>
        <p:nvSpPr>
          <p:cNvPr id="8" name="Shape 6"/>
          <p:cNvSpPr/>
          <p:nvPr/>
        </p:nvSpPr>
        <p:spPr>
          <a:xfrm>
            <a:off x="485775" y="4363811"/>
            <a:ext cx="95250" cy="95250"/>
          </a:xfrm>
          <a:prstGeom prst="ellipse">
            <a:avLst/>
          </a:prstGeom>
          <a:solidFill>
            <a:srgbClr val="FFFFFF"/>
          </a:solidFill>
          <a:ln w="25400">
            <a:solidFill>
              <a:srgbClr val="E2E7F0"/>
            </a:solidFill>
            <a:prstDash val="solid"/>
          </a:ln>
        </p:spPr>
      </p:sp>
      <p:sp>
        <p:nvSpPr>
          <p:cNvPr id="9" name="Shape 7"/>
          <p:cNvSpPr/>
          <p:nvPr/>
        </p:nvSpPr>
        <p:spPr>
          <a:xfrm>
            <a:off x="485775" y="5063218"/>
            <a:ext cx="95250" cy="95250"/>
          </a:xfrm>
          <a:prstGeom prst="ellipse">
            <a:avLst/>
          </a:prstGeom>
          <a:solidFill>
            <a:srgbClr val="FFFFFF"/>
          </a:solidFill>
          <a:ln w="25400">
            <a:solidFill>
              <a:srgbClr val="E2E7F0"/>
            </a:solidFill>
            <a:prstDash val="solid"/>
          </a:ln>
        </p:spPr>
      </p:sp>
      <p:sp>
        <p:nvSpPr>
          <p:cNvPr id="10" name="Shape 8"/>
          <p:cNvSpPr/>
          <p:nvPr/>
        </p:nvSpPr>
        <p:spPr>
          <a:xfrm>
            <a:off x="485775" y="5762625"/>
            <a:ext cx="95250" cy="95250"/>
          </a:xfrm>
          <a:prstGeom prst="ellipse">
            <a:avLst/>
          </a:prstGeom>
          <a:solidFill>
            <a:srgbClr val="FFFFFF"/>
          </a:solidFill>
          <a:ln w="25400">
            <a:solidFill>
              <a:srgbClr val="E2E7F0"/>
            </a:solidFill>
            <a:prstDash val="solid"/>
          </a:ln>
        </p:spPr>
      </p:sp>
      <p:sp>
        <p:nvSpPr>
          <p:cNvPr id="11" name="Text 9"/>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四</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2" name="Text 10"/>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20</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44</a:t>
            </a:r>
            <a:endParaRPr lang="en-US" sz="1000" dirty="0"/>
          </a:p>
        </p:txBody>
      </p:sp>
      <p:sp>
        <p:nvSpPr>
          <p:cNvPr id="13" name="Text 11"/>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B 档</a:t>
            </a:r>
            <a:endParaRPr lang="en-US" sz="800" dirty="0"/>
          </a:p>
        </p:txBody>
      </p:sp>
      <p:sp>
        <p:nvSpPr>
          <p:cNvPr id="14" name="Text 12"/>
          <p:cNvSpPr/>
          <p:nvPr/>
        </p:nvSpPr>
        <p:spPr>
          <a:xfrm>
            <a:off x="1295400" y="2212848"/>
            <a:ext cx="9981895" cy="237744"/>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判据</a:t>
            </a:r>
            <a:endParaRPr lang="en-US" sz="1000" dirty="0"/>
          </a:p>
        </p:txBody>
      </p:sp>
      <p:sp>
        <p:nvSpPr>
          <p:cNvPr id="15" name="Text 13"/>
          <p:cNvSpPr/>
          <p:nvPr/>
        </p:nvSpPr>
        <p:spPr>
          <a:xfrm>
            <a:off x="1295400" y="2615184"/>
            <a:ext cx="9158935" cy="2286000"/>
          </a:xfrm>
          <a:prstGeom prst="rect">
            <a:avLst/>
          </a:prstGeom>
          <a:noFill/>
          <a:ln/>
        </p:spPr>
        <p:txBody>
          <a:bodyPr wrap="square" lIns="0" tIns="0" rIns="0" bIns="0" rtlCol="0" anchor="t"/>
          <a:lstStyle/>
          <a:p>
            <a:pPr indent="0" marL="0">
              <a:lnSpc>
                <a:spcPct val="145000"/>
              </a:lnSpc>
              <a:buNone/>
            </a:pPr>
            <a:r>
              <a:rPr lang="en-US" sz="2500" b="1" dirty="0">
                <a:solidFill>
                  <a:srgbClr val="0F1B2D"/>
                </a:solidFill>
                <a:latin typeface="Microsoft YaHei" pitchFamily="34" charset="0"/>
                <a:ea typeface="Microsoft YaHei" pitchFamily="34" charset="-122"/>
                <a:cs typeface="Microsoft YaHei" pitchFamily="34" charset="-120"/>
              </a:rPr>
              <a:t>判据只有一条：该环节的困难，是否属于课程要求学生经历的困难。</a:t>
            </a:r>
            <a:endParaRPr lang="en-US" sz="25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566182"/>
            <a:ext cx="95250" cy="95250"/>
          </a:xfrm>
          <a:prstGeom prst="ellipse">
            <a:avLst/>
          </a:prstGeom>
          <a:solidFill>
            <a:srgbClr val="C2CBD8"/>
          </a:solidFill>
          <a:ln w="25400">
            <a:solidFill>
              <a:srgbClr val="C2CBD8"/>
            </a:solidFill>
            <a:prstDash val="solid"/>
          </a:ln>
        </p:spPr>
      </p:sp>
      <p:sp>
        <p:nvSpPr>
          <p:cNvPr id="5" name="Shape 3"/>
          <p:cNvSpPr/>
          <p:nvPr/>
        </p:nvSpPr>
        <p:spPr>
          <a:xfrm>
            <a:off x="485775" y="2265589"/>
            <a:ext cx="95250" cy="95250"/>
          </a:xfrm>
          <a:prstGeom prst="ellipse">
            <a:avLst/>
          </a:prstGeom>
          <a:solidFill>
            <a:srgbClr val="C2CBD8"/>
          </a:solidFill>
          <a:ln w="25400">
            <a:solidFill>
              <a:srgbClr val="C2CBD8"/>
            </a:solidFill>
            <a:prstDash val="solid"/>
          </a:ln>
        </p:spPr>
      </p:sp>
      <p:sp>
        <p:nvSpPr>
          <p:cNvPr id="6" name="Shape 4"/>
          <p:cNvSpPr/>
          <p:nvPr/>
        </p:nvSpPr>
        <p:spPr>
          <a:xfrm>
            <a:off x="485775" y="2964996"/>
            <a:ext cx="95250" cy="95250"/>
          </a:xfrm>
          <a:prstGeom prst="ellipse">
            <a:avLst/>
          </a:prstGeom>
          <a:solidFill>
            <a:srgbClr val="C2CBD8"/>
          </a:solidFill>
          <a:ln w="25400">
            <a:solidFill>
              <a:srgbClr val="C2CBD8"/>
            </a:solidFill>
            <a:prstDash val="solid"/>
          </a:ln>
        </p:spPr>
      </p:sp>
      <p:sp>
        <p:nvSpPr>
          <p:cNvPr id="7" name="Shape 5"/>
          <p:cNvSpPr/>
          <p:nvPr/>
        </p:nvSpPr>
        <p:spPr>
          <a:xfrm>
            <a:off x="466725" y="3645354"/>
            <a:ext cx="133350" cy="133350"/>
          </a:xfrm>
          <a:prstGeom prst="ellipse">
            <a:avLst/>
          </a:prstGeom>
          <a:solidFill>
            <a:srgbClr val="B0472A"/>
          </a:solidFill>
          <a:ln w="25400">
            <a:solidFill>
              <a:srgbClr val="B0472A"/>
            </a:solidFill>
            <a:prstDash val="solid"/>
          </a:ln>
        </p:spPr>
      </p:sp>
      <p:sp>
        <p:nvSpPr>
          <p:cNvPr id="8" name="Shape 6"/>
          <p:cNvSpPr/>
          <p:nvPr/>
        </p:nvSpPr>
        <p:spPr>
          <a:xfrm>
            <a:off x="485775" y="4363811"/>
            <a:ext cx="95250" cy="95250"/>
          </a:xfrm>
          <a:prstGeom prst="ellipse">
            <a:avLst/>
          </a:prstGeom>
          <a:solidFill>
            <a:srgbClr val="FFFFFF"/>
          </a:solidFill>
          <a:ln w="25400">
            <a:solidFill>
              <a:srgbClr val="E2E7F0"/>
            </a:solidFill>
            <a:prstDash val="solid"/>
          </a:ln>
        </p:spPr>
      </p:sp>
      <p:sp>
        <p:nvSpPr>
          <p:cNvPr id="9" name="Shape 7"/>
          <p:cNvSpPr/>
          <p:nvPr/>
        </p:nvSpPr>
        <p:spPr>
          <a:xfrm>
            <a:off x="485775" y="5063218"/>
            <a:ext cx="95250" cy="95250"/>
          </a:xfrm>
          <a:prstGeom prst="ellipse">
            <a:avLst/>
          </a:prstGeom>
          <a:solidFill>
            <a:srgbClr val="FFFFFF"/>
          </a:solidFill>
          <a:ln w="25400">
            <a:solidFill>
              <a:srgbClr val="E2E7F0"/>
            </a:solidFill>
            <a:prstDash val="solid"/>
          </a:ln>
        </p:spPr>
      </p:sp>
      <p:sp>
        <p:nvSpPr>
          <p:cNvPr id="10" name="Shape 8"/>
          <p:cNvSpPr/>
          <p:nvPr/>
        </p:nvSpPr>
        <p:spPr>
          <a:xfrm>
            <a:off x="485775" y="5762625"/>
            <a:ext cx="95250" cy="95250"/>
          </a:xfrm>
          <a:prstGeom prst="ellipse">
            <a:avLst/>
          </a:prstGeom>
          <a:solidFill>
            <a:srgbClr val="FFFFFF"/>
          </a:solidFill>
          <a:ln w="25400">
            <a:solidFill>
              <a:srgbClr val="E2E7F0"/>
            </a:solidFill>
            <a:prstDash val="solid"/>
          </a:ln>
        </p:spPr>
      </p:sp>
      <p:sp>
        <p:nvSpPr>
          <p:cNvPr id="11" name="Text 9"/>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四</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2" name="Text 10"/>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21</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44</a:t>
            </a:r>
            <a:endParaRPr lang="en-US" sz="1000" dirty="0"/>
          </a:p>
        </p:txBody>
      </p:sp>
      <p:sp>
        <p:nvSpPr>
          <p:cNvPr id="13" name="Text 11"/>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4" name="Text 12"/>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第四段　·　环节配置的判断方法</a:t>
            </a:r>
            <a:endParaRPr lang="en-US" sz="1000" dirty="0"/>
          </a:p>
        </p:txBody>
      </p:sp>
      <p:sp>
        <p:nvSpPr>
          <p:cNvPr id="15" name="Text 13"/>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六环节配置表（空白）</a:t>
            </a:r>
            <a:endParaRPr lang="en-US" sz="32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1295400" y="1952244"/>
          <a:ext cx="9981895" cy="914400"/>
        </p:xfrm>
        <a:graphic>
          <a:graphicData uri="http://schemas.openxmlformats.org/drawingml/2006/table">
            <a:tbl>
              <a:tblPr/>
              <a:tblGrid>
                <a:gridCol w="2103120"/>
                <a:gridCol w="2624328"/>
                <a:gridCol w="2624328"/>
                <a:gridCol w="2624328"/>
              </a:tblGrid>
              <a:tr h="457200">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5F7FB"/>
                    </a:solidFill>
                  </a:tcPr>
                </a:tc>
                <a:tc>
                  <a:txBody>
                    <a:bodyP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这一步要练的能力</a:t>
                      </a:r>
                      <a:endParaRPr lang="en-US" sz="95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5F7FB"/>
                    </a:solidFill>
                  </a:tcPr>
                </a:tc>
                <a:tc>
                  <a:txBody>
                    <a:bodyP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AI 替掉的是不是它</a:t>
                      </a:r>
                      <a:endParaRPr lang="en-US" sz="95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5F7FB"/>
                    </a:solidFill>
                  </a:tcPr>
                </a:tc>
                <a:tc>
                  <a:txBody>
                    <a:bodyP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用什么补回来</a:t>
                      </a:r>
                      <a:endParaRPr lang="en-US" sz="95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5F7FB"/>
                    </a:solidFill>
                  </a:tcPr>
                </a:tc>
              </a:tr>
              <a:tr h="457200">
                <a:tc>
                  <a:txBody>
                    <a:bodyPr/>
                    <a:lstStyle/>
                    <a:p>
                      <a:pPr indent="0" marL="0">
                        <a:buNone/>
                      </a:pPr>
                      <a:r>
                        <a:rPr lang="en-US" sz="1250" dirty="0">
                          <a:solidFill>
                            <a:srgbClr val="1A2029"/>
                          </a:solidFill>
                          <a:latin typeface="Microsoft YaHei" pitchFamily="34" charset="0"/>
                          <a:ea typeface="Microsoft YaHei" pitchFamily="34" charset="-122"/>
                          <a:cs typeface="Microsoft YaHei" pitchFamily="34" charset="-120"/>
                        </a:rPr>
                        <a:t>提出问题和假设</a:t>
                      </a:r>
                      <a:endParaRPr lang="en-US" sz="125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r>
              <a:tr h="457200">
                <a:tc>
                  <a:txBody>
                    <a:bodyPr/>
                    <a:lstStyle/>
                    <a:p>
                      <a:pPr indent="0" marL="0">
                        <a:buNone/>
                      </a:pPr>
                      <a:r>
                        <a:rPr lang="en-US" sz="1250" dirty="0">
                          <a:solidFill>
                            <a:srgbClr val="1A2029"/>
                          </a:solidFill>
                          <a:latin typeface="Microsoft YaHei" pitchFamily="34" charset="0"/>
                          <a:ea typeface="Microsoft YaHei" pitchFamily="34" charset="-122"/>
                          <a:cs typeface="Microsoft YaHei" pitchFamily="34" charset="-120"/>
                        </a:rPr>
                        <a:t>设计方案</a:t>
                      </a:r>
                      <a:endParaRPr lang="en-US" sz="125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r>
              <a:tr h="457200">
                <a:tc>
                  <a:txBody>
                    <a:bodyPr/>
                    <a:lstStyle/>
                    <a:p>
                      <a:pPr indent="0" marL="0">
                        <a:buNone/>
                      </a:pPr>
                      <a:r>
                        <a:rPr lang="en-US" sz="1250" dirty="0">
                          <a:solidFill>
                            <a:srgbClr val="1A2029"/>
                          </a:solidFill>
                          <a:latin typeface="Microsoft YaHei" pitchFamily="34" charset="0"/>
                          <a:ea typeface="Microsoft YaHei" pitchFamily="34" charset="-122"/>
                          <a:cs typeface="Microsoft YaHei" pitchFamily="34" charset="-120"/>
                        </a:rPr>
                        <a:t>搜集分析证据</a:t>
                      </a:r>
                      <a:endParaRPr lang="en-US" sz="125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r>
              <a:tr h="457200">
                <a:tc>
                  <a:txBody>
                    <a:bodyPr/>
                    <a:lstStyle/>
                    <a:p>
                      <a:pPr indent="0" marL="0">
                        <a:buNone/>
                      </a:pPr>
                      <a:r>
                        <a:rPr lang="en-US" sz="1250" dirty="0">
                          <a:solidFill>
                            <a:srgbClr val="1A2029"/>
                          </a:solidFill>
                          <a:latin typeface="Microsoft YaHei" pitchFamily="34" charset="0"/>
                          <a:ea typeface="Microsoft YaHei" pitchFamily="34" charset="-122"/>
                          <a:cs typeface="Microsoft YaHei" pitchFamily="34" charset="-120"/>
                        </a:rPr>
                        <a:t>得出结论并解释</a:t>
                      </a:r>
                      <a:endParaRPr lang="en-US" sz="125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r>
              <a:tr h="457200">
                <a:tc>
                  <a:txBody>
                    <a:bodyPr/>
                    <a:lstStyle/>
                    <a:p>
                      <a:pPr indent="0" marL="0">
                        <a:buNone/>
                      </a:pPr>
                      <a:r>
                        <a:rPr lang="en-US" sz="1250" dirty="0">
                          <a:solidFill>
                            <a:srgbClr val="1A2029"/>
                          </a:solidFill>
                          <a:latin typeface="Microsoft YaHei" pitchFamily="34" charset="0"/>
                          <a:ea typeface="Microsoft YaHei" pitchFamily="34" charset="-122"/>
                          <a:cs typeface="Microsoft YaHei" pitchFamily="34" charset="-120"/>
                        </a:rPr>
                        <a:t>制作改进</a:t>
                      </a:r>
                      <a:endParaRPr lang="en-US" sz="125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r>
              <a:tr h="457200">
                <a:tc>
                  <a:txBody>
                    <a:bodyPr/>
                    <a:lstStyle/>
                    <a:p>
                      <a:pPr indent="0" marL="0">
                        <a:buNone/>
                      </a:pPr>
                      <a:r>
                        <a:rPr lang="en-US" sz="1250" dirty="0">
                          <a:solidFill>
                            <a:srgbClr val="1A2029"/>
                          </a:solidFill>
                          <a:latin typeface="Microsoft YaHei" pitchFamily="34" charset="0"/>
                          <a:ea typeface="Microsoft YaHei" pitchFamily="34" charset="-122"/>
                          <a:cs typeface="Microsoft YaHei" pitchFamily="34" charset="-120"/>
                        </a:rPr>
                        <a:t>交流反思</a:t>
                      </a:r>
                      <a:endParaRPr lang="en-US" sz="125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r>
            </a:tbl>
          </a:graphicData>
        </a:graphic>
      </p:graphicFrame>
      <p:sp>
        <p:nvSpPr>
          <p:cNvPr id="17" name="Shape 14"/>
          <p:cNvSpPr/>
          <p:nvPr/>
        </p:nvSpPr>
        <p:spPr>
          <a:xfrm>
            <a:off x="1295400" y="5888736"/>
            <a:ext cx="9981895" cy="0"/>
          </a:xfrm>
          <a:prstGeom prst="line">
            <a:avLst/>
          </a:prstGeom>
          <a:noFill/>
          <a:ln w="12700">
            <a:solidFill>
              <a:srgbClr val="E2E7F0"/>
            </a:solidFill>
            <a:prstDash val="solid"/>
          </a:ln>
        </p:spPr>
      </p:sp>
      <p:sp>
        <p:nvSpPr>
          <p:cNvPr id="18" name="Text 15"/>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B6470"/>
                </a:solidFill>
                <a:latin typeface="Microsoft YaHei" pitchFamily="34" charset="0"/>
                <a:ea typeface="Microsoft YaHei" pitchFamily="34" charset="-122"/>
                <a:cs typeface="Microsoft YaHei" pitchFamily="34" charset="-120"/>
              </a:rPr>
              <a:t>本表可直接打印使用，每项任务填写一张。</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566182"/>
            <a:ext cx="95250" cy="95250"/>
          </a:xfrm>
          <a:prstGeom prst="ellipse">
            <a:avLst/>
          </a:prstGeom>
          <a:solidFill>
            <a:srgbClr val="C2CBD8"/>
          </a:solidFill>
          <a:ln w="25400">
            <a:solidFill>
              <a:srgbClr val="C2CBD8"/>
            </a:solidFill>
            <a:prstDash val="solid"/>
          </a:ln>
        </p:spPr>
      </p:sp>
      <p:sp>
        <p:nvSpPr>
          <p:cNvPr id="5" name="Shape 3"/>
          <p:cNvSpPr/>
          <p:nvPr/>
        </p:nvSpPr>
        <p:spPr>
          <a:xfrm>
            <a:off x="485775" y="2265589"/>
            <a:ext cx="95250" cy="95250"/>
          </a:xfrm>
          <a:prstGeom prst="ellipse">
            <a:avLst/>
          </a:prstGeom>
          <a:solidFill>
            <a:srgbClr val="C2CBD8"/>
          </a:solidFill>
          <a:ln w="25400">
            <a:solidFill>
              <a:srgbClr val="C2CBD8"/>
            </a:solidFill>
            <a:prstDash val="solid"/>
          </a:ln>
        </p:spPr>
      </p:sp>
      <p:sp>
        <p:nvSpPr>
          <p:cNvPr id="6" name="Shape 4"/>
          <p:cNvSpPr/>
          <p:nvPr/>
        </p:nvSpPr>
        <p:spPr>
          <a:xfrm>
            <a:off x="485775" y="2964996"/>
            <a:ext cx="95250" cy="95250"/>
          </a:xfrm>
          <a:prstGeom prst="ellipse">
            <a:avLst/>
          </a:prstGeom>
          <a:solidFill>
            <a:srgbClr val="C2CBD8"/>
          </a:solidFill>
          <a:ln w="25400">
            <a:solidFill>
              <a:srgbClr val="C2CBD8"/>
            </a:solidFill>
            <a:prstDash val="solid"/>
          </a:ln>
        </p:spPr>
      </p:sp>
      <p:sp>
        <p:nvSpPr>
          <p:cNvPr id="7" name="Shape 5"/>
          <p:cNvSpPr/>
          <p:nvPr/>
        </p:nvSpPr>
        <p:spPr>
          <a:xfrm>
            <a:off x="466725" y="3645354"/>
            <a:ext cx="133350" cy="133350"/>
          </a:xfrm>
          <a:prstGeom prst="ellipse">
            <a:avLst/>
          </a:prstGeom>
          <a:solidFill>
            <a:srgbClr val="B0472A"/>
          </a:solidFill>
          <a:ln w="25400">
            <a:solidFill>
              <a:srgbClr val="B0472A"/>
            </a:solidFill>
            <a:prstDash val="solid"/>
          </a:ln>
        </p:spPr>
      </p:sp>
      <p:sp>
        <p:nvSpPr>
          <p:cNvPr id="8" name="Shape 6"/>
          <p:cNvSpPr/>
          <p:nvPr/>
        </p:nvSpPr>
        <p:spPr>
          <a:xfrm>
            <a:off x="485775" y="4363811"/>
            <a:ext cx="95250" cy="95250"/>
          </a:xfrm>
          <a:prstGeom prst="ellipse">
            <a:avLst/>
          </a:prstGeom>
          <a:solidFill>
            <a:srgbClr val="FFFFFF"/>
          </a:solidFill>
          <a:ln w="25400">
            <a:solidFill>
              <a:srgbClr val="E2E7F0"/>
            </a:solidFill>
            <a:prstDash val="solid"/>
          </a:ln>
        </p:spPr>
      </p:sp>
      <p:sp>
        <p:nvSpPr>
          <p:cNvPr id="9" name="Shape 7"/>
          <p:cNvSpPr/>
          <p:nvPr/>
        </p:nvSpPr>
        <p:spPr>
          <a:xfrm>
            <a:off x="485775" y="5063218"/>
            <a:ext cx="95250" cy="95250"/>
          </a:xfrm>
          <a:prstGeom prst="ellipse">
            <a:avLst/>
          </a:prstGeom>
          <a:solidFill>
            <a:srgbClr val="FFFFFF"/>
          </a:solidFill>
          <a:ln w="25400">
            <a:solidFill>
              <a:srgbClr val="E2E7F0"/>
            </a:solidFill>
            <a:prstDash val="solid"/>
          </a:ln>
        </p:spPr>
      </p:sp>
      <p:sp>
        <p:nvSpPr>
          <p:cNvPr id="10" name="Shape 8"/>
          <p:cNvSpPr/>
          <p:nvPr/>
        </p:nvSpPr>
        <p:spPr>
          <a:xfrm>
            <a:off x="485775" y="5762625"/>
            <a:ext cx="95250" cy="95250"/>
          </a:xfrm>
          <a:prstGeom prst="ellipse">
            <a:avLst/>
          </a:prstGeom>
          <a:solidFill>
            <a:srgbClr val="FFFFFF"/>
          </a:solidFill>
          <a:ln w="25400">
            <a:solidFill>
              <a:srgbClr val="E2E7F0"/>
            </a:solidFill>
            <a:prstDash val="solid"/>
          </a:ln>
        </p:spPr>
      </p:sp>
      <p:sp>
        <p:nvSpPr>
          <p:cNvPr id="11" name="Text 9"/>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四</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2" name="Text 10"/>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22</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44</a:t>
            </a:r>
            <a:endParaRPr lang="en-US" sz="1000" dirty="0"/>
          </a:p>
        </p:txBody>
      </p:sp>
      <p:sp>
        <p:nvSpPr>
          <p:cNvPr id="13" name="Text 11"/>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4" name="Text 12"/>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第四段　·　环节配置的判断方法</a:t>
            </a:r>
            <a:endParaRPr lang="en-US" sz="1000" dirty="0"/>
          </a:p>
        </p:txBody>
      </p:sp>
      <p:sp>
        <p:nvSpPr>
          <p:cNvPr id="15" name="Text 13"/>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六个环节的收放配置</a:t>
            </a:r>
            <a:endParaRPr lang="en-US" sz="3200" dirty="0"/>
          </a:p>
        </p:txBody>
      </p:sp>
      <p:pic>
        <p:nvPicPr>
          <p:cNvPr id="16" name="Image 0" descr="/home/user/slides/comprehensive-practice-ai/figures/scale.png">    </p:cNvPr>
          <p:cNvPicPr>
            <a:picLocks noChangeAspect="1"/>
          </p:cNvPicPr>
          <p:nvPr/>
        </p:nvPicPr>
        <p:blipFill>
          <a:blip r:embed="rId1"/>
          <a:stretch>
            <a:fillRect/>
          </a:stretch>
        </p:blipFill>
        <p:spPr>
          <a:xfrm>
            <a:off x="1295400" y="2007108"/>
            <a:ext cx="9981895" cy="2038288"/>
          </a:xfrm>
          <a:prstGeom prst="rect">
            <a:avLst/>
          </a:prstGeom>
        </p:spPr>
      </p:pic>
      <p:sp>
        <p:nvSpPr>
          <p:cNvPr id="17" name="Text 14"/>
          <p:cNvSpPr/>
          <p:nvPr/>
        </p:nvSpPr>
        <p:spPr>
          <a:xfrm>
            <a:off x="1295400" y="4228276"/>
            <a:ext cx="9981895" cy="402336"/>
          </a:xfrm>
          <a:prstGeom prst="rect">
            <a:avLst/>
          </a:prstGeom>
          <a:noFill/>
          <a:ln/>
        </p:spPr>
        <p:txBody>
          <a:bodyPr wrap="square" lIns="0" tIns="0" rIns="0" bIns="0" rtlCol="0" anchor="ctr"/>
          <a:lstStyle/>
          <a:p>
            <a:pPr indent="0" marL="0">
              <a:buNone/>
            </a:pPr>
            <a:r>
              <a:rPr lang="en-US" sz="1600" dirty="0">
                <a:solidFill>
                  <a:srgbClr val="1A2029"/>
                </a:solidFill>
                <a:latin typeface="Microsoft YaHei" pitchFamily="34" charset="0"/>
                <a:ea typeface="Microsoft YaHei" pitchFamily="34" charset="-122"/>
                <a:cs typeface="Microsoft YaHei" pitchFamily="34" charset="-120"/>
              </a:rPr>
              <a:t>内核收紧，外圈放开。六个环节自身呈前紧后松，任务前的背景检索与任务后的表达传播可以放开。</a:t>
            </a:r>
            <a:endParaRPr lang="en-US" sz="1600" dirty="0"/>
          </a:p>
        </p:txBody>
      </p:sp>
      <p:sp>
        <p:nvSpPr>
          <p:cNvPr id="18" name="Text 15"/>
          <p:cNvSpPr/>
          <p:nvPr/>
        </p:nvSpPr>
        <p:spPr>
          <a:xfrm>
            <a:off x="1295400" y="4685476"/>
            <a:ext cx="9981895" cy="365760"/>
          </a:xfrm>
          <a:prstGeom prst="rect">
            <a:avLst/>
          </a:prstGeom>
          <a:noFill/>
          <a:ln/>
        </p:spPr>
        <p:txBody>
          <a:bodyPr wrap="square" lIns="0" tIns="0" rIns="0" bIns="0" rtlCol="0" anchor="ctr"/>
          <a:lstStyle/>
          <a:p>
            <a:pPr indent="0" marL="0">
              <a:lnSpc>
                <a:spcPct val="135000"/>
              </a:lnSpc>
              <a:buNone/>
            </a:pPr>
            <a:r>
              <a:rPr lang="en-US" sz="1150" dirty="0">
                <a:solidFill>
                  <a:srgbClr val="5B6470"/>
                </a:solidFill>
                <a:latin typeface="Microsoft YaHei" pitchFamily="34" charset="0"/>
                <a:ea typeface="Microsoft YaHei" pitchFamily="34" charset="-122"/>
                <a:cs typeface="Microsoft YaHei" pitchFamily="34" charset="-120"/>
              </a:rPr>
              <a:t>该配置与常见直觉相反。教师的第一反应多为借助 AI 生成选题方向，而选题恰是最应收紧的环节。</a:t>
            </a:r>
            <a:endParaRPr lang="en-US" sz="11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566182"/>
            <a:ext cx="95250" cy="95250"/>
          </a:xfrm>
          <a:prstGeom prst="ellipse">
            <a:avLst/>
          </a:prstGeom>
          <a:solidFill>
            <a:srgbClr val="C2CBD8"/>
          </a:solidFill>
          <a:ln w="25400">
            <a:solidFill>
              <a:srgbClr val="C2CBD8"/>
            </a:solidFill>
            <a:prstDash val="solid"/>
          </a:ln>
        </p:spPr>
      </p:sp>
      <p:sp>
        <p:nvSpPr>
          <p:cNvPr id="5" name="Shape 3"/>
          <p:cNvSpPr/>
          <p:nvPr/>
        </p:nvSpPr>
        <p:spPr>
          <a:xfrm>
            <a:off x="485775" y="2265589"/>
            <a:ext cx="95250" cy="95250"/>
          </a:xfrm>
          <a:prstGeom prst="ellipse">
            <a:avLst/>
          </a:prstGeom>
          <a:solidFill>
            <a:srgbClr val="C2CBD8"/>
          </a:solidFill>
          <a:ln w="25400">
            <a:solidFill>
              <a:srgbClr val="C2CBD8"/>
            </a:solidFill>
            <a:prstDash val="solid"/>
          </a:ln>
        </p:spPr>
      </p:sp>
      <p:sp>
        <p:nvSpPr>
          <p:cNvPr id="6" name="Shape 4"/>
          <p:cNvSpPr/>
          <p:nvPr/>
        </p:nvSpPr>
        <p:spPr>
          <a:xfrm>
            <a:off x="485775" y="2964996"/>
            <a:ext cx="95250" cy="95250"/>
          </a:xfrm>
          <a:prstGeom prst="ellipse">
            <a:avLst/>
          </a:prstGeom>
          <a:solidFill>
            <a:srgbClr val="C2CBD8"/>
          </a:solidFill>
          <a:ln w="25400">
            <a:solidFill>
              <a:srgbClr val="C2CBD8"/>
            </a:solidFill>
            <a:prstDash val="solid"/>
          </a:ln>
        </p:spPr>
      </p:sp>
      <p:sp>
        <p:nvSpPr>
          <p:cNvPr id="7" name="Shape 5"/>
          <p:cNvSpPr/>
          <p:nvPr/>
        </p:nvSpPr>
        <p:spPr>
          <a:xfrm>
            <a:off x="466725" y="3645354"/>
            <a:ext cx="133350" cy="133350"/>
          </a:xfrm>
          <a:prstGeom prst="ellipse">
            <a:avLst/>
          </a:prstGeom>
          <a:solidFill>
            <a:srgbClr val="B0472A"/>
          </a:solidFill>
          <a:ln w="25400">
            <a:solidFill>
              <a:srgbClr val="B0472A"/>
            </a:solidFill>
            <a:prstDash val="solid"/>
          </a:ln>
        </p:spPr>
      </p:sp>
      <p:sp>
        <p:nvSpPr>
          <p:cNvPr id="8" name="Shape 6"/>
          <p:cNvSpPr/>
          <p:nvPr/>
        </p:nvSpPr>
        <p:spPr>
          <a:xfrm>
            <a:off x="485775" y="4363811"/>
            <a:ext cx="95250" cy="95250"/>
          </a:xfrm>
          <a:prstGeom prst="ellipse">
            <a:avLst/>
          </a:prstGeom>
          <a:solidFill>
            <a:srgbClr val="FFFFFF"/>
          </a:solidFill>
          <a:ln w="25400">
            <a:solidFill>
              <a:srgbClr val="E2E7F0"/>
            </a:solidFill>
            <a:prstDash val="solid"/>
          </a:ln>
        </p:spPr>
      </p:sp>
      <p:sp>
        <p:nvSpPr>
          <p:cNvPr id="9" name="Shape 7"/>
          <p:cNvSpPr/>
          <p:nvPr/>
        </p:nvSpPr>
        <p:spPr>
          <a:xfrm>
            <a:off x="485775" y="5063218"/>
            <a:ext cx="95250" cy="95250"/>
          </a:xfrm>
          <a:prstGeom prst="ellipse">
            <a:avLst/>
          </a:prstGeom>
          <a:solidFill>
            <a:srgbClr val="FFFFFF"/>
          </a:solidFill>
          <a:ln w="25400">
            <a:solidFill>
              <a:srgbClr val="E2E7F0"/>
            </a:solidFill>
            <a:prstDash val="solid"/>
          </a:ln>
        </p:spPr>
      </p:sp>
      <p:sp>
        <p:nvSpPr>
          <p:cNvPr id="10" name="Shape 8"/>
          <p:cNvSpPr/>
          <p:nvPr/>
        </p:nvSpPr>
        <p:spPr>
          <a:xfrm>
            <a:off x="485775" y="5762625"/>
            <a:ext cx="95250" cy="95250"/>
          </a:xfrm>
          <a:prstGeom prst="ellipse">
            <a:avLst/>
          </a:prstGeom>
          <a:solidFill>
            <a:srgbClr val="FFFFFF"/>
          </a:solidFill>
          <a:ln w="25400">
            <a:solidFill>
              <a:srgbClr val="E2E7F0"/>
            </a:solidFill>
            <a:prstDash val="solid"/>
          </a:ln>
        </p:spPr>
      </p:sp>
      <p:sp>
        <p:nvSpPr>
          <p:cNvPr id="11" name="Text 9"/>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四</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2" name="Text 10"/>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23</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44</a:t>
            </a:r>
            <a:endParaRPr lang="en-US" sz="1000" dirty="0"/>
          </a:p>
        </p:txBody>
      </p:sp>
      <p:sp>
        <p:nvSpPr>
          <p:cNvPr id="13" name="Text 11"/>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4" name="Text 12"/>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第四段　·　环节配置的判断方法</a:t>
            </a:r>
            <a:endParaRPr lang="en-US" sz="1000" dirty="0"/>
          </a:p>
        </p:txBody>
      </p:sp>
      <p:sp>
        <p:nvSpPr>
          <p:cNvPr id="15" name="Text 13"/>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学生侧放开的三种用法</a:t>
            </a:r>
            <a:endParaRPr lang="en-US" sz="3200" dirty="0"/>
          </a:p>
        </p:txBody>
      </p:sp>
      <p:sp>
        <p:nvSpPr>
          <p:cNvPr id="16" name="Text 14"/>
          <p:cNvSpPr/>
          <p:nvPr/>
        </p:nvSpPr>
        <p:spPr>
          <a:xfrm>
            <a:off x="1295400" y="1805940"/>
            <a:ext cx="9981895" cy="329184"/>
          </a:xfrm>
          <a:prstGeom prst="rect">
            <a:avLst/>
          </a:prstGeom>
          <a:noFill/>
          <a:ln/>
        </p:spPr>
        <p:txBody>
          <a:bodyPr wrap="square" lIns="0" tIns="0" rIns="0" bIns="0" rtlCol="0" anchor="t"/>
          <a:lstStyle/>
          <a:p>
            <a:pPr indent="0" marL="0">
              <a:lnSpc>
                <a:spcPct val="140000"/>
              </a:lnSpc>
              <a:buNone/>
            </a:pPr>
            <a:r>
              <a:rPr lang="en-US" sz="1150" dirty="0">
                <a:solidFill>
                  <a:srgbClr val="5B6470"/>
                </a:solidFill>
                <a:latin typeface="Microsoft YaHei" pitchFamily="34" charset="0"/>
                <a:ea typeface="Microsoft YaHei" pitchFamily="34" charset="-122"/>
                <a:cs typeface="Microsoft YaHei" pitchFamily="34" charset="-120"/>
              </a:rPr>
              <a:t>上一页的刻度图中，放与半放的部分具体指以下三种。每一种都配一条约束与一项留痕要求。</a:t>
            </a:r>
            <a:endParaRPr lang="en-US" sz="1150" dirty="0"/>
          </a:p>
        </p:txBody>
      </p:sp>
      <p:sp>
        <p:nvSpPr>
          <p:cNvPr id="17" name="Shape 15"/>
          <p:cNvSpPr/>
          <p:nvPr/>
        </p:nvSpPr>
        <p:spPr>
          <a:xfrm>
            <a:off x="1295400" y="2281428"/>
            <a:ext cx="3205378" cy="2286000"/>
          </a:xfrm>
          <a:prstGeom prst="roundRect">
            <a:avLst>
              <a:gd name="adj" fmla="val 3600"/>
            </a:avLst>
          </a:prstGeom>
          <a:solidFill>
            <a:srgbClr val="FFFFFF"/>
          </a:solidFill>
          <a:ln w="12700">
            <a:solidFill>
              <a:srgbClr val="E2E7F0"/>
            </a:solidFill>
            <a:prstDash val="solid"/>
          </a:ln>
        </p:spPr>
      </p:sp>
      <p:sp>
        <p:nvSpPr>
          <p:cNvPr id="18" name="Shape 16"/>
          <p:cNvSpPr/>
          <p:nvPr/>
        </p:nvSpPr>
        <p:spPr>
          <a:xfrm>
            <a:off x="1359408" y="2281428"/>
            <a:ext cx="3077362" cy="38100"/>
          </a:xfrm>
          <a:prstGeom prst="rect">
            <a:avLst/>
          </a:prstGeom>
          <a:solidFill>
            <a:srgbClr val="33414F"/>
          </a:solidFill>
          <a:ln w="12700">
            <a:solidFill>
              <a:srgbClr val="33414F"/>
            </a:solidFill>
            <a:prstDash val="solid"/>
          </a:ln>
        </p:spPr>
      </p:sp>
      <p:sp>
        <p:nvSpPr>
          <p:cNvPr id="19" name="Text 17"/>
          <p:cNvSpPr/>
          <p:nvPr/>
        </p:nvSpPr>
        <p:spPr>
          <a:xfrm>
            <a:off x="1478280" y="2464308"/>
            <a:ext cx="2839618" cy="292608"/>
          </a:xfrm>
          <a:prstGeom prst="rect">
            <a:avLst/>
          </a:prstGeom>
          <a:noFill/>
          <a:ln/>
        </p:spPr>
        <p:txBody>
          <a:bodyPr wrap="square" lIns="0" tIns="0" rIns="0" bIns="0" rtlCol="0" anchor="ctr"/>
          <a:lstStyle/>
          <a:p>
            <a:pPr indent="0" marL="0">
              <a:buNone/>
            </a:pPr>
            <a:r>
              <a:rPr lang="en-US" sz="1500" b="1" dirty="0">
                <a:solidFill>
                  <a:srgbClr val="0F1B2D"/>
                </a:solidFill>
                <a:latin typeface="Microsoft YaHei" pitchFamily="34" charset="0"/>
                <a:ea typeface="Microsoft YaHei" pitchFamily="34" charset="-122"/>
                <a:cs typeface="Microsoft YaHei" pitchFamily="34" charset="-120"/>
              </a:rPr>
              <a:t>背景检索的对照</a:t>
            </a:r>
            <a:endParaRPr lang="en-US" sz="1500" dirty="0"/>
          </a:p>
        </p:txBody>
      </p:sp>
      <p:sp>
        <p:nvSpPr>
          <p:cNvPr id="20" name="Text 18"/>
          <p:cNvSpPr/>
          <p:nvPr/>
        </p:nvSpPr>
        <p:spPr>
          <a:xfrm>
            <a:off x="1478280" y="2848356"/>
            <a:ext cx="2839618" cy="731520"/>
          </a:xfrm>
          <a:prstGeom prst="rect">
            <a:avLst/>
          </a:prstGeom>
          <a:noFill/>
          <a:ln/>
        </p:spPr>
        <p:txBody>
          <a:bodyPr wrap="square" lIns="0" tIns="0" rIns="0" bIns="0" rtlCol="0" anchor="t"/>
          <a:lstStyle/>
          <a:p>
            <a:pPr indent="0" marL="0">
              <a:lnSpc>
                <a:spcPct val="150000"/>
              </a:lnSpc>
              <a:buNone/>
            </a:pPr>
            <a:r>
              <a:rPr lang="en-US" sz="1200" dirty="0">
                <a:solidFill>
                  <a:srgbClr val="1A2029"/>
                </a:solidFill>
                <a:latin typeface="Microsoft YaHei" pitchFamily="34" charset="0"/>
                <a:ea typeface="Microsoft YaHei" pitchFamily="34" charset="-122"/>
                <a:cs typeface="Microsoft YaHei" pitchFamily="34" charset="-120"/>
              </a:rPr>
              <a:t>学生先自行提出问题，再用 AI 检索同类问题的既有表述。</a:t>
            </a:r>
            <a:endParaRPr lang="en-US" sz="1200" dirty="0"/>
          </a:p>
        </p:txBody>
      </p:sp>
      <p:sp>
        <p:nvSpPr>
          <p:cNvPr id="21" name="Shape 19"/>
          <p:cNvSpPr/>
          <p:nvPr/>
        </p:nvSpPr>
        <p:spPr>
          <a:xfrm>
            <a:off x="1478280" y="3616452"/>
            <a:ext cx="2839618" cy="0"/>
          </a:xfrm>
          <a:prstGeom prst="line">
            <a:avLst/>
          </a:prstGeom>
          <a:noFill/>
          <a:ln w="12700">
            <a:solidFill>
              <a:srgbClr val="E2E7F0"/>
            </a:solidFill>
            <a:prstDash val="solid"/>
          </a:ln>
        </p:spPr>
      </p:sp>
      <p:sp>
        <p:nvSpPr>
          <p:cNvPr id="22" name="Text 20"/>
          <p:cNvSpPr/>
          <p:nvPr/>
        </p:nvSpPr>
        <p:spPr>
          <a:xfrm>
            <a:off x="1478280" y="3726180"/>
            <a:ext cx="2839618" cy="402336"/>
          </a:xfrm>
          <a:prstGeom prst="rect">
            <a:avLst/>
          </a:prstGeom>
          <a:noFill/>
          <a:ln/>
        </p:spPr>
        <p:txBody>
          <a:bodyPr wrap="square" lIns="0" tIns="0" rIns="0" bIns="0" rtlCol="0" anchor="t"/>
          <a:lstStyle/>
          <a:p>
            <a:pPr indent="0" marL="0">
              <a:lnSpc>
                <a:spcPct val="145000"/>
              </a:lnSpc>
              <a:buNone/>
            </a:pPr>
            <a:r>
              <a:rPr lang="en-US" sz="1050" b="1" dirty="0">
                <a:solidFill>
                  <a:srgbClr val="B0472A"/>
                </a:solidFill>
                <a:latin typeface="Microsoft YaHei" pitchFamily="34" charset="0"/>
                <a:ea typeface="Microsoft YaHei" pitchFamily="34" charset="-122"/>
                <a:cs typeface="Microsoft YaHei" pitchFamily="34" charset="-120"/>
              </a:rPr>
              <a:t>约束　</a:t>
            </a:r>
            <a:pPr indent="0" marL="0">
              <a:lnSpc>
                <a:spcPct val="145000"/>
              </a:lnSpc>
              <a:buNone/>
            </a:pPr>
            <a:r>
              <a:rPr lang="en-US" sz="1050" dirty="0">
                <a:solidFill>
                  <a:srgbClr val="5B6470"/>
                </a:solidFill>
                <a:latin typeface="Microsoft YaHei" pitchFamily="34" charset="0"/>
                <a:ea typeface="Microsoft YaHei" pitchFamily="34" charset="-122"/>
                <a:cs typeface="Microsoft YaHei" pitchFamily="34" charset="-120"/>
              </a:rPr>
              <a:t>检索结果作为对照，不作为替代。</a:t>
            </a:r>
            <a:endParaRPr lang="en-US" sz="1050" dirty="0"/>
          </a:p>
        </p:txBody>
      </p:sp>
      <p:sp>
        <p:nvSpPr>
          <p:cNvPr id="23" name="Text 21"/>
          <p:cNvSpPr/>
          <p:nvPr/>
        </p:nvSpPr>
        <p:spPr>
          <a:xfrm>
            <a:off x="1478280" y="4146804"/>
            <a:ext cx="2839618" cy="365760"/>
          </a:xfrm>
          <a:prstGeom prst="rect">
            <a:avLst/>
          </a:prstGeom>
          <a:noFill/>
          <a:ln/>
        </p:spPr>
        <p:txBody>
          <a:bodyPr wrap="square" lIns="0" tIns="0" rIns="0" bIns="0" rtlCol="0" anchor="t"/>
          <a:lstStyle/>
          <a:p>
            <a:pPr indent="0" marL="0">
              <a:lnSpc>
                <a:spcPct val="145000"/>
              </a:lnSpc>
              <a:buNone/>
            </a:pPr>
            <a:r>
              <a:rPr lang="en-US" sz="1050" b="1" dirty="0">
                <a:solidFill>
                  <a:srgbClr val="33414F"/>
                </a:solidFill>
                <a:latin typeface="Microsoft YaHei" pitchFamily="34" charset="0"/>
                <a:ea typeface="Microsoft YaHei" pitchFamily="34" charset="-122"/>
                <a:cs typeface="Microsoft YaHei" pitchFamily="34" charset="-120"/>
              </a:rPr>
              <a:t>留痕　</a:t>
            </a:r>
            <a:pPr indent="0" marL="0">
              <a:lnSpc>
                <a:spcPct val="145000"/>
              </a:lnSpc>
              <a:buNone/>
            </a:pPr>
            <a:r>
              <a:rPr lang="en-US" sz="1050" dirty="0">
                <a:solidFill>
                  <a:srgbClr val="5B6470"/>
                </a:solidFill>
                <a:latin typeface="Microsoft YaHei" pitchFamily="34" charset="0"/>
                <a:ea typeface="Microsoft YaHei" pitchFamily="34" charset="-122"/>
                <a:cs typeface="Microsoft YaHei" pitchFamily="34" charset="-120"/>
              </a:rPr>
              <a:t>记下自己原来的问法与 AI 给出的问法。</a:t>
            </a:r>
            <a:endParaRPr lang="en-US" sz="1050" dirty="0"/>
          </a:p>
        </p:txBody>
      </p:sp>
      <p:sp>
        <p:nvSpPr>
          <p:cNvPr id="24" name="Shape 22"/>
          <p:cNvSpPr/>
          <p:nvPr/>
        </p:nvSpPr>
        <p:spPr>
          <a:xfrm>
            <a:off x="4683658" y="2281428"/>
            <a:ext cx="3205378" cy="2286000"/>
          </a:xfrm>
          <a:prstGeom prst="roundRect">
            <a:avLst>
              <a:gd name="adj" fmla="val 3600"/>
            </a:avLst>
          </a:prstGeom>
          <a:solidFill>
            <a:srgbClr val="FFFFFF"/>
          </a:solidFill>
          <a:ln w="12700">
            <a:solidFill>
              <a:srgbClr val="E2E7F0"/>
            </a:solidFill>
            <a:prstDash val="solid"/>
          </a:ln>
        </p:spPr>
      </p:sp>
      <p:sp>
        <p:nvSpPr>
          <p:cNvPr id="25" name="Shape 23"/>
          <p:cNvSpPr/>
          <p:nvPr/>
        </p:nvSpPr>
        <p:spPr>
          <a:xfrm>
            <a:off x="4747666" y="2281428"/>
            <a:ext cx="3077362" cy="38100"/>
          </a:xfrm>
          <a:prstGeom prst="rect">
            <a:avLst/>
          </a:prstGeom>
          <a:solidFill>
            <a:srgbClr val="33414F"/>
          </a:solidFill>
          <a:ln w="12700">
            <a:solidFill>
              <a:srgbClr val="33414F"/>
            </a:solidFill>
            <a:prstDash val="solid"/>
          </a:ln>
        </p:spPr>
      </p:sp>
      <p:sp>
        <p:nvSpPr>
          <p:cNvPr id="26" name="Text 24"/>
          <p:cNvSpPr/>
          <p:nvPr/>
        </p:nvSpPr>
        <p:spPr>
          <a:xfrm>
            <a:off x="4866538" y="2464308"/>
            <a:ext cx="2839618" cy="292608"/>
          </a:xfrm>
          <a:prstGeom prst="rect">
            <a:avLst/>
          </a:prstGeom>
          <a:noFill/>
          <a:ln/>
        </p:spPr>
        <p:txBody>
          <a:bodyPr wrap="square" lIns="0" tIns="0" rIns="0" bIns="0" rtlCol="0" anchor="ctr"/>
          <a:lstStyle/>
          <a:p>
            <a:pPr indent="0" marL="0">
              <a:buNone/>
            </a:pPr>
            <a:r>
              <a:rPr lang="en-US" sz="1500" b="1" dirty="0">
                <a:solidFill>
                  <a:srgbClr val="0F1B2D"/>
                </a:solidFill>
                <a:latin typeface="Microsoft YaHei" pitchFamily="34" charset="0"/>
                <a:ea typeface="Microsoft YaHei" pitchFamily="34" charset="-122"/>
                <a:cs typeface="Microsoft YaHei" pitchFamily="34" charset="-120"/>
              </a:rPr>
              <a:t>数据整理与作图</a:t>
            </a:r>
            <a:endParaRPr lang="en-US" sz="1500" dirty="0"/>
          </a:p>
        </p:txBody>
      </p:sp>
      <p:sp>
        <p:nvSpPr>
          <p:cNvPr id="27" name="Text 25"/>
          <p:cNvSpPr/>
          <p:nvPr/>
        </p:nvSpPr>
        <p:spPr>
          <a:xfrm>
            <a:off x="4866538" y="2848356"/>
            <a:ext cx="2839618" cy="731520"/>
          </a:xfrm>
          <a:prstGeom prst="rect">
            <a:avLst/>
          </a:prstGeom>
          <a:noFill/>
          <a:ln/>
        </p:spPr>
        <p:txBody>
          <a:bodyPr wrap="square" lIns="0" tIns="0" rIns="0" bIns="0" rtlCol="0" anchor="t"/>
          <a:lstStyle/>
          <a:p>
            <a:pPr indent="0" marL="0">
              <a:lnSpc>
                <a:spcPct val="150000"/>
              </a:lnSpc>
              <a:buNone/>
            </a:pPr>
            <a:r>
              <a:rPr lang="en-US" sz="1200" dirty="0">
                <a:solidFill>
                  <a:srgbClr val="1A2029"/>
                </a:solidFill>
                <a:latin typeface="Microsoft YaHei" pitchFamily="34" charset="0"/>
                <a:ea typeface="Microsoft YaHei" pitchFamily="34" charset="-122"/>
                <a:cs typeface="Microsoft YaHei" pitchFamily="34" charset="-120"/>
              </a:rPr>
              <a:t>原始数据由学生自行测量，整理、作图与异常值标注可以借助 AI。</a:t>
            </a:r>
            <a:endParaRPr lang="en-US" sz="1200" dirty="0"/>
          </a:p>
        </p:txBody>
      </p:sp>
      <p:sp>
        <p:nvSpPr>
          <p:cNvPr id="28" name="Shape 26"/>
          <p:cNvSpPr/>
          <p:nvPr/>
        </p:nvSpPr>
        <p:spPr>
          <a:xfrm>
            <a:off x="4866538" y="3616452"/>
            <a:ext cx="2839618" cy="0"/>
          </a:xfrm>
          <a:prstGeom prst="line">
            <a:avLst/>
          </a:prstGeom>
          <a:noFill/>
          <a:ln w="12700">
            <a:solidFill>
              <a:srgbClr val="E2E7F0"/>
            </a:solidFill>
            <a:prstDash val="solid"/>
          </a:ln>
        </p:spPr>
      </p:sp>
      <p:sp>
        <p:nvSpPr>
          <p:cNvPr id="29" name="Text 27"/>
          <p:cNvSpPr/>
          <p:nvPr/>
        </p:nvSpPr>
        <p:spPr>
          <a:xfrm>
            <a:off x="4866538" y="3726180"/>
            <a:ext cx="2839618" cy="402336"/>
          </a:xfrm>
          <a:prstGeom prst="rect">
            <a:avLst/>
          </a:prstGeom>
          <a:noFill/>
          <a:ln/>
        </p:spPr>
        <p:txBody>
          <a:bodyPr wrap="square" lIns="0" tIns="0" rIns="0" bIns="0" rtlCol="0" anchor="t"/>
          <a:lstStyle/>
          <a:p>
            <a:pPr indent="0" marL="0">
              <a:lnSpc>
                <a:spcPct val="145000"/>
              </a:lnSpc>
              <a:buNone/>
            </a:pPr>
            <a:r>
              <a:rPr lang="en-US" sz="1050" b="1" dirty="0">
                <a:solidFill>
                  <a:srgbClr val="B0472A"/>
                </a:solidFill>
                <a:latin typeface="Microsoft YaHei" pitchFamily="34" charset="0"/>
                <a:ea typeface="Microsoft YaHei" pitchFamily="34" charset="-122"/>
                <a:cs typeface="Microsoft YaHei" pitchFamily="34" charset="-120"/>
              </a:rPr>
              <a:t>约束　</a:t>
            </a:r>
            <a:pPr indent="0" marL="0">
              <a:lnSpc>
                <a:spcPct val="145000"/>
              </a:lnSpc>
              <a:buNone/>
            </a:pPr>
            <a:r>
              <a:rPr lang="en-US" sz="1050" dirty="0">
                <a:solidFill>
                  <a:srgbClr val="5B6470"/>
                </a:solidFill>
                <a:latin typeface="Microsoft YaHei" pitchFamily="34" charset="0"/>
                <a:ea typeface="Microsoft YaHei" pitchFamily="34" charset="-122"/>
                <a:cs typeface="Microsoft YaHei" pitchFamily="34" charset="-120"/>
              </a:rPr>
              <a:t>不得由 AI 生成数据。</a:t>
            </a:r>
            <a:endParaRPr lang="en-US" sz="1050" dirty="0"/>
          </a:p>
        </p:txBody>
      </p:sp>
      <p:sp>
        <p:nvSpPr>
          <p:cNvPr id="30" name="Text 28"/>
          <p:cNvSpPr/>
          <p:nvPr/>
        </p:nvSpPr>
        <p:spPr>
          <a:xfrm>
            <a:off x="4866538" y="4146804"/>
            <a:ext cx="2839618" cy="365760"/>
          </a:xfrm>
          <a:prstGeom prst="rect">
            <a:avLst/>
          </a:prstGeom>
          <a:noFill/>
          <a:ln/>
        </p:spPr>
        <p:txBody>
          <a:bodyPr wrap="square" lIns="0" tIns="0" rIns="0" bIns="0" rtlCol="0" anchor="t"/>
          <a:lstStyle/>
          <a:p>
            <a:pPr indent="0" marL="0">
              <a:lnSpc>
                <a:spcPct val="145000"/>
              </a:lnSpc>
              <a:buNone/>
            </a:pPr>
            <a:r>
              <a:rPr lang="en-US" sz="1050" b="1" dirty="0">
                <a:solidFill>
                  <a:srgbClr val="33414F"/>
                </a:solidFill>
                <a:latin typeface="Microsoft YaHei" pitchFamily="34" charset="0"/>
                <a:ea typeface="Microsoft YaHei" pitchFamily="34" charset="-122"/>
                <a:cs typeface="Microsoft YaHei" pitchFamily="34" charset="-120"/>
              </a:rPr>
              <a:t>留痕　</a:t>
            </a:r>
            <a:pPr indent="0" marL="0">
              <a:lnSpc>
                <a:spcPct val="145000"/>
              </a:lnSpc>
              <a:buNone/>
            </a:pPr>
            <a:r>
              <a:rPr lang="en-US" sz="1050" dirty="0">
                <a:solidFill>
                  <a:srgbClr val="5B6470"/>
                </a:solidFill>
                <a:latin typeface="Microsoft YaHei" pitchFamily="34" charset="0"/>
                <a:ea typeface="Microsoft YaHei" pitchFamily="34" charset="-122"/>
                <a:cs typeface="Microsoft YaHei" pitchFamily="34" charset="-120"/>
              </a:rPr>
              <a:t>保留原始记录表。</a:t>
            </a:r>
            <a:endParaRPr lang="en-US" sz="1050" dirty="0"/>
          </a:p>
        </p:txBody>
      </p:sp>
      <p:sp>
        <p:nvSpPr>
          <p:cNvPr id="31" name="Shape 29"/>
          <p:cNvSpPr/>
          <p:nvPr/>
        </p:nvSpPr>
        <p:spPr>
          <a:xfrm>
            <a:off x="8071917" y="2281428"/>
            <a:ext cx="3205378" cy="2286000"/>
          </a:xfrm>
          <a:prstGeom prst="roundRect">
            <a:avLst>
              <a:gd name="adj" fmla="val 3600"/>
            </a:avLst>
          </a:prstGeom>
          <a:solidFill>
            <a:srgbClr val="FFFFFF"/>
          </a:solidFill>
          <a:ln w="12700">
            <a:solidFill>
              <a:srgbClr val="E2E7F0"/>
            </a:solidFill>
            <a:prstDash val="solid"/>
          </a:ln>
        </p:spPr>
      </p:sp>
      <p:sp>
        <p:nvSpPr>
          <p:cNvPr id="32" name="Shape 30"/>
          <p:cNvSpPr/>
          <p:nvPr/>
        </p:nvSpPr>
        <p:spPr>
          <a:xfrm>
            <a:off x="8135925" y="2281428"/>
            <a:ext cx="3077362" cy="38100"/>
          </a:xfrm>
          <a:prstGeom prst="rect">
            <a:avLst/>
          </a:prstGeom>
          <a:solidFill>
            <a:srgbClr val="33414F"/>
          </a:solidFill>
          <a:ln w="12700">
            <a:solidFill>
              <a:srgbClr val="33414F"/>
            </a:solidFill>
            <a:prstDash val="solid"/>
          </a:ln>
        </p:spPr>
      </p:sp>
      <p:sp>
        <p:nvSpPr>
          <p:cNvPr id="33" name="Text 31"/>
          <p:cNvSpPr/>
          <p:nvPr/>
        </p:nvSpPr>
        <p:spPr>
          <a:xfrm>
            <a:off x="8254797" y="2464308"/>
            <a:ext cx="2839618" cy="292608"/>
          </a:xfrm>
          <a:prstGeom prst="rect">
            <a:avLst/>
          </a:prstGeom>
          <a:noFill/>
          <a:ln/>
        </p:spPr>
        <p:txBody>
          <a:bodyPr wrap="square" lIns="0" tIns="0" rIns="0" bIns="0" rtlCol="0" anchor="ctr"/>
          <a:lstStyle/>
          <a:p>
            <a:pPr indent="0" marL="0">
              <a:buNone/>
            </a:pPr>
            <a:r>
              <a:rPr lang="en-US" sz="1500" b="1" dirty="0">
                <a:solidFill>
                  <a:srgbClr val="0F1B2D"/>
                </a:solidFill>
                <a:latin typeface="Microsoft YaHei" pitchFamily="34" charset="0"/>
                <a:ea typeface="Microsoft YaHei" pitchFamily="34" charset="-122"/>
                <a:cs typeface="Microsoft YaHei" pitchFamily="34" charset="-120"/>
              </a:rPr>
              <a:t>表达与传播</a:t>
            </a:r>
            <a:endParaRPr lang="en-US" sz="1500" dirty="0"/>
          </a:p>
        </p:txBody>
      </p:sp>
      <p:sp>
        <p:nvSpPr>
          <p:cNvPr id="34" name="Text 32"/>
          <p:cNvSpPr/>
          <p:nvPr/>
        </p:nvSpPr>
        <p:spPr>
          <a:xfrm>
            <a:off x="8254797" y="2848356"/>
            <a:ext cx="2839618" cy="731520"/>
          </a:xfrm>
          <a:prstGeom prst="rect">
            <a:avLst/>
          </a:prstGeom>
          <a:noFill/>
          <a:ln/>
        </p:spPr>
        <p:txBody>
          <a:bodyPr wrap="square" lIns="0" tIns="0" rIns="0" bIns="0" rtlCol="0" anchor="t"/>
          <a:lstStyle/>
          <a:p>
            <a:pPr indent="0" marL="0">
              <a:lnSpc>
                <a:spcPct val="150000"/>
              </a:lnSpc>
              <a:buNone/>
            </a:pPr>
            <a:r>
              <a:rPr lang="en-US" sz="1200" dirty="0">
                <a:solidFill>
                  <a:srgbClr val="1A2029"/>
                </a:solidFill>
                <a:latin typeface="Microsoft YaHei" pitchFamily="34" charset="0"/>
                <a:ea typeface="Microsoft YaHei" pitchFamily="34" charset="-122"/>
                <a:cs typeface="Microsoft YaHei" pitchFamily="34" charset="-120"/>
              </a:rPr>
              <a:t>结题材料的润色、海报排版、科普稿的改写。</a:t>
            </a:r>
            <a:endParaRPr lang="en-US" sz="1200" dirty="0"/>
          </a:p>
        </p:txBody>
      </p:sp>
      <p:sp>
        <p:nvSpPr>
          <p:cNvPr id="35" name="Shape 33"/>
          <p:cNvSpPr/>
          <p:nvPr/>
        </p:nvSpPr>
        <p:spPr>
          <a:xfrm>
            <a:off x="8254797" y="3616452"/>
            <a:ext cx="2839618" cy="0"/>
          </a:xfrm>
          <a:prstGeom prst="line">
            <a:avLst/>
          </a:prstGeom>
          <a:noFill/>
          <a:ln w="12700">
            <a:solidFill>
              <a:srgbClr val="E2E7F0"/>
            </a:solidFill>
            <a:prstDash val="solid"/>
          </a:ln>
        </p:spPr>
      </p:sp>
      <p:sp>
        <p:nvSpPr>
          <p:cNvPr id="36" name="Text 34"/>
          <p:cNvSpPr/>
          <p:nvPr/>
        </p:nvSpPr>
        <p:spPr>
          <a:xfrm>
            <a:off x="8254797" y="3726180"/>
            <a:ext cx="2839618" cy="402336"/>
          </a:xfrm>
          <a:prstGeom prst="rect">
            <a:avLst/>
          </a:prstGeom>
          <a:noFill/>
          <a:ln/>
        </p:spPr>
        <p:txBody>
          <a:bodyPr wrap="square" lIns="0" tIns="0" rIns="0" bIns="0" rtlCol="0" anchor="t"/>
          <a:lstStyle/>
          <a:p>
            <a:pPr indent="0" marL="0">
              <a:lnSpc>
                <a:spcPct val="145000"/>
              </a:lnSpc>
              <a:buNone/>
            </a:pPr>
            <a:r>
              <a:rPr lang="en-US" sz="1050" b="1" dirty="0">
                <a:solidFill>
                  <a:srgbClr val="B0472A"/>
                </a:solidFill>
                <a:latin typeface="Microsoft YaHei" pitchFamily="34" charset="0"/>
                <a:ea typeface="Microsoft YaHei" pitchFamily="34" charset="-122"/>
                <a:cs typeface="Microsoft YaHei" pitchFamily="34" charset="-120"/>
              </a:rPr>
              <a:t>约束　</a:t>
            </a:r>
            <a:pPr indent="0" marL="0">
              <a:lnSpc>
                <a:spcPct val="145000"/>
              </a:lnSpc>
              <a:buNone/>
            </a:pPr>
            <a:r>
              <a:rPr lang="en-US" sz="1050" dirty="0">
                <a:solidFill>
                  <a:srgbClr val="5B6470"/>
                </a:solidFill>
                <a:latin typeface="Microsoft YaHei" pitchFamily="34" charset="0"/>
                <a:ea typeface="Microsoft YaHei" pitchFamily="34" charset="-122"/>
                <a:cs typeface="Microsoft YaHei" pitchFamily="34" charset="-120"/>
              </a:rPr>
              <a:t>结论与判断不得由 AI 生成。</a:t>
            </a:r>
            <a:endParaRPr lang="en-US" sz="1050" dirty="0"/>
          </a:p>
        </p:txBody>
      </p:sp>
      <p:sp>
        <p:nvSpPr>
          <p:cNvPr id="37" name="Text 35"/>
          <p:cNvSpPr/>
          <p:nvPr/>
        </p:nvSpPr>
        <p:spPr>
          <a:xfrm>
            <a:off x="8254797" y="4146804"/>
            <a:ext cx="2839618" cy="365760"/>
          </a:xfrm>
          <a:prstGeom prst="rect">
            <a:avLst/>
          </a:prstGeom>
          <a:noFill/>
          <a:ln/>
        </p:spPr>
        <p:txBody>
          <a:bodyPr wrap="square" lIns="0" tIns="0" rIns="0" bIns="0" rtlCol="0" anchor="t"/>
          <a:lstStyle/>
          <a:p>
            <a:pPr indent="0" marL="0">
              <a:lnSpc>
                <a:spcPct val="145000"/>
              </a:lnSpc>
              <a:buNone/>
            </a:pPr>
            <a:r>
              <a:rPr lang="en-US" sz="1050" b="1" dirty="0">
                <a:solidFill>
                  <a:srgbClr val="33414F"/>
                </a:solidFill>
                <a:latin typeface="Microsoft YaHei" pitchFamily="34" charset="0"/>
                <a:ea typeface="Microsoft YaHei" pitchFamily="34" charset="-122"/>
                <a:cs typeface="Microsoft YaHei" pitchFamily="34" charset="-120"/>
              </a:rPr>
              <a:t>留痕　</a:t>
            </a:r>
            <a:pPr indent="0" marL="0">
              <a:lnSpc>
                <a:spcPct val="145000"/>
              </a:lnSpc>
              <a:buNone/>
            </a:pPr>
            <a:r>
              <a:rPr lang="en-US" sz="1050" dirty="0">
                <a:solidFill>
                  <a:srgbClr val="5B6470"/>
                </a:solidFill>
                <a:latin typeface="Microsoft YaHei" pitchFamily="34" charset="0"/>
                <a:ea typeface="Microsoft YaHei" pitchFamily="34" charset="-122"/>
                <a:cs typeface="Microsoft YaHei" pitchFamily="34" charset="-120"/>
              </a:rPr>
              <a:t>成果上标注 AI 参与的部分。</a:t>
            </a:r>
            <a:endParaRPr lang="en-US" sz="1050" dirty="0"/>
          </a:p>
        </p:txBody>
      </p:sp>
      <p:sp>
        <p:nvSpPr>
          <p:cNvPr id="38" name="Shape 36"/>
          <p:cNvSpPr/>
          <p:nvPr/>
        </p:nvSpPr>
        <p:spPr>
          <a:xfrm>
            <a:off x="1295400" y="5888736"/>
            <a:ext cx="9981895" cy="0"/>
          </a:xfrm>
          <a:prstGeom prst="line">
            <a:avLst/>
          </a:prstGeom>
          <a:noFill/>
          <a:ln w="12700">
            <a:solidFill>
              <a:srgbClr val="E2E7F0"/>
            </a:solidFill>
            <a:prstDash val="solid"/>
          </a:ln>
        </p:spPr>
      </p:sp>
      <p:sp>
        <p:nvSpPr>
          <p:cNvPr id="39" name="Text 37"/>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B6470"/>
                </a:solidFill>
                <a:latin typeface="Microsoft YaHei" pitchFamily="34" charset="0"/>
                <a:ea typeface="Microsoft YaHei" pitchFamily="34" charset="-122"/>
                <a:cs typeface="Microsoft YaHei" pitchFamily="34" charset="-120"/>
              </a:rPr>
              <a:t>三种用法之外的环节，按上一页的刻度收紧。</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566182"/>
            <a:ext cx="95250" cy="95250"/>
          </a:xfrm>
          <a:prstGeom prst="ellipse">
            <a:avLst/>
          </a:prstGeom>
          <a:solidFill>
            <a:srgbClr val="C2CBD8"/>
          </a:solidFill>
          <a:ln w="25400">
            <a:solidFill>
              <a:srgbClr val="C2CBD8"/>
            </a:solidFill>
            <a:prstDash val="solid"/>
          </a:ln>
        </p:spPr>
      </p:sp>
      <p:sp>
        <p:nvSpPr>
          <p:cNvPr id="5" name="Shape 3"/>
          <p:cNvSpPr/>
          <p:nvPr/>
        </p:nvSpPr>
        <p:spPr>
          <a:xfrm>
            <a:off x="485775" y="2265589"/>
            <a:ext cx="95250" cy="95250"/>
          </a:xfrm>
          <a:prstGeom prst="ellipse">
            <a:avLst/>
          </a:prstGeom>
          <a:solidFill>
            <a:srgbClr val="C2CBD8"/>
          </a:solidFill>
          <a:ln w="25400">
            <a:solidFill>
              <a:srgbClr val="C2CBD8"/>
            </a:solidFill>
            <a:prstDash val="solid"/>
          </a:ln>
        </p:spPr>
      </p:sp>
      <p:sp>
        <p:nvSpPr>
          <p:cNvPr id="6" name="Shape 4"/>
          <p:cNvSpPr/>
          <p:nvPr/>
        </p:nvSpPr>
        <p:spPr>
          <a:xfrm>
            <a:off x="485775" y="2964996"/>
            <a:ext cx="95250" cy="95250"/>
          </a:xfrm>
          <a:prstGeom prst="ellipse">
            <a:avLst/>
          </a:prstGeom>
          <a:solidFill>
            <a:srgbClr val="C2CBD8"/>
          </a:solidFill>
          <a:ln w="25400">
            <a:solidFill>
              <a:srgbClr val="C2CBD8"/>
            </a:solidFill>
            <a:prstDash val="solid"/>
          </a:ln>
        </p:spPr>
      </p:sp>
      <p:sp>
        <p:nvSpPr>
          <p:cNvPr id="7" name="Shape 5"/>
          <p:cNvSpPr/>
          <p:nvPr/>
        </p:nvSpPr>
        <p:spPr>
          <a:xfrm>
            <a:off x="485775" y="3664404"/>
            <a:ext cx="95250" cy="95250"/>
          </a:xfrm>
          <a:prstGeom prst="ellipse">
            <a:avLst/>
          </a:prstGeom>
          <a:solidFill>
            <a:srgbClr val="C2CBD8"/>
          </a:solidFill>
          <a:ln w="25400">
            <a:solidFill>
              <a:srgbClr val="C2CBD8"/>
            </a:solidFill>
            <a:prstDash val="solid"/>
          </a:ln>
        </p:spPr>
      </p:sp>
      <p:sp>
        <p:nvSpPr>
          <p:cNvPr id="8" name="Shape 6"/>
          <p:cNvSpPr/>
          <p:nvPr/>
        </p:nvSpPr>
        <p:spPr>
          <a:xfrm>
            <a:off x="466725" y="4344761"/>
            <a:ext cx="133350" cy="133350"/>
          </a:xfrm>
          <a:prstGeom prst="ellipse">
            <a:avLst/>
          </a:prstGeom>
          <a:solidFill>
            <a:srgbClr val="B0472A"/>
          </a:solidFill>
          <a:ln w="25400">
            <a:solidFill>
              <a:srgbClr val="B0472A"/>
            </a:solidFill>
            <a:prstDash val="solid"/>
          </a:ln>
        </p:spPr>
      </p:sp>
      <p:sp>
        <p:nvSpPr>
          <p:cNvPr id="9" name="Shape 7"/>
          <p:cNvSpPr/>
          <p:nvPr/>
        </p:nvSpPr>
        <p:spPr>
          <a:xfrm>
            <a:off x="485775" y="5063218"/>
            <a:ext cx="95250" cy="95250"/>
          </a:xfrm>
          <a:prstGeom prst="ellipse">
            <a:avLst/>
          </a:prstGeom>
          <a:solidFill>
            <a:srgbClr val="FFFFFF"/>
          </a:solidFill>
          <a:ln w="25400">
            <a:solidFill>
              <a:srgbClr val="E2E7F0"/>
            </a:solidFill>
            <a:prstDash val="solid"/>
          </a:ln>
        </p:spPr>
      </p:sp>
      <p:sp>
        <p:nvSpPr>
          <p:cNvPr id="10" name="Shape 8"/>
          <p:cNvSpPr/>
          <p:nvPr/>
        </p:nvSpPr>
        <p:spPr>
          <a:xfrm>
            <a:off x="485775" y="5762625"/>
            <a:ext cx="95250" cy="95250"/>
          </a:xfrm>
          <a:prstGeom prst="ellipse">
            <a:avLst/>
          </a:prstGeom>
          <a:solidFill>
            <a:srgbClr val="FFFFFF"/>
          </a:solidFill>
          <a:ln w="25400">
            <a:solidFill>
              <a:srgbClr val="E2E7F0"/>
            </a:solidFill>
            <a:prstDash val="solid"/>
          </a:ln>
        </p:spPr>
      </p:sp>
      <p:sp>
        <p:nvSpPr>
          <p:cNvPr id="11" name="Text 9"/>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五</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2" name="Text 10"/>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24</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44</a:t>
            </a:r>
            <a:endParaRPr lang="en-US" sz="1000" dirty="0"/>
          </a:p>
        </p:txBody>
      </p:sp>
      <p:sp>
        <p:nvSpPr>
          <p:cNvPr id="13" name="Text 11"/>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4" name="Text 12"/>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第五段　·　生命健康主题的双学段案例</a:t>
            </a:r>
            <a:endParaRPr lang="en-US" sz="1000" dirty="0"/>
          </a:p>
        </p:txBody>
      </p:sp>
      <p:sp>
        <p:nvSpPr>
          <p:cNvPr id="15" name="Text 13"/>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生命健康主题的两项任务</a:t>
            </a:r>
            <a:endParaRPr lang="en-US" sz="3200" dirty="0"/>
          </a:p>
        </p:txBody>
      </p:sp>
      <p:sp>
        <p:nvSpPr>
          <p:cNvPr id="16" name="Shape 14"/>
          <p:cNvSpPr/>
          <p:nvPr/>
        </p:nvSpPr>
        <p:spPr>
          <a:xfrm>
            <a:off x="1295400" y="1860804"/>
            <a:ext cx="4881220" cy="2971800"/>
          </a:xfrm>
          <a:prstGeom prst="roundRect">
            <a:avLst>
              <a:gd name="adj" fmla="val 2769"/>
            </a:avLst>
          </a:prstGeom>
          <a:solidFill>
            <a:srgbClr val="FFFFFF"/>
          </a:solidFill>
          <a:ln w="12700">
            <a:solidFill>
              <a:srgbClr val="E2E7F0"/>
            </a:solidFill>
            <a:prstDash val="solid"/>
          </a:ln>
        </p:spPr>
      </p:sp>
      <p:sp>
        <p:nvSpPr>
          <p:cNvPr id="17" name="Shape 15"/>
          <p:cNvSpPr/>
          <p:nvPr/>
        </p:nvSpPr>
        <p:spPr>
          <a:xfrm>
            <a:off x="1359408" y="1860804"/>
            <a:ext cx="4753204" cy="38100"/>
          </a:xfrm>
          <a:prstGeom prst="rect">
            <a:avLst/>
          </a:prstGeom>
          <a:solidFill>
            <a:srgbClr val="33414F"/>
          </a:solidFill>
          <a:ln w="12700">
            <a:solidFill>
              <a:srgbClr val="33414F"/>
            </a:solidFill>
            <a:prstDash val="solid"/>
          </a:ln>
        </p:spPr>
      </p:sp>
      <p:sp>
        <p:nvSpPr>
          <p:cNvPr id="18" name="Text 16"/>
          <p:cNvSpPr/>
          <p:nvPr/>
        </p:nvSpPr>
        <p:spPr>
          <a:xfrm>
            <a:off x="1496568" y="2043684"/>
            <a:ext cx="4478884" cy="329184"/>
          </a:xfrm>
          <a:prstGeom prst="rect">
            <a:avLst/>
          </a:prstGeom>
          <a:noFill/>
          <a:ln/>
        </p:spPr>
        <p:txBody>
          <a:bodyPr wrap="square" lIns="0" tIns="0" rIns="0" bIns="0" rtlCol="0" anchor="ctr"/>
          <a:lstStyle/>
          <a:p>
            <a:pPr indent="0" marL="0">
              <a:buNone/>
            </a:pPr>
            <a:r>
              <a:rPr lang="en-US" sz="1700" b="1" dirty="0">
                <a:solidFill>
                  <a:srgbClr val="0F1B2D"/>
                </a:solidFill>
                <a:latin typeface="Microsoft YaHei" pitchFamily="34" charset="0"/>
                <a:ea typeface="Microsoft YaHei" pitchFamily="34" charset="-122"/>
                <a:cs typeface="Microsoft YaHei" pitchFamily="34" charset="-120"/>
              </a:rPr>
              <a:t>科学护眼</a:t>
            </a:r>
            <a:endParaRPr lang="en-US" sz="1700" dirty="0"/>
          </a:p>
        </p:txBody>
      </p:sp>
      <p:sp>
        <p:nvSpPr>
          <p:cNvPr id="19" name="Text 17"/>
          <p:cNvSpPr/>
          <p:nvPr/>
        </p:nvSpPr>
        <p:spPr>
          <a:xfrm>
            <a:off x="1496568" y="2409444"/>
            <a:ext cx="4478884" cy="201168"/>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4—6 年级　·　建议 4—6 课时</a:t>
            </a:r>
            <a:endParaRPr lang="en-US" sz="950" dirty="0"/>
          </a:p>
        </p:txBody>
      </p:sp>
      <p:sp>
        <p:nvSpPr>
          <p:cNvPr id="20" name="Text 18"/>
          <p:cNvSpPr/>
          <p:nvPr/>
        </p:nvSpPr>
        <p:spPr>
          <a:xfrm>
            <a:off x="1496568" y="2683764"/>
            <a:ext cx="4478884" cy="420624"/>
          </a:xfrm>
          <a:prstGeom prst="rect">
            <a:avLst/>
          </a:prstGeom>
          <a:noFill/>
          <a:ln/>
        </p:spPr>
        <p:txBody>
          <a:bodyPr wrap="square" lIns="0" tIns="0" rIns="0" bIns="0" rtlCol="0" anchor="t"/>
          <a:lstStyle/>
          <a:p>
            <a:pPr indent="0" marL="0">
              <a:lnSpc>
                <a:spcPct val="140000"/>
              </a:lnSpc>
              <a:buNone/>
            </a:pPr>
            <a:r>
              <a:rPr lang="en-US" sz="1050" dirty="0">
                <a:solidFill>
                  <a:srgbClr val="1A2029"/>
                </a:solidFill>
                <a:latin typeface="Microsoft YaHei" pitchFamily="34" charset="0"/>
                <a:ea typeface="Microsoft YaHei" pitchFamily="34" charset="-122"/>
                <a:cs typeface="Microsoft YaHei" pitchFamily="34" charset="-120"/>
              </a:rPr>
              <a:t>以青少年近视防控为背景，围绕视力健康问题开展探究实践。</a:t>
            </a:r>
            <a:endParaRPr lang="en-US" sz="1050" dirty="0"/>
          </a:p>
        </p:txBody>
      </p:sp>
      <p:sp>
        <p:nvSpPr>
          <p:cNvPr id="21" name="Text 19"/>
          <p:cNvSpPr/>
          <p:nvPr/>
        </p:nvSpPr>
        <p:spPr>
          <a:xfrm>
            <a:off x="1496568" y="3195828"/>
            <a:ext cx="4478884" cy="1453896"/>
          </a:xfrm>
          <a:prstGeom prst="rect">
            <a:avLst/>
          </a:prstGeom>
          <a:noFill/>
          <a:ln/>
        </p:spPr>
        <p:txBody>
          <a:bodyPr wrap="square" lIns="0" tIns="0" rIns="0" bIns="0" rtlCol="0" anchor="t"/>
          <a:lstStyle/>
          <a:p>
            <a:pPr indent="0" marL="0">
              <a:lnSpc>
                <a:spcPct val="140000"/>
              </a:lnSpc>
              <a:spcAft>
                <a:spcPts val="400"/>
              </a:spcAft>
              <a:buNone/>
            </a:pPr>
            <a:r>
              <a:rPr lang="en-US" sz="950" dirty="0">
                <a:solidFill>
                  <a:srgbClr val="5B6470"/>
                </a:solidFill>
                <a:latin typeface="Microsoft YaHei" pitchFamily="34" charset="0"/>
                <a:ea typeface="Microsoft YaHei" pitchFamily="34" charset="-122"/>
                <a:cs typeface="Microsoft YaHei" pitchFamily="34" charset="-120"/>
              </a:rPr>
              <a:t>1. 提出问题：观察身边同学用眼情况，结合班级视力数据</a:t>
            </a:r>
            <a:endParaRPr lang="en-US" sz="950" dirty="0"/>
          </a:p>
          <a:p>
            <a:pPr indent="0" marL="0">
              <a:lnSpc>
                <a:spcPct val="140000"/>
              </a:lnSpc>
              <a:spcAft>
                <a:spcPts val="400"/>
              </a:spcAft>
              <a:buNone/>
            </a:pPr>
            <a:r>
              <a:rPr lang="en-US" sz="950" dirty="0">
                <a:solidFill>
                  <a:srgbClr val="5B6470"/>
                </a:solidFill>
                <a:latin typeface="Microsoft YaHei" pitchFamily="34" charset="0"/>
                <a:ea typeface="Microsoft YaHei" pitchFamily="34" charset="-122"/>
                <a:cs typeface="Microsoft YaHei" pitchFamily="34" charset="-120"/>
              </a:rPr>
              <a:t>2. 实验探究：用卡纸、透镜等简易材料模拟，解释近视成因</a:t>
            </a:r>
            <a:endParaRPr lang="en-US" sz="950" dirty="0"/>
          </a:p>
          <a:p>
            <a:pPr indent="0" marL="0">
              <a:lnSpc>
                <a:spcPct val="140000"/>
              </a:lnSpc>
              <a:spcAft>
                <a:spcPts val="400"/>
              </a:spcAft>
              <a:buNone/>
            </a:pPr>
            <a:r>
              <a:rPr lang="en-US" sz="950" dirty="0">
                <a:solidFill>
                  <a:srgbClr val="5B6470"/>
                </a:solidFill>
                <a:latin typeface="Microsoft YaHei" pitchFamily="34" charset="0"/>
                <a:ea typeface="Microsoft YaHei" pitchFamily="34" charset="-122"/>
                <a:cs typeface="Microsoft YaHei" pitchFamily="34" charset="-120"/>
              </a:rPr>
              <a:t>3. 设计制作：用废旧材料做坐姿矫正支架、护眼提醒卡，测试反馈优化</a:t>
            </a:r>
            <a:endParaRPr lang="en-US" sz="950" dirty="0"/>
          </a:p>
          <a:p>
            <a:pPr indent="0" marL="0">
              <a:lnSpc>
                <a:spcPct val="140000"/>
              </a:lnSpc>
              <a:spcAft>
                <a:spcPts val="400"/>
              </a:spcAft>
              <a:buNone/>
            </a:pPr>
            <a:r>
              <a:rPr lang="en-US" sz="950" dirty="0">
                <a:solidFill>
                  <a:srgbClr val="5B6470"/>
                </a:solidFill>
                <a:latin typeface="Microsoft YaHei" pitchFamily="34" charset="0"/>
                <a:ea typeface="Microsoft YaHei" pitchFamily="34" charset="-122"/>
                <a:cs typeface="Microsoft YaHei" pitchFamily="34" charset="-120"/>
              </a:rPr>
              <a:t>4. 交流分享：展示并讲解护眼工具、科普护眼方法</a:t>
            </a:r>
            <a:endParaRPr lang="en-US" sz="950" dirty="0"/>
          </a:p>
        </p:txBody>
      </p:sp>
      <p:sp>
        <p:nvSpPr>
          <p:cNvPr id="22" name="Shape 20"/>
          <p:cNvSpPr/>
          <p:nvPr/>
        </p:nvSpPr>
        <p:spPr>
          <a:xfrm>
            <a:off x="6396076" y="1860804"/>
            <a:ext cx="4881220" cy="2971800"/>
          </a:xfrm>
          <a:prstGeom prst="roundRect">
            <a:avLst>
              <a:gd name="adj" fmla="val 2769"/>
            </a:avLst>
          </a:prstGeom>
          <a:solidFill>
            <a:srgbClr val="FFFFFF"/>
          </a:solidFill>
          <a:ln w="12700">
            <a:solidFill>
              <a:srgbClr val="E2E7F0"/>
            </a:solidFill>
            <a:prstDash val="solid"/>
          </a:ln>
        </p:spPr>
      </p:sp>
      <p:sp>
        <p:nvSpPr>
          <p:cNvPr id="23" name="Shape 21"/>
          <p:cNvSpPr/>
          <p:nvPr/>
        </p:nvSpPr>
        <p:spPr>
          <a:xfrm>
            <a:off x="6460084" y="1860804"/>
            <a:ext cx="4753204" cy="38100"/>
          </a:xfrm>
          <a:prstGeom prst="rect">
            <a:avLst/>
          </a:prstGeom>
          <a:solidFill>
            <a:srgbClr val="C9714C"/>
          </a:solidFill>
          <a:ln w="12700">
            <a:solidFill>
              <a:srgbClr val="C9714C"/>
            </a:solidFill>
            <a:prstDash val="solid"/>
          </a:ln>
        </p:spPr>
      </p:sp>
      <p:sp>
        <p:nvSpPr>
          <p:cNvPr id="24" name="Text 22"/>
          <p:cNvSpPr/>
          <p:nvPr/>
        </p:nvSpPr>
        <p:spPr>
          <a:xfrm>
            <a:off x="6597244" y="2043684"/>
            <a:ext cx="4478884" cy="329184"/>
          </a:xfrm>
          <a:prstGeom prst="rect">
            <a:avLst/>
          </a:prstGeom>
          <a:noFill/>
          <a:ln/>
        </p:spPr>
        <p:txBody>
          <a:bodyPr wrap="square" lIns="0" tIns="0" rIns="0" bIns="0" rtlCol="0" anchor="ctr"/>
          <a:lstStyle/>
          <a:p>
            <a:pPr indent="0" marL="0">
              <a:buNone/>
            </a:pPr>
            <a:r>
              <a:rPr lang="en-US" sz="1700" b="1" dirty="0">
                <a:solidFill>
                  <a:srgbClr val="0F1B2D"/>
                </a:solidFill>
                <a:latin typeface="Microsoft YaHei" pitchFamily="34" charset="0"/>
                <a:ea typeface="Microsoft YaHei" pitchFamily="34" charset="-122"/>
                <a:cs typeface="Microsoft YaHei" pitchFamily="34" charset="-120"/>
              </a:rPr>
              <a:t>健康饮食</a:t>
            </a:r>
            <a:endParaRPr lang="en-US" sz="1700" dirty="0"/>
          </a:p>
        </p:txBody>
      </p:sp>
      <p:sp>
        <p:nvSpPr>
          <p:cNvPr id="25" name="Text 23"/>
          <p:cNvSpPr/>
          <p:nvPr/>
        </p:nvSpPr>
        <p:spPr>
          <a:xfrm>
            <a:off x="6597244" y="2409444"/>
            <a:ext cx="4478884" cy="201168"/>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7—9 年级　·　建议 4—5 课时</a:t>
            </a:r>
            <a:endParaRPr lang="en-US" sz="950" dirty="0"/>
          </a:p>
        </p:txBody>
      </p:sp>
      <p:sp>
        <p:nvSpPr>
          <p:cNvPr id="26" name="Text 24"/>
          <p:cNvSpPr/>
          <p:nvPr/>
        </p:nvSpPr>
        <p:spPr>
          <a:xfrm>
            <a:off x="6597244" y="2683764"/>
            <a:ext cx="4478884" cy="420624"/>
          </a:xfrm>
          <a:prstGeom prst="rect">
            <a:avLst/>
          </a:prstGeom>
          <a:noFill/>
          <a:ln/>
        </p:spPr>
        <p:txBody>
          <a:bodyPr wrap="square" lIns="0" tIns="0" rIns="0" bIns="0" rtlCol="0" anchor="t"/>
          <a:lstStyle/>
          <a:p>
            <a:pPr indent="0" marL="0">
              <a:lnSpc>
                <a:spcPct val="140000"/>
              </a:lnSpc>
              <a:buNone/>
            </a:pPr>
            <a:r>
              <a:rPr lang="en-US" sz="1050" dirty="0">
                <a:solidFill>
                  <a:srgbClr val="1A2029"/>
                </a:solidFill>
                <a:latin typeface="Microsoft YaHei" pitchFamily="34" charset="0"/>
                <a:ea typeface="Microsoft YaHei" pitchFamily="34" charset="-122"/>
                <a:cs typeface="Microsoft YaHei" pitchFamily="34" charset="-120"/>
              </a:rPr>
              <a:t>以青少年饮食健康为背景，围绕饮食结构与饮食习惯等问题开展探究实践。</a:t>
            </a:r>
            <a:endParaRPr lang="en-US" sz="1050" dirty="0"/>
          </a:p>
        </p:txBody>
      </p:sp>
      <p:sp>
        <p:nvSpPr>
          <p:cNvPr id="27" name="Text 25"/>
          <p:cNvSpPr/>
          <p:nvPr/>
        </p:nvSpPr>
        <p:spPr>
          <a:xfrm>
            <a:off x="6597244" y="3195828"/>
            <a:ext cx="4478884" cy="1453896"/>
          </a:xfrm>
          <a:prstGeom prst="rect">
            <a:avLst/>
          </a:prstGeom>
          <a:noFill/>
          <a:ln/>
        </p:spPr>
        <p:txBody>
          <a:bodyPr wrap="square" lIns="0" tIns="0" rIns="0" bIns="0" rtlCol="0" anchor="t"/>
          <a:lstStyle/>
          <a:p>
            <a:pPr indent="0" marL="0">
              <a:lnSpc>
                <a:spcPct val="140000"/>
              </a:lnSpc>
              <a:spcAft>
                <a:spcPts val="400"/>
              </a:spcAft>
              <a:buNone/>
            </a:pPr>
            <a:r>
              <a:rPr lang="en-US" sz="950" dirty="0">
                <a:solidFill>
                  <a:srgbClr val="5B6470"/>
                </a:solidFill>
                <a:latin typeface="Microsoft YaHei" pitchFamily="34" charset="0"/>
                <a:ea typeface="Microsoft YaHei" pitchFamily="34" charset="-122"/>
                <a:cs typeface="Microsoft YaHei" pitchFamily="34" charset="-120"/>
              </a:rPr>
              <a:t>1. 提出问题：查阅体质健康监测数据，调查对营养成分的认识偏差</a:t>
            </a:r>
            <a:endParaRPr lang="en-US" sz="950" dirty="0"/>
          </a:p>
          <a:p>
            <a:pPr indent="0" marL="0">
              <a:lnSpc>
                <a:spcPct val="140000"/>
              </a:lnSpc>
              <a:spcAft>
                <a:spcPts val="400"/>
              </a:spcAft>
              <a:buNone/>
            </a:pPr>
            <a:r>
              <a:rPr lang="en-US" sz="950" dirty="0">
                <a:solidFill>
                  <a:srgbClr val="5B6470"/>
                </a:solidFill>
                <a:latin typeface="Microsoft YaHei" pitchFamily="34" charset="0"/>
                <a:ea typeface="Microsoft YaHei" pitchFamily="34" charset="-122"/>
                <a:cs typeface="Microsoft YaHei" pitchFamily="34" charset="-120"/>
              </a:rPr>
              <a:t>2. 实验探究：设计并实施对照实验，探究不同加工、储存方式对营养成分的影响</a:t>
            </a:r>
            <a:endParaRPr lang="en-US" sz="950" dirty="0"/>
          </a:p>
          <a:p>
            <a:pPr indent="0" marL="0">
              <a:lnSpc>
                <a:spcPct val="140000"/>
              </a:lnSpc>
              <a:spcAft>
                <a:spcPts val="400"/>
              </a:spcAft>
              <a:buNone/>
            </a:pPr>
            <a:r>
              <a:rPr lang="en-US" sz="950" dirty="0">
                <a:solidFill>
                  <a:srgbClr val="5B6470"/>
                </a:solidFill>
                <a:latin typeface="Microsoft YaHei" pitchFamily="34" charset="0"/>
                <a:ea typeface="Microsoft YaHei" pitchFamily="34" charset="-122"/>
                <a:cs typeface="Microsoft YaHei" pitchFamily="34" charset="-120"/>
              </a:rPr>
              <a:t>3. 设计制作：拟定可行的健康饮食方案</a:t>
            </a:r>
            <a:endParaRPr lang="en-US" sz="950" dirty="0"/>
          </a:p>
          <a:p>
            <a:pPr indent="0" marL="0">
              <a:lnSpc>
                <a:spcPct val="140000"/>
              </a:lnSpc>
              <a:spcAft>
                <a:spcPts val="400"/>
              </a:spcAft>
              <a:buNone/>
            </a:pPr>
            <a:r>
              <a:rPr lang="en-US" sz="950" dirty="0">
                <a:solidFill>
                  <a:srgbClr val="5B6470"/>
                </a:solidFill>
                <a:latin typeface="Microsoft YaHei" pitchFamily="34" charset="0"/>
                <a:ea typeface="Microsoft YaHei" pitchFamily="34" charset="-122"/>
                <a:cs typeface="Microsoft YaHei" pitchFamily="34" charset="-120"/>
              </a:rPr>
              <a:t>4. 交流分享：面向公众开展健康饮食科普宣传，提出健康饮食倡议</a:t>
            </a:r>
            <a:endParaRPr lang="en-US" sz="950" dirty="0"/>
          </a:p>
        </p:txBody>
      </p:sp>
      <p:sp>
        <p:nvSpPr>
          <p:cNvPr id="28" name="Shape 26"/>
          <p:cNvSpPr/>
          <p:nvPr/>
        </p:nvSpPr>
        <p:spPr>
          <a:xfrm>
            <a:off x="1295400" y="5888736"/>
            <a:ext cx="9981895" cy="0"/>
          </a:xfrm>
          <a:prstGeom prst="line">
            <a:avLst/>
          </a:prstGeom>
          <a:noFill/>
          <a:ln w="12700">
            <a:solidFill>
              <a:srgbClr val="E2E7F0"/>
            </a:solidFill>
            <a:prstDash val="solid"/>
          </a:ln>
        </p:spPr>
      </p:sp>
      <p:sp>
        <p:nvSpPr>
          <p:cNvPr id="29" name="Text 27"/>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B6470"/>
                </a:solidFill>
                <a:latin typeface="Microsoft YaHei" pitchFamily="34" charset="0"/>
                <a:ea typeface="Microsoft YaHei" pitchFamily="34" charset="-122"/>
                <a:cs typeface="Microsoft YaHei" pitchFamily="34" charset="-120"/>
              </a:rPr>
              <a:t>两个任务的原文均出自指南附件。附件注明「仅为参考，各地各校可结合实际实施不同的科学探究实践任务」。</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566182"/>
            <a:ext cx="95250" cy="95250"/>
          </a:xfrm>
          <a:prstGeom prst="ellipse">
            <a:avLst/>
          </a:prstGeom>
          <a:solidFill>
            <a:srgbClr val="C2CBD8"/>
          </a:solidFill>
          <a:ln w="25400">
            <a:solidFill>
              <a:srgbClr val="C2CBD8"/>
            </a:solidFill>
            <a:prstDash val="solid"/>
          </a:ln>
        </p:spPr>
      </p:sp>
      <p:sp>
        <p:nvSpPr>
          <p:cNvPr id="5" name="Shape 3"/>
          <p:cNvSpPr/>
          <p:nvPr/>
        </p:nvSpPr>
        <p:spPr>
          <a:xfrm>
            <a:off x="485775" y="2265589"/>
            <a:ext cx="95250" cy="95250"/>
          </a:xfrm>
          <a:prstGeom prst="ellipse">
            <a:avLst/>
          </a:prstGeom>
          <a:solidFill>
            <a:srgbClr val="C2CBD8"/>
          </a:solidFill>
          <a:ln w="25400">
            <a:solidFill>
              <a:srgbClr val="C2CBD8"/>
            </a:solidFill>
            <a:prstDash val="solid"/>
          </a:ln>
        </p:spPr>
      </p:sp>
      <p:sp>
        <p:nvSpPr>
          <p:cNvPr id="6" name="Shape 4"/>
          <p:cNvSpPr/>
          <p:nvPr/>
        </p:nvSpPr>
        <p:spPr>
          <a:xfrm>
            <a:off x="485775" y="2964996"/>
            <a:ext cx="95250" cy="95250"/>
          </a:xfrm>
          <a:prstGeom prst="ellipse">
            <a:avLst/>
          </a:prstGeom>
          <a:solidFill>
            <a:srgbClr val="C2CBD8"/>
          </a:solidFill>
          <a:ln w="25400">
            <a:solidFill>
              <a:srgbClr val="C2CBD8"/>
            </a:solidFill>
            <a:prstDash val="solid"/>
          </a:ln>
        </p:spPr>
      </p:sp>
      <p:sp>
        <p:nvSpPr>
          <p:cNvPr id="7" name="Shape 5"/>
          <p:cNvSpPr/>
          <p:nvPr/>
        </p:nvSpPr>
        <p:spPr>
          <a:xfrm>
            <a:off x="485775" y="3664404"/>
            <a:ext cx="95250" cy="95250"/>
          </a:xfrm>
          <a:prstGeom prst="ellipse">
            <a:avLst/>
          </a:prstGeom>
          <a:solidFill>
            <a:srgbClr val="C2CBD8"/>
          </a:solidFill>
          <a:ln w="25400">
            <a:solidFill>
              <a:srgbClr val="C2CBD8"/>
            </a:solidFill>
            <a:prstDash val="solid"/>
          </a:ln>
        </p:spPr>
      </p:sp>
      <p:sp>
        <p:nvSpPr>
          <p:cNvPr id="8" name="Shape 6"/>
          <p:cNvSpPr/>
          <p:nvPr/>
        </p:nvSpPr>
        <p:spPr>
          <a:xfrm>
            <a:off x="466725" y="4344761"/>
            <a:ext cx="133350" cy="133350"/>
          </a:xfrm>
          <a:prstGeom prst="ellipse">
            <a:avLst/>
          </a:prstGeom>
          <a:solidFill>
            <a:srgbClr val="B0472A"/>
          </a:solidFill>
          <a:ln w="25400">
            <a:solidFill>
              <a:srgbClr val="B0472A"/>
            </a:solidFill>
            <a:prstDash val="solid"/>
          </a:ln>
        </p:spPr>
      </p:sp>
      <p:sp>
        <p:nvSpPr>
          <p:cNvPr id="9" name="Shape 7"/>
          <p:cNvSpPr/>
          <p:nvPr/>
        </p:nvSpPr>
        <p:spPr>
          <a:xfrm>
            <a:off x="485775" y="5063218"/>
            <a:ext cx="95250" cy="95250"/>
          </a:xfrm>
          <a:prstGeom prst="ellipse">
            <a:avLst/>
          </a:prstGeom>
          <a:solidFill>
            <a:srgbClr val="FFFFFF"/>
          </a:solidFill>
          <a:ln w="25400">
            <a:solidFill>
              <a:srgbClr val="E2E7F0"/>
            </a:solidFill>
            <a:prstDash val="solid"/>
          </a:ln>
        </p:spPr>
      </p:sp>
      <p:sp>
        <p:nvSpPr>
          <p:cNvPr id="10" name="Shape 8"/>
          <p:cNvSpPr/>
          <p:nvPr/>
        </p:nvSpPr>
        <p:spPr>
          <a:xfrm>
            <a:off x="485775" y="5762625"/>
            <a:ext cx="95250" cy="95250"/>
          </a:xfrm>
          <a:prstGeom prst="ellipse">
            <a:avLst/>
          </a:prstGeom>
          <a:solidFill>
            <a:srgbClr val="FFFFFF"/>
          </a:solidFill>
          <a:ln w="25400">
            <a:solidFill>
              <a:srgbClr val="E2E7F0"/>
            </a:solidFill>
            <a:prstDash val="solid"/>
          </a:ln>
        </p:spPr>
      </p:sp>
      <p:sp>
        <p:nvSpPr>
          <p:cNvPr id="11" name="Text 9"/>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五</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2" name="Text 10"/>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25</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44</a:t>
            </a:r>
            <a:endParaRPr lang="en-US" sz="1000" dirty="0"/>
          </a:p>
        </p:txBody>
      </p:sp>
      <p:sp>
        <p:nvSpPr>
          <p:cNvPr id="13" name="Text 11"/>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4" name="Text 12"/>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第五段　·　生命健康主题的双学段案例</a:t>
            </a:r>
            <a:endParaRPr lang="en-US" sz="1000" dirty="0"/>
          </a:p>
        </p:txBody>
      </p:sp>
      <p:sp>
        <p:nvSpPr>
          <p:cNvPr id="15" name="Text 13"/>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提出问题和假设</a:t>
            </a:r>
            <a:endParaRPr lang="en-US" sz="3200" dirty="0"/>
          </a:p>
        </p:txBody>
      </p:sp>
      <p:sp>
        <p:nvSpPr>
          <p:cNvPr id="16" name="Shape 14"/>
          <p:cNvSpPr/>
          <p:nvPr/>
        </p:nvSpPr>
        <p:spPr>
          <a:xfrm>
            <a:off x="4495800" y="1220724"/>
            <a:ext cx="822960" cy="329184"/>
          </a:xfrm>
          <a:prstGeom prst="roundRect">
            <a:avLst>
              <a:gd name="adj" fmla="val 50000"/>
            </a:avLst>
          </a:prstGeom>
          <a:solidFill>
            <a:srgbClr val="99341A"/>
          </a:solidFill>
          <a:ln w="12700">
            <a:solidFill>
              <a:srgbClr val="99341A"/>
            </a:solidFill>
            <a:prstDash val="solid"/>
          </a:ln>
        </p:spPr>
      </p:sp>
      <p:sp>
        <p:nvSpPr>
          <p:cNvPr id="17" name="Text 15"/>
          <p:cNvSpPr/>
          <p:nvPr/>
        </p:nvSpPr>
        <p:spPr>
          <a:xfrm>
            <a:off x="4495800" y="1220724"/>
            <a:ext cx="822960"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Microsoft YaHei" pitchFamily="34" charset="0"/>
                <a:ea typeface="Microsoft YaHei" pitchFamily="34" charset="-122"/>
                <a:cs typeface="Microsoft YaHei" pitchFamily="34" charset="-120"/>
              </a:rPr>
              <a:t>收</a:t>
            </a:r>
            <a:endParaRPr lang="en-US" sz="1100" dirty="0"/>
          </a:p>
        </p:txBody>
      </p:sp>
      <p:sp>
        <p:nvSpPr>
          <p:cNvPr id="18" name="Shape 16"/>
          <p:cNvSpPr/>
          <p:nvPr/>
        </p:nvSpPr>
        <p:spPr>
          <a:xfrm>
            <a:off x="1295400" y="1920240"/>
            <a:ext cx="4881220" cy="932688"/>
          </a:xfrm>
          <a:prstGeom prst="roundRect">
            <a:avLst>
              <a:gd name="adj" fmla="val 7843"/>
            </a:avLst>
          </a:prstGeom>
          <a:solidFill>
            <a:srgbClr val="FFFFFF"/>
          </a:solidFill>
          <a:ln w="12700">
            <a:solidFill>
              <a:srgbClr val="E2E7F0"/>
            </a:solidFill>
            <a:prstDash val="solid"/>
          </a:ln>
        </p:spPr>
      </p:sp>
      <p:sp>
        <p:nvSpPr>
          <p:cNvPr id="19" name="Shape 17"/>
          <p:cNvSpPr/>
          <p:nvPr/>
        </p:nvSpPr>
        <p:spPr>
          <a:xfrm>
            <a:off x="1295400" y="1975104"/>
            <a:ext cx="38100" cy="822960"/>
          </a:xfrm>
          <a:prstGeom prst="rect">
            <a:avLst/>
          </a:prstGeom>
          <a:solidFill>
            <a:srgbClr val="33414F"/>
          </a:solidFill>
          <a:ln w="12700">
            <a:solidFill>
              <a:srgbClr val="33414F"/>
            </a:solidFill>
            <a:prstDash val="solid"/>
          </a:ln>
        </p:spPr>
      </p:sp>
      <p:sp>
        <p:nvSpPr>
          <p:cNvPr id="20" name="Text 18"/>
          <p:cNvSpPr/>
          <p:nvPr/>
        </p:nvSpPr>
        <p:spPr>
          <a:xfrm>
            <a:off x="1514856" y="2048256"/>
            <a:ext cx="4460596" cy="182880"/>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科学护眼</a:t>
            </a:r>
            <a:endParaRPr lang="en-US" sz="950" dirty="0"/>
          </a:p>
        </p:txBody>
      </p:sp>
      <p:sp>
        <p:nvSpPr>
          <p:cNvPr id="21" name="Text 19"/>
          <p:cNvSpPr/>
          <p:nvPr/>
        </p:nvSpPr>
        <p:spPr>
          <a:xfrm>
            <a:off x="1514856" y="2286000"/>
            <a:ext cx="4460596" cy="438912"/>
          </a:xfrm>
          <a:prstGeom prst="rect">
            <a:avLst/>
          </a:prstGeom>
          <a:noFill/>
          <a:ln/>
        </p:spPr>
        <p:txBody>
          <a:bodyPr wrap="square" lIns="0" tIns="0" rIns="0" bIns="0" rtlCol="0" anchor="t"/>
          <a:lstStyle/>
          <a:p>
            <a:pPr indent="0" marL="0">
              <a:lnSpc>
                <a:spcPct val="140000"/>
              </a:lnSpc>
              <a:buNone/>
            </a:pPr>
            <a:r>
              <a:rPr lang="en-US" sz="1300" dirty="0">
                <a:solidFill>
                  <a:srgbClr val="1A2029"/>
                </a:solidFill>
                <a:latin typeface="Microsoft YaHei" pitchFamily="34" charset="0"/>
                <a:ea typeface="Microsoft YaHei" pitchFamily="34" charset="-122"/>
                <a:cs typeface="Microsoft YaHei" pitchFamily="34" charset="-120"/>
              </a:rPr>
              <a:t>以班级视力数据为起点。学生观察同学的用眼情况，自行提出待探究的问题。</a:t>
            </a:r>
            <a:endParaRPr lang="en-US" sz="1300" dirty="0"/>
          </a:p>
        </p:txBody>
      </p:sp>
      <p:sp>
        <p:nvSpPr>
          <p:cNvPr id="22" name="Shape 20"/>
          <p:cNvSpPr/>
          <p:nvPr/>
        </p:nvSpPr>
        <p:spPr>
          <a:xfrm>
            <a:off x="6396076" y="1920240"/>
            <a:ext cx="4881220" cy="932688"/>
          </a:xfrm>
          <a:prstGeom prst="roundRect">
            <a:avLst>
              <a:gd name="adj" fmla="val 7843"/>
            </a:avLst>
          </a:prstGeom>
          <a:solidFill>
            <a:srgbClr val="FFFFFF"/>
          </a:solidFill>
          <a:ln w="12700">
            <a:solidFill>
              <a:srgbClr val="E2E7F0"/>
            </a:solidFill>
            <a:prstDash val="solid"/>
          </a:ln>
        </p:spPr>
      </p:sp>
      <p:sp>
        <p:nvSpPr>
          <p:cNvPr id="23" name="Shape 21"/>
          <p:cNvSpPr/>
          <p:nvPr/>
        </p:nvSpPr>
        <p:spPr>
          <a:xfrm>
            <a:off x="6396076" y="1975104"/>
            <a:ext cx="38100" cy="822960"/>
          </a:xfrm>
          <a:prstGeom prst="rect">
            <a:avLst/>
          </a:prstGeom>
          <a:solidFill>
            <a:srgbClr val="C9714C"/>
          </a:solidFill>
          <a:ln w="12700">
            <a:solidFill>
              <a:srgbClr val="C9714C"/>
            </a:solidFill>
            <a:prstDash val="solid"/>
          </a:ln>
        </p:spPr>
      </p:sp>
      <p:sp>
        <p:nvSpPr>
          <p:cNvPr id="24" name="Text 22"/>
          <p:cNvSpPr/>
          <p:nvPr/>
        </p:nvSpPr>
        <p:spPr>
          <a:xfrm>
            <a:off x="6615532" y="2048256"/>
            <a:ext cx="4460596" cy="182880"/>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健康饮食</a:t>
            </a:r>
            <a:endParaRPr lang="en-US" sz="950" dirty="0"/>
          </a:p>
        </p:txBody>
      </p:sp>
      <p:sp>
        <p:nvSpPr>
          <p:cNvPr id="25" name="Text 23"/>
          <p:cNvSpPr/>
          <p:nvPr/>
        </p:nvSpPr>
        <p:spPr>
          <a:xfrm>
            <a:off x="6615532" y="2286000"/>
            <a:ext cx="4460596" cy="438912"/>
          </a:xfrm>
          <a:prstGeom prst="rect">
            <a:avLst/>
          </a:prstGeom>
          <a:noFill/>
          <a:ln/>
        </p:spPr>
        <p:txBody>
          <a:bodyPr wrap="square" lIns="0" tIns="0" rIns="0" bIns="0" rtlCol="0" anchor="t"/>
          <a:lstStyle/>
          <a:p>
            <a:pPr indent="0" marL="0">
              <a:lnSpc>
                <a:spcPct val="140000"/>
              </a:lnSpc>
              <a:buNone/>
            </a:pPr>
            <a:r>
              <a:rPr lang="en-US" sz="1300" dirty="0">
                <a:solidFill>
                  <a:srgbClr val="1A2029"/>
                </a:solidFill>
                <a:latin typeface="Microsoft YaHei" pitchFamily="34" charset="0"/>
                <a:ea typeface="Microsoft YaHei" pitchFamily="34" charset="-122"/>
                <a:cs typeface="Microsoft YaHei" pitchFamily="34" charset="-120"/>
              </a:rPr>
              <a:t>以体质健康监测数据为起点。学生调查同学对食物营养成分的认识偏差，自行提出问题。</a:t>
            </a:r>
            <a:endParaRPr lang="en-US" sz="1300" dirty="0"/>
          </a:p>
        </p:txBody>
      </p:sp>
      <p:sp>
        <p:nvSpPr>
          <p:cNvPr id="26" name="Text 24"/>
          <p:cNvSpPr/>
          <p:nvPr/>
        </p:nvSpPr>
        <p:spPr>
          <a:xfrm>
            <a:off x="1295400" y="3163824"/>
            <a:ext cx="9981895" cy="640080"/>
          </a:xfrm>
          <a:prstGeom prst="rect">
            <a:avLst/>
          </a:prstGeom>
          <a:noFill/>
          <a:ln/>
        </p:spPr>
        <p:txBody>
          <a:bodyPr wrap="square" lIns="0" tIns="0" rIns="0" bIns="0" rtlCol="0" anchor="t"/>
          <a:lstStyle/>
          <a:p>
            <a:pPr indent="0" marL="0">
              <a:lnSpc>
                <a:spcPct val="140000"/>
              </a:lnSpc>
              <a:buNone/>
            </a:pPr>
            <a:r>
              <a:rPr lang="en-US" sz="1800" b="1" dirty="0">
                <a:solidFill>
                  <a:srgbClr val="0F1B2D"/>
                </a:solidFill>
                <a:latin typeface="Microsoft YaHei" pitchFamily="34" charset="0"/>
                <a:ea typeface="Microsoft YaHei" pitchFamily="34" charset="-122"/>
                <a:cs typeface="Microsoft YaHei" pitchFamily="34" charset="-120"/>
              </a:rPr>
              <a:t>学生先自行提出问题。提出之后可用 AI 检索同类问题的既有表述，检索结果作为对照，不作为替代。</a:t>
            </a:r>
            <a:endParaRPr lang="en-US" sz="1800" dirty="0"/>
          </a:p>
        </p:txBody>
      </p:sp>
      <p:sp>
        <p:nvSpPr>
          <p:cNvPr id="27" name="Shape 25"/>
          <p:cNvSpPr/>
          <p:nvPr/>
        </p:nvSpPr>
        <p:spPr>
          <a:xfrm>
            <a:off x="1295400" y="5376672"/>
            <a:ext cx="9981895" cy="0"/>
          </a:xfrm>
          <a:prstGeom prst="line">
            <a:avLst/>
          </a:prstGeom>
          <a:noFill/>
          <a:ln w="12700">
            <a:solidFill>
              <a:srgbClr val="E2E7F0"/>
            </a:solidFill>
            <a:prstDash val="solid"/>
          </a:ln>
        </p:spPr>
      </p:sp>
      <p:sp>
        <p:nvSpPr>
          <p:cNvPr id="28" name="Text 26"/>
          <p:cNvSpPr/>
          <p:nvPr/>
        </p:nvSpPr>
        <p:spPr>
          <a:xfrm>
            <a:off x="1295400" y="5486400"/>
            <a:ext cx="9616135" cy="201168"/>
          </a:xfrm>
          <a:prstGeom prst="rect">
            <a:avLst/>
          </a:prstGeom>
          <a:noFill/>
          <a:ln/>
        </p:spPr>
        <p:txBody>
          <a:bodyPr wrap="square" lIns="0" tIns="0" rIns="0" bIns="0" rtlCol="0" anchor="ctr"/>
          <a:lstStyle/>
          <a:p>
            <a:pPr indent="0" marL="0">
              <a:buNone/>
            </a:pPr>
            <a:r>
              <a:rPr lang="en-US" sz="950" spc="80" kern="0" dirty="0">
                <a:solidFill>
                  <a:srgbClr val="5B6470"/>
                </a:solidFill>
                <a:latin typeface="Microsoft YaHei" pitchFamily="34" charset="0"/>
                <a:ea typeface="Microsoft YaHei" pitchFamily="34" charset="-122"/>
                <a:cs typeface="Microsoft YaHei" pitchFamily="34" charset="-120"/>
              </a:rPr>
              <a:t>配套动作</a:t>
            </a:r>
            <a:endParaRPr lang="en-US" sz="950" dirty="0"/>
          </a:p>
        </p:txBody>
      </p:sp>
      <p:sp>
        <p:nvSpPr>
          <p:cNvPr id="29" name="Text 27"/>
          <p:cNvSpPr/>
          <p:nvPr/>
        </p:nvSpPr>
        <p:spPr>
          <a:xfrm>
            <a:off x="1295400" y="5742432"/>
            <a:ext cx="9616135" cy="502920"/>
          </a:xfrm>
          <a:prstGeom prst="rect">
            <a:avLst/>
          </a:prstGeom>
          <a:noFill/>
          <a:ln/>
        </p:spPr>
        <p:txBody>
          <a:bodyPr wrap="square" lIns="0" tIns="0" rIns="0" bIns="0" rtlCol="0" anchor="t"/>
          <a:lstStyle/>
          <a:p>
            <a:pPr indent="0" marL="0">
              <a:lnSpc>
                <a:spcPct val="140000"/>
              </a:lnSpc>
              <a:buNone/>
            </a:pPr>
            <a:r>
              <a:rPr lang="en-US" sz="1150" dirty="0">
                <a:solidFill>
                  <a:srgbClr val="1A2029"/>
                </a:solidFill>
                <a:latin typeface="Microsoft YaHei" pitchFamily="34" charset="0"/>
                <a:ea typeface="Microsoft YaHei" pitchFamily="34" charset="-122"/>
                <a:cs typeface="Microsoft YaHei" pitchFamily="34" charset="-120"/>
              </a:rPr>
              <a:t>设置问题墙。学生一周内提交三个真实困扰，教师从中选取一个打磨为驱动性问题。本环节不使用 AI。</a:t>
            </a:r>
            <a:endParaRPr lang="en-US" sz="11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566182"/>
            <a:ext cx="95250" cy="95250"/>
          </a:xfrm>
          <a:prstGeom prst="ellipse">
            <a:avLst/>
          </a:prstGeom>
          <a:solidFill>
            <a:srgbClr val="C2CBD8"/>
          </a:solidFill>
          <a:ln w="25400">
            <a:solidFill>
              <a:srgbClr val="C2CBD8"/>
            </a:solidFill>
            <a:prstDash val="solid"/>
          </a:ln>
        </p:spPr>
      </p:sp>
      <p:sp>
        <p:nvSpPr>
          <p:cNvPr id="5" name="Shape 3"/>
          <p:cNvSpPr/>
          <p:nvPr/>
        </p:nvSpPr>
        <p:spPr>
          <a:xfrm>
            <a:off x="485775" y="2265589"/>
            <a:ext cx="95250" cy="95250"/>
          </a:xfrm>
          <a:prstGeom prst="ellipse">
            <a:avLst/>
          </a:prstGeom>
          <a:solidFill>
            <a:srgbClr val="C2CBD8"/>
          </a:solidFill>
          <a:ln w="25400">
            <a:solidFill>
              <a:srgbClr val="C2CBD8"/>
            </a:solidFill>
            <a:prstDash val="solid"/>
          </a:ln>
        </p:spPr>
      </p:sp>
      <p:sp>
        <p:nvSpPr>
          <p:cNvPr id="6" name="Shape 4"/>
          <p:cNvSpPr/>
          <p:nvPr/>
        </p:nvSpPr>
        <p:spPr>
          <a:xfrm>
            <a:off x="485775" y="2964996"/>
            <a:ext cx="95250" cy="95250"/>
          </a:xfrm>
          <a:prstGeom prst="ellipse">
            <a:avLst/>
          </a:prstGeom>
          <a:solidFill>
            <a:srgbClr val="C2CBD8"/>
          </a:solidFill>
          <a:ln w="25400">
            <a:solidFill>
              <a:srgbClr val="C2CBD8"/>
            </a:solidFill>
            <a:prstDash val="solid"/>
          </a:ln>
        </p:spPr>
      </p:sp>
      <p:sp>
        <p:nvSpPr>
          <p:cNvPr id="7" name="Shape 5"/>
          <p:cNvSpPr/>
          <p:nvPr/>
        </p:nvSpPr>
        <p:spPr>
          <a:xfrm>
            <a:off x="485775" y="3664404"/>
            <a:ext cx="95250" cy="95250"/>
          </a:xfrm>
          <a:prstGeom prst="ellipse">
            <a:avLst/>
          </a:prstGeom>
          <a:solidFill>
            <a:srgbClr val="C2CBD8"/>
          </a:solidFill>
          <a:ln w="25400">
            <a:solidFill>
              <a:srgbClr val="C2CBD8"/>
            </a:solidFill>
            <a:prstDash val="solid"/>
          </a:ln>
        </p:spPr>
      </p:sp>
      <p:sp>
        <p:nvSpPr>
          <p:cNvPr id="8" name="Shape 6"/>
          <p:cNvSpPr/>
          <p:nvPr/>
        </p:nvSpPr>
        <p:spPr>
          <a:xfrm>
            <a:off x="466725" y="4344761"/>
            <a:ext cx="133350" cy="133350"/>
          </a:xfrm>
          <a:prstGeom prst="ellipse">
            <a:avLst/>
          </a:prstGeom>
          <a:solidFill>
            <a:srgbClr val="B0472A"/>
          </a:solidFill>
          <a:ln w="25400">
            <a:solidFill>
              <a:srgbClr val="B0472A"/>
            </a:solidFill>
            <a:prstDash val="solid"/>
          </a:ln>
        </p:spPr>
      </p:sp>
      <p:sp>
        <p:nvSpPr>
          <p:cNvPr id="9" name="Shape 7"/>
          <p:cNvSpPr/>
          <p:nvPr/>
        </p:nvSpPr>
        <p:spPr>
          <a:xfrm>
            <a:off x="485775" y="5063218"/>
            <a:ext cx="95250" cy="95250"/>
          </a:xfrm>
          <a:prstGeom prst="ellipse">
            <a:avLst/>
          </a:prstGeom>
          <a:solidFill>
            <a:srgbClr val="FFFFFF"/>
          </a:solidFill>
          <a:ln w="25400">
            <a:solidFill>
              <a:srgbClr val="E2E7F0"/>
            </a:solidFill>
            <a:prstDash val="solid"/>
          </a:ln>
        </p:spPr>
      </p:sp>
      <p:sp>
        <p:nvSpPr>
          <p:cNvPr id="10" name="Shape 8"/>
          <p:cNvSpPr/>
          <p:nvPr/>
        </p:nvSpPr>
        <p:spPr>
          <a:xfrm>
            <a:off x="485775" y="5762625"/>
            <a:ext cx="95250" cy="95250"/>
          </a:xfrm>
          <a:prstGeom prst="ellipse">
            <a:avLst/>
          </a:prstGeom>
          <a:solidFill>
            <a:srgbClr val="FFFFFF"/>
          </a:solidFill>
          <a:ln w="25400">
            <a:solidFill>
              <a:srgbClr val="E2E7F0"/>
            </a:solidFill>
            <a:prstDash val="solid"/>
          </a:ln>
        </p:spPr>
      </p:sp>
      <p:sp>
        <p:nvSpPr>
          <p:cNvPr id="11" name="Text 9"/>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五</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2" name="Text 10"/>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26</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44</a:t>
            </a:r>
            <a:endParaRPr lang="en-US" sz="1000" dirty="0"/>
          </a:p>
        </p:txBody>
      </p:sp>
      <p:sp>
        <p:nvSpPr>
          <p:cNvPr id="13" name="Text 11"/>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4" name="Text 12"/>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第五段　·　生命健康主题的双学段案例</a:t>
            </a:r>
            <a:endParaRPr lang="en-US" sz="1000" dirty="0"/>
          </a:p>
        </p:txBody>
      </p:sp>
      <p:sp>
        <p:nvSpPr>
          <p:cNvPr id="15" name="Text 13"/>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设计方案</a:t>
            </a:r>
            <a:endParaRPr lang="en-US" sz="3200" dirty="0"/>
          </a:p>
        </p:txBody>
      </p:sp>
      <p:sp>
        <p:nvSpPr>
          <p:cNvPr id="16" name="Shape 14"/>
          <p:cNvSpPr/>
          <p:nvPr/>
        </p:nvSpPr>
        <p:spPr>
          <a:xfrm>
            <a:off x="3233928" y="1220724"/>
            <a:ext cx="822960" cy="329184"/>
          </a:xfrm>
          <a:prstGeom prst="roundRect">
            <a:avLst>
              <a:gd name="adj" fmla="val 50000"/>
            </a:avLst>
          </a:prstGeom>
          <a:solidFill>
            <a:srgbClr val="C9714C"/>
          </a:solidFill>
          <a:ln w="12700">
            <a:solidFill>
              <a:srgbClr val="C9714C"/>
            </a:solidFill>
            <a:prstDash val="solid"/>
          </a:ln>
        </p:spPr>
      </p:sp>
      <p:sp>
        <p:nvSpPr>
          <p:cNvPr id="17" name="Text 15"/>
          <p:cNvSpPr/>
          <p:nvPr/>
        </p:nvSpPr>
        <p:spPr>
          <a:xfrm>
            <a:off x="3233928" y="1220724"/>
            <a:ext cx="822960"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Microsoft YaHei" pitchFamily="34" charset="0"/>
                <a:ea typeface="Microsoft YaHei" pitchFamily="34" charset="-122"/>
                <a:cs typeface="Microsoft YaHei" pitchFamily="34" charset="-120"/>
              </a:rPr>
              <a:t>半收</a:t>
            </a:r>
            <a:endParaRPr lang="en-US" sz="1100" dirty="0"/>
          </a:p>
        </p:txBody>
      </p:sp>
      <p:sp>
        <p:nvSpPr>
          <p:cNvPr id="18" name="Shape 16"/>
          <p:cNvSpPr/>
          <p:nvPr/>
        </p:nvSpPr>
        <p:spPr>
          <a:xfrm>
            <a:off x="1295400" y="1920240"/>
            <a:ext cx="4881220" cy="932688"/>
          </a:xfrm>
          <a:prstGeom prst="roundRect">
            <a:avLst>
              <a:gd name="adj" fmla="val 7843"/>
            </a:avLst>
          </a:prstGeom>
          <a:solidFill>
            <a:srgbClr val="FFFFFF"/>
          </a:solidFill>
          <a:ln w="12700">
            <a:solidFill>
              <a:srgbClr val="E2E7F0"/>
            </a:solidFill>
            <a:prstDash val="solid"/>
          </a:ln>
        </p:spPr>
      </p:sp>
      <p:sp>
        <p:nvSpPr>
          <p:cNvPr id="19" name="Shape 17"/>
          <p:cNvSpPr/>
          <p:nvPr/>
        </p:nvSpPr>
        <p:spPr>
          <a:xfrm>
            <a:off x="1295400" y="1975104"/>
            <a:ext cx="38100" cy="822960"/>
          </a:xfrm>
          <a:prstGeom prst="rect">
            <a:avLst/>
          </a:prstGeom>
          <a:solidFill>
            <a:srgbClr val="33414F"/>
          </a:solidFill>
          <a:ln w="12700">
            <a:solidFill>
              <a:srgbClr val="33414F"/>
            </a:solidFill>
            <a:prstDash val="solid"/>
          </a:ln>
        </p:spPr>
      </p:sp>
      <p:sp>
        <p:nvSpPr>
          <p:cNvPr id="20" name="Text 18"/>
          <p:cNvSpPr/>
          <p:nvPr/>
        </p:nvSpPr>
        <p:spPr>
          <a:xfrm>
            <a:off x="1514856" y="2048256"/>
            <a:ext cx="4460596" cy="182880"/>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科学护眼</a:t>
            </a:r>
            <a:endParaRPr lang="en-US" sz="950" dirty="0"/>
          </a:p>
        </p:txBody>
      </p:sp>
      <p:sp>
        <p:nvSpPr>
          <p:cNvPr id="21" name="Text 19"/>
          <p:cNvSpPr/>
          <p:nvPr/>
        </p:nvSpPr>
        <p:spPr>
          <a:xfrm>
            <a:off x="1514856" y="2286000"/>
            <a:ext cx="4460596" cy="438912"/>
          </a:xfrm>
          <a:prstGeom prst="rect">
            <a:avLst/>
          </a:prstGeom>
          <a:noFill/>
          <a:ln/>
        </p:spPr>
        <p:txBody>
          <a:bodyPr wrap="square" lIns="0" tIns="0" rIns="0" bIns="0" rtlCol="0" anchor="t"/>
          <a:lstStyle/>
          <a:p>
            <a:pPr indent="0" marL="0">
              <a:lnSpc>
                <a:spcPct val="140000"/>
              </a:lnSpc>
              <a:buNone/>
            </a:pPr>
            <a:r>
              <a:rPr lang="en-US" sz="1300" dirty="0">
                <a:solidFill>
                  <a:srgbClr val="1A2029"/>
                </a:solidFill>
                <a:latin typeface="Microsoft YaHei" pitchFamily="34" charset="0"/>
                <a:ea typeface="Microsoft YaHei" pitchFamily="34" charset="-122"/>
                <a:cs typeface="Microsoft YaHei" pitchFamily="34" charset="-120"/>
              </a:rPr>
              <a:t>以卡纸与透镜模拟近视成因。学生须说明所改变的变量与所控制的变量。</a:t>
            </a:r>
            <a:endParaRPr lang="en-US" sz="1300" dirty="0"/>
          </a:p>
        </p:txBody>
      </p:sp>
      <p:sp>
        <p:nvSpPr>
          <p:cNvPr id="22" name="Shape 20"/>
          <p:cNvSpPr/>
          <p:nvPr/>
        </p:nvSpPr>
        <p:spPr>
          <a:xfrm>
            <a:off x="6396076" y="1920240"/>
            <a:ext cx="4881220" cy="932688"/>
          </a:xfrm>
          <a:prstGeom prst="roundRect">
            <a:avLst>
              <a:gd name="adj" fmla="val 7843"/>
            </a:avLst>
          </a:prstGeom>
          <a:solidFill>
            <a:srgbClr val="FFFFFF"/>
          </a:solidFill>
          <a:ln w="12700">
            <a:solidFill>
              <a:srgbClr val="E2E7F0"/>
            </a:solidFill>
            <a:prstDash val="solid"/>
          </a:ln>
        </p:spPr>
      </p:sp>
      <p:sp>
        <p:nvSpPr>
          <p:cNvPr id="23" name="Shape 21"/>
          <p:cNvSpPr/>
          <p:nvPr/>
        </p:nvSpPr>
        <p:spPr>
          <a:xfrm>
            <a:off x="6396076" y="1975104"/>
            <a:ext cx="38100" cy="822960"/>
          </a:xfrm>
          <a:prstGeom prst="rect">
            <a:avLst/>
          </a:prstGeom>
          <a:solidFill>
            <a:srgbClr val="C9714C"/>
          </a:solidFill>
          <a:ln w="12700">
            <a:solidFill>
              <a:srgbClr val="C9714C"/>
            </a:solidFill>
            <a:prstDash val="solid"/>
          </a:ln>
        </p:spPr>
      </p:sp>
      <p:sp>
        <p:nvSpPr>
          <p:cNvPr id="24" name="Text 22"/>
          <p:cNvSpPr/>
          <p:nvPr/>
        </p:nvSpPr>
        <p:spPr>
          <a:xfrm>
            <a:off x="6615532" y="2048256"/>
            <a:ext cx="4460596" cy="182880"/>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健康饮食</a:t>
            </a:r>
            <a:endParaRPr lang="en-US" sz="950" dirty="0"/>
          </a:p>
        </p:txBody>
      </p:sp>
      <p:sp>
        <p:nvSpPr>
          <p:cNvPr id="25" name="Text 23"/>
          <p:cNvSpPr/>
          <p:nvPr/>
        </p:nvSpPr>
        <p:spPr>
          <a:xfrm>
            <a:off x="6615532" y="2286000"/>
            <a:ext cx="4460596" cy="438912"/>
          </a:xfrm>
          <a:prstGeom prst="rect">
            <a:avLst/>
          </a:prstGeom>
          <a:noFill/>
          <a:ln/>
        </p:spPr>
        <p:txBody>
          <a:bodyPr wrap="square" lIns="0" tIns="0" rIns="0" bIns="0" rtlCol="0" anchor="t"/>
          <a:lstStyle/>
          <a:p>
            <a:pPr indent="0" marL="0">
              <a:lnSpc>
                <a:spcPct val="140000"/>
              </a:lnSpc>
              <a:buNone/>
            </a:pPr>
            <a:r>
              <a:rPr lang="en-US" sz="1300" dirty="0">
                <a:solidFill>
                  <a:srgbClr val="1A2029"/>
                </a:solidFill>
                <a:latin typeface="Microsoft YaHei" pitchFamily="34" charset="0"/>
                <a:ea typeface="Microsoft YaHei" pitchFamily="34" charset="-122"/>
                <a:cs typeface="Microsoft YaHei" pitchFamily="34" charset="-120"/>
              </a:rPr>
              <a:t>设计对照实验，探究不同加工与储存方式对营养成分含量的影响。</a:t>
            </a:r>
            <a:endParaRPr lang="en-US" sz="1300" dirty="0"/>
          </a:p>
        </p:txBody>
      </p:sp>
      <p:sp>
        <p:nvSpPr>
          <p:cNvPr id="26" name="Text 24"/>
          <p:cNvSpPr/>
          <p:nvPr/>
        </p:nvSpPr>
        <p:spPr>
          <a:xfrm>
            <a:off x="1295400" y="3163824"/>
            <a:ext cx="9981895" cy="640080"/>
          </a:xfrm>
          <a:prstGeom prst="rect">
            <a:avLst/>
          </a:prstGeom>
          <a:noFill/>
          <a:ln/>
        </p:spPr>
        <p:txBody>
          <a:bodyPr wrap="square" lIns="0" tIns="0" rIns="0" bIns="0" rtlCol="0" anchor="t"/>
          <a:lstStyle/>
          <a:p>
            <a:pPr indent="0" marL="0">
              <a:lnSpc>
                <a:spcPct val="140000"/>
              </a:lnSpc>
              <a:buNone/>
            </a:pPr>
            <a:r>
              <a:rPr lang="en-US" sz="1800" b="1" dirty="0">
                <a:solidFill>
                  <a:srgbClr val="0F1B2D"/>
                </a:solidFill>
                <a:latin typeface="Microsoft YaHei" pitchFamily="34" charset="0"/>
                <a:ea typeface="Microsoft YaHei" pitchFamily="34" charset="-122"/>
                <a:cs typeface="Microsoft YaHei" pitchFamily="34" charset="-120"/>
              </a:rPr>
              <a:t>AI 可提供若干备选方向供学生选择，可对学生已有方案提出质疑。不得输出成稿方案。</a:t>
            </a:r>
            <a:endParaRPr lang="en-US" sz="1800" dirty="0"/>
          </a:p>
        </p:txBody>
      </p:sp>
      <p:sp>
        <p:nvSpPr>
          <p:cNvPr id="27" name="Shape 25"/>
          <p:cNvSpPr/>
          <p:nvPr/>
        </p:nvSpPr>
        <p:spPr>
          <a:xfrm>
            <a:off x="1295400" y="5376672"/>
            <a:ext cx="9981895" cy="0"/>
          </a:xfrm>
          <a:prstGeom prst="line">
            <a:avLst/>
          </a:prstGeom>
          <a:noFill/>
          <a:ln w="12700">
            <a:solidFill>
              <a:srgbClr val="E2E7F0"/>
            </a:solidFill>
            <a:prstDash val="solid"/>
          </a:ln>
        </p:spPr>
      </p:sp>
      <p:sp>
        <p:nvSpPr>
          <p:cNvPr id="28" name="Text 26"/>
          <p:cNvSpPr/>
          <p:nvPr/>
        </p:nvSpPr>
        <p:spPr>
          <a:xfrm>
            <a:off x="1295400" y="5486400"/>
            <a:ext cx="9616135" cy="201168"/>
          </a:xfrm>
          <a:prstGeom prst="rect">
            <a:avLst/>
          </a:prstGeom>
          <a:noFill/>
          <a:ln/>
        </p:spPr>
        <p:txBody>
          <a:bodyPr wrap="square" lIns="0" tIns="0" rIns="0" bIns="0" rtlCol="0" anchor="ctr"/>
          <a:lstStyle/>
          <a:p>
            <a:pPr indent="0" marL="0">
              <a:buNone/>
            </a:pPr>
            <a:r>
              <a:rPr lang="en-US" sz="950" spc="80" kern="0" dirty="0">
                <a:solidFill>
                  <a:srgbClr val="5B6470"/>
                </a:solidFill>
                <a:latin typeface="Microsoft YaHei" pitchFamily="34" charset="0"/>
                <a:ea typeface="Microsoft YaHei" pitchFamily="34" charset="-122"/>
                <a:cs typeface="Microsoft YaHei" pitchFamily="34" charset="-120"/>
              </a:rPr>
              <a:t>半收的依据</a:t>
            </a:r>
            <a:endParaRPr lang="en-US" sz="950" dirty="0"/>
          </a:p>
        </p:txBody>
      </p:sp>
      <p:sp>
        <p:nvSpPr>
          <p:cNvPr id="29" name="Text 27"/>
          <p:cNvSpPr/>
          <p:nvPr/>
        </p:nvSpPr>
        <p:spPr>
          <a:xfrm>
            <a:off x="1295400" y="5742432"/>
            <a:ext cx="9616135" cy="502920"/>
          </a:xfrm>
          <a:prstGeom prst="rect">
            <a:avLst/>
          </a:prstGeom>
          <a:noFill/>
          <a:ln/>
        </p:spPr>
        <p:txBody>
          <a:bodyPr wrap="square" lIns="0" tIns="0" rIns="0" bIns="0" rtlCol="0" anchor="t"/>
          <a:lstStyle/>
          <a:p>
            <a:pPr indent="0" marL="0">
              <a:lnSpc>
                <a:spcPct val="140000"/>
              </a:lnSpc>
              <a:buNone/>
            </a:pPr>
            <a:r>
              <a:rPr lang="en-US" sz="1150" dirty="0">
                <a:solidFill>
                  <a:srgbClr val="1A2029"/>
                </a:solidFill>
                <a:latin typeface="Microsoft YaHei" pitchFamily="34" charset="0"/>
                <a:ea typeface="Microsoft YaHei" pitchFamily="34" charset="-122"/>
                <a:cs typeface="Microsoft YaHei" pitchFamily="34" charset="-120"/>
              </a:rPr>
              <a:t>本环节的评价证据是探究实践能力中的变量识别与控制。提出质疑不替代该能力，输出成稿方案则替代该能力。</a:t>
            </a:r>
            <a:endParaRPr lang="en-US" sz="11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566182"/>
            <a:ext cx="95250" cy="95250"/>
          </a:xfrm>
          <a:prstGeom prst="ellipse">
            <a:avLst/>
          </a:prstGeom>
          <a:solidFill>
            <a:srgbClr val="C2CBD8"/>
          </a:solidFill>
          <a:ln w="25400">
            <a:solidFill>
              <a:srgbClr val="C2CBD8"/>
            </a:solidFill>
            <a:prstDash val="solid"/>
          </a:ln>
        </p:spPr>
      </p:sp>
      <p:sp>
        <p:nvSpPr>
          <p:cNvPr id="5" name="Shape 3"/>
          <p:cNvSpPr/>
          <p:nvPr/>
        </p:nvSpPr>
        <p:spPr>
          <a:xfrm>
            <a:off x="485775" y="2265589"/>
            <a:ext cx="95250" cy="95250"/>
          </a:xfrm>
          <a:prstGeom prst="ellipse">
            <a:avLst/>
          </a:prstGeom>
          <a:solidFill>
            <a:srgbClr val="C2CBD8"/>
          </a:solidFill>
          <a:ln w="25400">
            <a:solidFill>
              <a:srgbClr val="C2CBD8"/>
            </a:solidFill>
            <a:prstDash val="solid"/>
          </a:ln>
        </p:spPr>
      </p:sp>
      <p:sp>
        <p:nvSpPr>
          <p:cNvPr id="6" name="Shape 4"/>
          <p:cNvSpPr/>
          <p:nvPr/>
        </p:nvSpPr>
        <p:spPr>
          <a:xfrm>
            <a:off x="485775" y="2964996"/>
            <a:ext cx="95250" cy="95250"/>
          </a:xfrm>
          <a:prstGeom prst="ellipse">
            <a:avLst/>
          </a:prstGeom>
          <a:solidFill>
            <a:srgbClr val="C2CBD8"/>
          </a:solidFill>
          <a:ln w="25400">
            <a:solidFill>
              <a:srgbClr val="C2CBD8"/>
            </a:solidFill>
            <a:prstDash val="solid"/>
          </a:ln>
        </p:spPr>
      </p:sp>
      <p:sp>
        <p:nvSpPr>
          <p:cNvPr id="7" name="Shape 5"/>
          <p:cNvSpPr/>
          <p:nvPr/>
        </p:nvSpPr>
        <p:spPr>
          <a:xfrm>
            <a:off x="485775" y="3664404"/>
            <a:ext cx="95250" cy="95250"/>
          </a:xfrm>
          <a:prstGeom prst="ellipse">
            <a:avLst/>
          </a:prstGeom>
          <a:solidFill>
            <a:srgbClr val="C2CBD8"/>
          </a:solidFill>
          <a:ln w="25400">
            <a:solidFill>
              <a:srgbClr val="C2CBD8"/>
            </a:solidFill>
            <a:prstDash val="solid"/>
          </a:ln>
        </p:spPr>
      </p:sp>
      <p:sp>
        <p:nvSpPr>
          <p:cNvPr id="8" name="Shape 6"/>
          <p:cNvSpPr/>
          <p:nvPr/>
        </p:nvSpPr>
        <p:spPr>
          <a:xfrm>
            <a:off x="466725" y="4344761"/>
            <a:ext cx="133350" cy="133350"/>
          </a:xfrm>
          <a:prstGeom prst="ellipse">
            <a:avLst/>
          </a:prstGeom>
          <a:solidFill>
            <a:srgbClr val="B0472A"/>
          </a:solidFill>
          <a:ln w="25400">
            <a:solidFill>
              <a:srgbClr val="B0472A"/>
            </a:solidFill>
            <a:prstDash val="solid"/>
          </a:ln>
        </p:spPr>
      </p:sp>
      <p:sp>
        <p:nvSpPr>
          <p:cNvPr id="9" name="Shape 7"/>
          <p:cNvSpPr/>
          <p:nvPr/>
        </p:nvSpPr>
        <p:spPr>
          <a:xfrm>
            <a:off x="485775" y="5063218"/>
            <a:ext cx="95250" cy="95250"/>
          </a:xfrm>
          <a:prstGeom prst="ellipse">
            <a:avLst/>
          </a:prstGeom>
          <a:solidFill>
            <a:srgbClr val="FFFFFF"/>
          </a:solidFill>
          <a:ln w="25400">
            <a:solidFill>
              <a:srgbClr val="E2E7F0"/>
            </a:solidFill>
            <a:prstDash val="solid"/>
          </a:ln>
        </p:spPr>
      </p:sp>
      <p:sp>
        <p:nvSpPr>
          <p:cNvPr id="10" name="Shape 8"/>
          <p:cNvSpPr/>
          <p:nvPr/>
        </p:nvSpPr>
        <p:spPr>
          <a:xfrm>
            <a:off x="485775" y="5762625"/>
            <a:ext cx="95250" cy="95250"/>
          </a:xfrm>
          <a:prstGeom prst="ellipse">
            <a:avLst/>
          </a:prstGeom>
          <a:solidFill>
            <a:srgbClr val="FFFFFF"/>
          </a:solidFill>
          <a:ln w="25400">
            <a:solidFill>
              <a:srgbClr val="E2E7F0"/>
            </a:solidFill>
            <a:prstDash val="solid"/>
          </a:ln>
        </p:spPr>
      </p:sp>
      <p:sp>
        <p:nvSpPr>
          <p:cNvPr id="11" name="Text 9"/>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五</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2" name="Text 10"/>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27</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44</a:t>
            </a:r>
            <a:endParaRPr lang="en-US" sz="1000" dirty="0"/>
          </a:p>
        </p:txBody>
      </p:sp>
      <p:sp>
        <p:nvSpPr>
          <p:cNvPr id="13" name="Text 11"/>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4" name="Text 12"/>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第五段　·　生命健康主题的双学段案例</a:t>
            </a:r>
            <a:endParaRPr lang="en-US" sz="1000" dirty="0"/>
          </a:p>
        </p:txBody>
      </p:sp>
      <p:sp>
        <p:nvSpPr>
          <p:cNvPr id="15" name="Text 13"/>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一次完整的交互</a:t>
            </a:r>
            <a:endParaRPr lang="en-US" sz="3200" dirty="0"/>
          </a:p>
        </p:txBody>
      </p:sp>
      <p:sp>
        <p:nvSpPr>
          <p:cNvPr id="16" name="Text 14"/>
          <p:cNvSpPr/>
          <p:nvPr/>
        </p:nvSpPr>
        <p:spPr>
          <a:xfrm>
            <a:off x="1295400" y="1805940"/>
            <a:ext cx="9981895" cy="274320"/>
          </a:xfrm>
          <a:prstGeom prst="rect">
            <a:avLst/>
          </a:prstGeom>
          <a:noFill/>
          <a:ln/>
        </p:spPr>
        <p:txBody>
          <a:bodyPr wrap="square" lIns="0" tIns="0" rIns="0" bIns="0" rtlCol="0" anchor="ctr"/>
          <a:lstStyle/>
          <a:p>
            <a:pPr indent="0" marL="0">
              <a:buNone/>
            </a:pPr>
            <a:r>
              <a:rPr lang="en-US" sz="1150" dirty="0">
                <a:solidFill>
                  <a:srgbClr val="5B6470"/>
                </a:solidFill>
                <a:latin typeface="Microsoft YaHei" pitchFamily="34" charset="0"/>
                <a:ea typeface="Microsoft YaHei" pitchFamily="34" charset="-122"/>
                <a:cs typeface="Microsoft YaHei" pitchFamily="34" charset="-120"/>
              </a:rPr>
              <a:t>以上一页的设计方案环节为例。教师侧操作，学生不参与。</a:t>
            </a:r>
            <a:endParaRPr lang="en-US" sz="1150" dirty="0"/>
          </a:p>
        </p:txBody>
      </p:sp>
      <p:sp>
        <p:nvSpPr>
          <p:cNvPr id="17" name="Shape 15"/>
          <p:cNvSpPr/>
          <p:nvPr/>
        </p:nvSpPr>
        <p:spPr>
          <a:xfrm>
            <a:off x="1295400" y="2226564"/>
            <a:ext cx="9981895" cy="786384"/>
          </a:xfrm>
          <a:prstGeom prst="roundRect">
            <a:avLst>
              <a:gd name="adj" fmla="val 9302"/>
            </a:avLst>
          </a:prstGeom>
          <a:solidFill>
            <a:srgbClr val="FFFFFF"/>
          </a:solidFill>
          <a:ln w="12700">
            <a:solidFill>
              <a:srgbClr val="E2E7F0"/>
            </a:solidFill>
            <a:prstDash val="solid"/>
          </a:ln>
        </p:spPr>
      </p:sp>
      <p:sp>
        <p:nvSpPr>
          <p:cNvPr id="18" name="Shape 16"/>
          <p:cNvSpPr/>
          <p:nvPr/>
        </p:nvSpPr>
        <p:spPr>
          <a:xfrm>
            <a:off x="1295400" y="2272284"/>
            <a:ext cx="38100" cy="694944"/>
          </a:xfrm>
          <a:prstGeom prst="rect">
            <a:avLst/>
          </a:prstGeom>
          <a:solidFill>
            <a:srgbClr val="33414F"/>
          </a:solidFill>
          <a:ln w="12700">
            <a:solidFill>
              <a:srgbClr val="33414F"/>
            </a:solidFill>
            <a:prstDash val="solid"/>
          </a:ln>
        </p:spPr>
      </p:sp>
      <p:sp>
        <p:nvSpPr>
          <p:cNvPr id="19" name="Text 17"/>
          <p:cNvSpPr/>
          <p:nvPr/>
        </p:nvSpPr>
        <p:spPr>
          <a:xfrm>
            <a:off x="1514856" y="2354580"/>
            <a:ext cx="960120" cy="219456"/>
          </a:xfrm>
          <a:prstGeom prst="rect">
            <a:avLst/>
          </a:prstGeom>
          <a:noFill/>
          <a:ln/>
        </p:spPr>
        <p:txBody>
          <a:bodyPr wrap="square" lIns="0" tIns="0" rIns="0" bIns="0" rtlCol="0" anchor="ctr"/>
          <a:lstStyle/>
          <a:p>
            <a:pPr indent="0" marL="0">
              <a:buNone/>
            </a:pPr>
            <a:r>
              <a:rPr lang="en-US" sz="1000" b="1" dirty="0">
                <a:solidFill>
                  <a:srgbClr val="33414F"/>
                </a:solidFill>
                <a:latin typeface="Microsoft YaHei" pitchFamily="34" charset="0"/>
                <a:ea typeface="Microsoft YaHei" pitchFamily="34" charset="-122"/>
                <a:cs typeface="Microsoft YaHei" pitchFamily="34" charset="-120"/>
              </a:rPr>
              <a:t>教师输入</a:t>
            </a:r>
            <a:endParaRPr lang="en-US" sz="1000" dirty="0"/>
          </a:p>
        </p:txBody>
      </p:sp>
      <p:sp>
        <p:nvSpPr>
          <p:cNvPr id="20" name="Text 18"/>
          <p:cNvSpPr/>
          <p:nvPr/>
        </p:nvSpPr>
        <p:spPr>
          <a:xfrm>
            <a:off x="2612136" y="2336292"/>
            <a:ext cx="8409127" cy="566928"/>
          </a:xfrm>
          <a:prstGeom prst="rect">
            <a:avLst/>
          </a:prstGeom>
          <a:noFill/>
          <a:ln/>
        </p:spPr>
        <p:txBody>
          <a:bodyPr wrap="square" lIns="0" tIns="0" rIns="0" bIns="0" rtlCol="0" anchor="t"/>
          <a:lstStyle/>
          <a:p>
            <a:pPr indent="0" marL="0">
              <a:lnSpc>
                <a:spcPct val="145000"/>
              </a:lnSpc>
              <a:buNone/>
            </a:pPr>
            <a:r>
              <a:rPr lang="en-US" sz="1250" dirty="0">
                <a:solidFill>
                  <a:srgbClr val="1A2029"/>
                </a:solidFill>
                <a:latin typeface="Microsoft YaHei" pitchFamily="34" charset="0"/>
                <a:ea typeface="Microsoft YaHei" pitchFamily="34" charset="-122"/>
                <a:cs typeface="Microsoft YaHei" pitchFamily="34" charset="-120"/>
              </a:rPr>
              <a:t>五年级学生用卡纸和透镜模拟近视成因。他们的方案是：把透镜放在卡纸前面，看字清不清楚。请指出这个方案在变量控制上有哪些问题。只提问题，不要给我改好的方案。</a:t>
            </a:r>
            <a:endParaRPr lang="en-US" sz="1250" dirty="0"/>
          </a:p>
        </p:txBody>
      </p:sp>
      <p:sp>
        <p:nvSpPr>
          <p:cNvPr id="21" name="Shape 19"/>
          <p:cNvSpPr/>
          <p:nvPr/>
        </p:nvSpPr>
        <p:spPr>
          <a:xfrm>
            <a:off x="1295400" y="3140964"/>
            <a:ext cx="9981895" cy="896112"/>
          </a:xfrm>
          <a:prstGeom prst="roundRect">
            <a:avLst>
              <a:gd name="adj" fmla="val 8163"/>
            </a:avLst>
          </a:prstGeom>
          <a:solidFill>
            <a:srgbClr val="F5F7FB"/>
          </a:solidFill>
          <a:ln w="12700">
            <a:solidFill>
              <a:srgbClr val="E2E7F0"/>
            </a:solidFill>
            <a:prstDash val="solid"/>
          </a:ln>
        </p:spPr>
      </p:sp>
      <p:sp>
        <p:nvSpPr>
          <p:cNvPr id="22" name="Shape 20"/>
          <p:cNvSpPr/>
          <p:nvPr/>
        </p:nvSpPr>
        <p:spPr>
          <a:xfrm>
            <a:off x="1295400" y="3186684"/>
            <a:ext cx="38100" cy="804672"/>
          </a:xfrm>
          <a:prstGeom prst="rect">
            <a:avLst/>
          </a:prstGeom>
          <a:solidFill>
            <a:srgbClr val="C9714C"/>
          </a:solidFill>
          <a:ln w="12700">
            <a:solidFill>
              <a:srgbClr val="C9714C"/>
            </a:solidFill>
            <a:prstDash val="solid"/>
          </a:ln>
        </p:spPr>
      </p:sp>
      <p:sp>
        <p:nvSpPr>
          <p:cNvPr id="23" name="Text 21"/>
          <p:cNvSpPr/>
          <p:nvPr/>
        </p:nvSpPr>
        <p:spPr>
          <a:xfrm>
            <a:off x="1514856" y="3268980"/>
            <a:ext cx="960120" cy="219456"/>
          </a:xfrm>
          <a:prstGeom prst="rect">
            <a:avLst/>
          </a:prstGeom>
          <a:noFill/>
          <a:ln/>
        </p:spPr>
        <p:txBody>
          <a:bodyPr wrap="square" lIns="0" tIns="0" rIns="0" bIns="0" rtlCol="0" anchor="ctr"/>
          <a:lstStyle/>
          <a:p>
            <a:pPr indent="0" marL="0">
              <a:buNone/>
            </a:pPr>
            <a:r>
              <a:rPr lang="en-US" sz="1000" b="1" dirty="0">
                <a:solidFill>
                  <a:srgbClr val="C9714C"/>
                </a:solidFill>
                <a:latin typeface="Microsoft YaHei" pitchFamily="34" charset="0"/>
                <a:ea typeface="Microsoft YaHei" pitchFamily="34" charset="-122"/>
                <a:cs typeface="Microsoft YaHei" pitchFamily="34" charset="-120"/>
              </a:rPr>
              <a:t>AI 返回</a:t>
            </a:r>
            <a:endParaRPr lang="en-US" sz="1000" dirty="0"/>
          </a:p>
        </p:txBody>
      </p:sp>
      <p:sp>
        <p:nvSpPr>
          <p:cNvPr id="24" name="Text 22"/>
          <p:cNvSpPr/>
          <p:nvPr/>
        </p:nvSpPr>
        <p:spPr>
          <a:xfrm>
            <a:off x="2612136" y="3250692"/>
            <a:ext cx="8409127" cy="676656"/>
          </a:xfrm>
          <a:prstGeom prst="rect">
            <a:avLst/>
          </a:prstGeom>
          <a:noFill/>
          <a:ln/>
        </p:spPr>
        <p:txBody>
          <a:bodyPr wrap="square" lIns="0" tIns="0" rIns="0" bIns="0" rtlCol="0" anchor="t"/>
          <a:lstStyle/>
          <a:p>
            <a:pPr indent="0" marL="0">
              <a:lnSpc>
                <a:spcPct val="145000"/>
              </a:lnSpc>
              <a:buNone/>
            </a:pPr>
            <a:r>
              <a:rPr lang="en-US" sz="1250" dirty="0">
                <a:solidFill>
                  <a:srgbClr val="5B6470"/>
                </a:solidFill>
                <a:latin typeface="Microsoft YaHei" pitchFamily="34" charset="0"/>
                <a:ea typeface="Microsoft YaHei" pitchFamily="34" charset="-122"/>
                <a:cs typeface="Microsoft YaHei" pitchFamily="34" charset="-120"/>
              </a:rPr>
              <a:t>一、未说明透镜与卡纸之间的距离是否固定。二、未说明使用哪一种透镜，不同度数的结果不同。三、未说明「清不清楚」由谁判断、按什么标准判断。</a:t>
            </a:r>
            <a:endParaRPr lang="en-US" sz="1250" dirty="0"/>
          </a:p>
        </p:txBody>
      </p:sp>
      <p:sp>
        <p:nvSpPr>
          <p:cNvPr id="25" name="Shape 23"/>
          <p:cNvSpPr/>
          <p:nvPr/>
        </p:nvSpPr>
        <p:spPr>
          <a:xfrm>
            <a:off x="1295400" y="4165092"/>
            <a:ext cx="9981895" cy="786384"/>
          </a:xfrm>
          <a:prstGeom prst="roundRect">
            <a:avLst>
              <a:gd name="adj" fmla="val 9302"/>
            </a:avLst>
          </a:prstGeom>
          <a:solidFill>
            <a:srgbClr val="FBF1EC"/>
          </a:solidFill>
          <a:ln w="12700">
            <a:solidFill>
              <a:srgbClr val="D9A98F"/>
            </a:solidFill>
            <a:prstDash val="solid"/>
          </a:ln>
        </p:spPr>
      </p:sp>
      <p:sp>
        <p:nvSpPr>
          <p:cNvPr id="26" name="Shape 24"/>
          <p:cNvSpPr/>
          <p:nvPr/>
        </p:nvSpPr>
        <p:spPr>
          <a:xfrm>
            <a:off x="1295400" y="4210812"/>
            <a:ext cx="38100" cy="694944"/>
          </a:xfrm>
          <a:prstGeom prst="rect">
            <a:avLst/>
          </a:prstGeom>
          <a:solidFill>
            <a:srgbClr val="B0472A"/>
          </a:solidFill>
          <a:ln w="12700">
            <a:solidFill>
              <a:srgbClr val="B0472A"/>
            </a:solidFill>
            <a:prstDash val="solid"/>
          </a:ln>
        </p:spPr>
      </p:sp>
      <p:sp>
        <p:nvSpPr>
          <p:cNvPr id="27" name="Text 25"/>
          <p:cNvSpPr/>
          <p:nvPr/>
        </p:nvSpPr>
        <p:spPr>
          <a:xfrm>
            <a:off x="1514856" y="4293108"/>
            <a:ext cx="960120" cy="219456"/>
          </a:xfrm>
          <a:prstGeom prst="rect">
            <a:avLst/>
          </a:prstGeom>
          <a:noFill/>
          <a:ln/>
        </p:spPr>
        <p:txBody>
          <a:bodyPr wrap="square" lIns="0" tIns="0" rIns="0" bIns="0" rtlCol="0" anchor="ctr"/>
          <a:lstStyle/>
          <a:p>
            <a:pPr indent="0" marL="0">
              <a:buNone/>
            </a:pPr>
            <a:r>
              <a:rPr lang="en-US" sz="1000" b="1" dirty="0">
                <a:solidFill>
                  <a:srgbClr val="B0472A"/>
                </a:solidFill>
                <a:latin typeface="Microsoft YaHei" pitchFamily="34" charset="0"/>
                <a:ea typeface="Microsoft YaHei" pitchFamily="34" charset="-122"/>
                <a:cs typeface="Microsoft YaHei" pitchFamily="34" charset="-120"/>
              </a:rPr>
              <a:t>教师的判断</a:t>
            </a:r>
            <a:endParaRPr lang="en-US" sz="1000" dirty="0"/>
          </a:p>
        </p:txBody>
      </p:sp>
      <p:sp>
        <p:nvSpPr>
          <p:cNvPr id="28" name="Text 26"/>
          <p:cNvSpPr/>
          <p:nvPr/>
        </p:nvSpPr>
        <p:spPr>
          <a:xfrm>
            <a:off x="2612136" y="4274820"/>
            <a:ext cx="8409127" cy="566928"/>
          </a:xfrm>
          <a:prstGeom prst="rect">
            <a:avLst/>
          </a:prstGeom>
          <a:noFill/>
          <a:ln/>
        </p:spPr>
        <p:txBody>
          <a:bodyPr wrap="square" lIns="0" tIns="0" rIns="0" bIns="0" rtlCol="0" anchor="t"/>
          <a:lstStyle/>
          <a:p>
            <a:pPr indent="0" marL="0">
              <a:lnSpc>
                <a:spcPct val="145000"/>
              </a:lnSpc>
              <a:buNone/>
            </a:pPr>
            <a:r>
              <a:rPr lang="en-US" sz="1250" dirty="0">
                <a:solidFill>
                  <a:srgbClr val="1A2029"/>
                </a:solidFill>
                <a:latin typeface="Microsoft YaHei" pitchFamily="34" charset="0"/>
                <a:ea typeface="Microsoft YaHei" pitchFamily="34" charset="-122"/>
                <a:cs typeface="Microsoft YaHei" pitchFamily="34" charset="-120"/>
              </a:rPr>
              <a:t>第一条与第三条采纳，交给学生自己补充。第二条不采纳：五年级实验箱里只有一种透镜，提出来会把任务复杂化，超出该学段的方案要求。</a:t>
            </a:r>
            <a:endParaRPr lang="en-US" sz="1250" dirty="0"/>
          </a:p>
        </p:txBody>
      </p:sp>
      <p:sp>
        <p:nvSpPr>
          <p:cNvPr id="29" name="Shape 27"/>
          <p:cNvSpPr/>
          <p:nvPr/>
        </p:nvSpPr>
        <p:spPr>
          <a:xfrm>
            <a:off x="1295400" y="5888736"/>
            <a:ext cx="9981895" cy="0"/>
          </a:xfrm>
          <a:prstGeom prst="line">
            <a:avLst/>
          </a:prstGeom>
          <a:noFill/>
          <a:ln w="12700">
            <a:solidFill>
              <a:srgbClr val="E2E7F0"/>
            </a:solidFill>
            <a:prstDash val="solid"/>
          </a:ln>
        </p:spPr>
      </p:sp>
      <p:sp>
        <p:nvSpPr>
          <p:cNvPr id="30" name="Text 28"/>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B6470"/>
                </a:solidFill>
                <a:latin typeface="Microsoft YaHei" pitchFamily="34" charset="0"/>
                <a:ea typeface="Microsoft YaHei" pitchFamily="34" charset="-122"/>
                <a:cs typeface="Microsoft YaHei" pitchFamily="34" charset="-120"/>
              </a:rPr>
              <a:t>指令末句「只提问题，不要给我改好的方案」是这次交互能停在半收档位的原因。去掉这一句，返回的就是一份成稿方案。</a:t>
            </a:r>
            <a:endParaRPr lang="en-US" sz="1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566182"/>
            <a:ext cx="95250" cy="95250"/>
          </a:xfrm>
          <a:prstGeom prst="ellipse">
            <a:avLst/>
          </a:prstGeom>
          <a:solidFill>
            <a:srgbClr val="C2CBD8"/>
          </a:solidFill>
          <a:ln w="25400">
            <a:solidFill>
              <a:srgbClr val="C2CBD8"/>
            </a:solidFill>
            <a:prstDash val="solid"/>
          </a:ln>
        </p:spPr>
      </p:sp>
      <p:sp>
        <p:nvSpPr>
          <p:cNvPr id="5" name="Shape 3"/>
          <p:cNvSpPr/>
          <p:nvPr/>
        </p:nvSpPr>
        <p:spPr>
          <a:xfrm>
            <a:off x="485775" y="2265589"/>
            <a:ext cx="95250" cy="95250"/>
          </a:xfrm>
          <a:prstGeom prst="ellipse">
            <a:avLst/>
          </a:prstGeom>
          <a:solidFill>
            <a:srgbClr val="C2CBD8"/>
          </a:solidFill>
          <a:ln w="25400">
            <a:solidFill>
              <a:srgbClr val="C2CBD8"/>
            </a:solidFill>
            <a:prstDash val="solid"/>
          </a:ln>
        </p:spPr>
      </p:sp>
      <p:sp>
        <p:nvSpPr>
          <p:cNvPr id="6" name="Shape 4"/>
          <p:cNvSpPr/>
          <p:nvPr/>
        </p:nvSpPr>
        <p:spPr>
          <a:xfrm>
            <a:off x="485775" y="2964996"/>
            <a:ext cx="95250" cy="95250"/>
          </a:xfrm>
          <a:prstGeom prst="ellipse">
            <a:avLst/>
          </a:prstGeom>
          <a:solidFill>
            <a:srgbClr val="C2CBD8"/>
          </a:solidFill>
          <a:ln w="25400">
            <a:solidFill>
              <a:srgbClr val="C2CBD8"/>
            </a:solidFill>
            <a:prstDash val="solid"/>
          </a:ln>
        </p:spPr>
      </p:sp>
      <p:sp>
        <p:nvSpPr>
          <p:cNvPr id="7" name="Shape 5"/>
          <p:cNvSpPr/>
          <p:nvPr/>
        </p:nvSpPr>
        <p:spPr>
          <a:xfrm>
            <a:off x="485775" y="3664404"/>
            <a:ext cx="95250" cy="95250"/>
          </a:xfrm>
          <a:prstGeom prst="ellipse">
            <a:avLst/>
          </a:prstGeom>
          <a:solidFill>
            <a:srgbClr val="C2CBD8"/>
          </a:solidFill>
          <a:ln w="25400">
            <a:solidFill>
              <a:srgbClr val="C2CBD8"/>
            </a:solidFill>
            <a:prstDash val="solid"/>
          </a:ln>
        </p:spPr>
      </p:sp>
      <p:sp>
        <p:nvSpPr>
          <p:cNvPr id="8" name="Shape 6"/>
          <p:cNvSpPr/>
          <p:nvPr/>
        </p:nvSpPr>
        <p:spPr>
          <a:xfrm>
            <a:off x="466725" y="4344761"/>
            <a:ext cx="133350" cy="133350"/>
          </a:xfrm>
          <a:prstGeom prst="ellipse">
            <a:avLst/>
          </a:prstGeom>
          <a:solidFill>
            <a:srgbClr val="B0472A"/>
          </a:solidFill>
          <a:ln w="25400">
            <a:solidFill>
              <a:srgbClr val="B0472A"/>
            </a:solidFill>
            <a:prstDash val="solid"/>
          </a:ln>
        </p:spPr>
      </p:sp>
      <p:sp>
        <p:nvSpPr>
          <p:cNvPr id="9" name="Shape 7"/>
          <p:cNvSpPr/>
          <p:nvPr/>
        </p:nvSpPr>
        <p:spPr>
          <a:xfrm>
            <a:off x="485775" y="5063218"/>
            <a:ext cx="95250" cy="95250"/>
          </a:xfrm>
          <a:prstGeom prst="ellipse">
            <a:avLst/>
          </a:prstGeom>
          <a:solidFill>
            <a:srgbClr val="FFFFFF"/>
          </a:solidFill>
          <a:ln w="25400">
            <a:solidFill>
              <a:srgbClr val="E2E7F0"/>
            </a:solidFill>
            <a:prstDash val="solid"/>
          </a:ln>
        </p:spPr>
      </p:sp>
      <p:sp>
        <p:nvSpPr>
          <p:cNvPr id="10" name="Shape 8"/>
          <p:cNvSpPr/>
          <p:nvPr/>
        </p:nvSpPr>
        <p:spPr>
          <a:xfrm>
            <a:off x="485775" y="5762625"/>
            <a:ext cx="95250" cy="95250"/>
          </a:xfrm>
          <a:prstGeom prst="ellipse">
            <a:avLst/>
          </a:prstGeom>
          <a:solidFill>
            <a:srgbClr val="FFFFFF"/>
          </a:solidFill>
          <a:ln w="25400">
            <a:solidFill>
              <a:srgbClr val="E2E7F0"/>
            </a:solidFill>
            <a:prstDash val="solid"/>
          </a:ln>
        </p:spPr>
      </p:sp>
      <p:sp>
        <p:nvSpPr>
          <p:cNvPr id="11" name="Text 9"/>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五</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2" name="Text 10"/>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28</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44</a:t>
            </a:r>
            <a:endParaRPr lang="en-US" sz="1000" dirty="0"/>
          </a:p>
        </p:txBody>
      </p:sp>
      <p:sp>
        <p:nvSpPr>
          <p:cNvPr id="13" name="Text 11"/>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4" name="Text 12"/>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第五段　·　生命健康主题的双学段案例</a:t>
            </a:r>
            <a:endParaRPr lang="en-US" sz="1000" dirty="0"/>
          </a:p>
        </p:txBody>
      </p:sp>
      <p:sp>
        <p:nvSpPr>
          <p:cNvPr id="15" name="Text 13"/>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判断 AI 返回内容的三项自查</a:t>
            </a:r>
            <a:endParaRPr lang="en-US" sz="3200" dirty="0"/>
          </a:p>
        </p:txBody>
      </p:sp>
      <p:sp>
        <p:nvSpPr>
          <p:cNvPr id="16" name="Text 14"/>
          <p:cNvSpPr/>
          <p:nvPr/>
        </p:nvSpPr>
        <p:spPr>
          <a:xfrm>
            <a:off x="1295400" y="2468880"/>
            <a:ext cx="411480" cy="457200"/>
          </a:xfrm>
          <a:prstGeom prst="rect">
            <a:avLst/>
          </a:prstGeom>
          <a:noFill/>
          <a:ln/>
        </p:spPr>
        <p:txBody>
          <a:bodyPr wrap="square" lIns="0" tIns="0" rIns="0" bIns="0" rtlCol="0" anchor="ctr"/>
          <a:lstStyle/>
          <a:p>
            <a:pPr indent="0" marL="0">
              <a:buNone/>
            </a:pPr>
            <a:r>
              <a:rPr lang="en-US" sz="1600" b="1" dirty="0">
                <a:solidFill>
                  <a:srgbClr val="B0472A"/>
                </a:solidFill>
                <a:latin typeface="Microsoft YaHei" pitchFamily="34" charset="0"/>
                <a:ea typeface="Microsoft YaHei" pitchFamily="34" charset="-122"/>
                <a:cs typeface="Microsoft YaHei" pitchFamily="34" charset="-120"/>
              </a:rPr>
              <a:t>一</a:t>
            </a:r>
            <a:endParaRPr lang="en-US" sz="1600" dirty="0"/>
          </a:p>
        </p:txBody>
      </p:sp>
      <p:sp>
        <p:nvSpPr>
          <p:cNvPr id="17" name="Text 15"/>
          <p:cNvSpPr/>
          <p:nvPr/>
        </p:nvSpPr>
        <p:spPr>
          <a:xfrm>
            <a:off x="1862328" y="2414016"/>
            <a:ext cx="9414967" cy="548640"/>
          </a:xfrm>
          <a:prstGeom prst="rect">
            <a:avLst/>
          </a:prstGeom>
          <a:noFill/>
          <a:ln/>
        </p:spPr>
        <p:txBody>
          <a:bodyPr wrap="square" lIns="0" tIns="0" rIns="0" bIns="0" rtlCol="0" anchor="t"/>
          <a:lstStyle/>
          <a:p>
            <a:pPr indent="0" marL="0">
              <a:buNone/>
            </a:pPr>
            <a:r>
              <a:rPr lang="en-US" sz="2300" b="1" dirty="0">
                <a:solidFill>
                  <a:srgbClr val="0F1B2D"/>
                </a:solidFill>
                <a:latin typeface="Microsoft YaHei" pitchFamily="34" charset="0"/>
                <a:ea typeface="Microsoft YaHei" pitchFamily="34" charset="-122"/>
                <a:cs typeface="Microsoft YaHei" pitchFamily="34" charset="-120"/>
              </a:rPr>
              <a:t>返回内容是否对应本任务的实际要求</a:t>
            </a:r>
            <a:endParaRPr lang="en-US" sz="2300" dirty="0"/>
          </a:p>
        </p:txBody>
      </p:sp>
      <p:sp>
        <p:nvSpPr>
          <p:cNvPr id="18" name="Text 16"/>
          <p:cNvSpPr/>
          <p:nvPr/>
        </p:nvSpPr>
        <p:spPr>
          <a:xfrm>
            <a:off x="1295400" y="3255264"/>
            <a:ext cx="411480" cy="457200"/>
          </a:xfrm>
          <a:prstGeom prst="rect">
            <a:avLst/>
          </a:prstGeom>
          <a:noFill/>
          <a:ln/>
        </p:spPr>
        <p:txBody>
          <a:bodyPr wrap="square" lIns="0" tIns="0" rIns="0" bIns="0" rtlCol="0" anchor="ctr"/>
          <a:lstStyle/>
          <a:p>
            <a:pPr indent="0" marL="0">
              <a:buNone/>
            </a:pPr>
            <a:r>
              <a:rPr lang="en-US" sz="1600" b="1" dirty="0">
                <a:solidFill>
                  <a:srgbClr val="B0472A"/>
                </a:solidFill>
                <a:latin typeface="Microsoft YaHei" pitchFamily="34" charset="0"/>
                <a:ea typeface="Microsoft YaHei" pitchFamily="34" charset="-122"/>
                <a:cs typeface="Microsoft YaHei" pitchFamily="34" charset="-120"/>
              </a:rPr>
              <a:t>二</a:t>
            </a:r>
            <a:endParaRPr lang="en-US" sz="1600" dirty="0"/>
          </a:p>
        </p:txBody>
      </p:sp>
      <p:sp>
        <p:nvSpPr>
          <p:cNvPr id="19" name="Text 17"/>
          <p:cNvSpPr/>
          <p:nvPr/>
        </p:nvSpPr>
        <p:spPr>
          <a:xfrm>
            <a:off x="1862328" y="3200400"/>
            <a:ext cx="9414967" cy="548640"/>
          </a:xfrm>
          <a:prstGeom prst="rect">
            <a:avLst/>
          </a:prstGeom>
          <a:noFill/>
          <a:ln/>
        </p:spPr>
        <p:txBody>
          <a:bodyPr wrap="square" lIns="0" tIns="0" rIns="0" bIns="0" rtlCol="0" anchor="t"/>
          <a:lstStyle/>
          <a:p>
            <a:pPr indent="0" marL="0">
              <a:buNone/>
            </a:pPr>
            <a:r>
              <a:rPr lang="en-US" sz="2300" b="1" dirty="0">
                <a:solidFill>
                  <a:srgbClr val="0F1B2D"/>
                </a:solidFill>
                <a:latin typeface="Microsoft YaHei" pitchFamily="34" charset="0"/>
                <a:ea typeface="Microsoft YaHei" pitchFamily="34" charset="-122"/>
                <a:cs typeface="Microsoft YaHei" pitchFamily="34" charset="-120"/>
              </a:rPr>
              <a:t>其中是否含有无法自行核验的信息</a:t>
            </a:r>
            <a:endParaRPr lang="en-US" sz="2300" dirty="0"/>
          </a:p>
        </p:txBody>
      </p:sp>
      <p:sp>
        <p:nvSpPr>
          <p:cNvPr id="20" name="Text 18"/>
          <p:cNvSpPr/>
          <p:nvPr/>
        </p:nvSpPr>
        <p:spPr>
          <a:xfrm>
            <a:off x="1295400" y="4041648"/>
            <a:ext cx="411480" cy="457200"/>
          </a:xfrm>
          <a:prstGeom prst="rect">
            <a:avLst/>
          </a:prstGeom>
          <a:noFill/>
          <a:ln/>
        </p:spPr>
        <p:txBody>
          <a:bodyPr wrap="square" lIns="0" tIns="0" rIns="0" bIns="0" rtlCol="0" anchor="ctr"/>
          <a:lstStyle/>
          <a:p>
            <a:pPr indent="0" marL="0">
              <a:buNone/>
            </a:pPr>
            <a:r>
              <a:rPr lang="en-US" sz="1600" b="1" dirty="0">
                <a:solidFill>
                  <a:srgbClr val="B0472A"/>
                </a:solidFill>
                <a:latin typeface="Microsoft YaHei" pitchFamily="34" charset="0"/>
                <a:ea typeface="Microsoft YaHei" pitchFamily="34" charset="-122"/>
                <a:cs typeface="Microsoft YaHei" pitchFamily="34" charset="-120"/>
              </a:rPr>
              <a:t>三</a:t>
            </a:r>
            <a:endParaRPr lang="en-US" sz="1600" dirty="0"/>
          </a:p>
        </p:txBody>
      </p:sp>
      <p:sp>
        <p:nvSpPr>
          <p:cNvPr id="21" name="Text 19"/>
          <p:cNvSpPr/>
          <p:nvPr/>
        </p:nvSpPr>
        <p:spPr>
          <a:xfrm>
            <a:off x="1862328" y="3986784"/>
            <a:ext cx="9414967" cy="548640"/>
          </a:xfrm>
          <a:prstGeom prst="rect">
            <a:avLst/>
          </a:prstGeom>
          <a:noFill/>
          <a:ln/>
        </p:spPr>
        <p:txBody>
          <a:bodyPr wrap="square" lIns="0" tIns="0" rIns="0" bIns="0" rtlCol="0" anchor="t"/>
          <a:lstStyle/>
          <a:p>
            <a:pPr indent="0" marL="0">
              <a:buNone/>
            </a:pPr>
            <a:r>
              <a:rPr lang="en-US" sz="2300" b="1" dirty="0">
                <a:solidFill>
                  <a:srgbClr val="0F1B2D"/>
                </a:solidFill>
                <a:latin typeface="Microsoft YaHei" pitchFamily="34" charset="0"/>
                <a:ea typeface="Microsoft YaHei" pitchFamily="34" charset="-122"/>
                <a:cs typeface="Microsoft YaHei" pitchFamily="34" charset="-120"/>
              </a:rPr>
              <a:t>若直接采用，学生将省去哪一步</a:t>
            </a:r>
            <a:endParaRPr lang="en-US" sz="2300" dirty="0"/>
          </a:p>
        </p:txBody>
      </p:sp>
      <p:sp>
        <p:nvSpPr>
          <p:cNvPr id="22" name="Shape 20"/>
          <p:cNvSpPr/>
          <p:nvPr/>
        </p:nvSpPr>
        <p:spPr>
          <a:xfrm>
            <a:off x="1295400" y="5888736"/>
            <a:ext cx="9981895" cy="0"/>
          </a:xfrm>
          <a:prstGeom prst="line">
            <a:avLst/>
          </a:prstGeom>
          <a:noFill/>
          <a:ln w="12700">
            <a:solidFill>
              <a:srgbClr val="E2E7F0"/>
            </a:solidFill>
            <a:prstDash val="solid"/>
          </a:ln>
        </p:spPr>
      </p:sp>
      <p:sp>
        <p:nvSpPr>
          <p:cNvPr id="23" name="Text 21"/>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B6470"/>
                </a:solidFill>
                <a:latin typeface="Microsoft YaHei" pitchFamily="34" charset="0"/>
                <a:ea typeface="Microsoft YaHei" pitchFamily="34" charset="-122"/>
                <a:cs typeface="Microsoft YaHei" pitchFamily="34" charset="-120"/>
              </a:rPr>
              <a:t>第二问指向数字、文献、名称、条款这一类内容。这类信息一律自行核对后再使用。</a:t>
            </a:r>
            <a:endParaRPr lang="en-US" sz="1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566182"/>
            <a:ext cx="95250" cy="95250"/>
          </a:xfrm>
          <a:prstGeom prst="ellipse">
            <a:avLst/>
          </a:prstGeom>
          <a:solidFill>
            <a:srgbClr val="C2CBD8"/>
          </a:solidFill>
          <a:ln w="25400">
            <a:solidFill>
              <a:srgbClr val="C2CBD8"/>
            </a:solidFill>
            <a:prstDash val="solid"/>
          </a:ln>
        </p:spPr>
      </p:sp>
      <p:sp>
        <p:nvSpPr>
          <p:cNvPr id="5" name="Shape 3"/>
          <p:cNvSpPr/>
          <p:nvPr/>
        </p:nvSpPr>
        <p:spPr>
          <a:xfrm>
            <a:off x="485775" y="2265589"/>
            <a:ext cx="95250" cy="95250"/>
          </a:xfrm>
          <a:prstGeom prst="ellipse">
            <a:avLst/>
          </a:prstGeom>
          <a:solidFill>
            <a:srgbClr val="C2CBD8"/>
          </a:solidFill>
          <a:ln w="25400">
            <a:solidFill>
              <a:srgbClr val="C2CBD8"/>
            </a:solidFill>
            <a:prstDash val="solid"/>
          </a:ln>
        </p:spPr>
      </p:sp>
      <p:sp>
        <p:nvSpPr>
          <p:cNvPr id="6" name="Shape 4"/>
          <p:cNvSpPr/>
          <p:nvPr/>
        </p:nvSpPr>
        <p:spPr>
          <a:xfrm>
            <a:off x="485775" y="2964996"/>
            <a:ext cx="95250" cy="95250"/>
          </a:xfrm>
          <a:prstGeom prst="ellipse">
            <a:avLst/>
          </a:prstGeom>
          <a:solidFill>
            <a:srgbClr val="C2CBD8"/>
          </a:solidFill>
          <a:ln w="25400">
            <a:solidFill>
              <a:srgbClr val="C2CBD8"/>
            </a:solidFill>
            <a:prstDash val="solid"/>
          </a:ln>
        </p:spPr>
      </p:sp>
      <p:sp>
        <p:nvSpPr>
          <p:cNvPr id="7" name="Shape 5"/>
          <p:cNvSpPr/>
          <p:nvPr/>
        </p:nvSpPr>
        <p:spPr>
          <a:xfrm>
            <a:off x="485775" y="3664404"/>
            <a:ext cx="95250" cy="95250"/>
          </a:xfrm>
          <a:prstGeom prst="ellipse">
            <a:avLst/>
          </a:prstGeom>
          <a:solidFill>
            <a:srgbClr val="C2CBD8"/>
          </a:solidFill>
          <a:ln w="25400">
            <a:solidFill>
              <a:srgbClr val="C2CBD8"/>
            </a:solidFill>
            <a:prstDash val="solid"/>
          </a:ln>
        </p:spPr>
      </p:sp>
      <p:sp>
        <p:nvSpPr>
          <p:cNvPr id="8" name="Shape 6"/>
          <p:cNvSpPr/>
          <p:nvPr/>
        </p:nvSpPr>
        <p:spPr>
          <a:xfrm>
            <a:off x="466725" y="4344761"/>
            <a:ext cx="133350" cy="133350"/>
          </a:xfrm>
          <a:prstGeom prst="ellipse">
            <a:avLst/>
          </a:prstGeom>
          <a:solidFill>
            <a:srgbClr val="B0472A"/>
          </a:solidFill>
          <a:ln w="25400">
            <a:solidFill>
              <a:srgbClr val="B0472A"/>
            </a:solidFill>
            <a:prstDash val="solid"/>
          </a:ln>
        </p:spPr>
      </p:sp>
      <p:sp>
        <p:nvSpPr>
          <p:cNvPr id="9" name="Shape 7"/>
          <p:cNvSpPr/>
          <p:nvPr/>
        </p:nvSpPr>
        <p:spPr>
          <a:xfrm>
            <a:off x="485775" y="5063218"/>
            <a:ext cx="95250" cy="95250"/>
          </a:xfrm>
          <a:prstGeom prst="ellipse">
            <a:avLst/>
          </a:prstGeom>
          <a:solidFill>
            <a:srgbClr val="FFFFFF"/>
          </a:solidFill>
          <a:ln w="25400">
            <a:solidFill>
              <a:srgbClr val="E2E7F0"/>
            </a:solidFill>
            <a:prstDash val="solid"/>
          </a:ln>
        </p:spPr>
      </p:sp>
      <p:sp>
        <p:nvSpPr>
          <p:cNvPr id="10" name="Shape 8"/>
          <p:cNvSpPr/>
          <p:nvPr/>
        </p:nvSpPr>
        <p:spPr>
          <a:xfrm>
            <a:off x="485775" y="5762625"/>
            <a:ext cx="95250" cy="95250"/>
          </a:xfrm>
          <a:prstGeom prst="ellipse">
            <a:avLst/>
          </a:prstGeom>
          <a:solidFill>
            <a:srgbClr val="FFFFFF"/>
          </a:solidFill>
          <a:ln w="25400">
            <a:solidFill>
              <a:srgbClr val="E2E7F0"/>
            </a:solidFill>
            <a:prstDash val="solid"/>
          </a:ln>
        </p:spPr>
      </p:sp>
      <p:sp>
        <p:nvSpPr>
          <p:cNvPr id="11" name="Text 9"/>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五</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2" name="Text 10"/>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29</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44</a:t>
            </a:r>
            <a:endParaRPr lang="en-US" sz="1000" dirty="0"/>
          </a:p>
        </p:txBody>
      </p:sp>
      <p:sp>
        <p:nvSpPr>
          <p:cNvPr id="13" name="Text 11"/>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4" name="Text 12"/>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第五段　·　生命健康主题的双学段案例</a:t>
            </a:r>
            <a:endParaRPr lang="en-US" sz="1000" dirty="0"/>
          </a:p>
        </p:txBody>
      </p:sp>
      <p:sp>
        <p:nvSpPr>
          <p:cNvPr id="15" name="Text 13"/>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搜集分析证据</a:t>
            </a:r>
            <a:endParaRPr lang="en-US" sz="3200" dirty="0"/>
          </a:p>
        </p:txBody>
      </p:sp>
      <p:sp>
        <p:nvSpPr>
          <p:cNvPr id="16" name="Shape 14"/>
          <p:cNvSpPr/>
          <p:nvPr/>
        </p:nvSpPr>
        <p:spPr>
          <a:xfrm>
            <a:off x="4075176" y="1220724"/>
            <a:ext cx="1956816" cy="329184"/>
          </a:xfrm>
          <a:prstGeom prst="roundRect">
            <a:avLst>
              <a:gd name="adj" fmla="val 50000"/>
            </a:avLst>
          </a:prstGeom>
          <a:solidFill>
            <a:srgbClr val="C9714C"/>
          </a:solidFill>
          <a:ln w="12700">
            <a:solidFill>
              <a:srgbClr val="C9714C"/>
            </a:solidFill>
            <a:prstDash val="solid"/>
          </a:ln>
        </p:spPr>
      </p:sp>
      <p:sp>
        <p:nvSpPr>
          <p:cNvPr id="17" name="Text 15"/>
          <p:cNvSpPr/>
          <p:nvPr/>
        </p:nvSpPr>
        <p:spPr>
          <a:xfrm>
            <a:off x="4075176" y="1220724"/>
            <a:ext cx="1956816"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Microsoft YaHei" pitchFamily="34" charset="0"/>
                <a:ea typeface="Microsoft YaHei" pitchFamily="34" charset="-122"/>
                <a:cs typeface="Microsoft YaHei" pitchFamily="34" charset="-120"/>
              </a:rPr>
              <a:t>采集端收，处理端放</a:t>
            </a:r>
            <a:endParaRPr lang="en-US" sz="1100" dirty="0"/>
          </a:p>
        </p:txBody>
      </p:sp>
      <p:sp>
        <p:nvSpPr>
          <p:cNvPr id="18" name="Shape 16"/>
          <p:cNvSpPr/>
          <p:nvPr/>
        </p:nvSpPr>
        <p:spPr>
          <a:xfrm>
            <a:off x="1295400" y="1920240"/>
            <a:ext cx="4881220" cy="932688"/>
          </a:xfrm>
          <a:prstGeom prst="roundRect">
            <a:avLst>
              <a:gd name="adj" fmla="val 7843"/>
            </a:avLst>
          </a:prstGeom>
          <a:solidFill>
            <a:srgbClr val="FFFFFF"/>
          </a:solidFill>
          <a:ln w="12700">
            <a:solidFill>
              <a:srgbClr val="E2E7F0"/>
            </a:solidFill>
            <a:prstDash val="solid"/>
          </a:ln>
        </p:spPr>
      </p:sp>
      <p:sp>
        <p:nvSpPr>
          <p:cNvPr id="19" name="Shape 17"/>
          <p:cNvSpPr/>
          <p:nvPr/>
        </p:nvSpPr>
        <p:spPr>
          <a:xfrm>
            <a:off x="1295400" y="1975104"/>
            <a:ext cx="38100" cy="822960"/>
          </a:xfrm>
          <a:prstGeom prst="rect">
            <a:avLst/>
          </a:prstGeom>
          <a:solidFill>
            <a:srgbClr val="33414F"/>
          </a:solidFill>
          <a:ln w="12700">
            <a:solidFill>
              <a:srgbClr val="33414F"/>
            </a:solidFill>
            <a:prstDash val="solid"/>
          </a:ln>
        </p:spPr>
      </p:sp>
      <p:sp>
        <p:nvSpPr>
          <p:cNvPr id="20" name="Text 18"/>
          <p:cNvSpPr/>
          <p:nvPr/>
        </p:nvSpPr>
        <p:spPr>
          <a:xfrm>
            <a:off x="1514856" y="2048256"/>
            <a:ext cx="4460596" cy="182880"/>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科学护眼</a:t>
            </a:r>
            <a:endParaRPr lang="en-US" sz="950" dirty="0"/>
          </a:p>
        </p:txBody>
      </p:sp>
      <p:sp>
        <p:nvSpPr>
          <p:cNvPr id="21" name="Text 19"/>
          <p:cNvSpPr/>
          <p:nvPr/>
        </p:nvSpPr>
        <p:spPr>
          <a:xfrm>
            <a:off x="1514856" y="2286000"/>
            <a:ext cx="4460596" cy="438912"/>
          </a:xfrm>
          <a:prstGeom prst="rect">
            <a:avLst/>
          </a:prstGeom>
          <a:noFill/>
          <a:ln/>
        </p:spPr>
        <p:txBody>
          <a:bodyPr wrap="square" lIns="0" tIns="0" rIns="0" bIns="0" rtlCol="0" anchor="t"/>
          <a:lstStyle/>
          <a:p>
            <a:pPr indent="0" marL="0">
              <a:lnSpc>
                <a:spcPct val="140000"/>
              </a:lnSpc>
              <a:buNone/>
            </a:pPr>
            <a:r>
              <a:rPr lang="en-US" sz="1300" dirty="0">
                <a:solidFill>
                  <a:srgbClr val="1A2029"/>
                </a:solidFill>
                <a:latin typeface="Microsoft YaHei" pitchFamily="34" charset="0"/>
                <a:ea typeface="Microsoft YaHei" pitchFamily="34" charset="-122"/>
                <a:cs typeface="Microsoft YaHei" pitchFamily="34" charset="-120"/>
              </a:rPr>
              <a:t>照度、距离与时长由学生自行测量并记录。</a:t>
            </a:r>
            <a:endParaRPr lang="en-US" sz="1300" dirty="0"/>
          </a:p>
        </p:txBody>
      </p:sp>
      <p:sp>
        <p:nvSpPr>
          <p:cNvPr id="22" name="Shape 20"/>
          <p:cNvSpPr/>
          <p:nvPr/>
        </p:nvSpPr>
        <p:spPr>
          <a:xfrm>
            <a:off x="6396076" y="1920240"/>
            <a:ext cx="4881220" cy="932688"/>
          </a:xfrm>
          <a:prstGeom prst="roundRect">
            <a:avLst>
              <a:gd name="adj" fmla="val 7843"/>
            </a:avLst>
          </a:prstGeom>
          <a:solidFill>
            <a:srgbClr val="FFFFFF"/>
          </a:solidFill>
          <a:ln w="12700">
            <a:solidFill>
              <a:srgbClr val="E2E7F0"/>
            </a:solidFill>
            <a:prstDash val="solid"/>
          </a:ln>
        </p:spPr>
      </p:sp>
      <p:sp>
        <p:nvSpPr>
          <p:cNvPr id="23" name="Shape 21"/>
          <p:cNvSpPr/>
          <p:nvPr/>
        </p:nvSpPr>
        <p:spPr>
          <a:xfrm>
            <a:off x="6396076" y="1975104"/>
            <a:ext cx="38100" cy="822960"/>
          </a:xfrm>
          <a:prstGeom prst="rect">
            <a:avLst/>
          </a:prstGeom>
          <a:solidFill>
            <a:srgbClr val="C9714C"/>
          </a:solidFill>
          <a:ln w="12700">
            <a:solidFill>
              <a:srgbClr val="C9714C"/>
            </a:solidFill>
            <a:prstDash val="solid"/>
          </a:ln>
        </p:spPr>
      </p:sp>
      <p:sp>
        <p:nvSpPr>
          <p:cNvPr id="24" name="Text 22"/>
          <p:cNvSpPr/>
          <p:nvPr/>
        </p:nvSpPr>
        <p:spPr>
          <a:xfrm>
            <a:off x="6615532" y="2048256"/>
            <a:ext cx="4460596" cy="182880"/>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健康饮食</a:t>
            </a:r>
            <a:endParaRPr lang="en-US" sz="950" dirty="0"/>
          </a:p>
        </p:txBody>
      </p:sp>
      <p:sp>
        <p:nvSpPr>
          <p:cNvPr id="25" name="Text 23"/>
          <p:cNvSpPr/>
          <p:nvPr/>
        </p:nvSpPr>
        <p:spPr>
          <a:xfrm>
            <a:off x="6615532" y="2286000"/>
            <a:ext cx="4460596" cy="438912"/>
          </a:xfrm>
          <a:prstGeom prst="rect">
            <a:avLst/>
          </a:prstGeom>
          <a:noFill/>
          <a:ln/>
        </p:spPr>
        <p:txBody>
          <a:bodyPr wrap="square" lIns="0" tIns="0" rIns="0" bIns="0" rtlCol="0" anchor="t"/>
          <a:lstStyle/>
          <a:p>
            <a:pPr indent="0" marL="0">
              <a:lnSpc>
                <a:spcPct val="140000"/>
              </a:lnSpc>
              <a:buNone/>
            </a:pPr>
            <a:r>
              <a:rPr lang="en-US" sz="1300" dirty="0">
                <a:solidFill>
                  <a:srgbClr val="1A2029"/>
                </a:solidFill>
                <a:latin typeface="Microsoft YaHei" pitchFamily="34" charset="0"/>
                <a:ea typeface="Microsoft YaHei" pitchFamily="34" charset="-122"/>
                <a:cs typeface="Microsoft YaHei" pitchFamily="34" charset="-120"/>
              </a:rPr>
              <a:t>对照实验的原始数据由学生自行获得并记录。</a:t>
            </a:r>
            <a:endParaRPr lang="en-US" sz="1300" dirty="0"/>
          </a:p>
        </p:txBody>
      </p:sp>
      <p:sp>
        <p:nvSpPr>
          <p:cNvPr id="26" name="Text 24"/>
          <p:cNvSpPr/>
          <p:nvPr/>
        </p:nvSpPr>
        <p:spPr>
          <a:xfrm>
            <a:off x="1295400" y="3163824"/>
            <a:ext cx="9981895" cy="640080"/>
          </a:xfrm>
          <a:prstGeom prst="rect">
            <a:avLst/>
          </a:prstGeom>
          <a:noFill/>
          <a:ln/>
        </p:spPr>
        <p:txBody>
          <a:bodyPr wrap="square" lIns="0" tIns="0" rIns="0" bIns="0" rtlCol="0" anchor="t"/>
          <a:lstStyle/>
          <a:p>
            <a:pPr indent="0" marL="0">
              <a:lnSpc>
                <a:spcPct val="140000"/>
              </a:lnSpc>
              <a:buNone/>
            </a:pPr>
            <a:r>
              <a:rPr lang="en-US" sz="1800" b="1" dirty="0">
                <a:solidFill>
                  <a:srgbClr val="0F1B2D"/>
                </a:solidFill>
                <a:latin typeface="Microsoft YaHei" pitchFamily="34" charset="0"/>
                <a:ea typeface="Microsoft YaHei" pitchFamily="34" charset="-122"/>
                <a:cs typeface="Microsoft YaHei" pitchFamily="34" charset="-120"/>
              </a:rPr>
              <a:t>原始数据须由学生自行测量或调查获得。数据整理、作图与异常值标注可借助 AI。</a:t>
            </a:r>
            <a:endParaRPr lang="en-US" sz="1800" dirty="0"/>
          </a:p>
        </p:txBody>
      </p:sp>
      <p:sp>
        <p:nvSpPr>
          <p:cNvPr id="27" name="Shape 25"/>
          <p:cNvSpPr/>
          <p:nvPr/>
        </p:nvSpPr>
        <p:spPr>
          <a:xfrm>
            <a:off x="1295400" y="5321808"/>
            <a:ext cx="9981895" cy="932688"/>
          </a:xfrm>
          <a:prstGeom prst="roundRect">
            <a:avLst>
              <a:gd name="adj" fmla="val 7843"/>
            </a:avLst>
          </a:prstGeom>
          <a:solidFill>
            <a:srgbClr val="FBF1EC"/>
          </a:solidFill>
          <a:ln w="12700">
            <a:solidFill>
              <a:srgbClr val="FBF1EC"/>
            </a:solidFill>
            <a:prstDash val="solid"/>
          </a:ln>
        </p:spPr>
      </p:sp>
      <p:sp>
        <p:nvSpPr>
          <p:cNvPr id="28" name="Text 26"/>
          <p:cNvSpPr/>
          <p:nvPr/>
        </p:nvSpPr>
        <p:spPr>
          <a:xfrm>
            <a:off x="1478280" y="5486400"/>
            <a:ext cx="9616135" cy="201168"/>
          </a:xfrm>
          <a:prstGeom prst="rect">
            <a:avLst/>
          </a:prstGeom>
          <a:noFill/>
          <a:ln/>
        </p:spPr>
        <p:txBody>
          <a:bodyPr wrap="square" lIns="0" tIns="0" rIns="0" bIns="0" rtlCol="0" anchor="ctr"/>
          <a:lstStyle/>
          <a:p>
            <a:pPr indent="0" marL="0">
              <a:buNone/>
            </a:pPr>
            <a:r>
              <a:rPr lang="en-US" sz="950" b="1" spc="80" kern="0" dirty="0">
                <a:solidFill>
                  <a:srgbClr val="B0472A"/>
                </a:solidFill>
                <a:latin typeface="Microsoft YaHei" pitchFamily="34" charset="0"/>
                <a:ea typeface="Microsoft YaHei" pitchFamily="34" charset="-122"/>
                <a:cs typeface="Microsoft YaHei" pitchFamily="34" charset="-120"/>
              </a:rPr>
              <a:t>数据红线</a:t>
            </a:r>
            <a:endParaRPr lang="en-US" sz="950" dirty="0"/>
          </a:p>
        </p:txBody>
      </p:sp>
      <p:sp>
        <p:nvSpPr>
          <p:cNvPr id="29" name="Text 27"/>
          <p:cNvSpPr/>
          <p:nvPr/>
        </p:nvSpPr>
        <p:spPr>
          <a:xfrm>
            <a:off x="1478280" y="5742432"/>
            <a:ext cx="9616135" cy="502920"/>
          </a:xfrm>
          <a:prstGeom prst="rect">
            <a:avLst/>
          </a:prstGeom>
          <a:noFill/>
          <a:ln/>
        </p:spPr>
        <p:txBody>
          <a:bodyPr wrap="square" lIns="0" tIns="0" rIns="0" bIns="0" rtlCol="0" anchor="t"/>
          <a:lstStyle/>
          <a:p>
            <a:pPr indent="0" marL="0">
              <a:lnSpc>
                <a:spcPct val="140000"/>
              </a:lnSpc>
              <a:buNone/>
            </a:pPr>
            <a:r>
              <a:rPr lang="en-US" sz="1150" dirty="0">
                <a:solidFill>
                  <a:srgbClr val="1A2029"/>
                </a:solidFill>
                <a:latin typeface="Microsoft YaHei" pitchFamily="34" charset="0"/>
                <a:ea typeface="Microsoft YaHei" pitchFamily="34" charset="-122"/>
                <a:cs typeface="Microsoft YaHei" pitchFamily="34" charset="-120"/>
              </a:rPr>
              <a:t>体质健康数据属敏感信息。使用代号，不使用姓名与学号；健康与学业原始数据不上传公共工具；仅使用学校白名单内的工具。</a:t>
            </a:r>
            <a:endParaRPr lang="en-US" sz="11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566182"/>
            <a:ext cx="95250" cy="95250"/>
          </a:xfrm>
          <a:prstGeom prst="ellipse">
            <a:avLst/>
          </a:prstGeom>
          <a:solidFill>
            <a:srgbClr val="C2CBD8"/>
          </a:solidFill>
          <a:ln w="25400">
            <a:solidFill>
              <a:srgbClr val="C2CBD8"/>
            </a:solidFill>
            <a:prstDash val="solid"/>
          </a:ln>
        </p:spPr>
      </p:sp>
      <p:sp>
        <p:nvSpPr>
          <p:cNvPr id="5" name="Shape 3"/>
          <p:cNvSpPr/>
          <p:nvPr/>
        </p:nvSpPr>
        <p:spPr>
          <a:xfrm>
            <a:off x="485775" y="2265589"/>
            <a:ext cx="95250" cy="95250"/>
          </a:xfrm>
          <a:prstGeom prst="ellipse">
            <a:avLst/>
          </a:prstGeom>
          <a:solidFill>
            <a:srgbClr val="C2CBD8"/>
          </a:solidFill>
          <a:ln w="25400">
            <a:solidFill>
              <a:srgbClr val="C2CBD8"/>
            </a:solidFill>
            <a:prstDash val="solid"/>
          </a:ln>
        </p:spPr>
      </p:sp>
      <p:sp>
        <p:nvSpPr>
          <p:cNvPr id="6" name="Shape 4"/>
          <p:cNvSpPr/>
          <p:nvPr/>
        </p:nvSpPr>
        <p:spPr>
          <a:xfrm>
            <a:off x="485775" y="2964996"/>
            <a:ext cx="95250" cy="95250"/>
          </a:xfrm>
          <a:prstGeom prst="ellipse">
            <a:avLst/>
          </a:prstGeom>
          <a:solidFill>
            <a:srgbClr val="C2CBD8"/>
          </a:solidFill>
          <a:ln w="25400">
            <a:solidFill>
              <a:srgbClr val="C2CBD8"/>
            </a:solidFill>
            <a:prstDash val="solid"/>
          </a:ln>
        </p:spPr>
      </p:sp>
      <p:sp>
        <p:nvSpPr>
          <p:cNvPr id="7" name="Shape 5"/>
          <p:cNvSpPr/>
          <p:nvPr/>
        </p:nvSpPr>
        <p:spPr>
          <a:xfrm>
            <a:off x="485775" y="3664404"/>
            <a:ext cx="95250" cy="95250"/>
          </a:xfrm>
          <a:prstGeom prst="ellipse">
            <a:avLst/>
          </a:prstGeom>
          <a:solidFill>
            <a:srgbClr val="C2CBD8"/>
          </a:solidFill>
          <a:ln w="25400">
            <a:solidFill>
              <a:srgbClr val="C2CBD8"/>
            </a:solidFill>
            <a:prstDash val="solid"/>
          </a:ln>
        </p:spPr>
      </p:sp>
      <p:sp>
        <p:nvSpPr>
          <p:cNvPr id="8" name="Shape 6"/>
          <p:cNvSpPr/>
          <p:nvPr/>
        </p:nvSpPr>
        <p:spPr>
          <a:xfrm>
            <a:off x="466725" y="4344761"/>
            <a:ext cx="133350" cy="133350"/>
          </a:xfrm>
          <a:prstGeom prst="ellipse">
            <a:avLst/>
          </a:prstGeom>
          <a:solidFill>
            <a:srgbClr val="B0472A"/>
          </a:solidFill>
          <a:ln w="25400">
            <a:solidFill>
              <a:srgbClr val="B0472A"/>
            </a:solidFill>
            <a:prstDash val="solid"/>
          </a:ln>
        </p:spPr>
      </p:sp>
      <p:sp>
        <p:nvSpPr>
          <p:cNvPr id="9" name="Shape 7"/>
          <p:cNvSpPr/>
          <p:nvPr/>
        </p:nvSpPr>
        <p:spPr>
          <a:xfrm>
            <a:off x="485775" y="5063218"/>
            <a:ext cx="95250" cy="95250"/>
          </a:xfrm>
          <a:prstGeom prst="ellipse">
            <a:avLst/>
          </a:prstGeom>
          <a:solidFill>
            <a:srgbClr val="FFFFFF"/>
          </a:solidFill>
          <a:ln w="25400">
            <a:solidFill>
              <a:srgbClr val="E2E7F0"/>
            </a:solidFill>
            <a:prstDash val="solid"/>
          </a:ln>
        </p:spPr>
      </p:sp>
      <p:sp>
        <p:nvSpPr>
          <p:cNvPr id="10" name="Shape 8"/>
          <p:cNvSpPr/>
          <p:nvPr/>
        </p:nvSpPr>
        <p:spPr>
          <a:xfrm>
            <a:off x="485775" y="5762625"/>
            <a:ext cx="95250" cy="95250"/>
          </a:xfrm>
          <a:prstGeom prst="ellipse">
            <a:avLst/>
          </a:prstGeom>
          <a:solidFill>
            <a:srgbClr val="FFFFFF"/>
          </a:solidFill>
          <a:ln w="25400">
            <a:solidFill>
              <a:srgbClr val="E2E7F0"/>
            </a:solidFill>
            <a:prstDash val="solid"/>
          </a:ln>
        </p:spPr>
      </p:sp>
      <p:sp>
        <p:nvSpPr>
          <p:cNvPr id="11" name="Text 9"/>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五</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2" name="Text 10"/>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30</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44</a:t>
            </a:r>
            <a:endParaRPr lang="en-US" sz="1000" dirty="0"/>
          </a:p>
        </p:txBody>
      </p:sp>
      <p:sp>
        <p:nvSpPr>
          <p:cNvPr id="13" name="Text 11"/>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4" name="Text 12"/>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第五段　·　生命健康主题的双学段案例</a:t>
            </a:r>
            <a:endParaRPr lang="en-US" sz="1000" dirty="0"/>
          </a:p>
        </p:txBody>
      </p:sp>
      <p:sp>
        <p:nvSpPr>
          <p:cNvPr id="15" name="Text 13"/>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得出结论并解释</a:t>
            </a:r>
            <a:endParaRPr lang="en-US" sz="3200" dirty="0"/>
          </a:p>
        </p:txBody>
      </p:sp>
      <p:sp>
        <p:nvSpPr>
          <p:cNvPr id="16" name="Shape 14"/>
          <p:cNvSpPr/>
          <p:nvPr/>
        </p:nvSpPr>
        <p:spPr>
          <a:xfrm>
            <a:off x="4495800" y="1220724"/>
            <a:ext cx="822960" cy="329184"/>
          </a:xfrm>
          <a:prstGeom prst="roundRect">
            <a:avLst>
              <a:gd name="adj" fmla="val 50000"/>
            </a:avLst>
          </a:prstGeom>
          <a:solidFill>
            <a:srgbClr val="99341A"/>
          </a:solidFill>
          <a:ln w="12700">
            <a:solidFill>
              <a:srgbClr val="99341A"/>
            </a:solidFill>
            <a:prstDash val="solid"/>
          </a:ln>
        </p:spPr>
      </p:sp>
      <p:sp>
        <p:nvSpPr>
          <p:cNvPr id="17" name="Text 15"/>
          <p:cNvSpPr/>
          <p:nvPr/>
        </p:nvSpPr>
        <p:spPr>
          <a:xfrm>
            <a:off x="4495800" y="1220724"/>
            <a:ext cx="822960"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Microsoft YaHei" pitchFamily="34" charset="0"/>
                <a:ea typeface="Microsoft YaHei" pitchFamily="34" charset="-122"/>
                <a:cs typeface="Microsoft YaHei" pitchFamily="34" charset="-120"/>
              </a:rPr>
              <a:t>收</a:t>
            </a:r>
            <a:endParaRPr lang="en-US" sz="1100" dirty="0"/>
          </a:p>
        </p:txBody>
      </p:sp>
      <p:sp>
        <p:nvSpPr>
          <p:cNvPr id="18" name="Shape 16"/>
          <p:cNvSpPr/>
          <p:nvPr/>
        </p:nvSpPr>
        <p:spPr>
          <a:xfrm>
            <a:off x="1295400" y="1920240"/>
            <a:ext cx="4881220" cy="932688"/>
          </a:xfrm>
          <a:prstGeom prst="roundRect">
            <a:avLst>
              <a:gd name="adj" fmla="val 7843"/>
            </a:avLst>
          </a:prstGeom>
          <a:solidFill>
            <a:srgbClr val="FFFFFF"/>
          </a:solidFill>
          <a:ln w="12700">
            <a:solidFill>
              <a:srgbClr val="E2E7F0"/>
            </a:solidFill>
            <a:prstDash val="solid"/>
          </a:ln>
        </p:spPr>
      </p:sp>
      <p:sp>
        <p:nvSpPr>
          <p:cNvPr id="19" name="Shape 17"/>
          <p:cNvSpPr/>
          <p:nvPr/>
        </p:nvSpPr>
        <p:spPr>
          <a:xfrm>
            <a:off x="1295400" y="1975104"/>
            <a:ext cx="38100" cy="822960"/>
          </a:xfrm>
          <a:prstGeom prst="rect">
            <a:avLst/>
          </a:prstGeom>
          <a:solidFill>
            <a:srgbClr val="33414F"/>
          </a:solidFill>
          <a:ln w="12700">
            <a:solidFill>
              <a:srgbClr val="33414F"/>
            </a:solidFill>
            <a:prstDash val="solid"/>
          </a:ln>
        </p:spPr>
      </p:sp>
      <p:sp>
        <p:nvSpPr>
          <p:cNvPr id="20" name="Text 18"/>
          <p:cNvSpPr/>
          <p:nvPr/>
        </p:nvSpPr>
        <p:spPr>
          <a:xfrm>
            <a:off x="1514856" y="2048256"/>
            <a:ext cx="4460596" cy="182880"/>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科学护眼</a:t>
            </a:r>
            <a:endParaRPr lang="en-US" sz="950" dirty="0"/>
          </a:p>
        </p:txBody>
      </p:sp>
      <p:sp>
        <p:nvSpPr>
          <p:cNvPr id="21" name="Text 19"/>
          <p:cNvSpPr/>
          <p:nvPr/>
        </p:nvSpPr>
        <p:spPr>
          <a:xfrm>
            <a:off x="1514856" y="2286000"/>
            <a:ext cx="4460596" cy="438912"/>
          </a:xfrm>
          <a:prstGeom prst="rect">
            <a:avLst/>
          </a:prstGeom>
          <a:noFill/>
          <a:ln/>
        </p:spPr>
        <p:txBody>
          <a:bodyPr wrap="square" lIns="0" tIns="0" rIns="0" bIns="0" rtlCol="0" anchor="t"/>
          <a:lstStyle/>
          <a:p>
            <a:pPr indent="0" marL="0">
              <a:lnSpc>
                <a:spcPct val="140000"/>
              </a:lnSpc>
              <a:buNone/>
            </a:pPr>
            <a:r>
              <a:rPr lang="en-US" sz="1300" dirty="0">
                <a:solidFill>
                  <a:srgbClr val="1A2029"/>
                </a:solidFill>
                <a:latin typeface="Microsoft YaHei" pitchFamily="34" charset="0"/>
                <a:ea typeface="Microsoft YaHei" pitchFamily="34" charset="-122"/>
                <a:cs typeface="Microsoft YaHei" pitchFamily="34" charset="-120"/>
              </a:rPr>
              <a:t>模拟结果与预期不符时，由学生自行分析原因。</a:t>
            </a:r>
            <a:endParaRPr lang="en-US" sz="1300" dirty="0"/>
          </a:p>
        </p:txBody>
      </p:sp>
      <p:sp>
        <p:nvSpPr>
          <p:cNvPr id="22" name="Shape 20"/>
          <p:cNvSpPr/>
          <p:nvPr/>
        </p:nvSpPr>
        <p:spPr>
          <a:xfrm>
            <a:off x="6396076" y="1920240"/>
            <a:ext cx="4881220" cy="932688"/>
          </a:xfrm>
          <a:prstGeom prst="roundRect">
            <a:avLst>
              <a:gd name="adj" fmla="val 7843"/>
            </a:avLst>
          </a:prstGeom>
          <a:solidFill>
            <a:srgbClr val="FFFFFF"/>
          </a:solidFill>
          <a:ln w="12700">
            <a:solidFill>
              <a:srgbClr val="E2E7F0"/>
            </a:solidFill>
            <a:prstDash val="solid"/>
          </a:ln>
        </p:spPr>
      </p:sp>
      <p:sp>
        <p:nvSpPr>
          <p:cNvPr id="23" name="Shape 21"/>
          <p:cNvSpPr/>
          <p:nvPr/>
        </p:nvSpPr>
        <p:spPr>
          <a:xfrm>
            <a:off x="6396076" y="1975104"/>
            <a:ext cx="38100" cy="822960"/>
          </a:xfrm>
          <a:prstGeom prst="rect">
            <a:avLst/>
          </a:prstGeom>
          <a:solidFill>
            <a:srgbClr val="C9714C"/>
          </a:solidFill>
          <a:ln w="12700">
            <a:solidFill>
              <a:srgbClr val="C9714C"/>
            </a:solidFill>
            <a:prstDash val="solid"/>
          </a:ln>
        </p:spPr>
      </p:sp>
      <p:sp>
        <p:nvSpPr>
          <p:cNvPr id="24" name="Text 22"/>
          <p:cNvSpPr/>
          <p:nvPr/>
        </p:nvSpPr>
        <p:spPr>
          <a:xfrm>
            <a:off x="6615532" y="2048256"/>
            <a:ext cx="4460596" cy="182880"/>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健康饮食</a:t>
            </a:r>
            <a:endParaRPr lang="en-US" sz="950" dirty="0"/>
          </a:p>
        </p:txBody>
      </p:sp>
      <p:sp>
        <p:nvSpPr>
          <p:cNvPr id="25" name="Text 23"/>
          <p:cNvSpPr/>
          <p:nvPr/>
        </p:nvSpPr>
        <p:spPr>
          <a:xfrm>
            <a:off x="6615532" y="2286000"/>
            <a:ext cx="4460596" cy="438912"/>
          </a:xfrm>
          <a:prstGeom prst="rect">
            <a:avLst/>
          </a:prstGeom>
          <a:noFill/>
          <a:ln/>
        </p:spPr>
        <p:txBody>
          <a:bodyPr wrap="square" lIns="0" tIns="0" rIns="0" bIns="0" rtlCol="0" anchor="t"/>
          <a:lstStyle/>
          <a:p>
            <a:pPr indent="0" marL="0">
              <a:lnSpc>
                <a:spcPct val="140000"/>
              </a:lnSpc>
              <a:buNone/>
            </a:pPr>
            <a:r>
              <a:rPr lang="en-US" sz="1300" dirty="0">
                <a:solidFill>
                  <a:srgbClr val="1A2029"/>
                </a:solidFill>
                <a:latin typeface="Microsoft YaHei" pitchFamily="34" charset="0"/>
                <a:ea typeface="Microsoft YaHei" pitchFamily="34" charset="-122"/>
                <a:cs typeface="Microsoft YaHei" pitchFamily="34" charset="-120"/>
              </a:rPr>
              <a:t>对照实验数据出现异常时，由学生自行解释。</a:t>
            </a:r>
            <a:endParaRPr lang="en-US" sz="1300" dirty="0"/>
          </a:p>
        </p:txBody>
      </p:sp>
      <p:sp>
        <p:nvSpPr>
          <p:cNvPr id="26" name="Text 24"/>
          <p:cNvSpPr/>
          <p:nvPr/>
        </p:nvSpPr>
        <p:spPr>
          <a:xfrm>
            <a:off x="1295400" y="3163824"/>
            <a:ext cx="9981895" cy="640080"/>
          </a:xfrm>
          <a:prstGeom prst="rect">
            <a:avLst/>
          </a:prstGeom>
          <a:noFill/>
          <a:ln/>
        </p:spPr>
        <p:txBody>
          <a:bodyPr wrap="square" lIns="0" tIns="0" rIns="0" bIns="0" rtlCol="0" anchor="t"/>
          <a:lstStyle/>
          <a:p>
            <a:pPr indent="0" marL="0">
              <a:lnSpc>
                <a:spcPct val="140000"/>
              </a:lnSpc>
              <a:buNone/>
            </a:pPr>
            <a:r>
              <a:rPr lang="en-US" sz="1800" b="1" dirty="0">
                <a:solidFill>
                  <a:srgbClr val="0F1B2D"/>
                </a:solidFill>
                <a:latin typeface="Microsoft YaHei" pitchFamily="34" charset="0"/>
                <a:ea typeface="Microsoft YaHei" pitchFamily="34" charset="-122"/>
                <a:cs typeface="Microsoft YaHei" pitchFamily="34" charset="-120"/>
              </a:rPr>
              <a:t>本环节不使用 AI。一旦由 AI 给出解释，失败便不再具备学习材料的价值。</a:t>
            </a:r>
            <a:endParaRPr lang="en-US" sz="1800" dirty="0"/>
          </a:p>
        </p:txBody>
      </p:sp>
      <p:sp>
        <p:nvSpPr>
          <p:cNvPr id="27" name="Shape 25"/>
          <p:cNvSpPr/>
          <p:nvPr/>
        </p:nvSpPr>
        <p:spPr>
          <a:xfrm>
            <a:off x="1295400" y="5376672"/>
            <a:ext cx="9981895" cy="0"/>
          </a:xfrm>
          <a:prstGeom prst="line">
            <a:avLst/>
          </a:prstGeom>
          <a:noFill/>
          <a:ln w="12700">
            <a:solidFill>
              <a:srgbClr val="E2E7F0"/>
            </a:solidFill>
            <a:prstDash val="solid"/>
          </a:ln>
        </p:spPr>
      </p:sp>
      <p:sp>
        <p:nvSpPr>
          <p:cNvPr id="28" name="Text 26"/>
          <p:cNvSpPr/>
          <p:nvPr/>
        </p:nvSpPr>
        <p:spPr>
          <a:xfrm>
            <a:off x="1295400" y="5486400"/>
            <a:ext cx="9616135" cy="201168"/>
          </a:xfrm>
          <a:prstGeom prst="rect">
            <a:avLst/>
          </a:prstGeom>
          <a:noFill/>
          <a:ln/>
        </p:spPr>
        <p:txBody>
          <a:bodyPr wrap="square" lIns="0" tIns="0" rIns="0" bIns="0" rtlCol="0" anchor="ctr"/>
          <a:lstStyle/>
          <a:p>
            <a:pPr indent="0" marL="0">
              <a:buNone/>
            </a:pPr>
            <a:r>
              <a:rPr lang="en-US" sz="950" spc="80" kern="0" dirty="0">
                <a:solidFill>
                  <a:srgbClr val="5B6470"/>
                </a:solidFill>
                <a:latin typeface="Microsoft YaHei" pitchFamily="34" charset="0"/>
                <a:ea typeface="Microsoft YaHei" pitchFamily="34" charset="-122"/>
                <a:cs typeface="Microsoft YaHei" pitchFamily="34" charset="-120"/>
              </a:rPr>
              <a:t>包容失败条款的落点</a:t>
            </a:r>
            <a:endParaRPr lang="en-US" sz="950" dirty="0"/>
          </a:p>
        </p:txBody>
      </p:sp>
      <p:sp>
        <p:nvSpPr>
          <p:cNvPr id="29" name="Text 27"/>
          <p:cNvSpPr/>
          <p:nvPr/>
        </p:nvSpPr>
        <p:spPr>
          <a:xfrm>
            <a:off x="1295400" y="5742432"/>
            <a:ext cx="9616135" cy="502920"/>
          </a:xfrm>
          <a:prstGeom prst="rect">
            <a:avLst/>
          </a:prstGeom>
          <a:noFill/>
          <a:ln/>
        </p:spPr>
        <p:txBody>
          <a:bodyPr wrap="square" lIns="0" tIns="0" rIns="0" bIns="0" rtlCol="0" anchor="t"/>
          <a:lstStyle/>
          <a:p>
            <a:pPr indent="0" marL="0">
              <a:lnSpc>
                <a:spcPct val="140000"/>
              </a:lnSpc>
              <a:buNone/>
            </a:pPr>
            <a:r>
              <a:rPr lang="en-US" sz="1150" dirty="0">
                <a:solidFill>
                  <a:srgbClr val="1A2029"/>
                </a:solidFill>
                <a:latin typeface="Microsoft YaHei" pitchFamily="34" charset="0"/>
                <a:ea typeface="Microsoft YaHei" pitchFamily="34" charset="-122"/>
                <a:cs typeface="Microsoft YaHei" pitchFamily="34" charset="-120"/>
              </a:rPr>
              <a:t>指南原文：鼓励学生大胆尝试，包容失败，在面对具有不确定性的问题时，通过不断试错、反思、改进等，寻求问题解决方案，体验科学探索的曲折过程。</a:t>
            </a:r>
            <a:endParaRPr lang="en-US" sz="11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566182"/>
            <a:ext cx="95250" cy="95250"/>
          </a:xfrm>
          <a:prstGeom prst="ellipse">
            <a:avLst/>
          </a:prstGeom>
          <a:solidFill>
            <a:srgbClr val="C2CBD8"/>
          </a:solidFill>
          <a:ln w="25400">
            <a:solidFill>
              <a:srgbClr val="C2CBD8"/>
            </a:solidFill>
            <a:prstDash val="solid"/>
          </a:ln>
        </p:spPr>
      </p:sp>
      <p:sp>
        <p:nvSpPr>
          <p:cNvPr id="5" name="Shape 3"/>
          <p:cNvSpPr/>
          <p:nvPr/>
        </p:nvSpPr>
        <p:spPr>
          <a:xfrm>
            <a:off x="485775" y="2265589"/>
            <a:ext cx="95250" cy="95250"/>
          </a:xfrm>
          <a:prstGeom prst="ellipse">
            <a:avLst/>
          </a:prstGeom>
          <a:solidFill>
            <a:srgbClr val="C2CBD8"/>
          </a:solidFill>
          <a:ln w="25400">
            <a:solidFill>
              <a:srgbClr val="C2CBD8"/>
            </a:solidFill>
            <a:prstDash val="solid"/>
          </a:ln>
        </p:spPr>
      </p:sp>
      <p:sp>
        <p:nvSpPr>
          <p:cNvPr id="6" name="Shape 4"/>
          <p:cNvSpPr/>
          <p:nvPr/>
        </p:nvSpPr>
        <p:spPr>
          <a:xfrm>
            <a:off x="485775" y="2964996"/>
            <a:ext cx="95250" cy="95250"/>
          </a:xfrm>
          <a:prstGeom prst="ellipse">
            <a:avLst/>
          </a:prstGeom>
          <a:solidFill>
            <a:srgbClr val="C2CBD8"/>
          </a:solidFill>
          <a:ln w="25400">
            <a:solidFill>
              <a:srgbClr val="C2CBD8"/>
            </a:solidFill>
            <a:prstDash val="solid"/>
          </a:ln>
        </p:spPr>
      </p:sp>
      <p:sp>
        <p:nvSpPr>
          <p:cNvPr id="7" name="Shape 5"/>
          <p:cNvSpPr/>
          <p:nvPr/>
        </p:nvSpPr>
        <p:spPr>
          <a:xfrm>
            <a:off x="485775" y="3664404"/>
            <a:ext cx="95250" cy="95250"/>
          </a:xfrm>
          <a:prstGeom prst="ellipse">
            <a:avLst/>
          </a:prstGeom>
          <a:solidFill>
            <a:srgbClr val="C2CBD8"/>
          </a:solidFill>
          <a:ln w="25400">
            <a:solidFill>
              <a:srgbClr val="C2CBD8"/>
            </a:solidFill>
            <a:prstDash val="solid"/>
          </a:ln>
        </p:spPr>
      </p:sp>
      <p:sp>
        <p:nvSpPr>
          <p:cNvPr id="8" name="Shape 6"/>
          <p:cNvSpPr/>
          <p:nvPr/>
        </p:nvSpPr>
        <p:spPr>
          <a:xfrm>
            <a:off x="466725" y="4344761"/>
            <a:ext cx="133350" cy="133350"/>
          </a:xfrm>
          <a:prstGeom prst="ellipse">
            <a:avLst/>
          </a:prstGeom>
          <a:solidFill>
            <a:srgbClr val="B0472A"/>
          </a:solidFill>
          <a:ln w="25400">
            <a:solidFill>
              <a:srgbClr val="B0472A"/>
            </a:solidFill>
            <a:prstDash val="solid"/>
          </a:ln>
        </p:spPr>
      </p:sp>
      <p:sp>
        <p:nvSpPr>
          <p:cNvPr id="9" name="Shape 7"/>
          <p:cNvSpPr/>
          <p:nvPr/>
        </p:nvSpPr>
        <p:spPr>
          <a:xfrm>
            <a:off x="485775" y="5063218"/>
            <a:ext cx="95250" cy="95250"/>
          </a:xfrm>
          <a:prstGeom prst="ellipse">
            <a:avLst/>
          </a:prstGeom>
          <a:solidFill>
            <a:srgbClr val="FFFFFF"/>
          </a:solidFill>
          <a:ln w="25400">
            <a:solidFill>
              <a:srgbClr val="E2E7F0"/>
            </a:solidFill>
            <a:prstDash val="solid"/>
          </a:ln>
        </p:spPr>
      </p:sp>
      <p:sp>
        <p:nvSpPr>
          <p:cNvPr id="10" name="Shape 8"/>
          <p:cNvSpPr/>
          <p:nvPr/>
        </p:nvSpPr>
        <p:spPr>
          <a:xfrm>
            <a:off x="485775" y="5762625"/>
            <a:ext cx="95250" cy="95250"/>
          </a:xfrm>
          <a:prstGeom prst="ellipse">
            <a:avLst/>
          </a:prstGeom>
          <a:solidFill>
            <a:srgbClr val="FFFFFF"/>
          </a:solidFill>
          <a:ln w="25400">
            <a:solidFill>
              <a:srgbClr val="E2E7F0"/>
            </a:solidFill>
            <a:prstDash val="solid"/>
          </a:ln>
        </p:spPr>
      </p:sp>
      <p:sp>
        <p:nvSpPr>
          <p:cNvPr id="11" name="Text 9"/>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五</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2" name="Text 10"/>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31</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44</a:t>
            </a:r>
            <a:endParaRPr lang="en-US" sz="1000" dirty="0"/>
          </a:p>
        </p:txBody>
      </p:sp>
      <p:sp>
        <p:nvSpPr>
          <p:cNvPr id="13" name="Text 11"/>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4" name="Text 12"/>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第五段　·　生命健康主题的双学段案例</a:t>
            </a:r>
            <a:endParaRPr lang="en-US" sz="1000" dirty="0"/>
          </a:p>
        </p:txBody>
      </p:sp>
      <p:sp>
        <p:nvSpPr>
          <p:cNvPr id="15" name="Text 13"/>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制作改进</a:t>
            </a:r>
            <a:endParaRPr lang="en-US" sz="3200" dirty="0"/>
          </a:p>
        </p:txBody>
      </p:sp>
      <p:sp>
        <p:nvSpPr>
          <p:cNvPr id="16" name="Shape 14"/>
          <p:cNvSpPr/>
          <p:nvPr/>
        </p:nvSpPr>
        <p:spPr>
          <a:xfrm>
            <a:off x="3233928" y="1220724"/>
            <a:ext cx="822960" cy="329184"/>
          </a:xfrm>
          <a:prstGeom prst="roundRect">
            <a:avLst>
              <a:gd name="adj" fmla="val 50000"/>
            </a:avLst>
          </a:prstGeom>
          <a:solidFill>
            <a:srgbClr val="EBC4B2"/>
          </a:solidFill>
          <a:ln w="12700">
            <a:solidFill>
              <a:srgbClr val="D9A98F"/>
            </a:solidFill>
            <a:prstDash val="solid"/>
          </a:ln>
        </p:spPr>
      </p:sp>
      <p:sp>
        <p:nvSpPr>
          <p:cNvPr id="17" name="Text 15"/>
          <p:cNvSpPr/>
          <p:nvPr/>
        </p:nvSpPr>
        <p:spPr>
          <a:xfrm>
            <a:off x="3233928" y="1220724"/>
            <a:ext cx="822960" cy="329184"/>
          </a:xfrm>
          <a:prstGeom prst="rect">
            <a:avLst/>
          </a:prstGeom>
          <a:noFill/>
          <a:ln/>
        </p:spPr>
        <p:txBody>
          <a:bodyPr wrap="square" lIns="0" tIns="0" rIns="0" bIns="0" rtlCol="0" anchor="ctr"/>
          <a:lstStyle/>
          <a:p>
            <a:pPr algn="ctr" indent="0" marL="0">
              <a:buNone/>
            </a:pPr>
            <a:r>
              <a:rPr lang="en-US" sz="1100" b="1" dirty="0">
                <a:solidFill>
                  <a:srgbClr val="1A2029"/>
                </a:solidFill>
                <a:latin typeface="Microsoft YaHei" pitchFamily="34" charset="0"/>
                <a:ea typeface="Microsoft YaHei" pitchFamily="34" charset="-122"/>
                <a:cs typeface="Microsoft YaHei" pitchFamily="34" charset="-120"/>
              </a:rPr>
              <a:t>半放</a:t>
            </a:r>
            <a:endParaRPr lang="en-US" sz="1100" dirty="0"/>
          </a:p>
        </p:txBody>
      </p:sp>
      <p:sp>
        <p:nvSpPr>
          <p:cNvPr id="18" name="Shape 16"/>
          <p:cNvSpPr/>
          <p:nvPr/>
        </p:nvSpPr>
        <p:spPr>
          <a:xfrm>
            <a:off x="1295400" y="1920240"/>
            <a:ext cx="4881220" cy="932688"/>
          </a:xfrm>
          <a:prstGeom prst="roundRect">
            <a:avLst>
              <a:gd name="adj" fmla="val 7843"/>
            </a:avLst>
          </a:prstGeom>
          <a:solidFill>
            <a:srgbClr val="FFFFFF"/>
          </a:solidFill>
          <a:ln w="12700">
            <a:solidFill>
              <a:srgbClr val="E2E7F0"/>
            </a:solidFill>
            <a:prstDash val="solid"/>
          </a:ln>
        </p:spPr>
      </p:sp>
      <p:sp>
        <p:nvSpPr>
          <p:cNvPr id="19" name="Shape 17"/>
          <p:cNvSpPr/>
          <p:nvPr/>
        </p:nvSpPr>
        <p:spPr>
          <a:xfrm>
            <a:off x="1295400" y="1975104"/>
            <a:ext cx="38100" cy="822960"/>
          </a:xfrm>
          <a:prstGeom prst="rect">
            <a:avLst/>
          </a:prstGeom>
          <a:solidFill>
            <a:srgbClr val="33414F"/>
          </a:solidFill>
          <a:ln w="12700">
            <a:solidFill>
              <a:srgbClr val="33414F"/>
            </a:solidFill>
            <a:prstDash val="solid"/>
          </a:ln>
        </p:spPr>
      </p:sp>
      <p:sp>
        <p:nvSpPr>
          <p:cNvPr id="20" name="Text 18"/>
          <p:cNvSpPr/>
          <p:nvPr/>
        </p:nvSpPr>
        <p:spPr>
          <a:xfrm>
            <a:off x="1514856" y="2048256"/>
            <a:ext cx="4460596" cy="182880"/>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科学护眼</a:t>
            </a:r>
            <a:endParaRPr lang="en-US" sz="950" dirty="0"/>
          </a:p>
        </p:txBody>
      </p:sp>
      <p:sp>
        <p:nvSpPr>
          <p:cNvPr id="21" name="Text 19"/>
          <p:cNvSpPr/>
          <p:nvPr/>
        </p:nvSpPr>
        <p:spPr>
          <a:xfrm>
            <a:off x="1514856" y="2286000"/>
            <a:ext cx="4460596" cy="438912"/>
          </a:xfrm>
          <a:prstGeom prst="rect">
            <a:avLst/>
          </a:prstGeom>
          <a:noFill/>
          <a:ln/>
        </p:spPr>
        <p:txBody>
          <a:bodyPr wrap="square" lIns="0" tIns="0" rIns="0" bIns="0" rtlCol="0" anchor="t"/>
          <a:lstStyle/>
          <a:p>
            <a:pPr indent="0" marL="0">
              <a:lnSpc>
                <a:spcPct val="140000"/>
              </a:lnSpc>
              <a:buNone/>
            </a:pPr>
            <a:r>
              <a:rPr lang="en-US" sz="1300" dirty="0">
                <a:solidFill>
                  <a:srgbClr val="1A2029"/>
                </a:solidFill>
                <a:latin typeface="Microsoft YaHei" pitchFamily="34" charset="0"/>
                <a:ea typeface="Microsoft YaHei" pitchFamily="34" charset="-122"/>
                <a:cs typeface="Microsoft YaHei" pitchFamily="34" charset="-120"/>
              </a:rPr>
              <a:t>以废旧材料制作坐姿矫正支架或护眼提醒卡，测试后修改一版。</a:t>
            </a:r>
            <a:endParaRPr lang="en-US" sz="1300" dirty="0"/>
          </a:p>
        </p:txBody>
      </p:sp>
      <p:sp>
        <p:nvSpPr>
          <p:cNvPr id="22" name="Shape 20"/>
          <p:cNvSpPr/>
          <p:nvPr/>
        </p:nvSpPr>
        <p:spPr>
          <a:xfrm>
            <a:off x="6396076" y="1920240"/>
            <a:ext cx="4881220" cy="932688"/>
          </a:xfrm>
          <a:prstGeom prst="roundRect">
            <a:avLst>
              <a:gd name="adj" fmla="val 7843"/>
            </a:avLst>
          </a:prstGeom>
          <a:solidFill>
            <a:srgbClr val="FFFFFF"/>
          </a:solidFill>
          <a:ln w="12700">
            <a:solidFill>
              <a:srgbClr val="E2E7F0"/>
            </a:solidFill>
            <a:prstDash val="solid"/>
          </a:ln>
        </p:spPr>
      </p:sp>
      <p:sp>
        <p:nvSpPr>
          <p:cNvPr id="23" name="Shape 21"/>
          <p:cNvSpPr/>
          <p:nvPr/>
        </p:nvSpPr>
        <p:spPr>
          <a:xfrm>
            <a:off x="6396076" y="1975104"/>
            <a:ext cx="38100" cy="822960"/>
          </a:xfrm>
          <a:prstGeom prst="rect">
            <a:avLst/>
          </a:prstGeom>
          <a:solidFill>
            <a:srgbClr val="C9714C"/>
          </a:solidFill>
          <a:ln w="12700">
            <a:solidFill>
              <a:srgbClr val="C9714C"/>
            </a:solidFill>
            <a:prstDash val="solid"/>
          </a:ln>
        </p:spPr>
      </p:sp>
      <p:sp>
        <p:nvSpPr>
          <p:cNvPr id="24" name="Text 22"/>
          <p:cNvSpPr/>
          <p:nvPr/>
        </p:nvSpPr>
        <p:spPr>
          <a:xfrm>
            <a:off x="6615532" y="2048256"/>
            <a:ext cx="4460596" cy="182880"/>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健康饮食</a:t>
            </a:r>
            <a:endParaRPr lang="en-US" sz="950" dirty="0"/>
          </a:p>
        </p:txBody>
      </p:sp>
      <p:sp>
        <p:nvSpPr>
          <p:cNvPr id="25" name="Text 23"/>
          <p:cNvSpPr/>
          <p:nvPr/>
        </p:nvSpPr>
        <p:spPr>
          <a:xfrm>
            <a:off x="6615532" y="2286000"/>
            <a:ext cx="4460596" cy="438912"/>
          </a:xfrm>
          <a:prstGeom prst="rect">
            <a:avLst/>
          </a:prstGeom>
          <a:noFill/>
          <a:ln/>
        </p:spPr>
        <p:txBody>
          <a:bodyPr wrap="square" lIns="0" tIns="0" rIns="0" bIns="0" rtlCol="0" anchor="t"/>
          <a:lstStyle/>
          <a:p>
            <a:pPr indent="0" marL="0">
              <a:lnSpc>
                <a:spcPct val="140000"/>
              </a:lnSpc>
              <a:buNone/>
            </a:pPr>
            <a:r>
              <a:rPr lang="en-US" sz="1300" dirty="0">
                <a:solidFill>
                  <a:srgbClr val="1A2029"/>
                </a:solidFill>
                <a:latin typeface="Microsoft YaHei" pitchFamily="34" charset="0"/>
                <a:ea typeface="Microsoft YaHei" pitchFamily="34" charset="-122"/>
                <a:cs typeface="Microsoft YaHei" pitchFamily="34" charset="-120"/>
              </a:rPr>
              <a:t>依据营养与能量的平衡，兼顾时间与经济成本，拟定可行的饮食方案。</a:t>
            </a:r>
            <a:endParaRPr lang="en-US" sz="1300" dirty="0"/>
          </a:p>
        </p:txBody>
      </p:sp>
      <p:sp>
        <p:nvSpPr>
          <p:cNvPr id="26" name="Text 24"/>
          <p:cNvSpPr/>
          <p:nvPr/>
        </p:nvSpPr>
        <p:spPr>
          <a:xfrm>
            <a:off x="1295400" y="3163824"/>
            <a:ext cx="9981895" cy="640080"/>
          </a:xfrm>
          <a:prstGeom prst="rect">
            <a:avLst/>
          </a:prstGeom>
          <a:noFill/>
          <a:ln/>
        </p:spPr>
        <p:txBody>
          <a:bodyPr wrap="square" lIns="0" tIns="0" rIns="0" bIns="0" rtlCol="0" anchor="t"/>
          <a:lstStyle/>
          <a:p>
            <a:pPr indent="0" marL="0">
              <a:lnSpc>
                <a:spcPct val="140000"/>
              </a:lnSpc>
              <a:buNone/>
            </a:pPr>
            <a:r>
              <a:rPr lang="en-US" sz="1800" b="1" dirty="0">
                <a:solidFill>
                  <a:srgbClr val="0F1B2D"/>
                </a:solidFill>
                <a:latin typeface="Microsoft YaHei" pitchFamily="34" charset="0"/>
                <a:ea typeface="Microsoft YaHei" pitchFamily="34" charset="-122"/>
                <a:cs typeface="Microsoft YaHei" pitchFamily="34" charset="-120"/>
              </a:rPr>
              <a:t>查询材料属性、检索同类结构可行。输出成品设计方案不可行。</a:t>
            </a:r>
            <a:endParaRPr lang="en-US" sz="1800" dirty="0"/>
          </a:p>
        </p:txBody>
      </p:sp>
      <p:sp>
        <p:nvSpPr>
          <p:cNvPr id="27" name="Shape 25"/>
          <p:cNvSpPr/>
          <p:nvPr/>
        </p:nvSpPr>
        <p:spPr>
          <a:xfrm>
            <a:off x="1295400" y="5376672"/>
            <a:ext cx="9981895" cy="0"/>
          </a:xfrm>
          <a:prstGeom prst="line">
            <a:avLst/>
          </a:prstGeom>
          <a:noFill/>
          <a:ln w="12700">
            <a:solidFill>
              <a:srgbClr val="E2E7F0"/>
            </a:solidFill>
            <a:prstDash val="solid"/>
          </a:ln>
        </p:spPr>
      </p:sp>
      <p:sp>
        <p:nvSpPr>
          <p:cNvPr id="28" name="Text 26"/>
          <p:cNvSpPr/>
          <p:nvPr/>
        </p:nvSpPr>
        <p:spPr>
          <a:xfrm>
            <a:off x="1295400" y="5486400"/>
            <a:ext cx="9616135" cy="201168"/>
          </a:xfrm>
          <a:prstGeom prst="rect">
            <a:avLst/>
          </a:prstGeom>
          <a:noFill/>
          <a:ln/>
        </p:spPr>
        <p:txBody>
          <a:bodyPr wrap="square" lIns="0" tIns="0" rIns="0" bIns="0" rtlCol="0" anchor="ctr"/>
          <a:lstStyle/>
          <a:p>
            <a:pPr indent="0" marL="0">
              <a:buNone/>
            </a:pPr>
            <a:r>
              <a:rPr lang="en-US" sz="950" spc="80" kern="0" dirty="0">
                <a:solidFill>
                  <a:srgbClr val="5B6470"/>
                </a:solidFill>
                <a:latin typeface="Microsoft YaHei" pitchFamily="34" charset="0"/>
                <a:ea typeface="Microsoft YaHei" pitchFamily="34" charset="-122"/>
                <a:cs typeface="Microsoft YaHei" pitchFamily="34" charset="-120"/>
              </a:rPr>
              <a:t>迭代要求</a:t>
            </a:r>
            <a:endParaRPr lang="en-US" sz="950" dirty="0"/>
          </a:p>
        </p:txBody>
      </p:sp>
      <p:sp>
        <p:nvSpPr>
          <p:cNvPr id="29" name="Text 27"/>
          <p:cNvSpPr/>
          <p:nvPr/>
        </p:nvSpPr>
        <p:spPr>
          <a:xfrm>
            <a:off x="1295400" y="5742432"/>
            <a:ext cx="9616135" cy="502920"/>
          </a:xfrm>
          <a:prstGeom prst="rect">
            <a:avLst/>
          </a:prstGeom>
          <a:noFill/>
          <a:ln/>
        </p:spPr>
        <p:txBody>
          <a:bodyPr wrap="square" lIns="0" tIns="0" rIns="0" bIns="0" rtlCol="0" anchor="t"/>
          <a:lstStyle/>
          <a:p>
            <a:pPr indent="0" marL="0">
              <a:lnSpc>
                <a:spcPct val="140000"/>
              </a:lnSpc>
              <a:buNone/>
            </a:pPr>
            <a:r>
              <a:rPr lang="en-US" sz="1150" dirty="0">
                <a:solidFill>
                  <a:srgbClr val="1A2029"/>
                </a:solidFill>
                <a:latin typeface="Microsoft YaHei" pitchFamily="34" charset="0"/>
                <a:ea typeface="Microsoft YaHei" pitchFamily="34" charset="-122"/>
                <a:cs typeface="Microsoft YaHei" pitchFamily="34" charset="-120"/>
              </a:rPr>
              <a:t>做中学的物化环节带迭代要求：测试、优化、再测试。单一版本不构成完成。</a:t>
            </a:r>
            <a:endParaRPr lang="en-US" sz="11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566182"/>
            <a:ext cx="95250" cy="95250"/>
          </a:xfrm>
          <a:prstGeom prst="ellipse">
            <a:avLst/>
          </a:prstGeom>
          <a:solidFill>
            <a:srgbClr val="C2CBD8"/>
          </a:solidFill>
          <a:ln w="25400">
            <a:solidFill>
              <a:srgbClr val="C2CBD8"/>
            </a:solidFill>
            <a:prstDash val="solid"/>
          </a:ln>
        </p:spPr>
      </p:sp>
      <p:sp>
        <p:nvSpPr>
          <p:cNvPr id="5" name="Shape 3"/>
          <p:cNvSpPr/>
          <p:nvPr/>
        </p:nvSpPr>
        <p:spPr>
          <a:xfrm>
            <a:off x="485775" y="2265589"/>
            <a:ext cx="95250" cy="95250"/>
          </a:xfrm>
          <a:prstGeom prst="ellipse">
            <a:avLst/>
          </a:prstGeom>
          <a:solidFill>
            <a:srgbClr val="C2CBD8"/>
          </a:solidFill>
          <a:ln w="25400">
            <a:solidFill>
              <a:srgbClr val="C2CBD8"/>
            </a:solidFill>
            <a:prstDash val="solid"/>
          </a:ln>
        </p:spPr>
      </p:sp>
      <p:sp>
        <p:nvSpPr>
          <p:cNvPr id="6" name="Shape 4"/>
          <p:cNvSpPr/>
          <p:nvPr/>
        </p:nvSpPr>
        <p:spPr>
          <a:xfrm>
            <a:off x="485775" y="2964996"/>
            <a:ext cx="95250" cy="95250"/>
          </a:xfrm>
          <a:prstGeom prst="ellipse">
            <a:avLst/>
          </a:prstGeom>
          <a:solidFill>
            <a:srgbClr val="C2CBD8"/>
          </a:solidFill>
          <a:ln w="25400">
            <a:solidFill>
              <a:srgbClr val="C2CBD8"/>
            </a:solidFill>
            <a:prstDash val="solid"/>
          </a:ln>
        </p:spPr>
      </p:sp>
      <p:sp>
        <p:nvSpPr>
          <p:cNvPr id="7" name="Shape 5"/>
          <p:cNvSpPr/>
          <p:nvPr/>
        </p:nvSpPr>
        <p:spPr>
          <a:xfrm>
            <a:off x="485775" y="3664404"/>
            <a:ext cx="95250" cy="95250"/>
          </a:xfrm>
          <a:prstGeom prst="ellipse">
            <a:avLst/>
          </a:prstGeom>
          <a:solidFill>
            <a:srgbClr val="C2CBD8"/>
          </a:solidFill>
          <a:ln w="25400">
            <a:solidFill>
              <a:srgbClr val="C2CBD8"/>
            </a:solidFill>
            <a:prstDash val="solid"/>
          </a:ln>
        </p:spPr>
      </p:sp>
      <p:sp>
        <p:nvSpPr>
          <p:cNvPr id="8" name="Shape 6"/>
          <p:cNvSpPr/>
          <p:nvPr/>
        </p:nvSpPr>
        <p:spPr>
          <a:xfrm>
            <a:off x="466725" y="4344761"/>
            <a:ext cx="133350" cy="133350"/>
          </a:xfrm>
          <a:prstGeom prst="ellipse">
            <a:avLst/>
          </a:prstGeom>
          <a:solidFill>
            <a:srgbClr val="B0472A"/>
          </a:solidFill>
          <a:ln w="25400">
            <a:solidFill>
              <a:srgbClr val="B0472A"/>
            </a:solidFill>
            <a:prstDash val="solid"/>
          </a:ln>
        </p:spPr>
      </p:sp>
      <p:sp>
        <p:nvSpPr>
          <p:cNvPr id="9" name="Shape 7"/>
          <p:cNvSpPr/>
          <p:nvPr/>
        </p:nvSpPr>
        <p:spPr>
          <a:xfrm>
            <a:off x="485775" y="5063218"/>
            <a:ext cx="95250" cy="95250"/>
          </a:xfrm>
          <a:prstGeom prst="ellipse">
            <a:avLst/>
          </a:prstGeom>
          <a:solidFill>
            <a:srgbClr val="FFFFFF"/>
          </a:solidFill>
          <a:ln w="25400">
            <a:solidFill>
              <a:srgbClr val="E2E7F0"/>
            </a:solidFill>
            <a:prstDash val="solid"/>
          </a:ln>
        </p:spPr>
      </p:sp>
      <p:sp>
        <p:nvSpPr>
          <p:cNvPr id="10" name="Shape 8"/>
          <p:cNvSpPr/>
          <p:nvPr/>
        </p:nvSpPr>
        <p:spPr>
          <a:xfrm>
            <a:off x="485775" y="5762625"/>
            <a:ext cx="95250" cy="95250"/>
          </a:xfrm>
          <a:prstGeom prst="ellipse">
            <a:avLst/>
          </a:prstGeom>
          <a:solidFill>
            <a:srgbClr val="FFFFFF"/>
          </a:solidFill>
          <a:ln w="25400">
            <a:solidFill>
              <a:srgbClr val="E2E7F0"/>
            </a:solidFill>
            <a:prstDash val="solid"/>
          </a:ln>
        </p:spPr>
      </p:sp>
      <p:sp>
        <p:nvSpPr>
          <p:cNvPr id="11" name="Text 9"/>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五</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2" name="Text 10"/>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32</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44</a:t>
            </a:r>
            <a:endParaRPr lang="en-US" sz="1000" dirty="0"/>
          </a:p>
        </p:txBody>
      </p:sp>
      <p:sp>
        <p:nvSpPr>
          <p:cNvPr id="13" name="Text 11"/>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4" name="Text 12"/>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第五段　·　生命健康主题的双学段案例</a:t>
            </a:r>
            <a:endParaRPr lang="en-US" sz="1000" dirty="0"/>
          </a:p>
        </p:txBody>
      </p:sp>
      <p:sp>
        <p:nvSpPr>
          <p:cNvPr id="15" name="Text 13"/>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交流反思</a:t>
            </a:r>
            <a:endParaRPr lang="en-US" sz="3200" dirty="0"/>
          </a:p>
        </p:txBody>
      </p:sp>
      <p:sp>
        <p:nvSpPr>
          <p:cNvPr id="16" name="Shape 14"/>
          <p:cNvSpPr/>
          <p:nvPr/>
        </p:nvSpPr>
        <p:spPr>
          <a:xfrm>
            <a:off x="3233928" y="1220724"/>
            <a:ext cx="1408176" cy="329184"/>
          </a:xfrm>
          <a:prstGeom prst="roundRect">
            <a:avLst>
              <a:gd name="adj" fmla="val 50000"/>
            </a:avLst>
          </a:prstGeom>
          <a:solidFill>
            <a:srgbClr val="FFFFFF"/>
          </a:solidFill>
          <a:ln w="12700">
            <a:solidFill>
              <a:srgbClr val="D9A98F"/>
            </a:solidFill>
            <a:prstDash val="solid"/>
          </a:ln>
        </p:spPr>
      </p:sp>
      <p:sp>
        <p:nvSpPr>
          <p:cNvPr id="17" name="Text 15"/>
          <p:cNvSpPr/>
          <p:nvPr/>
        </p:nvSpPr>
        <p:spPr>
          <a:xfrm>
            <a:off x="3233928" y="1220724"/>
            <a:ext cx="1408176" cy="329184"/>
          </a:xfrm>
          <a:prstGeom prst="rect">
            <a:avLst/>
          </a:prstGeom>
          <a:noFill/>
          <a:ln/>
        </p:spPr>
        <p:txBody>
          <a:bodyPr wrap="square" lIns="0" tIns="0" rIns="0" bIns="0" rtlCol="0" anchor="ctr"/>
          <a:lstStyle/>
          <a:p>
            <a:pPr algn="ctr" indent="0" marL="0">
              <a:buNone/>
            </a:pPr>
            <a:r>
              <a:rPr lang="en-US" sz="1100" b="1" dirty="0">
                <a:solidFill>
                  <a:srgbClr val="5B6470"/>
                </a:solidFill>
                <a:latin typeface="Microsoft YaHei" pitchFamily="34" charset="0"/>
                <a:ea typeface="Microsoft YaHei" pitchFamily="34" charset="-122"/>
                <a:cs typeface="Microsoft YaHei" pitchFamily="34" charset="-120"/>
              </a:rPr>
              <a:t>放，但要标注</a:t>
            </a:r>
            <a:endParaRPr lang="en-US" sz="1100" dirty="0"/>
          </a:p>
        </p:txBody>
      </p:sp>
      <p:sp>
        <p:nvSpPr>
          <p:cNvPr id="18" name="Shape 16"/>
          <p:cNvSpPr/>
          <p:nvPr/>
        </p:nvSpPr>
        <p:spPr>
          <a:xfrm>
            <a:off x="1295400" y="1920240"/>
            <a:ext cx="4881220" cy="932688"/>
          </a:xfrm>
          <a:prstGeom prst="roundRect">
            <a:avLst>
              <a:gd name="adj" fmla="val 7843"/>
            </a:avLst>
          </a:prstGeom>
          <a:solidFill>
            <a:srgbClr val="FFFFFF"/>
          </a:solidFill>
          <a:ln w="12700">
            <a:solidFill>
              <a:srgbClr val="E2E7F0"/>
            </a:solidFill>
            <a:prstDash val="solid"/>
          </a:ln>
        </p:spPr>
      </p:sp>
      <p:sp>
        <p:nvSpPr>
          <p:cNvPr id="19" name="Shape 17"/>
          <p:cNvSpPr/>
          <p:nvPr/>
        </p:nvSpPr>
        <p:spPr>
          <a:xfrm>
            <a:off x="1295400" y="1975104"/>
            <a:ext cx="38100" cy="822960"/>
          </a:xfrm>
          <a:prstGeom prst="rect">
            <a:avLst/>
          </a:prstGeom>
          <a:solidFill>
            <a:srgbClr val="33414F"/>
          </a:solidFill>
          <a:ln w="12700">
            <a:solidFill>
              <a:srgbClr val="33414F"/>
            </a:solidFill>
            <a:prstDash val="solid"/>
          </a:ln>
        </p:spPr>
      </p:sp>
      <p:sp>
        <p:nvSpPr>
          <p:cNvPr id="20" name="Text 18"/>
          <p:cNvSpPr/>
          <p:nvPr/>
        </p:nvSpPr>
        <p:spPr>
          <a:xfrm>
            <a:off x="1514856" y="2048256"/>
            <a:ext cx="4460596" cy="182880"/>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科学护眼</a:t>
            </a:r>
            <a:endParaRPr lang="en-US" sz="950" dirty="0"/>
          </a:p>
        </p:txBody>
      </p:sp>
      <p:sp>
        <p:nvSpPr>
          <p:cNvPr id="21" name="Text 19"/>
          <p:cNvSpPr/>
          <p:nvPr/>
        </p:nvSpPr>
        <p:spPr>
          <a:xfrm>
            <a:off x="1514856" y="2286000"/>
            <a:ext cx="4460596" cy="438912"/>
          </a:xfrm>
          <a:prstGeom prst="rect">
            <a:avLst/>
          </a:prstGeom>
          <a:noFill/>
          <a:ln/>
        </p:spPr>
        <p:txBody>
          <a:bodyPr wrap="square" lIns="0" tIns="0" rIns="0" bIns="0" rtlCol="0" anchor="t"/>
          <a:lstStyle/>
          <a:p>
            <a:pPr indent="0" marL="0">
              <a:lnSpc>
                <a:spcPct val="140000"/>
              </a:lnSpc>
              <a:buNone/>
            </a:pPr>
            <a:r>
              <a:rPr lang="en-US" sz="1300" dirty="0">
                <a:solidFill>
                  <a:srgbClr val="1A2029"/>
                </a:solidFill>
                <a:latin typeface="Microsoft YaHei" pitchFamily="34" charset="0"/>
                <a:ea typeface="Microsoft YaHei" pitchFamily="34" charset="-122"/>
                <a:cs typeface="Microsoft YaHei" pitchFamily="34" charset="-120"/>
              </a:rPr>
              <a:t>面向一二年级开展护眼倡议与工具试用，收集反馈后修改一版。</a:t>
            </a:r>
            <a:endParaRPr lang="en-US" sz="1300" dirty="0"/>
          </a:p>
        </p:txBody>
      </p:sp>
      <p:sp>
        <p:nvSpPr>
          <p:cNvPr id="22" name="Shape 20"/>
          <p:cNvSpPr/>
          <p:nvPr/>
        </p:nvSpPr>
        <p:spPr>
          <a:xfrm>
            <a:off x="6396076" y="1920240"/>
            <a:ext cx="4881220" cy="932688"/>
          </a:xfrm>
          <a:prstGeom prst="roundRect">
            <a:avLst>
              <a:gd name="adj" fmla="val 7843"/>
            </a:avLst>
          </a:prstGeom>
          <a:solidFill>
            <a:srgbClr val="FFFFFF"/>
          </a:solidFill>
          <a:ln w="12700">
            <a:solidFill>
              <a:srgbClr val="E2E7F0"/>
            </a:solidFill>
            <a:prstDash val="solid"/>
          </a:ln>
        </p:spPr>
      </p:sp>
      <p:sp>
        <p:nvSpPr>
          <p:cNvPr id="23" name="Shape 21"/>
          <p:cNvSpPr/>
          <p:nvPr/>
        </p:nvSpPr>
        <p:spPr>
          <a:xfrm>
            <a:off x="6396076" y="1975104"/>
            <a:ext cx="38100" cy="822960"/>
          </a:xfrm>
          <a:prstGeom prst="rect">
            <a:avLst/>
          </a:prstGeom>
          <a:solidFill>
            <a:srgbClr val="C9714C"/>
          </a:solidFill>
          <a:ln w="12700">
            <a:solidFill>
              <a:srgbClr val="C9714C"/>
            </a:solidFill>
            <a:prstDash val="solid"/>
          </a:ln>
        </p:spPr>
      </p:sp>
      <p:sp>
        <p:nvSpPr>
          <p:cNvPr id="24" name="Text 22"/>
          <p:cNvSpPr/>
          <p:nvPr/>
        </p:nvSpPr>
        <p:spPr>
          <a:xfrm>
            <a:off x="6615532" y="2048256"/>
            <a:ext cx="4460596" cy="182880"/>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健康饮食</a:t>
            </a:r>
            <a:endParaRPr lang="en-US" sz="950" dirty="0"/>
          </a:p>
        </p:txBody>
      </p:sp>
      <p:sp>
        <p:nvSpPr>
          <p:cNvPr id="25" name="Text 23"/>
          <p:cNvSpPr/>
          <p:nvPr/>
        </p:nvSpPr>
        <p:spPr>
          <a:xfrm>
            <a:off x="6615532" y="2286000"/>
            <a:ext cx="4460596" cy="438912"/>
          </a:xfrm>
          <a:prstGeom prst="rect">
            <a:avLst/>
          </a:prstGeom>
          <a:noFill/>
          <a:ln/>
        </p:spPr>
        <p:txBody>
          <a:bodyPr wrap="square" lIns="0" tIns="0" rIns="0" bIns="0" rtlCol="0" anchor="t"/>
          <a:lstStyle/>
          <a:p>
            <a:pPr indent="0" marL="0">
              <a:lnSpc>
                <a:spcPct val="140000"/>
              </a:lnSpc>
              <a:buNone/>
            </a:pPr>
            <a:r>
              <a:rPr lang="en-US" sz="1300" dirty="0">
                <a:solidFill>
                  <a:srgbClr val="1A2029"/>
                </a:solidFill>
                <a:latin typeface="Microsoft YaHei" pitchFamily="34" charset="0"/>
                <a:ea typeface="Microsoft YaHei" pitchFamily="34" charset="-122"/>
                <a:cs typeface="Microsoft YaHei" pitchFamily="34" charset="-120"/>
              </a:rPr>
              <a:t>面向社区居民开展健康饮食科普宣传，提出健康饮食倡议。</a:t>
            </a:r>
            <a:endParaRPr lang="en-US" sz="1300" dirty="0"/>
          </a:p>
        </p:txBody>
      </p:sp>
      <p:sp>
        <p:nvSpPr>
          <p:cNvPr id="26" name="Text 24"/>
          <p:cNvSpPr/>
          <p:nvPr/>
        </p:nvSpPr>
        <p:spPr>
          <a:xfrm>
            <a:off x="1295400" y="3163824"/>
            <a:ext cx="9981895" cy="640080"/>
          </a:xfrm>
          <a:prstGeom prst="rect">
            <a:avLst/>
          </a:prstGeom>
          <a:noFill/>
          <a:ln/>
        </p:spPr>
        <p:txBody>
          <a:bodyPr wrap="square" lIns="0" tIns="0" rIns="0" bIns="0" rtlCol="0" anchor="t"/>
          <a:lstStyle/>
          <a:p>
            <a:pPr indent="0" marL="0">
              <a:lnSpc>
                <a:spcPct val="140000"/>
              </a:lnSpc>
              <a:buNone/>
            </a:pPr>
            <a:r>
              <a:rPr lang="en-US" sz="1800" b="1" dirty="0">
                <a:solidFill>
                  <a:srgbClr val="0F1B2D"/>
                </a:solidFill>
                <a:latin typeface="Microsoft YaHei" pitchFamily="34" charset="0"/>
                <a:ea typeface="Microsoft YaHei" pitchFamily="34" charset="-122"/>
                <a:cs typeface="Microsoft YaHei" pitchFamily="34" charset="-120"/>
              </a:rPr>
              <a:t>此时思维过程已经完成，AI 用于表达的风险较低。使用后须标注。</a:t>
            </a:r>
            <a:endParaRPr lang="en-US" sz="1800" dirty="0"/>
          </a:p>
        </p:txBody>
      </p:sp>
      <p:sp>
        <p:nvSpPr>
          <p:cNvPr id="27" name="Shape 25"/>
          <p:cNvSpPr/>
          <p:nvPr/>
        </p:nvSpPr>
        <p:spPr>
          <a:xfrm>
            <a:off x="1295400" y="5376672"/>
            <a:ext cx="9981895" cy="0"/>
          </a:xfrm>
          <a:prstGeom prst="line">
            <a:avLst/>
          </a:prstGeom>
          <a:noFill/>
          <a:ln w="12700">
            <a:solidFill>
              <a:srgbClr val="E2E7F0"/>
            </a:solidFill>
            <a:prstDash val="solid"/>
          </a:ln>
        </p:spPr>
      </p:sp>
      <p:sp>
        <p:nvSpPr>
          <p:cNvPr id="28" name="Text 26"/>
          <p:cNvSpPr/>
          <p:nvPr/>
        </p:nvSpPr>
        <p:spPr>
          <a:xfrm>
            <a:off x="1295400" y="5486400"/>
            <a:ext cx="9616135" cy="201168"/>
          </a:xfrm>
          <a:prstGeom prst="rect">
            <a:avLst/>
          </a:prstGeom>
          <a:noFill/>
          <a:ln/>
        </p:spPr>
        <p:txBody>
          <a:bodyPr wrap="square" lIns="0" tIns="0" rIns="0" bIns="0" rtlCol="0" anchor="ctr"/>
          <a:lstStyle/>
          <a:p>
            <a:pPr indent="0" marL="0">
              <a:buNone/>
            </a:pPr>
            <a:r>
              <a:rPr lang="en-US" sz="950" spc="80" kern="0" dirty="0">
                <a:solidFill>
                  <a:srgbClr val="5B6470"/>
                </a:solidFill>
                <a:latin typeface="Microsoft YaHei" pitchFamily="34" charset="0"/>
                <a:ea typeface="Microsoft YaHei" pitchFamily="34" charset="-122"/>
                <a:cs typeface="Microsoft YaHei" pitchFamily="34" charset="-120"/>
              </a:rPr>
              <a:t>转为社会服务的接口</a:t>
            </a:r>
            <a:endParaRPr lang="en-US" sz="950" dirty="0"/>
          </a:p>
        </p:txBody>
      </p:sp>
      <p:sp>
        <p:nvSpPr>
          <p:cNvPr id="29" name="Text 27"/>
          <p:cNvSpPr/>
          <p:nvPr/>
        </p:nvSpPr>
        <p:spPr>
          <a:xfrm>
            <a:off x="1295400" y="5742432"/>
            <a:ext cx="9616135" cy="502920"/>
          </a:xfrm>
          <a:prstGeom prst="rect">
            <a:avLst/>
          </a:prstGeom>
          <a:noFill/>
          <a:ln/>
        </p:spPr>
        <p:txBody>
          <a:bodyPr wrap="square" lIns="0" tIns="0" rIns="0" bIns="0" rtlCol="0" anchor="t"/>
          <a:lstStyle/>
          <a:p>
            <a:pPr indent="0" marL="0">
              <a:lnSpc>
                <a:spcPct val="140000"/>
              </a:lnSpc>
              <a:buNone/>
            </a:pPr>
            <a:r>
              <a:rPr lang="en-US" sz="1150" dirty="0">
                <a:solidFill>
                  <a:srgbClr val="1A2029"/>
                </a:solidFill>
                <a:latin typeface="Microsoft YaHei" pitchFamily="34" charset="0"/>
                <a:ea typeface="Microsoft YaHei" pitchFamily="34" charset="-122"/>
                <a:cs typeface="Microsoft YaHei" pitchFamily="34" charset="-120"/>
              </a:rPr>
              <a:t>将展示改为有对象、有回应、有留痕的行动，责任担当即由态度落到行动。须事先约定对方给出一次答复。</a:t>
            </a:r>
            <a:endParaRPr lang="en-US" sz="11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566182"/>
            <a:ext cx="95250" cy="95250"/>
          </a:xfrm>
          <a:prstGeom prst="ellipse">
            <a:avLst/>
          </a:prstGeom>
          <a:solidFill>
            <a:srgbClr val="C2CBD8"/>
          </a:solidFill>
          <a:ln w="25400">
            <a:solidFill>
              <a:srgbClr val="C2CBD8"/>
            </a:solidFill>
            <a:prstDash val="solid"/>
          </a:ln>
        </p:spPr>
      </p:sp>
      <p:sp>
        <p:nvSpPr>
          <p:cNvPr id="5" name="Shape 3"/>
          <p:cNvSpPr/>
          <p:nvPr/>
        </p:nvSpPr>
        <p:spPr>
          <a:xfrm>
            <a:off x="485775" y="2265589"/>
            <a:ext cx="95250" cy="95250"/>
          </a:xfrm>
          <a:prstGeom prst="ellipse">
            <a:avLst/>
          </a:prstGeom>
          <a:solidFill>
            <a:srgbClr val="C2CBD8"/>
          </a:solidFill>
          <a:ln w="25400">
            <a:solidFill>
              <a:srgbClr val="C2CBD8"/>
            </a:solidFill>
            <a:prstDash val="solid"/>
          </a:ln>
        </p:spPr>
      </p:sp>
      <p:sp>
        <p:nvSpPr>
          <p:cNvPr id="6" name="Shape 4"/>
          <p:cNvSpPr/>
          <p:nvPr/>
        </p:nvSpPr>
        <p:spPr>
          <a:xfrm>
            <a:off x="485775" y="2964996"/>
            <a:ext cx="95250" cy="95250"/>
          </a:xfrm>
          <a:prstGeom prst="ellipse">
            <a:avLst/>
          </a:prstGeom>
          <a:solidFill>
            <a:srgbClr val="C2CBD8"/>
          </a:solidFill>
          <a:ln w="25400">
            <a:solidFill>
              <a:srgbClr val="C2CBD8"/>
            </a:solidFill>
            <a:prstDash val="solid"/>
          </a:ln>
        </p:spPr>
      </p:sp>
      <p:sp>
        <p:nvSpPr>
          <p:cNvPr id="7" name="Shape 5"/>
          <p:cNvSpPr/>
          <p:nvPr/>
        </p:nvSpPr>
        <p:spPr>
          <a:xfrm>
            <a:off x="485775" y="3664404"/>
            <a:ext cx="95250" cy="95250"/>
          </a:xfrm>
          <a:prstGeom prst="ellipse">
            <a:avLst/>
          </a:prstGeom>
          <a:solidFill>
            <a:srgbClr val="C2CBD8"/>
          </a:solidFill>
          <a:ln w="25400">
            <a:solidFill>
              <a:srgbClr val="C2CBD8"/>
            </a:solidFill>
            <a:prstDash val="solid"/>
          </a:ln>
        </p:spPr>
      </p:sp>
      <p:sp>
        <p:nvSpPr>
          <p:cNvPr id="8" name="Shape 6"/>
          <p:cNvSpPr/>
          <p:nvPr/>
        </p:nvSpPr>
        <p:spPr>
          <a:xfrm>
            <a:off x="466725" y="4344761"/>
            <a:ext cx="133350" cy="133350"/>
          </a:xfrm>
          <a:prstGeom prst="ellipse">
            <a:avLst/>
          </a:prstGeom>
          <a:solidFill>
            <a:srgbClr val="B0472A"/>
          </a:solidFill>
          <a:ln w="25400">
            <a:solidFill>
              <a:srgbClr val="B0472A"/>
            </a:solidFill>
            <a:prstDash val="solid"/>
          </a:ln>
        </p:spPr>
      </p:sp>
      <p:sp>
        <p:nvSpPr>
          <p:cNvPr id="9" name="Shape 7"/>
          <p:cNvSpPr/>
          <p:nvPr/>
        </p:nvSpPr>
        <p:spPr>
          <a:xfrm>
            <a:off x="485775" y="5063218"/>
            <a:ext cx="95250" cy="95250"/>
          </a:xfrm>
          <a:prstGeom prst="ellipse">
            <a:avLst/>
          </a:prstGeom>
          <a:solidFill>
            <a:srgbClr val="FFFFFF"/>
          </a:solidFill>
          <a:ln w="25400">
            <a:solidFill>
              <a:srgbClr val="E2E7F0"/>
            </a:solidFill>
            <a:prstDash val="solid"/>
          </a:ln>
        </p:spPr>
      </p:sp>
      <p:sp>
        <p:nvSpPr>
          <p:cNvPr id="10" name="Shape 8"/>
          <p:cNvSpPr/>
          <p:nvPr/>
        </p:nvSpPr>
        <p:spPr>
          <a:xfrm>
            <a:off x="485775" y="5762625"/>
            <a:ext cx="95250" cy="95250"/>
          </a:xfrm>
          <a:prstGeom prst="ellipse">
            <a:avLst/>
          </a:prstGeom>
          <a:solidFill>
            <a:srgbClr val="FFFFFF"/>
          </a:solidFill>
          <a:ln w="25400">
            <a:solidFill>
              <a:srgbClr val="E2E7F0"/>
            </a:solidFill>
            <a:prstDash val="solid"/>
          </a:ln>
        </p:spPr>
      </p:sp>
      <p:sp>
        <p:nvSpPr>
          <p:cNvPr id="11" name="Text 9"/>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五</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2" name="Text 10"/>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33</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44</a:t>
            </a:r>
            <a:endParaRPr lang="en-US" sz="1000" dirty="0"/>
          </a:p>
        </p:txBody>
      </p:sp>
      <p:sp>
        <p:nvSpPr>
          <p:cNvPr id="13" name="Text 11"/>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B 档</a:t>
            </a:r>
            <a:endParaRPr lang="en-US" sz="800" dirty="0"/>
          </a:p>
        </p:txBody>
      </p:sp>
      <p:sp>
        <p:nvSpPr>
          <p:cNvPr id="14" name="Text 12"/>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第五段　·　生命健康主题的双学段案例</a:t>
            </a:r>
            <a:endParaRPr lang="en-US" sz="1000" dirty="0"/>
          </a:p>
        </p:txBody>
      </p:sp>
      <p:sp>
        <p:nvSpPr>
          <p:cNvPr id="15" name="Text 13"/>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另外两项任务的配置差异</a:t>
            </a:r>
            <a:endParaRPr lang="en-US" sz="3200" dirty="0"/>
          </a:p>
        </p:txBody>
      </p:sp>
      <p:sp>
        <p:nvSpPr>
          <p:cNvPr id="16" name="Shape 14"/>
          <p:cNvSpPr/>
          <p:nvPr/>
        </p:nvSpPr>
        <p:spPr>
          <a:xfrm>
            <a:off x="1295400" y="2043684"/>
            <a:ext cx="4881220" cy="1755648"/>
          </a:xfrm>
          <a:prstGeom prst="roundRect">
            <a:avLst>
              <a:gd name="adj" fmla="val 4688"/>
            </a:avLst>
          </a:prstGeom>
          <a:solidFill>
            <a:srgbClr val="FFFFFF"/>
          </a:solidFill>
          <a:ln w="12700">
            <a:solidFill>
              <a:srgbClr val="E2E7F0"/>
            </a:solidFill>
            <a:prstDash val="solid"/>
          </a:ln>
        </p:spPr>
      </p:sp>
      <p:sp>
        <p:nvSpPr>
          <p:cNvPr id="17" name="Shape 15"/>
          <p:cNvSpPr/>
          <p:nvPr/>
        </p:nvSpPr>
        <p:spPr>
          <a:xfrm>
            <a:off x="1359408" y="2043684"/>
            <a:ext cx="4753204" cy="38100"/>
          </a:xfrm>
          <a:prstGeom prst="rect">
            <a:avLst/>
          </a:prstGeom>
          <a:solidFill>
            <a:srgbClr val="33414F"/>
          </a:solidFill>
          <a:ln w="12700">
            <a:solidFill>
              <a:srgbClr val="33414F"/>
            </a:solidFill>
            <a:prstDash val="solid"/>
          </a:ln>
        </p:spPr>
      </p:sp>
      <p:sp>
        <p:nvSpPr>
          <p:cNvPr id="18" name="Text 16"/>
          <p:cNvSpPr/>
          <p:nvPr/>
        </p:nvSpPr>
        <p:spPr>
          <a:xfrm>
            <a:off x="1496568" y="2226564"/>
            <a:ext cx="4478884" cy="310896"/>
          </a:xfrm>
          <a:prstGeom prst="rect">
            <a:avLst/>
          </a:prstGeom>
          <a:noFill/>
          <a:ln/>
        </p:spPr>
        <p:txBody>
          <a:bodyPr wrap="square" lIns="0" tIns="0" rIns="0" bIns="0" rtlCol="0" anchor="ctr"/>
          <a:lstStyle/>
          <a:p>
            <a:pPr indent="0" marL="0">
              <a:buNone/>
            </a:pPr>
            <a:r>
              <a:rPr lang="en-US" sz="1600" b="1" dirty="0">
                <a:solidFill>
                  <a:srgbClr val="0F1B2D"/>
                </a:solidFill>
                <a:latin typeface="Microsoft YaHei" pitchFamily="34" charset="0"/>
                <a:ea typeface="Microsoft YaHei" pitchFamily="34" charset="-122"/>
                <a:cs typeface="Microsoft YaHei" pitchFamily="34" charset="-120"/>
              </a:rPr>
              <a:t>绘制生物多样性图谱</a:t>
            </a:r>
            <a:endParaRPr lang="en-US" sz="1600" dirty="0"/>
          </a:p>
        </p:txBody>
      </p:sp>
      <p:sp>
        <p:nvSpPr>
          <p:cNvPr id="19" name="Text 17"/>
          <p:cNvSpPr/>
          <p:nvPr/>
        </p:nvSpPr>
        <p:spPr>
          <a:xfrm>
            <a:off x="1496568" y="2574036"/>
            <a:ext cx="4478884" cy="182880"/>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4—6 年级 · 生态环境　·　建议 4—6 课时</a:t>
            </a:r>
            <a:endParaRPr lang="en-US" sz="950" dirty="0"/>
          </a:p>
        </p:txBody>
      </p:sp>
      <p:sp>
        <p:nvSpPr>
          <p:cNvPr id="20" name="Text 18"/>
          <p:cNvSpPr/>
          <p:nvPr/>
        </p:nvSpPr>
        <p:spPr>
          <a:xfrm>
            <a:off x="1496568" y="2811780"/>
            <a:ext cx="4478884" cy="329184"/>
          </a:xfrm>
          <a:prstGeom prst="rect">
            <a:avLst/>
          </a:prstGeom>
          <a:noFill/>
          <a:ln/>
        </p:spPr>
        <p:txBody>
          <a:bodyPr wrap="square" lIns="0" tIns="0" rIns="0" bIns="0" rtlCol="0" anchor="t"/>
          <a:lstStyle/>
          <a:p>
            <a:pPr indent="0" marL="0">
              <a:lnSpc>
                <a:spcPct val="130000"/>
              </a:lnSpc>
              <a:buNone/>
            </a:pPr>
            <a:r>
              <a:rPr lang="en-US" sz="1300" b="1" dirty="0">
                <a:solidFill>
                  <a:srgbClr val="1A2029"/>
                </a:solidFill>
                <a:latin typeface="Microsoft YaHei" pitchFamily="34" charset="0"/>
                <a:ea typeface="Microsoft YaHei" pitchFamily="34" charset="-122"/>
                <a:cs typeface="Microsoft YaHei" pitchFamily="34" charset="-120"/>
              </a:rPr>
              <a:t>AI 仅配置在教师侧，学生全程不使用设备。</a:t>
            </a:r>
            <a:endParaRPr lang="en-US" sz="1300" dirty="0"/>
          </a:p>
        </p:txBody>
      </p:sp>
      <p:sp>
        <p:nvSpPr>
          <p:cNvPr id="21" name="Text 19"/>
          <p:cNvSpPr/>
          <p:nvPr/>
        </p:nvSpPr>
        <p:spPr>
          <a:xfrm>
            <a:off x="1496568" y="3195828"/>
            <a:ext cx="4478884" cy="530352"/>
          </a:xfrm>
          <a:prstGeom prst="rect">
            <a:avLst/>
          </a:prstGeom>
          <a:noFill/>
          <a:ln/>
        </p:spPr>
        <p:txBody>
          <a:bodyPr wrap="square" lIns="0" tIns="0" rIns="0" bIns="0" rtlCol="0" anchor="t"/>
          <a:lstStyle/>
          <a:p>
            <a:pPr indent="0" marL="0">
              <a:lnSpc>
                <a:spcPct val="140000"/>
              </a:lnSpc>
              <a:buNone/>
            </a:pPr>
            <a:r>
              <a:rPr lang="en-US" sz="1050" dirty="0">
                <a:solidFill>
                  <a:srgbClr val="5B6470"/>
                </a:solidFill>
                <a:latin typeface="Microsoft YaHei" pitchFamily="34" charset="0"/>
                <a:ea typeface="Microsoft YaHei" pitchFamily="34" charset="-122"/>
                <a:cs typeface="Microsoft YaHei" pitchFamily="34" charset="-120"/>
              </a:rPr>
              <a:t>教师课前以智能体整理校园常见物种、易混淆种类与有毒有刺植物的安全提示，编成速查卡。学生使用调查记录表与图鉴。</a:t>
            </a:r>
            <a:endParaRPr lang="en-US" sz="1050" dirty="0"/>
          </a:p>
        </p:txBody>
      </p:sp>
      <p:sp>
        <p:nvSpPr>
          <p:cNvPr id="22" name="Shape 20"/>
          <p:cNvSpPr/>
          <p:nvPr/>
        </p:nvSpPr>
        <p:spPr>
          <a:xfrm>
            <a:off x="6396076" y="2043684"/>
            <a:ext cx="4881220" cy="1755648"/>
          </a:xfrm>
          <a:prstGeom prst="roundRect">
            <a:avLst>
              <a:gd name="adj" fmla="val 4688"/>
            </a:avLst>
          </a:prstGeom>
          <a:solidFill>
            <a:srgbClr val="FFFFFF"/>
          </a:solidFill>
          <a:ln w="12700">
            <a:solidFill>
              <a:srgbClr val="E2E7F0"/>
            </a:solidFill>
            <a:prstDash val="solid"/>
          </a:ln>
        </p:spPr>
      </p:sp>
      <p:sp>
        <p:nvSpPr>
          <p:cNvPr id="23" name="Shape 21"/>
          <p:cNvSpPr/>
          <p:nvPr/>
        </p:nvSpPr>
        <p:spPr>
          <a:xfrm>
            <a:off x="6460084" y="2043684"/>
            <a:ext cx="4753204" cy="38100"/>
          </a:xfrm>
          <a:prstGeom prst="rect">
            <a:avLst/>
          </a:prstGeom>
          <a:solidFill>
            <a:srgbClr val="C9714C"/>
          </a:solidFill>
          <a:ln w="12700">
            <a:solidFill>
              <a:srgbClr val="C9714C"/>
            </a:solidFill>
            <a:prstDash val="solid"/>
          </a:ln>
        </p:spPr>
      </p:sp>
      <p:sp>
        <p:nvSpPr>
          <p:cNvPr id="24" name="Text 22"/>
          <p:cNvSpPr/>
          <p:nvPr/>
        </p:nvSpPr>
        <p:spPr>
          <a:xfrm>
            <a:off x="6597244" y="2226564"/>
            <a:ext cx="4478884" cy="310896"/>
          </a:xfrm>
          <a:prstGeom prst="rect">
            <a:avLst/>
          </a:prstGeom>
          <a:noFill/>
          <a:ln/>
        </p:spPr>
        <p:txBody>
          <a:bodyPr wrap="square" lIns="0" tIns="0" rIns="0" bIns="0" rtlCol="0" anchor="ctr"/>
          <a:lstStyle/>
          <a:p>
            <a:pPr indent="0" marL="0">
              <a:buNone/>
            </a:pPr>
            <a:r>
              <a:rPr lang="en-US" sz="1600" b="1" dirty="0">
                <a:solidFill>
                  <a:srgbClr val="0F1B2D"/>
                </a:solidFill>
                <a:latin typeface="Microsoft YaHei" pitchFamily="34" charset="0"/>
                <a:ea typeface="Microsoft YaHei" pitchFamily="34" charset="-122"/>
                <a:cs typeface="Microsoft YaHei" pitchFamily="34" charset="-120"/>
              </a:rPr>
              <a:t>中国水利工程的建造智慧</a:t>
            </a:r>
            <a:endParaRPr lang="en-US" sz="1600" dirty="0"/>
          </a:p>
        </p:txBody>
      </p:sp>
      <p:sp>
        <p:nvSpPr>
          <p:cNvPr id="25" name="Text 23"/>
          <p:cNvSpPr/>
          <p:nvPr/>
        </p:nvSpPr>
        <p:spPr>
          <a:xfrm>
            <a:off x="6597244" y="2574036"/>
            <a:ext cx="4478884" cy="182880"/>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7—9 年级 · 新兴产业　·　建议 5—7 课时</a:t>
            </a:r>
            <a:endParaRPr lang="en-US" sz="950" dirty="0"/>
          </a:p>
        </p:txBody>
      </p:sp>
      <p:sp>
        <p:nvSpPr>
          <p:cNvPr id="26" name="Text 24"/>
          <p:cNvSpPr/>
          <p:nvPr/>
        </p:nvSpPr>
        <p:spPr>
          <a:xfrm>
            <a:off x="6597244" y="2811780"/>
            <a:ext cx="4478884" cy="329184"/>
          </a:xfrm>
          <a:prstGeom prst="rect">
            <a:avLst/>
          </a:prstGeom>
          <a:noFill/>
          <a:ln/>
        </p:spPr>
        <p:txBody>
          <a:bodyPr wrap="square" lIns="0" tIns="0" rIns="0" bIns="0" rtlCol="0" anchor="t"/>
          <a:lstStyle/>
          <a:p>
            <a:pPr indent="0" marL="0">
              <a:lnSpc>
                <a:spcPct val="130000"/>
              </a:lnSpc>
              <a:buNone/>
            </a:pPr>
            <a:r>
              <a:rPr lang="en-US" sz="1300" b="1" dirty="0">
                <a:solidFill>
                  <a:srgbClr val="1A2029"/>
                </a:solidFill>
                <a:latin typeface="Microsoft YaHei" pitchFamily="34" charset="0"/>
                <a:ea typeface="Microsoft YaHei" pitchFamily="34" charset="-122"/>
                <a:cs typeface="Microsoft YaHei" pitchFamily="34" charset="-120"/>
              </a:rPr>
              <a:t>学生侧两端均开放，另配一个提出质疑的智能体。</a:t>
            </a:r>
            <a:endParaRPr lang="en-US" sz="1300" dirty="0"/>
          </a:p>
        </p:txBody>
      </p:sp>
      <p:sp>
        <p:nvSpPr>
          <p:cNvPr id="27" name="Text 25"/>
          <p:cNvSpPr/>
          <p:nvPr/>
        </p:nvSpPr>
        <p:spPr>
          <a:xfrm>
            <a:off x="6597244" y="3195828"/>
            <a:ext cx="4478884" cy="530352"/>
          </a:xfrm>
          <a:prstGeom prst="rect">
            <a:avLst/>
          </a:prstGeom>
          <a:noFill/>
          <a:ln/>
        </p:spPr>
        <p:txBody>
          <a:bodyPr wrap="square" lIns="0" tIns="0" rIns="0" bIns="0" rtlCol="0" anchor="t"/>
          <a:lstStyle/>
          <a:p>
            <a:pPr indent="0" marL="0">
              <a:lnSpc>
                <a:spcPct val="140000"/>
              </a:lnSpc>
              <a:buNone/>
            </a:pPr>
            <a:r>
              <a:rPr lang="en-US" sz="1050" dirty="0">
                <a:solidFill>
                  <a:srgbClr val="5B6470"/>
                </a:solidFill>
                <a:latin typeface="Microsoft YaHei" pitchFamily="34" charset="0"/>
                <a:ea typeface="Microsoft YaHei" pitchFamily="34" charset="-122"/>
                <a:cs typeface="Microsoft YaHei" pitchFamily="34" charset="-120"/>
              </a:rPr>
              <a:t>沙盘分水的模拟探究环节完全不引入 AI。学生以水槽、沙盘与容器自行试验不同坝形对分水灌溉的影响。</a:t>
            </a:r>
            <a:endParaRPr lang="en-US" sz="1050" dirty="0"/>
          </a:p>
        </p:txBody>
      </p:sp>
      <p:sp>
        <p:nvSpPr>
          <p:cNvPr id="28" name="Shape 26"/>
          <p:cNvSpPr/>
          <p:nvPr/>
        </p:nvSpPr>
        <p:spPr>
          <a:xfrm>
            <a:off x="1295400" y="5888736"/>
            <a:ext cx="9981895" cy="0"/>
          </a:xfrm>
          <a:prstGeom prst="line">
            <a:avLst/>
          </a:prstGeom>
          <a:noFill/>
          <a:ln w="12700">
            <a:solidFill>
              <a:srgbClr val="E2E7F0"/>
            </a:solidFill>
            <a:prstDash val="solid"/>
          </a:ln>
        </p:spPr>
      </p:sp>
      <p:sp>
        <p:nvSpPr>
          <p:cNvPr id="29" name="Text 27"/>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B6470"/>
                </a:solidFill>
                <a:latin typeface="Microsoft YaHei" pitchFamily="34" charset="0"/>
                <a:ea typeface="Microsoft YaHei" pitchFamily="34" charset="-122"/>
                <a:cs typeface="Microsoft YaHei" pitchFamily="34" charset="-120"/>
              </a:rPr>
              <a:t>同一套判据，在不同任务上可以落成完全不同的配置。</a:t>
            </a:r>
            <a:endParaRPr lang="en-US" sz="10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566182"/>
            <a:ext cx="95250" cy="95250"/>
          </a:xfrm>
          <a:prstGeom prst="ellipse">
            <a:avLst/>
          </a:prstGeom>
          <a:solidFill>
            <a:srgbClr val="C2CBD8"/>
          </a:solidFill>
          <a:ln w="25400">
            <a:solidFill>
              <a:srgbClr val="C2CBD8"/>
            </a:solidFill>
            <a:prstDash val="solid"/>
          </a:ln>
        </p:spPr>
      </p:sp>
      <p:sp>
        <p:nvSpPr>
          <p:cNvPr id="5" name="Shape 3"/>
          <p:cNvSpPr/>
          <p:nvPr/>
        </p:nvSpPr>
        <p:spPr>
          <a:xfrm>
            <a:off x="485775" y="2265589"/>
            <a:ext cx="95250" cy="95250"/>
          </a:xfrm>
          <a:prstGeom prst="ellipse">
            <a:avLst/>
          </a:prstGeom>
          <a:solidFill>
            <a:srgbClr val="C2CBD8"/>
          </a:solidFill>
          <a:ln w="25400">
            <a:solidFill>
              <a:srgbClr val="C2CBD8"/>
            </a:solidFill>
            <a:prstDash val="solid"/>
          </a:ln>
        </p:spPr>
      </p:sp>
      <p:sp>
        <p:nvSpPr>
          <p:cNvPr id="6" name="Shape 4"/>
          <p:cNvSpPr/>
          <p:nvPr/>
        </p:nvSpPr>
        <p:spPr>
          <a:xfrm>
            <a:off x="485775" y="2964996"/>
            <a:ext cx="95250" cy="95250"/>
          </a:xfrm>
          <a:prstGeom prst="ellipse">
            <a:avLst/>
          </a:prstGeom>
          <a:solidFill>
            <a:srgbClr val="C2CBD8"/>
          </a:solidFill>
          <a:ln w="25400">
            <a:solidFill>
              <a:srgbClr val="C2CBD8"/>
            </a:solidFill>
            <a:prstDash val="solid"/>
          </a:ln>
        </p:spPr>
      </p:sp>
      <p:sp>
        <p:nvSpPr>
          <p:cNvPr id="7" name="Shape 5"/>
          <p:cNvSpPr/>
          <p:nvPr/>
        </p:nvSpPr>
        <p:spPr>
          <a:xfrm>
            <a:off x="485775" y="3664404"/>
            <a:ext cx="95250" cy="95250"/>
          </a:xfrm>
          <a:prstGeom prst="ellipse">
            <a:avLst/>
          </a:prstGeom>
          <a:solidFill>
            <a:srgbClr val="C2CBD8"/>
          </a:solidFill>
          <a:ln w="25400">
            <a:solidFill>
              <a:srgbClr val="C2CBD8"/>
            </a:solidFill>
            <a:prstDash val="solid"/>
          </a:ln>
        </p:spPr>
      </p:sp>
      <p:sp>
        <p:nvSpPr>
          <p:cNvPr id="8" name="Shape 6"/>
          <p:cNvSpPr/>
          <p:nvPr/>
        </p:nvSpPr>
        <p:spPr>
          <a:xfrm>
            <a:off x="466725" y="4344761"/>
            <a:ext cx="133350" cy="133350"/>
          </a:xfrm>
          <a:prstGeom prst="ellipse">
            <a:avLst/>
          </a:prstGeom>
          <a:solidFill>
            <a:srgbClr val="B0472A"/>
          </a:solidFill>
          <a:ln w="25400">
            <a:solidFill>
              <a:srgbClr val="B0472A"/>
            </a:solidFill>
            <a:prstDash val="solid"/>
          </a:ln>
        </p:spPr>
      </p:sp>
      <p:sp>
        <p:nvSpPr>
          <p:cNvPr id="9" name="Shape 7"/>
          <p:cNvSpPr/>
          <p:nvPr/>
        </p:nvSpPr>
        <p:spPr>
          <a:xfrm>
            <a:off x="485775" y="5063218"/>
            <a:ext cx="95250" cy="95250"/>
          </a:xfrm>
          <a:prstGeom prst="ellipse">
            <a:avLst/>
          </a:prstGeom>
          <a:solidFill>
            <a:srgbClr val="FFFFFF"/>
          </a:solidFill>
          <a:ln w="25400">
            <a:solidFill>
              <a:srgbClr val="E2E7F0"/>
            </a:solidFill>
            <a:prstDash val="solid"/>
          </a:ln>
        </p:spPr>
      </p:sp>
      <p:sp>
        <p:nvSpPr>
          <p:cNvPr id="10" name="Shape 8"/>
          <p:cNvSpPr/>
          <p:nvPr/>
        </p:nvSpPr>
        <p:spPr>
          <a:xfrm>
            <a:off x="485775" y="5762625"/>
            <a:ext cx="95250" cy="95250"/>
          </a:xfrm>
          <a:prstGeom prst="ellipse">
            <a:avLst/>
          </a:prstGeom>
          <a:solidFill>
            <a:srgbClr val="FFFFFF"/>
          </a:solidFill>
          <a:ln w="25400">
            <a:solidFill>
              <a:srgbClr val="E2E7F0"/>
            </a:solidFill>
            <a:prstDash val="solid"/>
          </a:ln>
        </p:spPr>
      </p:sp>
      <p:sp>
        <p:nvSpPr>
          <p:cNvPr id="11" name="Text 9"/>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五</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2" name="Text 10"/>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34</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44</a:t>
            </a:r>
            <a:endParaRPr lang="en-US" sz="1000" dirty="0"/>
          </a:p>
        </p:txBody>
      </p:sp>
      <p:sp>
        <p:nvSpPr>
          <p:cNvPr id="13" name="Text 11"/>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4" name="Text 12"/>
          <p:cNvSpPr/>
          <p:nvPr/>
        </p:nvSpPr>
        <p:spPr>
          <a:xfrm>
            <a:off x="1295400" y="2468880"/>
            <a:ext cx="9158935" cy="2286000"/>
          </a:xfrm>
          <a:prstGeom prst="rect">
            <a:avLst/>
          </a:prstGeom>
          <a:noFill/>
          <a:ln/>
        </p:spPr>
        <p:txBody>
          <a:bodyPr wrap="square" lIns="0" tIns="0" rIns="0" bIns="0" rtlCol="0" anchor="t"/>
          <a:lstStyle/>
          <a:p>
            <a:pPr indent="0" marL="0">
              <a:lnSpc>
                <a:spcPct val="145000"/>
              </a:lnSpc>
              <a:buNone/>
            </a:pPr>
            <a:r>
              <a:rPr lang="en-US" sz="2500" b="1" dirty="0">
                <a:solidFill>
                  <a:srgbClr val="0F1B2D"/>
                </a:solidFill>
                <a:latin typeface="Microsoft YaHei" pitchFamily="34" charset="0"/>
                <a:ea typeface="Microsoft YaHei" pitchFamily="34" charset="-122"/>
                <a:cs typeface="Microsoft YaHei" pitchFamily="34" charset="-120"/>
              </a:rPr>
              <a:t>任务链条中越可能发生失败的环节，AI 越应收向教师侧；越接近表达与传播的环节，越可以放向学生侧。</a:t>
            </a:r>
            <a:endParaRPr lang="en-US" sz="25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566182"/>
            <a:ext cx="95250" cy="95250"/>
          </a:xfrm>
          <a:prstGeom prst="ellipse">
            <a:avLst/>
          </a:prstGeom>
          <a:solidFill>
            <a:srgbClr val="C2CBD8"/>
          </a:solidFill>
          <a:ln w="25400">
            <a:solidFill>
              <a:srgbClr val="C2CBD8"/>
            </a:solidFill>
            <a:prstDash val="solid"/>
          </a:ln>
        </p:spPr>
      </p:sp>
      <p:sp>
        <p:nvSpPr>
          <p:cNvPr id="5" name="Shape 3"/>
          <p:cNvSpPr/>
          <p:nvPr/>
        </p:nvSpPr>
        <p:spPr>
          <a:xfrm>
            <a:off x="485775" y="2265589"/>
            <a:ext cx="95250" cy="95250"/>
          </a:xfrm>
          <a:prstGeom prst="ellipse">
            <a:avLst/>
          </a:prstGeom>
          <a:solidFill>
            <a:srgbClr val="C2CBD8"/>
          </a:solidFill>
          <a:ln w="25400">
            <a:solidFill>
              <a:srgbClr val="C2CBD8"/>
            </a:solidFill>
            <a:prstDash val="solid"/>
          </a:ln>
        </p:spPr>
      </p:sp>
      <p:sp>
        <p:nvSpPr>
          <p:cNvPr id="6" name="Shape 4"/>
          <p:cNvSpPr/>
          <p:nvPr/>
        </p:nvSpPr>
        <p:spPr>
          <a:xfrm>
            <a:off x="485775" y="2964996"/>
            <a:ext cx="95250" cy="95250"/>
          </a:xfrm>
          <a:prstGeom prst="ellipse">
            <a:avLst/>
          </a:prstGeom>
          <a:solidFill>
            <a:srgbClr val="C2CBD8"/>
          </a:solidFill>
          <a:ln w="25400">
            <a:solidFill>
              <a:srgbClr val="C2CBD8"/>
            </a:solidFill>
            <a:prstDash val="solid"/>
          </a:ln>
        </p:spPr>
      </p:sp>
      <p:sp>
        <p:nvSpPr>
          <p:cNvPr id="7" name="Shape 5"/>
          <p:cNvSpPr/>
          <p:nvPr/>
        </p:nvSpPr>
        <p:spPr>
          <a:xfrm>
            <a:off x="485775" y="3664404"/>
            <a:ext cx="95250" cy="95250"/>
          </a:xfrm>
          <a:prstGeom prst="ellipse">
            <a:avLst/>
          </a:prstGeom>
          <a:solidFill>
            <a:srgbClr val="C2CBD8"/>
          </a:solidFill>
          <a:ln w="25400">
            <a:solidFill>
              <a:srgbClr val="C2CBD8"/>
            </a:solidFill>
            <a:prstDash val="solid"/>
          </a:ln>
        </p:spPr>
      </p:sp>
      <p:sp>
        <p:nvSpPr>
          <p:cNvPr id="8" name="Shape 6"/>
          <p:cNvSpPr/>
          <p:nvPr/>
        </p:nvSpPr>
        <p:spPr>
          <a:xfrm>
            <a:off x="485775" y="4363811"/>
            <a:ext cx="95250" cy="95250"/>
          </a:xfrm>
          <a:prstGeom prst="ellipse">
            <a:avLst/>
          </a:prstGeom>
          <a:solidFill>
            <a:srgbClr val="C2CBD8"/>
          </a:solidFill>
          <a:ln w="25400">
            <a:solidFill>
              <a:srgbClr val="C2CBD8"/>
            </a:solidFill>
            <a:prstDash val="solid"/>
          </a:ln>
        </p:spPr>
      </p:sp>
      <p:sp>
        <p:nvSpPr>
          <p:cNvPr id="9" name="Shape 7"/>
          <p:cNvSpPr/>
          <p:nvPr/>
        </p:nvSpPr>
        <p:spPr>
          <a:xfrm>
            <a:off x="466725" y="5044168"/>
            <a:ext cx="133350" cy="133350"/>
          </a:xfrm>
          <a:prstGeom prst="ellipse">
            <a:avLst/>
          </a:prstGeom>
          <a:solidFill>
            <a:srgbClr val="B0472A"/>
          </a:solidFill>
          <a:ln w="25400">
            <a:solidFill>
              <a:srgbClr val="B0472A"/>
            </a:solidFill>
            <a:prstDash val="solid"/>
          </a:ln>
        </p:spPr>
      </p:sp>
      <p:sp>
        <p:nvSpPr>
          <p:cNvPr id="10" name="Shape 8"/>
          <p:cNvSpPr/>
          <p:nvPr/>
        </p:nvSpPr>
        <p:spPr>
          <a:xfrm>
            <a:off x="485775" y="5762625"/>
            <a:ext cx="95250" cy="95250"/>
          </a:xfrm>
          <a:prstGeom prst="ellipse">
            <a:avLst/>
          </a:prstGeom>
          <a:solidFill>
            <a:srgbClr val="FFFFFF"/>
          </a:solidFill>
          <a:ln w="25400">
            <a:solidFill>
              <a:srgbClr val="E2E7F0"/>
            </a:solidFill>
            <a:prstDash val="solid"/>
          </a:ln>
        </p:spPr>
      </p:sp>
      <p:sp>
        <p:nvSpPr>
          <p:cNvPr id="11" name="Text 9"/>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六</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2" name="Text 10"/>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35</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44</a:t>
            </a:r>
            <a:endParaRPr lang="en-US" sz="1000" dirty="0"/>
          </a:p>
        </p:txBody>
      </p:sp>
      <p:sp>
        <p:nvSpPr>
          <p:cNvPr id="13" name="Text 11"/>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B 档</a:t>
            </a:r>
            <a:endParaRPr lang="en-US" sz="800" dirty="0"/>
          </a:p>
        </p:txBody>
      </p:sp>
      <p:sp>
        <p:nvSpPr>
          <p:cNvPr id="14" name="Text 12"/>
          <p:cNvSpPr/>
          <p:nvPr/>
        </p:nvSpPr>
        <p:spPr>
          <a:xfrm>
            <a:off x="1295400" y="2212848"/>
            <a:ext cx="9981895" cy="237744"/>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作者身份的可验证性</a:t>
            </a:r>
            <a:endParaRPr lang="en-US" sz="1000" dirty="0"/>
          </a:p>
        </p:txBody>
      </p:sp>
      <p:sp>
        <p:nvSpPr>
          <p:cNvPr id="15" name="Text 13"/>
          <p:cNvSpPr/>
          <p:nvPr/>
        </p:nvSpPr>
        <p:spPr>
          <a:xfrm>
            <a:off x="1295400" y="2615184"/>
            <a:ext cx="9158935" cy="2286000"/>
          </a:xfrm>
          <a:prstGeom prst="rect">
            <a:avLst/>
          </a:prstGeom>
          <a:noFill/>
          <a:ln/>
        </p:spPr>
        <p:txBody>
          <a:bodyPr wrap="square" lIns="0" tIns="0" rIns="0" bIns="0" rtlCol="0" anchor="t"/>
          <a:lstStyle/>
          <a:p>
            <a:pPr indent="0" marL="0">
              <a:lnSpc>
                <a:spcPct val="145000"/>
              </a:lnSpc>
              <a:buNone/>
            </a:pPr>
            <a:r>
              <a:rPr lang="en-US" sz="2500" b="1" dirty="0">
                <a:solidFill>
                  <a:srgbClr val="0F1B2D"/>
                </a:solidFill>
                <a:latin typeface="Microsoft YaHei" pitchFamily="34" charset="0"/>
                <a:ea typeface="Microsoft YaHei" pitchFamily="34" charset="-122"/>
                <a:cs typeface="Microsoft YaHei" pitchFamily="34" charset="-120"/>
              </a:rPr>
              <a:t>生成式 AI 介入后，成果的作者身份不可事后验证，除非在任务设计阶段预先安排。</a:t>
            </a:r>
            <a:endParaRPr lang="en-US" sz="2500" dirty="0"/>
          </a:p>
        </p:txBody>
      </p:sp>
      <p:sp>
        <p:nvSpPr>
          <p:cNvPr id="16" name="Text 14"/>
          <p:cNvSpPr/>
          <p:nvPr/>
        </p:nvSpPr>
        <p:spPr>
          <a:xfrm>
            <a:off x="1295400" y="4078224"/>
            <a:ext cx="9158935" cy="365760"/>
          </a:xfrm>
          <a:prstGeom prst="rect">
            <a:avLst/>
          </a:prstGeom>
          <a:noFill/>
          <a:ln/>
        </p:spPr>
        <p:txBody>
          <a:bodyPr wrap="square" lIns="0" tIns="0" rIns="0" bIns="0" rtlCol="0" anchor="ctr"/>
          <a:lstStyle/>
          <a:p>
            <a:pPr indent="0" marL="0">
              <a:buNone/>
            </a:pPr>
            <a:r>
              <a:rPr lang="en-US" sz="1500" dirty="0">
                <a:solidFill>
                  <a:srgbClr val="5B6470"/>
                </a:solidFill>
                <a:latin typeface="Microsoft YaHei" pitchFamily="34" charset="0"/>
                <a:ea typeface="Microsoft YaHei" pitchFamily="34" charset="-122"/>
                <a:cs typeface="Microsoft YaHei" pitchFamily="34" charset="-120"/>
              </a:rPr>
              <a:t>事前配置的可靠性高于事后查重。</a:t>
            </a:r>
            <a:endParaRPr lang="en-US" sz="15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566182"/>
            <a:ext cx="95250" cy="95250"/>
          </a:xfrm>
          <a:prstGeom prst="ellipse">
            <a:avLst/>
          </a:prstGeom>
          <a:solidFill>
            <a:srgbClr val="C2CBD8"/>
          </a:solidFill>
          <a:ln w="25400">
            <a:solidFill>
              <a:srgbClr val="C2CBD8"/>
            </a:solidFill>
            <a:prstDash val="solid"/>
          </a:ln>
        </p:spPr>
      </p:sp>
      <p:sp>
        <p:nvSpPr>
          <p:cNvPr id="5" name="Shape 3"/>
          <p:cNvSpPr/>
          <p:nvPr/>
        </p:nvSpPr>
        <p:spPr>
          <a:xfrm>
            <a:off x="485775" y="2265589"/>
            <a:ext cx="95250" cy="95250"/>
          </a:xfrm>
          <a:prstGeom prst="ellipse">
            <a:avLst/>
          </a:prstGeom>
          <a:solidFill>
            <a:srgbClr val="C2CBD8"/>
          </a:solidFill>
          <a:ln w="25400">
            <a:solidFill>
              <a:srgbClr val="C2CBD8"/>
            </a:solidFill>
            <a:prstDash val="solid"/>
          </a:ln>
        </p:spPr>
      </p:sp>
      <p:sp>
        <p:nvSpPr>
          <p:cNvPr id="6" name="Shape 4"/>
          <p:cNvSpPr/>
          <p:nvPr/>
        </p:nvSpPr>
        <p:spPr>
          <a:xfrm>
            <a:off x="485775" y="2964996"/>
            <a:ext cx="95250" cy="95250"/>
          </a:xfrm>
          <a:prstGeom prst="ellipse">
            <a:avLst/>
          </a:prstGeom>
          <a:solidFill>
            <a:srgbClr val="C2CBD8"/>
          </a:solidFill>
          <a:ln w="25400">
            <a:solidFill>
              <a:srgbClr val="C2CBD8"/>
            </a:solidFill>
            <a:prstDash val="solid"/>
          </a:ln>
        </p:spPr>
      </p:sp>
      <p:sp>
        <p:nvSpPr>
          <p:cNvPr id="7" name="Shape 5"/>
          <p:cNvSpPr/>
          <p:nvPr/>
        </p:nvSpPr>
        <p:spPr>
          <a:xfrm>
            <a:off x="485775" y="3664404"/>
            <a:ext cx="95250" cy="95250"/>
          </a:xfrm>
          <a:prstGeom prst="ellipse">
            <a:avLst/>
          </a:prstGeom>
          <a:solidFill>
            <a:srgbClr val="C2CBD8"/>
          </a:solidFill>
          <a:ln w="25400">
            <a:solidFill>
              <a:srgbClr val="C2CBD8"/>
            </a:solidFill>
            <a:prstDash val="solid"/>
          </a:ln>
        </p:spPr>
      </p:sp>
      <p:sp>
        <p:nvSpPr>
          <p:cNvPr id="8" name="Shape 6"/>
          <p:cNvSpPr/>
          <p:nvPr/>
        </p:nvSpPr>
        <p:spPr>
          <a:xfrm>
            <a:off x="485775" y="4363811"/>
            <a:ext cx="95250" cy="95250"/>
          </a:xfrm>
          <a:prstGeom prst="ellipse">
            <a:avLst/>
          </a:prstGeom>
          <a:solidFill>
            <a:srgbClr val="C2CBD8"/>
          </a:solidFill>
          <a:ln w="25400">
            <a:solidFill>
              <a:srgbClr val="C2CBD8"/>
            </a:solidFill>
            <a:prstDash val="solid"/>
          </a:ln>
        </p:spPr>
      </p:sp>
      <p:sp>
        <p:nvSpPr>
          <p:cNvPr id="9" name="Shape 7"/>
          <p:cNvSpPr/>
          <p:nvPr/>
        </p:nvSpPr>
        <p:spPr>
          <a:xfrm>
            <a:off x="466725" y="5044168"/>
            <a:ext cx="133350" cy="133350"/>
          </a:xfrm>
          <a:prstGeom prst="ellipse">
            <a:avLst/>
          </a:prstGeom>
          <a:solidFill>
            <a:srgbClr val="B0472A"/>
          </a:solidFill>
          <a:ln w="25400">
            <a:solidFill>
              <a:srgbClr val="B0472A"/>
            </a:solidFill>
            <a:prstDash val="solid"/>
          </a:ln>
        </p:spPr>
      </p:sp>
      <p:sp>
        <p:nvSpPr>
          <p:cNvPr id="10" name="Shape 8"/>
          <p:cNvSpPr/>
          <p:nvPr/>
        </p:nvSpPr>
        <p:spPr>
          <a:xfrm>
            <a:off x="485775" y="5762625"/>
            <a:ext cx="95250" cy="95250"/>
          </a:xfrm>
          <a:prstGeom prst="ellipse">
            <a:avLst/>
          </a:prstGeom>
          <a:solidFill>
            <a:srgbClr val="FFFFFF"/>
          </a:solidFill>
          <a:ln w="25400">
            <a:solidFill>
              <a:srgbClr val="E2E7F0"/>
            </a:solidFill>
            <a:prstDash val="solid"/>
          </a:ln>
        </p:spPr>
      </p:sp>
      <p:sp>
        <p:nvSpPr>
          <p:cNvPr id="11" name="Text 9"/>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六</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2" name="Text 10"/>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36</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44</a:t>
            </a:r>
            <a:endParaRPr lang="en-US" sz="1000" dirty="0"/>
          </a:p>
        </p:txBody>
      </p:sp>
      <p:sp>
        <p:nvSpPr>
          <p:cNvPr id="13" name="Text 11"/>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4" name="Text 12"/>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第六段　·　过程证据、评价与使用红线</a:t>
            </a:r>
            <a:endParaRPr lang="en-US" sz="1000" dirty="0"/>
          </a:p>
        </p:txBody>
      </p:sp>
      <p:sp>
        <p:nvSpPr>
          <p:cNvPr id="15" name="Text 13"/>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AI 使用留痕表</a:t>
            </a:r>
            <a:endParaRPr lang="en-US" sz="32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1295400" y="2135124"/>
          <a:ext cx="9981895" cy="914400"/>
        </p:xfrm>
        <a:graphic>
          <a:graphicData uri="http://schemas.openxmlformats.org/drawingml/2006/table">
            <a:tbl>
              <a:tblPr/>
              <a:tblGrid>
                <a:gridCol w="2496312"/>
                <a:gridCol w="2496312"/>
                <a:gridCol w="2496312"/>
                <a:gridCol w="2487168"/>
              </a:tblGrid>
              <a:tr h="365760">
                <a:tc>
                  <a:txBody>
                    <a:bodyP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用在哪一步</a:t>
                      </a:r>
                      <a:endParaRPr lang="en-US" sz="950" dirty="0">
                        <a:latin typeface="Microsoft YaHei" charset="0"/>
                        <a:ea typeface="Microsoft YaHei" charset="0"/>
                        <a:cs typeface="Microsoft YaHei" charset="0"/>
                      </a:endParaRPr>
                    </a:p>
                  </a:txBody>
                  <a:tcPr marL="114300" marR="114300" marT="114300" marB="114300">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5F7FB"/>
                    </a:solidFill>
                  </a:tcPr>
                </a:tc>
                <a:tc>
                  <a:txBody>
                    <a:bodyP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我给了什么提示</a:t>
                      </a:r>
                      <a:endParaRPr lang="en-US" sz="950" dirty="0">
                        <a:latin typeface="Microsoft YaHei" charset="0"/>
                        <a:ea typeface="Microsoft YaHei" charset="0"/>
                        <a:cs typeface="Microsoft YaHei" charset="0"/>
                      </a:endParaRPr>
                    </a:p>
                  </a:txBody>
                  <a:tcPr marL="114300" marR="114300" marT="114300" marB="114300">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5F7FB"/>
                    </a:solidFill>
                  </a:tcPr>
                </a:tc>
                <a:tc>
                  <a:txBody>
                    <a:bodyP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AI 给了什么</a:t>
                      </a:r>
                      <a:endParaRPr lang="en-US" sz="950" dirty="0">
                        <a:latin typeface="Microsoft YaHei" charset="0"/>
                        <a:ea typeface="Microsoft YaHei" charset="0"/>
                        <a:cs typeface="Microsoft YaHei" charset="0"/>
                      </a:endParaRPr>
                    </a:p>
                  </a:txBody>
                  <a:tcPr marL="114300" marR="114300" marT="114300" marB="114300">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5F7FB"/>
                    </a:solidFill>
                  </a:tcPr>
                </a:tc>
                <a:tc>
                  <a:txBody>
                    <a:bodyP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我改了什么，为什么改</a:t>
                      </a:r>
                      <a:endParaRPr lang="en-US" sz="950" dirty="0">
                        <a:latin typeface="Microsoft YaHei" charset="0"/>
                        <a:ea typeface="Microsoft YaHei" charset="0"/>
                        <a:cs typeface="Microsoft YaHei" charset="0"/>
                      </a:endParaRPr>
                    </a:p>
                  </a:txBody>
                  <a:tcPr marL="114300" marR="114300" marT="114300" marB="114300">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5F7FB"/>
                    </a:solidFill>
                  </a:tcPr>
                </a:tc>
              </a:tr>
              <a:tr h="1554480">
                <a:tc>
                  <a:txBody>
                    <a:bodyPr/>
                    <a:lstStyle/>
                    <a:p>
                      <a:pPr indent="0" marL="0">
                        <a:buNone/>
                      </a:pPr>
                      <a:r>
                        <a:rPr lang="en-US" sz="1200" dirty="0">
                          <a:solidFill>
                            <a:srgbClr val="1A2029"/>
                          </a:solidFill>
                          <a:latin typeface="Microsoft YaHei" pitchFamily="34" charset="0"/>
                          <a:ea typeface="Microsoft YaHei" pitchFamily="34" charset="-122"/>
                          <a:cs typeface="Microsoft YaHei" pitchFamily="34" charset="-120"/>
                        </a:rPr>
                        <a:t>设计方案</a:t>
                      </a:r>
                      <a:endParaRPr lang="en-US" sz="1200" dirty="0">
                        <a:latin typeface="Microsoft YaHei" charset="0"/>
                        <a:ea typeface="Microsoft YaHei" charset="0"/>
                        <a:cs typeface="Microsoft YaHei" charset="0"/>
                      </a:endParaRPr>
                    </a:p>
                  </a:txBody>
                  <a:tcPr marL="114300" marR="114300" marT="114300" marB="114300" anchor="t">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c>
                  <a:txBody>
                    <a:bodyPr/>
                    <a:lstStyle/>
                    <a:p>
                      <a:pPr indent="0" marL="0">
                        <a:buNone/>
                      </a:pPr>
                      <a:r>
                        <a:rPr lang="en-US" sz="1200" dirty="0">
                          <a:solidFill>
                            <a:srgbClr val="1A2029"/>
                          </a:solidFill>
                          <a:latin typeface="Microsoft YaHei" pitchFamily="34" charset="0"/>
                          <a:ea typeface="Microsoft YaHei" pitchFamily="34" charset="-122"/>
                          <a:cs typeface="Microsoft YaHei" pitchFamily="34" charset="-120"/>
                        </a:rPr>
                        <a:t>帮我看看这个对照实验有什么问题</a:t>
                      </a:r>
                      <a:endParaRPr lang="en-US" sz="1200" dirty="0">
                        <a:latin typeface="Microsoft YaHei" charset="0"/>
                        <a:ea typeface="Microsoft YaHei" charset="0"/>
                        <a:cs typeface="Microsoft YaHei" charset="0"/>
                      </a:endParaRPr>
                    </a:p>
                  </a:txBody>
                  <a:tcPr marL="114300" marR="114300" marT="114300" marB="114300" anchor="t">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c>
                  <a:txBody>
                    <a:bodyPr/>
                    <a:lstStyle/>
                    <a:p>
                      <a:pPr indent="0" marL="0">
                        <a:buNone/>
                      </a:pPr>
                      <a:r>
                        <a:rPr lang="en-US" sz="1200" dirty="0">
                          <a:solidFill>
                            <a:srgbClr val="1A2029"/>
                          </a:solidFill>
                          <a:latin typeface="Microsoft YaHei" pitchFamily="34" charset="0"/>
                          <a:ea typeface="Microsoft YaHei" pitchFamily="34" charset="-122"/>
                          <a:cs typeface="Microsoft YaHei" pitchFamily="34" charset="-120"/>
                        </a:rPr>
                        <a:t>说我没有控制光照</a:t>
                      </a:r>
                      <a:endParaRPr lang="en-US" sz="1200" dirty="0">
                        <a:latin typeface="Microsoft YaHei" charset="0"/>
                        <a:ea typeface="Microsoft YaHei" charset="0"/>
                        <a:cs typeface="Microsoft YaHei" charset="0"/>
                      </a:endParaRPr>
                    </a:p>
                  </a:txBody>
                  <a:tcPr marL="114300" marR="114300" marT="114300" marB="114300" anchor="t">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c>
                  <a:txBody>
                    <a:bodyPr/>
                    <a:lstStyle/>
                    <a:p>
                      <a:pPr indent="0" marL="0">
                        <a:buNone/>
                      </a:pPr>
                      <a:r>
                        <a:rPr lang="en-US" sz="1200" dirty="0">
                          <a:solidFill>
                            <a:srgbClr val="1A2029"/>
                          </a:solidFill>
                          <a:latin typeface="Microsoft YaHei" pitchFamily="34" charset="0"/>
                          <a:ea typeface="Microsoft YaHei" pitchFamily="34" charset="-122"/>
                          <a:cs typeface="Microsoft YaHei" pitchFamily="34" charset="-120"/>
                        </a:rPr>
                        <a:t>加了一句每组都放在同一个窗台，因为窗台光照一样</a:t>
                      </a:r>
                      <a:endParaRPr lang="en-US" sz="1200" dirty="0">
                        <a:latin typeface="Microsoft YaHei" charset="0"/>
                        <a:ea typeface="Microsoft YaHei" charset="0"/>
                        <a:cs typeface="Microsoft YaHei" charset="0"/>
                      </a:endParaRPr>
                    </a:p>
                  </a:txBody>
                  <a:tcPr marL="114300" marR="114300" marT="114300" marB="114300" anchor="t">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r>
            </a:tbl>
          </a:graphicData>
        </a:graphic>
      </p:graphicFrame>
      <p:sp>
        <p:nvSpPr>
          <p:cNvPr id="17" name="Shape 14"/>
          <p:cNvSpPr/>
          <p:nvPr/>
        </p:nvSpPr>
        <p:spPr>
          <a:xfrm>
            <a:off x="1295400" y="5888736"/>
            <a:ext cx="9981895" cy="0"/>
          </a:xfrm>
          <a:prstGeom prst="line">
            <a:avLst/>
          </a:prstGeom>
          <a:noFill/>
          <a:ln w="12700">
            <a:solidFill>
              <a:srgbClr val="E2E7F0"/>
            </a:solidFill>
            <a:prstDash val="solid"/>
          </a:ln>
        </p:spPr>
      </p:sp>
      <p:sp>
        <p:nvSpPr>
          <p:cNvPr id="18" name="Text 15"/>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B6470"/>
                </a:solidFill>
                <a:latin typeface="Microsoft YaHei" pitchFamily="34" charset="0"/>
                <a:ea typeface="Microsoft YaHei" pitchFamily="34" charset="-122"/>
                <a:cs typeface="Microsoft YaHei" pitchFamily="34" charset="-120"/>
              </a:rPr>
              <a:t>第四栏即反思改进能力的书面表现，属于评价证据，不构成额外负担。</a:t>
            </a:r>
            <a:endParaRPr lang="en-US" sz="10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566182"/>
            <a:ext cx="95250" cy="95250"/>
          </a:xfrm>
          <a:prstGeom prst="ellipse">
            <a:avLst/>
          </a:prstGeom>
          <a:solidFill>
            <a:srgbClr val="C2CBD8"/>
          </a:solidFill>
          <a:ln w="25400">
            <a:solidFill>
              <a:srgbClr val="C2CBD8"/>
            </a:solidFill>
            <a:prstDash val="solid"/>
          </a:ln>
        </p:spPr>
      </p:sp>
      <p:sp>
        <p:nvSpPr>
          <p:cNvPr id="5" name="Shape 3"/>
          <p:cNvSpPr/>
          <p:nvPr/>
        </p:nvSpPr>
        <p:spPr>
          <a:xfrm>
            <a:off x="485775" y="2265589"/>
            <a:ext cx="95250" cy="95250"/>
          </a:xfrm>
          <a:prstGeom prst="ellipse">
            <a:avLst/>
          </a:prstGeom>
          <a:solidFill>
            <a:srgbClr val="C2CBD8"/>
          </a:solidFill>
          <a:ln w="25400">
            <a:solidFill>
              <a:srgbClr val="C2CBD8"/>
            </a:solidFill>
            <a:prstDash val="solid"/>
          </a:ln>
        </p:spPr>
      </p:sp>
      <p:sp>
        <p:nvSpPr>
          <p:cNvPr id="6" name="Shape 4"/>
          <p:cNvSpPr/>
          <p:nvPr/>
        </p:nvSpPr>
        <p:spPr>
          <a:xfrm>
            <a:off x="485775" y="2964996"/>
            <a:ext cx="95250" cy="95250"/>
          </a:xfrm>
          <a:prstGeom prst="ellipse">
            <a:avLst/>
          </a:prstGeom>
          <a:solidFill>
            <a:srgbClr val="C2CBD8"/>
          </a:solidFill>
          <a:ln w="25400">
            <a:solidFill>
              <a:srgbClr val="C2CBD8"/>
            </a:solidFill>
            <a:prstDash val="solid"/>
          </a:ln>
        </p:spPr>
      </p:sp>
      <p:sp>
        <p:nvSpPr>
          <p:cNvPr id="7" name="Shape 5"/>
          <p:cNvSpPr/>
          <p:nvPr/>
        </p:nvSpPr>
        <p:spPr>
          <a:xfrm>
            <a:off x="485775" y="3664404"/>
            <a:ext cx="95250" cy="95250"/>
          </a:xfrm>
          <a:prstGeom prst="ellipse">
            <a:avLst/>
          </a:prstGeom>
          <a:solidFill>
            <a:srgbClr val="C2CBD8"/>
          </a:solidFill>
          <a:ln w="25400">
            <a:solidFill>
              <a:srgbClr val="C2CBD8"/>
            </a:solidFill>
            <a:prstDash val="solid"/>
          </a:ln>
        </p:spPr>
      </p:sp>
      <p:sp>
        <p:nvSpPr>
          <p:cNvPr id="8" name="Shape 6"/>
          <p:cNvSpPr/>
          <p:nvPr/>
        </p:nvSpPr>
        <p:spPr>
          <a:xfrm>
            <a:off x="485775" y="4363811"/>
            <a:ext cx="95250" cy="95250"/>
          </a:xfrm>
          <a:prstGeom prst="ellipse">
            <a:avLst/>
          </a:prstGeom>
          <a:solidFill>
            <a:srgbClr val="C2CBD8"/>
          </a:solidFill>
          <a:ln w="25400">
            <a:solidFill>
              <a:srgbClr val="C2CBD8"/>
            </a:solidFill>
            <a:prstDash val="solid"/>
          </a:ln>
        </p:spPr>
      </p:sp>
      <p:sp>
        <p:nvSpPr>
          <p:cNvPr id="9" name="Shape 7"/>
          <p:cNvSpPr/>
          <p:nvPr/>
        </p:nvSpPr>
        <p:spPr>
          <a:xfrm>
            <a:off x="466725" y="5044168"/>
            <a:ext cx="133350" cy="133350"/>
          </a:xfrm>
          <a:prstGeom prst="ellipse">
            <a:avLst/>
          </a:prstGeom>
          <a:solidFill>
            <a:srgbClr val="B0472A"/>
          </a:solidFill>
          <a:ln w="25400">
            <a:solidFill>
              <a:srgbClr val="B0472A"/>
            </a:solidFill>
            <a:prstDash val="solid"/>
          </a:ln>
        </p:spPr>
      </p:sp>
      <p:sp>
        <p:nvSpPr>
          <p:cNvPr id="10" name="Shape 8"/>
          <p:cNvSpPr/>
          <p:nvPr/>
        </p:nvSpPr>
        <p:spPr>
          <a:xfrm>
            <a:off x="485775" y="5762625"/>
            <a:ext cx="95250" cy="95250"/>
          </a:xfrm>
          <a:prstGeom prst="ellipse">
            <a:avLst/>
          </a:prstGeom>
          <a:solidFill>
            <a:srgbClr val="FFFFFF"/>
          </a:solidFill>
          <a:ln w="25400">
            <a:solidFill>
              <a:srgbClr val="E2E7F0"/>
            </a:solidFill>
            <a:prstDash val="solid"/>
          </a:ln>
        </p:spPr>
      </p:sp>
      <p:sp>
        <p:nvSpPr>
          <p:cNvPr id="11" name="Text 9"/>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六</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2" name="Text 10"/>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37</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44</a:t>
            </a:r>
            <a:endParaRPr lang="en-US" sz="1000" dirty="0"/>
          </a:p>
        </p:txBody>
      </p:sp>
      <p:sp>
        <p:nvSpPr>
          <p:cNvPr id="13" name="Text 11"/>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4" name="Text 12"/>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第六段　·　过程证据、评价与使用红线</a:t>
            </a:r>
            <a:endParaRPr lang="en-US" sz="1000" dirty="0"/>
          </a:p>
        </p:txBody>
      </p:sp>
      <p:sp>
        <p:nvSpPr>
          <p:cNvPr id="15" name="Text 13"/>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答辩环节的三项提问</a:t>
            </a:r>
            <a:endParaRPr lang="en-US" sz="3200" dirty="0"/>
          </a:p>
        </p:txBody>
      </p:sp>
      <p:sp>
        <p:nvSpPr>
          <p:cNvPr id="16" name="Text 14"/>
          <p:cNvSpPr/>
          <p:nvPr/>
        </p:nvSpPr>
        <p:spPr>
          <a:xfrm>
            <a:off x="1295400" y="2468880"/>
            <a:ext cx="411480" cy="457200"/>
          </a:xfrm>
          <a:prstGeom prst="rect">
            <a:avLst/>
          </a:prstGeom>
          <a:noFill/>
          <a:ln/>
        </p:spPr>
        <p:txBody>
          <a:bodyPr wrap="square" lIns="0" tIns="0" rIns="0" bIns="0" rtlCol="0" anchor="ctr"/>
          <a:lstStyle/>
          <a:p>
            <a:pPr indent="0" marL="0">
              <a:buNone/>
            </a:pPr>
            <a:r>
              <a:rPr lang="en-US" sz="1600" b="1" dirty="0">
                <a:solidFill>
                  <a:srgbClr val="B0472A"/>
                </a:solidFill>
                <a:latin typeface="Microsoft YaHei" pitchFamily="34" charset="0"/>
                <a:ea typeface="Microsoft YaHei" pitchFamily="34" charset="-122"/>
                <a:cs typeface="Microsoft YaHei" pitchFamily="34" charset="-120"/>
              </a:rPr>
              <a:t>一</a:t>
            </a:r>
            <a:endParaRPr lang="en-US" sz="1600" dirty="0"/>
          </a:p>
        </p:txBody>
      </p:sp>
      <p:sp>
        <p:nvSpPr>
          <p:cNvPr id="17" name="Text 15"/>
          <p:cNvSpPr/>
          <p:nvPr/>
        </p:nvSpPr>
        <p:spPr>
          <a:xfrm>
            <a:off x="1862328" y="2414016"/>
            <a:ext cx="9414967" cy="548640"/>
          </a:xfrm>
          <a:prstGeom prst="rect">
            <a:avLst/>
          </a:prstGeom>
          <a:noFill/>
          <a:ln/>
        </p:spPr>
        <p:txBody>
          <a:bodyPr wrap="square" lIns="0" tIns="0" rIns="0" bIns="0" rtlCol="0" anchor="t"/>
          <a:lstStyle/>
          <a:p>
            <a:pPr indent="0" marL="0">
              <a:buNone/>
            </a:pPr>
            <a:r>
              <a:rPr lang="en-US" sz="2300" b="1" dirty="0">
                <a:solidFill>
                  <a:srgbClr val="0F1B2D"/>
                </a:solidFill>
                <a:latin typeface="Microsoft YaHei" pitchFamily="34" charset="0"/>
                <a:ea typeface="Microsoft YaHei" pitchFamily="34" charset="-122"/>
                <a:cs typeface="Microsoft YaHei" pitchFamily="34" charset="-120"/>
              </a:rPr>
              <a:t>你为什么选这个方案</a:t>
            </a:r>
            <a:endParaRPr lang="en-US" sz="2300" dirty="0"/>
          </a:p>
        </p:txBody>
      </p:sp>
      <p:sp>
        <p:nvSpPr>
          <p:cNvPr id="18" name="Text 16"/>
          <p:cNvSpPr/>
          <p:nvPr/>
        </p:nvSpPr>
        <p:spPr>
          <a:xfrm>
            <a:off x="1295400" y="3255264"/>
            <a:ext cx="411480" cy="457200"/>
          </a:xfrm>
          <a:prstGeom prst="rect">
            <a:avLst/>
          </a:prstGeom>
          <a:noFill/>
          <a:ln/>
        </p:spPr>
        <p:txBody>
          <a:bodyPr wrap="square" lIns="0" tIns="0" rIns="0" bIns="0" rtlCol="0" anchor="ctr"/>
          <a:lstStyle/>
          <a:p>
            <a:pPr indent="0" marL="0">
              <a:buNone/>
            </a:pPr>
            <a:r>
              <a:rPr lang="en-US" sz="1600" b="1" dirty="0">
                <a:solidFill>
                  <a:srgbClr val="B0472A"/>
                </a:solidFill>
                <a:latin typeface="Microsoft YaHei" pitchFamily="34" charset="0"/>
                <a:ea typeface="Microsoft YaHei" pitchFamily="34" charset="-122"/>
                <a:cs typeface="Microsoft YaHei" pitchFamily="34" charset="-120"/>
              </a:rPr>
              <a:t>二</a:t>
            </a:r>
            <a:endParaRPr lang="en-US" sz="1600" dirty="0"/>
          </a:p>
        </p:txBody>
      </p:sp>
      <p:sp>
        <p:nvSpPr>
          <p:cNvPr id="19" name="Text 17"/>
          <p:cNvSpPr/>
          <p:nvPr/>
        </p:nvSpPr>
        <p:spPr>
          <a:xfrm>
            <a:off x="1862328" y="3200400"/>
            <a:ext cx="9414967" cy="548640"/>
          </a:xfrm>
          <a:prstGeom prst="rect">
            <a:avLst/>
          </a:prstGeom>
          <a:noFill/>
          <a:ln/>
        </p:spPr>
        <p:txBody>
          <a:bodyPr wrap="square" lIns="0" tIns="0" rIns="0" bIns="0" rtlCol="0" anchor="t"/>
          <a:lstStyle/>
          <a:p>
            <a:pPr indent="0" marL="0">
              <a:buNone/>
            </a:pPr>
            <a:r>
              <a:rPr lang="en-US" sz="2300" b="1" dirty="0">
                <a:solidFill>
                  <a:srgbClr val="0F1B2D"/>
                </a:solidFill>
                <a:latin typeface="Microsoft YaHei" pitchFamily="34" charset="0"/>
                <a:ea typeface="Microsoft YaHei" pitchFamily="34" charset="-122"/>
                <a:cs typeface="Microsoft YaHei" pitchFamily="34" charset="-120"/>
              </a:rPr>
              <a:t>你对 AI 的输出作了哪些修改</a:t>
            </a:r>
            <a:endParaRPr lang="en-US" sz="2300" dirty="0"/>
          </a:p>
        </p:txBody>
      </p:sp>
      <p:sp>
        <p:nvSpPr>
          <p:cNvPr id="20" name="Text 18"/>
          <p:cNvSpPr/>
          <p:nvPr/>
        </p:nvSpPr>
        <p:spPr>
          <a:xfrm>
            <a:off x="1295400" y="4041648"/>
            <a:ext cx="411480" cy="457200"/>
          </a:xfrm>
          <a:prstGeom prst="rect">
            <a:avLst/>
          </a:prstGeom>
          <a:noFill/>
          <a:ln/>
        </p:spPr>
        <p:txBody>
          <a:bodyPr wrap="square" lIns="0" tIns="0" rIns="0" bIns="0" rtlCol="0" anchor="ctr"/>
          <a:lstStyle/>
          <a:p>
            <a:pPr indent="0" marL="0">
              <a:buNone/>
            </a:pPr>
            <a:r>
              <a:rPr lang="en-US" sz="1600" b="1" dirty="0">
                <a:solidFill>
                  <a:srgbClr val="B0472A"/>
                </a:solidFill>
                <a:latin typeface="Microsoft YaHei" pitchFamily="34" charset="0"/>
                <a:ea typeface="Microsoft YaHei" pitchFamily="34" charset="-122"/>
                <a:cs typeface="Microsoft YaHei" pitchFamily="34" charset="-120"/>
              </a:rPr>
              <a:t>三</a:t>
            </a:r>
            <a:endParaRPr lang="en-US" sz="1600" dirty="0"/>
          </a:p>
        </p:txBody>
      </p:sp>
      <p:sp>
        <p:nvSpPr>
          <p:cNvPr id="21" name="Text 19"/>
          <p:cNvSpPr/>
          <p:nvPr/>
        </p:nvSpPr>
        <p:spPr>
          <a:xfrm>
            <a:off x="1862328" y="3986784"/>
            <a:ext cx="9414967" cy="548640"/>
          </a:xfrm>
          <a:prstGeom prst="rect">
            <a:avLst/>
          </a:prstGeom>
          <a:noFill/>
          <a:ln/>
        </p:spPr>
        <p:txBody>
          <a:bodyPr wrap="square" lIns="0" tIns="0" rIns="0" bIns="0" rtlCol="0" anchor="t"/>
          <a:lstStyle/>
          <a:p>
            <a:pPr indent="0" marL="0">
              <a:buNone/>
            </a:pPr>
            <a:r>
              <a:rPr lang="en-US" sz="2300" b="1" dirty="0">
                <a:solidFill>
                  <a:srgbClr val="0F1B2D"/>
                </a:solidFill>
                <a:latin typeface="Microsoft YaHei" pitchFamily="34" charset="0"/>
                <a:ea typeface="Microsoft YaHei" pitchFamily="34" charset="-122"/>
                <a:cs typeface="Microsoft YaHei" pitchFamily="34" charset="-120"/>
              </a:rPr>
              <a:t>如果此处有误，你如何发现</a:t>
            </a:r>
            <a:endParaRPr lang="en-US" sz="2300" dirty="0"/>
          </a:p>
        </p:txBody>
      </p:sp>
      <p:sp>
        <p:nvSpPr>
          <p:cNvPr id="22" name="Shape 20"/>
          <p:cNvSpPr/>
          <p:nvPr/>
        </p:nvSpPr>
        <p:spPr>
          <a:xfrm>
            <a:off x="1295400" y="5888736"/>
            <a:ext cx="9981895" cy="0"/>
          </a:xfrm>
          <a:prstGeom prst="line">
            <a:avLst/>
          </a:prstGeom>
          <a:noFill/>
          <a:ln w="12700">
            <a:solidFill>
              <a:srgbClr val="E2E7F0"/>
            </a:solidFill>
            <a:prstDash val="solid"/>
          </a:ln>
        </p:spPr>
      </p:sp>
      <p:sp>
        <p:nvSpPr>
          <p:cNvPr id="23" name="Text 21"/>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B6470"/>
                </a:solidFill>
                <a:latin typeface="Microsoft YaHei" pitchFamily="34" charset="0"/>
                <a:ea typeface="Microsoft YaHei" pitchFamily="34" charset="-122"/>
                <a:cs typeface="Microsoft YaHei" pitchFamily="34" charset="-120"/>
              </a:rPr>
              <a:t>三项提问不依赖额外工具与准备，可在下一次答辩中直接使用。</a:t>
            </a:r>
            <a:endParaRPr lang="en-US" sz="10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566182"/>
            <a:ext cx="95250" cy="95250"/>
          </a:xfrm>
          <a:prstGeom prst="ellipse">
            <a:avLst/>
          </a:prstGeom>
          <a:solidFill>
            <a:srgbClr val="C2CBD8"/>
          </a:solidFill>
          <a:ln w="25400">
            <a:solidFill>
              <a:srgbClr val="C2CBD8"/>
            </a:solidFill>
            <a:prstDash val="solid"/>
          </a:ln>
        </p:spPr>
      </p:sp>
      <p:sp>
        <p:nvSpPr>
          <p:cNvPr id="5" name="Shape 3"/>
          <p:cNvSpPr/>
          <p:nvPr/>
        </p:nvSpPr>
        <p:spPr>
          <a:xfrm>
            <a:off x="485775" y="2265589"/>
            <a:ext cx="95250" cy="95250"/>
          </a:xfrm>
          <a:prstGeom prst="ellipse">
            <a:avLst/>
          </a:prstGeom>
          <a:solidFill>
            <a:srgbClr val="C2CBD8"/>
          </a:solidFill>
          <a:ln w="25400">
            <a:solidFill>
              <a:srgbClr val="C2CBD8"/>
            </a:solidFill>
            <a:prstDash val="solid"/>
          </a:ln>
        </p:spPr>
      </p:sp>
      <p:sp>
        <p:nvSpPr>
          <p:cNvPr id="6" name="Shape 4"/>
          <p:cNvSpPr/>
          <p:nvPr/>
        </p:nvSpPr>
        <p:spPr>
          <a:xfrm>
            <a:off x="485775" y="2964996"/>
            <a:ext cx="95250" cy="95250"/>
          </a:xfrm>
          <a:prstGeom prst="ellipse">
            <a:avLst/>
          </a:prstGeom>
          <a:solidFill>
            <a:srgbClr val="C2CBD8"/>
          </a:solidFill>
          <a:ln w="25400">
            <a:solidFill>
              <a:srgbClr val="C2CBD8"/>
            </a:solidFill>
            <a:prstDash val="solid"/>
          </a:ln>
        </p:spPr>
      </p:sp>
      <p:sp>
        <p:nvSpPr>
          <p:cNvPr id="7" name="Shape 5"/>
          <p:cNvSpPr/>
          <p:nvPr/>
        </p:nvSpPr>
        <p:spPr>
          <a:xfrm>
            <a:off x="485775" y="3664404"/>
            <a:ext cx="95250" cy="95250"/>
          </a:xfrm>
          <a:prstGeom prst="ellipse">
            <a:avLst/>
          </a:prstGeom>
          <a:solidFill>
            <a:srgbClr val="C2CBD8"/>
          </a:solidFill>
          <a:ln w="25400">
            <a:solidFill>
              <a:srgbClr val="C2CBD8"/>
            </a:solidFill>
            <a:prstDash val="solid"/>
          </a:ln>
        </p:spPr>
      </p:sp>
      <p:sp>
        <p:nvSpPr>
          <p:cNvPr id="8" name="Shape 6"/>
          <p:cNvSpPr/>
          <p:nvPr/>
        </p:nvSpPr>
        <p:spPr>
          <a:xfrm>
            <a:off x="485775" y="4363811"/>
            <a:ext cx="95250" cy="95250"/>
          </a:xfrm>
          <a:prstGeom prst="ellipse">
            <a:avLst/>
          </a:prstGeom>
          <a:solidFill>
            <a:srgbClr val="C2CBD8"/>
          </a:solidFill>
          <a:ln w="25400">
            <a:solidFill>
              <a:srgbClr val="C2CBD8"/>
            </a:solidFill>
            <a:prstDash val="solid"/>
          </a:ln>
        </p:spPr>
      </p:sp>
      <p:sp>
        <p:nvSpPr>
          <p:cNvPr id="9" name="Shape 7"/>
          <p:cNvSpPr/>
          <p:nvPr/>
        </p:nvSpPr>
        <p:spPr>
          <a:xfrm>
            <a:off x="466725" y="5044168"/>
            <a:ext cx="133350" cy="133350"/>
          </a:xfrm>
          <a:prstGeom prst="ellipse">
            <a:avLst/>
          </a:prstGeom>
          <a:solidFill>
            <a:srgbClr val="B0472A"/>
          </a:solidFill>
          <a:ln w="25400">
            <a:solidFill>
              <a:srgbClr val="B0472A"/>
            </a:solidFill>
            <a:prstDash val="solid"/>
          </a:ln>
        </p:spPr>
      </p:sp>
      <p:sp>
        <p:nvSpPr>
          <p:cNvPr id="10" name="Shape 8"/>
          <p:cNvSpPr/>
          <p:nvPr/>
        </p:nvSpPr>
        <p:spPr>
          <a:xfrm>
            <a:off x="485775" y="5762625"/>
            <a:ext cx="95250" cy="95250"/>
          </a:xfrm>
          <a:prstGeom prst="ellipse">
            <a:avLst/>
          </a:prstGeom>
          <a:solidFill>
            <a:srgbClr val="FFFFFF"/>
          </a:solidFill>
          <a:ln w="25400">
            <a:solidFill>
              <a:srgbClr val="E2E7F0"/>
            </a:solidFill>
            <a:prstDash val="solid"/>
          </a:ln>
        </p:spPr>
      </p:sp>
      <p:sp>
        <p:nvSpPr>
          <p:cNvPr id="11" name="Text 9"/>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六</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2" name="Text 10"/>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38</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44</a:t>
            </a:r>
            <a:endParaRPr lang="en-US" sz="1000" dirty="0"/>
          </a:p>
        </p:txBody>
      </p:sp>
      <p:sp>
        <p:nvSpPr>
          <p:cNvPr id="13" name="Text 11"/>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B 档</a:t>
            </a:r>
            <a:endParaRPr lang="en-US" sz="800" dirty="0"/>
          </a:p>
        </p:txBody>
      </p:sp>
      <p:sp>
        <p:nvSpPr>
          <p:cNvPr id="14" name="Text 12"/>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第六段　·　过程证据、评价与使用红线</a:t>
            </a:r>
            <a:endParaRPr lang="en-US" sz="1000" dirty="0"/>
          </a:p>
        </p:txBody>
      </p:sp>
      <p:sp>
        <p:nvSpPr>
          <p:cNvPr id="15" name="Text 13"/>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过程证据的制度出口</a:t>
            </a:r>
            <a:endParaRPr lang="en-US" sz="3200" dirty="0"/>
          </a:p>
        </p:txBody>
      </p:sp>
      <p:pic>
        <p:nvPicPr>
          <p:cNvPr id="16" name="Image 0" descr="/home/user/slides/comprehensive-practice-ai/figures/chain.png">    </p:cNvPr>
          <p:cNvPicPr>
            <a:picLocks noChangeAspect="1"/>
          </p:cNvPicPr>
          <p:nvPr/>
        </p:nvPicPr>
        <p:blipFill>
          <a:blip r:embed="rId1"/>
          <a:stretch>
            <a:fillRect/>
          </a:stretch>
        </p:blipFill>
        <p:spPr>
          <a:xfrm>
            <a:off x="1295400" y="2135124"/>
            <a:ext cx="9981895" cy="2324029"/>
          </a:xfrm>
          <a:prstGeom prst="rect">
            <a:avLst/>
          </a:prstGeom>
        </p:spPr>
      </p:pic>
      <p:sp>
        <p:nvSpPr>
          <p:cNvPr id="17" name="Text 14"/>
          <p:cNvSpPr/>
          <p:nvPr/>
        </p:nvSpPr>
        <p:spPr>
          <a:xfrm>
            <a:off x="1295400" y="4642033"/>
            <a:ext cx="9981895" cy="365760"/>
          </a:xfrm>
          <a:prstGeom prst="rect">
            <a:avLst/>
          </a:prstGeom>
          <a:noFill/>
          <a:ln/>
        </p:spPr>
        <p:txBody>
          <a:bodyPr wrap="square" lIns="0" tIns="0" rIns="0" bIns="0" rtlCol="0" anchor="ctr"/>
          <a:lstStyle/>
          <a:p>
            <a:pPr indent="0" marL="0">
              <a:buNone/>
            </a:pPr>
            <a:r>
              <a:rPr lang="en-US" sz="1400" dirty="0">
                <a:solidFill>
                  <a:srgbClr val="1A2029"/>
                </a:solidFill>
                <a:latin typeface="Microsoft YaHei" pitchFamily="34" charset="0"/>
                <a:ea typeface="Microsoft YaHei" pitchFamily="34" charset="-122"/>
                <a:cs typeface="Microsoft YaHei" pitchFamily="34" charset="-120"/>
              </a:rPr>
              <a:t>深圳的写实记录须有佐证材料、签字，公示期 5 个工作日。</a:t>
            </a:r>
            <a:endParaRPr lang="en-US" sz="14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566182"/>
            <a:ext cx="95250" cy="95250"/>
          </a:xfrm>
          <a:prstGeom prst="ellipse">
            <a:avLst/>
          </a:prstGeom>
          <a:solidFill>
            <a:srgbClr val="C2CBD8"/>
          </a:solidFill>
          <a:ln w="25400">
            <a:solidFill>
              <a:srgbClr val="C2CBD8"/>
            </a:solidFill>
            <a:prstDash val="solid"/>
          </a:ln>
        </p:spPr>
      </p:sp>
      <p:sp>
        <p:nvSpPr>
          <p:cNvPr id="5" name="Shape 3"/>
          <p:cNvSpPr/>
          <p:nvPr/>
        </p:nvSpPr>
        <p:spPr>
          <a:xfrm>
            <a:off x="485775" y="2265589"/>
            <a:ext cx="95250" cy="95250"/>
          </a:xfrm>
          <a:prstGeom prst="ellipse">
            <a:avLst/>
          </a:prstGeom>
          <a:solidFill>
            <a:srgbClr val="C2CBD8"/>
          </a:solidFill>
          <a:ln w="25400">
            <a:solidFill>
              <a:srgbClr val="C2CBD8"/>
            </a:solidFill>
            <a:prstDash val="solid"/>
          </a:ln>
        </p:spPr>
      </p:sp>
      <p:sp>
        <p:nvSpPr>
          <p:cNvPr id="6" name="Shape 4"/>
          <p:cNvSpPr/>
          <p:nvPr/>
        </p:nvSpPr>
        <p:spPr>
          <a:xfrm>
            <a:off x="485775" y="2964996"/>
            <a:ext cx="95250" cy="95250"/>
          </a:xfrm>
          <a:prstGeom prst="ellipse">
            <a:avLst/>
          </a:prstGeom>
          <a:solidFill>
            <a:srgbClr val="C2CBD8"/>
          </a:solidFill>
          <a:ln w="25400">
            <a:solidFill>
              <a:srgbClr val="C2CBD8"/>
            </a:solidFill>
            <a:prstDash val="solid"/>
          </a:ln>
        </p:spPr>
      </p:sp>
      <p:sp>
        <p:nvSpPr>
          <p:cNvPr id="7" name="Shape 5"/>
          <p:cNvSpPr/>
          <p:nvPr/>
        </p:nvSpPr>
        <p:spPr>
          <a:xfrm>
            <a:off x="485775" y="3664404"/>
            <a:ext cx="95250" cy="95250"/>
          </a:xfrm>
          <a:prstGeom prst="ellipse">
            <a:avLst/>
          </a:prstGeom>
          <a:solidFill>
            <a:srgbClr val="C2CBD8"/>
          </a:solidFill>
          <a:ln w="25400">
            <a:solidFill>
              <a:srgbClr val="C2CBD8"/>
            </a:solidFill>
            <a:prstDash val="solid"/>
          </a:ln>
        </p:spPr>
      </p:sp>
      <p:sp>
        <p:nvSpPr>
          <p:cNvPr id="8" name="Shape 6"/>
          <p:cNvSpPr/>
          <p:nvPr/>
        </p:nvSpPr>
        <p:spPr>
          <a:xfrm>
            <a:off x="485775" y="4363811"/>
            <a:ext cx="95250" cy="95250"/>
          </a:xfrm>
          <a:prstGeom prst="ellipse">
            <a:avLst/>
          </a:prstGeom>
          <a:solidFill>
            <a:srgbClr val="C2CBD8"/>
          </a:solidFill>
          <a:ln w="25400">
            <a:solidFill>
              <a:srgbClr val="C2CBD8"/>
            </a:solidFill>
            <a:prstDash val="solid"/>
          </a:ln>
        </p:spPr>
      </p:sp>
      <p:sp>
        <p:nvSpPr>
          <p:cNvPr id="9" name="Shape 7"/>
          <p:cNvSpPr/>
          <p:nvPr/>
        </p:nvSpPr>
        <p:spPr>
          <a:xfrm>
            <a:off x="466725" y="5044168"/>
            <a:ext cx="133350" cy="133350"/>
          </a:xfrm>
          <a:prstGeom prst="ellipse">
            <a:avLst/>
          </a:prstGeom>
          <a:solidFill>
            <a:srgbClr val="B0472A"/>
          </a:solidFill>
          <a:ln w="25400">
            <a:solidFill>
              <a:srgbClr val="B0472A"/>
            </a:solidFill>
            <a:prstDash val="solid"/>
          </a:ln>
        </p:spPr>
      </p:sp>
      <p:sp>
        <p:nvSpPr>
          <p:cNvPr id="10" name="Shape 8"/>
          <p:cNvSpPr/>
          <p:nvPr/>
        </p:nvSpPr>
        <p:spPr>
          <a:xfrm>
            <a:off x="485775" y="5762625"/>
            <a:ext cx="95250" cy="95250"/>
          </a:xfrm>
          <a:prstGeom prst="ellipse">
            <a:avLst/>
          </a:prstGeom>
          <a:solidFill>
            <a:srgbClr val="FFFFFF"/>
          </a:solidFill>
          <a:ln w="25400">
            <a:solidFill>
              <a:srgbClr val="E2E7F0"/>
            </a:solidFill>
            <a:prstDash val="solid"/>
          </a:ln>
        </p:spPr>
      </p:sp>
      <p:sp>
        <p:nvSpPr>
          <p:cNvPr id="11" name="Text 9"/>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六</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2" name="Text 10"/>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39</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44</a:t>
            </a:r>
            <a:endParaRPr lang="en-US" sz="1000" dirty="0"/>
          </a:p>
        </p:txBody>
      </p:sp>
      <p:sp>
        <p:nvSpPr>
          <p:cNvPr id="13" name="Text 11"/>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4" name="Text 12"/>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第六段　·　过程证据、评价与使用红线</a:t>
            </a:r>
            <a:endParaRPr lang="en-US" sz="1000" dirty="0"/>
          </a:p>
        </p:txBody>
      </p:sp>
      <p:sp>
        <p:nvSpPr>
          <p:cNvPr id="15" name="Text 13"/>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生成式 AI 的使用红线</a:t>
            </a:r>
            <a:endParaRPr lang="en-US" sz="3200" dirty="0"/>
          </a:p>
        </p:txBody>
      </p:sp>
      <p:sp>
        <p:nvSpPr>
          <p:cNvPr id="16" name="Shape 14"/>
          <p:cNvSpPr/>
          <p:nvPr/>
        </p:nvSpPr>
        <p:spPr>
          <a:xfrm>
            <a:off x="1295400" y="1860804"/>
            <a:ext cx="9981895" cy="512064"/>
          </a:xfrm>
          <a:prstGeom prst="roundRect">
            <a:avLst>
              <a:gd name="adj" fmla="val 12500"/>
            </a:avLst>
          </a:prstGeom>
          <a:solidFill>
            <a:srgbClr val="FFFFFF"/>
          </a:solidFill>
          <a:ln w="12700">
            <a:solidFill>
              <a:srgbClr val="E2E7F0"/>
            </a:solidFill>
            <a:prstDash val="solid"/>
          </a:ln>
        </p:spPr>
      </p:sp>
      <p:sp>
        <p:nvSpPr>
          <p:cNvPr id="17" name="Shape 15"/>
          <p:cNvSpPr/>
          <p:nvPr/>
        </p:nvSpPr>
        <p:spPr>
          <a:xfrm>
            <a:off x="1295400" y="1906524"/>
            <a:ext cx="38100" cy="420624"/>
          </a:xfrm>
          <a:prstGeom prst="rect">
            <a:avLst/>
          </a:prstGeom>
          <a:solidFill>
            <a:srgbClr val="B0472A"/>
          </a:solidFill>
          <a:ln w="12700">
            <a:solidFill>
              <a:srgbClr val="B0472A"/>
            </a:solidFill>
            <a:prstDash val="solid"/>
          </a:ln>
        </p:spPr>
      </p:sp>
      <p:sp>
        <p:nvSpPr>
          <p:cNvPr id="18" name="Text 16"/>
          <p:cNvSpPr/>
          <p:nvPr/>
        </p:nvSpPr>
        <p:spPr>
          <a:xfrm>
            <a:off x="1514856" y="1860804"/>
            <a:ext cx="1280160" cy="512064"/>
          </a:xfrm>
          <a:prstGeom prst="rect">
            <a:avLst/>
          </a:prstGeom>
          <a:noFill/>
          <a:ln/>
        </p:spPr>
        <p:txBody>
          <a:bodyPr wrap="square" lIns="0" tIns="0" rIns="0" bIns="0" rtlCol="0" anchor="ctr"/>
          <a:lstStyle/>
          <a:p>
            <a:pPr indent="0" marL="0">
              <a:buNone/>
            </a:pPr>
            <a:r>
              <a:rPr lang="en-US" sz="1300" b="1" dirty="0">
                <a:solidFill>
                  <a:srgbClr val="B0472A"/>
                </a:solidFill>
                <a:latin typeface="Microsoft YaHei" pitchFamily="34" charset="0"/>
                <a:ea typeface="Microsoft YaHei" pitchFamily="34" charset="-122"/>
                <a:cs typeface="Microsoft YaHei" pitchFamily="34" charset="-120"/>
              </a:rPr>
              <a:t>小学阶段</a:t>
            </a:r>
            <a:endParaRPr lang="en-US" sz="1300" dirty="0"/>
          </a:p>
        </p:txBody>
      </p:sp>
      <p:sp>
        <p:nvSpPr>
          <p:cNvPr id="19" name="Text 17"/>
          <p:cNvSpPr/>
          <p:nvPr/>
        </p:nvSpPr>
        <p:spPr>
          <a:xfrm>
            <a:off x="2904744" y="1860804"/>
            <a:ext cx="8153095" cy="512064"/>
          </a:xfrm>
          <a:prstGeom prst="rect">
            <a:avLst/>
          </a:prstGeom>
          <a:noFill/>
          <a:ln/>
        </p:spPr>
        <p:txBody>
          <a:bodyPr wrap="square" lIns="0" tIns="0" rIns="0" bIns="0" rtlCol="0" anchor="ctr"/>
          <a:lstStyle/>
          <a:p>
            <a:pPr indent="0" marL="0">
              <a:lnSpc>
                <a:spcPct val="135000"/>
              </a:lnSpc>
              <a:buNone/>
            </a:pPr>
            <a:r>
              <a:rPr lang="en-US" sz="1200" dirty="0">
                <a:solidFill>
                  <a:srgbClr val="1A2029"/>
                </a:solidFill>
                <a:latin typeface="Microsoft YaHei" pitchFamily="34" charset="0"/>
                <a:ea typeface="Microsoft YaHei" pitchFamily="34" charset="-122"/>
                <a:cs typeface="Microsoft YaHei" pitchFamily="34" charset="-120"/>
              </a:rPr>
              <a:t>禁止学生独自使用开放式内容生成功能。教师可在课内适当使用辅助教学。</a:t>
            </a:r>
            <a:endParaRPr lang="en-US" sz="1200" dirty="0"/>
          </a:p>
        </p:txBody>
      </p:sp>
      <p:sp>
        <p:nvSpPr>
          <p:cNvPr id="20" name="Shape 18"/>
          <p:cNvSpPr/>
          <p:nvPr/>
        </p:nvSpPr>
        <p:spPr>
          <a:xfrm>
            <a:off x="1295400" y="2464308"/>
            <a:ext cx="9981895" cy="512064"/>
          </a:xfrm>
          <a:prstGeom prst="roundRect">
            <a:avLst>
              <a:gd name="adj" fmla="val 12500"/>
            </a:avLst>
          </a:prstGeom>
          <a:solidFill>
            <a:srgbClr val="FFFFFF"/>
          </a:solidFill>
          <a:ln w="12700">
            <a:solidFill>
              <a:srgbClr val="E2E7F0"/>
            </a:solidFill>
            <a:prstDash val="solid"/>
          </a:ln>
        </p:spPr>
      </p:sp>
      <p:sp>
        <p:nvSpPr>
          <p:cNvPr id="21" name="Shape 19"/>
          <p:cNvSpPr/>
          <p:nvPr/>
        </p:nvSpPr>
        <p:spPr>
          <a:xfrm>
            <a:off x="1295400" y="2510028"/>
            <a:ext cx="38100" cy="420624"/>
          </a:xfrm>
          <a:prstGeom prst="rect">
            <a:avLst/>
          </a:prstGeom>
          <a:solidFill>
            <a:srgbClr val="B0472A"/>
          </a:solidFill>
          <a:ln w="12700">
            <a:solidFill>
              <a:srgbClr val="B0472A"/>
            </a:solidFill>
            <a:prstDash val="solid"/>
          </a:ln>
        </p:spPr>
      </p:sp>
      <p:sp>
        <p:nvSpPr>
          <p:cNvPr id="22" name="Text 20"/>
          <p:cNvSpPr/>
          <p:nvPr/>
        </p:nvSpPr>
        <p:spPr>
          <a:xfrm>
            <a:off x="1514856" y="2464308"/>
            <a:ext cx="1280160" cy="512064"/>
          </a:xfrm>
          <a:prstGeom prst="rect">
            <a:avLst/>
          </a:prstGeom>
          <a:noFill/>
          <a:ln/>
        </p:spPr>
        <p:txBody>
          <a:bodyPr wrap="square" lIns="0" tIns="0" rIns="0" bIns="0" rtlCol="0" anchor="ctr"/>
          <a:lstStyle/>
          <a:p>
            <a:pPr indent="0" marL="0">
              <a:buNone/>
            </a:pPr>
            <a:r>
              <a:rPr lang="en-US" sz="1300" b="1" dirty="0">
                <a:solidFill>
                  <a:srgbClr val="B0472A"/>
                </a:solidFill>
                <a:latin typeface="Microsoft YaHei" pitchFamily="34" charset="0"/>
                <a:ea typeface="Microsoft YaHei" pitchFamily="34" charset="-122"/>
                <a:cs typeface="Microsoft YaHei" pitchFamily="34" charset="-120"/>
              </a:rPr>
              <a:t>作业与考试</a:t>
            </a:r>
            <a:endParaRPr lang="en-US" sz="1300" dirty="0"/>
          </a:p>
        </p:txBody>
      </p:sp>
      <p:sp>
        <p:nvSpPr>
          <p:cNvPr id="23" name="Text 21"/>
          <p:cNvSpPr/>
          <p:nvPr/>
        </p:nvSpPr>
        <p:spPr>
          <a:xfrm>
            <a:off x="2904744" y="2464308"/>
            <a:ext cx="8153095" cy="512064"/>
          </a:xfrm>
          <a:prstGeom prst="rect">
            <a:avLst/>
          </a:prstGeom>
          <a:noFill/>
          <a:ln/>
        </p:spPr>
        <p:txBody>
          <a:bodyPr wrap="square" lIns="0" tIns="0" rIns="0" bIns="0" rtlCol="0" anchor="ctr"/>
          <a:lstStyle/>
          <a:p>
            <a:pPr indent="0" marL="0">
              <a:lnSpc>
                <a:spcPct val="135000"/>
              </a:lnSpc>
              <a:buNone/>
            </a:pPr>
            <a:r>
              <a:rPr lang="en-US" sz="1200" dirty="0">
                <a:solidFill>
                  <a:srgbClr val="1A2029"/>
                </a:solidFill>
                <a:latin typeface="Microsoft YaHei" pitchFamily="34" charset="0"/>
                <a:ea typeface="Microsoft YaHei" pitchFamily="34" charset="-122"/>
                <a:cs typeface="Microsoft YaHei" pitchFamily="34" charset="-120"/>
              </a:rPr>
              <a:t>禁止学生直接复制人工智能生成内容作为作业或考试答案。</a:t>
            </a:r>
            <a:endParaRPr lang="en-US" sz="1200" dirty="0"/>
          </a:p>
        </p:txBody>
      </p:sp>
      <p:sp>
        <p:nvSpPr>
          <p:cNvPr id="24" name="Shape 22"/>
          <p:cNvSpPr/>
          <p:nvPr/>
        </p:nvSpPr>
        <p:spPr>
          <a:xfrm>
            <a:off x="1295400" y="3067812"/>
            <a:ext cx="9981895" cy="512064"/>
          </a:xfrm>
          <a:prstGeom prst="roundRect">
            <a:avLst>
              <a:gd name="adj" fmla="val 12500"/>
            </a:avLst>
          </a:prstGeom>
          <a:solidFill>
            <a:srgbClr val="FFFFFF"/>
          </a:solidFill>
          <a:ln w="12700">
            <a:solidFill>
              <a:srgbClr val="E2E7F0"/>
            </a:solidFill>
            <a:prstDash val="solid"/>
          </a:ln>
        </p:spPr>
      </p:sp>
      <p:sp>
        <p:nvSpPr>
          <p:cNvPr id="25" name="Shape 23"/>
          <p:cNvSpPr/>
          <p:nvPr/>
        </p:nvSpPr>
        <p:spPr>
          <a:xfrm>
            <a:off x="1295400" y="3113532"/>
            <a:ext cx="38100" cy="420624"/>
          </a:xfrm>
          <a:prstGeom prst="rect">
            <a:avLst/>
          </a:prstGeom>
          <a:solidFill>
            <a:srgbClr val="B0472A"/>
          </a:solidFill>
          <a:ln w="12700">
            <a:solidFill>
              <a:srgbClr val="B0472A"/>
            </a:solidFill>
            <a:prstDash val="solid"/>
          </a:ln>
        </p:spPr>
      </p:sp>
      <p:sp>
        <p:nvSpPr>
          <p:cNvPr id="26" name="Text 24"/>
          <p:cNvSpPr/>
          <p:nvPr/>
        </p:nvSpPr>
        <p:spPr>
          <a:xfrm>
            <a:off x="1514856" y="3067812"/>
            <a:ext cx="1280160" cy="512064"/>
          </a:xfrm>
          <a:prstGeom prst="rect">
            <a:avLst/>
          </a:prstGeom>
          <a:noFill/>
          <a:ln/>
        </p:spPr>
        <p:txBody>
          <a:bodyPr wrap="square" lIns="0" tIns="0" rIns="0" bIns="0" rtlCol="0" anchor="ctr"/>
          <a:lstStyle/>
          <a:p>
            <a:pPr indent="0" marL="0">
              <a:buNone/>
            </a:pPr>
            <a:r>
              <a:rPr lang="en-US" sz="1300" b="1" dirty="0">
                <a:solidFill>
                  <a:srgbClr val="B0472A"/>
                </a:solidFill>
                <a:latin typeface="Microsoft YaHei" pitchFamily="34" charset="0"/>
                <a:ea typeface="Microsoft YaHei" pitchFamily="34" charset="-122"/>
                <a:cs typeface="Microsoft YaHei" pitchFamily="34" charset="-120"/>
              </a:rPr>
              <a:t>数据</a:t>
            </a:r>
            <a:endParaRPr lang="en-US" sz="1300" dirty="0"/>
          </a:p>
        </p:txBody>
      </p:sp>
      <p:sp>
        <p:nvSpPr>
          <p:cNvPr id="27" name="Text 25"/>
          <p:cNvSpPr/>
          <p:nvPr/>
        </p:nvSpPr>
        <p:spPr>
          <a:xfrm>
            <a:off x="2904744" y="3067812"/>
            <a:ext cx="8153095" cy="512064"/>
          </a:xfrm>
          <a:prstGeom prst="rect">
            <a:avLst/>
          </a:prstGeom>
          <a:noFill/>
          <a:ln/>
        </p:spPr>
        <p:txBody>
          <a:bodyPr wrap="square" lIns="0" tIns="0" rIns="0" bIns="0" rtlCol="0" anchor="ctr"/>
          <a:lstStyle/>
          <a:p>
            <a:pPr indent="0" marL="0">
              <a:lnSpc>
                <a:spcPct val="135000"/>
              </a:lnSpc>
              <a:buNone/>
            </a:pPr>
            <a:r>
              <a:rPr lang="en-US" sz="1200" dirty="0">
                <a:solidFill>
                  <a:srgbClr val="1A2029"/>
                </a:solidFill>
                <a:latin typeface="Microsoft YaHei" pitchFamily="34" charset="0"/>
                <a:ea typeface="Microsoft YaHei" pitchFamily="34" charset="-122"/>
                <a:cs typeface="Microsoft YaHei" pitchFamily="34" charset="-120"/>
              </a:rPr>
              <a:t>学校须建立工具白名单，严禁输入考试试题、个人身份信息等敏感数据。</a:t>
            </a:r>
            <a:endParaRPr lang="en-US" sz="1200" dirty="0"/>
          </a:p>
        </p:txBody>
      </p:sp>
      <p:sp>
        <p:nvSpPr>
          <p:cNvPr id="28" name="Shape 26"/>
          <p:cNvSpPr/>
          <p:nvPr/>
        </p:nvSpPr>
        <p:spPr>
          <a:xfrm>
            <a:off x="1295400" y="3671316"/>
            <a:ext cx="9981895" cy="512064"/>
          </a:xfrm>
          <a:prstGeom prst="roundRect">
            <a:avLst>
              <a:gd name="adj" fmla="val 12500"/>
            </a:avLst>
          </a:prstGeom>
          <a:solidFill>
            <a:srgbClr val="FFFFFF"/>
          </a:solidFill>
          <a:ln w="12700">
            <a:solidFill>
              <a:srgbClr val="E2E7F0"/>
            </a:solidFill>
            <a:prstDash val="solid"/>
          </a:ln>
        </p:spPr>
      </p:sp>
      <p:sp>
        <p:nvSpPr>
          <p:cNvPr id="29" name="Shape 27"/>
          <p:cNvSpPr/>
          <p:nvPr/>
        </p:nvSpPr>
        <p:spPr>
          <a:xfrm>
            <a:off x="1295400" y="3717036"/>
            <a:ext cx="38100" cy="420624"/>
          </a:xfrm>
          <a:prstGeom prst="rect">
            <a:avLst/>
          </a:prstGeom>
          <a:solidFill>
            <a:srgbClr val="B0472A"/>
          </a:solidFill>
          <a:ln w="12700">
            <a:solidFill>
              <a:srgbClr val="B0472A"/>
            </a:solidFill>
            <a:prstDash val="solid"/>
          </a:ln>
        </p:spPr>
      </p:sp>
      <p:sp>
        <p:nvSpPr>
          <p:cNvPr id="30" name="Text 28"/>
          <p:cNvSpPr/>
          <p:nvPr/>
        </p:nvSpPr>
        <p:spPr>
          <a:xfrm>
            <a:off x="1514856" y="3671316"/>
            <a:ext cx="1280160" cy="512064"/>
          </a:xfrm>
          <a:prstGeom prst="rect">
            <a:avLst/>
          </a:prstGeom>
          <a:noFill/>
          <a:ln/>
        </p:spPr>
        <p:txBody>
          <a:bodyPr wrap="square" lIns="0" tIns="0" rIns="0" bIns="0" rtlCol="0" anchor="ctr"/>
          <a:lstStyle/>
          <a:p>
            <a:pPr indent="0" marL="0">
              <a:buNone/>
            </a:pPr>
            <a:r>
              <a:rPr lang="en-US" sz="1300" b="1" dirty="0">
                <a:solidFill>
                  <a:srgbClr val="B0472A"/>
                </a:solidFill>
                <a:latin typeface="Microsoft YaHei" pitchFamily="34" charset="0"/>
                <a:ea typeface="Microsoft YaHei" pitchFamily="34" charset="-122"/>
                <a:cs typeface="Microsoft YaHei" pitchFamily="34" charset="-120"/>
              </a:rPr>
              <a:t>标注</a:t>
            </a:r>
            <a:endParaRPr lang="en-US" sz="1300" dirty="0"/>
          </a:p>
        </p:txBody>
      </p:sp>
      <p:sp>
        <p:nvSpPr>
          <p:cNvPr id="31" name="Text 29"/>
          <p:cNvSpPr/>
          <p:nvPr/>
        </p:nvSpPr>
        <p:spPr>
          <a:xfrm>
            <a:off x="2904744" y="3671316"/>
            <a:ext cx="8153095" cy="512064"/>
          </a:xfrm>
          <a:prstGeom prst="rect">
            <a:avLst/>
          </a:prstGeom>
          <a:noFill/>
          <a:ln/>
        </p:spPr>
        <p:txBody>
          <a:bodyPr wrap="square" lIns="0" tIns="0" rIns="0" bIns="0" rtlCol="0" anchor="ctr"/>
          <a:lstStyle/>
          <a:p>
            <a:pPr indent="0" marL="0">
              <a:lnSpc>
                <a:spcPct val="135000"/>
              </a:lnSpc>
              <a:buNone/>
            </a:pPr>
            <a:r>
              <a:rPr lang="en-US" sz="1200" dirty="0">
                <a:solidFill>
                  <a:srgbClr val="1A2029"/>
                </a:solidFill>
                <a:latin typeface="Microsoft YaHei" pitchFamily="34" charset="0"/>
                <a:ea typeface="Microsoft YaHei" pitchFamily="34" charset="-122"/>
                <a:cs typeface="Microsoft YaHei" pitchFamily="34" charset="-120"/>
              </a:rPr>
              <a:t>学生 AI 辅助完成的成果应主动标注。</a:t>
            </a:r>
            <a:endParaRPr lang="en-US" sz="1200" dirty="0"/>
          </a:p>
        </p:txBody>
      </p:sp>
      <p:sp>
        <p:nvSpPr>
          <p:cNvPr id="32" name="Text 30"/>
          <p:cNvSpPr/>
          <p:nvPr/>
        </p:nvSpPr>
        <p:spPr>
          <a:xfrm>
            <a:off x="1295400" y="4402836"/>
            <a:ext cx="9981895" cy="274320"/>
          </a:xfrm>
          <a:prstGeom prst="rect">
            <a:avLst/>
          </a:prstGeom>
          <a:noFill/>
          <a:ln/>
        </p:spPr>
        <p:txBody>
          <a:bodyPr wrap="square" lIns="0" tIns="0" rIns="0" bIns="0" rtlCol="0" anchor="ctr"/>
          <a:lstStyle/>
          <a:p>
            <a:pPr indent="0" marL="0">
              <a:buNone/>
            </a:pPr>
            <a:r>
              <a:rPr lang="en-US" sz="1300" dirty="0">
                <a:solidFill>
                  <a:srgbClr val="1A2029"/>
                </a:solidFill>
                <a:latin typeface="Microsoft YaHei" pitchFamily="34" charset="0"/>
                <a:ea typeface="Microsoft YaHei" pitchFamily="34" charset="-122"/>
                <a:cs typeface="Microsoft YaHei" pitchFamily="34" charset="-120"/>
              </a:rPr>
              <a:t>这四条是硬约束。四条之外的使用方式，教育部与地方文件采取的是鼓励探索的表述。</a:t>
            </a:r>
            <a:endParaRPr lang="en-US" sz="1300" dirty="0"/>
          </a:p>
        </p:txBody>
      </p:sp>
      <p:sp>
        <p:nvSpPr>
          <p:cNvPr id="33" name="Text 31"/>
          <p:cNvSpPr/>
          <p:nvPr/>
        </p:nvSpPr>
        <p:spPr>
          <a:xfrm>
            <a:off x="1295400" y="4750308"/>
            <a:ext cx="9981895" cy="256032"/>
          </a:xfrm>
          <a:prstGeom prst="rect">
            <a:avLst/>
          </a:prstGeom>
          <a:noFill/>
          <a:ln/>
        </p:spPr>
        <p:txBody>
          <a:bodyPr wrap="square" lIns="0" tIns="0" rIns="0" bIns="0" rtlCol="0" anchor="ctr"/>
          <a:lstStyle/>
          <a:p>
            <a:pPr indent="0" marL="0">
              <a:buNone/>
            </a:pPr>
            <a:r>
              <a:rPr lang="en-US" sz="1000" dirty="0">
                <a:solidFill>
                  <a:srgbClr val="5B6470"/>
                </a:solidFill>
                <a:latin typeface="Microsoft YaHei" pitchFamily="34" charset="0"/>
                <a:ea typeface="Microsoft YaHei" pitchFamily="34" charset="-122"/>
                <a:cs typeface="Microsoft YaHei" pitchFamily="34" charset="-120"/>
              </a:rPr>
              <a:t>前三条出自《中小学生成式人工智能使用指南（2025 年版）》。</a:t>
            </a:r>
            <a:endParaRPr lang="en-US" sz="1000" dirty="0"/>
          </a:p>
        </p:txBody>
      </p:sp>
      <p:sp>
        <p:nvSpPr>
          <p:cNvPr id="34" name="Shape 32"/>
          <p:cNvSpPr/>
          <p:nvPr/>
        </p:nvSpPr>
        <p:spPr>
          <a:xfrm>
            <a:off x="1295400" y="5888736"/>
            <a:ext cx="9981895" cy="0"/>
          </a:xfrm>
          <a:prstGeom prst="line">
            <a:avLst/>
          </a:prstGeom>
          <a:noFill/>
          <a:ln w="12700">
            <a:solidFill>
              <a:srgbClr val="E2E7F0"/>
            </a:solidFill>
            <a:prstDash val="solid"/>
          </a:ln>
        </p:spPr>
      </p:sp>
      <p:sp>
        <p:nvSpPr>
          <p:cNvPr id="35" name="Text 33"/>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B6470"/>
                </a:solidFill>
                <a:latin typeface="Microsoft YaHei" pitchFamily="34" charset="0"/>
                <a:ea typeface="Microsoft YaHei" pitchFamily="34" charset="-122"/>
                <a:cs typeface="Microsoft YaHei" pitchFamily="34" charset="-120"/>
              </a:rPr>
              <a:t>第四条：《人工智能生成合成内容标识办法》（国信办通字〔2025〕2 号，2025 年 9 月 1 日施行）主要规范网络信息服务提供者，对校园作业的约束是间接的，按诚信要求表述，不是对学生的强制条款。</a:t>
            </a:r>
            <a:endParaRPr lang="en-US" sz="10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566182"/>
            <a:ext cx="95250" cy="95250"/>
          </a:xfrm>
          <a:prstGeom prst="ellipse">
            <a:avLst/>
          </a:prstGeom>
          <a:solidFill>
            <a:srgbClr val="C2CBD8"/>
          </a:solidFill>
          <a:ln w="25400">
            <a:solidFill>
              <a:srgbClr val="C2CBD8"/>
            </a:solidFill>
            <a:prstDash val="solid"/>
          </a:ln>
        </p:spPr>
      </p:sp>
      <p:sp>
        <p:nvSpPr>
          <p:cNvPr id="5" name="Shape 3"/>
          <p:cNvSpPr/>
          <p:nvPr/>
        </p:nvSpPr>
        <p:spPr>
          <a:xfrm>
            <a:off x="485775" y="2265589"/>
            <a:ext cx="95250" cy="95250"/>
          </a:xfrm>
          <a:prstGeom prst="ellipse">
            <a:avLst/>
          </a:prstGeom>
          <a:solidFill>
            <a:srgbClr val="C2CBD8"/>
          </a:solidFill>
          <a:ln w="25400">
            <a:solidFill>
              <a:srgbClr val="C2CBD8"/>
            </a:solidFill>
            <a:prstDash val="solid"/>
          </a:ln>
        </p:spPr>
      </p:sp>
      <p:sp>
        <p:nvSpPr>
          <p:cNvPr id="6" name="Shape 4"/>
          <p:cNvSpPr/>
          <p:nvPr/>
        </p:nvSpPr>
        <p:spPr>
          <a:xfrm>
            <a:off x="485775" y="2964996"/>
            <a:ext cx="95250" cy="95250"/>
          </a:xfrm>
          <a:prstGeom prst="ellipse">
            <a:avLst/>
          </a:prstGeom>
          <a:solidFill>
            <a:srgbClr val="C2CBD8"/>
          </a:solidFill>
          <a:ln w="25400">
            <a:solidFill>
              <a:srgbClr val="C2CBD8"/>
            </a:solidFill>
            <a:prstDash val="solid"/>
          </a:ln>
        </p:spPr>
      </p:sp>
      <p:sp>
        <p:nvSpPr>
          <p:cNvPr id="7" name="Shape 5"/>
          <p:cNvSpPr/>
          <p:nvPr/>
        </p:nvSpPr>
        <p:spPr>
          <a:xfrm>
            <a:off x="485775" y="3664404"/>
            <a:ext cx="95250" cy="95250"/>
          </a:xfrm>
          <a:prstGeom prst="ellipse">
            <a:avLst/>
          </a:prstGeom>
          <a:solidFill>
            <a:srgbClr val="C2CBD8"/>
          </a:solidFill>
          <a:ln w="25400">
            <a:solidFill>
              <a:srgbClr val="C2CBD8"/>
            </a:solidFill>
            <a:prstDash val="solid"/>
          </a:ln>
        </p:spPr>
      </p:sp>
      <p:sp>
        <p:nvSpPr>
          <p:cNvPr id="8" name="Shape 6"/>
          <p:cNvSpPr/>
          <p:nvPr/>
        </p:nvSpPr>
        <p:spPr>
          <a:xfrm>
            <a:off x="485775" y="4363811"/>
            <a:ext cx="95250" cy="95250"/>
          </a:xfrm>
          <a:prstGeom prst="ellipse">
            <a:avLst/>
          </a:prstGeom>
          <a:solidFill>
            <a:srgbClr val="C2CBD8"/>
          </a:solidFill>
          <a:ln w="25400">
            <a:solidFill>
              <a:srgbClr val="C2CBD8"/>
            </a:solidFill>
            <a:prstDash val="solid"/>
          </a:ln>
        </p:spPr>
      </p:sp>
      <p:sp>
        <p:nvSpPr>
          <p:cNvPr id="9" name="Shape 7"/>
          <p:cNvSpPr/>
          <p:nvPr/>
        </p:nvSpPr>
        <p:spPr>
          <a:xfrm>
            <a:off x="466725" y="5044168"/>
            <a:ext cx="133350" cy="133350"/>
          </a:xfrm>
          <a:prstGeom prst="ellipse">
            <a:avLst/>
          </a:prstGeom>
          <a:solidFill>
            <a:srgbClr val="B0472A"/>
          </a:solidFill>
          <a:ln w="25400">
            <a:solidFill>
              <a:srgbClr val="B0472A"/>
            </a:solidFill>
            <a:prstDash val="solid"/>
          </a:ln>
        </p:spPr>
      </p:sp>
      <p:sp>
        <p:nvSpPr>
          <p:cNvPr id="10" name="Shape 8"/>
          <p:cNvSpPr/>
          <p:nvPr/>
        </p:nvSpPr>
        <p:spPr>
          <a:xfrm>
            <a:off x="485775" y="5762625"/>
            <a:ext cx="95250" cy="95250"/>
          </a:xfrm>
          <a:prstGeom prst="ellipse">
            <a:avLst/>
          </a:prstGeom>
          <a:solidFill>
            <a:srgbClr val="FFFFFF"/>
          </a:solidFill>
          <a:ln w="25400">
            <a:solidFill>
              <a:srgbClr val="E2E7F0"/>
            </a:solidFill>
            <a:prstDash val="solid"/>
          </a:ln>
        </p:spPr>
      </p:sp>
      <p:sp>
        <p:nvSpPr>
          <p:cNvPr id="11" name="Text 9"/>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六</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2" name="Text 10"/>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40</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44</a:t>
            </a:r>
            <a:endParaRPr lang="en-US" sz="1000" dirty="0"/>
          </a:p>
        </p:txBody>
      </p:sp>
      <p:sp>
        <p:nvSpPr>
          <p:cNvPr id="13" name="Text 11"/>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B 档</a:t>
            </a:r>
            <a:endParaRPr lang="en-US" sz="800" dirty="0"/>
          </a:p>
        </p:txBody>
      </p:sp>
      <p:sp>
        <p:nvSpPr>
          <p:cNvPr id="14" name="Text 12"/>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第六段　·　过程证据、评价与使用红线</a:t>
            </a:r>
            <a:endParaRPr lang="en-US" sz="1000" dirty="0"/>
          </a:p>
        </p:txBody>
      </p:sp>
      <p:sp>
        <p:nvSpPr>
          <p:cNvPr id="15" name="Text 13"/>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评价主体与责任归属</a:t>
            </a:r>
            <a:endParaRPr lang="en-US" sz="3200" dirty="0"/>
          </a:p>
        </p:txBody>
      </p:sp>
      <p:sp>
        <p:nvSpPr>
          <p:cNvPr id="16" name="Shape 14"/>
          <p:cNvSpPr/>
          <p:nvPr/>
        </p:nvSpPr>
        <p:spPr>
          <a:xfrm>
            <a:off x="1295400" y="2468880"/>
            <a:ext cx="896112" cy="530352"/>
          </a:xfrm>
          <a:prstGeom prst="roundRect">
            <a:avLst>
              <a:gd name="adj" fmla="val 15517"/>
            </a:avLst>
          </a:prstGeom>
          <a:solidFill>
            <a:srgbClr val="FFFFFF"/>
          </a:solidFill>
          <a:ln w="12700">
            <a:solidFill>
              <a:srgbClr val="E2E7F0"/>
            </a:solidFill>
            <a:prstDash val="solid"/>
          </a:ln>
        </p:spPr>
      </p:sp>
      <p:sp>
        <p:nvSpPr>
          <p:cNvPr id="17" name="Text 15"/>
          <p:cNvSpPr/>
          <p:nvPr/>
        </p:nvSpPr>
        <p:spPr>
          <a:xfrm>
            <a:off x="1295400" y="2468880"/>
            <a:ext cx="896112" cy="530352"/>
          </a:xfrm>
          <a:prstGeom prst="rect">
            <a:avLst/>
          </a:prstGeom>
          <a:noFill/>
          <a:ln/>
        </p:spPr>
        <p:txBody>
          <a:bodyPr wrap="square" lIns="0" tIns="0" rIns="0" bIns="0" rtlCol="0" anchor="ctr"/>
          <a:lstStyle/>
          <a:p>
            <a:pPr algn="ctr" indent="0" marL="0">
              <a:buNone/>
            </a:pPr>
            <a:r>
              <a:rPr lang="en-US" sz="1500" b="1" dirty="0">
                <a:solidFill>
                  <a:srgbClr val="0F1B2D"/>
                </a:solidFill>
                <a:latin typeface="Microsoft YaHei" pitchFamily="34" charset="0"/>
                <a:ea typeface="Microsoft YaHei" pitchFamily="34" charset="-122"/>
                <a:cs typeface="Microsoft YaHei" pitchFamily="34" charset="-120"/>
              </a:rPr>
              <a:t>教师</a:t>
            </a:r>
            <a:endParaRPr lang="en-US" sz="1500" dirty="0"/>
          </a:p>
        </p:txBody>
      </p:sp>
      <p:sp>
        <p:nvSpPr>
          <p:cNvPr id="18" name="Shape 16"/>
          <p:cNvSpPr/>
          <p:nvPr/>
        </p:nvSpPr>
        <p:spPr>
          <a:xfrm>
            <a:off x="2374392" y="2468880"/>
            <a:ext cx="896112" cy="530352"/>
          </a:xfrm>
          <a:prstGeom prst="roundRect">
            <a:avLst>
              <a:gd name="adj" fmla="val 15517"/>
            </a:avLst>
          </a:prstGeom>
          <a:solidFill>
            <a:srgbClr val="FFFFFF"/>
          </a:solidFill>
          <a:ln w="12700">
            <a:solidFill>
              <a:srgbClr val="E2E7F0"/>
            </a:solidFill>
            <a:prstDash val="solid"/>
          </a:ln>
        </p:spPr>
      </p:sp>
      <p:sp>
        <p:nvSpPr>
          <p:cNvPr id="19" name="Text 17"/>
          <p:cNvSpPr/>
          <p:nvPr/>
        </p:nvSpPr>
        <p:spPr>
          <a:xfrm>
            <a:off x="2374392" y="2468880"/>
            <a:ext cx="896112" cy="530352"/>
          </a:xfrm>
          <a:prstGeom prst="rect">
            <a:avLst/>
          </a:prstGeom>
          <a:noFill/>
          <a:ln/>
        </p:spPr>
        <p:txBody>
          <a:bodyPr wrap="square" lIns="0" tIns="0" rIns="0" bIns="0" rtlCol="0" anchor="ctr"/>
          <a:lstStyle/>
          <a:p>
            <a:pPr algn="ctr" indent="0" marL="0">
              <a:buNone/>
            </a:pPr>
            <a:r>
              <a:rPr lang="en-US" sz="1500" b="1" dirty="0">
                <a:solidFill>
                  <a:srgbClr val="0F1B2D"/>
                </a:solidFill>
                <a:latin typeface="Microsoft YaHei" pitchFamily="34" charset="0"/>
                <a:ea typeface="Microsoft YaHei" pitchFamily="34" charset="-122"/>
                <a:cs typeface="Microsoft YaHei" pitchFamily="34" charset="-120"/>
              </a:rPr>
              <a:t>学生</a:t>
            </a:r>
            <a:endParaRPr lang="en-US" sz="1500" dirty="0"/>
          </a:p>
        </p:txBody>
      </p:sp>
      <p:sp>
        <p:nvSpPr>
          <p:cNvPr id="20" name="Shape 18"/>
          <p:cNvSpPr/>
          <p:nvPr/>
        </p:nvSpPr>
        <p:spPr>
          <a:xfrm>
            <a:off x="3453384" y="2468880"/>
            <a:ext cx="896112" cy="530352"/>
          </a:xfrm>
          <a:prstGeom prst="roundRect">
            <a:avLst>
              <a:gd name="adj" fmla="val 15517"/>
            </a:avLst>
          </a:prstGeom>
          <a:solidFill>
            <a:srgbClr val="FFFFFF"/>
          </a:solidFill>
          <a:ln w="12700">
            <a:solidFill>
              <a:srgbClr val="E2E7F0"/>
            </a:solidFill>
            <a:prstDash val="solid"/>
          </a:ln>
        </p:spPr>
      </p:sp>
      <p:sp>
        <p:nvSpPr>
          <p:cNvPr id="21" name="Text 19"/>
          <p:cNvSpPr/>
          <p:nvPr/>
        </p:nvSpPr>
        <p:spPr>
          <a:xfrm>
            <a:off x="3453384" y="2468880"/>
            <a:ext cx="896112" cy="530352"/>
          </a:xfrm>
          <a:prstGeom prst="rect">
            <a:avLst/>
          </a:prstGeom>
          <a:noFill/>
          <a:ln/>
        </p:spPr>
        <p:txBody>
          <a:bodyPr wrap="square" lIns="0" tIns="0" rIns="0" bIns="0" rtlCol="0" anchor="ctr"/>
          <a:lstStyle/>
          <a:p>
            <a:pPr algn="ctr" indent="0" marL="0">
              <a:buNone/>
            </a:pPr>
            <a:r>
              <a:rPr lang="en-US" sz="1500" b="1" dirty="0">
                <a:solidFill>
                  <a:srgbClr val="0F1B2D"/>
                </a:solidFill>
                <a:latin typeface="Microsoft YaHei" pitchFamily="34" charset="0"/>
                <a:ea typeface="Microsoft YaHei" pitchFamily="34" charset="-122"/>
                <a:cs typeface="Microsoft YaHei" pitchFamily="34" charset="-120"/>
              </a:rPr>
              <a:t>同伴</a:t>
            </a:r>
            <a:endParaRPr lang="en-US" sz="1500" dirty="0"/>
          </a:p>
        </p:txBody>
      </p:sp>
      <p:sp>
        <p:nvSpPr>
          <p:cNvPr id="22" name="Shape 20"/>
          <p:cNvSpPr/>
          <p:nvPr/>
        </p:nvSpPr>
        <p:spPr>
          <a:xfrm>
            <a:off x="4532376" y="2468880"/>
            <a:ext cx="2871216" cy="530352"/>
          </a:xfrm>
          <a:prstGeom prst="roundRect">
            <a:avLst>
              <a:gd name="adj" fmla="val 15517"/>
            </a:avLst>
          </a:prstGeom>
          <a:solidFill>
            <a:srgbClr val="FFFFFF"/>
          </a:solidFill>
          <a:ln w="12700">
            <a:solidFill>
              <a:srgbClr val="E2E7F0"/>
            </a:solidFill>
            <a:prstDash val="solid"/>
          </a:ln>
        </p:spPr>
      </p:sp>
      <p:sp>
        <p:nvSpPr>
          <p:cNvPr id="23" name="Text 21"/>
          <p:cNvSpPr/>
          <p:nvPr/>
        </p:nvSpPr>
        <p:spPr>
          <a:xfrm>
            <a:off x="4532376" y="2468880"/>
            <a:ext cx="2871216" cy="530352"/>
          </a:xfrm>
          <a:prstGeom prst="rect">
            <a:avLst/>
          </a:prstGeom>
          <a:noFill/>
          <a:ln/>
        </p:spPr>
        <p:txBody>
          <a:bodyPr wrap="square" lIns="0" tIns="0" rIns="0" bIns="0" rtlCol="0" anchor="ctr"/>
          <a:lstStyle/>
          <a:p>
            <a:pPr algn="ctr" indent="0" marL="0">
              <a:buNone/>
            </a:pPr>
            <a:r>
              <a:rPr lang="en-US" sz="1500" b="1" dirty="0">
                <a:solidFill>
                  <a:srgbClr val="0F1B2D"/>
                </a:solidFill>
                <a:latin typeface="Microsoft YaHei" pitchFamily="34" charset="0"/>
                <a:ea typeface="Microsoft YaHei" pitchFamily="34" charset="-122"/>
                <a:cs typeface="Microsoft YaHei" pitchFamily="34" charset="-120"/>
              </a:rPr>
              <a:t>受邀的科学家与工程师</a:t>
            </a:r>
            <a:endParaRPr lang="en-US" sz="1500" dirty="0"/>
          </a:p>
        </p:txBody>
      </p:sp>
      <p:sp>
        <p:nvSpPr>
          <p:cNvPr id="24" name="Text 22"/>
          <p:cNvSpPr/>
          <p:nvPr/>
        </p:nvSpPr>
        <p:spPr>
          <a:xfrm>
            <a:off x="1295400" y="3218688"/>
            <a:ext cx="9981895" cy="329184"/>
          </a:xfrm>
          <a:prstGeom prst="rect">
            <a:avLst/>
          </a:prstGeom>
          <a:noFill/>
          <a:ln/>
        </p:spPr>
        <p:txBody>
          <a:bodyPr wrap="square" lIns="0" tIns="0" rIns="0" bIns="0" rtlCol="0" anchor="ctr"/>
          <a:lstStyle/>
          <a:p>
            <a:pPr indent="0" marL="0">
              <a:buNone/>
            </a:pPr>
            <a:r>
              <a:rPr lang="en-US" sz="1500" b="1" dirty="0">
                <a:solidFill>
                  <a:srgbClr val="B0472A"/>
                </a:solidFill>
                <a:latin typeface="Microsoft YaHei" pitchFamily="34" charset="0"/>
                <a:ea typeface="Microsoft YaHei" pitchFamily="34" charset="-122"/>
                <a:cs typeface="Microsoft YaHei" pitchFamily="34" charset="-120"/>
              </a:rPr>
              <a:t>没有 AI</a:t>
            </a:r>
            <a:endParaRPr lang="en-US" sz="1500" dirty="0"/>
          </a:p>
        </p:txBody>
      </p:sp>
      <p:sp>
        <p:nvSpPr>
          <p:cNvPr id="25" name="Text 23"/>
          <p:cNvSpPr/>
          <p:nvPr/>
        </p:nvSpPr>
        <p:spPr>
          <a:xfrm>
            <a:off x="1295400" y="3986784"/>
            <a:ext cx="4625188" cy="201168"/>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可以部分借助工具</a:t>
            </a:r>
            <a:endParaRPr lang="en-US" sz="950" dirty="0"/>
          </a:p>
        </p:txBody>
      </p:sp>
      <p:sp>
        <p:nvSpPr>
          <p:cNvPr id="26" name="Text 24"/>
          <p:cNvSpPr/>
          <p:nvPr/>
        </p:nvSpPr>
        <p:spPr>
          <a:xfrm>
            <a:off x="1295400" y="4242816"/>
            <a:ext cx="4625188" cy="402336"/>
          </a:xfrm>
          <a:prstGeom prst="rect">
            <a:avLst/>
          </a:prstGeom>
          <a:noFill/>
          <a:ln/>
        </p:spPr>
        <p:txBody>
          <a:bodyPr wrap="square" lIns="0" tIns="0" rIns="0" bIns="0" rtlCol="0" anchor="ctr"/>
          <a:lstStyle/>
          <a:p>
            <a:pPr indent="0" marL="0">
              <a:buNone/>
            </a:pPr>
            <a:r>
              <a:rPr lang="en-US" sz="2100" b="1" dirty="0">
                <a:solidFill>
                  <a:srgbClr val="0F1B2D"/>
                </a:solidFill>
                <a:latin typeface="Microsoft YaHei" pitchFamily="34" charset="0"/>
                <a:ea typeface="Microsoft YaHei" pitchFamily="34" charset="-122"/>
                <a:cs typeface="Microsoft YaHei" pitchFamily="34" charset="-120"/>
              </a:rPr>
              <a:t>提出、确认</a:t>
            </a:r>
            <a:endParaRPr lang="en-US" sz="2100" dirty="0"/>
          </a:p>
        </p:txBody>
      </p:sp>
      <p:sp>
        <p:nvSpPr>
          <p:cNvPr id="27" name="Text 25"/>
          <p:cNvSpPr/>
          <p:nvPr/>
        </p:nvSpPr>
        <p:spPr>
          <a:xfrm>
            <a:off x="6286348" y="3986784"/>
            <a:ext cx="4625188" cy="201168"/>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落在教师签名上</a:t>
            </a:r>
            <a:endParaRPr lang="en-US" sz="950" dirty="0"/>
          </a:p>
        </p:txBody>
      </p:sp>
      <p:sp>
        <p:nvSpPr>
          <p:cNvPr id="28" name="Text 26"/>
          <p:cNvSpPr/>
          <p:nvPr/>
        </p:nvSpPr>
        <p:spPr>
          <a:xfrm>
            <a:off x="6286348" y="4242816"/>
            <a:ext cx="4625188" cy="402336"/>
          </a:xfrm>
          <a:prstGeom prst="rect">
            <a:avLst/>
          </a:prstGeom>
          <a:noFill/>
          <a:ln/>
        </p:spPr>
        <p:txBody>
          <a:bodyPr wrap="square" lIns="0" tIns="0" rIns="0" bIns="0" rtlCol="0" anchor="ctr"/>
          <a:lstStyle/>
          <a:p>
            <a:pPr indent="0" marL="0">
              <a:buNone/>
            </a:pPr>
            <a:r>
              <a:rPr lang="en-US" sz="2100" b="1" dirty="0">
                <a:solidFill>
                  <a:srgbClr val="0F1B2D"/>
                </a:solidFill>
                <a:latin typeface="Microsoft YaHei" pitchFamily="34" charset="0"/>
                <a:ea typeface="Microsoft YaHei" pitchFamily="34" charset="-122"/>
                <a:cs typeface="Microsoft YaHei" pitchFamily="34" charset="-120"/>
              </a:rPr>
              <a:t>否决、评价、负责</a:t>
            </a:r>
            <a:endParaRPr lang="en-US" sz="21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566182"/>
            <a:ext cx="95250" cy="95250"/>
          </a:xfrm>
          <a:prstGeom prst="ellipse">
            <a:avLst/>
          </a:prstGeom>
          <a:solidFill>
            <a:srgbClr val="C2CBD8"/>
          </a:solidFill>
          <a:ln w="25400">
            <a:solidFill>
              <a:srgbClr val="C2CBD8"/>
            </a:solidFill>
            <a:prstDash val="solid"/>
          </a:ln>
        </p:spPr>
      </p:sp>
      <p:sp>
        <p:nvSpPr>
          <p:cNvPr id="5" name="Shape 3"/>
          <p:cNvSpPr/>
          <p:nvPr/>
        </p:nvSpPr>
        <p:spPr>
          <a:xfrm>
            <a:off x="485775" y="2265589"/>
            <a:ext cx="95250" cy="95250"/>
          </a:xfrm>
          <a:prstGeom prst="ellipse">
            <a:avLst/>
          </a:prstGeom>
          <a:solidFill>
            <a:srgbClr val="C2CBD8"/>
          </a:solidFill>
          <a:ln w="25400">
            <a:solidFill>
              <a:srgbClr val="C2CBD8"/>
            </a:solidFill>
            <a:prstDash val="solid"/>
          </a:ln>
        </p:spPr>
      </p:sp>
      <p:sp>
        <p:nvSpPr>
          <p:cNvPr id="6" name="Shape 4"/>
          <p:cNvSpPr/>
          <p:nvPr/>
        </p:nvSpPr>
        <p:spPr>
          <a:xfrm>
            <a:off x="485775" y="2964996"/>
            <a:ext cx="95250" cy="95250"/>
          </a:xfrm>
          <a:prstGeom prst="ellipse">
            <a:avLst/>
          </a:prstGeom>
          <a:solidFill>
            <a:srgbClr val="C2CBD8"/>
          </a:solidFill>
          <a:ln w="25400">
            <a:solidFill>
              <a:srgbClr val="C2CBD8"/>
            </a:solidFill>
            <a:prstDash val="solid"/>
          </a:ln>
        </p:spPr>
      </p:sp>
      <p:sp>
        <p:nvSpPr>
          <p:cNvPr id="7" name="Shape 5"/>
          <p:cNvSpPr/>
          <p:nvPr/>
        </p:nvSpPr>
        <p:spPr>
          <a:xfrm>
            <a:off x="485775" y="3664404"/>
            <a:ext cx="95250" cy="95250"/>
          </a:xfrm>
          <a:prstGeom prst="ellipse">
            <a:avLst/>
          </a:prstGeom>
          <a:solidFill>
            <a:srgbClr val="C2CBD8"/>
          </a:solidFill>
          <a:ln w="25400">
            <a:solidFill>
              <a:srgbClr val="C2CBD8"/>
            </a:solidFill>
            <a:prstDash val="solid"/>
          </a:ln>
        </p:spPr>
      </p:sp>
      <p:sp>
        <p:nvSpPr>
          <p:cNvPr id="8" name="Shape 6"/>
          <p:cNvSpPr/>
          <p:nvPr/>
        </p:nvSpPr>
        <p:spPr>
          <a:xfrm>
            <a:off x="485775" y="4363811"/>
            <a:ext cx="95250" cy="95250"/>
          </a:xfrm>
          <a:prstGeom prst="ellipse">
            <a:avLst/>
          </a:prstGeom>
          <a:solidFill>
            <a:srgbClr val="C2CBD8"/>
          </a:solidFill>
          <a:ln w="25400">
            <a:solidFill>
              <a:srgbClr val="C2CBD8"/>
            </a:solidFill>
            <a:prstDash val="solid"/>
          </a:ln>
        </p:spPr>
      </p:sp>
      <p:sp>
        <p:nvSpPr>
          <p:cNvPr id="9" name="Shape 7"/>
          <p:cNvSpPr/>
          <p:nvPr/>
        </p:nvSpPr>
        <p:spPr>
          <a:xfrm>
            <a:off x="485775" y="5063218"/>
            <a:ext cx="95250" cy="95250"/>
          </a:xfrm>
          <a:prstGeom prst="ellipse">
            <a:avLst/>
          </a:prstGeom>
          <a:solidFill>
            <a:srgbClr val="C2CBD8"/>
          </a:solidFill>
          <a:ln w="25400">
            <a:solidFill>
              <a:srgbClr val="C2CBD8"/>
            </a:solidFill>
            <a:prstDash val="solid"/>
          </a:ln>
        </p:spPr>
      </p:sp>
      <p:sp>
        <p:nvSpPr>
          <p:cNvPr id="10" name="Shape 8"/>
          <p:cNvSpPr/>
          <p:nvPr/>
        </p:nvSpPr>
        <p:spPr>
          <a:xfrm>
            <a:off x="466725" y="5743575"/>
            <a:ext cx="133350" cy="133350"/>
          </a:xfrm>
          <a:prstGeom prst="ellipse">
            <a:avLst/>
          </a:prstGeom>
          <a:solidFill>
            <a:srgbClr val="B0472A"/>
          </a:solidFill>
          <a:ln w="25400">
            <a:solidFill>
              <a:srgbClr val="B0472A"/>
            </a:solidFill>
            <a:prstDash val="solid"/>
          </a:ln>
        </p:spPr>
      </p:sp>
      <p:sp>
        <p:nvSpPr>
          <p:cNvPr id="11" name="Text 9"/>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七</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2" name="Text 10"/>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41</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44</a:t>
            </a:r>
            <a:endParaRPr lang="en-US" sz="1000" dirty="0"/>
          </a:p>
        </p:txBody>
      </p:sp>
      <p:sp>
        <p:nvSpPr>
          <p:cNvPr id="13" name="Text 11"/>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4" name="Text 12"/>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第七段　·　工具定位与实施建议</a:t>
            </a:r>
            <a:endParaRPr lang="en-US" sz="1000" dirty="0"/>
          </a:p>
        </p:txBody>
      </p:sp>
      <p:sp>
        <p:nvSpPr>
          <p:cNvPr id="15" name="Text 13"/>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智能体是什么</a:t>
            </a:r>
            <a:endParaRPr lang="en-US" sz="3200" dirty="0"/>
          </a:p>
        </p:txBody>
      </p:sp>
      <p:sp>
        <p:nvSpPr>
          <p:cNvPr id="16" name="Text 14"/>
          <p:cNvSpPr/>
          <p:nvPr/>
        </p:nvSpPr>
        <p:spPr>
          <a:xfrm>
            <a:off x="1295400" y="1842516"/>
            <a:ext cx="9981895" cy="548640"/>
          </a:xfrm>
          <a:prstGeom prst="rect">
            <a:avLst/>
          </a:prstGeom>
          <a:noFill/>
          <a:ln/>
        </p:spPr>
        <p:txBody>
          <a:bodyPr wrap="square" lIns="0" tIns="0" rIns="0" bIns="0" rtlCol="0" anchor="t"/>
          <a:lstStyle/>
          <a:p>
            <a:pPr indent="0" marL="0">
              <a:lnSpc>
                <a:spcPct val="145000"/>
              </a:lnSpc>
              <a:buNone/>
            </a:pPr>
            <a:r>
              <a:rPr lang="en-US" sz="1400" dirty="0">
                <a:solidFill>
                  <a:srgbClr val="5B6470"/>
                </a:solidFill>
                <a:latin typeface="Microsoft YaHei" pitchFamily="34" charset="0"/>
                <a:ea typeface="Microsoft YaHei" pitchFamily="34" charset="-122"/>
                <a:cs typeface="Microsoft YaHei" pitchFamily="34" charset="-120"/>
              </a:rPr>
              <a:t>智能体就是一段预先写好的指令，附在每次提问之前。写一次，之后每次对话它都按这段指令行事。不需要安装软件，也不需要编程。</a:t>
            </a:r>
            <a:endParaRPr lang="en-US" sz="1400" dirty="0"/>
          </a:p>
        </p:txBody>
      </p:sp>
      <p:sp>
        <p:nvSpPr>
          <p:cNvPr id="17" name="Shape 15"/>
          <p:cNvSpPr/>
          <p:nvPr/>
        </p:nvSpPr>
        <p:spPr>
          <a:xfrm>
            <a:off x="1295400" y="2574036"/>
            <a:ext cx="9981895" cy="1417320"/>
          </a:xfrm>
          <a:prstGeom prst="roundRect">
            <a:avLst>
              <a:gd name="adj" fmla="val 5806"/>
            </a:avLst>
          </a:prstGeom>
          <a:solidFill>
            <a:srgbClr val="FFFFFF"/>
          </a:solidFill>
          <a:ln w="12700">
            <a:solidFill>
              <a:srgbClr val="E2E7F0"/>
            </a:solidFill>
            <a:prstDash val="solid"/>
          </a:ln>
        </p:spPr>
      </p:sp>
      <p:sp>
        <p:nvSpPr>
          <p:cNvPr id="18" name="Shape 16"/>
          <p:cNvSpPr/>
          <p:nvPr/>
        </p:nvSpPr>
        <p:spPr>
          <a:xfrm>
            <a:off x="1295400" y="2628900"/>
            <a:ext cx="38100" cy="1307592"/>
          </a:xfrm>
          <a:prstGeom prst="rect">
            <a:avLst/>
          </a:prstGeom>
          <a:solidFill>
            <a:srgbClr val="B0472A"/>
          </a:solidFill>
          <a:ln w="12700">
            <a:solidFill>
              <a:srgbClr val="B0472A"/>
            </a:solidFill>
            <a:prstDash val="solid"/>
          </a:ln>
        </p:spPr>
      </p:sp>
      <p:sp>
        <p:nvSpPr>
          <p:cNvPr id="19" name="Text 17"/>
          <p:cNvSpPr/>
          <p:nvPr/>
        </p:nvSpPr>
        <p:spPr>
          <a:xfrm>
            <a:off x="1569720" y="2738628"/>
            <a:ext cx="9433255" cy="201168"/>
          </a:xfrm>
          <a:prstGeom prst="rect">
            <a:avLst/>
          </a:prstGeom>
          <a:noFill/>
          <a:ln/>
        </p:spPr>
        <p:txBody>
          <a:bodyPr wrap="square" lIns="0" tIns="0" rIns="0" bIns="0" rtlCol="0" anchor="ctr"/>
          <a:lstStyle/>
          <a:p>
            <a:pPr indent="0" marL="0">
              <a:buNone/>
            </a:pPr>
            <a:r>
              <a:rPr lang="en-US" sz="1000" b="1" spc="120" kern="0" dirty="0">
                <a:solidFill>
                  <a:srgbClr val="B0472A"/>
                </a:solidFill>
                <a:latin typeface="Microsoft YaHei" pitchFamily="34" charset="0"/>
                <a:ea typeface="Microsoft YaHei" pitchFamily="34" charset="-122"/>
                <a:cs typeface="Microsoft YaHei" pitchFamily="34" charset="-120"/>
              </a:rPr>
              <a:t>可直接照抄的指令</a:t>
            </a:r>
            <a:endParaRPr lang="en-US" sz="1000" dirty="0"/>
          </a:p>
        </p:txBody>
      </p:sp>
      <p:sp>
        <p:nvSpPr>
          <p:cNvPr id="20" name="Text 18"/>
          <p:cNvSpPr/>
          <p:nvPr/>
        </p:nvSpPr>
        <p:spPr>
          <a:xfrm>
            <a:off x="1569720" y="3031236"/>
            <a:ext cx="9433255" cy="795528"/>
          </a:xfrm>
          <a:prstGeom prst="rect">
            <a:avLst/>
          </a:prstGeom>
          <a:noFill/>
          <a:ln/>
        </p:spPr>
        <p:txBody>
          <a:bodyPr wrap="square" lIns="0" tIns="0" rIns="0" bIns="0" rtlCol="0" anchor="t"/>
          <a:lstStyle/>
          <a:p>
            <a:pPr indent="0" marL="0">
              <a:lnSpc>
                <a:spcPct val="160000"/>
              </a:lnSpc>
              <a:buNone/>
            </a:pPr>
            <a:r>
              <a:rPr lang="en-US" sz="1500" dirty="0">
                <a:solidFill>
                  <a:srgbClr val="1A2029"/>
                </a:solidFill>
                <a:latin typeface="Microsoft YaHei" pitchFamily="34" charset="0"/>
                <a:ea typeface="Microsoft YaHei" pitchFamily="34" charset="-122"/>
                <a:cs typeface="Microsoft YaHei" pitchFamily="34" charset="-120"/>
              </a:rPr>
              <a:t>你是综合实践活动课的方案质疑员。学生会给你一份探究方案。你只提出问题，不提供修改后的方案，也不给结论。每次最多提三个问题，围绕变量控制、数据来源，以及结论能否由所给数据支持。</a:t>
            </a:r>
            <a:endParaRPr lang="en-US" sz="1500" dirty="0"/>
          </a:p>
        </p:txBody>
      </p:sp>
      <p:sp>
        <p:nvSpPr>
          <p:cNvPr id="21" name="Text 19"/>
          <p:cNvSpPr/>
          <p:nvPr/>
        </p:nvSpPr>
        <p:spPr>
          <a:xfrm>
            <a:off x="1295400" y="4247388"/>
            <a:ext cx="9981895" cy="365760"/>
          </a:xfrm>
          <a:prstGeom prst="rect">
            <a:avLst/>
          </a:prstGeom>
          <a:noFill/>
          <a:ln/>
        </p:spPr>
        <p:txBody>
          <a:bodyPr wrap="square" lIns="0" tIns="0" rIns="0" bIns="0" rtlCol="0" anchor="t"/>
          <a:lstStyle/>
          <a:p>
            <a:pPr indent="0" marL="0">
              <a:lnSpc>
                <a:spcPct val="150000"/>
              </a:lnSpc>
              <a:buNone/>
            </a:pPr>
            <a:r>
              <a:rPr lang="en-US" sz="1350" dirty="0">
                <a:solidFill>
                  <a:srgbClr val="1A2029"/>
                </a:solidFill>
                <a:latin typeface="Microsoft YaHei" pitchFamily="34" charset="0"/>
                <a:ea typeface="Microsoft YaHei" pitchFamily="34" charset="-122"/>
                <a:cs typeface="Microsoft YaHei" pitchFamily="34" charset="-120"/>
              </a:rPr>
              <a:t>把上面这段话贴进任何一个对话框，它就是一个方案质疑员。要换用途，改写这段话即可。</a:t>
            </a:r>
            <a:endParaRPr lang="en-US" sz="13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566182"/>
            <a:ext cx="95250" cy="95250"/>
          </a:xfrm>
          <a:prstGeom prst="ellipse">
            <a:avLst/>
          </a:prstGeom>
          <a:solidFill>
            <a:srgbClr val="C2CBD8"/>
          </a:solidFill>
          <a:ln w="25400">
            <a:solidFill>
              <a:srgbClr val="C2CBD8"/>
            </a:solidFill>
            <a:prstDash val="solid"/>
          </a:ln>
        </p:spPr>
      </p:sp>
      <p:sp>
        <p:nvSpPr>
          <p:cNvPr id="5" name="Shape 3"/>
          <p:cNvSpPr/>
          <p:nvPr/>
        </p:nvSpPr>
        <p:spPr>
          <a:xfrm>
            <a:off x="485775" y="2265589"/>
            <a:ext cx="95250" cy="95250"/>
          </a:xfrm>
          <a:prstGeom prst="ellipse">
            <a:avLst/>
          </a:prstGeom>
          <a:solidFill>
            <a:srgbClr val="C2CBD8"/>
          </a:solidFill>
          <a:ln w="25400">
            <a:solidFill>
              <a:srgbClr val="C2CBD8"/>
            </a:solidFill>
            <a:prstDash val="solid"/>
          </a:ln>
        </p:spPr>
      </p:sp>
      <p:sp>
        <p:nvSpPr>
          <p:cNvPr id="6" name="Shape 4"/>
          <p:cNvSpPr/>
          <p:nvPr/>
        </p:nvSpPr>
        <p:spPr>
          <a:xfrm>
            <a:off x="485775" y="2964996"/>
            <a:ext cx="95250" cy="95250"/>
          </a:xfrm>
          <a:prstGeom prst="ellipse">
            <a:avLst/>
          </a:prstGeom>
          <a:solidFill>
            <a:srgbClr val="C2CBD8"/>
          </a:solidFill>
          <a:ln w="25400">
            <a:solidFill>
              <a:srgbClr val="C2CBD8"/>
            </a:solidFill>
            <a:prstDash val="solid"/>
          </a:ln>
        </p:spPr>
      </p:sp>
      <p:sp>
        <p:nvSpPr>
          <p:cNvPr id="7" name="Shape 5"/>
          <p:cNvSpPr/>
          <p:nvPr/>
        </p:nvSpPr>
        <p:spPr>
          <a:xfrm>
            <a:off x="485775" y="3664404"/>
            <a:ext cx="95250" cy="95250"/>
          </a:xfrm>
          <a:prstGeom prst="ellipse">
            <a:avLst/>
          </a:prstGeom>
          <a:solidFill>
            <a:srgbClr val="C2CBD8"/>
          </a:solidFill>
          <a:ln w="25400">
            <a:solidFill>
              <a:srgbClr val="C2CBD8"/>
            </a:solidFill>
            <a:prstDash val="solid"/>
          </a:ln>
        </p:spPr>
      </p:sp>
      <p:sp>
        <p:nvSpPr>
          <p:cNvPr id="8" name="Shape 6"/>
          <p:cNvSpPr/>
          <p:nvPr/>
        </p:nvSpPr>
        <p:spPr>
          <a:xfrm>
            <a:off x="485775" y="4363811"/>
            <a:ext cx="95250" cy="95250"/>
          </a:xfrm>
          <a:prstGeom prst="ellipse">
            <a:avLst/>
          </a:prstGeom>
          <a:solidFill>
            <a:srgbClr val="C2CBD8"/>
          </a:solidFill>
          <a:ln w="25400">
            <a:solidFill>
              <a:srgbClr val="C2CBD8"/>
            </a:solidFill>
            <a:prstDash val="solid"/>
          </a:ln>
        </p:spPr>
      </p:sp>
      <p:sp>
        <p:nvSpPr>
          <p:cNvPr id="9" name="Shape 7"/>
          <p:cNvSpPr/>
          <p:nvPr/>
        </p:nvSpPr>
        <p:spPr>
          <a:xfrm>
            <a:off x="485775" y="5063218"/>
            <a:ext cx="95250" cy="95250"/>
          </a:xfrm>
          <a:prstGeom prst="ellipse">
            <a:avLst/>
          </a:prstGeom>
          <a:solidFill>
            <a:srgbClr val="C2CBD8"/>
          </a:solidFill>
          <a:ln w="25400">
            <a:solidFill>
              <a:srgbClr val="C2CBD8"/>
            </a:solidFill>
            <a:prstDash val="solid"/>
          </a:ln>
        </p:spPr>
      </p:sp>
      <p:sp>
        <p:nvSpPr>
          <p:cNvPr id="10" name="Shape 8"/>
          <p:cNvSpPr/>
          <p:nvPr/>
        </p:nvSpPr>
        <p:spPr>
          <a:xfrm>
            <a:off x="466725" y="5743575"/>
            <a:ext cx="133350" cy="133350"/>
          </a:xfrm>
          <a:prstGeom prst="ellipse">
            <a:avLst/>
          </a:prstGeom>
          <a:solidFill>
            <a:srgbClr val="B0472A"/>
          </a:solidFill>
          <a:ln w="25400">
            <a:solidFill>
              <a:srgbClr val="B0472A"/>
            </a:solidFill>
            <a:prstDash val="solid"/>
          </a:ln>
        </p:spPr>
      </p:sp>
      <p:sp>
        <p:nvSpPr>
          <p:cNvPr id="11" name="Text 9"/>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七</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2" name="Text 10"/>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42</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44</a:t>
            </a:r>
            <a:endParaRPr lang="en-US" sz="1000" dirty="0"/>
          </a:p>
        </p:txBody>
      </p:sp>
      <p:sp>
        <p:nvSpPr>
          <p:cNvPr id="13" name="Text 11"/>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4" name="Text 12"/>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第七段　·　工具定位与实施建议</a:t>
            </a:r>
            <a:endParaRPr lang="en-US" sz="1000" dirty="0"/>
          </a:p>
        </p:txBody>
      </p:sp>
      <p:sp>
        <p:nvSpPr>
          <p:cNvPr id="15" name="Text 13"/>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三类工具在任务中的位置</a:t>
            </a:r>
            <a:endParaRPr lang="en-US" sz="320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1295400" y="2135124"/>
          <a:ext cx="9981895" cy="914400"/>
        </p:xfrm>
        <a:graphic>
          <a:graphicData uri="http://schemas.openxmlformats.org/drawingml/2006/table">
            <a:tbl>
              <a:tblPr/>
              <a:tblGrid>
                <a:gridCol w="2011680"/>
                <a:gridCol w="4023360"/>
                <a:gridCol w="3950208"/>
              </a:tblGrid>
              <a:tr h="365760">
                <a:tc>
                  <a:txBody>
                    <a:bodyPr/>
                    <a:lstStyle/>
                    <a:p>
                      <a:pPr indent="0" marL="0">
                        <a:buNone/>
                      </a:pPr>
                      <a:endParaRPr lang="en-US" sz="1200" dirty="0">
                        <a:latin typeface="Microsoft YaHei" charset="0"/>
                        <a:ea typeface="Microsoft YaHei" charset="0"/>
                        <a:cs typeface="Microsoft YaHei" charset="0"/>
                      </a:endParaRPr>
                    </a:p>
                  </a:txBody>
                  <a:tcPr marL="114300" marR="114300" marT="114300" marB="1143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5F7FB"/>
                    </a:solidFill>
                  </a:tcPr>
                </a:tc>
                <a:tc>
                  <a:txBody>
                    <a:bodyP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放在任务的哪一步</a:t>
                      </a:r>
                      <a:endParaRPr lang="en-US" sz="950" dirty="0">
                        <a:latin typeface="Microsoft YaHei" charset="0"/>
                        <a:ea typeface="Microsoft YaHei" charset="0"/>
                        <a:cs typeface="Microsoft YaHei" charset="0"/>
                      </a:endParaRPr>
                    </a:p>
                  </a:txBody>
                  <a:tcPr marL="114300" marR="114300" marT="114300" marB="1143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5F7FB"/>
                    </a:solidFill>
                  </a:tcPr>
                </a:tc>
                <a:tc>
                  <a:txBody>
                    <a:bodyP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不放的位置</a:t>
                      </a:r>
                      <a:endParaRPr lang="en-US" sz="950" dirty="0">
                        <a:latin typeface="Microsoft YaHei" charset="0"/>
                        <a:ea typeface="Microsoft YaHei" charset="0"/>
                        <a:cs typeface="Microsoft YaHei" charset="0"/>
                      </a:endParaRPr>
                    </a:p>
                  </a:txBody>
                  <a:tcPr marL="114300" marR="114300" marT="114300" marB="1143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5F7FB"/>
                    </a:solidFill>
                  </a:tcPr>
                </a:tc>
              </a:tr>
              <a:tr h="603504">
                <a:tc>
                  <a:txBody>
                    <a:bodyPr/>
                    <a:lstStyle/>
                    <a:p>
                      <a:pPr indent="0" marL="0">
                        <a:buNone/>
                      </a:pPr>
                      <a:r>
                        <a:rPr lang="en-US" sz="1300" b="1" dirty="0">
                          <a:solidFill>
                            <a:srgbClr val="0F1B2D"/>
                          </a:solidFill>
                          <a:latin typeface="Microsoft YaHei" pitchFamily="34" charset="0"/>
                          <a:ea typeface="Microsoft YaHei" pitchFamily="34" charset="-122"/>
                          <a:cs typeface="Microsoft YaHei" pitchFamily="34" charset="-120"/>
                        </a:rPr>
                        <a:t>对话式智能体</a:t>
                      </a:r>
                      <a:endParaRPr lang="en-US" sz="1300" dirty="0">
                        <a:latin typeface="Microsoft YaHei" charset="0"/>
                        <a:ea typeface="Microsoft YaHei" charset="0"/>
                        <a:cs typeface="Microsoft YaHei" charset="0"/>
                      </a:endParaRPr>
                    </a:p>
                  </a:txBody>
                  <a:tcPr marL="114300" marR="114300" marT="114300" marB="1143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c>
                  <a:txBody>
                    <a:bodyPr/>
                    <a:lstStyle/>
                    <a:p>
                      <a:pPr indent="0" marL="0">
                        <a:buNone/>
                      </a:pPr>
                      <a:r>
                        <a:rPr lang="en-US" sz="1200" dirty="0">
                          <a:solidFill>
                            <a:srgbClr val="1A2029"/>
                          </a:solidFill>
                          <a:latin typeface="Microsoft YaHei" pitchFamily="34" charset="0"/>
                          <a:ea typeface="Microsoft YaHei" pitchFamily="34" charset="-122"/>
                          <a:cs typeface="Microsoft YaHei" pitchFamily="34" charset="-120"/>
                        </a:rPr>
                        <a:t>方案质疑、答辩预演、教师备课</a:t>
                      </a:r>
                      <a:endParaRPr lang="en-US" sz="1200" dirty="0">
                        <a:latin typeface="Microsoft YaHei" charset="0"/>
                        <a:ea typeface="Microsoft YaHei" charset="0"/>
                        <a:cs typeface="Microsoft YaHei" charset="0"/>
                      </a:endParaRPr>
                    </a:p>
                  </a:txBody>
                  <a:tcPr marL="114300" marR="114300" marT="114300" marB="1143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c>
                  <a:txBody>
                    <a:bodyPr/>
                    <a:lstStyle/>
                    <a:p>
                      <a:pPr indent="0" marL="0">
                        <a:buNone/>
                      </a:pPr>
                      <a:r>
                        <a:rPr lang="en-US" sz="1200" dirty="0">
                          <a:solidFill>
                            <a:srgbClr val="B0472A"/>
                          </a:solidFill>
                          <a:latin typeface="Microsoft YaHei" pitchFamily="34" charset="0"/>
                          <a:ea typeface="Microsoft YaHei" pitchFamily="34" charset="-122"/>
                          <a:cs typeface="Microsoft YaHei" pitchFamily="34" charset="-120"/>
                        </a:rPr>
                        <a:t>提出问题、解释结论、正式评价</a:t>
                      </a:r>
                      <a:endParaRPr lang="en-US" sz="1200" dirty="0">
                        <a:latin typeface="Microsoft YaHei" charset="0"/>
                        <a:ea typeface="Microsoft YaHei" charset="0"/>
                        <a:cs typeface="Microsoft YaHei" charset="0"/>
                      </a:endParaRPr>
                    </a:p>
                  </a:txBody>
                  <a:tcPr marL="114300" marR="114300" marT="114300" marB="1143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r>
              <a:tr h="603504">
                <a:tc>
                  <a:txBody>
                    <a:bodyPr/>
                    <a:lstStyle/>
                    <a:p>
                      <a:pPr indent="0" marL="0">
                        <a:buNone/>
                      </a:pPr>
                      <a:r>
                        <a:rPr lang="en-US" sz="1300" b="1" dirty="0">
                          <a:solidFill>
                            <a:srgbClr val="0F1B2D"/>
                          </a:solidFill>
                          <a:latin typeface="Microsoft YaHei" pitchFamily="34" charset="0"/>
                          <a:ea typeface="Microsoft YaHei" pitchFamily="34" charset="-122"/>
                          <a:cs typeface="Microsoft YaHei" pitchFamily="34" charset="-120"/>
                        </a:rPr>
                        <a:t>过程证据页</a:t>
                      </a:r>
                      <a:endParaRPr lang="en-US" sz="1300" dirty="0">
                        <a:latin typeface="Microsoft YaHei" charset="0"/>
                        <a:ea typeface="Microsoft YaHei" charset="0"/>
                        <a:cs typeface="Microsoft YaHei" charset="0"/>
                      </a:endParaRPr>
                    </a:p>
                  </a:txBody>
                  <a:tcPr marL="114300" marR="114300" marT="114300" marB="1143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c>
                  <a:txBody>
                    <a:bodyPr/>
                    <a:lstStyle/>
                    <a:p>
                      <a:pPr indent="0" marL="0">
                        <a:buNone/>
                      </a:pPr>
                      <a:r>
                        <a:rPr lang="en-US" sz="1200" dirty="0">
                          <a:solidFill>
                            <a:srgbClr val="1A2029"/>
                          </a:solidFill>
                          <a:latin typeface="Microsoft YaHei" pitchFamily="34" charset="0"/>
                          <a:ea typeface="Microsoft YaHei" pitchFamily="34" charset="-122"/>
                          <a:cs typeface="Microsoft YaHei" pitchFamily="34" charset="-120"/>
                        </a:rPr>
                        <a:t>行前任务单、过程留痕、对外发布的成果</a:t>
                      </a:r>
                      <a:endParaRPr lang="en-US" sz="1200" dirty="0">
                        <a:latin typeface="Microsoft YaHei" charset="0"/>
                        <a:ea typeface="Microsoft YaHei" charset="0"/>
                        <a:cs typeface="Microsoft YaHei" charset="0"/>
                      </a:endParaRPr>
                    </a:p>
                  </a:txBody>
                  <a:tcPr marL="114300" marR="114300" marT="114300" marB="1143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c>
                  <a:txBody>
                    <a:bodyPr/>
                    <a:lstStyle/>
                    <a:p>
                      <a:pPr indent="0" marL="0">
                        <a:buNone/>
                      </a:pPr>
                      <a:r>
                        <a:rPr lang="en-US" sz="1200" dirty="0">
                          <a:solidFill>
                            <a:srgbClr val="B0472A"/>
                          </a:solidFill>
                          <a:latin typeface="Microsoft YaHei" pitchFamily="34" charset="0"/>
                          <a:ea typeface="Microsoft YaHei" pitchFamily="34" charset="-122"/>
                          <a:cs typeface="Microsoft YaHei" pitchFamily="34" charset="-120"/>
                        </a:rPr>
                        <a:t>替代动手实践</a:t>
                      </a:r>
                      <a:endParaRPr lang="en-US" sz="1200" dirty="0">
                        <a:latin typeface="Microsoft YaHei" charset="0"/>
                        <a:ea typeface="Microsoft YaHei" charset="0"/>
                        <a:cs typeface="Microsoft YaHei" charset="0"/>
                      </a:endParaRPr>
                    </a:p>
                  </a:txBody>
                  <a:tcPr marL="114300" marR="114300" marT="114300" marB="1143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r>
              <a:tr h="603504">
                <a:tc>
                  <a:txBody>
                    <a:bodyPr/>
                    <a:lstStyle/>
                    <a:p>
                      <a:pPr indent="0" marL="0">
                        <a:buNone/>
                      </a:pPr>
                      <a:r>
                        <a:rPr lang="en-US" sz="1300" b="1" dirty="0">
                          <a:solidFill>
                            <a:srgbClr val="0F1B2D"/>
                          </a:solidFill>
                          <a:latin typeface="Microsoft YaHei" pitchFamily="34" charset="0"/>
                          <a:ea typeface="Microsoft YaHei" pitchFamily="34" charset="-122"/>
                          <a:cs typeface="Microsoft YaHei" pitchFamily="34" charset="-120"/>
                        </a:rPr>
                        <a:t>课堂互动工具</a:t>
                      </a:r>
                      <a:endParaRPr lang="en-US" sz="1300" dirty="0">
                        <a:latin typeface="Microsoft YaHei" charset="0"/>
                        <a:ea typeface="Microsoft YaHei" charset="0"/>
                        <a:cs typeface="Microsoft YaHei" charset="0"/>
                      </a:endParaRPr>
                    </a:p>
                  </a:txBody>
                  <a:tcPr marL="114300" marR="114300" marT="114300" marB="1143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c>
                  <a:txBody>
                    <a:bodyPr/>
                    <a:lstStyle/>
                    <a:p>
                      <a:pPr indent="0" marL="0">
                        <a:buNone/>
                      </a:pPr>
                      <a:r>
                        <a:rPr lang="en-US" sz="1200" dirty="0">
                          <a:solidFill>
                            <a:srgbClr val="1A2029"/>
                          </a:solidFill>
                          <a:latin typeface="Microsoft YaHei" pitchFamily="34" charset="0"/>
                          <a:ea typeface="Microsoft YaHei" pitchFamily="34" charset="-122"/>
                          <a:cs typeface="Microsoft YaHei" pitchFamily="34" charset="-120"/>
                        </a:rPr>
                        <a:t>关键环节观测点、过程留痕</a:t>
                      </a:r>
                      <a:endParaRPr lang="en-US" sz="1200" dirty="0">
                        <a:latin typeface="Microsoft YaHei" charset="0"/>
                        <a:ea typeface="Microsoft YaHei" charset="0"/>
                        <a:cs typeface="Microsoft YaHei" charset="0"/>
                      </a:endParaRPr>
                    </a:p>
                  </a:txBody>
                  <a:tcPr marL="114300" marR="114300" marT="114300" marB="1143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c>
                  <a:txBody>
                    <a:bodyPr/>
                    <a:lstStyle/>
                    <a:p>
                      <a:pPr indent="0" marL="0">
                        <a:buNone/>
                      </a:pPr>
                      <a:r>
                        <a:rPr lang="en-US" sz="1200" dirty="0">
                          <a:solidFill>
                            <a:srgbClr val="B0472A"/>
                          </a:solidFill>
                          <a:latin typeface="Microsoft YaHei" pitchFamily="34" charset="0"/>
                          <a:ea typeface="Microsoft YaHei" pitchFamily="34" charset="-122"/>
                          <a:cs typeface="Microsoft YaHei" pitchFamily="34" charset="-120"/>
                        </a:rPr>
                        <a:t>替代教师判断</a:t>
                      </a:r>
                      <a:endParaRPr lang="en-US" sz="1200" dirty="0">
                        <a:latin typeface="Microsoft YaHei" charset="0"/>
                        <a:ea typeface="Microsoft YaHei" charset="0"/>
                        <a:cs typeface="Microsoft YaHei" charset="0"/>
                      </a:endParaRPr>
                    </a:p>
                  </a:txBody>
                  <a:tcPr marL="114300" marR="114300" marT="114300" marB="1143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r>
            </a:tbl>
          </a:graphicData>
        </a:graphic>
      </p:graphicFrame>
      <p:sp>
        <p:nvSpPr>
          <p:cNvPr id="17" name="Shape 14"/>
          <p:cNvSpPr/>
          <p:nvPr/>
        </p:nvSpPr>
        <p:spPr>
          <a:xfrm>
            <a:off x="1295400" y="5888736"/>
            <a:ext cx="9981895" cy="0"/>
          </a:xfrm>
          <a:prstGeom prst="line">
            <a:avLst/>
          </a:prstGeom>
          <a:noFill/>
          <a:ln w="12700">
            <a:solidFill>
              <a:srgbClr val="E2E7F0"/>
            </a:solidFill>
            <a:prstDash val="solid"/>
          </a:ln>
        </p:spPr>
      </p:sp>
      <p:sp>
        <p:nvSpPr>
          <p:cNvPr id="18" name="Text 15"/>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B6470"/>
                </a:solidFill>
                <a:latin typeface="Microsoft YaHei" pitchFamily="34" charset="0"/>
                <a:ea typeface="Microsoft YaHei" pitchFamily="34" charset="-122"/>
                <a:cs typeface="Microsoft YaHei" pitchFamily="34" charset="-120"/>
              </a:rPr>
              <a:t>对话式工具承担过程支持，证据页承担留痕与对外发布。</a:t>
            </a:r>
            <a:endParaRPr lang="en-US" sz="10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566182"/>
            <a:ext cx="95250" cy="95250"/>
          </a:xfrm>
          <a:prstGeom prst="ellipse">
            <a:avLst/>
          </a:prstGeom>
          <a:solidFill>
            <a:srgbClr val="C2CBD8"/>
          </a:solidFill>
          <a:ln w="25400">
            <a:solidFill>
              <a:srgbClr val="C2CBD8"/>
            </a:solidFill>
            <a:prstDash val="solid"/>
          </a:ln>
        </p:spPr>
      </p:sp>
      <p:sp>
        <p:nvSpPr>
          <p:cNvPr id="5" name="Shape 3"/>
          <p:cNvSpPr/>
          <p:nvPr/>
        </p:nvSpPr>
        <p:spPr>
          <a:xfrm>
            <a:off x="485775" y="2265589"/>
            <a:ext cx="95250" cy="95250"/>
          </a:xfrm>
          <a:prstGeom prst="ellipse">
            <a:avLst/>
          </a:prstGeom>
          <a:solidFill>
            <a:srgbClr val="C2CBD8"/>
          </a:solidFill>
          <a:ln w="25400">
            <a:solidFill>
              <a:srgbClr val="C2CBD8"/>
            </a:solidFill>
            <a:prstDash val="solid"/>
          </a:ln>
        </p:spPr>
      </p:sp>
      <p:sp>
        <p:nvSpPr>
          <p:cNvPr id="6" name="Shape 4"/>
          <p:cNvSpPr/>
          <p:nvPr/>
        </p:nvSpPr>
        <p:spPr>
          <a:xfrm>
            <a:off x="485775" y="2964996"/>
            <a:ext cx="95250" cy="95250"/>
          </a:xfrm>
          <a:prstGeom prst="ellipse">
            <a:avLst/>
          </a:prstGeom>
          <a:solidFill>
            <a:srgbClr val="C2CBD8"/>
          </a:solidFill>
          <a:ln w="25400">
            <a:solidFill>
              <a:srgbClr val="C2CBD8"/>
            </a:solidFill>
            <a:prstDash val="solid"/>
          </a:ln>
        </p:spPr>
      </p:sp>
      <p:sp>
        <p:nvSpPr>
          <p:cNvPr id="7" name="Shape 5"/>
          <p:cNvSpPr/>
          <p:nvPr/>
        </p:nvSpPr>
        <p:spPr>
          <a:xfrm>
            <a:off x="485775" y="3664404"/>
            <a:ext cx="95250" cy="95250"/>
          </a:xfrm>
          <a:prstGeom prst="ellipse">
            <a:avLst/>
          </a:prstGeom>
          <a:solidFill>
            <a:srgbClr val="C2CBD8"/>
          </a:solidFill>
          <a:ln w="25400">
            <a:solidFill>
              <a:srgbClr val="C2CBD8"/>
            </a:solidFill>
            <a:prstDash val="solid"/>
          </a:ln>
        </p:spPr>
      </p:sp>
      <p:sp>
        <p:nvSpPr>
          <p:cNvPr id="8" name="Shape 6"/>
          <p:cNvSpPr/>
          <p:nvPr/>
        </p:nvSpPr>
        <p:spPr>
          <a:xfrm>
            <a:off x="485775" y="4363811"/>
            <a:ext cx="95250" cy="95250"/>
          </a:xfrm>
          <a:prstGeom prst="ellipse">
            <a:avLst/>
          </a:prstGeom>
          <a:solidFill>
            <a:srgbClr val="C2CBD8"/>
          </a:solidFill>
          <a:ln w="25400">
            <a:solidFill>
              <a:srgbClr val="C2CBD8"/>
            </a:solidFill>
            <a:prstDash val="solid"/>
          </a:ln>
        </p:spPr>
      </p:sp>
      <p:sp>
        <p:nvSpPr>
          <p:cNvPr id="9" name="Shape 7"/>
          <p:cNvSpPr/>
          <p:nvPr/>
        </p:nvSpPr>
        <p:spPr>
          <a:xfrm>
            <a:off x="485775" y="5063218"/>
            <a:ext cx="95250" cy="95250"/>
          </a:xfrm>
          <a:prstGeom prst="ellipse">
            <a:avLst/>
          </a:prstGeom>
          <a:solidFill>
            <a:srgbClr val="C2CBD8"/>
          </a:solidFill>
          <a:ln w="25400">
            <a:solidFill>
              <a:srgbClr val="C2CBD8"/>
            </a:solidFill>
            <a:prstDash val="solid"/>
          </a:ln>
        </p:spPr>
      </p:sp>
      <p:sp>
        <p:nvSpPr>
          <p:cNvPr id="10" name="Shape 8"/>
          <p:cNvSpPr/>
          <p:nvPr/>
        </p:nvSpPr>
        <p:spPr>
          <a:xfrm>
            <a:off x="466725" y="5743575"/>
            <a:ext cx="133350" cy="133350"/>
          </a:xfrm>
          <a:prstGeom prst="ellipse">
            <a:avLst/>
          </a:prstGeom>
          <a:solidFill>
            <a:srgbClr val="B0472A"/>
          </a:solidFill>
          <a:ln w="25400">
            <a:solidFill>
              <a:srgbClr val="B0472A"/>
            </a:solidFill>
            <a:prstDash val="solid"/>
          </a:ln>
        </p:spPr>
      </p:sp>
      <p:sp>
        <p:nvSpPr>
          <p:cNvPr id="11" name="Text 9"/>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七</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2" name="Text 10"/>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43</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44</a:t>
            </a:r>
            <a:endParaRPr lang="en-US" sz="1000" dirty="0"/>
          </a:p>
        </p:txBody>
      </p:sp>
      <p:sp>
        <p:nvSpPr>
          <p:cNvPr id="13" name="Text 11"/>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4" name="Text 12"/>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第七段　·　工具定位与实施建议</a:t>
            </a:r>
            <a:endParaRPr lang="en-US" sz="1000" dirty="0"/>
          </a:p>
        </p:txBody>
      </p:sp>
      <p:sp>
        <p:nvSpPr>
          <p:cNvPr id="15" name="Text 13"/>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三周的起步路径</a:t>
            </a:r>
            <a:endParaRPr lang="en-US" sz="3200" dirty="0"/>
          </a:p>
        </p:txBody>
      </p:sp>
      <p:sp>
        <p:nvSpPr>
          <p:cNvPr id="16" name="Text 14"/>
          <p:cNvSpPr/>
          <p:nvPr/>
        </p:nvSpPr>
        <p:spPr>
          <a:xfrm>
            <a:off x="1295400" y="2286000"/>
            <a:ext cx="877824" cy="402336"/>
          </a:xfrm>
          <a:prstGeom prst="rect">
            <a:avLst/>
          </a:prstGeom>
          <a:noFill/>
          <a:ln/>
        </p:spPr>
        <p:txBody>
          <a:bodyPr wrap="square" lIns="0" tIns="0" rIns="0" bIns="0" rtlCol="0" anchor="ctr"/>
          <a:lstStyle/>
          <a:p>
            <a:pPr indent="0" marL="0">
              <a:buNone/>
            </a:pPr>
            <a:r>
              <a:rPr lang="en-US" sz="1600" b="1" dirty="0">
                <a:solidFill>
                  <a:srgbClr val="B0472A"/>
                </a:solidFill>
                <a:latin typeface="Microsoft YaHei" pitchFamily="34" charset="0"/>
                <a:ea typeface="Microsoft YaHei" pitchFamily="34" charset="-122"/>
                <a:cs typeface="Microsoft YaHei" pitchFamily="34" charset="-120"/>
              </a:rPr>
              <a:t>第一周</a:t>
            </a:r>
            <a:endParaRPr lang="en-US" sz="1600" dirty="0"/>
          </a:p>
        </p:txBody>
      </p:sp>
      <p:sp>
        <p:nvSpPr>
          <p:cNvPr id="17" name="Text 15"/>
          <p:cNvSpPr/>
          <p:nvPr/>
        </p:nvSpPr>
        <p:spPr>
          <a:xfrm>
            <a:off x="2374392" y="2286000"/>
            <a:ext cx="8902903" cy="384048"/>
          </a:xfrm>
          <a:prstGeom prst="rect">
            <a:avLst/>
          </a:prstGeom>
          <a:noFill/>
          <a:ln/>
        </p:spPr>
        <p:txBody>
          <a:bodyPr wrap="square" lIns="0" tIns="0" rIns="0" bIns="0" rtlCol="0" anchor="ctr"/>
          <a:lstStyle/>
          <a:p>
            <a:pPr indent="0" marL="0">
              <a:buNone/>
            </a:pPr>
            <a:r>
              <a:rPr lang="en-US" sz="2000" b="1" dirty="0">
                <a:solidFill>
                  <a:srgbClr val="0F1B2D"/>
                </a:solidFill>
                <a:latin typeface="Microsoft YaHei" pitchFamily="34" charset="0"/>
                <a:ea typeface="Microsoft YaHei" pitchFamily="34" charset="-122"/>
                <a:cs typeface="Microsoft YaHei" pitchFamily="34" charset="-120"/>
              </a:rPr>
              <a:t>设置问题墙</a:t>
            </a:r>
            <a:endParaRPr lang="en-US" sz="2000" dirty="0"/>
          </a:p>
        </p:txBody>
      </p:sp>
      <p:sp>
        <p:nvSpPr>
          <p:cNvPr id="18" name="Text 16"/>
          <p:cNvSpPr/>
          <p:nvPr/>
        </p:nvSpPr>
        <p:spPr>
          <a:xfrm>
            <a:off x="2374392" y="2688336"/>
            <a:ext cx="8902903" cy="365760"/>
          </a:xfrm>
          <a:prstGeom prst="rect">
            <a:avLst/>
          </a:prstGeom>
          <a:noFill/>
          <a:ln/>
        </p:spPr>
        <p:txBody>
          <a:bodyPr wrap="square" lIns="0" tIns="0" rIns="0" bIns="0" rtlCol="0" anchor="t"/>
          <a:lstStyle/>
          <a:p>
            <a:pPr indent="0" marL="0">
              <a:buNone/>
            </a:pPr>
            <a:r>
              <a:rPr lang="en-US" sz="1150" dirty="0">
                <a:solidFill>
                  <a:srgbClr val="5B6470"/>
                </a:solidFill>
                <a:latin typeface="Microsoft YaHei" pitchFamily="34" charset="0"/>
                <a:ea typeface="Microsoft YaHei" pitchFamily="34" charset="-122"/>
                <a:cs typeface="Microsoft YaHei" pitchFamily="34" charset="-120"/>
              </a:rPr>
              <a:t>学生一周内提交三个真实困扰，教师选取一个打磨为驱动性问题。本周不使用 AI。</a:t>
            </a:r>
            <a:endParaRPr lang="en-US" sz="1150" dirty="0"/>
          </a:p>
        </p:txBody>
      </p:sp>
      <p:sp>
        <p:nvSpPr>
          <p:cNvPr id="19" name="Text 17"/>
          <p:cNvSpPr/>
          <p:nvPr/>
        </p:nvSpPr>
        <p:spPr>
          <a:xfrm>
            <a:off x="1295400" y="3218688"/>
            <a:ext cx="877824" cy="402336"/>
          </a:xfrm>
          <a:prstGeom prst="rect">
            <a:avLst/>
          </a:prstGeom>
          <a:noFill/>
          <a:ln/>
        </p:spPr>
        <p:txBody>
          <a:bodyPr wrap="square" lIns="0" tIns="0" rIns="0" bIns="0" rtlCol="0" anchor="ctr"/>
          <a:lstStyle/>
          <a:p>
            <a:pPr indent="0" marL="0">
              <a:buNone/>
            </a:pPr>
            <a:r>
              <a:rPr lang="en-US" sz="1600" b="1" dirty="0">
                <a:solidFill>
                  <a:srgbClr val="B0472A"/>
                </a:solidFill>
                <a:latin typeface="Microsoft YaHei" pitchFamily="34" charset="0"/>
                <a:ea typeface="Microsoft YaHei" pitchFamily="34" charset="-122"/>
                <a:cs typeface="Microsoft YaHei" pitchFamily="34" charset="-120"/>
              </a:rPr>
              <a:t>第二周</a:t>
            </a:r>
            <a:endParaRPr lang="en-US" sz="1600" dirty="0"/>
          </a:p>
        </p:txBody>
      </p:sp>
      <p:sp>
        <p:nvSpPr>
          <p:cNvPr id="20" name="Text 18"/>
          <p:cNvSpPr/>
          <p:nvPr/>
        </p:nvSpPr>
        <p:spPr>
          <a:xfrm>
            <a:off x="2374392" y="3218688"/>
            <a:ext cx="8902903" cy="384048"/>
          </a:xfrm>
          <a:prstGeom prst="rect">
            <a:avLst/>
          </a:prstGeom>
          <a:noFill/>
          <a:ln/>
        </p:spPr>
        <p:txBody>
          <a:bodyPr wrap="square" lIns="0" tIns="0" rIns="0" bIns="0" rtlCol="0" anchor="ctr"/>
          <a:lstStyle/>
          <a:p>
            <a:pPr indent="0" marL="0">
              <a:buNone/>
            </a:pPr>
            <a:r>
              <a:rPr lang="en-US" sz="2000" b="1" dirty="0">
                <a:solidFill>
                  <a:srgbClr val="0F1B2D"/>
                </a:solidFill>
                <a:latin typeface="Microsoft YaHei" pitchFamily="34" charset="0"/>
                <a:ea typeface="Microsoft YaHei" pitchFamily="34" charset="-122"/>
                <a:cs typeface="Microsoft YaHei" pitchFamily="34" charset="-120"/>
              </a:rPr>
              <a:t>用一次方案质疑员</a:t>
            </a:r>
            <a:endParaRPr lang="en-US" sz="2000" dirty="0"/>
          </a:p>
        </p:txBody>
      </p:sp>
      <p:sp>
        <p:nvSpPr>
          <p:cNvPr id="21" name="Text 19"/>
          <p:cNvSpPr/>
          <p:nvPr/>
        </p:nvSpPr>
        <p:spPr>
          <a:xfrm>
            <a:off x="2374392" y="3621024"/>
            <a:ext cx="8902903" cy="365760"/>
          </a:xfrm>
          <a:prstGeom prst="rect">
            <a:avLst/>
          </a:prstGeom>
          <a:noFill/>
          <a:ln/>
        </p:spPr>
        <p:txBody>
          <a:bodyPr wrap="square" lIns="0" tIns="0" rIns="0" bIns="0" rtlCol="0" anchor="t"/>
          <a:lstStyle/>
          <a:p>
            <a:pPr indent="0" marL="0">
              <a:buNone/>
            </a:pPr>
            <a:r>
              <a:rPr lang="en-US" sz="1150" dirty="0">
                <a:solidFill>
                  <a:srgbClr val="5B6470"/>
                </a:solidFill>
                <a:latin typeface="Microsoft YaHei" pitchFamily="34" charset="0"/>
                <a:ea typeface="Microsoft YaHei" pitchFamily="34" charset="-122"/>
                <a:cs typeface="Microsoft YaHei" pitchFamily="34" charset="-120"/>
              </a:rPr>
              <a:t>把上一页的指令贴进对话框，对一份学生方案提一次问题，自行判断哪些采纳。</a:t>
            </a:r>
            <a:endParaRPr lang="en-US" sz="1150" dirty="0"/>
          </a:p>
        </p:txBody>
      </p:sp>
      <p:sp>
        <p:nvSpPr>
          <p:cNvPr id="22" name="Text 20"/>
          <p:cNvSpPr/>
          <p:nvPr/>
        </p:nvSpPr>
        <p:spPr>
          <a:xfrm>
            <a:off x="1295400" y="4151376"/>
            <a:ext cx="877824" cy="402336"/>
          </a:xfrm>
          <a:prstGeom prst="rect">
            <a:avLst/>
          </a:prstGeom>
          <a:noFill/>
          <a:ln/>
        </p:spPr>
        <p:txBody>
          <a:bodyPr wrap="square" lIns="0" tIns="0" rIns="0" bIns="0" rtlCol="0" anchor="ctr"/>
          <a:lstStyle/>
          <a:p>
            <a:pPr indent="0" marL="0">
              <a:buNone/>
            </a:pPr>
            <a:r>
              <a:rPr lang="en-US" sz="1600" b="1" dirty="0">
                <a:solidFill>
                  <a:srgbClr val="B0472A"/>
                </a:solidFill>
                <a:latin typeface="Microsoft YaHei" pitchFamily="34" charset="0"/>
                <a:ea typeface="Microsoft YaHei" pitchFamily="34" charset="-122"/>
                <a:cs typeface="Microsoft YaHei" pitchFamily="34" charset="-120"/>
              </a:rPr>
              <a:t>第三周</a:t>
            </a:r>
            <a:endParaRPr lang="en-US" sz="1600" dirty="0"/>
          </a:p>
        </p:txBody>
      </p:sp>
      <p:sp>
        <p:nvSpPr>
          <p:cNvPr id="23" name="Text 21"/>
          <p:cNvSpPr/>
          <p:nvPr/>
        </p:nvSpPr>
        <p:spPr>
          <a:xfrm>
            <a:off x="2374392" y="4151376"/>
            <a:ext cx="8902903" cy="384048"/>
          </a:xfrm>
          <a:prstGeom prst="rect">
            <a:avLst/>
          </a:prstGeom>
          <a:noFill/>
          <a:ln/>
        </p:spPr>
        <p:txBody>
          <a:bodyPr wrap="square" lIns="0" tIns="0" rIns="0" bIns="0" rtlCol="0" anchor="ctr"/>
          <a:lstStyle/>
          <a:p>
            <a:pPr indent="0" marL="0">
              <a:buNone/>
            </a:pPr>
            <a:r>
              <a:rPr lang="en-US" sz="2000" b="1" dirty="0">
                <a:solidFill>
                  <a:srgbClr val="0F1B2D"/>
                </a:solidFill>
                <a:latin typeface="Microsoft YaHei" pitchFamily="34" charset="0"/>
                <a:ea typeface="Microsoft YaHei" pitchFamily="34" charset="-122"/>
                <a:cs typeface="Microsoft YaHei" pitchFamily="34" charset="-120"/>
              </a:rPr>
              <a:t>发出四栏留痕表</a:t>
            </a:r>
            <a:endParaRPr lang="en-US" sz="2000" dirty="0"/>
          </a:p>
        </p:txBody>
      </p:sp>
      <p:sp>
        <p:nvSpPr>
          <p:cNvPr id="24" name="Text 22"/>
          <p:cNvSpPr/>
          <p:nvPr/>
        </p:nvSpPr>
        <p:spPr>
          <a:xfrm>
            <a:off x="2374392" y="4553712"/>
            <a:ext cx="8902903" cy="365760"/>
          </a:xfrm>
          <a:prstGeom prst="rect">
            <a:avLst/>
          </a:prstGeom>
          <a:noFill/>
          <a:ln/>
        </p:spPr>
        <p:txBody>
          <a:bodyPr wrap="square" lIns="0" tIns="0" rIns="0" bIns="0" rtlCol="0" anchor="t"/>
          <a:lstStyle/>
          <a:p>
            <a:pPr indent="0" marL="0">
              <a:buNone/>
            </a:pPr>
            <a:r>
              <a:rPr lang="en-US" sz="1150" dirty="0">
                <a:solidFill>
                  <a:srgbClr val="5B6470"/>
                </a:solidFill>
                <a:latin typeface="Microsoft YaHei" pitchFamily="34" charset="0"/>
                <a:ea typeface="Microsoft YaHei" pitchFamily="34" charset="-122"/>
                <a:cs typeface="Microsoft YaHei" pitchFamily="34" charset="-120"/>
              </a:rPr>
              <a:t>留痕表随任务单一并发放，学生使用 AI 后当场填写，不在结题时补录。</a:t>
            </a:r>
            <a:endParaRPr lang="en-US" sz="1150" dirty="0"/>
          </a:p>
        </p:txBody>
      </p:sp>
      <p:sp>
        <p:nvSpPr>
          <p:cNvPr id="25" name="Shape 23"/>
          <p:cNvSpPr/>
          <p:nvPr/>
        </p:nvSpPr>
        <p:spPr>
          <a:xfrm>
            <a:off x="1295400" y="5888736"/>
            <a:ext cx="9981895" cy="0"/>
          </a:xfrm>
          <a:prstGeom prst="line">
            <a:avLst/>
          </a:prstGeom>
          <a:noFill/>
          <a:ln w="12700">
            <a:solidFill>
              <a:srgbClr val="E2E7F0"/>
            </a:solidFill>
            <a:prstDash val="solid"/>
          </a:ln>
        </p:spPr>
      </p:sp>
      <p:sp>
        <p:nvSpPr>
          <p:cNvPr id="26" name="Text 24"/>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B6470"/>
                </a:solidFill>
                <a:latin typeface="Microsoft YaHei" pitchFamily="34" charset="0"/>
                <a:ea typeface="Microsoft YaHei" pitchFamily="34" charset="-122"/>
                <a:cs typeface="Microsoft YaHei" pitchFamily="34" charset="-120"/>
              </a:rPr>
              <a:t>三周均不需要安装软件，能打开浏览器中的对话框即可。三项存在先后依赖，顺序不调换。</a:t>
            </a:r>
            <a:endParaRPr lang="en-US" sz="10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566182"/>
            <a:ext cx="95250" cy="95250"/>
          </a:xfrm>
          <a:prstGeom prst="ellipse">
            <a:avLst/>
          </a:prstGeom>
          <a:solidFill>
            <a:srgbClr val="C2CBD8"/>
          </a:solidFill>
          <a:ln w="25400">
            <a:solidFill>
              <a:srgbClr val="C2CBD8"/>
            </a:solidFill>
            <a:prstDash val="solid"/>
          </a:ln>
        </p:spPr>
      </p:sp>
      <p:sp>
        <p:nvSpPr>
          <p:cNvPr id="5" name="Shape 3"/>
          <p:cNvSpPr/>
          <p:nvPr/>
        </p:nvSpPr>
        <p:spPr>
          <a:xfrm>
            <a:off x="485775" y="2265589"/>
            <a:ext cx="95250" cy="95250"/>
          </a:xfrm>
          <a:prstGeom prst="ellipse">
            <a:avLst/>
          </a:prstGeom>
          <a:solidFill>
            <a:srgbClr val="C2CBD8"/>
          </a:solidFill>
          <a:ln w="25400">
            <a:solidFill>
              <a:srgbClr val="C2CBD8"/>
            </a:solidFill>
            <a:prstDash val="solid"/>
          </a:ln>
        </p:spPr>
      </p:sp>
      <p:sp>
        <p:nvSpPr>
          <p:cNvPr id="6" name="Shape 4"/>
          <p:cNvSpPr/>
          <p:nvPr/>
        </p:nvSpPr>
        <p:spPr>
          <a:xfrm>
            <a:off x="485775" y="2964996"/>
            <a:ext cx="95250" cy="95250"/>
          </a:xfrm>
          <a:prstGeom prst="ellipse">
            <a:avLst/>
          </a:prstGeom>
          <a:solidFill>
            <a:srgbClr val="C2CBD8"/>
          </a:solidFill>
          <a:ln w="25400">
            <a:solidFill>
              <a:srgbClr val="C2CBD8"/>
            </a:solidFill>
            <a:prstDash val="solid"/>
          </a:ln>
        </p:spPr>
      </p:sp>
      <p:sp>
        <p:nvSpPr>
          <p:cNvPr id="7" name="Shape 5"/>
          <p:cNvSpPr/>
          <p:nvPr/>
        </p:nvSpPr>
        <p:spPr>
          <a:xfrm>
            <a:off x="485775" y="3664404"/>
            <a:ext cx="95250" cy="95250"/>
          </a:xfrm>
          <a:prstGeom prst="ellipse">
            <a:avLst/>
          </a:prstGeom>
          <a:solidFill>
            <a:srgbClr val="C2CBD8"/>
          </a:solidFill>
          <a:ln w="25400">
            <a:solidFill>
              <a:srgbClr val="C2CBD8"/>
            </a:solidFill>
            <a:prstDash val="solid"/>
          </a:ln>
        </p:spPr>
      </p:sp>
      <p:sp>
        <p:nvSpPr>
          <p:cNvPr id="8" name="Shape 6"/>
          <p:cNvSpPr/>
          <p:nvPr/>
        </p:nvSpPr>
        <p:spPr>
          <a:xfrm>
            <a:off x="485775" y="4363811"/>
            <a:ext cx="95250" cy="95250"/>
          </a:xfrm>
          <a:prstGeom prst="ellipse">
            <a:avLst/>
          </a:prstGeom>
          <a:solidFill>
            <a:srgbClr val="C2CBD8"/>
          </a:solidFill>
          <a:ln w="25400">
            <a:solidFill>
              <a:srgbClr val="C2CBD8"/>
            </a:solidFill>
            <a:prstDash val="solid"/>
          </a:ln>
        </p:spPr>
      </p:sp>
      <p:sp>
        <p:nvSpPr>
          <p:cNvPr id="9" name="Shape 7"/>
          <p:cNvSpPr/>
          <p:nvPr/>
        </p:nvSpPr>
        <p:spPr>
          <a:xfrm>
            <a:off x="485775" y="5063218"/>
            <a:ext cx="95250" cy="95250"/>
          </a:xfrm>
          <a:prstGeom prst="ellipse">
            <a:avLst/>
          </a:prstGeom>
          <a:solidFill>
            <a:srgbClr val="C2CBD8"/>
          </a:solidFill>
          <a:ln w="25400">
            <a:solidFill>
              <a:srgbClr val="C2CBD8"/>
            </a:solidFill>
            <a:prstDash val="solid"/>
          </a:ln>
        </p:spPr>
      </p:sp>
      <p:sp>
        <p:nvSpPr>
          <p:cNvPr id="10" name="Shape 8"/>
          <p:cNvSpPr/>
          <p:nvPr/>
        </p:nvSpPr>
        <p:spPr>
          <a:xfrm>
            <a:off x="466725" y="5743575"/>
            <a:ext cx="133350" cy="133350"/>
          </a:xfrm>
          <a:prstGeom prst="ellipse">
            <a:avLst/>
          </a:prstGeom>
          <a:solidFill>
            <a:srgbClr val="B0472A"/>
          </a:solidFill>
          <a:ln w="25400">
            <a:solidFill>
              <a:srgbClr val="B0472A"/>
            </a:solidFill>
            <a:prstDash val="solid"/>
          </a:ln>
        </p:spPr>
      </p:sp>
      <p:sp>
        <p:nvSpPr>
          <p:cNvPr id="11" name="Text 9"/>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七</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2" name="Text 10"/>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44</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44</a:t>
            </a:r>
            <a:endParaRPr lang="en-US" sz="1000" dirty="0"/>
          </a:p>
        </p:txBody>
      </p:sp>
      <p:sp>
        <p:nvSpPr>
          <p:cNvPr id="13" name="Text 11"/>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4" name="Text 12"/>
          <p:cNvSpPr/>
          <p:nvPr/>
        </p:nvSpPr>
        <p:spPr>
          <a:xfrm>
            <a:off x="1295400" y="1956816"/>
            <a:ext cx="9067495" cy="640080"/>
          </a:xfrm>
          <a:prstGeom prst="rect">
            <a:avLst/>
          </a:prstGeom>
          <a:noFill/>
          <a:ln/>
        </p:spPr>
        <p:txBody>
          <a:bodyPr wrap="square" lIns="0" tIns="0" rIns="0" bIns="0" rtlCol="0" anchor="t"/>
          <a:lstStyle/>
          <a:p>
            <a:pPr indent="0" marL="0">
              <a:lnSpc>
                <a:spcPct val="155000"/>
              </a:lnSpc>
              <a:buNone/>
            </a:pPr>
            <a:r>
              <a:rPr lang="en-US" sz="1350" dirty="0">
                <a:solidFill>
                  <a:srgbClr val="5B6470"/>
                </a:solidFill>
                <a:latin typeface="Microsoft YaHei" pitchFamily="34" charset="0"/>
                <a:ea typeface="Microsoft YaHei" pitchFamily="34" charset="-122"/>
                <a:cs typeface="Microsoft YaHei" pitchFamily="34" charset="-120"/>
              </a:rPr>
              <a:t>本场引用的政策条款均出自公开文件，文号与日期见各页页脚。</a:t>
            </a:r>
            <a:endParaRPr lang="en-US" sz="1350" dirty="0"/>
          </a:p>
        </p:txBody>
      </p:sp>
      <p:sp>
        <p:nvSpPr>
          <p:cNvPr id="15" name="Text 13"/>
          <p:cNvSpPr/>
          <p:nvPr/>
        </p:nvSpPr>
        <p:spPr>
          <a:xfrm>
            <a:off x="1295400" y="2688336"/>
            <a:ext cx="9067495" cy="640080"/>
          </a:xfrm>
          <a:prstGeom prst="rect">
            <a:avLst/>
          </a:prstGeom>
          <a:noFill/>
          <a:ln/>
        </p:spPr>
        <p:txBody>
          <a:bodyPr wrap="square" lIns="0" tIns="0" rIns="0" bIns="0" rtlCol="0" anchor="t"/>
          <a:lstStyle/>
          <a:p>
            <a:pPr indent="0" marL="0">
              <a:lnSpc>
                <a:spcPct val="155000"/>
              </a:lnSpc>
              <a:buNone/>
            </a:pPr>
            <a:r>
              <a:rPr lang="en-US" sz="1350" dirty="0">
                <a:solidFill>
                  <a:srgbClr val="5B6470"/>
                </a:solidFill>
                <a:latin typeface="Microsoft YaHei" pitchFamily="34" charset="0"/>
                <a:ea typeface="Microsoft YaHei" pitchFamily="34" charset="-122"/>
                <a:cs typeface="Microsoft YaHei" pitchFamily="34" charset="-120"/>
              </a:rPr>
              <a:t>截至 2026 年 8 月，未查到广东省或深圳市针对做中学领航行动的配套实施文件。省市细则以后续文件为准，如与市级方案不一致，以市级为准。</a:t>
            </a:r>
            <a:endParaRPr lang="en-US" sz="1350" dirty="0"/>
          </a:p>
        </p:txBody>
      </p:sp>
      <p:sp>
        <p:nvSpPr>
          <p:cNvPr id="16" name="Text 14"/>
          <p:cNvSpPr/>
          <p:nvPr/>
        </p:nvSpPr>
        <p:spPr>
          <a:xfrm>
            <a:off x="1295400" y="3419856"/>
            <a:ext cx="9067495" cy="640080"/>
          </a:xfrm>
          <a:prstGeom prst="rect">
            <a:avLst/>
          </a:prstGeom>
          <a:noFill/>
          <a:ln/>
        </p:spPr>
        <p:txBody>
          <a:bodyPr wrap="square" lIns="0" tIns="0" rIns="0" bIns="0" rtlCol="0" anchor="t"/>
          <a:lstStyle/>
          <a:p>
            <a:pPr indent="0" marL="0">
              <a:lnSpc>
                <a:spcPct val="155000"/>
              </a:lnSpc>
              <a:buNone/>
            </a:pPr>
            <a:r>
              <a:rPr lang="en-US" sz="1350" dirty="0">
                <a:solidFill>
                  <a:srgbClr val="5B6470"/>
                </a:solidFill>
                <a:latin typeface="Microsoft YaHei" pitchFamily="34" charset="0"/>
                <a:ea typeface="Microsoft YaHei" pitchFamily="34" charset="-122"/>
                <a:cs typeface="Microsoft YaHei" pitchFamily="34" charset="-120"/>
              </a:rPr>
              <a:t>六个环节的 AI 收放配置是依据评价维度做的专业判断，不是政策规定。指南原文只写了「辅助」二字。</a:t>
            </a:r>
            <a:endParaRPr lang="en-US" sz="1350" dirty="0"/>
          </a:p>
        </p:txBody>
      </p:sp>
      <p:sp>
        <p:nvSpPr>
          <p:cNvPr id="17" name="Text 15"/>
          <p:cNvSpPr/>
          <p:nvPr/>
        </p:nvSpPr>
        <p:spPr>
          <a:xfrm>
            <a:off x="1295400" y="4572000"/>
            <a:ext cx="9981895" cy="292608"/>
          </a:xfrm>
          <a:prstGeom prst="rect">
            <a:avLst/>
          </a:prstGeom>
          <a:noFill/>
          <a:ln/>
        </p:spPr>
        <p:txBody>
          <a:bodyPr wrap="square" lIns="0" tIns="0" rIns="0" bIns="0" rtlCol="0" anchor="ctr"/>
          <a:lstStyle/>
          <a:p>
            <a:pPr indent="0" marL="0">
              <a:buNone/>
            </a:pPr>
            <a:r>
              <a:rPr lang="en-US" sz="1400" dirty="0">
                <a:solidFill>
                  <a:srgbClr val="0F1B2D"/>
                </a:solidFill>
                <a:latin typeface="Microsoft YaHei" pitchFamily="34" charset="0"/>
                <a:ea typeface="Microsoft YaHei" pitchFamily="34" charset="-122"/>
                <a:cs typeface="Microsoft YaHei" pitchFamily="34" charset="-120"/>
              </a:rPr>
              <a:t>辛海洋　2026 年 8 月 21 日　深圳</a:t>
            </a:r>
            <a:endParaRPr lang="en-US" sz="1400" dirty="0"/>
          </a:p>
        </p:txBody>
      </p:sp>
      <p:sp>
        <p:nvSpPr>
          <p:cNvPr id="18" name="Shape 16"/>
          <p:cNvSpPr/>
          <p:nvPr/>
        </p:nvSpPr>
        <p:spPr>
          <a:xfrm>
            <a:off x="1295400" y="4992624"/>
            <a:ext cx="2926080" cy="457200"/>
          </a:xfrm>
          <a:prstGeom prst="roundRect">
            <a:avLst>
              <a:gd name="adj" fmla="val 16000"/>
            </a:avLst>
          </a:prstGeom>
          <a:solidFill>
            <a:srgbClr val="F5F7FB"/>
          </a:solidFill>
          <a:ln w="12700">
            <a:solidFill>
              <a:srgbClr val="D9A98F"/>
            </a:solidFill>
            <a:prstDash val="dash"/>
          </a:ln>
        </p:spPr>
      </p:sp>
      <p:sp>
        <p:nvSpPr>
          <p:cNvPr id="19" name="Text 17"/>
          <p:cNvSpPr/>
          <p:nvPr/>
        </p:nvSpPr>
        <p:spPr>
          <a:xfrm>
            <a:off x="1295400" y="4992624"/>
            <a:ext cx="2926080" cy="457200"/>
          </a:xfrm>
          <a:prstGeom prst="rect">
            <a:avLst/>
          </a:prstGeom>
          <a:noFill/>
          <a:ln/>
        </p:spPr>
        <p:txBody>
          <a:bodyPr wrap="square" lIns="0" tIns="0" rIns="0" bIns="0" rtlCol="0" anchor="ctr"/>
          <a:lstStyle/>
          <a:p>
            <a:pPr algn="ctr" indent="0" marL="0">
              <a:buNone/>
            </a:pPr>
            <a:r>
              <a:rPr lang="en-US" sz="1150" dirty="0">
                <a:solidFill>
                  <a:srgbClr val="B0472A"/>
                </a:solidFill>
                <a:latin typeface="Microsoft YaHei" pitchFamily="34" charset="0"/>
                <a:ea typeface="Microsoft YaHei" pitchFamily="34" charset="-122"/>
                <a:cs typeface="Microsoft YaHei" pitchFamily="34" charset="-120"/>
              </a:rPr>
              <a:t>【占位】讲义与二维码</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做中学与综合实践活动</dc:title>
  <dc:subject>AI 在任务链条上的位置</dc:subject>
  <dc:creator>辛海洋</dc:creator>
  <cp:lastModifiedBy>辛海洋</cp:lastModifiedBy>
  <cp:revision>1</cp:revision>
  <dcterms:created xsi:type="dcterms:W3CDTF">2026-08-21T15:01:28Z</dcterms:created>
  <dcterms:modified xsi:type="dcterms:W3CDTF">2026-08-21T15:01:28Z</dcterms:modified>
</cp:coreProperties>
</file>