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AI。内容限于一项事实：该文件已经印发，九月起实施。八分钟，节奏放缓，让听众先建立背景。右下角二维码用于下载 37 页教师讲义。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四个评价维度可结合可观察行为说明：问题意识表现为从现象形成可探究问题；探究实践能力表现为设计方案、取得证据并作出解释；反思改进能力表现为依据测试结果修改方案；合作交流能力表现为说明分工、依据与修改过程。做中学将探究拆解为六个环节，并增加变量识别、控制变量、证据推理与误差分析等方法要求。两个学段的差别在第 26 页说明。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依据及其性质。考察探究的选题、资料整理、方案与报告均可能形成形式相近的系统输出；设计制作仍包含实物制作与测试；社会服务与职业体验依赖现场行动、实际操作及与人的交流。本页属于分析判断，不是测量结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只用这一组数据。研究对象为北京市小学教师，能够支持样本内的师资结构与实施水平差异，不能据此推断深圳或全国的比例。本页属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本页按作用方向列出三类事项。左列主要涉及学生侧学习过程，中列主要涉及教师侧材料处理，第三列说明生成式 AI 对课时、师资、基地质量以及综合素质评价程序没有直接作用。第 16 页将对前两列的差异作进一步说明。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原书列出花瓶、拼盘、填表、空心四类低质量项目，本页选取与成果替代最相关的三类。讲述时带出书名与年份，不再归到 2022 年国家级教学成果一等奖。落点在末句：空心项目原本可以从成果的粗糙程度识别，生成式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按研究设计、结果与适用边界的顺序说明。样本为大学生，相关数值不能直接用于中小学；该研究可提供机制假设，不能证明中小学生必然出现相同结果。两项元分析说明效果受干预时长与样本规模等研究条件影响，不能据此概括全部生成式人工智能教学研究。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随后说明三分表的结构：左列主要涉及学生侧的学习过程，中列主要涉及教师侧的材料处理。用于教师侧时，系统可减少重复性整理工作；介入学生应形成能力的环节时，则可能替代相应学习过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并与下一页共同说明教师侧的具体用法。四项按实施难度排列：量规初稿经教师修改后使用；三档任务单用于差异化分层；写实记录整理须先以代号替换身份信息；数据作图以学生自行取得的原始数据为基础。四项产出均为待教师复核的初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以量规初稿说明指令的三部分结构：交代场景、说明所需产出、限定不取何种表述。第三部分规定返回内容的边界。量规示例排除评价性形容词，任务单示例限定字数并删除导语和结语，写实记录示例排除评价性形容词。完整三条指令收入教师讲义。写实记录进入工具前须以代号替换学生身份信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讲义工具一是环节配置的判断方法。三项判断适用于任何一个环节，顺序为确认能力、判断替代关系、讨论补偿。若从工具功能倒推使用位置，容易扩大工具介入范围。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一句话页。该句是三项判断的压缩形式，陈述后停顿。本课程的教学资产即试错空间，而生成式 AI 的默认行为是消除试错空间。指南的包容失败条款原文在第 30 页屏幕上，此处不必提前念。本页属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以科学护眼示范前三个环节的填写方法。重点是把能力、替代关系、补充活动与证据逐项对应，而不是直接标注可以或不可以使用工具。完整空白表保留在教师讲义中，每项任务填写一张。下一段继续走查六个环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说明学生侧的具体用法，随后由案例说明配置依据。内核指六个环节这条主干，外圈指任务前的背景检索与任务后的表达传播，并非六个环节内部的两端。六个环节的配置依据在第五段逐项展开。该配置是依据评价维度作出的专业判断，指南原文仅有「辅助」二字，讲述时须明确其建议属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种方式均包含可用动作、限制条件与记录要求。背景检索须在学生自行提出问题之后进行，检索结果用于对照；数据整理以学生取得的原始记录为基础；表达加工不得改变学生形成的结论。未列出的环节按照上一页的配置执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展示教师侧的一次完整交互，讲述时依次说明输入、返回内容与教师判断。末句限定工具只提出问题而不输出方案，对应“半收”配置。三条返回内容中有一条被教师否决，依据是学段目标与实际材料条件。整个过程由教师操作，学生接收的是经教师筛选的问题。下一页将这一判断过程归纳为三项审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本页说明敏感数据边界。《中小学生成式人工智能使用指南（2025 年版）》提出由教育行政部门建立白名单，学校明确进校准入机制，并严禁输入个人身份信息、考试试题等敏感数据。健康饮食任务使用体质健康监测数据，因此须在任务单中明确代号规则。原始数据一旦不是由学生取得，后续推论即失去证据基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如何将交流展示转化为社会服务。健康饮食任务原文已要求面向社区居民等公众开展科普宣传。实施时应预先约定服务对象给出一次书面或口头反馈；具有明确对象、实际行动、回应与记录时，活动才形成社会服务。若邀请验光师或营养师到校，可安排学生依据问题清单访谈其工作内容与判断依据，以形成职业体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两项各用一分钟说明。低学段的生物多样性调查可以在学生侧全程不使用设备；初中的工程探究可在任务前检索和任务后表达环节使用工具。配置依据是学生应亲自经历的认知活动，而不是学段或主题。本页属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收束第五段。前一句重申环节配置的判据，后一句分别说明学生独立完成与工具辅助的条件。下方路径说明教师讲义中每个案例的组织方式，前述科学护眼案例可据此迁移到其他主题。该表述是案例走查的归纳，不是政策规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本页承接第五段的环节配置。最终成果与事后查重不足以可靠判断工具参与程度，因此应在任务设计阶段规定设备开放时间，并要求使用后即时填写留痕表。两项措施均属于事前安排。本页属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讲义工具三是 AI 使用留痕表，随任务单一并发放，不在结题时补录。表格依次记录使用位置、输入、输出与修改理由，使工具介入过程可以与任务成果对照。第四栏可作为反思改进能力的一项评价证据；未填写只能说明当前缺少修改证据，教师仍须结合中间版本与口头说明判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义工具四是答辩三问。三项提问分别指向方案选择、修改过程与错误发现，评价对象是学生对过程的说明。第三问无法回答时，只能判断当前缺少可核验的验证证据；教师还须结合学生表达能力、过程记录与中间版本作出评价，不能据此直接判定成果来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本页说明过程材料进入评价记录的路径。2017 年纲要要求档案袋中的事实材料真实、有据可查；指南要求将科学探究实践表现性评价以纪实性方式记录，并纳入学生综合素质评价档案。深圳现行文件中的三项程序须分别陈述：写实记录可上传相关佐证材料；集中公示的对象是基本指标评价结果；公示期结束后由学生、班主任及有关教师签字确认。不得表述为人工智能素养已经纳入综合素质评价。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项按主体逐条宣读，不合并称为同一种红线。第一项的主体是小学生，第二项是学生，第三项是教师，第四项限于通过网络信息内容传播服务发布生成合成内容。“白名单”由教育行政部门建立，学校负责明确进校准入机制。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本页说明评价责任归属。指南列举的评价主体为教师、学生、同伴以及受邀的科学家与工程师，未将 AI 列为评价主体。因此，正式评价与归档须由文件规定的主体确认，相关判断与责任由签字者承担。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本页只讲与教师使用直接相关的三个节点，不展开完整技术史。2017 年论文《Attention Is All You Need》提出 Transformer 架构；ChatGPT 于 2022 年 11 月 30 日以研究预览形式发布；Anthropic 于 2024 年 12 月 19 日发布的《Building effective agents》区分了预定流程与由模型动态决定步骤和工具使用的智能体。[Sources] https://research.google/pubs/attention-is-all-you-need/ ; https://openai.com/index/chatgpt/ ; https://www.anthropic.com/engineering/building-effective-agents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用三种工作方式建立概念，不对应具体产品。固定流程由人预先写定路径；智能体会在运行中决定下一步及所用工具。它的重要性在于，工具可以处理多步任务；风险也由此从「回答有误」扩展到「行动越界」。对学校场景，越接近学生数据、正式评价与对外发布，越不宜交给高自主系统。[Sources] https://www.anthropic.com/engineering/building-effective-agents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的是「有固定角色和边界的对话任务助手」，不把它说成完整智能体。示例包含三项边界：只提出问题、不提供修改后的方案、每次最多三个问题。这种做法适合技术基础弱的教师起步，原因是任务范围小，输出可以逐条复核。不同工具对对话上下文的保留方式不同，新建对话时重新粘贴指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按功能说明三类工具的位置，不对应具体产品。上一页的「只提出问题」指工具向既有方案提出质疑；本页的「学生提出探究问题」指课程的首个环节，两者主体和任务不同。对话式任务助手可用于方案质疑、答辩预演与教师备课，不代替学生形成探究问题、解释结论或完成正式评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周路径与教师讲义直接对应。第一周从六套案例中选择与学校条件接近的一项，并先形成可以持续探究的真实问题；第二周依据实施卡和完整任务设计完成本地调整，由教师试用一次方案质疑指令并记录采纳判断；第三周发放学生工作页与留痕表。该路径不要求额外开发软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末页说明四项课堂工具、六套完整案例与纸质讲义的五页结构。随后宣读三条说明，重点区分专业判断与政策规定。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附录不纳入九十分钟正文，供会后查阅。若现场时间允许，可说明六份案例的工具介入程度并不相同，配置依据是各任务中学生应亲自经历的认知活动，而不是学段或主题。第六项以使用人工智能为任务内容，限制的是由系统替代学生评价系统输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本项是正文走查过的任务，放在附录第一位，可作为读法示例。其余五项按同一格式给出。任务要求与实施建议为附件原文，一字未改。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六行的配置逻辑与正文第 22 页一致：凡属学生应当经历的困难，收；凡属重复性劳动，放。本页不讲，供带走。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三条约束是本任务特有的，通用红线见正文第 39 页。指令示例可替换学段与场地后使用，使用前仍须由教师复核。本页不讲，供会后查阅。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本页将前面三页转换为教师可执行的准备、产出、观察与替代方案。各项均属实施建议，不作为政策要求。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本项的评价维度包括分类归纳与逻辑推理，因此物种识别与关系推断须由学生完成。教师可在课前使用工具整理安全信息与速查材料。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 AI 价值几乎全在教师侧课前，不在六个环节之内，因此写在页脚而不占表格一行。本页不讲，供带走。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指令末句的「不确定的标注为待核，不要猜测」是关键，安全提示这类内容一旦编造，代价不在课堂上。本页不讲，供带走。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本页突出低技术条件下仍可实施的调查方式。教师侧速查材料仅用于安全与准备，不替代学生识别和分类。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本项同时包含公开参数检索、模型制作与模拟实验。天体参数与参考结论均可由系统生成，但距离、光照与温度之间的实测曲线须由学生取得。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本项模拟实验的数据量较大，系统可参与数据整理与作图，但原始测量和结论解释仍由学生完成。该页不纳入现场讲述，供会后查阅。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指令不要求系统提供具体数值，学生须根据来源自行查证并填写，从而降低错误数值直接进入任务材料的风险。该页不纳入现场讲述，供会后查阅。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本页区分公开参数、模拟实验数据和学生推断，避免三类材料在结论中混用。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本项属于长周期任务，实施中可能出现缺测。缺测处理规则见本案例第三页第一条。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这一行的边界比其他五项都细，原因是缺测在长周期任务里是常态，而补全与整理在操作上只差一句话。本页不讲，供带走。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本页指令明确要求缺测日期留空，并禁止插值与平滑，以区分数据整理和数据补全。该页不纳入现场讲述，供会后查阅。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本页将长周期任务的管理重点集中在连续记录、缺测处理和基于观察的改进。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本项的问题来自工程案例而非学生自身经验，背景检索是必要的前置，因此首环节放开。放开的是背景，不是问题本身。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在结论形成后，任务助手只针对证据充分性提出问题，学生自行回应。回应记录可作为反思改进能力的评价证据。该页不纳入现场讲述，供会后查阅。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这条指令与正文的任务助手说明是同一套写法，可对照阅读。本页不讲，供带走。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本页强调工程背景资料不能替代模拟试验，教师观察重点仍是变量控制与证据解释。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附录里最值得细读的一项。前五项收的是学生用 AI，本项收的是让 AI 替学生判断 AI。同一套判据，落到这里得出的是相反的配置。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搜集分析证据环节允许学生使用 AI 生成对照材料，因为交互记录本身就是本项的实验数据；规律归纳与结果判断仍由学生完成。该页不纳入现场讲述，供会后查阅。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示例问题特意用第一项案例的护眼，两项之间可以互相引用，教师排课时也便于连着上。本页不讲，供带走。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本页把文件中的小学使用边界落实到课堂操作，并保持学生对比较设计与结果判断的责任。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tonyxinvip.github.io/slides/comprehensive-practice-ai/teacher-handout.pdf"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081B3A"/>
          </a:solidFill>
          <a:ln w="25400">
            <a:solidFill>
              <a:srgbClr val="5F7088"/>
            </a:solidFill>
            <a:prstDash val="solid"/>
          </a:ln>
        </p:spPr>
      </p:sp>
      <p:sp>
        <p:nvSpPr>
          <p:cNvPr id="5" name="Shape 3"/>
          <p:cNvSpPr/>
          <p:nvPr/>
        </p:nvSpPr>
        <p:spPr>
          <a:xfrm>
            <a:off x="485775" y="2090738"/>
            <a:ext cx="95250" cy="95250"/>
          </a:xfrm>
          <a:prstGeom prst="ellipse">
            <a:avLst/>
          </a:prstGeom>
          <a:solidFill>
            <a:srgbClr val="081B3A"/>
          </a:solidFill>
          <a:ln w="25400">
            <a:solidFill>
              <a:srgbClr val="5F7088"/>
            </a:solidFill>
            <a:prstDash val="solid"/>
          </a:ln>
        </p:spPr>
      </p:sp>
      <p:sp>
        <p:nvSpPr>
          <p:cNvPr id="6" name="Shape 4"/>
          <p:cNvSpPr/>
          <p:nvPr/>
        </p:nvSpPr>
        <p:spPr>
          <a:xfrm>
            <a:off x="485775" y="2702719"/>
            <a:ext cx="95250" cy="95250"/>
          </a:xfrm>
          <a:prstGeom prst="ellipse">
            <a:avLst/>
          </a:prstGeom>
          <a:solidFill>
            <a:srgbClr val="081B3A"/>
          </a:solidFill>
          <a:ln w="25400">
            <a:solidFill>
              <a:srgbClr val="5F7088"/>
            </a:solidFill>
            <a:prstDash val="solid"/>
          </a:ln>
        </p:spPr>
      </p:sp>
      <p:sp>
        <p:nvSpPr>
          <p:cNvPr id="7" name="Shape 5"/>
          <p:cNvSpPr/>
          <p:nvPr/>
        </p:nvSpPr>
        <p:spPr>
          <a:xfrm>
            <a:off x="485775" y="3314700"/>
            <a:ext cx="95250" cy="95250"/>
          </a:xfrm>
          <a:prstGeom prst="ellipse">
            <a:avLst/>
          </a:prstGeom>
          <a:solidFill>
            <a:srgbClr val="081B3A"/>
          </a:solidFill>
          <a:ln w="25400">
            <a:solidFill>
              <a:srgbClr val="5F7088"/>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11556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6" name="Text 14"/>
          <p:cNvSpPr/>
          <p:nvPr/>
        </p:nvSpPr>
        <p:spPr>
          <a:xfrm>
            <a:off x="1295400" y="1499616"/>
            <a:ext cx="9981895" cy="1005840"/>
          </a:xfrm>
          <a:prstGeom prst="rect">
            <a:avLst/>
          </a:prstGeom>
          <a:noFill/>
          <a:ln/>
        </p:spPr>
        <p:txBody>
          <a:bodyPr wrap="square" lIns="0" tIns="0" rIns="0" bIns="0" rtlCol="0" anchor="ctr"/>
          <a:lstStyle/>
          <a:p>
            <a:pPr indent="0" marL="0">
              <a:buNone/>
            </a:pPr>
            <a:r>
              <a:rPr lang="en-US" sz="5000" b="1" dirty="0">
                <a:solidFill>
                  <a:srgbClr val="FFFFFF"/>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7" name="Text 15"/>
          <p:cNvSpPr/>
          <p:nvPr/>
        </p:nvSpPr>
        <p:spPr>
          <a:xfrm>
            <a:off x="1295400" y="2596896"/>
            <a:ext cx="9981895" cy="402336"/>
          </a:xfrm>
          <a:prstGeom prst="rect">
            <a:avLst/>
          </a:prstGeom>
          <a:noFill/>
          <a:ln/>
        </p:spPr>
        <p:txBody>
          <a:bodyPr wrap="square" lIns="0" tIns="0" rIns="0" bIns="0" rtlCol="0" anchor="ctr"/>
          <a:lstStyle/>
          <a:p>
            <a:pPr indent="0" marL="0">
              <a:buNone/>
            </a:pPr>
            <a:r>
              <a:rPr lang="en-US" sz="1900" dirty="0">
                <a:solidFill>
                  <a:srgbClr val="BFD3EA"/>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8" name="Shape 16"/>
          <p:cNvSpPr/>
          <p:nvPr/>
        </p:nvSpPr>
        <p:spPr>
          <a:xfrm>
            <a:off x="1588008" y="3456432"/>
            <a:ext cx="9396679" cy="0"/>
          </a:xfrm>
          <a:prstGeom prst="line">
            <a:avLst/>
          </a:prstGeom>
          <a:noFill/>
          <a:ln w="19050">
            <a:solidFill>
              <a:srgbClr val="FFFFFF">
                <a:alpha val="35000"/>
              </a:srgbClr>
            </a:solidFill>
            <a:prstDash val="solid"/>
          </a:ln>
        </p:spPr>
      </p:sp>
      <p:sp>
        <p:nvSpPr>
          <p:cNvPr id="19" name="Shape 17"/>
          <p:cNvSpPr/>
          <p:nvPr/>
        </p:nvSpPr>
        <p:spPr>
          <a:xfrm>
            <a:off x="1972056" y="3392424"/>
            <a:ext cx="128016" cy="128016"/>
          </a:xfrm>
          <a:prstGeom prst="ellipse">
            <a:avLst/>
          </a:prstGeom>
          <a:solidFill>
            <a:srgbClr val="C2552F"/>
          </a:solidFill>
          <a:ln w="19050">
            <a:solidFill>
              <a:srgbClr val="FFFFFF">
                <a:alpha val="70000"/>
              </a:srgbClr>
            </a:solidFill>
            <a:prstDash val="solid"/>
          </a:ln>
        </p:spPr>
      </p:sp>
      <p:sp>
        <p:nvSpPr>
          <p:cNvPr id="20" name="Text 18"/>
          <p:cNvSpPr/>
          <p:nvPr/>
        </p:nvSpPr>
        <p:spPr>
          <a:xfrm>
            <a:off x="1295400"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提出问题和假设</a:t>
            </a:r>
            <a:endParaRPr lang="en-US" sz="1050" dirty="0"/>
          </a:p>
        </p:txBody>
      </p:sp>
      <p:sp>
        <p:nvSpPr>
          <p:cNvPr id="21" name="Shape 19"/>
          <p:cNvSpPr/>
          <p:nvPr/>
        </p:nvSpPr>
        <p:spPr>
          <a:xfrm>
            <a:off x="3636264" y="3392424"/>
            <a:ext cx="128016" cy="128016"/>
          </a:xfrm>
          <a:prstGeom prst="ellipse">
            <a:avLst/>
          </a:prstGeom>
          <a:solidFill>
            <a:srgbClr val="C2552F"/>
          </a:solidFill>
          <a:ln w="19050">
            <a:solidFill>
              <a:srgbClr val="FFFFFF">
                <a:alpha val="70000"/>
              </a:srgbClr>
            </a:solidFill>
            <a:prstDash val="solid"/>
          </a:ln>
        </p:spPr>
      </p:sp>
      <p:sp>
        <p:nvSpPr>
          <p:cNvPr id="22" name="Text 20"/>
          <p:cNvSpPr/>
          <p:nvPr/>
        </p:nvSpPr>
        <p:spPr>
          <a:xfrm>
            <a:off x="2959608"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设计方案</a:t>
            </a:r>
            <a:endParaRPr lang="en-US" sz="1050" dirty="0"/>
          </a:p>
        </p:txBody>
      </p:sp>
      <p:sp>
        <p:nvSpPr>
          <p:cNvPr id="23" name="Shape 21"/>
          <p:cNvSpPr/>
          <p:nvPr/>
        </p:nvSpPr>
        <p:spPr>
          <a:xfrm>
            <a:off x="5300472" y="3392424"/>
            <a:ext cx="128016" cy="128016"/>
          </a:xfrm>
          <a:prstGeom prst="ellipse">
            <a:avLst/>
          </a:prstGeom>
          <a:solidFill>
            <a:srgbClr val="C2552F"/>
          </a:solidFill>
          <a:ln w="19050">
            <a:solidFill>
              <a:srgbClr val="FFFFFF">
                <a:alpha val="70000"/>
              </a:srgbClr>
            </a:solidFill>
            <a:prstDash val="solid"/>
          </a:ln>
        </p:spPr>
      </p:sp>
      <p:sp>
        <p:nvSpPr>
          <p:cNvPr id="24" name="Text 22"/>
          <p:cNvSpPr/>
          <p:nvPr/>
        </p:nvSpPr>
        <p:spPr>
          <a:xfrm>
            <a:off x="4623816"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搜集分析证据</a:t>
            </a:r>
            <a:endParaRPr lang="en-US" sz="1050" dirty="0"/>
          </a:p>
        </p:txBody>
      </p:sp>
      <p:sp>
        <p:nvSpPr>
          <p:cNvPr id="25" name="Shape 23"/>
          <p:cNvSpPr/>
          <p:nvPr/>
        </p:nvSpPr>
        <p:spPr>
          <a:xfrm>
            <a:off x="6964680" y="3392424"/>
            <a:ext cx="128016" cy="128016"/>
          </a:xfrm>
          <a:prstGeom prst="ellipse">
            <a:avLst/>
          </a:prstGeom>
          <a:solidFill>
            <a:srgbClr val="C2552F"/>
          </a:solidFill>
          <a:ln w="19050">
            <a:solidFill>
              <a:srgbClr val="FFFFFF">
                <a:alpha val="70000"/>
              </a:srgbClr>
            </a:solidFill>
            <a:prstDash val="solid"/>
          </a:ln>
        </p:spPr>
      </p:sp>
      <p:sp>
        <p:nvSpPr>
          <p:cNvPr id="26" name="Text 24"/>
          <p:cNvSpPr/>
          <p:nvPr/>
        </p:nvSpPr>
        <p:spPr>
          <a:xfrm>
            <a:off x="6288024"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得出结论并解释</a:t>
            </a:r>
            <a:endParaRPr lang="en-US" sz="1050" dirty="0"/>
          </a:p>
        </p:txBody>
      </p:sp>
      <p:sp>
        <p:nvSpPr>
          <p:cNvPr id="27" name="Shape 25"/>
          <p:cNvSpPr/>
          <p:nvPr/>
        </p:nvSpPr>
        <p:spPr>
          <a:xfrm>
            <a:off x="8628888" y="3392424"/>
            <a:ext cx="128016" cy="128016"/>
          </a:xfrm>
          <a:prstGeom prst="ellipse">
            <a:avLst/>
          </a:prstGeom>
          <a:solidFill>
            <a:srgbClr val="C2552F"/>
          </a:solidFill>
          <a:ln w="19050">
            <a:solidFill>
              <a:srgbClr val="FFFFFF">
                <a:alpha val="70000"/>
              </a:srgbClr>
            </a:solidFill>
            <a:prstDash val="solid"/>
          </a:ln>
        </p:spPr>
      </p:sp>
      <p:sp>
        <p:nvSpPr>
          <p:cNvPr id="28" name="Text 26"/>
          <p:cNvSpPr/>
          <p:nvPr/>
        </p:nvSpPr>
        <p:spPr>
          <a:xfrm>
            <a:off x="7952232"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制作改进</a:t>
            </a:r>
            <a:endParaRPr lang="en-US" sz="1050" dirty="0"/>
          </a:p>
        </p:txBody>
      </p:sp>
      <p:sp>
        <p:nvSpPr>
          <p:cNvPr id="29" name="Shape 27"/>
          <p:cNvSpPr/>
          <p:nvPr/>
        </p:nvSpPr>
        <p:spPr>
          <a:xfrm>
            <a:off x="10293096" y="3392424"/>
            <a:ext cx="128016" cy="128016"/>
          </a:xfrm>
          <a:prstGeom prst="ellipse">
            <a:avLst/>
          </a:prstGeom>
          <a:solidFill>
            <a:srgbClr val="C2552F"/>
          </a:solidFill>
          <a:ln w="19050">
            <a:solidFill>
              <a:srgbClr val="FFFFFF">
                <a:alpha val="70000"/>
              </a:srgbClr>
            </a:solidFill>
            <a:prstDash val="solid"/>
          </a:ln>
        </p:spPr>
      </p:sp>
      <p:sp>
        <p:nvSpPr>
          <p:cNvPr id="30" name="Text 28"/>
          <p:cNvSpPr/>
          <p:nvPr/>
        </p:nvSpPr>
        <p:spPr>
          <a:xfrm>
            <a:off x="9616440" y="3621024"/>
            <a:ext cx="1481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交流反思</a:t>
            </a:r>
            <a:endParaRPr lang="en-US" sz="1050" dirty="0"/>
          </a:p>
        </p:txBody>
      </p:sp>
      <p:sp>
        <p:nvSpPr>
          <p:cNvPr id="31" name="Shape 29"/>
          <p:cNvSpPr/>
          <p:nvPr/>
        </p:nvSpPr>
        <p:spPr>
          <a:xfrm>
            <a:off x="1295400" y="4443984"/>
            <a:ext cx="9981895" cy="0"/>
          </a:xfrm>
          <a:prstGeom prst="line">
            <a:avLst/>
          </a:prstGeom>
          <a:noFill/>
          <a:ln w="12700">
            <a:solidFill>
              <a:srgbClr val="FFFFFF">
                <a:alpha val="28000"/>
              </a:srgbClr>
            </a:solidFill>
            <a:prstDash val="solid"/>
          </a:ln>
        </p:spPr>
      </p:sp>
      <p:sp>
        <p:nvSpPr>
          <p:cNvPr id="32" name="Text 30"/>
          <p:cNvSpPr/>
          <p:nvPr/>
        </p:nvSpPr>
        <p:spPr>
          <a:xfrm>
            <a:off x="1295400" y="4572000"/>
            <a:ext cx="1554480" cy="219456"/>
          </a:xfrm>
          <a:prstGeom prst="rect">
            <a:avLst/>
          </a:prstGeom>
          <a:noFill/>
          <a:ln/>
        </p:spPr>
        <p:txBody>
          <a:bodyPr wrap="square" lIns="0" tIns="0" rIns="0" bIns="0" rtlCol="0" anchor="ctr"/>
          <a:lstStyle/>
          <a:p>
            <a:pPr indent="0" marL="0">
              <a:buNone/>
            </a:pPr>
            <a:r>
              <a:rPr lang="en-US" sz="1000" dirty="0">
                <a:solidFill>
                  <a:srgbClr val="8FA3BE"/>
                </a:solidFill>
                <a:latin typeface="Microsoft YaHei" pitchFamily="34" charset="0"/>
                <a:ea typeface="Microsoft YaHei" pitchFamily="34" charset="-122"/>
                <a:cs typeface="Microsoft YaHei" pitchFamily="34" charset="-120"/>
              </a:rPr>
              <a:t>主讲</a:t>
            </a:r>
            <a:endParaRPr lang="en-US" sz="1000" dirty="0"/>
          </a:p>
        </p:txBody>
      </p:sp>
      <p:sp>
        <p:nvSpPr>
          <p:cNvPr id="33" name="Text 31"/>
          <p:cNvSpPr/>
          <p:nvPr/>
        </p:nvSpPr>
        <p:spPr>
          <a:xfrm>
            <a:off x="1295400" y="4828032"/>
            <a:ext cx="1554480" cy="274320"/>
          </a:xfrm>
          <a:prstGeom prst="rect">
            <a:avLst/>
          </a:prstGeom>
          <a:noFill/>
          <a:ln/>
        </p:spPr>
        <p:txBody>
          <a:bodyPr wrap="square" lIns="0" tIns="0" rIns="0" bIns="0" rtlCol="0" anchor="ctr"/>
          <a:lstStyle/>
          <a:p>
            <a:pPr indent="0" marL="0">
              <a:buNone/>
            </a:pPr>
            <a:r>
              <a:rPr lang="en-US" sz="1300" dirty="0">
                <a:solidFill>
                  <a:srgbClr val="FFFFFF"/>
                </a:solidFill>
                <a:latin typeface="Microsoft YaHei" pitchFamily="34" charset="0"/>
                <a:ea typeface="Microsoft YaHei" pitchFamily="34" charset="-122"/>
                <a:cs typeface="Microsoft YaHei" pitchFamily="34" charset="-120"/>
              </a:rPr>
              <a:t>辛海洋</a:t>
            </a:r>
            <a:endParaRPr lang="en-US" sz="1300" dirty="0"/>
          </a:p>
        </p:txBody>
      </p:sp>
      <p:sp>
        <p:nvSpPr>
          <p:cNvPr id="34" name="Text 32"/>
          <p:cNvSpPr/>
          <p:nvPr/>
        </p:nvSpPr>
        <p:spPr>
          <a:xfrm>
            <a:off x="3032760" y="4572000"/>
            <a:ext cx="1554480" cy="219456"/>
          </a:xfrm>
          <a:prstGeom prst="rect">
            <a:avLst/>
          </a:prstGeom>
          <a:noFill/>
          <a:ln/>
        </p:spPr>
        <p:txBody>
          <a:bodyPr wrap="square" lIns="0" tIns="0" rIns="0" bIns="0" rtlCol="0" anchor="ctr"/>
          <a:lstStyle/>
          <a:p>
            <a:pPr indent="0" marL="0">
              <a:buNone/>
            </a:pPr>
            <a:r>
              <a:rPr lang="en-US" sz="1000" dirty="0">
                <a:solidFill>
                  <a:srgbClr val="8FA3BE"/>
                </a:solidFill>
                <a:latin typeface="Microsoft YaHei" pitchFamily="34" charset="0"/>
                <a:ea typeface="Microsoft YaHei" pitchFamily="34" charset="-122"/>
                <a:cs typeface="Microsoft YaHei" pitchFamily="34" charset="-120"/>
              </a:rPr>
              <a:t>日期</a:t>
            </a:r>
            <a:endParaRPr lang="en-US" sz="1000" dirty="0"/>
          </a:p>
        </p:txBody>
      </p:sp>
      <p:sp>
        <p:nvSpPr>
          <p:cNvPr id="35" name="Text 33"/>
          <p:cNvSpPr/>
          <p:nvPr/>
        </p:nvSpPr>
        <p:spPr>
          <a:xfrm>
            <a:off x="3032760" y="4828032"/>
            <a:ext cx="1554480" cy="274320"/>
          </a:xfrm>
          <a:prstGeom prst="rect">
            <a:avLst/>
          </a:prstGeom>
          <a:noFill/>
          <a:ln/>
        </p:spPr>
        <p:txBody>
          <a:bodyPr wrap="square" lIns="0" tIns="0" rIns="0" bIns="0" rtlCol="0" anchor="ctr"/>
          <a:lstStyle/>
          <a:p>
            <a:pPr indent="0" marL="0">
              <a:buNone/>
            </a:pPr>
            <a:r>
              <a:rPr lang="en-US" sz="1300" dirty="0">
                <a:solidFill>
                  <a:srgbClr val="FFFFFF"/>
                </a:solidFill>
                <a:latin typeface="Microsoft YaHei" pitchFamily="34" charset="0"/>
                <a:ea typeface="Microsoft YaHei" pitchFamily="34" charset="-122"/>
                <a:cs typeface="Microsoft YaHei" pitchFamily="34" charset="-120"/>
              </a:rPr>
              <a:t>2026 年 8 月 25 日</a:t>
            </a:r>
            <a:endParaRPr lang="en-US" sz="1300" dirty="0"/>
          </a:p>
        </p:txBody>
      </p:sp>
      <p:sp>
        <p:nvSpPr>
          <p:cNvPr id="36" name="Text 34"/>
          <p:cNvSpPr/>
          <p:nvPr/>
        </p:nvSpPr>
        <p:spPr>
          <a:xfrm>
            <a:off x="4770120" y="4572000"/>
            <a:ext cx="1554480" cy="219456"/>
          </a:xfrm>
          <a:prstGeom prst="rect">
            <a:avLst/>
          </a:prstGeom>
          <a:noFill/>
          <a:ln/>
        </p:spPr>
        <p:txBody>
          <a:bodyPr wrap="square" lIns="0" tIns="0" rIns="0" bIns="0" rtlCol="0" anchor="ctr"/>
          <a:lstStyle/>
          <a:p>
            <a:pPr indent="0" marL="0">
              <a:buNone/>
            </a:pPr>
            <a:r>
              <a:rPr lang="en-US" sz="1000" dirty="0">
                <a:solidFill>
                  <a:srgbClr val="8FA3BE"/>
                </a:solidFill>
                <a:latin typeface="Microsoft YaHei" pitchFamily="34" charset="0"/>
                <a:ea typeface="Microsoft YaHei" pitchFamily="34" charset="-122"/>
                <a:cs typeface="Microsoft YaHei" pitchFamily="34" charset="-120"/>
              </a:rPr>
              <a:t>地点</a:t>
            </a:r>
            <a:endParaRPr lang="en-US" sz="1000" dirty="0"/>
          </a:p>
        </p:txBody>
      </p:sp>
      <p:sp>
        <p:nvSpPr>
          <p:cNvPr id="37" name="Text 35"/>
          <p:cNvSpPr/>
          <p:nvPr/>
        </p:nvSpPr>
        <p:spPr>
          <a:xfrm>
            <a:off x="4770120" y="4828032"/>
            <a:ext cx="1554480" cy="274320"/>
          </a:xfrm>
          <a:prstGeom prst="rect">
            <a:avLst/>
          </a:prstGeom>
          <a:noFill/>
          <a:ln/>
        </p:spPr>
        <p:txBody>
          <a:bodyPr wrap="square" lIns="0" tIns="0" rIns="0" bIns="0" rtlCol="0" anchor="ctr"/>
          <a:lstStyle/>
          <a:p>
            <a:pPr indent="0" marL="0">
              <a:buNone/>
            </a:pPr>
            <a:r>
              <a:rPr lang="en-US" sz="1300" dirty="0">
                <a:solidFill>
                  <a:srgbClr val="FFFFFF"/>
                </a:solidFill>
                <a:latin typeface="Microsoft YaHei" pitchFamily="34" charset="0"/>
                <a:ea typeface="Microsoft YaHei" pitchFamily="34" charset="-122"/>
                <a:cs typeface="Microsoft YaHei" pitchFamily="34" charset="-120"/>
              </a:rPr>
              <a:t>深圳技术大学</a:t>
            </a:r>
            <a:endParaRPr lang="en-US" sz="1300" dirty="0"/>
          </a:p>
        </p:txBody>
      </p:sp>
      <p:sp>
        <p:nvSpPr>
          <p:cNvPr id="38" name="Text 36"/>
          <p:cNvSpPr/>
          <p:nvPr/>
        </p:nvSpPr>
        <p:spPr>
          <a:xfrm>
            <a:off x="6507480" y="4572000"/>
            <a:ext cx="1554480" cy="219456"/>
          </a:xfrm>
          <a:prstGeom prst="rect">
            <a:avLst/>
          </a:prstGeom>
          <a:noFill/>
          <a:ln/>
        </p:spPr>
        <p:txBody>
          <a:bodyPr wrap="square" lIns="0" tIns="0" rIns="0" bIns="0" rtlCol="0" anchor="ctr"/>
          <a:lstStyle/>
          <a:p>
            <a:pPr indent="0" marL="0">
              <a:buNone/>
            </a:pPr>
            <a:r>
              <a:rPr lang="en-US" sz="1000" dirty="0">
                <a:solidFill>
                  <a:srgbClr val="8FA3BE"/>
                </a:solidFill>
                <a:latin typeface="Microsoft YaHei" pitchFamily="34" charset="0"/>
                <a:ea typeface="Microsoft YaHei" pitchFamily="34" charset="-122"/>
                <a:cs typeface="Microsoft YaHei" pitchFamily="34" charset="-120"/>
              </a:rPr>
              <a:t>时长</a:t>
            </a:r>
            <a:endParaRPr lang="en-US" sz="1000" dirty="0"/>
          </a:p>
        </p:txBody>
      </p:sp>
      <p:sp>
        <p:nvSpPr>
          <p:cNvPr id="39" name="Text 37"/>
          <p:cNvSpPr/>
          <p:nvPr/>
        </p:nvSpPr>
        <p:spPr>
          <a:xfrm>
            <a:off x="6507480" y="4828032"/>
            <a:ext cx="1554480" cy="274320"/>
          </a:xfrm>
          <a:prstGeom prst="rect">
            <a:avLst/>
          </a:prstGeom>
          <a:noFill/>
          <a:ln/>
        </p:spPr>
        <p:txBody>
          <a:bodyPr wrap="square" lIns="0" tIns="0" rIns="0" bIns="0" rtlCol="0" anchor="ctr"/>
          <a:lstStyle/>
          <a:p>
            <a:pPr indent="0" marL="0">
              <a:buNone/>
            </a:pPr>
            <a:r>
              <a:rPr lang="en-US" sz="1300" dirty="0">
                <a:solidFill>
                  <a:srgbClr val="FFFFFF"/>
                </a:solidFill>
                <a:latin typeface="Microsoft YaHei" pitchFamily="34" charset="0"/>
                <a:ea typeface="Microsoft YaHei" pitchFamily="34" charset="-122"/>
                <a:cs typeface="Microsoft YaHei" pitchFamily="34" charset="-120"/>
              </a:rPr>
              <a:t>90 分钟</a:t>
            </a:r>
            <a:endParaRPr lang="en-US" sz="1300" dirty="0"/>
          </a:p>
        </p:txBody>
      </p:sp>
      <p:sp>
        <p:nvSpPr>
          <p:cNvPr id="40" name="Text 38"/>
          <p:cNvSpPr/>
          <p:nvPr/>
        </p:nvSpPr>
        <p:spPr>
          <a:xfrm>
            <a:off x="8467344" y="4608576"/>
            <a:ext cx="1508760" cy="219456"/>
          </a:xfrm>
          <a:prstGeom prst="rect">
            <a:avLst/>
          </a:prstGeom>
          <a:noFill/>
          <a:ln/>
        </p:spPr>
        <p:txBody>
          <a:bodyPr wrap="square" lIns="0" tIns="0" rIns="0" bIns="0" rtlCol="0" anchor="ctr"/>
          <a:lstStyle/>
          <a:p>
            <a:pPr algn="r" indent="0" marL="0">
              <a:buNone/>
            </a:pPr>
            <a:r>
              <a:rPr lang="en-US" sz="1050" b="1" dirty="0">
                <a:solidFill>
                  <a:srgbClr val="FFFFFF"/>
                </a:solidFill>
                <a:latin typeface="Microsoft YaHei" pitchFamily="34" charset="0"/>
                <a:ea typeface="Microsoft YaHei" pitchFamily="34" charset="-122"/>
                <a:cs typeface="Microsoft YaHei" pitchFamily="34" charset="-120"/>
              </a:rPr>
              <a:t>扫码下载教师讲义</a:t>
            </a:r>
            <a:endParaRPr lang="en-US" sz="1050" dirty="0"/>
          </a:p>
        </p:txBody>
      </p:sp>
      <p:sp>
        <p:nvSpPr>
          <p:cNvPr id="41" name="Text 39"/>
          <p:cNvSpPr/>
          <p:nvPr/>
        </p:nvSpPr>
        <p:spPr>
          <a:xfrm>
            <a:off x="8467344" y="4855464"/>
            <a:ext cx="1508760" cy="182880"/>
          </a:xfrm>
          <a:prstGeom prst="rect">
            <a:avLst/>
          </a:prstGeom>
          <a:noFill/>
          <a:ln/>
        </p:spPr>
        <p:txBody>
          <a:bodyPr wrap="square" lIns="0" tIns="0" rIns="0" bIns="0" rtlCol="0" anchor="ctr"/>
          <a:lstStyle/>
          <a:p>
            <a:pPr algn="r" indent="0" marL="0">
              <a:buNone/>
            </a:pPr>
            <a:r>
              <a:rPr lang="en-US" sz="850" dirty="0">
                <a:solidFill>
                  <a:srgbClr val="8FA3BE"/>
                </a:solidFill>
                <a:latin typeface="Microsoft YaHei" pitchFamily="34" charset="0"/>
                <a:ea typeface="Microsoft YaHei" pitchFamily="34" charset="-122"/>
                <a:cs typeface="Microsoft YaHei" pitchFamily="34" charset="-120"/>
              </a:rPr>
              <a:t>37 页可打印版</a:t>
            </a:r>
            <a:endParaRPr lang="en-US" sz="850" dirty="0"/>
          </a:p>
        </p:txBody>
      </p:sp>
      <p:pic>
        <p:nvPicPr>
          <p:cNvPr id="42" name="Image 0" descr="/Users/tonyxin/Documents/Codex/2026-08-22/https-github-com-tonyxinvip-slides-https/work/slides/comprehensive-practice-ai/handout-qr.png">
            <a:hlinkClick r:id="rId2" tooltip=""/>
          </p:cNvPr>
          <p:cNvPicPr>
            <a:picLocks noChangeAspect="1"/>
          </p:cNvPicPr>
          <p:nvPr/>
        </p:nvPicPr>
        <p:blipFill>
          <a:blip r:embed="rId1"/>
          <a:stretch>
            <a:fillRect/>
          </a:stretch>
        </p:blipFill>
        <p:spPr>
          <a:xfrm>
            <a:off x="10131552" y="4471416"/>
            <a:ext cx="841248" cy="8412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7" name="Text 15"/>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81B3A"/>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8" name="Shape 16"/>
          <p:cNvSpPr/>
          <p:nvPr/>
        </p:nvSpPr>
        <p:spPr>
          <a:xfrm>
            <a:off x="1295400" y="2487168"/>
            <a:ext cx="3162706" cy="786384"/>
          </a:xfrm>
          <a:prstGeom prst="roundRect">
            <a:avLst>
              <a:gd name="adj" fmla="val 10465"/>
            </a:avLst>
          </a:prstGeom>
          <a:solidFill>
            <a:srgbClr val="FFFFFF"/>
          </a:solidFill>
          <a:ln w="12700">
            <a:solidFill>
              <a:srgbClr val="D9E2EF"/>
            </a:solidFill>
            <a:prstDash val="solid"/>
          </a:ln>
        </p:spPr>
      </p:sp>
      <p:sp>
        <p:nvSpPr>
          <p:cNvPr id="19" name="Shape 17"/>
          <p:cNvSpPr/>
          <p:nvPr/>
        </p:nvSpPr>
        <p:spPr>
          <a:xfrm>
            <a:off x="1359408" y="2487168"/>
            <a:ext cx="3034690" cy="38100"/>
          </a:xfrm>
          <a:prstGeom prst="rect">
            <a:avLst/>
          </a:prstGeom>
          <a:solidFill>
            <a:srgbClr val="1D4ED8"/>
          </a:solidFill>
          <a:ln w="12700">
            <a:solidFill>
              <a:srgbClr val="1D4ED8"/>
            </a:solidFill>
            <a:prstDash val="solid"/>
          </a:ln>
        </p:spPr>
      </p:sp>
      <p:sp>
        <p:nvSpPr>
          <p:cNvPr id="20" name="Text 18"/>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文号</a:t>
            </a:r>
            <a:endParaRPr lang="en-US" sz="950" dirty="0"/>
          </a:p>
        </p:txBody>
      </p:sp>
      <p:sp>
        <p:nvSpPr>
          <p:cNvPr id="21" name="Text 19"/>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教监管厅〔2026〕1 号</a:t>
            </a:r>
            <a:endParaRPr lang="en-US" sz="1300" dirty="0"/>
          </a:p>
        </p:txBody>
      </p:sp>
      <p:sp>
        <p:nvSpPr>
          <p:cNvPr id="22" name="Shape 20"/>
          <p:cNvSpPr/>
          <p:nvPr/>
        </p:nvSpPr>
        <p:spPr>
          <a:xfrm>
            <a:off x="4704994" y="2487168"/>
            <a:ext cx="3162706" cy="786384"/>
          </a:xfrm>
          <a:prstGeom prst="roundRect">
            <a:avLst>
              <a:gd name="adj" fmla="val 10465"/>
            </a:avLst>
          </a:prstGeom>
          <a:solidFill>
            <a:srgbClr val="FFFFFF"/>
          </a:solidFill>
          <a:ln w="12700">
            <a:solidFill>
              <a:srgbClr val="D9E2EF"/>
            </a:solidFill>
            <a:prstDash val="solid"/>
          </a:ln>
        </p:spPr>
      </p:sp>
      <p:sp>
        <p:nvSpPr>
          <p:cNvPr id="23" name="Shape 21"/>
          <p:cNvSpPr/>
          <p:nvPr/>
        </p:nvSpPr>
        <p:spPr>
          <a:xfrm>
            <a:off x="4769002" y="2487168"/>
            <a:ext cx="3034690" cy="38100"/>
          </a:xfrm>
          <a:prstGeom prst="rect">
            <a:avLst/>
          </a:prstGeom>
          <a:solidFill>
            <a:srgbClr val="1D4ED8"/>
          </a:solidFill>
          <a:ln w="12700">
            <a:solidFill>
              <a:srgbClr val="1D4ED8"/>
            </a:solidFill>
            <a:prstDash val="solid"/>
          </a:ln>
        </p:spPr>
      </p:sp>
      <p:sp>
        <p:nvSpPr>
          <p:cNvPr id="24" name="Text 22"/>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印发</a:t>
            </a:r>
            <a:endParaRPr lang="en-US" sz="950" dirty="0"/>
          </a:p>
        </p:txBody>
      </p:sp>
      <p:sp>
        <p:nvSpPr>
          <p:cNvPr id="25" name="Text 23"/>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教育部办公厅</a:t>
            </a:r>
            <a:endParaRPr lang="en-US" sz="1300" dirty="0"/>
          </a:p>
        </p:txBody>
      </p:sp>
      <p:sp>
        <p:nvSpPr>
          <p:cNvPr id="26" name="Shape 24"/>
          <p:cNvSpPr/>
          <p:nvPr/>
        </p:nvSpPr>
        <p:spPr>
          <a:xfrm>
            <a:off x="8114589" y="2487168"/>
            <a:ext cx="3162706" cy="786384"/>
          </a:xfrm>
          <a:prstGeom prst="roundRect">
            <a:avLst>
              <a:gd name="adj" fmla="val 10465"/>
            </a:avLst>
          </a:prstGeom>
          <a:solidFill>
            <a:srgbClr val="FFFFFF"/>
          </a:solidFill>
          <a:ln w="12700">
            <a:solidFill>
              <a:srgbClr val="D9E2EF"/>
            </a:solidFill>
            <a:prstDash val="solid"/>
          </a:ln>
        </p:spPr>
      </p:sp>
      <p:sp>
        <p:nvSpPr>
          <p:cNvPr id="27" name="Shape 25"/>
          <p:cNvSpPr/>
          <p:nvPr/>
        </p:nvSpPr>
        <p:spPr>
          <a:xfrm>
            <a:off x="8178597" y="2487168"/>
            <a:ext cx="3034690" cy="38100"/>
          </a:xfrm>
          <a:prstGeom prst="rect">
            <a:avLst/>
          </a:prstGeom>
          <a:solidFill>
            <a:srgbClr val="1D4ED8"/>
          </a:solidFill>
          <a:ln w="12700">
            <a:solidFill>
              <a:srgbClr val="1D4ED8"/>
            </a:solidFill>
            <a:prstDash val="solid"/>
          </a:ln>
        </p:spPr>
      </p:sp>
      <p:sp>
        <p:nvSpPr>
          <p:cNvPr id="28" name="Text 26"/>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日期</a:t>
            </a:r>
            <a:endParaRPr lang="en-US" sz="950" dirty="0"/>
          </a:p>
        </p:txBody>
      </p:sp>
      <p:sp>
        <p:nvSpPr>
          <p:cNvPr id="29" name="Text 27"/>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2026 年 7 月 29 日</a:t>
            </a:r>
            <a:endParaRPr lang="en-US" sz="1300" dirty="0"/>
          </a:p>
        </p:txBody>
      </p:sp>
      <p:sp>
        <p:nvSpPr>
          <p:cNvPr id="30" name="Text 28"/>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7" name="Shape 15"/>
          <p:cNvSpPr/>
          <p:nvPr/>
        </p:nvSpPr>
        <p:spPr>
          <a:xfrm>
            <a:off x="1295400" y="1860804"/>
            <a:ext cx="9981895" cy="1298448"/>
          </a:xfrm>
          <a:prstGeom prst="roundRect">
            <a:avLst>
              <a:gd name="adj" fmla="val 6338"/>
            </a:avLst>
          </a:prstGeom>
          <a:solidFill>
            <a:srgbClr val="FFFFFF"/>
          </a:solidFill>
          <a:ln w="12700">
            <a:solidFill>
              <a:srgbClr val="D9E2EF"/>
            </a:solidFill>
            <a:prstDash val="solid"/>
          </a:ln>
        </p:spPr>
      </p:sp>
      <p:sp>
        <p:nvSpPr>
          <p:cNvPr id="18" name="Shape 16"/>
          <p:cNvSpPr/>
          <p:nvPr/>
        </p:nvSpPr>
        <p:spPr>
          <a:xfrm>
            <a:off x="1295400" y="1915668"/>
            <a:ext cx="38100" cy="1188720"/>
          </a:xfrm>
          <a:prstGeom prst="rect">
            <a:avLst/>
          </a:prstGeom>
          <a:solidFill>
            <a:srgbClr val="2563EB"/>
          </a:solidFill>
          <a:ln w="12700">
            <a:solidFill>
              <a:srgbClr val="2563EB"/>
            </a:solidFill>
            <a:prstDash val="solid"/>
          </a:ln>
        </p:spPr>
      </p:sp>
      <p:sp>
        <p:nvSpPr>
          <p:cNvPr id="19" name="Text 17"/>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27364A"/>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20" name="Text 18"/>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1" name="Shape 19"/>
          <p:cNvSpPr/>
          <p:nvPr/>
        </p:nvSpPr>
        <p:spPr>
          <a:xfrm>
            <a:off x="1295400" y="3913632"/>
            <a:ext cx="1549349" cy="786384"/>
          </a:xfrm>
          <a:prstGeom prst="roundRect">
            <a:avLst>
              <a:gd name="adj" fmla="val 10465"/>
            </a:avLst>
          </a:prstGeom>
          <a:solidFill>
            <a:srgbClr val="FFFFFF"/>
          </a:solidFill>
          <a:ln w="12700">
            <a:solidFill>
              <a:srgbClr val="D9E2EF"/>
            </a:solidFill>
            <a:prstDash val="solid"/>
          </a:ln>
        </p:spPr>
      </p:sp>
      <p:sp>
        <p:nvSpPr>
          <p:cNvPr id="22" name="Shape 20"/>
          <p:cNvSpPr/>
          <p:nvPr/>
        </p:nvSpPr>
        <p:spPr>
          <a:xfrm>
            <a:off x="1359408" y="3913632"/>
            <a:ext cx="1421333" cy="38100"/>
          </a:xfrm>
          <a:prstGeom prst="rect">
            <a:avLst/>
          </a:prstGeom>
          <a:solidFill>
            <a:srgbClr val="1D4ED8"/>
          </a:solidFill>
          <a:ln w="12700">
            <a:solidFill>
              <a:srgbClr val="1D4ED8"/>
            </a:solidFill>
            <a:prstDash val="solid"/>
          </a:ln>
        </p:spPr>
      </p:sp>
      <p:sp>
        <p:nvSpPr>
          <p:cNvPr id="23" name="Text 21"/>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一</a:t>
            </a:r>
            <a:endParaRPr lang="en-US" sz="950" dirty="0"/>
          </a:p>
        </p:txBody>
      </p:sp>
      <p:sp>
        <p:nvSpPr>
          <p:cNvPr id="24" name="Text 22"/>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提出问题和假设</a:t>
            </a:r>
            <a:endParaRPr lang="en-US" sz="1150" dirty="0"/>
          </a:p>
        </p:txBody>
      </p:sp>
      <p:sp>
        <p:nvSpPr>
          <p:cNvPr id="25" name="Shape 23"/>
          <p:cNvSpPr/>
          <p:nvPr/>
        </p:nvSpPr>
        <p:spPr>
          <a:xfrm>
            <a:off x="2981909" y="3913632"/>
            <a:ext cx="1549349" cy="786384"/>
          </a:xfrm>
          <a:prstGeom prst="roundRect">
            <a:avLst>
              <a:gd name="adj" fmla="val 10465"/>
            </a:avLst>
          </a:prstGeom>
          <a:solidFill>
            <a:srgbClr val="FFFFFF"/>
          </a:solidFill>
          <a:ln w="12700">
            <a:solidFill>
              <a:srgbClr val="D9E2EF"/>
            </a:solidFill>
            <a:prstDash val="solid"/>
          </a:ln>
        </p:spPr>
      </p:sp>
      <p:sp>
        <p:nvSpPr>
          <p:cNvPr id="26" name="Shape 24"/>
          <p:cNvSpPr/>
          <p:nvPr/>
        </p:nvSpPr>
        <p:spPr>
          <a:xfrm>
            <a:off x="3045917" y="3913632"/>
            <a:ext cx="1421333" cy="38100"/>
          </a:xfrm>
          <a:prstGeom prst="rect">
            <a:avLst/>
          </a:prstGeom>
          <a:solidFill>
            <a:srgbClr val="1D4ED8"/>
          </a:solidFill>
          <a:ln w="12700">
            <a:solidFill>
              <a:srgbClr val="1D4ED8"/>
            </a:solidFill>
            <a:prstDash val="solid"/>
          </a:ln>
        </p:spPr>
      </p:sp>
      <p:sp>
        <p:nvSpPr>
          <p:cNvPr id="27" name="Text 25"/>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二</a:t>
            </a:r>
            <a:endParaRPr lang="en-US" sz="950" dirty="0"/>
          </a:p>
        </p:txBody>
      </p:sp>
      <p:sp>
        <p:nvSpPr>
          <p:cNvPr id="28" name="Text 26"/>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设计方案</a:t>
            </a:r>
            <a:endParaRPr lang="en-US" sz="1150" dirty="0"/>
          </a:p>
        </p:txBody>
      </p:sp>
      <p:sp>
        <p:nvSpPr>
          <p:cNvPr id="29" name="Shape 27"/>
          <p:cNvSpPr/>
          <p:nvPr/>
        </p:nvSpPr>
        <p:spPr>
          <a:xfrm>
            <a:off x="4668418" y="3913632"/>
            <a:ext cx="1549349" cy="786384"/>
          </a:xfrm>
          <a:prstGeom prst="roundRect">
            <a:avLst>
              <a:gd name="adj" fmla="val 10465"/>
            </a:avLst>
          </a:prstGeom>
          <a:solidFill>
            <a:srgbClr val="FFFFFF"/>
          </a:solidFill>
          <a:ln w="12700">
            <a:solidFill>
              <a:srgbClr val="D9E2EF"/>
            </a:solidFill>
            <a:prstDash val="solid"/>
          </a:ln>
        </p:spPr>
      </p:sp>
      <p:sp>
        <p:nvSpPr>
          <p:cNvPr id="30" name="Shape 28"/>
          <p:cNvSpPr/>
          <p:nvPr/>
        </p:nvSpPr>
        <p:spPr>
          <a:xfrm>
            <a:off x="4732426" y="3913632"/>
            <a:ext cx="1421333" cy="38100"/>
          </a:xfrm>
          <a:prstGeom prst="rect">
            <a:avLst/>
          </a:prstGeom>
          <a:solidFill>
            <a:srgbClr val="1D4ED8"/>
          </a:solidFill>
          <a:ln w="12700">
            <a:solidFill>
              <a:srgbClr val="1D4ED8"/>
            </a:solidFill>
            <a:prstDash val="solid"/>
          </a:ln>
        </p:spPr>
      </p:sp>
      <p:sp>
        <p:nvSpPr>
          <p:cNvPr id="31" name="Text 29"/>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三</a:t>
            </a:r>
            <a:endParaRPr lang="en-US" sz="950" dirty="0"/>
          </a:p>
        </p:txBody>
      </p:sp>
      <p:sp>
        <p:nvSpPr>
          <p:cNvPr id="32" name="Text 30"/>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搜集分析证据</a:t>
            </a:r>
            <a:endParaRPr lang="en-US" sz="1150" dirty="0"/>
          </a:p>
        </p:txBody>
      </p:sp>
      <p:sp>
        <p:nvSpPr>
          <p:cNvPr id="33" name="Shape 31"/>
          <p:cNvSpPr/>
          <p:nvPr/>
        </p:nvSpPr>
        <p:spPr>
          <a:xfrm>
            <a:off x="6354928" y="3913632"/>
            <a:ext cx="1549349" cy="786384"/>
          </a:xfrm>
          <a:prstGeom prst="roundRect">
            <a:avLst>
              <a:gd name="adj" fmla="val 10465"/>
            </a:avLst>
          </a:prstGeom>
          <a:solidFill>
            <a:srgbClr val="FFFFFF"/>
          </a:solidFill>
          <a:ln w="12700">
            <a:solidFill>
              <a:srgbClr val="D9E2EF"/>
            </a:solidFill>
            <a:prstDash val="solid"/>
          </a:ln>
        </p:spPr>
      </p:sp>
      <p:sp>
        <p:nvSpPr>
          <p:cNvPr id="34" name="Shape 32"/>
          <p:cNvSpPr/>
          <p:nvPr/>
        </p:nvSpPr>
        <p:spPr>
          <a:xfrm>
            <a:off x="6418936" y="3913632"/>
            <a:ext cx="1421333" cy="38100"/>
          </a:xfrm>
          <a:prstGeom prst="rect">
            <a:avLst/>
          </a:prstGeom>
          <a:solidFill>
            <a:srgbClr val="1D4ED8"/>
          </a:solidFill>
          <a:ln w="12700">
            <a:solidFill>
              <a:srgbClr val="1D4ED8"/>
            </a:solidFill>
            <a:prstDash val="solid"/>
          </a:ln>
        </p:spPr>
      </p:sp>
      <p:sp>
        <p:nvSpPr>
          <p:cNvPr id="35" name="Text 33"/>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四</a:t>
            </a:r>
            <a:endParaRPr lang="en-US" sz="950" dirty="0"/>
          </a:p>
        </p:txBody>
      </p:sp>
      <p:sp>
        <p:nvSpPr>
          <p:cNvPr id="36" name="Text 34"/>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得出结论并解释</a:t>
            </a:r>
            <a:endParaRPr lang="en-US" sz="1150" dirty="0"/>
          </a:p>
        </p:txBody>
      </p:sp>
      <p:sp>
        <p:nvSpPr>
          <p:cNvPr id="37" name="Shape 35"/>
          <p:cNvSpPr/>
          <p:nvPr/>
        </p:nvSpPr>
        <p:spPr>
          <a:xfrm>
            <a:off x="8041437" y="3913632"/>
            <a:ext cx="1549349" cy="786384"/>
          </a:xfrm>
          <a:prstGeom prst="roundRect">
            <a:avLst>
              <a:gd name="adj" fmla="val 10465"/>
            </a:avLst>
          </a:prstGeom>
          <a:solidFill>
            <a:srgbClr val="FFFFFF"/>
          </a:solidFill>
          <a:ln w="12700">
            <a:solidFill>
              <a:srgbClr val="D9E2EF"/>
            </a:solidFill>
            <a:prstDash val="solid"/>
          </a:ln>
        </p:spPr>
      </p:sp>
      <p:sp>
        <p:nvSpPr>
          <p:cNvPr id="38" name="Shape 36"/>
          <p:cNvSpPr/>
          <p:nvPr/>
        </p:nvSpPr>
        <p:spPr>
          <a:xfrm>
            <a:off x="8105445" y="3913632"/>
            <a:ext cx="1421333" cy="38100"/>
          </a:xfrm>
          <a:prstGeom prst="rect">
            <a:avLst/>
          </a:prstGeom>
          <a:solidFill>
            <a:srgbClr val="1D4ED8"/>
          </a:solidFill>
          <a:ln w="12700">
            <a:solidFill>
              <a:srgbClr val="1D4ED8"/>
            </a:solidFill>
            <a:prstDash val="solid"/>
          </a:ln>
        </p:spPr>
      </p:sp>
      <p:sp>
        <p:nvSpPr>
          <p:cNvPr id="39" name="Text 37"/>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五</a:t>
            </a:r>
            <a:endParaRPr lang="en-US" sz="950" dirty="0"/>
          </a:p>
        </p:txBody>
      </p:sp>
      <p:sp>
        <p:nvSpPr>
          <p:cNvPr id="40" name="Text 38"/>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制作改进</a:t>
            </a:r>
            <a:endParaRPr lang="en-US" sz="1150" dirty="0"/>
          </a:p>
        </p:txBody>
      </p:sp>
      <p:sp>
        <p:nvSpPr>
          <p:cNvPr id="41" name="Shape 39"/>
          <p:cNvSpPr/>
          <p:nvPr/>
        </p:nvSpPr>
        <p:spPr>
          <a:xfrm>
            <a:off x="9727946" y="3913632"/>
            <a:ext cx="1549349" cy="786384"/>
          </a:xfrm>
          <a:prstGeom prst="roundRect">
            <a:avLst>
              <a:gd name="adj" fmla="val 10465"/>
            </a:avLst>
          </a:prstGeom>
          <a:solidFill>
            <a:srgbClr val="FFFFFF"/>
          </a:solidFill>
          <a:ln w="12700">
            <a:solidFill>
              <a:srgbClr val="D9E2EF"/>
            </a:solidFill>
            <a:prstDash val="solid"/>
          </a:ln>
        </p:spPr>
      </p:sp>
      <p:sp>
        <p:nvSpPr>
          <p:cNvPr id="42" name="Shape 40"/>
          <p:cNvSpPr/>
          <p:nvPr/>
        </p:nvSpPr>
        <p:spPr>
          <a:xfrm>
            <a:off x="9791954" y="3913632"/>
            <a:ext cx="1421333" cy="38100"/>
          </a:xfrm>
          <a:prstGeom prst="rect">
            <a:avLst/>
          </a:prstGeom>
          <a:solidFill>
            <a:srgbClr val="1D4ED8"/>
          </a:solidFill>
          <a:ln w="12700">
            <a:solidFill>
              <a:srgbClr val="1D4ED8"/>
            </a:solidFill>
            <a:prstDash val="solid"/>
          </a:ln>
        </p:spPr>
      </p:sp>
      <p:sp>
        <p:nvSpPr>
          <p:cNvPr id="43" name="Text 41"/>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六</a:t>
            </a:r>
            <a:endParaRPr lang="en-US" sz="950" dirty="0"/>
          </a:p>
        </p:txBody>
      </p:sp>
      <p:sp>
        <p:nvSpPr>
          <p:cNvPr id="44" name="Text 42"/>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交流反思</a:t>
            </a:r>
            <a:endParaRPr lang="en-US" sz="1150" dirty="0"/>
          </a:p>
        </p:txBody>
      </p:sp>
      <p:sp>
        <p:nvSpPr>
          <p:cNvPr id="45" name="Shape 43"/>
          <p:cNvSpPr/>
          <p:nvPr/>
        </p:nvSpPr>
        <p:spPr>
          <a:xfrm>
            <a:off x="1295400" y="5888736"/>
            <a:ext cx="9981895" cy="0"/>
          </a:xfrm>
          <a:prstGeom prst="line">
            <a:avLst/>
          </a:prstGeom>
          <a:noFill/>
          <a:ln w="12700">
            <a:solidFill>
              <a:srgbClr val="D9E2EF"/>
            </a:solidFill>
            <a:prstDash val="solid"/>
          </a:ln>
        </p:spPr>
      </p:sp>
      <p:sp>
        <p:nvSpPr>
          <p:cNvPr id="46" name="Text 4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四项培养目标</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价值体认</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责任担当</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问题解决</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创意物化</a:t>
            </a:r>
            <a:endParaRPr lang="en-US" sz="1400" dirty="0"/>
          </a:p>
        </p:txBody>
      </p:sp>
      <p:sp>
        <p:nvSpPr>
          <p:cNvPr id="26" name="Text 24"/>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四种活动方式</a:t>
            </a:r>
            <a:endParaRPr lang="en-US" sz="950" dirty="0"/>
          </a:p>
        </p:txBody>
      </p:sp>
      <p:sp>
        <p:nvSpPr>
          <p:cNvPr id="27" name="Shape 25"/>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28" name="Text 26"/>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考察探究</a:t>
            </a:r>
            <a:endParaRPr lang="en-US" sz="1400" dirty="0"/>
          </a:p>
        </p:txBody>
      </p:sp>
      <p:sp>
        <p:nvSpPr>
          <p:cNvPr id="29" name="Shape 27"/>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0" name="Text 28"/>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社会服务</a:t>
            </a:r>
            <a:endParaRPr lang="en-US" sz="1400" dirty="0"/>
          </a:p>
        </p:txBody>
      </p:sp>
      <p:sp>
        <p:nvSpPr>
          <p:cNvPr id="31" name="Shape 29"/>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设计制作</a:t>
            </a:r>
            <a:endParaRPr lang="en-US" sz="1400" dirty="0"/>
          </a:p>
        </p:txBody>
      </p:sp>
      <p:sp>
        <p:nvSpPr>
          <p:cNvPr id="33" name="Shape 31"/>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职业体验</a:t>
            </a:r>
            <a:endParaRPr lang="en-US" sz="1400" dirty="0"/>
          </a:p>
        </p:txBody>
      </p:sp>
      <p:sp>
        <p:nvSpPr>
          <p:cNvPr id="35" name="Text 33"/>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六个环节</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提出问题和假设</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设计方案</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搜集分析证据</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得出结论并解释</a:t>
            </a:r>
            <a:endParaRPr lang="en-US" sz="1400" dirty="0"/>
          </a:p>
        </p:txBody>
      </p:sp>
      <p:sp>
        <p:nvSpPr>
          <p:cNvPr id="26" name="Shape 24"/>
          <p:cNvSpPr/>
          <p:nvPr/>
        </p:nvSpPr>
        <p:spPr>
          <a:xfrm>
            <a:off x="1295400" y="4110228"/>
            <a:ext cx="4762348" cy="402336"/>
          </a:xfrm>
          <a:prstGeom prst="roundRect">
            <a:avLst>
              <a:gd name="adj" fmla="val 15909"/>
            </a:avLst>
          </a:prstGeom>
          <a:solidFill>
            <a:srgbClr val="FFFFFF"/>
          </a:solidFill>
          <a:ln w="12700">
            <a:solidFill>
              <a:srgbClr val="D9E2EF"/>
            </a:solidFill>
            <a:prstDash val="solid"/>
          </a:ln>
        </p:spPr>
      </p:sp>
      <p:sp>
        <p:nvSpPr>
          <p:cNvPr id="27" name="Text 25"/>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制作改进</a:t>
            </a:r>
            <a:endParaRPr lang="en-US" sz="1400" dirty="0"/>
          </a:p>
        </p:txBody>
      </p:sp>
      <p:sp>
        <p:nvSpPr>
          <p:cNvPr id="28" name="Shape 26"/>
          <p:cNvSpPr/>
          <p:nvPr/>
        </p:nvSpPr>
        <p:spPr>
          <a:xfrm>
            <a:off x="1295400" y="4594860"/>
            <a:ext cx="4762348" cy="402336"/>
          </a:xfrm>
          <a:prstGeom prst="roundRect">
            <a:avLst>
              <a:gd name="adj" fmla="val 15909"/>
            </a:avLst>
          </a:prstGeom>
          <a:solidFill>
            <a:srgbClr val="FFFFFF"/>
          </a:solidFill>
          <a:ln w="12700">
            <a:solidFill>
              <a:srgbClr val="D9E2EF"/>
            </a:solidFill>
            <a:prstDash val="solid"/>
          </a:ln>
        </p:spPr>
      </p:sp>
      <p:sp>
        <p:nvSpPr>
          <p:cNvPr id="29" name="Text 27"/>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交流反思</a:t>
            </a:r>
            <a:endParaRPr lang="en-US" sz="1400" dirty="0"/>
          </a:p>
        </p:txBody>
      </p:sp>
      <p:sp>
        <p:nvSpPr>
          <p:cNvPr id="30" name="Text 28"/>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四个评价维度</a:t>
            </a:r>
            <a:endParaRPr lang="en-US" sz="950" dirty="0"/>
          </a:p>
        </p:txBody>
      </p:sp>
      <p:sp>
        <p:nvSpPr>
          <p:cNvPr id="31" name="Shape 29"/>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问题意识</a:t>
            </a:r>
            <a:endParaRPr lang="en-US" sz="1400" dirty="0"/>
          </a:p>
        </p:txBody>
      </p:sp>
      <p:sp>
        <p:nvSpPr>
          <p:cNvPr id="33" name="Shape 31"/>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探究实践能力</a:t>
            </a:r>
            <a:endParaRPr lang="en-US" sz="1400" dirty="0"/>
          </a:p>
        </p:txBody>
      </p:sp>
      <p:sp>
        <p:nvSpPr>
          <p:cNvPr id="35" name="Shape 33"/>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6" name="Text 34"/>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反思改进能力</a:t>
            </a:r>
            <a:endParaRPr lang="en-US" sz="1400" dirty="0"/>
          </a:p>
        </p:txBody>
      </p:sp>
      <p:sp>
        <p:nvSpPr>
          <p:cNvPr id="37" name="Shape 35"/>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8" name="Text 36"/>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合作交流能力</a:t>
            </a:r>
            <a:endParaRPr lang="en-US" sz="1400" dirty="0"/>
          </a:p>
        </p:txBody>
      </p:sp>
      <p:sp>
        <p:nvSpPr>
          <p:cNvPr id="39" name="Text 37"/>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7" name="Image 0" descr="/Users/tonyxin/Documents/Codex/2026-08-22/https-github-com-tonyxinvip-slides-https/work/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081B3A"/>
          </a:solidFill>
          <a:ln w="25400">
            <a:solidFill>
              <a:srgbClr val="5F7088"/>
            </a:solidFill>
            <a:prstDash val="solid"/>
          </a:ln>
        </p:spPr>
      </p:sp>
      <p:sp>
        <p:nvSpPr>
          <p:cNvPr id="6" name="Shape 4"/>
          <p:cNvSpPr/>
          <p:nvPr/>
        </p:nvSpPr>
        <p:spPr>
          <a:xfrm>
            <a:off x="485775" y="2702719"/>
            <a:ext cx="95250" cy="95250"/>
          </a:xfrm>
          <a:prstGeom prst="ellipse">
            <a:avLst/>
          </a:prstGeom>
          <a:solidFill>
            <a:srgbClr val="081B3A"/>
          </a:solidFill>
          <a:ln w="25400">
            <a:solidFill>
              <a:srgbClr val="5F7088"/>
            </a:solidFill>
            <a:prstDash val="solid"/>
          </a:ln>
        </p:spPr>
      </p:sp>
      <p:sp>
        <p:nvSpPr>
          <p:cNvPr id="7" name="Shape 5"/>
          <p:cNvSpPr/>
          <p:nvPr/>
        </p:nvSpPr>
        <p:spPr>
          <a:xfrm>
            <a:off x="485775" y="3314700"/>
            <a:ext cx="95250" cy="95250"/>
          </a:xfrm>
          <a:prstGeom prst="ellipse">
            <a:avLst/>
          </a:prstGeom>
          <a:solidFill>
            <a:srgbClr val="081B3A"/>
          </a:solidFill>
          <a:ln w="25400">
            <a:solidFill>
              <a:srgbClr val="5F7088"/>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本场主张</a:t>
            </a:r>
            <a:endParaRPr lang="en-US" sz="1000" dirty="0"/>
          </a:p>
        </p:txBody>
      </p:sp>
      <p:sp>
        <p:nvSpPr>
          <p:cNvPr id="16" name="Shape 14"/>
          <p:cNvSpPr/>
          <p:nvPr/>
        </p:nvSpPr>
        <p:spPr>
          <a:xfrm>
            <a:off x="1295400" y="2651760"/>
            <a:ext cx="45720" cy="1234440"/>
          </a:xfrm>
          <a:prstGeom prst="rect">
            <a:avLst/>
          </a:prstGeom>
          <a:solidFill>
            <a:srgbClr val="C2552F"/>
          </a:solidFill>
          <a:ln w="12700">
            <a:solidFill>
              <a:srgbClr val="C2552F"/>
            </a:solidFill>
            <a:prstDash val="solid"/>
          </a:ln>
        </p:spPr>
      </p:sp>
      <p:sp>
        <p:nvSpPr>
          <p:cNvPr id="17" name="Text 15"/>
          <p:cNvSpPr/>
          <p:nvPr/>
        </p:nvSpPr>
        <p:spPr>
          <a:xfrm>
            <a:off x="1551432" y="2615184"/>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生成式 AI 并非本课程既有问题的通用解决方案，而是影响课程实施的双向变量：使用不当时，它可能替代学生应完成的认知活动；用于教师侧时，它可辅助资料整理、初稿生成与表达加工。</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不同活动方式的成果可替代程度</a:t>
            </a:r>
            <a:endParaRPr lang="en-US" sz="3200" dirty="0"/>
          </a:p>
        </p:txBody>
      </p:sp>
      <p:pic>
        <p:nvPicPr>
          <p:cNvPr id="17" name="Image 0" descr="/Users/tonyxin/Documents/Codex/2026-08-22/https-github-com-tonyxinvip-slides-https/work/slides/comprehensive-practice-ai/figures/impact.png">    </p:cNvPr>
          <p:cNvPicPr>
            <a:picLocks noChangeAspect="1"/>
          </p:cNvPicPr>
          <p:nvPr/>
        </p:nvPicPr>
        <p:blipFill>
          <a:blip r:embed="rId1"/>
          <a:stretch>
            <a:fillRect/>
          </a:stretch>
        </p:blipFill>
        <p:spPr>
          <a:xfrm>
            <a:off x="1778257" y="2080260"/>
            <a:ext cx="9016181" cy="3200400"/>
          </a:xfrm>
          <a:prstGeom prst="rect">
            <a:avLst/>
          </a:prstGeom>
        </p:spPr>
      </p:pic>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成果可替代程度，指不考察完成过程时，生成式 AI 系统能否产出形式相近的成果。本页是分析判断，不是测量数据，故不设数值轴。四种活动方式出自《中小学综合实践活动课程指导纲要》（教材〔2017〕4 号）。</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活动覆盖范围与成果可替代程度的关系</a:t>
            </a:r>
            <a:endParaRPr lang="en-US" sz="3200" dirty="0"/>
          </a:p>
        </p:txBody>
      </p:sp>
      <p:pic>
        <p:nvPicPr>
          <p:cNvPr id="17" name="Image 0" descr="/Users/tonyxin/Documents/Codex/2026-08-22/https-github-com-tonyxinvip-slides-https/work/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8" name="Text 15"/>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27364A"/>
                </a:solidFill>
                <a:latin typeface="Microsoft YaHei" pitchFamily="34" charset="0"/>
                <a:ea typeface="Microsoft YaHei" pitchFamily="34" charset="-122"/>
                <a:cs typeface="Microsoft YaHei" pitchFamily="34" charset="-120"/>
              </a:rPr>
              <a:t>做中学未覆盖的两种活动方式，与成果可替代程度较低的两种活动方式重合。</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做中学对已覆盖活动提出了更高实施要求</a:t>
            </a:r>
            <a:endParaRPr lang="en-US" sz="3200" dirty="0"/>
          </a:p>
        </p:txBody>
      </p:sp>
      <p:sp>
        <p:nvSpPr>
          <p:cNvPr id="17" name="Text 15"/>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1</a:t>
            </a:r>
            <a:endParaRPr lang="en-US" sz="1500" dirty="0"/>
          </a:p>
        </p:txBody>
      </p:sp>
      <p:sp>
        <p:nvSpPr>
          <p:cNvPr id="18" name="Text 16"/>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考察探究与设计制作仍是课程实施的重要内容，并增加了试错、改进与物化要求。</a:t>
            </a:r>
            <a:endParaRPr lang="en-US" sz="1600" dirty="0"/>
          </a:p>
        </p:txBody>
      </p:sp>
      <p:sp>
        <p:nvSpPr>
          <p:cNvPr id="19" name="Text 17"/>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2</a:t>
            </a:r>
            <a:endParaRPr lang="en-US" sz="1500" dirty="0"/>
          </a:p>
        </p:txBody>
      </p:sp>
      <p:sp>
        <p:nvSpPr>
          <p:cNvPr id="20" name="Text 18"/>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任务周期紧张时，生成式 AI 系统容易被用于缩短方案形成、资料整理与成果表达的时间。</a:t>
            </a:r>
            <a:endParaRPr lang="en-US" sz="1600" dirty="0"/>
          </a:p>
        </p:txBody>
      </p:sp>
      <p:sp>
        <p:nvSpPr>
          <p:cNvPr id="21" name="Text 19"/>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3</a:t>
            </a:r>
            <a:endParaRPr lang="en-US" sz="1500" dirty="0"/>
          </a:p>
        </p:txBody>
      </p:sp>
      <p:sp>
        <p:nvSpPr>
          <p:cNvPr id="22" name="Text 20"/>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当系统介入学生应亲自完成的环节时，效率提高可能伴随学习过程减少。</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7" name="Shape 15"/>
          <p:cNvSpPr/>
          <p:nvPr/>
        </p:nvSpPr>
        <p:spPr>
          <a:xfrm>
            <a:off x="1295400" y="2286000"/>
            <a:ext cx="4798924" cy="530352"/>
          </a:xfrm>
          <a:prstGeom prst="roundRect">
            <a:avLst>
              <a:gd name="adj" fmla="val 12069"/>
            </a:avLst>
          </a:prstGeom>
          <a:solidFill>
            <a:srgbClr val="FFFFFF"/>
          </a:solidFill>
          <a:ln w="12700">
            <a:solidFill>
              <a:srgbClr val="D9E2EF"/>
            </a:solidFill>
            <a:prstDash val="solid"/>
          </a:ln>
        </p:spPr>
      </p:sp>
      <p:sp>
        <p:nvSpPr>
          <p:cNvPr id="18" name="Text 16"/>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01</a:t>
            </a:r>
            <a:endParaRPr lang="en-US" sz="1200" dirty="0"/>
          </a:p>
        </p:txBody>
      </p:sp>
      <p:sp>
        <p:nvSpPr>
          <p:cNvPr id="19" name="Text 17"/>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课时被挤占</a:t>
            </a:r>
            <a:endParaRPr lang="en-US" sz="1450" dirty="0"/>
          </a:p>
        </p:txBody>
      </p:sp>
      <p:sp>
        <p:nvSpPr>
          <p:cNvPr id="20" name="Shape 18"/>
          <p:cNvSpPr/>
          <p:nvPr/>
        </p:nvSpPr>
        <p:spPr>
          <a:xfrm>
            <a:off x="6478372" y="2286000"/>
            <a:ext cx="4798924" cy="530352"/>
          </a:xfrm>
          <a:prstGeom prst="roundRect">
            <a:avLst>
              <a:gd name="adj" fmla="val 12069"/>
            </a:avLst>
          </a:prstGeom>
          <a:solidFill>
            <a:srgbClr val="FFFFFF"/>
          </a:solidFill>
          <a:ln w="12700">
            <a:solidFill>
              <a:srgbClr val="D9E2EF"/>
            </a:solidFill>
            <a:prstDash val="solid"/>
          </a:ln>
        </p:spPr>
      </p:sp>
      <p:sp>
        <p:nvSpPr>
          <p:cNvPr id="21" name="Text 19"/>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02</a:t>
            </a:r>
            <a:endParaRPr lang="en-US" sz="1200" dirty="0"/>
          </a:p>
        </p:txBody>
      </p:sp>
      <p:sp>
        <p:nvSpPr>
          <p:cNvPr id="22" name="Text 20"/>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师资兼任</a:t>
            </a:r>
            <a:endParaRPr lang="en-US" sz="1450" dirty="0"/>
          </a:p>
        </p:txBody>
      </p:sp>
      <p:sp>
        <p:nvSpPr>
          <p:cNvPr id="23" name="Shape 21"/>
          <p:cNvSpPr/>
          <p:nvPr/>
        </p:nvSpPr>
        <p:spPr>
          <a:xfrm>
            <a:off x="1295400" y="2962656"/>
            <a:ext cx="4798924" cy="530352"/>
          </a:xfrm>
          <a:prstGeom prst="roundRect">
            <a:avLst>
              <a:gd name="adj" fmla="val 12069"/>
            </a:avLst>
          </a:prstGeom>
          <a:solidFill>
            <a:srgbClr val="FFFFFF"/>
          </a:solidFill>
          <a:ln w="12700">
            <a:solidFill>
              <a:srgbClr val="D9E2EF"/>
            </a:solidFill>
            <a:prstDash val="solid"/>
          </a:ln>
        </p:spPr>
      </p:sp>
      <p:sp>
        <p:nvSpPr>
          <p:cNvPr id="24" name="Text 22"/>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03</a:t>
            </a:r>
            <a:endParaRPr lang="en-US" sz="1200" dirty="0"/>
          </a:p>
        </p:txBody>
      </p:sp>
      <p:sp>
        <p:nvSpPr>
          <p:cNvPr id="25" name="Text 23"/>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6" name="Shape 24"/>
          <p:cNvSpPr/>
          <p:nvPr/>
        </p:nvSpPr>
        <p:spPr>
          <a:xfrm>
            <a:off x="6478372" y="2962656"/>
            <a:ext cx="4798924" cy="530352"/>
          </a:xfrm>
          <a:prstGeom prst="roundRect">
            <a:avLst>
              <a:gd name="adj" fmla="val 12069"/>
            </a:avLst>
          </a:prstGeom>
          <a:solidFill>
            <a:srgbClr val="FFFFFF"/>
          </a:solidFill>
          <a:ln w="12700">
            <a:solidFill>
              <a:srgbClr val="D9E2EF"/>
            </a:solidFill>
            <a:prstDash val="solid"/>
          </a:ln>
        </p:spPr>
      </p:sp>
      <p:sp>
        <p:nvSpPr>
          <p:cNvPr id="27" name="Text 25"/>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04</a:t>
            </a:r>
            <a:endParaRPr lang="en-US" sz="1200" dirty="0"/>
          </a:p>
        </p:txBody>
      </p:sp>
      <p:sp>
        <p:nvSpPr>
          <p:cNvPr id="28" name="Text 26"/>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研学只旅不学</a:t>
            </a:r>
            <a:endParaRPr lang="en-US" sz="1450" dirty="0"/>
          </a:p>
        </p:txBody>
      </p:sp>
      <p:sp>
        <p:nvSpPr>
          <p:cNvPr id="29" name="Shape 27"/>
          <p:cNvSpPr/>
          <p:nvPr/>
        </p:nvSpPr>
        <p:spPr>
          <a:xfrm>
            <a:off x="1295400" y="3639312"/>
            <a:ext cx="4798924" cy="530352"/>
          </a:xfrm>
          <a:prstGeom prst="roundRect">
            <a:avLst>
              <a:gd name="adj" fmla="val 12069"/>
            </a:avLst>
          </a:prstGeom>
          <a:solidFill>
            <a:srgbClr val="FFFFFF"/>
          </a:solidFill>
          <a:ln w="12700">
            <a:solidFill>
              <a:srgbClr val="D9E2EF"/>
            </a:solidFill>
            <a:prstDash val="solid"/>
          </a:ln>
        </p:spPr>
      </p:sp>
      <p:sp>
        <p:nvSpPr>
          <p:cNvPr id="30" name="Text 28"/>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05</a:t>
            </a:r>
            <a:endParaRPr lang="en-US" sz="1200" dirty="0"/>
          </a:p>
        </p:txBody>
      </p:sp>
      <p:sp>
        <p:nvSpPr>
          <p:cNvPr id="31" name="Text 29"/>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2" name="Shape 30"/>
          <p:cNvSpPr/>
          <p:nvPr/>
        </p:nvSpPr>
        <p:spPr>
          <a:xfrm>
            <a:off x="6478372" y="3639312"/>
            <a:ext cx="4798924" cy="530352"/>
          </a:xfrm>
          <a:prstGeom prst="roundRect">
            <a:avLst>
              <a:gd name="adj" fmla="val 12069"/>
            </a:avLst>
          </a:prstGeom>
          <a:solidFill>
            <a:srgbClr val="FFFFFF"/>
          </a:solidFill>
          <a:ln w="12700">
            <a:solidFill>
              <a:srgbClr val="D9E2EF"/>
            </a:solidFill>
            <a:prstDash val="solid"/>
          </a:ln>
        </p:spPr>
      </p:sp>
      <p:sp>
        <p:nvSpPr>
          <p:cNvPr id="33" name="Text 31"/>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06</a:t>
            </a:r>
            <a:endParaRPr lang="en-US" sz="1200" dirty="0"/>
          </a:p>
        </p:txBody>
      </p:sp>
      <p:sp>
        <p:nvSpPr>
          <p:cNvPr id="34" name="Text 32"/>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7" name="Shape 15"/>
          <p:cNvSpPr/>
          <p:nvPr/>
        </p:nvSpPr>
        <p:spPr>
          <a:xfrm>
            <a:off x="1295400" y="1860804"/>
            <a:ext cx="9981895" cy="2148840"/>
          </a:xfrm>
          <a:prstGeom prst="roundRect">
            <a:avLst>
              <a:gd name="adj" fmla="val 3830"/>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1D4ED8"/>
          </a:solidFill>
          <a:ln w="12700">
            <a:solidFill>
              <a:srgbClr val="1D4ED8"/>
            </a:solidFill>
            <a:prstDash val="solid"/>
          </a:ln>
        </p:spPr>
      </p:sp>
      <p:sp>
        <p:nvSpPr>
          <p:cNvPr id="19" name="Text 17"/>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20" name="Shape 18"/>
          <p:cNvSpPr/>
          <p:nvPr/>
        </p:nvSpPr>
        <p:spPr>
          <a:xfrm>
            <a:off x="1551432" y="2519172"/>
            <a:ext cx="9469831" cy="0"/>
          </a:xfrm>
          <a:prstGeom prst="line">
            <a:avLst/>
          </a:prstGeom>
          <a:noFill/>
          <a:ln w="12700">
            <a:solidFill>
              <a:srgbClr val="D9E2EF"/>
            </a:solidFill>
            <a:prstDash val="solid"/>
          </a:ln>
        </p:spPr>
      </p:sp>
      <p:sp>
        <p:nvSpPr>
          <p:cNvPr id="21" name="Text 19"/>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2" name="Text 20"/>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3" name="Shape 21"/>
          <p:cNvSpPr/>
          <p:nvPr/>
        </p:nvSpPr>
        <p:spPr>
          <a:xfrm>
            <a:off x="1551432" y="2866644"/>
            <a:ext cx="9469831" cy="0"/>
          </a:xfrm>
          <a:prstGeom prst="line">
            <a:avLst/>
          </a:prstGeom>
          <a:noFill/>
          <a:ln w="12700">
            <a:solidFill>
              <a:srgbClr val="D9E2EF"/>
            </a:solidFill>
            <a:prstDash val="solid"/>
          </a:ln>
        </p:spPr>
      </p:sp>
      <p:sp>
        <p:nvSpPr>
          <p:cNvPr id="24" name="Text 22"/>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构成</a:t>
            </a:r>
            <a:endParaRPr lang="en-US" sz="950" dirty="0"/>
          </a:p>
        </p:txBody>
      </p:sp>
      <p:sp>
        <p:nvSpPr>
          <p:cNvPr id="25" name="Text 23"/>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6" name="Shape 24"/>
          <p:cNvSpPr/>
          <p:nvPr/>
        </p:nvSpPr>
        <p:spPr>
          <a:xfrm>
            <a:off x="1551432" y="3214116"/>
            <a:ext cx="9469831" cy="0"/>
          </a:xfrm>
          <a:prstGeom prst="line">
            <a:avLst/>
          </a:prstGeom>
          <a:noFill/>
          <a:ln w="12700">
            <a:solidFill>
              <a:srgbClr val="D9E2EF"/>
            </a:solidFill>
            <a:prstDash val="solid"/>
          </a:ln>
        </p:spPr>
      </p:sp>
      <p:sp>
        <p:nvSpPr>
          <p:cNvPr id="27" name="Text 25"/>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差异</a:t>
            </a:r>
            <a:endParaRPr lang="en-US" sz="950" dirty="0"/>
          </a:p>
        </p:txBody>
      </p:sp>
      <p:sp>
        <p:nvSpPr>
          <p:cNvPr id="28" name="Text 26"/>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9" name="Shape 27"/>
          <p:cNvSpPr/>
          <p:nvPr/>
        </p:nvSpPr>
        <p:spPr>
          <a:xfrm>
            <a:off x="1551432" y="3561588"/>
            <a:ext cx="9469831" cy="0"/>
          </a:xfrm>
          <a:prstGeom prst="line">
            <a:avLst/>
          </a:prstGeom>
          <a:noFill/>
          <a:ln w="12700">
            <a:solidFill>
              <a:srgbClr val="D9E2EF"/>
            </a:solidFill>
            <a:prstDash val="solid"/>
          </a:ln>
        </p:spPr>
      </p:sp>
      <p:sp>
        <p:nvSpPr>
          <p:cNvPr id="30" name="Text 28"/>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分布</a:t>
            </a:r>
            <a:endParaRPr lang="en-US" sz="950" dirty="0"/>
          </a:p>
        </p:txBody>
      </p:sp>
      <p:sp>
        <p:nvSpPr>
          <p:cNvPr id="31" name="Text 29"/>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2" name="Text 30"/>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样本来自北京市小学，不能据此推断深圳或全国的比例。</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7" name="Shape 15"/>
          <p:cNvSpPr/>
          <p:nvPr/>
        </p:nvSpPr>
        <p:spPr>
          <a:xfrm>
            <a:off x="1295400" y="1860804"/>
            <a:ext cx="3113938" cy="0"/>
          </a:xfrm>
          <a:prstGeom prst="line">
            <a:avLst/>
          </a:prstGeom>
          <a:noFill/>
          <a:ln w="50800">
            <a:solidFill>
              <a:srgbClr val="A8421F"/>
            </a:solidFill>
            <a:prstDash val="solid"/>
          </a:ln>
        </p:spPr>
      </p:sp>
      <p:sp>
        <p:nvSpPr>
          <p:cNvPr id="18" name="Text 16"/>
          <p:cNvSpPr/>
          <p:nvPr/>
        </p:nvSpPr>
        <p:spPr>
          <a:xfrm>
            <a:off x="1295400" y="2025396"/>
            <a:ext cx="3113938" cy="347472"/>
          </a:xfrm>
          <a:prstGeom prst="rect">
            <a:avLst/>
          </a:prstGeom>
          <a:noFill/>
          <a:ln/>
        </p:spPr>
        <p:txBody>
          <a:bodyPr wrap="square" lIns="0" tIns="0" rIns="0" bIns="0" rtlCol="0" anchor="ctr"/>
          <a:lstStyle/>
          <a:p>
            <a:pPr indent="0" marL="0">
              <a:buNone/>
            </a:pPr>
            <a:r>
              <a:rPr lang="en-US" sz="1700" b="1" dirty="0">
                <a:solidFill>
                  <a:srgbClr val="A8421F"/>
                </a:solidFill>
                <a:latin typeface="Microsoft YaHei" pitchFamily="34" charset="0"/>
                <a:ea typeface="Microsoft YaHei" pitchFamily="34" charset="-122"/>
                <a:cs typeface="Microsoft YaHei" pitchFamily="34" charset="-120"/>
              </a:rPr>
              <a:t>使用不当时可能加剧</a:t>
            </a:r>
            <a:endParaRPr lang="en-US" sz="1700" dirty="0"/>
          </a:p>
        </p:txBody>
      </p:sp>
      <p:sp>
        <p:nvSpPr>
          <p:cNvPr id="19" name="Shape 17"/>
          <p:cNvSpPr/>
          <p:nvPr/>
        </p:nvSpPr>
        <p:spPr>
          <a:xfrm>
            <a:off x="1295400" y="2738628"/>
            <a:ext cx="91440" cy="0"/>
          </a:xfrm>
          <a:prstGeom prst="line">
            <a:avLst/>
          </a:prstGeom>
          <a:noFill/>
          <a:ln w="19050">
            <a:solidFill>
              <a:srgbClr val="A8421F">
                <a:alpha val="65000"/>
              </a:srgbClr>
            </a:solidFill>
            <a:prstDash val="solid"/>
          </a:ln>
        </p:spPr>
      </p:sp>
      <p:sp>
        <p:nvSpPr>
          <p:cNvPr id="20" name="Text 18"/>
          <p:cNvSpPr/>
          <p:nvPr/>
        </p:nvSpPr>
        <p:spPr>
          <a:xfrm>
            <a:off x="1496568" y="2555748"/>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形式化、成果拼盘</a:t>
            </a:r>
            <a:endParaRPr lang="en-US" sz="1300" dirty="0"/>
          </a:p>
        </p:txBody>
      </p:sp>
      <p:sp>
        <p:nvSpPr>
          <p:cNvPr id="21" name="Shape 19"/>
          <p:cNvSpPr/>
          <p:nvPr/>
        </p:nvSpPr>
        <p:spPr>
          <a:xfrm>
            <a:off x="1295400" y="3067812"/>
            <a:ext cx="3113938" cy="0"/>
          </a:xfrm>
          <a:prstGeom prst="line">
            <a:avLst/>
          </a:prstGeom>
          <a:noFill/>
          <a:ln w="12700">
            <a:solidFill>
              <a:srgbClr val="D9E2EF"/>
            </a:solidFill>
            <a:prstDash val="solid"/>
          </a:ln>
        </p:spPr>
      </p:sp>
      <p:sp>
        <p:nvSpPr>
          <p:cNvPr id="22" name="Shape 20"/>
          <p:cNvSpPr/>
          <p:nvPr/>
        </p:nvSpPr>
        <p:spPr>
          <a:xfrm>
            <a:off x="1295400" y="3342132"/>
            <a:ext cx="91440" cy="0"/>
          </a:xfrm>
          <a:prstGeom prst="line">
            <a:avLst/>
          </a:prstGeom>
          <a:noFill/>
          <a:ln w="19050">
            <a:solidFill>
              <a:srgbClr val="A8421F">
                <a:alpha val="65000"/>
              </a:srgbClr>
            </a:solidFill>
            <a:prstDash val="solid"/>
          </a:ln>
        </p:spPr>
      </p:sp>
      <p:sp>
        <p:nvSpPr>
          <p:cNvPr id="23" name="Text 21"/>
          <p:cNvSpPr/>
          <p:nvPr/>
        </p:nvSpPr>
        <p:spPr>
          <a:xfrm>
            <a:off x="1496568" y="3159252"/>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4" name="Shape 22"/>
          <p:cNvSpPr/>
          <p:nvPr/>
        </p:nvSpPr>
        <p:spPr>
          <a:xfrm>
            <a:off x="1295400" y="3671316"/>
            <a:ext cx="3113938" cy="0"/>
          </a:xfrm>
          <a:prstGeom prst="line">
            <a:avLst/>
          </a:prstGeom>
          <a:noFill/>
          <a:ln w="12700">
            <a:solidFill>
              <a:srgbClr val="D9E2EF"/>
            </a:solidFill>
            <a:prstDash val="solid"/>
          </a:ln>
        </p:spPr>
      </p:sp>
      <p:sp>
        <p:nvSpPr>
          <p:cNvPr id="25" name="Shape 23"/>
          <p:cNvSpPr/>
          <p:nvPr/>
        </p:nvSpPr>
        <p:spPr>
          <a:xfrm>
            <a:off x="1295400" y="3945636"/>
            <a:ext cx="91440" cy="0"/>
          </a:xfrm>
          <a:prstGeom prst="line">
            <a:avLst/>
          </a:prstGeom>
          <a:noFill/>
          <a:ln w="19050">
            <a:solidFill>
              <a:srgbClr val="A8421F">
                <a:alpha val="65000"/>
              </a:srgbClr>
            </a:solidFill>
            <a:prstDash val="solid"/>
          </a:ln>
        </p:spPr>
      </p:sp>
      <p:sp>
        <p:nvSpPr>
          <p:cNvPr id="26" name="Text 24"/>
          <p:cNvSpPr/>
          <p:nvPr/>
        </p:nvSpPr>
        <p:spPr>
          <a:xfrm>
            <a:off x="1496568" y="3762756"/>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选题雷同</a:t>
            </a:r>
            <a:endParaRPr lang="en-US" sz="1300" dirty="0"/>
          </a:p>
        </p:txBody>
      </p:sp>
      <p:sp>
        <p:nvSpPr>
          <p:cNvPr id="27" name="Shape 25"/>
          <p:cNvSpPr/>
          <p:nvPr/>
        </p:nvSpPr>
        <p:spPr>
          <a:xfrm>
            <a:off x="1295400" y="4274820"/>
            <a:ext cx="3113938" cy="0"/>
          </a:xfrm>
          <a:prstGeom prst="line">
            <a:avLst/>
          </a:prstGeom>
          <a:noFill/>
          <a:ln w="12700">
            <a:solidFill>
              <a:srgbClr val="D9E2EF"/>
            </a:solidFill>
            <a:prstDash val="solid"/>
          </a:ln>
        </p:spPr>
      </p:sp>
      <p:sp>
        <p:nvSpPr>
          <p:cNvPr id="28" name="Shape 26"/>
          <p:cNvSpPr/>
          <p:nvPr/>
        </p:nvSpPr>
        <p:spPr>
          <a:xfrm>
            <a:off x="1295400" y="4549140"/>
            <a:ext cx="91440" cy="0"/>
          </a:xfrm>
          <a:prstGeom prst="line">
            <a:avLst/>
          </a:prstGeom>
          <a:noFill/>
          <a:ln w="19050">
            <a:solidFill>
              <a:srgbClr val="A8421F">
                <a:alpha val="65000"/>
              </a:srgbClr>
            </a:solidFill>
            <a:prstDash val="solid"/>
          </a:ln>
        </p:spPr>
      </p:sp>
      <p:sp>
        <p:nvSpPr>
          <p:cNvPr id="29" name="Text 27"/>
          <p:cNvSpPr/>
          <p:nvPr/>
        </p:nvSpPr>
        <p:spPr>
          <a:xfrm>
            <a:off x="1496568" y="4366260"/>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研学只旅不学</a:t>
            </a:r>
            <a:endParaRPr lang="en-US" sz="1300" dirty="0"/>
          </a:p>
        </p:txBody>
      </p:sp>
      <p:sp>
        <p:nvSpPr>
          <p:cNvPr id="30" name="Shape 28"/>
          <p:cNvSpPr/>
          <p:nvPr/>
        </p:nvSpPr>
        <p:spPr>
          <a:xfrm>
            <a:off x="4729378" y="1860804"/>
            <a:ext cx="3113938" cy="0"/>
          </a:xfrm>
          <a:prstGeom prst="line">
            <a:avLst/>
          </a:prstGeom>
          <a:noFill/>
          <a:ln w="50800">
            <a:solidFill>
              <a:srgbClr val="1D4ED8"/>
            </a:solidFill>
            <a:prstDash val="solid"/>
          </a:ln>
        </p:spPr>
      </p:sp>
      <p:sp>
        <p:nvSpPr>
          <p:cNvPr id="31" name="Text 29"/>
          <p:cNvSpPr/>
          <p:nvPr/>
        </p:nvSpPr>
        <p:spPr>
          <a:xfrm>
            <a:off x="4729378" y="2025396"/>
            <a:ext cx="3113938" cy="347472"/>
          </a:xfrm>
          <a:prstGeom prst="rect">
            <a:avLst/>
          </a:prstGeom>
          <a:noFill/>
          <a:ln/>
        </p:spPr>
        <p:txBody>
          <a:bodyPr wrap="square" lIns="0" tIns="0" rIns="0" bIns="0" rtlCol="0" anchor="ctr"/>
          <a:lstStyle/>
          <a:p>
            <a:pPr indent="0" marL="0">
              <a:buNone/>
            </a:pPr>
            <a:r>
              <a:rPr lang="en-US" sz="1700" b="1" dirty="0">
                <a:solidFill>
                  <a:srgbClr val="1D4ED8"/>
                </a:solidFill>
                <a:latin typeface="Microsoft YaHei" pitchFamily="34" charset="0"/>
                <a:ea typeface="Microsoft YaHei" pitchFamily="34" charset="-122"/>
                <a:cs typeface="Microsoft YaHei" pitchFamily="34" charset="-120"/>
              </a:rPr>
              <a:t>可辅助处理</a:t>
            </a:r>
            <a:endParaRPr lang="en-US" sz="1700" dirty="0"/>
          </a:p>
        </p:txBody>
      </p:sp>
      <p:sp>
        <p:nvSpPr>
          <p:cNvPr id="32" name="Shape 30"/>
          <p:cNvSpPr/>
          <p:nvPr/>
        </p:nvSpPr>
        <p:spPr>
          <a:xfrm>
            <a:off x="4729378" y="2738628"/>
            <a:ext cx="91440" cy="0"/>
          </a:xfrm>
          <a:prstGeom prst="line">
            <a:avLst/>
          </a:prstGeom>
          <a:noFill/>
          <a:ln w="19050">
            <a:solidFill>
              <a:srgbClr val="1D4ED8">
                <a:alpha val="65000"/>
              </a:srgbClr>
            </a:solidFill>
            <a:prstDash val="solid"/>
          </a:ln>
        </p:spPr>
      </p:sp>
      <p:sp>
        <p:nvSpPr>
          <p:cNvPr id="33" name="Text 31"/>
          <p:cNvSpPr/>
          <p:nvPr/>
        </p:nvSpPr>
        <p:spPr>
          <a:xfrm>
            <a:off x="4930546" y="2555748"/>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4" name="Shape 32"/>
          <p:cNvSpPr/>
          <p:nvPr/>
        </p:nvSpPr>
        <p:spPr>
          <a:xfrm>
            <a:off x="4729378" y="3067812"/>
            <a:ext cx="3113938" cy="0"/>
          </a:xfrm>
          <a:prstGeom prst="line">
            <a:avLst/>
          </a:prstGeom>
          <a:noFill/>
          <a:ln w="12700">
            <a:solidFill>
              <a:srgbClr val="D9E2EF"/>
            </a:solidFill>
            <a:prstDash val="solid"/>
          </a:ln>
        </p:spPr>
      </p:sp>
      <p:sp>
        <p:nvSpPr>
          <p:cNvPr id="35" name="Shape 33"/>
          <p:cNvSpPr/>
          <p:nvPr/>
        </p:nvSpPr>
        <p:spPr>
          <a:xfrm>
            <a:off x="4729378" y="3342132"/>
            <a:ext cx="91440" cy="0"/>
          </a:xfrm>
          <a:prstGeom prst="line">
            <a:avLst/>
          </a:prstGeom>
          <a:noFill/>
          <a:ln w="19050">
            <a:solidFill>
              <a:srgbClr val="1D4ED8">
                <a:alpha val="65000"/>
              </a:srgbClr>
            </a:solidFill>
            <a:prstDash val="solid"/>
          </a:ln>
        </p:spPr>
      </p:sp>
      <p:sp>
        <p:nvSpPr>
          <p:cNvPr id="36" name="Text 34"/>
          <p:cNvSpPr/>
          <p:nvPr/>
        </p:nvSpPr>
        <p:spPr>
          <a:xfrm>
            <a:off x="4930546" y="3159252"/>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7" name="Shape 35"/>
          <p:cNvSpPr/>
          <p:nvPr/>
        </p:nvSpPr>
        <p:spPr>
          <a:xfrm>
            <a:off x="4729378" y="3671316"/>
            <a:ext cx="3113938" cy="0"/>
          </a:xfrm>
          <a:prstGeom prst="line">
            <a:avLst/>
          </a:prstGeom>
          <a:noFill/>
          <a:ln w="12700">
            <a:solidFill>
              <a:srgbClr val="D9E2EF"/>
            </a:solidFill>
            <a:prstDash val="solid"/>
          </a:ln>
        </p:spPr>
      </p:sp>
      <p:sp>
        <p:nvSpPr>
          <p:cNvPr id="38" name="Shape 36"/>
          <p:cNvSpPr/>
          <p:nvPr/>
        </p:nvSpPr>
        <p:spPr>
          <a:xfrm>
            <a:off x="4729378" y="3945636"/>
            <a:ext cx="91440" cy="0"/>
          </a:xfrm>
          <a:prstGeom prst="line">
            <a:avLst/>
          </a:prstGeom>
          <a:noFill/>
          <a:ln w="19050">
            <a:solidFill>
              <a:srgbClr val="1D4ED8">
                <a:alpha val="65000"/>
              </a:srgbClr>
            </a:solidFill>
            <a:prstDash val="solid"/>
          </a:ln>
        </p:spPr>
      </p:sp>
      <p:sp>
        <p:nvSpPr>
          <p:cNvPr id="39" name="Text 37"/>
          <p:cNvSpPr/>
          <p:nvPr/>
        </p:nvSpPr>
        <p:spPr>
          <a:xfrm>
            <a:off x="4930546" y="3762756"/>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写实记录的归并整理</a:t>
            </a:r>
            <a:endParaRPr lang="en-US" sz="1300" dirty="0"/>
          </a:p>
        </p:txBody>
      </p:sp>
      <p:sp>
        <p:nvSpPr>
          <p:cNvPr id="40" name="Shape 38"/>
          <p:cNvSpPr/>
          <p:nvPr/>
        </p:nvSpPr>
        <p:spPr>
          <a:xfrm>
            <a:off x="4729378" y="4274820"/>
            <a:ext cx="3113938" cy="0"/>
          </a:xfrm>
          <a:prstGeom prst="line">
            <a:avLst/>
          </a:prstGeom>
          <a:noFill/>
          <a:ln w="12700">
            <a:solidFill>
              <a:srgbClr val="D9E2EF"/>
            </a:solidFill>
            <a:prstDash val="solid"/>
          </a:ln>
        </p:spPr>
      </p:sp>
      <p:sp>
        <p:nvSpPr>
          <p:cNvPr id="41" name="Shape 39"/>
          <p:cNvSpPr/>
          <p:nvPr/>
        </p:nvSpPr>
        <p:spPr>
          <a:xfrm>
            <a:off x="4729378" y="4549140"/>
            <a:ext cx="91440" cy="0"/>
          </a:xfrm>
          <a:prstGeom prst="line">
            <a:avLst/>
          </a:prstGeom>
          <a:noFill/>
          <a:ln w="19050">
            <a:solidFill>
              <a:srgbClr val="1D4ED8">
                <a:alpha val="65000"/>
              </a:srgbClr>
            </a:solidFill>
            <a:prstDash val="solid"/>
          </a:ln>
        </p:spPr>
      </p:sp>
      <p:sp>
        <p:nvSpPr>
          <p:cNvPr id="42" name="Text 40"/>
          <p:cNvSpPr/>
          <p:nvPr/>
        </p:nvSpPr>
        <p:spPr>
          <a:xfrm>
            <a:off x="4930546" y="4366260"/>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排版与基础图表</a:t>
            </a:r>
            <a:endParaRPr lang="en-US" sz="1300" dirty="0"/>
          </a:p>
        </p:txBody>
      </p:sp>
      <p:sp>
        <p:nvSpPr>
          <p:cNvPr id="43" name="Shape 41"/>
          <p:cNvSpPr/>
          <p:nvPr/>
        </p:nvSpPr>
        <p:spPr>
          <a:xfrm>
            <a:off x="8163357" y="1860804"/>
            <a:ext cx="3113938" cy="0"/>
          </a:xfrm>
          <a:prstGeom prst="line">
            <a:avLst/>
          </a:prstGeom>
          <a:noFill/>
          <a:ln w="50800">
            <a:solidFill>
              <a:srgbClr val="D9E2EF"/>
            </a:solidFill>
            <a:prstDash val="solid"/>
          </a:ln>
        </p:spPr>
      </p:sp>
      <p:sp>
        <p:nvSpPr>
          <p:cNvPr id="44" name="Text 42"/>
          <p:cNvSpPr/>
          <p:nvPr/>
        </p:nvSpPr>
        <p:spPr>
          <a:xfrm>
            <a:off x="8163357" y="2025396"/>
            <a:ext cx="3113938" cy="347472"/>
          </a:xfrm>
          <a:prstGeom prst="rect">
            <a:avLst/>
          </a:prstGeom>
          <a:noFill/>
          <a:ln/>
        </p:spPr>
        <p:txBody>
          <a:bodyPr wrap="square" lIns="0" tIns="0" rIns="0" bIns="0" rtlCol="0" anchor="ctr"/>
          <a:lstStyle/>
          <a:p>
            <a:pPr indent="0" marL="0">
              <a:buNone/>
            </a:pPr>
            <a:r>
              <a:rPr lang="en-US" sz="1700" b="1" dirty="0">
                <a:solidFill>
                  <a:srgbClr val="5F7088"/>
                </a:solidFill>
                <a:latin typeface="Microsoft YaHei" pitchFamily="34" charset="0"/>
                <a:ea typeface="Microsoft YaHei" pitchFamily="34" charset="-122"/>
                <a:cs typeface="Microsoft YaHei" pitchFamily="34" charset="-120"/>
              </a:rPr>
              <a:t>无直接作用</a:t>
            </a:r>
            <a:endParaRPr lang="en-US" sz="1700" dirty="0"/>
          </a:p>
        </p:txBody>
      </p:sp>
      <p:sp>
        <p:nvSpPr>
          <p:cNvPr id="45" name="Shape 43"/>
          <p:cNvSpPr/>
          <p:nvPr/>
        </p:nvSpPr>
        <p:spPr>
          <a:xfrm>
            <a:off x="8163357" y="2738628"/>
            <a:ext cx="91440" cy="0"/>
          </a:xfrm>
          <a:prstGeom prst="line">
            <a:avLst/>
          </a:prstGeom>
          <a:noFill/>
          <a:ln w="19050">
            <a:solidFill>
              <a:srgbClr val="5F7088">
                <a:alpha val="65000"/>
              </a:srgbClr>
            </a:solidFill>
            <a:prstDash val="solid"/>
          </a:ln>
        </p:spPr>
      </p:sp>
      <p:sp>
        <p:nvSpPr>
          <p:cNvPr id="46" name="Text 44"/>
          <p:cNvSpPr/>
          <p:nvPr/>
        </p:nvSpPr>
        <p:spPr>
          <a:xfrm>
            <a:off x="8364525" y="2555748"/>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课时被挤占</a:t>
            </a:r>
            <a:endParaRPr lang="en-US" sz="1300" dirty="0"/>
          </a:p>
        </p:txBody>
      </p:sp>
      <p:sp>
        <p:nvSpPr>
          <p:cNvPr id="47" name="Shape 45"/>
          <p:cNvSpPr/>
          <p:nvPr/>
        </p:nvSpPr>
        <p:spPr>
          <a:xfrm>
            <a:off x="8163357" y="3067812"/>
            <a:ext cx="3113938" cy="0"/>
          </a:xfrm>
          <a:prstGeom prst="line">
            <a:avLst/>
          </a:prstGeom>
          <a:noFill/>
          <a:ln w="12700">
            <a:solidFill>
              <a:srgbClr val="D9E2EF"/>
            </a:solidFill>
            <a:prstDash val="solid"/>
          </a:ln>
        </p:spPr>
      </p:sp>
      <p:sp>
        <p:nvSpPr>
          <p:cNvPr id="48" name="Shape 46"/>
          <p:cNvSpPr/>
          <p:nvPr/>
        </p:nvSpPr>
        <p:spPr>
          <a:xfrm>
            <a:off x="8163357" y="3342132"/>
            <a:ext cx="91440" cy="0"/>
          </a:xfrm>
          <a:prstGeom prst="line">
            <a:avLst/>
          </a:prstGeom>
          <a:noFill/>
          <a:ln w="19050">
            <a:solidFill>
              <a:srgbClr val="5F7088">
                <a:alpha val="65000"/>
              </a:srgbClr>
            </a:solidFill>
            <a:prstDash val="solid"/>
          </a:ln>
        </p:spPr>
      </p:sp>
      <p:sp>
        <p:nvSpPr>
          <p:cNvPr id="49" name="Text 47"/>
          <p:cNvSpPr/>
          <p:nvPr/>
        </p:nvSpPr>
        <p:spPr>
          <a:xfrm>
            <a:off x="8364525" y="3159252"/>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50" name="Shape 48"/>
          <p:cNvSpPr/>
          <p:nvPr/>
        </p:nvSpPr>
        <p:spPr>
          <a:xfrm>
            <a:off x="8163357" y="3671316"/>
            <a:ext cx="3113938" cy="0"/>
          </a:xfrm>
          <a:prstGeom prst="line">
            <a:avLst/>
          </a:prstGeom>
          <a:noFill/>
          <a:ln w="12700">
            <a:solidFill>
              <a:srgbClr val="D9E2EF"/>
            </a:solidFill>
            <a:prstDash val="solid"/>
          </a:ln>
        </p:spPr>
      </p:sp>
      <p:sp>
        <p:nvSpPr>
          <p:cNvPr id="51" name="Shape 49"/>
          <p:cNvSpPr/>
          <p:nvPr/>
        </p:nvSpPr>
        <p:spPr>
          <a:xfrm>
            <a:off x="8163357" y="3945636"/>
            <a:ext cx="91440" cy="0"/>
          </a:xfrm>
          <a:prstGeom prst="line">
            <a:avLst/>
          </a:prstGeom>
          <a:noFill/>
          <a:ln w="19050">
            <a:solidFill>
              <a:srgbClr val="5F7088">
                <a:alpha val="65000"/>
              </a:srgbClr>
            </a:solidFill>
            <a:prstDash val="solid"/>
          </a:ln>
        </p:spPr>
      </p:sp>
      <p:sp>
        <p:nvSpPr>
          <p:cNvPr id="52" name="Text 50"/>
          <p:cNvSpPr/>
          <p:nvPr/>
        </p:nvSpPr>
        <p:spPr>
          <a:xfrm>
            <a:off x="8364525" y="3762756"/>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校外基地质量</a:t>
            </a:r>
            <a:endParaRPr lang="en-US" sz="1300" dirty="0"/>
          </a:p>
        </p:txBody>
      </p:sp>
      <p:sp>
        <p:nvSpPr>
          <p:cNvPr id="53" name="Shape 51"/>
          <p:cNvSpPr/>
          <p:nvPr/>
        </p:nvSpPr>
        <p:spPr>
          <a:xfrm>
            <a:off x="8163357" y="4274820"/>
            <a:ext cx="3113938" cy="0"/>
          </a:xfrm>
          <a:prstGeom prst="line">
            <a:avLst/>
          </a:prstGeom>
          <a:noFill/>
          <a:ln w="12700">
            <a:solidFill>
              <a:srgbClr val="D9E2EF"/>
            </a:solidFill>
            <a:prstDash val="solid"/>
          </a:ln>
        </p:spPr>
      </p:sp>
      <p:sp>
        <p:nvSpPr>
          <p:cNvPr id="54" name="Shape 52"/>
          <p:cNvSpPr/>
          <p:nvPr/>
        </p:nvSpPr>
        <p:spPr>
          <a:xfrm>
            <a:off x="8163357" y="4549140"/>
            <a:ext cx="91440" cy="0"/>
          </a:xfrm>
          <a:prstGeom prst="line">
            <a:avLst/>
          </a:prstGeom>
          <a:noFill/>
          <a:ln w="19050">
            <a:solidFill>
              <a:srgbClr val="5F7088">
                <a:alpha val="65000"/>
              </a:srgbClr>
            </a:solidFill>
            <a:prstDash val="solid"/>
          </a:ln>
        </p:spPr>
      </p:sp>
      <p:sp>
        <p:nvSpPr>
          <p:cNvPr id="55" name="Text 53"/>
          <p:cNvSpPr/>
          <p:nvPr/>
        </p:nvSpPr>
        <p:spPr>
          <a:xfrm>
            <a:off x="8364525" y="4366260"/>
            <a:ext cx="2912770"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7" name="Shape 15"/>
          <p:cNvSpPr/>
          <p:nvPr/>
        </p:nvSpPr>
        <p:spPr>
          <a:xfrm>
            <a:off x="1295400" y="2043684"/>
            <a:ext cx="3205378" cy="1207008"/>
          </a:xfrm>
          <a:prstGeom prst="roundRect">
            <a:avLst>
              <a:gd name="adj" fmla="val 6818"/>
            </a:avLst>
          </a:prstGeom>
          <a:solidFill>
            <a:srgbClr val="FFFFFF"/>
          </a:solidFill>
          <a:ln w="12700">
            <a:solidFill>
              <a:srgbClr val="D9E2EF"/>
            </a:solidFill>
            <a:prstDash val="solid"/>
          </a:ln>
        </p:spPr>
      </p:sp>
      <p:sp>
        <p:nvSpPr>
          <p:cNvPr id="18" name="Shape 16"/>
          <p:cNvSpPr/>
          <p:nvPr/>
        </p:nvSpPr>
        <p:spPr>
          <a:xfrm>
            <a:off x="1359408" y="2043684"/>
            <a:ext cx="3077362" cy="38100"/>
          </a:xfrm>
          <a:prstGeom prst="rect">
            <a:avLst/>
          </a:prstGeom>
          <a:solidFill>
            <a:srgbClr val="1D4ED8"/>
          </a:solidFill>
          <a:ln w="12700">
            <a:solidFill>
              <a:srgbClr val="1D4ED8"/>
            </a:solidFill>
            <a:prstDash val="solid"/>
          </a:ln>
        </p:spPr>
      </p:sp>
      <p:sp>
        <p:nvSpPr>
          <p:cNvPr id="19" name="Text 17"/>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花瓶项目</a:t>
            </a:r>
            <a:endParaRPr lang="en-US" sz="1600" dirty="0"/>
          </a:p>
        </p:txBody>
      </p:sp>
      <p:sp>
        <p:nvSpPr>
          <p:cNvPr id="20" name="Text 18"/>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1" name="Shape 19"/>
          <p:cNvSpPr/>
          <p:nvPr/>
        </p:nvSpPr>
        <p:spPr>
          <a:xfrm>
            <a:off x="4683658" y="2043684"/>
            <a:ext cx="3205378" cy="1207008"/>
          </a:xfrm>
          <a:prstGeom prst="roundRect">
            <a:avLst>
              <a:gd name="adj" fmla="val 6818"/>
            </a:avLst>
          </a:prstGeom>
          <a:solidFill>
            <a:srgbClr val="FFFFFF"/>
          </a:solidFill>
          <a:ln w="12700">
            <a:solidFill>
              <a:srgbClr val="D9E2EF"/>
            </a:solidFill>
            <a:prstDash val="solid"/>
          </a:ln>
        </p:spPr>
      </p:sp>
      <p:sp>
        <p:nvSpPr>
          <p:cNvPr id="22" name="Shape 20"/>
          <p:cNvSpPr/>
          <p:nvPr/>
        </p:nvSpPr>
        <p:spPr>
          <a:xfrm>
            <a:off x="4747666" y="2043684"/>
            <a:ext cx="3077362" cy="38100"/>
          </a:xfrm>
          <a:prstGeom prst="rect">
            <a:avLst/>
          </a:prstGeom>
          <a:solidFill>
            <a:srgbClr val="C2552F"/>
          </a:solidFill>
          <a:ln w="12700">
            <a:solidFill>
              <a:srgbClr val="C2552F"/>
            </a:solidFill>
            <a:prstDash val="solid"/>
          </a:ln>
        </p:spPr>
      </p:sp>
      <p:sp>
        <p:nvSpPr>
          <p:cNvPr id="23" name="Text 21"/>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拼盘项目</a:t>
            </a:r>
            <a:endParaRPr lang="en-US" sz="1600" dirty="0"/>
          </a:p>
        </p:txBody>
      </p:sp>
      <p:sp>
        <p:nvSpPr>
          <p:cNvPr id="24" name="Text 22"/>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5" name="Shape 23"/>
          <p:cNvSpPr/>
          <p:nvPr/>
        </p:nvSpPr>
        <p:spPr>
          <a:xfrm>
            <a:off x="8071917" y="2043684"/>
            <a:ext cx="3205378" cy="1207008"/>
          </a:xfrm>
          <a:prstGeom prst="roundRect">
            <a:avLst>
              <a:gd name="adj" fmla="val 6818"/>
            </a:avLst>
          </a:prstGeom>
          <a:solidFill>
            <a:srgbClr val="FFFFFF"/>
          </a:solidFill>
          <a:ln w="12700">
            <a:solidFill>
              <a:srgbClr val="D9E2EF"/>
            </a:solidFill>
            <a:prstDash val="solid"/>
          </a:ln>
        </p:spPr>
      </p:sp>
      <p:sp>
        <p:nvSpPr>
          <p:cNvPr id="26" name="Shape 24"/>
          <p:cNvSpPr/>
          <p:nvPr/>
        </p:nvSpPr>
        <p:spPr>
          <a:xfrm>
            <a:off x="8135925" y="2043684"/>
            <a:ext cx="3077362" cy="38100"/>
          </a:xfrm>
          <a:prstGeom prst="rect">
            <a:avLst/>
          </a:prstGeom>
          <a:solidFill>
            <a:srgbClr val="A8421F"/>
          </a:solidFill>
          <a:ln w="12700">
            <a:solidFill>
              <a:srgbClr val="A8421F"/>
            </a:solidFill>
            <a:prstDash val="solid"/>
          </a:ln>
        </p:spPr>
      </p:sp>
      <p:sp>
        <p:nvSpPr>
          <p:cNvPr id="27" name="Text 25"/>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空心项目</a:t>
            </a:r>
            <a:endParaRPr lang="en-US" sz="1600" dirty="0"/>
          </a:p>
        </p:txBody>
      </p:sp>
      <p:sp>
        <p:nvSpPr>
          <p:cNvPr id="28" name="Text 26"/>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9" name="Text 27"/>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夏雪梅，《项目化学习质量评估：基于中国情境的建构》，教育科学出版社，2024</a:t>
            </a:r>
            <a:endParaRPr lang="en-US" sz="1000" dirty="0"/>
          </a:p>
        </p:txBody>
      </p:sp>
      <p:sp>
        <p:nvSpPr>
          <p:cNvPr id="30" name="Shape 28"/>
          <p:cNvSpPr/>
          <p:nvPr/>
        </p:nvSpPr>
        <p:spPr>
          <a:xfrm>
            <a:off x="1295400" y="5888736"/>
            <a:ext cx="9981895" cy="0"/>
          </a:xfrm>
          <a:prstGeom prst="line">
            <a:avLst/>
          </a:prstGeom>
          <a:noFill/>
          <a:ln w="12700">
            <a:solidFill>
              <a:srgbClr val="D9E2EF"/>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生成式 AI 可能提高成果的表面完成度，使空心项目更难仅凭最终成果识别。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7" name="Shape 15"/>
          <p:cNvSpPr/>
          <p:nvPr/>
        </p:nvSpPr>
        <p:spPr>
          <a:xfrm>
            <a:off x="1295400" y="1860804"/>
            <a:ext cx="9981895" cy="1965960"/>
          </a:xfrm>
          <a:prstGeom prst="roundRect">
            <a:avLst>
              <a:gd name="adj" fmla="val 4186"/>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A8421F"/>
          </a:solidFill>
          <a:ln w="12700">
            <a:solidFill>
              <a:srgbClr val="A8421F"/>
            </a:solidFill>
            <a:prstDash val="solid"/>
          </a:ln>
        </p:spPr>
      </p:sp>
      <p:sp>
        <p:nvSpPr>
          <p:cNvPr id="19" name="Shape 17"/>
          <p:cNvSpPr/>
          <p:nvPr/>
        </p:nvSpPr>
        <p:spPr>
          <a:xfrm>
            <a:off x="1551432" y="2080260"/>
            <a:ext cx="9469831" cy="0"/>
          </a:xfrm>
          <a:prstGeom prst="line">
            <a:avLst/>
          </a:prstGeom>
          <a:noFill/>
          <a:ln w="12700">
            <a:solidFill>
              <a:srgbClr val="D9E2EF"/>
            </a:solidFill>
            <a:prstDash val="solid"/>
          </a:ln>
        </p:spPr>
      </p:sp>
      <p:sp>
        <p:nvSpPr>
          <p:cNvPr id="20" name="Text 18"/>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设计</a:t>
            </a:r>
            <a:endParaRPr lang="en-US" sz="950" dirty="0"/>
          </a:p>
        </p:txBody>
      </p:sp>
      <p:sp>
        <p:nvSpPr>
          <p:cNvPr id="21" name="Text 19"/>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2" name="Shape 20"/>
          <p:cNvSpPr/>
          <p:nvPr/>
        </p:nvSpPr>
        <p:spPr>
          <a:xfrm>
            <a:off x="1551432" y="2427732"/>
            <a:ext cx="9469831" cy="0"/>
          </a:xfrm>
          <a:prstGeom prst="line">
            <a:avLst/>
          </a:prstGeom>
          <a:noFill/>
          <a:ln w="12700">
            <a:solidFill>
              <a:srgbClr val="D9E2EF"/>
            </a:solidFill>
            <a:prstDash val="solid"/>
          </a:ln>
        </p:spPr>
      </p:sp>
      <p:sp>
        <p:nvSpPr>
          <p:cNvPr id="23" name="Text 21"/>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4" name="Text 22"/>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5" name="Shape 23"/>
          <p:cNvSpPr/>
          <p:nvPr/>
        </p:nvSpPr>
        <p:spPr>
          <a:xfrm>
            <a:off x="1551432" y="2775204"/>
            <a:ext cx="9469831" cy="0"/>
          </a:xfrm>
          <a:prstGeom prst="line">
            <a:avLst/>
          </a:prstGeom>
          <a:noFill/>
          <a:ln w="12700">
            <a:solidFill>
              <a:srgbClr val="D9E2EF"/>
            </a:solidFill>
            <a:prstDash val="solid"/>
          </a:ln>
        </p:spPr>
      </p:sp>
      <p:sp>
        <p:nvSpPr>
          <p:cNvPr id="26" name="Text 24"/>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结果</a:t>
            </a:r>
            <a:endParaRPr lang="en-US" sz="950" dirty="0"/>
          </a:p>
        </p:txBody>
      </p:sp>
      <p:sp>
        <p:nvSpPr>
          <p:cNvPr id="27" name="Text 25"/>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8" name="Shape 26"/>
          <p:cNvSpPr/>
          <p:nvPr/>
        </p:nvSpPr>
        <p:spPr>
          <a:xfrm>
            <a:off x="1551432" y="3122676"/>
            <a:ext cx="9469831" cy="0"/>
          </a:xfrm>
          <a:prstGeom prst="line">
            <a:avLst/>
          </a:prstGeom>
          <a:noFill/>
          <a:ln w="12700">
            <a:solidFill>
              <a:srgbClr val="D9E2EF"/>
            </a:solidFill>
            <a:prstDash val="solid"/>
          </a:ln>
        </p:spPr>
      </p:sp>
      <p:sp>
        <p:nvSpPr>
          <p:cNvPr id="29" name="Text 27"/>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但是</a:t>
            </a:r>
            <a:endParaRPr lang="en-US" sz="950" dirty="0"/>
          </a:p>
        </p:txBody>
      </p:sp>
      <p:sp>
        <p:nvSpPr>
          <p:cNvPr id="30" name="Text 28"/>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1" name="Text 29"/>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A8421F"/>
                </a:solidFill>
                <a:latin typeface="Microsoft YaHei" pitchFamily="34" charset="0"/>
                <a:ea typeface="Microsoft YaHei" pitchFamily="34" charset="-122"/>
                <a:cs typeface="Microsoft YaHei" pitchFamily="34" charset="-120"/>
              </a:rPr>
              <a:t>作者以「元认知懒惰」概括这一现象，即任务表现提高，但知识获得与迁移没有同步改善。</a:t>
            </a:r>
            <a:endParaRPr lang="en-US" sz="1350" dirty="0"/>
          </a:p>
        </p:txBody>
      </p:sp>
      <p:sp>
        <p:nvSpPr>
          <p:cNvPr id="32" name="Text 30"/>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3" name="Text 31"/>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4" name="Text 32"/>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该研究的样本为大学生，不能直接推断中小学生。</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081B3A"/>
          </a:solidFill>
          <a:ln w="25400">
            <a:solidFill>
              <a:srgbClr val="5F7088"/>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Shape 13"/>
          <p:cNvSpPr/>
          <p:nvPr/>
        </p:nvSpPr>
        <p:spPr>
          <a:xfrm>
            <a:off x="1295400" y="2505456"/>
            <a:ext cx="45720" cy="1234440"/>
          </a:xfrm>
          <a:prstGeom prst="rect">
            <a:avLst/>
          </a:prstGeom>
          <a:solidFill>
            <a:srgbClr val="C2552F"/>
          </a:solidFill>
          <a:ln w="12700">
            <a:solidFill>
              <a:srgbClr val="C2552F"/>
            </a:solidFill>
            <a:prstDash val="solid"/>
          </a:ln>
        </p:spPr>
      </p:sp>
      <p:sp>
        <p:nvSpPr>
          <p:cNvPr id="16" name="Text 14"/>
          <p:cNvSpPr/>
          <p:nvPr/>
        </p:nvSpPr>
        <p:spPr>
          <a:xfrm>
            <a:off x="1551432" y="2468880"/>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生成式 AI 系统介入学生应形成能力的环节时，任务完成效率的提高可能伴随学习过程的减少。</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量规以可观察行为描述表现等级；写实记录按时间与具体行为记录学生表现。以下四项用途均在教师侧完成。</a:t>
            </a:r>
            <a:endParaRPr lang="en-US" sz="1150" dirty="0"/>
          </a:p>
        </p:txBody>
      </p:sp>
      <p:sp>
        <p:nvSpPr>
          <p:cNvPr id="18" name="Shape 16"/>
          <p:cNvSpPr/>
          <p:nvPr/>
        </p:nvSpPr>
        <p:spPr>
          <a:xfrm>
            <a:off x="1295400" y="2226564"/>
            <a:ext cx="4899508" cy="1298448"/>
          </a:xfrm>
          <a:prstGeom prst="roundRect">
            <a:avLst>
              <a:gd name="adj" fmla="val 6338"/>
            </a:avLst>
          </a:prstGeom>
          <a:solidFill>
            <a:srgbClr val="FFFFFF"/>
          </a:solidFill>
          <a:ln w="12700">
            <a:solidFill>
              <a:srgbClr val="D9E2EF"/>
            </a:solidFill>
            <a:prstDash val="solid"/>
          </a:ln>
        </p:spPr>
      </p:sp>
      <p:sp>
        <p:nvSpPr>
          <p:cNvPr id="19" name="Shape 17"/>
          <p:cNvSpPr/>
          <p:nvPr/>
        </p:nvSpPr>
        <p:spPr>
          <a:xfrm>
            <a:off x="1359408" y="2226564"/>
            <a:ext cx="4771492" cy="38100"/>
          </a:xfrm>
          <a:prstGeom prst="rect">
            <a:avLst/>
          </a:prstGeom>
          <a:solidFill>
            <a:srgbClr val="2563EB"/>
          </a:solidFill>
          <a:ln w="12700">
            <a:solidFill>
              <a:srgbClr val="2563EB"/>
            </a:solidFill>
            <a:prstDash val="solid"/>
          </a:ln>
        </p:spPr>
      </p:sp>
      <p:sp>
        <p:nvSpPr>
          <p:cNvPr id="20" name="Text 18"/>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评价量规初稿</a:t>
            </a:r>
            <a:endParaRPr lang="en-US" sz="1500" dirty="0"/>
          </a:p>
        </p:txBody>
      </p:sp>
      <p:sp>
        <p:nvSpPr>
          <p:cNvPr id="21" name="Text 19"/>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2" name="Shape 20"/>
          <p:cNvSpPr/>
          <p:nvPr/>
        </p:nvSpPr>
        <p:spPr>
          <a:xfrm>
            <a:off x="1496568" y="3195828"/>
            <a:ext cx="4497172" cy="0"/>
          </a:xfrm>
          <a:prstGeom prst="line">
            <a:avLst/>
          </a:prstGeom>
          <a:noFill/>
          <a:ln w="12700">
            <a:solidFill>
              <a:srgbClr val="D9E2EF"/>
            </a:solidFill>
            <a:prstDash val="solid"/>
          </a:ln>
        </p:spPr>
      </p:sp>
      <p:sp>
        <p:nvSpPr>
          <p:cNvPr id="23" name="Text 21"/>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4" name="Shape 22"/>
          <p:cNvSpPr/>
          <p:nvPr/>
        </p:nvSpPr>
        <p:spPr>
          <a:xfrm>
            <a:off x="6377788" y="2226564"/>
            <a:ext cx="4899508" cy="1298448"/>
          </a:xfrm>
          <a:prstGeom prst="roundRect">
            <a:avLst>
              <a:gd name="adj" fmla="val 6338"/>
            </a:avLst>
          </a:prstGeom>
          <a:solidFill>
            <a:srgbClr val="FFFFFF"/>
          </a:solidFill>
          <a:ln w="12700">
            <a:solidFill>
              <a:srgbClr val="D9E2EF"/>
            </a:solidFill>
            <a:prstDash val="solid"/>
          </a:ln>
        </p:spPr>
      </p:sp>
      <p:sp>
        <p:nvSpPr>
          <p:cNvPr id="25" name="Shape 23"/>
          <p:cNvSpPr/>
          <p:nvPr/>
        </p:nvSpPr>
        <p:spPr>
          <a:xfrm>
            <a:off x="6441796" y="2226564"/>
            <a:ext cx="4771492" cy="38100"/>
          </a:xfrm>
          <a:prstGeom prst="rect">
            <a:avLst/>
          </a:prstGeom>
          <a:solidFill>
            <a:srgbClr val="C2552F"/>
          </a:solidFill>
          <a:ln w="12700">
            <a:solidFill>
              <a:srgbClr val="C2552F"/>
            </a:solidFill>
            <a:prstDash val="solid"/>
          </a:ln>
        </p:spPr>
      </p:sp>
      <p:sp>
        <p:nvSpPr>
          <p:cNvPr id="26" name="Text 24"/>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三档任务单</a:t>
            </a:r>
            <a:endParaRPr lang="en-US" sz="1500" dirty="0"/>
          </a:p>
        </p:txBody>
      </p:sp>
      <p:sp>
        <p:nvSpPr>
          <p:cNvPr id="27" name="Text 25"/>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8" name="Shape 26"/>
          <p:cNvSpPr/>
          <p:nvPr/>
        </p:nvSpPr>
        <p:spPr>
          <a:xfrm>
            <a:off x="6578956" y="3195828"/>
            <a:ext cx="4497172" cy="0"/>
          </a:xfrm>
          <a:prstGeom prst="line">
            <a:avLst/>
          </a:prstGeom>
          <a:noFill/>
          <a:ln w="12700">
            <a:solidFill>
              <a:srgbClr val="D9E2EF"/>
            </a:solidFill>
            <a:prstDash val="solid"/>
          </a:ln>
        </p:spPr>
      </p:sp>
      <p:sp>
        <p:nvSpPr>
          <p:cNvPr id="29" name="Text 27"/>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30" name="Shape 28"/>
          <p:cNvSpPr/>
          <p:nvPr/>
        </p:nvSpPr>
        <p:spPr>
          <a:xfrm>
            <a:off x="1295400" y="3689604"/>
            <a:ext cx="4899508" cy="1298448"/>
          </a:xfrm>
          <a:prstGeom prst="roundRect">
            <a:avLst>
              <a:gd name="adj" fmla="val 6338"/>
            </a:avLst>
          </a:prstGeom>
          <a:solidFill>
            <a:srgbClr val="FFFFFF"/>
          </a:solidFill>
          <a:ln w="12700">
            <a:solidFill>
              <a:srgbClr val="D9E2EF"/>
            </a:solidFill>
            <a:prstDash val="solid"/>
          </a:ln>
        </p:spPr>
      </p:sp>
      <p:sp>
        <p:nvSpPr>
          <p:cNvPr id="31" name="Shape 29"/>
          <p:cNvSpPr/>
          <p:nvPr/>
        </p:nvSpPr>
        <p:spPr>
          <a:xfrm>
            <a:off x="1359408" y="3689604"/>
            <a:ext cx="4771492" cy="38100"/>
          </a:xfrm>
          <a:prstGeom prst="rect">
            <a:avLst/>
          </a:prstGeom>
          <a:solidFill>
            <a:srgbClr val="C2552F"/>
          </a:solidFill>
          <a:ln w="12700">
            <a:solidFill>
              <a:srgbClr val="C2552F"/>
            </a:solidFill>
            <a:prstDash val="solid"/>
          </a:ln>
        </p:spPr>
      </p:sp>
      <p:sp>
        <p:nvSpPr>
          <p:cNvPr id="32" name="Text 30"/>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写实记录的整理</a:t>
            </a:r>
            <a:endParaRPr lang="en-US" sz="1500" dirty="0"/>
          </a:p>
        </p:txBody>
      </p:sp>
      <p:sp>
        <p:nvSpPr>
          <p:cNvPr id="33" name="Text 31"/>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4" name="Shape 32"/>
          <p:cNvSpPr/>
          <p:nvPr/>
        </p:nvSpPr>
        <p:spPr>
          <a:xfrm>
            <a:off x="1496568" y="4658868"/>
            <a:ext cx="4497172" cy="0"/>
          </a:xfrm>
          <a:prstGeom prst="line">
            <a:avLst/>
          </a:prstGeom>
          <a:noFill/>
          <a:ln w="12700">
            <a:solidFill>
              <a:srgbClr val="D9E2EF"/>
            </a:solidFill>
            <a:prstDash val="solid"/>
          </a:ln>
        </p:spPr>
      </p:sp>
      <p:sp>
        <p:nvSpPr>
          <p:cNvPr id="35" name="Text 33"/>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6" name="Shape 34"/>
          <p:cNvSpPr/>
          <p:nvPr/>
        </p:nvSpPr>
        <p:spPr>
          <a:xfrm>
            <a:off x="6377788" y="3689604"/>
            <a:ext cx="4899508" cy="1298448"/>
          </a:xfrm>
          <a:prstGeom prst="roundRect">
            <a:avLst>
              <a:gd name="adj" fmla="val 6338"/>
            </a:avLst>
          </a:prstGeom>
          <a:solidFill>
            <a:srgbClr val="FFFFFF"/>
          </a:solidFill>
          <a:ln w="12700">
            <a:solidFill>
              <a:srgbClr val="D9E2EF"/>
            </a:solidFill>
            <a:prstDash val="solid"/>
          </a:ln>
        </p:spPr>
      </p:sp>
      <p:sp>
        <p:nvSpPr>
          <p:cNvPr id="37" name="Shape 35"/>
          <p:cNvSpPr/>
          <p:nvPr/>
        </p:nvSpPr>
        <p:spPr>
          <a:xfrm>
            <a:off x="6441796" y="3689604"/>
            <a:ext cx="4771492" cy="38100"/>
          </a:xfrm>
          <a:prstGeom prst="rect">
            <a:avLst/>
          </a:prstGeom>
          <a:solidFill>
            <a:srgbClr val="2563EB"/>
          </a:solidFill>
          <a:ln w="12700">
            <a:solidFill>
              <a:srgbClr val="2563EB"/>
            </a:solidFill>
            <a:prstDash val="solid"/>
          </a:ln>
        </p:spPr>
      </p:sp>
      <p:sp>
        <p:nvSpPr>
          <p:cNvPr id="38" name="Text 36"/>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数据作图</a:t>
            </a:r>
            <a:endParaRPr lang="en-US" sz="1500" dirty="0"/>
          </a:p>
        </p:txBody>
      </p:sp>
      <p:sp>
        <p:nvSpPr>
          <p:cNvPr id="39" name="Text 37"/>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40" name="Shape 38"/>
          <p:cNvSpPr/>
          <p:nvPr/>
        </p:nvSpPr>
        <p:spPr>
          <a:xfrm>
            <a:off x="6578956" y="4658868"/>
            <a:ext cx="4497172" cy="0"/>
          </a:xfrm>
          <a:prstGeom prst="line">
            <a:avLst/>
          </a:prstGeom>
          <a:noFill/>
          <a:ln w="12700">
            <a:solidFill>
              <a:srgbClr val="D9E2EF"/>
            </a:solidFill>
            <a:prstDash val="solid"/>
          </a:ln>
        </p:spPr>
      </p:sp>
      <p:sp>
        <p:nvSpPr>
          <p:cNvPr id="41" name="Text 39"/>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2" name="Shape 40"/>
          <p:cNvSpPr/>
          <p:nvPr/>
        </p:nvSpPr>
        <p:spPr>
          <a:xfrm>
            <a:off x="1295400" y="5888736"/>
            <a:ext cx="9981895" cy="0"/>
          </a:xfrm>
          <a:prstGeom prst="line">
            <a:avLst/>
          </a:prstGeom>
          <a:noFill/>
          <a:ln w="12700">
            <a:solidFill>
              <a:srgbClr val="D9E2EF"/>
            </a:solidFill>
            <a:prstDash val="solid"/>
          </a:ln>
        </p:spPr>
      </p:sp>
      <p:sp>
        <p:nvSpPr>
          <p:cNvPr id="43" name="Text 4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教师侧指令的基本结构</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以量规初稿为例，指令包含交代场景、说明所需产出、限定排除项三个部分。</a:t>
            </a:r>
            <a:endParaRPr lang="en-US" sz="1150" dirty="0"/>
          </a:p>
        </p:txBody>
      </p:sp>
      <p:sp>
        <p:nvSpPr>
          <p:cNvPr id="18" name="Shape 16"/>
          <p:cNvSpPr/>
          <p:nvPr/>
        </p:nvSpPr>
        <p:spPr>
          <a:xfrm>
            <a:off x="1295400" y="2208276"/>
            <a:ext cx="3266338" cy="256032"/>
          </a:xfrm>
          <a:prstGeom prst="roundRect">
            <a:avLst>
              <a:gd name="adj" fmla="val 17857"/>
            </a:avLst>
          </a:prstGeom>
          <a:solidFill>
            <a:srgbClr val="DBEAFE"/>
          </a:solidFill>
          <a:ln w="12700">
            <a:solidFill>
              <a:srgbClr val="BFD3EA"/>
            </a:solidFill>
            <a:prstDash val="solid"/>
          </a:ln>
        </p:spPr>
      </p:sp>
      <p:sp>
        <p:nvSpPr>
          <p:cNvPr id="19" name="Text 17"/>
          <p:cNvSpPr/>
          <p:nvPr/>
        </p:nvSpPr>
        <p:spPr>
          <a:xfrm>
            <a:off x="1405128"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①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交代场景</a:t>
            </a:r>
            <a:pPr indent="0" marL="0">
              <a:buNone/>
            </a:pPr>
            <a:r>
              <a:rPr lang="en-US" sz="850" dirty="0">
                <a:solidFill>
                  <a:srgbClr val="5F7088"/>
                </a:solidFill>
                <a:latin typeface="Microsoft YaHei" pitchFamily="34" charset="0"/>
                <a:ea typeface="Microsoft YaHei" pitchFamily="34" charset="-122"/>
                <a:cs typeface="Microsoft YaHei" pitchFamily="34" charset="-120"/>
              </a:rPr>
              <a:t>　学段、任务与已有材料</a:t>
            </a:r>
            <a:endParaRPr lang="en-US" sz="950" dirty="0"/>
          </a:p>
        </p:txBody>
      </p:sp>
      <p:sp>
        <p:nvSpPr>
          <p:cNvPr id="20" name="Shape 18"/>
          <p:cNvSpPr/>
          <p:nvPr/>
        </p:nvSpPr>
        <p:spPr>
          <a:xfrm>
            <a:off x="4653178" y="2208276"/>
            <a:ext cx="3266338" cy="256032"/>
          </a:xfrm>
          <a:prstGeom prst="roundRect">
            <a:avLst>
              <a:gd name="adj" fmla="val 17857"/>
            </a:avLst>
          </a:prstGeom>
          <a:solidFill>
            <a:srgbClr val="F7FAFF"/>
          </a:solidFill>
          <a:ln w="12700">
            <a:solidFill>
              <a:srgbClr val="D9E2EF"/>
            </a:solidFill>
            <a:prstDash val="solid"/>
          </a:ln>
        </p:spPr>
      </p:sp>
      <p:sp>
        <p:nvSpPr>
          <p:cNvPr id="21" name="Text 19"/>
          <p:cNvSpPr/>
          <p:nvPr/>
        </p:nvSpPr>
        <p:spPr>
          <a:xfrm>
            <a:off x="4762906"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②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说明所需产出</a:t>
            </a:r>
            <a:pPr indent="0" marL="0">
              <a:buNone/>
            </a:pPr>
            <a:r>
              <a:rPr lang="en-US" sz="850" dirty="0">
                <a:solidFill>
                  <a:srgbClr val="5F7088"/>
                </a:solidFill>
                <a:latin typeface="Microsoft YaHei" pitchFamily="34" charset="0"/>
                <a:ea typeface="Microsoft YaHei" pitchFamily="34" charset="-122"/>
                <a:cs typeface="Microsoft YaHei" pitchFamily="34" charset="-120"/>
              </a:rPr>
              <a:t>　数量、形式与篇幅</a:t>
            </a:r>
            <a:endParaRPr lang="en-US" sz="950" dirty="0"/>
          </a:p>
        </p:txBody>
      </p:sp>
      <p:sp>
        <p:nvSpPr>
          <p:cNvPr id="22" name="Shape 20"/>
          <p:cNvSpPr/>
          <p:nvPr/>
        </p:nvSpPr>
        <p:spPr>
          <a:xfrm>
            <a:off x="8010957" y="2208276"/>
            <a:ext cx="3266338" cy="256032"/>
          </a:xfrm>
          <a:prstGeom prst="roundRect">
            <a:avLst>
              <a:gd name="adj" fmla="val 17857"/>
            </a:avLst>
          </a:prstGeom>
          <a:solidFill>
            <a:srgbClr val="F2C9B4"/>
          </a:solidFill>
          <a:ln w="12700">
            <a:solidFill>
              <a:srgbClr val="DFB09C"/>
            </a:solidFill>
            <a:prstDash val="solid"/>
          </a:ln>
        </p:spPr>
      </p:sp>
      <p:sp>
        <p:nvSpPr>
          <p:cNvPr id="23" name="Text 21"/>
          <p:cNvSpPr/>
          <p:nvPr/>
        </p:nvSpPr>
        <p:spPr>
          <a:xfrm>
            <a:off x="8120685"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③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限定排除项</a:t>
            </a:r>
            <a:pPr indent="0" marL="0">
              <a:buNone/>
            </a:pPr>
            <a:r>
              <a:rPr lang="en-US" sz="850" dirty="0">
                <a:solidFill>
                  <a:srgbClr val="5F7088"/>
                </a:solidFill>
                <a:latin typeface="Microsoft YaHei" pitchFamily="34" charset="0"/>
                <a:ea typeface="Microsoft YaHei" pitchFamily="34" charset="-122"/>
                <a:cs typeface="Microsoft YaHei" pitchFamily="34" charset="-120"/>
              </a:rPr>
              <a:t>　不应出现的内容与写法</a:t>
            </a:r>
            <a:endParaRPr lang="en-US" sz="950" dirty="0"/>
          </a:p>
        </p:txBody>
      </p:sp>
      <p:sp>
        <p:nvSpPr>
          <p:cNvPr id="24" name="Shape 22"/>
          <p:cNvSpPr/>
          <p:nvPr/>
        </p:nvSpPr>
        <p:spPr>
          <a:xfrm>
            <a:off x="1295400" y="2574036"/>
            <a:ext cx="9981895" cy="822960"/>
          </a:xfrm>
          <a:prstGeom prst="roundRect">
            <a:avLst>
              <a:gd name="adj" fmla="val 8889"/>
            </a:avLst>
          </a:prstGeom>
          <a:solidFill>
            <a:srgbClr val="FFFFFF"/>
          </a:solidFill>
          <a:ln w="12700">
            <a:solidFill>
              <a:srgbClr val="D9E2EF"/>
            </a:solidFill>
            <a:prstDash val="solid"/>
          </a:ln>
        </p:spPr>
      </p:sp>
      <p:sp>
        <p:nvSpPr>
          <p:cNvPr id="25" name="Shape 23"/>
          <p:cNvSpPr/>
          <p:nvPr/>
        </p:nvSpPr>
        <p:spPr>
          <a:xfrm>
            <a:off x="1295400" y="2619756"/>
            <a:ext cx="38100" cy="731520"/>
          </a:xfrm>
          <a:prstGeom prst="rect">
            <a:avLst/>
          </a:prstGeom>
          <a:solidFill>
            <a:srgbClr val="C2552F"/>
          </a:solidFill>
          <a:ln w="12700">
            <a:solidFill>
              <a:srgbClr val="A8421F"/>
            </a:solidFill>
            <a:prstDash val="solid"/>
          </a:ln>
        </p:spPr>
      </p:sp>
      <p:sp>
        <p:nvSpPr>
          <p:cNvPr id="26" name="Text 24"/>
          <p:cNvSpPr/>
          <p:nvPr/>
        </p:nvSpPr>
        <p:spPr>
          <a:xfrm>
            <a:off x="1533144" y="2729484"/>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量规初稿</a:t>
            </a:r>
            <a:endParaRPr lang="en-US" sz="1150" dirty="0"/>
          </a:p>
        </p:txBody>
      </p:sp>
      <p:sp>
        <p:nvSpPr>
          <p:cNvPr id="27" name="Text 25"/>
          <p:cNvSpPr/>
          <p:nvPr/>
        </p:nvSpPr>
        <p:spPr>
          <a:xfrm>
            <a:off x="2795016" y="2702052"/>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请为这四个维度各写一张四级量规，每一级用学生做得出来的行为来描述。</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不要使用较好、优秀这类词。</a:t>
            </a:r>
            <a:endParaRPr lang="en-US" sz="1200" dirty="0"/>
          </a:p>
        </p:txBody>
      </p:sp>
      <p:sp>
        <p:nvSpPr>
          <p:cNvPr id="28" name="Text 26"/>
          <p:cNvSpPr/>
          <p:nvPr/>
        </p:nvSpPr>
        <p:spPr>
          <a:xfrm>
            <a:off x="1295400" y="3543300"/>
            <a:ext cx="9981895"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其余两条完整指令见教师讲义。</a:t>
            </a:r>
            <a:endParaRPr lang="en-US" sz="100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限制条件决定返回内容是否可供教师修改。所有返回内容均为初稿，使用前须逐条复核。</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环节配置的三个判断步骤</a:t>
            </a:r>
            <a:endParaRPr lang="en-US" sz="3200" dirty="0"/>
          </a:p>
        </p:txBody>
      </p:sp>
      <p:sp>
        <p:nvSpPr>
          <p:cNvPr id="17" name="Shape 15"/>
          <p:cNvSpPr/>
          <p:nvPr/>
        </p:nvSpPr>
        <p:spPr>
          <a:xfrm>
            <a:off x="1551432" y="2734056"/>
            <a:ext cx="9469831" cy="0"/>
          </a:xfrm>
          <a:prstGeom prst="line">
            <a:avLst/>
          </a:prstGeom>
          <a:noFill/>
          <a:ln w="19050">
            <a:solidFill>
              <a:srgbClr val="BFD3EA"/>
            </a:solidFill>
            <a:prstDash val="solid"/>
          </a:ln>
        </p:spPr>
      </p:sp>
      <p:sp>
        <p:nvSpPr>
          <p:cNvPr id="18" name="Shape 16"/>
          <p:cNvSpPr/>
          <p:nvPr/>
        </p:nvSpPr>
        <p:spPr>
          <a:xfrm>
            <a:off x="1295400" y="2487168"/>
            <a:ext cx="493776" cy="493776"/>
          </a:xfrm>
          <a:prstGeom prst="ellipse">
            <a:avLst/>
          </a:prstGeom>
          <a:solidFill>
            <a:srgbClr val="F7FAFF"/>
          </a:solidFill>
          <a:ln w="21590">
            <a:solidFill>
              <a:srgbClr val="C2552F"/>
            </a:solidFill>
            <a:prstDash val="solid"/>
          </a:ln>
        </p:spPr>
      </p:sp>
      <p:sp>
        <p:nvSpPr>
          <p:cNvPr id="19" name="Text 17"/>
          <p:cNvSpPr/>
          <p:nvPr/>
        </p:nvSpPr>
        <p:spPr>
          <a:xfrm>
            <a:off x="1295400"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一</a:t>
            </a:r>
            <a:endParaRPr lang="en-US" sz="1400" dirty="0"/>
          </a:p>
        </p:txBody>
      </p:sp>
      <p:sp>
        <p:nvSpPr>
          <p:cNvPr id="20" name="Text 18"/>
          <p:cNvSpPr/>
          <p:nvPr/>
        </p:nvSpPr>
        <p:spPr>
          <a:xfrm>
            <a:off x="1295400"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明确该环节所训练的能力</a:t>
            </a:r>
            <a:endParaRPr lang="en-US" sz="1800" dirty="0"/>
          </a:p>
        </p:txBody>
      </p:sp>
      <p:sp>
        <p:nvSpPr>
          <p:cNvPr id="21" name="Shape 19"/>
          <p:cNvSpPr/>
          <p:nvPr/>
        </p:nvSpPr>
        <p:spPr>
          <a:xfrm>
            <a:off x="4714138" y="2487168"/>
            <a:ext cx="493776" cy="493776"/>
          </a:xfrm>
          <a:prstGeom prst="ellipse">
            <a:avLst/>
          </a:prstGeom>
          <a:solidFill>
            <a:srgbClr val="F7FAFF"/>
          </a:solidFill>
          <a:ln w="21590">
            <a:solidFill>
              <a:srgbClr val="C2552F"/>
            </a:solidFill>
            <a:prstDash val="solid"/>
          </a:ln>
        </p:spPr>
      </p:sp>
      <p:sp>
        <p:nvSpPr>
          <p:cNvPr id="22" name="Text 20"/>
          <p:cNvSpPr/>
          <p:nvPr/>
        </p:nvSpPr>
        <p:spPr>
          <a:xfrm>
            <a:off x="4714138"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二</a:t>
            </a:r>
            <a:endParaRPr lang="en-US" sz="1400" dirty="0"/>
          </a:p>
        </p:txBody>
      </p:sp>
      <p:sp>
        <p:nvSpPr>
          <p:cNvPr id="23" name="Text 21"/>
          <p:cNvSpPr/>
          <p:nvPr/>
        </p:nvSpPr>
        <p:spPr>
          <a:xfrm>
            <a:off x="4714138"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判断系统输出是否替代该能力的形成过程</a:t>
            </a:r>
            <a:endParaRPr lang="en-US" sz="1800" dirty="0"/>
          </a:p>
        </p:txBody>
      </p:sp>
      <p:sp>
        <p:nvSpPr>
          <p:cNvPr id="24" name="Shape 22"/>
          <p:cNvSpPr/>
          <p:nvPr/>
        </p:nvSpPr>
        <p:spPr>
          <a:xfrm>
            <a:off x="8132877" y="2487168"/>
            <a:ext cx="493776" cy="493776"/>
          </a:xfrm>
          <a:prstGeom prst="ellipse">
            <a:avLst/>
          </a:prstGeom>
          <a:solidFill>
            <a:srgbClr val="F7FAFF"/>
          </a:solidFill>
          <a:ln w="21590">
            <a:solidFill>
              <a:srgbClr val="C2552F"/>
            </a:solidFill>
            <a:prstDash val="solid"/>
          </a:ln>
        </p:spPr>
      </p:sp>
      <p:sp>
        <p:nvSpPr>
          <p:cNvPr id="25" name="Text 23"/>
          <p:cNvSpPr/>
          <p:nvPr/>
        </p:nvSpPr>
        <p:spPr>
          <a:xfrm>
            <a:off x="8132877"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三</a:t>
            </a:r>
            <a:endParaRPr lang="en-US" sz="1400" dirty="0"/>
          </a:p>
        </p:txBody>
      </p:sp>
      <p:sp>
        <p:nvSpPr>
          <p:cNvPr id="26" name="Text 24"/>
          <p:cNvSpPr/>
          <p:nvPr/>
        </p:nvSpPr>
        <p:spPr>
          <a:xfrm>
            <a:off x="8132877"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确定所需补充的学习活动与过程证据</a:t>
            </a:r>
            <a:endParaRPr lang="en-US" sz="1800" dirty="0"/>
          </a:p>
        </p:txBody>
      </p:sp>
      <p:sp>
        <p:nvSpPr>
          <p:cNvPr id="27" name="Shape 25"/>
          <p:cNvSpPr/>
          <p:nvPr/>
        </p:nvSpPr>
        <p:spPr>
          <a:xfrm>
            <a:off x="1295400" y="5888736"/>
            <a:ext cx="9981895" cy="0"/>
          </a:xfrm>
          <a:prstGeom prst="line">
            <a:avLst/>
          </a:prstGeom>
          <a:noFill/>
          <a:ln w="12700">
            <a:solidFill>
              <a:srgbClr val="D9E2EF"/>
            </a:solidFill>
            <a:prstDash val="solid"/>
          </a:ln>
        </p:spPr>
      </p:sp>
      <p:sp>
        <p:nvSpPr>
          <p:cNvPr id="28" name="Text 2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081B3A"/>
          </a:solidFill>
          <a:ln w="25400">
            <a:solidFill>
              <a:srgbClr val="5F7088"/>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判据</a:t>
            </a:r>
            <a:endParaRPr lang="en-US" sz="1000" dirty="0"/>
          </a:p>
        </p:txBody>
      </p:sp>
      <p:sp>
        <p:nvSpPr>
          <p:cNvPr id="16" name="Shape 14"/>
          <p:cNvSpPr/>
          <p:nvPr/>
        </p:nvSpPr>
        <p:spPr>
          <a:xfrm>
            <a:off x="1295400" y="2651760"/>
            <a:ext cx="45720" cy="1234440"/>
          </a:xfrm>
          <a:prstGeom prst="rect">
            <a:avLst/>
          </a:prstGeom>
          <a:solidFill>
            <a:srgbClr val="C2552F"/>
          </a:solidFill>
          <a:ln w="12700">
            <a:solidFill>
              <a:srgbClr val="C2552F"/>
            </a:solidFill>
            <a:prstDash val="solid"/>
          </a:ln>
        </p:spPr>
      </p:sp>
      <p:sp>
        <p:nvSpPr>
          <p:cNvPr id="17" name="Text 15"/>
          <p:cNvSpPr/>
          <p:nvPr/>
        </p:nvSpPr>
        <p:spPr>
          <a:xfrm>
            <a:off x="1551432" y="2615184"/>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环节配置的核心判据，是该环节的困难是否属于课程要求学生经历的困难。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六环节配置表示例：科学护眼</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15668"/>
          <a:ext cx="9981895" cy="914400"/>
        </p:xfrm>
        <a:graphic>
          <a:graphicData uri="http://schemas.openxmlformats.org/drawingml/2006/table">
            <a:tbl>
              <a:tblPr/>
              <a:tblGrid>
                <a:gridCol w="2103120"/>
                <a:gridCol w="2624328"/>
                <a:gridCol w="2624328"/>
                <a:gridCol w="2624328"/>
              </a:tblGrid>
              <a:tr h="566928">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本环节训练的能力</a:t>
                      </a:r>
                      <a:endParaRPr lang="en-US" sz="9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系统输出是否替代能力形成</a:t>
                      </a:r>
                      <a:endParaRPr lang="en-US" sz="9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需要补充的活动与证据</a:t>
                      </a:r>
                      <a:endParaRPr lang="en-US" sz="9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提出问题和假设</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从真实用眼现象形成可探究问题</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直接给出问题会替代问题形成过程</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学生先记录现象并独立写出问题，再检索对照</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设计方案</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选择测量对象并控制条件</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直接改写方案会替代变量判断</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学生先形成方案，系统只核对遗漏</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搜集分析证据</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实际测量并保留原始记录</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生成数据会替代；整理数据不替代</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900" dirty="0">
                          <a:solidFill>
                            <a:srgbClr val="27364A"/>
                          </a:solidFill>
                          <a:latin typeface="Microsoft YaHei" pitchFamily="34" charset="0"/>
                          <a:ea typeface="Microsoft YaHei" pitchFamily="34" charset="-122"/>
                          <a:cs typeface="Microsoft YaHei" pitchFamily="34" charset="-120"/>
                        </a:rPr>
                        <a:t>学生完成测量；系统可整理作图，原始记录一并提交</a:t>
                      </a:r>
                      <a:endParaRPr lang="en-US" sz="900" dirty="0">
                        <a:latin typeface="Microsoft YaHei" charset="0"/>
                        <a:ea typeface="Microsoft YaHei" charset="0"/>
                        <a:cs typeface="Microsoft YaHei" charset="0"/>
                      </a:endParaRPr>
                    </a:p>
                  </a:txBody>
                  <a:tcPr marL="63500" marR="63500" marT="63500" marB="635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得出结论并解释</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制作改进</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27364A"/>
                          </a:solidFill>
                          <a:latin typeface="Microsoft YaHei" pitchFamily="34" charset="0"/>
                          <a:ea typeface="Microsoft YaHei" pitchFamily="34" charset="-122"/>
                          <a:cs typeface="Microsoft YaHei" pitchFamily="34" charset="-120"/>
                        </a:rPr>
                        <a:t>交流反思</a:t>
                      </a:r>
                      <a:endParaRPr lang="en-US" sz="115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63500" marR="63500" marT="63500" marB="635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投影示例填写前三个环节；完整空白表见教师讲义。</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六个环节的工具介入程度</a:t>
            </a:r>
            <a:endParaRPr lang="en-US" sz="3200" dirty="0"/>
          </a:p>
        </p:txBody>
      </p:sp>
      <p:pic>
        <p:nvPicPr>
          <p:cNvPr id="17" name="Image 0" descr="/Users/tonyxin/Documents/Codex/2026-08-22/https-github-com-tonyxinvip-slides-https/work/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8" name="Text 15"/>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27364A"/>
                </a:solidFill>
                <a:latin typeface="Microsoft YaHei" pitchFamily="34" charset="0"/>
                <a:ea typeface="Microsoft YaHei" pitchFamily="34" charset="-122"/>
                <a:cs typeface="Microsoft YaHei" pitchFamily="34" charset="-120"/>
              </a:rPr>
              <a:t>“收”指学生独立完成，“半收”指系统只对已有方案提出质疑，“半放”指仅作资料辅助，“放”指可作表达辅助。“采集收、处理放”指原始数据由学生取得，系统只参与整理与作图。</a:t>
            </a:r>
            <a:endParaRPr lang="en-US" sz="1600" dirty="0"/>
          </a:p>
        </p:txBody>
      </p:sp>
      <p:sp>
        <p:nvSpPr>
          <p:cNvPr id="19" name="Text 16"/>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任务前的背景检索与任务后的表达加工可以使用工具；提出问题、取得原始证据和解释结论应由学生完成。</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学生侧的三种条件性辅助方式</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工具介入须同时规定可用动作、限制条件与记录要求。以下三种方式均不改变学生对问题、证据与结论的责任。</a:t>
            </a:r>
            <a:endParaRPr lang="en-US" sz="1150" dirty="0"/>
          </a:p>
        </p:txBody>
      </p:sp>
      <p:sp>
        <p:nvSpPr>
          <p:cNvPr id="18" name="Shape 16"/>
          <p:cNvSpPr/>
          <p:nvPr/>
        </p:nvSpPr>
        <p:spPr>
          <a:xfrm>
            <a:off x="1295400" y="2281428"/>
            <a:ext cx="3205378" cy="2286000"/>
          </a:xfrm>
          <a:prstGeom prst="roundRect">
            <a:avLst>
              <a:gd name="adj" fmla="val 3600"/>
            </a:avLst>
          </a:prstGeom>
          <a:solidFill>
            <a:srgbClr val="FFFFFF"/>
          </a:solidFill>
          <a:ln w="12700">
            <a:solidFill>
              <a:srgbClr val="D9E2EF"/>
            </a:solidFill>
            <a:prstDash val="solid"/>
          </a:ln>
        </p:spPr>
      </p:sp>
      <p:sp>
        <p:nvSpPr>
          <p:cNvPr id="19" name="Shape 17"/>
          <p:cNvSpPr/>
          <p:nvPr/>
        </p:nvSpPr>
        <p:spPr>
          <a:xfrm>
            <a:off x="1359408" y="2281428"/>
            <a:ext cx="3077362" cy="38100"/>
          </a:xfrm>
          <a:prstGeom prst="rect">
            <a:avLst/>
          </a:prstGeom>
          <a:solidFill>
            <a:srgbClr val="2563EB"/>
          </a:solidFill>
          <a:ln w="12700">
            <a:solidFill>
              <a:srgbClr val="2563EB"/>
            </a:solidFill>
            <a:prstDash val="solid"/>
          </a:ln>
        </p:spPr>
      </p:sp>
      <p:sp>
        <p:nvSpPr>
          <p:cNvPr id="20" name="Text 18"/>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背景检索的对照</a:t>
            </a:r>
            <a:endParaRPr lang="en-US" sz="1500" dirty="0"/>
          </a:p>
        </p:txBody>
      </p:sp>
      <p:sp>
        <p:nvSpPr>
          <p:cNvPr id="21" name="Text 19"/>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2" name="Shape 20"/>
          <p:cNvSpPr/>
          <p:nvPr/>
        </p:nvSpPr>
        <p:spPr>
          <a:xfrm>
            <a:off x="1478280" y="3616452"/>
            <a:ext cx="2839618" cy="0"/>
          </a:xfrm>
          <a:prstGeom prst="line">
            <a:avLst/>
          </a:prstGeom>
          <a:noFill/>
          <a:ln w="12700">
            <a:solidFill>
              <a:srgbClr val="D9E2EF"/>
            </a:solidFill>
            <a:prstDash val="solid"/>
          </a:ln>
        </p:spPr>
      </p:sp>
      <p:sp>
        <p:nvSpPr>
          <p:cNvPr id="23" name="Text 21"/>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4" name="Text 22"/>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5" name="Shape 23"/>
          <p:cNvSpPr/>
          <p:nvPr/>
        </p:nvSpPr>
        <p:spPr>
          <a:xfrm>
            <a:off x="4683658" y="2281428"/>
            <a:ext cx="3205378" cy="2286000"/>
          </a:xfrm>
          <a:prstGeom prst="roundRect">
            <a:avLst>
              <a:gd name="adj" fmla="val 3600"/>
            </a:avLst>
          </a:prstGeom>
          <a:solidFill>
            <a:srgbClr val="FFFFFF"/>
          </a:solidFill>
          <a:ln w="12700">
            <a:solidFill>
              <a:srgbClr val="D9E2EF"/>
            </a:solidFill>
            <a:prstDash val="solid"/>
          </a:ln>
        </p:spPr>
      </p:sp>
      <p:sp>
        <p:nvSpPr>
          <p:cNvPr id="26" name="Shape 24"/>
          <p:cNvSpPr/>
          <p:nvPr/>
        </p:nvSpPr>
        <p:spPr>
          <a:xfrm>
            <a:off x="4747666" y="2281428"/>
            <a:ext cx="3077362" cy="38100"/>
          </a:xfrm>
          <a:prstGeom prst="rect">
            <a:avLst/>
          </a:prstGeom>
          <a:solidFill>
            <a:srgbClr val="2563EB"/>
          </a:solidFill>
          <a:ln w="12700">
            <a:solidFill>
              <a:srgbClr val="2563EB"/>
            </a:solidFill>
            <a:prstDash val="solid"/>
          </a:ln>
        </p:spPr>
      </p:sp>
      <p:sp>
        <p:nvSpPr>
          <p:cNvPr id="27" name="Text 25"/>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数据整理与作图</a:t>
            </a:r>
            <a:endParaRPr lang="en-US" sz="1500" dirty="0"/>
          </a:p>
        </p:txBody>
      </p:sp>
      <p:sp>
        <p:nvSpPr>
          <p:cNvPr id="28" name="Text 26"/>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原始数据由学生自行测量，整理、作图与异常值（明显偏离其余记录的数值）标注可以借助 AI。</a:t>
            </a:r>
            <a:endParaRPr lang="en-US" sz="1200" dirty="0"/>
          </a:p>
        </p:txBody>
      </p:sp>
      <p:sp>
        <p:nvSpPr>
          <p:cNvPr id="29" name="Shape 27"/>
          <p:cNvSpPr/>
          <p:nvPr/>
        </p:nvSpPr>
        <p:spPr>
          <a:xfrm>
            <a:off x="4866538" y="3616452"/>
            <a:ext cx="2839618" cy="0"/>
          </a:xfrm>
          <a:prstGeom prst="line">
            <a:avLst/>
          </a:prstGeom>
          <a:noFill/>
          <a:ln w="12700">
            <a:solidFill>
              <a:srgbClr val="D9E2EF"/>
            </a:solidFill>
            <a:prstDash val="solid"/>
          </a:ln>
        </p:spPr>
      </p:sp>
      <p:sp>
        <p:nvSpPr>
          <p:cNvPr id="30" name="Text 28"/>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1" name="Text 29"/>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保留原始记录表。</a:t>
            </a:r>
            <a:endParaRPr lang="en-US" sz="1050" dirty="0"/>
          </a:p>
        </p:txBody>
      </p:sp>
      <p:sp>
        <p:nvSpPr>
          <p:cNvPr id="32" name="Shape 30"/>
          <p:cNvSpPr/>
          <p:nvPr/>
        </p:nvSpPr>
        <p:spPr>
          <a:xfrm>
            <a:off x="8071917" y="2281428"/>
            <a:ext cx="3205378" cy="2286000"/>
          </a:xfrm>
          <a:prstGeom prst="roundRect">
            <a:avLst>
              <a:gd name="adj" fmla="val 3600"/>
            </a:avLst>
          </a:prstGeom>
          <a:solidFill>
            <a:srgbClr val="FFFFFF"/>
          </a:solidFill>
          <a:ln w="12700">
            <a:solidFill>
              <a:srgbClr val="D9E2EF"/>
            </a:solidFill>
            <a:prstDash val="solid"/>
          </a:ln>
        </p:spPr>
      </p:sp>
      <p:sp>
        <p:nvSpPr>
          <p:cNvPr id="33" name="Shape 31"/>
          <p:cNvSpPr/>
          <p:nvPr/>
        </p:nvSpPr>
        <p:spPr>
          <a:xfrm>
            <a:off x="8135925" y="2281428"/>
            <a:ext cx="3077362" cy="38100"/>
          </a:xfrm>
          <a:prstGeom prst="rect">
            <a:avLst/>
          </a:prstGeom>
          <a:solidFill>
            <a:srgbClr val="2563EB"/>
          </a:solidFill>
          <a:ln w="12700">
            <a:solidFill>
              <a:srgbClr val="2563EB"/>
            </a:solidFill>
            <a:prstDash val="solid"/>
          </a:ln>
        </p:spPr>
      </p:sp>
      <p:sp>
        <p:nvSpPr>
          <p:cNvPr id="34" name="Text 32"/>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表达与传播</a:t>
            </a:r>
            <a:endParaRPr lang="en-US" sz="1500" dirty="0"/>
          </a:p>
        </p:txBody>
      </p:sp>
      <p:sp>
        <p:nvSpPr>
          <p:cNvPr id="35" name="Text 33"/>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6" name="Shape 34"/>
          <p:cNvSpPr/>
          <p:nvPr/>
        </p:nvSpPr>
        <p:spPr>
          <a:xfrm>
            <a:off x="8254797" y="3616452"/>
            <a:ext cx="2839618" cy="0"/>
          </a:xfrm>
          <a:prstGeom prst="line">
            <a:avLst/>
          </a:prstGeom>
          <a:noFill/>
          <a:ln w="12700">
            <a:solidFill>
              <a:srgbClr val="D9E2EF"/>
            </a:solidFill>
            <a:prstDash val="solid"/>
          </a:ln>
        </p:spPr>
      </p:sp>
      <p:sp>
        <p:nvSpPr>
          <p:cNvPr id="37" name="Text 35"/>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8" name="Text 36"/>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未列出的环节按上一页配置，由学生独立完成或仅接受质疑。</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7" name="Shape 15"/>
          <p:cNvSpPr/>
          <p:nvPr/>
        </p:nvSpPr>
        <p:spPr>
          <a:xfrm>
            <a:off x="1295400" y="1860804"/>
            <a:ext cx="4881220" cy="2971800"/>
          </a:xfrm>
          <a:prstGeom prst="roundRect">
            <a:avLst>
              <a:gd name="adj" fmla="val 2769"/>
            </a:avLst>
          </a:prstGeom>
          <a:solidFill>
            <a:srgbClr val="FFFFFF"/>
          </a:solidFill>
          <a:ln w="12700">
            <a:solidFill>
              <a:srgbClr val="D9E2EF"/>
            </a:solidFill>
            <a:prstDash val="solid"/>
          </a:ln>
        </p:spPr>
      </p:sp>
      <p:sp>
        <p:nvSpPr>
          <p:cNvPr id="18" name="Shape 16"/>
          <p:cNvSpPr/>
          <p:nvPr/>
        </p:nvSpPr>
        <p:spPr>
          <a:xfrm>
            <a:off x="1359408" y="186080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科学护眼</a:t>
            </a:r>
            <a:endParaRPr lang="en-US" sz="1700" dirty="0"/>
          </a:p>
        </p:txBody>
      </p:sp>
      <p:sp>
        <p:nvSpPr>
          <p:cNvPr id="20" name="Text 18"/>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1" name="Text 19"/>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2" name="Text 20"/>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3" name="Shape 21"/>
          <p:cNvSpPr/>
          <p:nvPr/>
        </p:nvSpPr>
        <p:spPr>
          <a:xfrm>
            <a:off x="6396076" y="1860804"/>
            <a:ext cx="4881220" cy="2971800"/>
          </a:xfrm>
          <a:prstGeom prst="roundRect">
            <a:avLst>
              <a:gd name="adj" fmla="val 2769"/>
            </a:avLst>
          </a:prstGeom>
          <a:solidFill>
            <a:srgbClr val="FFFFFF"/>
          </a:solidFill>
          <a:ln w="12700">
            <a:solidFill>
              <a:srgbClr val="D9E2EF"/>
            </a:solidFill>
            <a:prstDash val="solid"/>
          </a:ln>
        </p:spPr>
      </p:sp>
      <p:sp>
        <p:nvSpPr>
          <p:cNvPr id="24" name="Shape 22"/>
          <p:cNvSpPr/>
          <p:nvPr/>
        </p:nvSpPr>
        <p:spPr>
          <a:xfrm>
            <a:off x="6460084" y="186080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健康饮食</a:t>
            </a:r>
            <a:endParaRPr lang="en-US" sz="1700" dirty="0"/>
          </a:p>
        </p:txBody>
      </p:sp>
      <p:sp>
        <p:nvSpPr>
          <p:cNvPr id="26" name="Text 24"/>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7" name="Text 25"/>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8" name="Text 26"/>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提出问题和假设</a:t>
            </a:r>
            <a:endParaRPr lang="en-US" sz="3200" dirty="0"/>
          </a:p>
        </p:txBody>
      </p:sp>
      <p:sp>
        <p:nvSpPr>
          <p:cNvPr id="17" name="Shape 15"/>
          <p:cNvSpPr/>
          <p:nvPr/>
        </p:nvSpPr>
        <p:spPr>
          <a:xfrm>
            <a:off x="4495800" y="1220724"/>
            <a:ext cx="822960" cy="329184"/>
          </a:xfrm>
          <a:prstGeom prst="rect">
            <a:avLst/>
          </a:prstGeom>
          <a:solidFill>
            <a:srgbClr val="F7FAFF">
              <a:alpha val="0"/>
            </a:srgbClr>
          </a:solidFill>
          <a:ln w="19050">
            <a:solidFill>
              <a:srgbClr val="A8421F"/>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02436"/>
            <a:ext cx="601980" cy="155448"/>
          </a:xfrm>
          <a:prstGeom prst="roundRect">
            <a:avLst>
              <a:gd name="adj" fmla="val 17647"/>
            </a:avLst>
          </a:prstGeom>
          <a:solidFill>
            <a:srgbClr val="7A2C10"/>
          </a:solidFill>
          <a:ln w="12700">
            <a:solidFill>
              <a:srgbClr val="7A2C10"/>
            </a:solidFill>
            <a:prstDash val="solid"/>
          </a:ln>
        </p:spPr>
      </p:sp>
      <p:sp>
        <p:nvSpPr>
          <p:cNvPr id="20" name="Shape 18"/>
          <p:cNvSpPr/>
          <p:nvPr/>
        </p:nvSpPr>
        <p:spPr>
          <a:xfrm>
            <a:off x="7436815" y="1403604"/>
            <a:ext cx="601980" cy="27432"/>
          </a:xfrm>
          <a:prstGeom prst="rect">
            <a:avLst/>
          </a:prstGeom>
          <a:solidFill>
            <a:srgbClr val="A8421F"/>
          </a:solidFill>
          <a:ln w="12700">
            <a:solidFill>
              <a:srgbClr val="A8421F"/>
            </a:solidFill>
            <a:prstDash val="solid"/>
          </a:ln>
        </p:spPr>
      </p:sp>
      <p:sp>
        <p:nvSpPr>
          <p:cNvPr id="21" name="Shape 19"/>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1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真实问题记录</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学生提交来自真实生活的具体问题，教师从中选择并完善一个可持续探究的问题。该记录是问题意识的过程证据。</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设计方案</a:t>
            </a:r>
            <a:endParaRPr lang="en-US" sz="3200" dirty="0"/>
          </a:p>
        </p:txBody>
      </p:sp>
      <p:sp>
        <p:nvSpPr>
          <p:cNvPr id="17" name="Shape 15"/>
          <p:cNvSpPr/>
          <p:nvPr/>
        </p:nvSpPr>
        <p:spPr>
          <a:xfrm>
            <a:off x="3233928" y="1220724"/>
            <a:ext cx="822960" cy="329184"/>
          </a:xfrm>
          <a:prstGeom prst="rect">
            <a:avLst/>
          </a:prstGeom>
          <a:solidFill>
            <a:srgbClr val="F7FAFF">
              <a:alpha val="0"/>
            </a:srgbClr>
          </a:solidFill>
          <a:ln w="19050">
            <a:solidFill>
              <a:srgbClr val="C2552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C2552F"/>
                </a:solidFill>
                <a:latin typeface="Microsoft YaHei" pitchFamily="34" charset="0"/>
                <a:ea typeface="Microsoft YaHei" pitchFamily="34" charset="-122"/>
                <a:cs typeface="Microsoft YaHei" pitchFamily="34" charset="-120"/>
              </a:rPr>
              <a:t>半收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02436"/>
            <a:ext cx="601980" cy="155448"/>
          </a:xfrm>
          <a:prstGeom prst="roundRect">
            <a:avLst>
              <a:gd name="adj" fmla="val 17647"/>
            </a:avLst>
          </a:prstGeom>
          <a:solidFill>
            <a:srgbClr val="C2552F"/>
          </a:solidFill>
          <a:ln w="12700">
            <a:solidFill>
              <a:srgbClr val="C2552F"/>
            </a:solidFill>
            <a:prstDash val="solid"/>
          </a:ln>
        </p:spPr>
      </p:sp>
      <p:sp>
        <p:nvSpPr>
          <p:cNvPr id="21" name="Shape 19"/>
          <p:cNvSpPr/>
          <p:nvPr/>
        </p:nvSpPr>
        <p:spPr>
          <a:xfrm>
            <a:off x="8084515" y="1403604"/>
            <a:ext cx="601980" cy="27432"/>
          </a:xfrm>
          <a:prstGeom prst="rect">
            <a:avLst/>
          </a:prstGeom>
          <a:solidFill>
            <a:srgbClr val="A8421F"/>
          </a:solidFill>
          <a:ln w="12700">
            <a:solidFill>
              <a:srgbClr val="A8421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2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变量控制</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研究一个条件的影响时，只改变该条件，其余条件尽量保持一致。系统可对已有方案提出质疑，但不得输出成稿方案。</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教师使用生成式 AI 的交互示例</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本页为设计方案环节的教师侧指令示例，学生不参与工具操作。</a:t>
            </a:r>
            <a:endParaRPr lang="en-US" sz="1150" dirty="0"/>
          </a:p>
        </p:txBody>
      </p:sp>
      <p:sp>
        <p:nvSpPr>
          <p:cNvPr id="18" name="Shape 16"/>
          <p:cNvSpPr/>
          <p:nvPr/>
        </p:nvSpPr>
        <p:spPr>
          <a:xfrm>
            <a:off x="1295400" y="2226564"/>
            <a:ext cx="9981895" cy="786384"/>
          </a:xfrm>
          <a:prstGeom prst="roundRect">
            <a:avLst>
              <a:gd name="adj" fmla="val 9302"/>
            </a:avLst>
          </a:prstGeom>
          <a:solidFill>
            <a:srgbClr val="FFFFFF"/>
          </a:solidFill>
          <a:ln w="12700">
            <a:solidFill>
              <a:srgbClr val="D9E2EF"/>
            </a:solidFill>
            <a:prstDash val="solid"/>
          </a:ln>
        </p:spPr>
      </p:sp>
      <p:sp>
        <p:nvSpPr>
          <p:cNvPr id="19" name="Shape 17"/>
          <p:cNvSpPr/>
          <p:nvPr/>
        </p:nvSpPr>
        <p:spPr>
          <a:xfrm>
            <a:off x="1295400" y="2272284"/>
            <a:ext cx="38100" cy="694944"/>
          </a:xfrm>
          <a:prstGeom prst="rect">
            <a:avLst/>
          </a:prstGeom>
          <a:solidFill>
            <a:srgbClr val="1D4ED8"/>
          </a:solidFill>
          <a:ln w="12700">
            <a:solidFill>
              <a:srgbClr val="1D4ED8"/>
            </a:solidFill>
            <a:prstDash val="solid"/>
          </a:ln>
        </p:spPr>
      </p:sp>
      <p:sp>
        <p:nvSpPr>
          <p:cNvPr id="20" name="Text 18"/>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教师输入</a:t>
            </a:r>
            <a:endParaRPr lang="en-US" sz="1000" dirty="0"/>
          </a:p>
        </p:txBody>
      </p:sp>
      <p:sp>
        <p:nvSpPr>
          <p:cNvPr id="21" name="Text 19"/>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2" name="Shape 20"/>
          <p:cNvSpPr/>
          <p:nvPr/>
        </p:nvSpPr>
        <p:spPr>
          <a:xfrm>
            <a:off x="1295400" y="3140964"/>
            <a:ext cx="9981895" cy="896112"/>
          </a:xfrm>
          <a:prstGeom prst="roundRect">
            <a:avLst>
              <a:gd name="adj" fmla="val 8163"/>
            </a:avLst>
          </a:prstGeom>
          <a:solidFill>
            <a:srgbClr val="F7FAFF"/>
          </a:solidFill>
          <a:ln w="12700">
            <a:solidFill>
              <a:srgbClr val="D9E2EF"/>
            </a:solidFill>
            <a:prstDash val="solid"/>
          </a:ln>
        </p:spPr>
      </p:sp>
      <p:sp>
        <p:nvSpPr>
          <p:cNvPr id="23" name="Shape 21"/>
          <p:cNvSpPr/>
          <p:nvPr/>
        </p:nvSpPr>
        <p:spPr>
          <a:xfrm>
            <a:off x="1295400" y="3186684"/>
            <a:ext cx="38100" cy="804672"/>
          </a:xfrm>
          <a:prstGeom prst="rect">
            <a:avLst/>
          </a:prstGeom>
          <a:solidFill>
            <a:srgbClr val="C2552F"/>
          </a:solidFill>
          <a:ln w="12700">
            <a:solidFill>
              <a:srgbClr val="C2552F"/>
            </a:solidFill>
            <a:prstDash val="solid"/>
          </a:ln>
        </p:spPr>
      </p:sp>
      <p:sp>
        <p:nvSpPr>
          <p:cNvPr id="24" name="Text 22"/>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2552F"/>
                </a:solidFill>
                <a:latin typeface="Microsoft YaHei" pitchFamily="34" charset="0"/>
                <a:ea typeface="Microsoft YaHei" pitchFamily="34" charset="-122"/>
                <a:cs typeface="Microsoft YaHei" pitchFamily="34" charset="-120"/>
              </a:rPr>
              <a:t>AI 返回</a:t>
            </a:r>
            <a:endParaRPr lang="en-US" sz="1000" dirty="0"/>
          </a:p>
        </p:txBody>
      </p:sp>
      <p:sp>
        <p:nvSpPr>
          <p:cNvPr id="25" name="Text 23"/>
          <p:cNvSpPr/>
          <p:nvPr/>
        </p:nvSpPr>
        <p:spPr>
          <a:xfrm>
            <a:off x="2612136" y="3250692"/>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一</a:t>
            </a:r>
            <a:endParaRPr lang="en-US" sz="1000" dirty="0"/>
          </a:p>
        </p:txBody>
      </p:sp>
      <p:sp>
        <p:nvSpPr>
          <p:cNvPr id="26" name="Text 24"/>
          <p:cNvSpPr/>
          <p:nvPr/>
        </p:nvSpPr>
        <p:spPr>
          <a:xfrm>
            <a:off x="2868168" y="3250692"/>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27" name="Text 25"/>
          <p:cNvSpPr/>
          <p:nvPr/>
        </p:nvSpPr>
        <p:spPr>
          <a:xfrm>
            <a:off x="3142488" y="3250692"/>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未说明透镜与卡纸之间的距离是否固定。</a:t>
            </a:r>
            <a:endParaRPr lang="en-US" sz="1200" dirty="0"/>
          </a:p>
        </p:txBody>
      </p:sp>
      <p:sp>
        <p:nvSpPr>
          <p:cNvPr id="28" name="Text 26"/>
          <p:cNvSpPr/>
          <p:nvPr/>
        </p:nvSpPr>
        <p:spPr>
          <a:xfrm>
            <a:off x="2612136" y="3506724"/>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二</a:t>
            </a:r>
            <a:endParaRPr lang="en-US" sz="1000" dirty="0"/>
          </a:p>
        </p:txBody>
      </p:sp>
      <p:sp>
        <p:nvSpPr>
          <p:cNvPr id="29" name="Text 27"/>
          <p:cNvSpPr/>
          <p:nvPr/>
        </p:nvSpPr>
        <p:spPr>
          <a:xfrm>
            <a:off x="2868168" y="3506724"/>
            <a:ext cx="219456" cy="219456"/>
          </a:xfrm>
          <a:prstGeom prst="rect">
            <a:avLst/>
          </a:prstGeom>
          <a:noFill/>
          <a:ln/>
        </p:spPr>
        <p:txBody>
          <a:bodyPr wrap="square" lIns="0" tIns="0" rIns="0" bIns="0" rtlCol="0" anchor="ctr"/>
          <a:lstStyle/>
          <a:p>
            <a:pPr indent="0" marL="0">
              <a:buNone/>
            </a:pPr>
            <a:r>
              <a:rPr lang="en-US" sz="1100" b="1" dirty="0">
                <a:solidFill>
                  <a:srgbClr val="A8421F"/>
                </a:solidFill>
                <a:latin typeface="Microsoft YaHei" pitchFamily="34" charset="0"/>
                <a:ea typeface="Microsoft YaHei" pitchFamily="34" charset="-122"/>
                <a:cs typeface="Microsoft YaHei" pitchFamily="34" charset="-120"/>
              </a:rPr>
              <a:t>×</a:t>
            </a:r>
            <a:endParaRPr lang="en-US" sz="1100" dirty="0"/>
          </a:p>
        </p:txBody>
      </p:sp>
      <p:sp>
        <p:nvSpPr>
          <p:cNvPr id="30" name="Text 28"/>
          <p:cNvSpPr/>
          <p:nvPr/>
        </p:nvSpPr>
        <p:spPr>
          <a:xfrm>
            <a:off x="3142488" y="3506724"/>
            <a:ext cx="7878775" cy="219456"/>
          </a:xfrm>
          <a:prstGeom prst="rect">
            <a:avLst/>
          </a:prstGeom>
          <a:noFill/>
          <a:ln/>
        </p:spPr>
        <p:txBody>
          <a:bodyPr wrap="square" lIns="0" tIns="0" rIns="0" bIns="0" rtlCol="0" anchor="ctr"/>
          <a:lstStyle/>
          <a:p>
            <a:pPr indent="0" marL="0">
              <a:buNone/>
            </a:pPr>
            <a:r>
              <a:rPr lang="en-US" sz="1200" strike="sngStrike" dirty="0">
                <a:solidFill>
                  <a:srgbClr val="5F7088"/>
                </a:solidFill>
                <a:latin typeface="Microsoft YaHei" pitchFamily="34" charset="0"/>
                <a:ea typeface="Microsoft YaHei" pitchFamily="34" charset="-122"/>
                <a:cs typeface="Microsoft YaHei" pitchFamily="34" charset="-120"/>
              </a:rPr>
              <a:t>未说明使用哪一种透镜，不同度数的结果不同。</a:t>
            </a:r>
            <a:endParaRPr lang="en-US" sz="1200" dirty="0"/>
          </a:p>
        </p:txBody>
      </p:sp>
      <p:sp>
        <p:nvSpPr>
          <p:cNvPr id="31" name="Text 29"/>
          <p:cNvSpPr/>
          <p:nvPr/>
        </p:nvSpPr>
        <p:spPr>
          <a:xfrm>
            <a:off x="2612136" y="3762756"/>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三</a:t>
            </a:r>
            <a:endParaRPr lang="en-US" sz="1000" dirty="0"/>
          </a:p>
        </p:txBody>
      </p:sp>
      <p:sp>
        <p:nvSpPr>
          <p:cNvPr id="32" name="Text 30"/>
          <p:cNvSpPr/>
          <p:nvPr/>
        </p:nvSpPr>
        <p:spPr>
          <a:xfrm>
            <a:off x="2868168" y="3762756"/>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33" name="Text 31"/>
          <p:cNvSpPr/>
          <p:nvPr/>
        </p:nvSpPr>
        <p:spPr>
          <a:xfrm>
            <a:off x="3142488" y="3762756"/>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未说明「清不清楚」由谁判断、按什么标准判断。</a:t>
            </a:r>
            <a:endParaRPr lang="en-US" sz="1200" dirty="0"/>
          </a:p>
        </p:txBody>
      </p:sp>
      <p:sp>
        <p:nvSpPr>
          <p:cNvPr id="34" name="Shape 32"/>
          <p:cNvSpPr/>
          <p:nvPr/>
        </p:nvSpPr>
        <p:spPr>
          <a:xfrm>
            <a:off x="1295400" y="4165092"/>
            <a:ext cx="9981895" cy="786384"/>
          </a:xfrm>
          <a:prstGeom prst="roundRect">
            <a:avLst>
              <a:gd name="adj" fmla="val 9302"/>
            </a:avLst>
          </a:prstGeom>
          <a:solidFill>
            <a:srgbClr val="FCF2EC"/>
          </a:solidFill>
          <a:ln w="12700">
            <a:solidFill>
              <a:srgbClr val="DFB09C"/>
            </a:solidFill>
            <a:prstDash val="solid"/>
          </a:ln>
        </p:spPr>
      </p:sp>
      <p:sp>
        <p:nvSpPr>
          <p:cNvPr id="35" name="Shape 33"/>
          <p:cNvSpPr/>
          <p:nvPr/>
        </p:nvSpPr>
        <p:spPr>
          <a:xfrm>
            <a:off x="1295400" y="4210812"/>
            <a:ext cx="38100" cy="694944"/>
          </a:xfrm>
          <a:prstGeom prst="rect">
            <a:avLst/>
          </a:prstGeom>
          <a:solidFill>
            <a:srgbClr val="A8421F"/>
          </a:solidFill>
          <a:ln w="12700">
            <a:solidFill>
              <a:srgbClr val="A8421F"/>
            </a:solidFill>
            <a:prstDash val="solid"/>
          </a:ln>
        </p:spPr>
      </p:sp>
      <p:sp>
        <p:nvSpPr>
          <p:cNvPr id="36" name="Text 34"/>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教师的判断</a:t>
            </a:r>
            <a:endParaRPr lang="en-US" sz="1000" dirty="0"/>
          </a:p>
        </p:txBody>
      </p:sp>
      <p:sp>
        <p:nvSpPr>
          <p:cNvPr id="37" name="Text 35"/>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第一条与第三条采纳，交给学生自己补充。第二条划掉：五年级实验箱里只有一种透镜，提出来会把任务复杂化，超出该学段的方案要求。</a:t>
            </a:r>
            <a:endParaRPr lang="en-US" sz="1250" dirty="0"/>
          </a:p>
        </p:txBody>
      </p:sp>
      <p:sp>
        <p:nvSpPr>
          <p:cNvPr id="38" name="Text 36"/>
          <p:cNvSpPr/>
          <p:nvPr/>
        </p:nvSpPr>
        <p:spPr>
          <a:xfrm>
            <a:off x="1295400" y="5079492"/>
            <a:ext cx="9981895"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返回的三条并非都要用。中间一栏的标记是教师逐条判断的结果：勾的两条进任务单，叉的那一条不进。</a:t>
            </a:r>
            <a:endParaRPr lang="en-US" sz="100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末句限定系统只提出问题，不输出修改后的方案，使工具介入保持在“半收”范围。</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生成内容的三项审查</a:t>
            </a:r>
            <a:endParaRPr lang="en-US" sz="3200" dirty="0"/>
          </a:p>
        </p:txBody>
      </p:sp>
      <p:sp>
        <p:nvSpPr>
          <p:cNvPr id="17" name="Shape 15"/>
          <p:cNvSpPr/>
          <p:nvPr/>
        </p:nvSpPr>
        <p:spPr>
          <a:xfrm>
            <a:off x="1551432" y="2532888"/>
            <a:ext cx="9469831" cy="0"/>
          </a:xfrm>
          <a:prstGeom prst="line">
            <a:avLst/>
          </a:prstGeom>
          <a:noFill/>
          <a:ln w="19050">
            <a:solidFill>
              <a:srgbClr val="BFD3EA"/>
            </a:solidFill>
            <a:prstDash val="solid"/>
          </a:ln>
        </p:spPr>
      </p:sp>
      <p:sp>
        <p:nvSpPr>
          <p:cNvPr id="18" name="Shape 16"/>
          <p:cNvSpPr/>
          <p:nvPr/>
        </p:nvSpPr>
        <p:spPr>
          <a:xfrm>
            <a:off x="1295400" y="2286000"/>
            <a:ext cx="493776" cy="493776"/>
          </a:xfrm>
          <a:prstGeom prst="ellipse">
            <a:avLst/>
          </a:prstGeom>
          <a:solidFill>
            <a:srgbClr val="F7FAFF"/>
          </a:solidFill>
          <a:ln w="21590">
            <a:solidFill>
              <a:srgbClr val="C2552F"/>
            </a:solidFill>
            <a:prstDash val="solid"/>
          </a:ln>
        </p:spPr>
      </p:sp>
      <p:sp>
        <p:nvSpPr>
          <p:cNvPr id="19" name="Text 17"/>
          <p:cNvSpPr/>
          <p:nvPr/>
        </p:nvSpPr>
        <p:spPr>
          <a:xfrm>
            <a:off x="1295400" y="2286000"/>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一</a:t>
            </a:r>
            <a:endParaRPr lang="en-US" sz="1400" dirty="0"/>
          </a:p>
        </p:txBody>
      </p:sp>
      <p:sp>
        <p:nvSpPr>
          <p:cNvPr id="20" name="Text 18"/>
          <p:cNvSpPr/>
          <p:nvPr/>
        </p:nvSpPr>
        <p:spPr>
          <a:xfrm>
            <a:off x="1295400" y="2999232"/>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与任务要求的一致性</a:t>
            </a:r>
            <a:endParaRPr lang="en-US" sz="1800" dirty="0"/>
          </a:p>
        </p:txBody>
      </p:sp>
      <p:sp>
        <p:nvSpPr>
          <p:cNvPr id="21" name="Shape 19"/>
          <p:cNvSpPr/>
          <p:nvPr/>
        </p:nvSpPr>
        <p:spPr>
          <a:xfrm>
            <a:off x="1295400" y="3895344"/>
            <a:ext cx="3071266" cy="0"/>
          </a:xfrm>
          <a:prstGeom prst="line">
            <a:avLst/>
          </a:prstGeom>
          <a:noFill/>
          <a:ln w="19050">
            <a:solidFill>
              <a:srgbClr val="DFB09C"/>
            </a:solidFill>
            <a:prstDash val="solid"/>
          </a:ln>
        </p:spPr>
      </p:sp>
      <p:sp>
        <p:nvSpPr>
          <p:cNvPr id="22" name="Text 20"/>
          <p:cNvSpPr/>
          <p:nvPr/>
        </p:nvSpPr>
        <p:spPr>
          <a:xfrm>
            <a:off x="1295400" y="3986784"/>
            <a:ext cx="3071266" cy="694944"/>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不一致时修改指令并重新生成，不在原结果上局部修补</a:t>
            </a:r>
            <a:endParaRPr lang="en-US" sz="1050" dirty="0"/>
          </a:p>
        </p:txBody>
      </p:sp>
      <p:sp>
        <p:nvSpPr>
          <p:cNvPr id="23" name="Shape 21"/>
          <p:cNvSpPr/>
          <p:nvPr/>
        </p:nvSpPr>
        <p:spPr>
          <a:xfrm>
            <a:off x="4714138" y="2286000"/>
            <a:ext cx="493776" cy="493776"/>
          </a:xfrm>
          <a:prstGeom prst="ellipse">
            <a:avLst/>
          </a:prstGeom>
          <a:solidFill>
            <a:srgbClr val="F7FAFF"/>
          </a:solidFill>
          <a:ln w="21590">
            <a:solidFill>
              <a:srgbClr val="C2552F"/>
            </a:solidFill>
            <a:prstDash val="solid"/>
          </a:ln>
        </p:spPr>
      </p:sp>
      <p:sp>
        <p:nvSpPr>
          <p:cNvPr id="24" name="Text 22"/>
          <p:cNvSpPr/>
          <p:nvPr/>
        </p:nvSpPr>
        <p:spPr>
          <a:xfrm>
            <a:off x="4714138" y="2286000"/>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二</a:t>
            </a:r>
            <a:endParaRPr lang="en-US" sz="1400" dirty="0"/>
          </a:p>
        </p:txBody>
      </p:sp>
      <p:sp>
        <p:nvSpPr>
          <p:cNvPr id="25" name="Text 23"/>
          <p:cNvSpPr/>
          <p:nvPr/>
        </p:nvSpPr>
        <p:spPr>
          <a:xfrm>
            <a:off x="4714138" y="2999232"/>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事实信息的可核验性</a:t>
            </a:r>
            <a:endParaRPr lang="en-US" sz="1800" dirty="0"/>
          </a:p>
        </p:txBody>
      </p:sp>
      <p:sp>
        <p:nvSpPr>
          <p:cNvPr id="26" name="Shape 24"/>
          <p:cNvSpPr/>
          <p:nvPr/>
        </p:nvSpPr>
        <p:spPr>
          <a:xfrm>
            <a:off x="4714138" y="3895344"/>
            <a:ext cx="3071266" cy="0"/>
          </a:xfrm>
          <a:prstGeom prst="line">
            <a:avLst/>
          </a:prstGeom>
          <a:noFill/>
          <a:ln w="19050">
            <a:solidFill>
              <a:srgbClr val="DFB09C"/>
            </a:solidFill>
            <a:prstDash val="solid"/>
          </a:ln>
        </p:spPr>
      </p:sp>
      <p:sp>
        <p:nvSpPr>
          <p:cNvPr id="27" name="Text 25"/>
          <p:cNvSpPr/>
          <p:nvPr/>
        </p:nvSpPr>
        <p:spPr>
          <a:xfrm>
            <a:off x="4714138" y="3986784"/>
            <a:ext cx="3071266" cy="694944"/>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数字、文献、名称与条款须逐项核对；无法核验的内容删除</a:t>
            </a:r>
            <a:endParaRPr lang="en-US" sz="1050" dirty="0"/>
          </a:p>
        </p:txBody>
      </p:sp>
      <p:sp>
        <p:nvSpPr>
          <p:cNvPr id="28" name="Shape 26"/>
          <p:cNvSpPr/>
          <p:nvPr/>
        </p:nvSpPr>
        <p:spPr>
          <a:xfrm>
            <a:off x="8132877" y="2286000"/>
            <a:ext cx="493776" cy="493776"/>
          </a:xfrm>
          <a:prstGeom prst="ellipse">
            <a:avLst/>
          </a:prstGeom>
          <a:solidFill>
            <a:srgbClr val="F7FAFF"/>
          </a:solidFill>
          <a:ln w="21590">
            <a:solidFill>
              <a:srgbClr val="C2552F"/>
            </a:solidFill>
            <a:prstDash val="solid"/>
          </a:ln>
        </p:spPr>
      </p:sp>
      <p:sp>
        <p:nvSpPr>
          <p:cNvPr id="29" name="Text 27"/>
          <p:cNvSpPr/>
          <p:nvPr/>
        </p:nvSpPr>
        <p:spPr>
          <a:xfrm>
            <a:off x="8132877" y="2286000"/>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三</a:t>
            </a:r>
            <a:endParaRPr lang="en-US" sz="1400" dirty="0"/>
          </a:p>
        </p:txBody>
      </p:sp>
      <p:sp>
        <p:nvSpPr>
          <p:cNvPr id="30" name="Text 28"/>
          <p:cNvSpPr/>
          <p:nvPr/>
        </p:nvSpPr>
        <p:spPr>
          <a:xfrm>
            <a:off x="8132877" y="2999232"/>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对学生学习过程的替代程度</a:t>
            </a:r>
            <a:endParaRPr lang="en-US" sz="1800" dirty="0"/>
          </a:p>
        </p:txBody>
      </p:sp>
      <p:sp>
        <p:nvSpPr>
          <p:cNvPr id="31" name="Shape 29"/>
          <p:cNvSpPr/>
          <p:nvPr/>
        </p:nvSpPr>
        <p:spPr>
          <a:xfrm>
            <a:off x="8132877" y="3895344"/>
            <a:ext cx="3071266" cy="0"/>
          </a:xfrm>
          <a:prstGeom prst="line">
            <a:avLst/>
          </a:prstGeom>
          <a:noFill/>
          <a:ln w="19050">
            <a:solidFill>
              <a:srgbClr val="DFB09C"/>
            </a:solidFill>
            <a:prstDash val="solid"/>
          </a:ln>
        </p:spPr>
      </p:sp>
      <p:sp>
        <p:nvSpPr>
          <p:cNvPr id="32" name="Text 30"/>
          <p:cNvSpPr/>
          <p:nvPr/>
        </p:nvSpPr>
        <p:spPr>
          <a:xfrm>
            <a:off x="8132877" y="3986784"/>
            <a:ext cx="3071266" cy="694944"/>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若替代的步骤是评价证据的来源，则不采用该项内容</a:t>
            </a:r>
            <a:endParaRPr lang="en-US" sz="105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搜集分析证据</a:t>
            </a:r>
            <a:endParaRPr lang="en-US" sz="3200" dirty="0"/>
          </a:p>
        </p:txBody>
      </p:sp>
      <p:sp>
        <p:nvSpPr>
          <p:cNvPr id="17" name="Shape 15"/>
          <p:cNvSpPr/>
          <p:nvPr/>
        </p:nvSpPr>
        <p:spPr>
          <a:xfrm>
            <a:off x="4075176" y="1220724"/>
            <a:ext cx="1591056" cy="329184"/>
          </a:xfrm>
          <a:prstGeom prst="rect">
            <a:avLst/>
          </a:prstGeom>
          <a:solidFill>
            <a:srgbClr val="F7FAFF">
              <a:alpha val="0"/>
            </a:srgbClr>
          </a:solidFill>
          <a:ln w="19050">
            <a:solidFill>
              <a:srgbClr val="C2552F"/>
            </a:solidFill>
            <a:prstDash val="solid"/>
          </a:ln>
        </p:spPr>
      </p:sp>
      <p:sp>
        <p:nvSpPr>
          <p:cNvPr id="18" name="Text 16"/>
          <p:cNvSpPr/>
          <p:nvPr/>
        </p:nvSpPr>
        <p:spPr>
          <a:xfrm>
            <a:off x="4075176" y="1220724"/>
            <a:ext cx="1591056" cy="329184"/>
          </a:xfrm>
          <a:prstGeom prst="rect">
            <a:avLst/>
          </a:prstGeom>
          <a:noFill/>
          <a:ln/>
        </p:spPr>
        <p:txBody>
          <a:bodyPr wrap="square" lIns="0" tIns="0" rIns="0" bIns="0" rtlCol="0" anchor="ctr"/>
          <a:lstStyle/>
          <a:p>
            <a:pPr algn="ctr" indent="0" marL="0">
              <a:buNone/>
            </a:pPr>
            <a:r>
              <a:rPr lang="en-US" sz="1100" b="1" dirty="0">
                <a:solidFill>
                  <a:srgbClr val="C2552F"/>
                </a:solidFill>
                <a:latin typeface="Microsoft YaHei" pitchFamily="34" charset="0"/>
                <a:ea typeface="Microsoft YaHei" pitchFamily="34" charset="-122"/>
                <a:cs typeface="Microsoft YaHei" pitchFamily="34" charset="-120"/>
              </a:rPr>
              <a:t>采集收，处理放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02436"/>
            <a:ext cx="601980" cy="155448"/>
          </a:xfrm>
          <a:prstGeom prst="roundRect">
            <a:avLst>
              <a:gd name="adj" fmla="val 17647"/>
            </a:avLst>
          </a:prstGeom>
          <a:solidFill>
            <a:srgbClr val="C2552F"/>
          </a:solidFill>
          <a:ln w="12700">
            <a:solidFill>
              <a:srgbClr val="C2552F"/>
            </a:solidFill>
            <a:prstDash val="solid"/>
          </a:ln>
        </p:spPr>
      </p:sp>
      <p:sp>
        <p:nvSpPr>
          <p:cNvPr id="22" name="Shape 20"/>
          <p:cNvSpPr/>
          <p:nvPr/>
        </p:nvSpPr>
        <p:spPr>
          <a:xfrm>
            <a:off x="8732215" y="1403604"/>
            <a:ext cx="601980" cy="27432"/>
          </a:xfrm>
          <a:prstGeom prst="rect">
            <a:avLst/>
          </a:prstGeom>
          <a:solidFill>
            <a:srgbClr val="A8421F"/>
          </a:solidFill>
          <a:ln w="12700">
            <a:solidFill>
              <a:srgbClr val="A8421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3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照度、距离、时长与营养成分含量，四项都须由学生亲手测得。测完之后的整理与作图不再是本环节的教学内容。</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21808"/>
            <a:ext cx="9981895" cy="932688"/>
          </a:xfrm>
          <a:prstGeom prst="roundRect">
            <a:avLst>
              <a:gd name="adj" fmla="val 7843"/>
            </a:avLst>
          </a:prstGeom>
          <a:solidFill>
            <a:srgbClr val="FCF2EC"/>
          </a:solidFill>
          <a:ln w="12700">
            <a:solidFill>
              <a:srgbClr val="FCF2EC"/>
            </a:solidFill>
            <a:prstDash val="solid"/>
          </a:ln>
        </p:spPr>
      </p:sp>
      <p:sp>
        <p:nvSpPr>
          <p:cNvPr id="38" name="Text 36"/>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A8421F"/>
                </a:solidFill>
                <a:latin typeface="Microsoft YaHei" pitchFamily="34" charset="0"/>
                <a:ea typeface="Microsoft YaHei" pitchFamily="34" charset="-122"/>
                <a:cs typeface="Microsoft YaHei" pitchFamily="34" charset="-120"/>
              </a:rPr>
              <a:t>敏感数据边界</a:t>
            </a:r>
            <a:endParaRPr lang="en-US" sz="950" dirty="0"/>
          </a:p>
        </p:txBody>
      </p:sp>
      <p:sp>
        <p:nvSpPr>
          <p:cNvPr id="39" name="Text 37"/>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体质健康数据属敏感信息。使用代号，不使用姓名与学号；健康与学业原始数据不上传公共工具；仅使用符合教育行政部门白名单及学校准入要求的工具。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得出结论并解释</a:t>
            </a:r>
            <a:endParaRPr lang="en-US" sz="3200" dirty="0"/>
          </a:p>
        </p:txBody>
      </p:sp>
      <p:sp>
        <p:nvSpPr>
          <p:cNvPr id="17" name="Shape 15"/>
          <p:cNvSpPr/>
          <p:nvPr/>
        </p:nvSpPr>
        <p:spPr>
          <a:xfrm>
            <a:off x="4495800" y="1220724"/>
            <a:ext cx="822960" cy="329184"/>
          </a:xfrm>
          <a:prstGeom prst="rect">
            <a:avLst/>
          </a:prstGeom>
          <a:solidFill>
            <a:srgbClr val="F7FAFF">
              <a:alpha val="0"/>
            </a:srgbClr>
          </a:solidFill>
          <a:ln w="19050">
            <a:solidFill>
              <a:srgbClr val="A8421F"/>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02436"/>
            <a:ext cx="601980" cy="155448"/>
          </a:xfrm>
          <a:prstGeom prst="roundRect">
            <a:avLst>
              <a:gd name="adj" fmla="val 17647"/>
            </a:avLst>
          </a:prstGeom>
          <a:solidFill>
            <a:srgbClr val="7A2C10"/>
          </a:solidFill>
          <a:ln w="12700">
            <a:solidFill>
              <a:srgbClr val="7A2C10"/>
            </a:solidFill>
            <a:prstDash val="solid"/>
          </a:ln>
        </p:spPr>
      </p:sp>
      <p:sp>
        <p:nvSpPr>
          <p:cNvPr id="23" name="Shape 21"/>
          <p:cNvSpPr/>
          <p:nvPr/>
        </p:nvSpPr>
        <p:spPr>
          <a:xfrm>
            <a:off x="9379915" y="1403604"/>
            <a:ext cx="601980" cy="27432"/>
          </a:xfrm>
          <a:prstGeom prst="rect">
            <a:avLst/>
          </a:prstGeom>
          <a:solidFill>
            <a:srgbClr val="A8421F"/>
          </a:solidFill>
          <a:ln w="12700">
            <a:solidFill>
              <a:srgbClr val="A8421F"/>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4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本环节不使用 AI。异常结果与失败记录须由学生分析，才能形成关于证据解释与反思改进的过程材料。</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制作改进</a:t>
            </a:r>
            <a:endParaRPr lang="en-US" sz="3200" dirty="0"/>
          </a:p>
        </p:txBody>
      </p:sp>
      <p:sp>
        <p:nvSpPr>
          <p:cNvPr id="17" name="Shape 15"/>
          <p:cNvSpPr/>
          <p:nvPr/>
        </p:nvSpPr>
        <p:spPr>
          <a:xfrm>
            <a:off x="3233928" y="1220724"/>
            <a:ext cx="822960" cy="329184"/>
          </a:xfrm>
          <a:prstGeom prst="rect">
            <a:avLst/>
          </a:prstGeom>
          <a:solidFill>
            <a:srgbClr val="F7FAFF">
              <a:alpha val="0"/>
            </a:srgbClr>
          </a:solidFill>
          <a:ln w="19050">
            <a:solidFill>
              <a:srgbClr val="C2552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C2552F"/>
                </a:solidFill>
                <a:latin typeface="Microsoft YaHei" pitchFamily="34" charset="0"/>
                <a:ea typeface="Microsoft YaHei" pitchFamily="34" charset="-122"/>
                <a:cs typeface="Microsoft YaHei" pitchFamily="34" charset="-120"/>
              </a:rPr>
              <a:t>半放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02436"/>
            <a:ext cx="601980" cy="155448"/>
          </a:xfrm>
          <a:prstGeom prst="roundRect">
            <a:avLst>
              <a:gd name="adj" fmla="val 17647"/>
            </a:avLst>
          </a:prstGeom>
          <a:solidFill>
            <a:srgbClr val="F0CBBB"/>
          </a:solidFill>
          <a:ln w="12700">
            <a:solidFill>
              <a:srgbClr val="DFB09C"/>
            </a:solidFill>
            <a:prstDash val="solid"/>
          </a:ln>
        </p:spPr>
      </p:sp>
      <p:sp>
        <p:nvSpPr>
          <p:cNvPr id="24" name="Shape 22"/>
          <p:cNvSpPr/>
          <p:nvPr/>
        </p:nvSpPr>
        <p:spPr>
          <a:xfrm>
            <a:off x="10027615" y="1403604"/>
            <a:ext cx="601980" cy="27432"/>
          </a:xfrm>
          <a:prstGeom prst="rect">
            <a:avLst/>
          </a:prstGeom>
          <a:solidFill>
            <a:srgbClr val="A8421F"/>
          </a:solidFill>
          <a:ln w="12700">
            <a:solidFill>
              <a:srgbClr val="A8421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5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迭代要求</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交流反思</a:t>
            </a:r>
            <a:endParaRPr lang="en-US" sz="3200" dirty="0"/>
          </a:p>
        </p:txBody>
      </p:sp>
      <p:sp>
        <p:nvSpPr>
          <p:cNvPr id="17" name="Shape 15"/>
          <p:cNvSpPr/>
          <p:nvPr/>
        </p:nvSpPr>
        <p:spPr>
          <a:xfrm>
            <a:off x="3233928" y="1220724"/>
            <a:ext cx="1408176" cy="329184"/>
          </a:xfrm>
          <a:prstGeom prst="rect">
            <a:avLst/>
          </a:prstGeom>
          <a:solidFill>
            <a:srgbClr val="F7FAFF">
              <a:alpha val="0"/>
            </a:srgbClr>
          </a:solidFill>
          <a:ln w="19050">
            <a:solidFill>
              <a:srgbClr val="5F7088"/>
            </a:solidFill>
            <a:prstDash val="solid"/>
          </a:ln>
        </p:spPr>
      </p:sp>
      <p:sp>
        <p:nvSpPr>
          <p:cNvPr id="18" name="Text 16"/>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F7088"/>
                </a:solidFill>
                <a:latin typeface="Microsoft YaHei" pitchFamily="34" charset="0"/>
                <a:ea typeface="Microsoft YaHei" pitchFamily="34" charset="-122"/>
                <a:cs typeface="Microsoft YaHei" pitchFamily="34" charset="-120"/>
              </a:rPr>
              <a:t>放，但要标注</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4" name="Shape 22"/>
          <p:cNvSpPr/>
          <p:nvPr/>
        </p:nvSpPr>
        <p:spPr>
          <a:xfrm>
            <a:off x="10675315" y="1202436"/>
            <a:ext cx="601980" cy="155448"/>
          </a:xfrm>
          <a:prstGeom prst="roundRect">
            <a:avLst>
              <a:gd name="adj" fmla="val 17647"/>
            </a:avLst>
          </a:prstGeom>
          <a:solidFill>
            <a:srgbClr val="FFFFFF"/>
          </a:solidFill>
          <a:ln w="12700">
            <a:solidFill>
              <a:srgbClr val="D9E2EF"/>
            </a:solidFill>
            <a:prstDash val="solid"/>
          </a:ln>
        </p:spPr>
      </p:sp>
      <p:sp>
        <p:nvSpPr>
          <p:cNvPr id="25" name="Shape 23"/>
          <p:cNvSpPr/>
          <p:nvPr/>
        </p:nvSpPr>
        <p:spPr>
          <a:xfrm>
            <a:off x="10675315" y="1403604"/>
            <a:ext cx="601980" cy="27432"/>
          </a:xfrm>
          <a:prstGeom prst="rect">
            <a:avLst/>
          </a:prstGeom>
          <a:solidFill>
            <a:srgbClr val="A8421F"/>
          </a:solidFill>
          <a:ln w="12700">
            <a:solidFill>
              <a:srgbClr val="A8421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6 步</a:t>
            </a:r>
            <a:endParaRPr lang="en-US" sz="800" dirty="0"/>
          </a:p>
        </p:txBody>
      </p:sp>
      <p:sp>
        <p:nvSpPr>
          <p:cNvPr id="27" name="Shape 25"/>
          <p:cNvSpPr/>
          <p:nvPr/>
        </p:nvSpPr>
        <p:spPr>
          <a:xfrm>
            <a:off x="1295400" y="2011680"/>
            <a:ext cx="47625" cy="923544"/>
          </a:xfrm>
          <a:prstGeom prst="rect">
            <a:avLst/>
          </a:prstGeom>
          <a:solidFill>
            <a:srgbClr val="1D4ED8"/>
          </a:solidFill>
          <a:ln w="12700">
            <a:solidFill>
              <a:srgbClr val="1D4ED8"/>
            </a:solidFill>
            <a:prstDash val="solid"/>
          </a:ln>
        </p:spPr>
      </p:sp>
      <p:sp>
        <p:nvSpPr>
          <p:cNvPr id="28" name="Text 26"/>
          <p:cNvSpPr/>
          <p:nvPr/>
        </p:nvSpPr>
        <p:spPr>
          <a:xfrm>
            <a:off x="1514856"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29" name="Text 27"/>
          <p:cNvSpPr/>
          <p:nvPr/>
        </p:nvSpPr>
        <p:spPr>
          <a:xfrm>
            <a:off x="1514856"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30" name="Shape 28"/>
          <p:cNvSpPr/>
          <p:nvPr/>
        </p:nvSpPr>
        <p:spPr>
          <a:xfrm>
            <a:off x="6469228" y="2011680"/>
            <a:ext cx="47625" cy="923544"/>
          </a:xfrm>
          <a:prstGeom prst="rect">
            <a:avLst/>
          </a:prstGeom>
          <a:solidFill>
            <a:srgbClr val="C2552F"/>
          </a:solidFill>
          <a:ln w="12700">
            <a:solidFill>
              <a:srgbClr val="C2552F"/>
            </a:solidFill>
            <a:prstDash val="solid"/>
          </a:ln>
        </p:spPr>
      </p:sp>
      <p:sp>
        <p:nvSpPr>
          <p:cNvPr id="31" name="Text 29"/>
          <p:cNvSpPr/>
          <p:nvPr/>
        </p:nvSpPr>
        <p:spPr>
          <a:xfrm>
            <a:off x="6688684" y="2121408"/>
            <a:ext cx="438744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2" name="Text 30"/>
          <p:cNvSpPr/>
          <p:nvPr/>
        </p:nvSpPr>
        <p:spPr>
          <a:xfrm>
            <a:off x="6688684" y="2359152"/>
            <a:ext cx="4387444" cy="466344"/>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33" name="Shape 31"/>
          <p:cNvSpPr/>
          <p:nvPr/>
        </p:nvSpPr>
        <p:spPr>
          <a:xfrm>
            <a:off x="1295400" y="3227832"/>
            <a:ext cx="9981895" cy="841248"/>
          </a:xfrm>
          <a:prstGeom prst="rect">
            <a:avLst/>
          </a:prstGeom>
          <a:solidFill>
            <a:srgbClr val="FFFFFF"/>
          </a:solidFill>
          <a:ln w="12700">
            <a:solidFill>
              <a:srgbClr val="D9E2EF"/>
            </a:solidFill>
            <a:prstDash val="solid"/>
          </a:ln>
        </p:spPr>
      </p:sp>
      <p:sp>
        <p:nvSpPr>
          <p:cNvPr id="34" name="Shape 32"/>
          <p:cNvSpPr/>
          <p:nvPr/>
        </p:nvSpPr>
        <p:spPr>
          <a:xfrm>
            <a:off x="1295400" y="3337560"/>
            <a:ext cx="45720" cy="621792"/>
          </a:xfrm>
          <a:prstGeom prst="rect">
            <a:avLst/>
          </a:prstGeom>
          <a:solidFill>
            <a:srgbClr val="C2552F"/>
          </a:solidFill>
          <a:ln w="12700">
            <a:solidFill>
              <a:srgbClr val="C2552F"/>
            </a:solidFill>
            <a:prstDash val="solid"/>
          </a:ln>
        </p:spPr>
      </p:sp>
      <p:sp>
        <p:nvSpPr>
          <p:cNvPr id="35" name="Text 33"/>
          <p:cNvSpPr/>
          <p:nvPr/>
        </p:nvSpPr>
        <p:spPr>
          <a:xfrm>
            <a:off x="1551432" y="3337560"/>
            <a:ext cx="9469831" cy="566928"/>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36" name="Shape 34"/>
          <p:cNvSpPr/>
          <p:nvPr/>
        </p:nvSpPr>
        <p:spPr>
          <a:xfrm>
            <a:off x="1551432" y="3922776"/>
            <a:ext cx="9469831" cy="0"/>
          </a:xfrm>
          <a:prstGeom prst="line">
            <a:avLst/>
          </a:prstGeom>
          <a:noFill/>
          <a:ln w="19050">
            <a:solidFill>
              <a:srgbClr val="DFB09C"/>
            </a:solidFill>
            <a:prstDash val="solid"/>
          </a:ln>
        </p:spPr>
      </p:sp>
      <p:sp>
        <p:nvSpPr>
          <p:cNvPr id="37" name="Shape 35"/>
          <p:cNvSpPr/>
          <p:nvPr/>
        </p:nvSpPr>
        <p:spPr>
          <a:xfrm>
            <a:off x="1295400" y="5376672"/>
            <a:ext cx="9981895" cy="0"/>
          </a:xfrm>
          <a:prstGeom prst="line">
            <a:avLst/>
          </a:prstGeom>
          <a:noFill/>
          <a:ln w="12700">
            <a:solidFill>
              <a:srgbClr val="D9E2EF"/>
            </a:solidFill>
            <a:prstDash val="solid"/>
          </a:ln>
        </p:spPr>
      </p:sp>
      <p:sp>
        <p:nvSpPr>
          <p:cNvPr id="38" name="Text 36"/>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形成社会服务的条件</a:t>
            </a:r>
            <a:endParaRPr lang="en-US" sz="950" dirty="0"/>
          </a:p>
        </p:txBody>
      </p:sp>
      <p:sp>
        <p:nvSpPr>
          <p:cNvPr id="39" name="Text 37"/>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将展示改为面向明确对象、有回应并有记录的行动。活动前须约定服务对象以书面或口头方式作出一次反馈。</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7" name="Shape 15"/>
          <p:cNvSpPr/>
          <p:nvPr/>
        </p:nvSpPr>
        <p:spPr>
          <a:xfrm>
            <a:off x="1295400" y="2043684"/>
            <a:ext cx="4881220" cy="1755648"/>
          </a:xfrm>
          <a:prstGeom prst="roundRect">
            <a:avLst>
              <a:gd name="adj" fmla="val 4688"/>
            </a:avLst>
          </a:prstGeom>
          <a:solidFill>
            <a:srgbClr val="FFFFFF"/>
          </a:solidFill>
          <a:ln w="12700">
            <a:solidFill>
              <a:srgbClr val="D9E2EF"/>
            </a:solidFill>
            <a:prstDash val="solid"/>
          </a:ln>
        </p:spPr>
      </p:sp>
      <p:sp>
        <p:nvSpPr>
          <p:cNvPr id="18" name="Shape 16"/>
          <p:cNvSpPr/>
          <p:nvPr/>
        </p:nvSpPr>
        <p:spPr>
          <a:xfrm>
            <a:off x="1359408" y="204368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20" name="Text 18"/>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1" name="Text 19"/>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2" name="Text 20"/>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教师课前以任务助手整理校园常见物种、易混淆种类与有毒有刺植物的安全提示，编成速查卡。学生使用调查记录表与图鉴。</a:t>
            </a:r>
            <a:endParaRPr lang="en-US" sz="1050" dirty="0"/>
          </a:p>
        </p:txBody>
      </p:sp>
      <p:sp>
        <p:nvSpPr>
          <p:cNvPr id="23" name="Shape 21"/>
          <p:cNvSpPr/>
          <p:nvPr/>
        </p:nvSpPr>
        <p:spPr>
          <a:xfrm>
            <a:off x="6396076" y="2043684"/>
            <a:ext cx="4881220" cy="1755648"/>
          </a:xfrm>
          <a:prstGeom prst="roundRect">
            <a:avLst>
              <a:gd name="adj" fmla="val 4688"/>
            </a:avLst>
          </a:prstGeom>
          <a:solidFill>
            <a:srgbClr val="FFFFFF"/>
          </a:solidFill>
          <a:ln w="12700">
            <a:solidFill>
              <a:srgbClr val="D9E2EF"/>
            </a:solidFill>
            <a:prstDash val="solid"/>
          </a:ln>
        </p:spPr>
      </p:sp>
      <p:sp>
        <p:nvSpPr>
          <p:cNvPr id="24" name="Shape 22"/>
          <p:cNvSpPr/>
          <p:nvPr/>
        </p:nvSpPr>
        <p:spPr>
          <a:xfrm>
            <a:off x="6460084" y="204368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6" name="Text 24"/>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7" name="Text 25"/>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学生侧两端均开放，另配一个只提出质疑的任务助手。</a:t>
            </a:r>
            <a:endParaRPr lang="en-US" sz="1300" dirty="0"/>
          </a:p>
        </p:txBody>
      </p:sp>
      <p:sp>
        <p:nvSpPr>
          <p:cNvPr id="28" name="Text 26"/>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081B3A"/>
          </a:solidFill>
          <a:ln w="25400">
            <a:solidFill>
              <a:srgbClr val="5F7088"/>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Shape 13"/>
          <p:cNvSpPr/>
          <p:nvPr/>
        </p:nvSpPr>
        <p:spPr>
          <a:xfrm>
            <a:off x="1295400" y="2505456"/>
            <a:ext cx="45720" cy="1234440"/>
          </a:xfrm>
          <a:prstGeom prst="rect">
            <a:avLst/>
          </a:prstGeom>
          <a:solidFill>
            <a:srgbClr val="C2552F"/>
          </a:solidFill>
          <a:ln w="12700">
            <a:solidFill>
              <a:srgbClr val="C2552F"/>
            </a:solidFill>
            <a:prstDash val="solid"/>
          </a:ln>
        </p:spPr>
      </p:sp>
      <p:sp>
        <p:nvSpPr>
          <p:cNvPr id="16" name="Text 14"/>
          <p:cNvSpPr/>
          <p:nvPr/>
        </p:nvSpPr>
        <p:spPr>
          <a:xfrm>
            <a:off x="1551432" y="2468880"/>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AI 的使用位置应由环节所训练的能力决定。学生必须亲自经历的判断与试错由学生完成；资料整理与表达加工可在留痕和复核条件下使用工具。</a:t>
            </a:r>
            <a:endParaRPr lang="en-US" sz="2500" dirty="0"/>
          </a:p>
        </p:txBody>
      </p:sp>
      <p:sp>
        <p:nvSpPr>
          <p:cNvPr id="17" name="Shape 15"/>
          <p:cNvSpPr/>
          <p:nvPr/>
        </p:nvSpPr>
        <p:spPr>
          <a:xfrm>
            <a:off x="1551432" y="4791456"/>
            <a:ext cx="8902903" cy="0"/>
          </a:xfrm>
          <a:prstGeom prst="line">
            <a:avLst/>
          </a:prstGeom>
          <a:noFill/>
          <a:ln w="12700">
            <a:solidFill>
              <a:srgbClr val="5F7088">
                <a:alpha val="55000"/>
              </a:srgbClr>
            </a:solidFill>
            <a:prstDash val="solid"/>
          </a:ln>
        </p:spPr>
      </p:sp>
      <p:sp>
        <p:nvSpPr>
          <p:cNvPr id="18" name="Text 16"/>
          <p:cNvSpPr/>
          <p:nvPr/>
        </p:nvSpPr>
        <p:spPr>
          <a:xfrm>
            <a:off x="1551432" y="4919472"/>
            <a:ext cx="8902903" cy="182880"/>
          </a:xfrm>
          <a:prstGeom prst="rect">
            <a:avLst/>
          </a:prstGeom>
          <a:noFill/>
          <a:ln/>
        </p:spPr>
        <p:txBody>
          <a:bodyPr wrap="square" lIns="0" tIns="0" rIns="0" bIns="0" rtlCol="0" anchor="ctr"/>
          <a:lstStyle/>
          <a:p>
            <a:pPr indent="0" marL="0">
              <a:buNone/>
            </a:pPr>
            <a:r>
              <a:rPr lang="en-US" sz="950" b="1" spc="120" kern="0" dirty="0">
                <a:solidFill>
                  <a:srgbClr val="8FA3BE"/>
                </a:solidFill>
                <a:latin typeface="Microsoft YaHei" pitchFamily="34" charset="0"/>
                <a:ea typeface="Microsoft YaHei" pitchFamily="34" charset="-122"/>
                <a:cs typeface="Microsoft YaHei" pitchFamily="34" charset="-120"/>
              </a:rPr>
              <a:t>讲义中的案例使用路径</a:t>
            </a:r>
            <a:endParaRPr lang="en-US" sz="950" dirty="0"/>
          </a:p>
        </p:txBody>
      </p:sp>
      <p:sp>
        <p:nvSpPr>
          <p:cNvPr id="19" name="Text 17"/>
          <p:cNvSpPr/>
          <p:nvPr/>
        </p:nvSpPr>
        <p:spPr>
          <a:xfrm>
            <a:off x="1551432" y="5193792"/>
            <a:ext cx="8902903" cy="384048"/>
          </a:xfrm>
          <a:prstGeom prst="rect">
            <a:avLst/>
          </a:prstGeom>
          <a:noFill/>
          <a:ln/>
        </p:spPr>
        <p:txBody>
          <a:bodyPr wrap="square" lIns="0" tIns="0" rIns="0" bIns="0" rtlCol="0" anchor="t"/>
          <a:lstStyle/>
          <a:p>
            <a:pPr indent="0" marL="0">
              <a:buNone/>
            </a:pPr>
            <a:r>
              <a:rPr lang="en-US" sz="1500" dirty="0">
                <a:solidFill>
                  <a:srgbClr val="BFD3EA"/>
                </a:solidFill>
                <a:latin typeface="Microsoft YaHei" pitchFamily="34" charset="0"/>
                <a:ea typeface="Microsoft YaHei" pitchFamily="34" charset="-122"/>
                <a:cs typeface="Microsoft YaHei" pitchFamily="34" charset="-120"/>
              </a:rPr>
              <a:t>任务原文　→　环节配置　→　特定约束　→　教师实施　→　学生工作页</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81B3A"/>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5F7088">
                <a:alpha val="45000"/>
              </a:srgbClr>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081B3A"/>
          </a:solidFill>
          <a:ln w="25400">
            <a:solidFill>
              <a:srgbClr val="5F7088"/>
            </a:solidFill>
            <a:prstDash val="solid"/>
          </a:ln>
        </p:spPr>
      </p:sp>
      <p:sp>
        <p:nvSpPr>
          <p:cNvPr id="11" name="Shape 9"/>
          <p:cNvSpPr/>
          <p:nvPr/>
        </p:nvSpPr>
        <p:spPr>
          <a:xfrm>
            <a:off x="485775" y="5762625"/>
            <a:ext cx="95250" cy="95250"/>
          </a:xfrm>
          <a:prstGeom prst="ellipse">
            <a:avLst/>
          </a:prstGeom>
          <a:solidFill>
            <a:srgbClr val="081B3A"/>
          </a:solidFill>
          <a:ln w="25400">
            <a:solidFill>
              <a:srgbClr val="5F7088"/>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8FA3BE"/>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FFFFFF"/>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8FA3BE"/>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F0CBBB"/>
                </a:solidFill>
                <a:latin typeface="Microsoft YaHei" pitchFamily="34" charset="0"/>
                <a:ea typeface="Microsoft YaHei" pitchFamily="34" charset="-122"/>
                <a:cs typeface="Microsoft YaHei" pitchFamily="34" charset="-120"/>
              </a:rPr>
              <a:t>最终成果不足以单独证明作者身份</a:t>
            </a:r>
            <a:endParaRPr lang="en-US" sz="1000" dirty="0"/>
          </a:p>
        </p:txBody>
      </p:sp>
      <p:sp>
        <p:nvSpPr>
          <p:cNvPr id="16" name="Shape 14"/>
          <p:cNvSpPr/>
          <p:nvPr/>
        </p:nvSpPr>
        <p:spPr>
          <a:xfrm>
            <a:off x="1295400" y="2651760"/>
            <a:ext cx="45720" cy="1234440"/>
          </a:xfrm>
          <a:prstGeom prst="rect">
            <a:avLst/>
          </a:prstGeom>
          <a:solidFill>
            <a:srgbClr val="C2552F"/>
          </a:solidFill>
          <a:ln w="12700">
            <a:solidFill>
              <a:srgbClr val="C2552F"/>
            </a:solidFill>
            <a:prstDash val="solid"/>
          </a:ln>
        </p:spPr>
      </p:sp>
      <p:sp>
        <p:nvSpPr>
          <p:cNvPr id="17" name="Text 15"/>
          <p:cNvSpPr/>
          <p:nvPr/>
        </p:nvSpPr>
        <p:spPr>
          <a:xfrm>
            <a:off x="1551432" y="2615184"/>
            <a:ext cx="8902903" cy="2286000"/>
          </a:xfrm>
          <a:prstGeom prst="rect">
            <a:avLst/>
          </a:prstGeom>
          <a:noFill/>
          <a:ln/>
        </p:spPr>
        <p:txBody>
          <a:bodyPr wrap="square" lIns="0" tIns="0" rIns="0" bIns="0" rtlCol="0" anchor="t"/>
          <a:lstStyle/>
          <a:p>
            <a:pPr indent="0" marL="0">
              <a:lnSpc>
                <a:spcPct val="145000"/>
              </a:lnSpc>
              <a:buNone/>
            </a:pPr>
            <a:r>
              <a:rPr lang="en-US" sz="2500" b="1" dirty="0">
                <a:solidFill>
                  <a:srgbClr val="FFFFFF"/>
                </a:solidFill>
                <a:latin typeface="Microsoft YaHei" pitchFamily="34" charset="0"/>
                <a:ea typeface="Microsoft YaHei" pitchFamily="34" charset="-122"/>
                <a:cs typeface="Microsoft YaHei" pitchFamily="34" charset="-120"/>
              </a:rPr>
              <a:t>仅凭最终成果，通常无法可靠判断生成式 AI 的参与程度。任务设计阶段应预先安排过程记录、阶段性版本与口头说明。</a:t>
            </a:r>
            <a:endParaRPr lang="en-US" sz="2500" dirty="0"/>
          </a:p>
        </p:txBody>
      </p:sp>
      <p:sp>
        <p:nvSpPr>
          <p:cNvPr id="18" name="Text 16"/>
          <p:cNvSpPr/>
          <p:nvPr/>
        </p:nvSpPr>
        <p:spPr>
          <a:xfrm>
            <a:off x="1551432" y="4078224"/>
            <a:ext cx="8902903" cy="365760"/>
          </a:xfrm>
          <a:prstGeom prst="rect">
            <a:avLst/>
          </a:prstGeom>
          <a:noFill/>
          <a:ln/>
        </p:spPr>
        <p:txBody>
          <a:bodyPr wrap="square" lIns="0" tIns="0" rIns="0" bIns="0" rtlCol="0" anchor="ctr"/>
          <a:lstStyle/>
          <a:p>
            <a:pPr indent="0" marL="0">
              <a:buNone/>
            </a:pPr>
            <a:r>
              <a:rPr lang="en-US" sz="1500" dirty="0">
                <a:solidFill>
                  <a:srgbClr val="BFD3EA"/>
                </a:solidFill>
                <a:latin typeface="Microsoft YaHei" pitchFamily="34" charset="0"/>
                <a:ea typeface="Microsoft YaHei" pitchFamily="34" charset="-122"/>
                <a:cs typeface="Microsoft YaHei" pitchFamily="34" charset="-120"/>
              </a:rPr>
              <a:t>过程证据应在任务实施期间形成，不宜在结题后补录。</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AI 使用留痕表</a:t>
            </a:r>
            <a:endParaRPr lang="en-US" sz="3200" dirty="0"/>
          </a:p>
        </p:txBody>
      </p:sp>
      <p:sp>
        <p:nvSpPr>
          <p:cNvPr id="17" name="Text 15"/>
          <p:cNvSpPr/>
          <p:nvPr/>
        </p:nvSpPr>
        <p:spPr>
          <a:xfrm>
            <a:off x="9265615" y="1879092"/>
            <a:ext cx="2011680" cy="219456"/>
          </a:xfrm>
          <a:prstGeom prst="rect">
            <a:avLst/>
          </a:prstGeom>
          <a:noFill/>
          <a:ln/>
        </p:spPr>
        <p:txBody>
          <a:bodyPr wrap="square" lIns="0" tIns="0" rIns="0" bIns="0" rtlCol="0" anchor="ctr"/>
          <a:lstStyle/>
          <a:p>
            <a:pPr algn="r" indent="0" marL="0">
              <a:buNone/>
            </a:pPr>
            <a:r>
              <a:rPr lang="en-US" sz="950" b="1" spc="80" kern="0" dirty="0">
                <a:solidFill>
                  <a:srgbClr val="A8421F"/>
                </a:solidFill>
                <a:latin typeface="Microsoft YaHei" pitchFamily="34" charset="0"/>
                <a:ea typeface="Microsoft YaHei" pitchFamily="34" charset="-122"/>
                <a:cs typeface="Microsoft YaHei" pitchFamily="34" charset="-120"/>
              </a:rPr>
              <a:t>第四栏：评价证据</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71700"/>
          <a:ext cx="9981895" cy="914400"/>
        </p:xfrm>
        <a:graphic>
          <a:graphicData uri="http://schemas.openxmlformats.org/drawingml/2006/table">
            <a:tbl>
              <a:tblPr/>
              <a:tblGrid>
                <a:gridCol w="2496312"/>
                <a:gridCol w="2496312"/>
                <a:gridCol w="2496312"/>
                <a:gridCol w="2487168"/>
              </a:tblGrid>
              <a:tr h="347472">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b="1" dirty="0">
                          <a:solidFill>
                            <a:srgbClr val="A8421F"/>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r h="1051560">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设计方案</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请指出这个对照实验在变量控制上的问题</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提示方案没有说明光照条件</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150" dirty="0">
                          <a:solidFill>
                            <a:srgbClr val="27364A"/>
                          </a:solidFill>
                          <a:latin typeface="Microsoft YaHei" pitchFamily="34" charset="0"/>
                          <a:ea typeface="Microsoft YaHei" pitchFamily="34" charset="-122"/>
                          <a:cs typeface="Microsoft YaHei" pitchFamily="34" charset="-120"/>
                        </a:rPr>
                        <a:t>补充“各组均放置在同一窗台”，并说明这样可以保持光照条件一致</a:t>
                      </a:r>
                      <a:endParaRPr lang="en-US" sz="1150" dirty="0">
                        <a:latin typeface="Microsoft YaHei" charset="0"/>
                        <a:ea typeface="Microsoft YaHei" charset="0"/>
                        <a:cs typeface="Microsoft YaHei" charset="0"/>
                      </a:endParaRPr>
                    </a:p>
                  </a:txBody>
                  <a:tcPr marL="101600" marR="101600" marT="101600" marB="1016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r h="438912">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r h="438912">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101600" marR="101600" marT="101600" marB="1016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CF2EC"/>
                    </a:solidFill>
                  </a:tcPr>
                </a:tc>
              </a:tr>
            </a:tbl>
          </a:graphicData>
        </a:graphic>
      </p:graphicFrame>
      <p:sp>
        <p:nvSpPr>
          <p:cNvPr id="19" name="Shape 16"/>
          <p:cNvSpPr/>
          <p:nvPr/>
        </p:nvSpPr>
        <p:spPr>
          <a:xfrm>
            <a:off x="1295400" y="5888736"/>
            <a:ext cx="9981895" cy="0"/>
          </a:xfrm>
          <a:prstGeom prst="line">
            <a:avLst/>
          </a:prstGeom>
          <a:noFill/>
          <a:ln w="12700">
            <a:solidFill>
              <a:srgbClr val="D9E2EF"/>
            </a:solidFill>
            <a:prstDash val="solid"/>
          </a:ln>
        </p:spPr>
      </p:sp>
      <p:sp>
        <p:nvSpPr>
          <p:cNvPr id="20" name="Text 17"/>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第四栏记录学生的修改理由，可作为反思改进能力的评价证据，并可随任务单一并使用。</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7" name="Shape 15"/>
          <p:cNvSpPr/>
          <p:nvPr/>
        </p:nvSpPr>
        <p:spPr>
          <a:xfrm>
            <a:off x="1551432" y="2734056"/>
            <a:ext cx="9469831" cy="0"/>
          </a:xfrm>
          <a:prstGeom prst="line">
            <a:avLst/>
          </a:prstGeom>
          <a:noFill/>
          <a:ln w="19050">
            <a:solidFill>
              <a:srgbClr val="BFD3EA"/>
            </a:solidFill>
            <a:prstDash val="solid"/>
          </a:ln>
        </p:spPr>
      </p:sp>
      <p:sp>
        <p:nvSpPr>
          <p:cNvPr id="18" name="Shape 16"/>
          <p:cNvSpPr/>
          <p:nvPr/>
        </p:nvSpPr>
        <p:spPr>
          <a:xfrm>
            <a:off x="1295400" y="2487168"/>
            <a:ext cx="493776" cy="493776"/>
          </a:xfrm>
          <a:prstGeom prst="ellipse">
            <a:avLst/>
          </a:prstGeom>
          <a:solidFill>
            <a:srgbClr val="F7FAFF"/>
          </a:solidFill>
          <a:ln w="21590">
            <a:solidFill>
              <a:srgbClr val="C2552F"/>
            </a:solidFill>
            <a:prstDash val="solid"/>
          </a:ln>
        </p:spPr>
      </p:sp>
      <p:sp>
        <p:nvSpPr>
          <p:cNvPr id="19" name="Text 17"/>
          <p:cNvSpPr/>
          <p:nvPr/>
        </p:nvSpPr>
        <p:spPr>
          <a:xfrm>
            <a:off x="1295400"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一</a:t>
            </a:r>
            <a:endParaRPr lang="en-US" sz="1400" dirty="0"/>
          </a:p>
        </p:txBody>
      </p:sp>
      <p:sp>
        <p:nvSpPr>
          <p:cNvPr id="20" name="Text 18"/>
          <p:cNvSpPr/>
          <p:nvPr/>
        </p:nvSpPr>
        <p:spPr>
          <a:xfrm>
            <a:off x="1295400"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你为什么选这个方案</a:t>
            </a:r>
            <a:endParaRPr lang="en-US" sz="1800" dirty="0"/>
          </a:p>
        </p:txBody>
      </p:sp>
      <p:sp>
        <p:nvSpPr>
          <p:cNvPr id="21" name="Shape 19"/>
          <p:cNvSpPr/>
          <p:nvPr/>
        </p:nvSpPr>
        <p:spPr>
          <a:xfrm>
            <a:off x="4714138" y="2487168"/>
            <a:ext cx="493776" cy="493776"/>
          </a:xfrm>
          <a:prstGeom prst="ellipse">
            <a:avLst/>
          </a:prstGeom>
          <a:solidFill>
            <a:srgbClr val="F7FAFF"/>
          </a:solidFill>
          <a:ln w="21590">
            <a:solidFill>
              <a:srgbClr val="C2552F"/>
            </a:solidFill>
            <a:prstDash val="solid"/>
          </a:ln>
        </p:spPr>
      </p:sp>
      <p:sp>
        <p:nvSpPr>
          <p:cNvPr id="22" name="Text 20"/>
          <p:cNvSpPr/>
          <p:nvPr/>
        </p:nvSpPr>
        <p:spPr>
          <a:xfrm>
            <a:off x="4714138"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二</a:t>
            </a:r>
            <a:endParaRPr lang="en-US" sz="1400" dirty="0"/>
          </a:p>
        </p:txBody>
      </p:sp>
      <p:sp>
        <p:nvSpPr>
          <p:cNvPr id="23" name="Text 21"/>
          <p:cNvSpPr/>
          <p:nvPr/>
        </p:nvSpPr>
        <p:spPr>
          <a:xfrm>
            <a:off x="4714138"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你对 AI 的输出作了哪些修改</a:t>
            </a:r>
            <a:endParaRPr lang="en-US" sz="1800" dirty="0"/>
          </a:p>
        </p:txBody>
      </p:sp>
      <p:sp>
        <p:nvSpPr>
          <p:cNvPr id="24" name="Shape 22"/>
          <p:cNvSpPr/>
          <p:nvPr/>
        </p:nvSpPr>
        <p:spPr>
          <a:xfrm>
            <a:off x="8132877" y="2487168"/>
            <a:ext cx="493776" cy="493776"/>
          </a:xfrm>
          <a:prstGeom prst="ellipse">
            <a:avLst/>
          </a:prstGeom>
          <a:solidFill>
            <a:srgbClr val="F7FAFF"/>
          </a:solidFill>
          <a:ln w="21590">
            <a:solidFill>
              <a:srgbClr val="C2552F"/>
            </a:solidFill>
            <a:prstDash val="solid"/>
          </a:ln>
        </p:spPr>
      </p:sp>
      <p:sp>
        <p:nvSpPr>
          <p:cNvPr id="25" name="Text 23"/>
          <p:cNvSpPr/>
          <p:nvPr/>
        </p:nvSpPr>
        <p:spPr>
          <a:xfrm>
            <a:off x="8132877" y="2487168"/>
            <a:ext cx="493776" cy="493776"/>
          </a:xfrm>
          <a:prstGeom prst="rect">
            <a:avLst/>
          </a:prstGeom>
          <a:noFill/>
          <a:ln/>
        </p:spPr>
        <p:txBody>
          <a:bodyPr wrap="square" lIns="0" tIns="0" rIns="0" bIns="0" rtlCol="0" anchor="ctr"/>
          <a:lstStyle/>
          <a:p>
            <a:pPr algn="ctr" indent="0" marL="0">
              <a:buNone/>
            </a:pPr>
            <a:r>
              <a:rPr lang="en-US" sz="1400" b="1" dirty="0">
                <a:solidFill>
                  <a:srgbClr val="A8421F"/>
                </a:solidFill>
                <a:latin typeface="Microsoft YaHei" pitchFamily="34" charset="0"/>
                <a:ea typeface="Microsoft YaHei" pitchFamily="34" charset="-122"/>
                <a:cs typeface="Microsoft YaHei" pitchFamily="34" charset="-120"/>
              </a:rPr>
              <a:t>三</a:t>
            </a:r>
            <a:endParaRPr lang="en-US" sz="1400" dirty="0"/>
          </a:p>
        </p:txBody>
      </p:sp>
      <p:sp>
        <p:nvSpPr>
          <p:cNvPr id="26" name="Text 24"/>
          <p:cNvSpPr/>
          <p:nvPr/>
        </p:nvSpPr>
        <p:spPr>
          <a:xfrm>
            <a:off x="8132877" y="3200400"/>
            <a:ext cx="3071266" cy="868680"/>
          </a:xfrm>
          <a:prstGeom prst="rect">
            <a:avLst/>
          </a:prstGeom>
          <a:noFill/>
          <a:ln/>
        </p:spPr>
        <p:txBody>
          <a:bodyPr wrap="square" lIns="0" tIns="0" rIns="0" bIns="0" rtlCol="0" anchor="t"/>
          <a:lstStyle/>
          <a:p>
            <a:pPr indent="0" marL="0">
              <a:lnSpc>
                <a:spcPct val="135000"/>
              </a:lnSpc>
              <a:buNone/>
            </a:pPr>
            <a:r>
              <a:rPr lang="en-US" sz="1800" b="1" dirty="0">
                <a:solidFill>
                  <a:srgbClr val="081B3A"/>
                </a:solidFill>
                <a:latin typeface="Microsoft YaHei" pitchFamily="34" charset="0"/>
                <a:ea typeface="Microsoft YaHei" pitchFamily="34" charset="-122"/>
                <a:cs typeface="Microsoft YaHei" pitchFamily="34" charset="-120"/>
              </a:rPr>
              <a:t>如果此处有误，你如何发现</a:t>
            </a:r>
            <a:endParaRPr lang="en-US" sz="1800" dirty="0"/>
          </a:p>
        </p:txBody>
      </p:sp>
      <p:sp>
        <p:nvSpPr>
          <p:cNvPr id="27" name="Shape 25"/>
          <p:cNvSpPr/>
          <p:nvPr/>
        </p:nvSpPr>
        <p:spPr>
          <a:xfrm>
            <a:off x="1295400" y="5888736"/>
            <a:ext cx="9981895" cy="0"/>
          </a:xfrm>
          <a:prstGeom prst="line">
            <a:avLst/>
          </a:prstGeom>
          <a:noFill/>
          <a:ln w="12700">
            <a:solidFill>
              <a:srgbClr val="D9E2EF"/>
            </a:solidFill>
            <a:prstDash val="solid"/>
          </a:ln>
        </p:spPr>
      </p:sp>
      <p:sp>
        <p:nvSpPr>
          <p:cNvPr id="28" name="Text 2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过程材料进入评价记录的路径</a:t>
            </a:r>
            <a:endParaRPr lang="en-US" sz="3200" dirty="0"/>
          </a:p>
        </p:txBody>
      </p:sp>
      <p:pic>
        <p:nvPicPr>
          <p:cNvPr id="17" name="Image 0" descr="/Users/tonyxin/Documents/Codex/2026-08-22/https-github-com-tonyxinvip-slides-https/work/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8" name="Text 15"/>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深圳初中方案：写实记录可上传相关佐证材料；基本指标评价结果集中公示，公示期为 5 个工作日；公示期结束后，学生、班主任及有关教师签字确认。</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文件中的生成式 AI 使用边界</a:t>
            </a:r>
            <a:endParaRPr lang="en-US" sz="3200" dirty="0"/>
          </a:p>
        </p:txBody>
      </p:sp>
      <p:sp>
        <p:nvSpPr>
          <p:cNvPr id="17" name="Shape 15"/>
          <p:cNvSpPr/>
          <p:nvPr/>
        </p:nvSpPr>
        <p:spPr>
          <a:xfrm>
            <a:off x="1295400" y="1860804"/>
            <a:ext cx="841248" cy="1088136"/>
          </a:xfrm>
          <a:prstGeom prst="rect">
            <a:avLst/>
          </a:prstGeom>
          <a:solidFill>
            <a:srgbClr val="081B3A"/>
          </a:solidFill>
          <a:ln w="12700">
            <a:solidFill>
              <a:srgbClr val="081B3A"/>
            </a:solidFill>
            <a:prstDash val="solid"/>
          </a:ln>
        </p:spPr>
      </p:sp>
      <p:sp>
        <p:nvSpPr>
          <p:cNvPr id="18" name="Text 16"/>
          <p:cNvSpPr/>
          <p:nvPr/>
        </p:nvSpPr>
        <p:spPr>
          <a:xfrm>
            <a:off x="1350264" y="1860804"/>
            <a:ext cx="731520" cy="1088136"/>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学生</a:t>
            </a:r>
            <a:endParaRPr lang="en-US" sz="950" dirty="0"/>
          </a:p>
        </p:txBody>
      </p:sp>
      <p:sp>
        <p:nvSpPr>
          <p:cNvPr id="19" name="Shape 17"/>
          <p:cNvSpPr/>
          <p:nvPr/>
        </p:nvSpPr>
        <p:spPr>
          <a:xfrm>
            <a:off x="2282952" y="1860804"/>
            <a:ext cx="8994343" cy="512064"/>
          </a:xfrm>
          <a:prstGeom prst="rect">
            <a:avLst/>
          </a:prstGeom>
          <a:solidFill>
            <a:srgbClr val="FFFFFF"/>
          </a:solidFill>
          <a:ln w="12700">
            <a:solidFill>
              <a:srgbClr val="D9E2EF"/>
            </a:solidFill>
            <a:prstDash val="solid"/>
          </a:ln>
        </p:spPr>
      </p:sp>
      <p:sp>
        <p:nvSpPr>
          <p:cNvPr id="20" name="Shape 18"/>
          <p:cNvSpPr/>
          <p:nvPr/>
        </p:nvSpPr>
        <p:spPr>
          <a:xfrm>
            <a:off x="2282952" y="1906524"/>
            <a:ext cx="38100" cy="420624"/>
          </a:xfrm>
          <a:prstGeom prst="rect">
            <a:avLst/>
          </a:prstGeom>
          <a:solidFill>
            <a:srgbClr val="C2552F"/>
          </a:solidFill>
          <a:ln w="12700">
            <a:solidFill>
              <a:srgbClr val="A8421F"/>
            </a:solidFill>
            <a:prstDash val="solid"/>
          </a:ln>
        </p:spPr>
      </p:sp>
      <p:sp>
        <p:nvSpPr>
          <p:cNvPr id="21" name="Text 19"/>
          <p:cNvSpPr/>
          <p:nvPr/>
        </p:nvSpPr>
        <p:spPr>
          <a:xfrm>
            <a:off x="2484120" y="1860804"/>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小学阶段</a:t>
            </a:r>
            <a:endParaRPr lang="en-US" sz="1150" dirty="0"/>
          </a:p>
        </p:txBody>
      </p:sp>
      <p:sp>
        <p:nvSpPr>
          <p:cNvPr id="22" name="Text 20"/>
          <p:cNvSpPr/>
          <p:nvPr/>
        </p:nvSpPr>
        <p:spPr>
          <a:xfrm>
            <a:off x="3910584" y="1860804"/>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050" dirty="0"/>
          </a:p>
        </p:txBody>
      </p:sp>
      <p:sp>
        <p:nvSpPr>
          <p:cNvPr id="23" name="Shape 21"/>
          <p:cNvSpPr/>
          <p:nvPr/>
        </p:nvSpPr>
        <p:spPr>
          <a:xfrm>
            <a:off x="2282952" y="2436876"/>
            <a:ext cx="8994343" cy="512064"/>
          </a:xfrm>
          <a:prstGeom prst="rect">
            <a:avLst/>
          </a:prstGeom>
          <a:solidFill>
            <a:srgbClr val="FFFFFF"/>
          </a:solidFill>
          <a:ln w="12700">
            <a:solidFill>
              <a:srgbClr val="D9E2EF"/>
            </a:solidFill>
            <a:prstDash val="solid"/>
          </a:ln>
        </p:spPr>
      </p:sp>
      <p:sp>
        <p:nvSpPr>
          <p:cNvPr id="24" name="Shape 22"/>
          <p:cNvSpPr/>
          <p:nvPr/>
        </p:nvSpPr>
        <p:spPr>
          <a:xfrm>
            <a:off x="2282952" y="2482596"/>
            <a:ext cx="38100" cy="420624"/>
          </a:xfrm>
          <a:prstGeom prst="rect">
            <a:avLst/>
          </a:prstGeom>
          <a:solidFill>
            <a:srgbClr val="C2552F"/>
          </a:solidFill>
          <a:ln w="12700">
            <a:solidFill>
              <a:srgbClr val="A8421F"/>
            </a:solidFill>
            <a:prstDash val="solid"/>
          </a:ln>
        </p:spPr>
      </p:sp>
      <p:sp>
        <p:nvSpPr>
          <p:cNvPr id="25" name="Text 23"/>
          <p:cNvSpPr/>
          <p:nvPr/>
        </p:nvSpPr>
        <p:spPr>
          <a:xfrm>
            <a:off x="2484120" y="2436876"/>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学生作业与考试</a:t>
            </a:r>
            <a:endParaRPr lang="en-US" sz="1150" dirty="0"/>
          </a:p>
        </p:txBody>
      </p:sp>
      <p:sp>
        <p:nvSpPr>
          <p:cNvPr id="26" name="Text 24"/>
          <p:cNvSpPr/>
          <p:nvPr/>
        </p:nvSpPr>
        <p:spPr>
          <a:xfrm>
            <a:off x="3910584" y="2436876"/>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学生应避免在作业中简单复制生成式人工智能工具生成的内容；避免使用生成式人工智能参加考试与测验，不得利用生成式人工智能作弊。</a:t>
            </a:r>
            <a:endParaRPr lang="en-US" sz="1050" dirty="0"/>
          </a:p>
        </p:txBody>
      </p:sp>
      <p:sp>
        <p:nvSpPr>
          <p:cNvPr id="27" name="Shape 25"/>
          <p:cNvSpPr/>
          <p:nvPr/>
        </p:nvSpPr>
        <p:spPr>
          <a:xfrm>
            <a:off x="1295400" y="3040380"/>
            <a:ext cx="841248" cy="512064"/>
          </a:xfrm>
          <a:prstGeom prst="rect">
            <a:avLst/>
          </a:prstGeom>
          <a:solidFill>
            <a:srgbClr val="081B3A"/>
          </a:solidFill>
          <a:ln w="12700">
            <a:solidFill>
              <a:srgbClr val="081B3A"/>
            </a:solidFill>
            <a:prstDash val="solid"/>
          </a:ln>
        </p:spPr>
      </p:sp>
      <p:sp>
        <p:nvSpPr>
          <p:cNvPr id="28" name="Text 26"/>
          <p:cNvSpPr/>
          <p:nvPr/>
        </p:nvSpPr>
        <p:spPr>
          <a:xfrm>
            <a:off x="1350264" y="3040380"/>
            <a:ext cx="731520"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教师</a:t>
            </a:r>
            <a:endParaRPr lang="en-US" sz="950" dirty="0"/>
          </a:p>
        </p:txBody>
      </p:sp>
      <p:sp>
        <p:nvSpPr>
          <p:cNvPr id="29" name="Shape 27"/>
          <p:cNvSpPr/>
          <p:nvPr/>
        </p:nvSpPr>
        <p:spPr>
          <a:xfrm>
            <a:off x="2282952" y="3040380"/>
            <a:ext cx="8994343" cy="512064"/>
          </a:xfrm>
          <a:prstGeom prst="rect">
            <a:avLst/>
          </a:prstGeom>
          <a:solidFill>
            <a:srgbClr val="FFFFFF"/>
          </a:solidFill>
          <a:ln w="12700">
            <a:solidFill>
              <a:srgbClr val="D9E2EF"/>
            </a:solidFill>
            <a:prstDash val="solid"/>
          </a:ln>
        </p:spPr>
      </p:sp>
      <p:sp>
        <p:nvSpPr>
          <p:cNvPr id="30" name="Shape 28"/>
          <p:cNvSpPr/>
          <p:nvPr/>
        </p:nvSpPr>
        <p:spPr>
          <a:xfrm>
            <a:off x="2282952" y="3086100"/>
            <a:ext cx="38100" cy="420624"/>
          </a:xfrm>
          <a:prstGeom prst="rect">
            <a:avLst/>
          </a:prstGeom>
          <a:solidFill>
            <a:srgbClr val="C2552F"/>
          </a:solidFill>
          <a:ln w="12700">
            <a:solidFill>
              <a:srgbClr val="A8421F"/>
            </a:solidFill>
            <a:prstDash val="solid"/>
          </a:ln>
        </p:spPr>
      </p:sp>
      <p:sp>
        <p:nvSpPr>
          <p:cNvPr id="31" name="Text 29"/>
          <p:cNvSpPr/>
          <p:nvPr/>
        </p:nvSpPr>
        <p:spPr>
          <a:xfrm>
            <a:off x="2484120" y="3040380"/>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教师输入数据</a:t>
            </a:r>
            <a:endParaRPr lang="en-US" sz="1150" dirty="0"/>
          </a:p>
        </p:txBody>
      </p:sp>
      <p:sp>
        <p:nvSpPr>
          <p:cNvPr id="32" name="Text 30"/>
          <p:cNvSpPr/>
          <p:nvPr/>
        </p:nvSpPr>
        <p:spPr>
          <a:xfrm>
            <a:off x="3910584" y="3040380"/>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严禁将个人信息、考试试题等敏感数据输入AI工具，防止数据泄露与隐私侵害。</a:t>
            </a:r>
            <a:endParaRPr lang="en-US" sz="1050" dirty="0"/>
          </a:p>
        </p:txBody>
      </p:sp>
      <p:sp>
        <p:nvSpPr>
          <p:cNvPr id="33" name="Shape 31"/>
          <p:cNvSpPr/>
          <p:nvPr/>
        </p:nvSpPr>
        <p:spPr>
          <a:xfrm>
            <a:off x="1295400" y="3643884"/>
            <a:ext cx="841248" cy="512064"/>
          </a:xfrm>
          <a:prstGeom prst="rect">
            <a:avLst/>
          </a:prstGeom>
          <a:solidFill>
            <a:srgbClr val="081B3A"/>
          </a:solidFill>
          <a:ln w="12700">
            <a:solidFill>
              <a:srgbClr val="081B3A"/>
            </a:solidFill>
            <a:prstDash val="solid"/>
          </a:ln>
        </p:spPr>
      </p:sp>
      <p:sp>
        <p:nvSpPr>
          <p:cNvPr id="34" name="Text 32"/>
          <p:cNvSpPr/>
          <p:nvPr/>
        </p:nvSpPr>
        <p:spPr>
          <a:xfrm>
            <a:off x="1350264" y="3643884"/>
            <a:ext cx="731520"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网络发布</a:t>
            </a:r>
            <a:endParaRPr lang="en-US" sz="950" dirty="0"/>
          </a:p>
        </p:txBody>
      </p:sp>
      <p:sp>
        <p:nvSpPr>
          <p:cNvPr id="35" name="Shape 33"/>
          <p:cNvSpPr/>
          <p:nvPr/>
        </p:nvSpPr>
        <p:spPr>
          <a:xfrm>
            <a:off x="2282952" y="3643884"/>
            <a:ext cx="8994343" cy="512064"/>
          </a:xfrm>
          <a:prstGeom prst="rect">
            <a:avLst/>
          </a:prstGeom>
          <a:solidFill>
            <a:srgbClr val="FFFFFF"/>
          </a:solidFill>
          <a:ln w="12700">
            <a:solidFill>
              <a:srgbClr val="D9E2EF"/>
            </a:solidFill>
            <a:prstDash val="solid"/>
          </a:ln>
        </p:spPr>
      </p:sp>
      <p:sp>
        <p:nvSpPr>
          <p:cNvPr id="36" name="Shape 34"/>
          <p:cNvSpPr/>
          <p:nvPr/>
        </p:nvSpPr>
        <p:spPr>
          <a:xfrm>
            <a:off x="2282952" y="3689604"/>
            <a:ext cx="38100" cy="420624"/>
          </a:xfrm>
          <a:prstGeom prst="rect">
            <a:avLst/>
          </a:prstGeom>
          <a:solidFill>
            <a:srgbClr val="C2552F"/>
          </a:solidFill>
          <a:ln w="12700">
            <a:solidFill>
              <a:srgbClr val="A8421F"/>
            </a:solidFill>
            <a:prstDash val="solid"/>
          </a:ln>
        </p:spPr>
      </p:sp>
      <p:sp>
        <p:nvSpPr>
          <p:cNvPr id="37" name="Text 35"/>
          <p:cNvSpPr/>
          <p:nvPr/>
        </p:nvSpPr>
        <p:spPr>
          <a:xfrm>
            <a:off x="2484120" y="3643884"/>
            <a:ext cx="1353312" cy="512064"/>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通过网络发布</a:t>
            </a:r>
            <a:endParaRPr lang="en-US" sz="1150" dirty="0"/>
          </a:p>
        </p:txBody>
      </p:sp>
      <p:sp>
        <p:nvSpPr>
          <p:cNvPr id="38" name="Text 36"/>
          <p:cNvSpPr/>
          <p:nvPr/>
        </p:nvSpPr>
        <p:spPr>
          <a:xfrm>
            <a:off x="3910584" y="3643884"/>
            <a:ext cx="7165543" cy="512064"/>
          </a:xfrm>
          <a:prstGeom prst="rect">
            <a:avLst/>
          </a:prstGeom>
          <a:noFill/>
          <a:ln/>
        </p:spPr>
        <p:txBody>
          <a:bodyPr wrap="square" lIns="0" tIns="0" rIns="0" bIns="0" rtlCol="0" anchor="ctr"/>
          <a:lstStyle/>
          <a:p>
            <a:pPr indent="0" marL="0">
              <a:lnSpc>
                <a:spcPct val="130000"/>
              </a:lnSpc>
              <a:buNone/>
            </a:pPr>
            <a:r>
              <a:rPr lang="en-US" sz="1050" dirty="0">
                <a:solidFill>
                  <a:srgbClr val="27364A"/>
                </a:solidFill>
                <a:latin typeface="Microsoft YaHei" pitchFamily="34" charset="0"/>
                <a:ea typeface="Microsoft YaHei" pitchFamily="34" charset="-122"/>
                <a:cs typeface="Microsoft YaHei" pitchFamily="34" charset="-120"/>
              </a:rPr>
              <a:t>用户使用网络信息内容传播服务发布生成合成内容的，应当主动声明并使用服务提供者提供的标识功能进行标识。</a:t>
            </a:r>
            <a:endParaRPr lang="en-US" sz="1050" dirty="0"/>
          </a:p>
        </p:txBody>
      </p:sp>
      <p:sp>
        <p:nvSpPr>
          <p:cNvPr id="39" name="Text 37"/>
          <p:cNvSpPr/>
          <p:nvPr/>
        </p:nvSpPr>
        <p:spPr>
          <a:xfrm>
            <a:off x="1295400" y="4265676"/>
            <a:ext cx="9981895" cy="274320"/>
          </a:xfrm>
          <a:prstGeom prst="rect">
            <a:avLst/>
          </a:prstGeom>
          <a:noFill/>
          <a:ln/>
        </p:spPr>
        <p:txBody>
          <a:bodyPr wrap="square" lIns="0" tIns="0" rIns="0" bIns="0" rtlCol="0" anchor="ctr"/>
          <a:lstStyle/>
          <a:p>
            <a:pPr indent="0" marL="0">
              <a:buNone/>
            </a:pPr>
            <a:r>
              <a:rPr lang="en-US" sz="1300" dirty="0">
                <a:solidFill>
                  <a:srgbClr val="27364A"/>
                </a:solidFill>
                <a:latin typeface="Microsoft YaHei" pitchFamily="34" charset="0"/>
                <a:ea typeface="Microsoft YaHei" pitchFamily="34" charset="-122"/>
                <a:cs typeface="Microsoft YaHei" pitchFamily="34" charset="-120"/>
              </a:rPr>
              <a:t>不同条款的责任主体与约束强度不同，使用时须按主体与场景分别判断。</a:t>
            </a:r>
            <a:endParaRPr lang="en-US" sz="1300" dirty="0"/>
          </a:p>
        </p:txBody>
      </p:sp>
      <p:sp>
        <p:nvSpPr>
          <p:cNvPr id="40" name="Text 38"/>
          <p:cNvSpPr/>
          <p:nvPr/>
        </p:nvSpPr>
        <p:spPr>
          <a:xfrm>
            <a:off x="1295400" y="461314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前三条：《中小学生成式人工智能使用指南（2025 年版）》；第四条：《人工智能生成合成内容标识办法》第十条。</a:t>
            </a:r>
            <a:endParaRPr lang="en-US" sz="1000" dirty="0"/>
          </a:p>
        </p:txBody>
      </p:sp>
      <p:sp>
        <p:nvSpPr>
          <p:cNvPr id="41" name="Shape 39"/>
          <p:cNvSpPr/>
          <p:nvPr/>
        </p:nvSpPr>
        <p:spPr>
          <a:xfrm>
            <a:off x="1295400" y="5888736"/>
            <a:ext cx="9981895" cy="0"/>
          </a:xfrm>
          <a:prstGeom prst="line">
            <a:avLst/>
          </a:prstGeom>
          <a:noFill/>
          <a:ln w="12700">
            <a:solidFill>
              <a:srgbClr val="D9E2EF"/>
            </a:solidFill>
            <a:prstDash val="solid"/>
          </a:ln>
        </p:spPr>
      </p:sp>
      <p:sp>
        <p:nvSpPr>
          <p:cNvPr id="42" name="Text 4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“白名单”由教育行政部门建立；学校负责明确进校准入机制。第四条适用于使用网络信息内容传播服务发布生成合成内容，不是校园作业的一般标注条款。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7" name="Text 15"/>
          <p:cNvSpPr/>
          <p:nvPr/>
        </p:nvSpPr>
        <p:spPr>
          <a:xfrm>
            <a:off x="1295400" y="2450592"/>
            <a:ext cx="896112"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教师</a:t>
            </a:r>
            <a:endParaRPr lang="en-US" sz="1400" dirty="0"/>
          </a:p>
        </p:txBody>
      </p:sp>
      <p:sp>
        <p:nvSpPr>
          <p:cNvPr id="18" name="Text 16"/>
          <p:cNvSpPr/>
          <p:nvPr/>
        </p:nvSpPr>
        <p:spPr>
          <a:xfrm>
            <a:off x="2374392" y="2450592"/>
            <a:ext cx="896112"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学生</a:t>
            </a:r>
            <a:endParaRPr lang="en-US" sz="1400" dirty="0"/>
          </a:p>
        </p:txBody>
      </p:sp>
      <p:sp>
        <p:nvSpPr>
          <p:cNvPr id="19" name="Text 17"/>
          <p:cNvSpPr/>
          <p:nvPr/>
        </p:nvSpPr>
        <p:spPr>
          <a:xfrm>
            <a:off x="3453384" y="2450592"/>
            <a:ext cx="896112"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同伴</a:t>
            </a:r>
            <a:endParaRPr lang="en-US" sz="1400" dirty="0"/>
          </a:p>
        </p:txBody>
      </p:sp>
      <p:sp>
        <p:nvSpPr>
          <p:cNvPr id="20" name="Text 18"/>
          <p:cNvSpPr/>
          <p:nvPr/>
        </p:nvSpPr>
        <p:spPr>
          <a:xfrm>
            <a:off x="4532376" y="2450592"/>
            <a:ext cx="2871216" cy="43891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受邀的科学家与工程师</a:t>
            </a:r>
            <a:endParaRPr lang="en-US" sz="1400" dirty="0"/>
          </a:p>
        </p:txBody>
      </p:sp>
      <p:sp>
        <p:nvSpPr>
          <p:cNvPr id="21" name="Shape 19"/>
          <p:cNvSpPr/>
          <p:nvPr/>
        </p:nvSpPr>
        <p:spPr>
          <a:xfrm>
            <a:off x="1295400" y="2414016"/>
            <a:ext cx="9981895" cy="0"/>
          </a:xfrm>
          <a:prstGeom prst="line">
            <a:avLst/>
          </a:prstGeom>
          <a:noFill/>
          <a:ln w="12700">
            <a:solidFill>
              <a:srgbClr val="D9E2EF"/>
            </a:solidFill>
            <a:prstDash val="solid"/>
          </a:ln>
        </p:spPr>
      </p:sp>
      <p:sp>
        <p:nvSpPr>
          <p:cNvPr id="22" name="Shape 20"/>
          <p:cNvSpPr/>
          <p:nvPr/>
        </p:nvSpPr>
        <p:spPr>
          <a:xfrm>
            <a:off x="1295400" y="2907792"/>
            <a:ext cx="9981895" cy="0"/>
          </a:xfrm>
          <a:prstGeom prst="line">
            <a:avLst/>
          </a:prstGeom>
          <a:noFill/>
          <a:ln w="12700">
            <a:solidFill>
              <a:srgbClr val="D9E2EF"/>
            </a:solidFill>
            <a:prstDash val="solid"/>
          </a:ln>
        </p:spPr>
      </p:sp>
      <p:sp>
        <p:nvSpPr>
          <p:cNvPr id="23" name="Shape 21"/>
          <p:cNvSpPr/>
          <p:nvPr/>
        </p:nvSpPr>
        <p:spPr>
          <a:xfrm>
            <a:off x="1295400" y="3127248"/>
            <a:ext cx="960120" cy="310896"/>
          </a:xfrm>
          <a:prstGeom prst="rect">
            <a:avLst/>
          </a:prstGeom>
          <a:solidFill>
            <a:srgbClr val="F7FAFF">
              <a:alpha val="0"/>
            </a:srgbClr>
          </a:solidFill>
          <a:ln w="19050">
            <a:solidFill>
              <a:srgbClr val="C2552F"/>
            </a:solidFill>
            <a:prstDash val="solid"/>
          </a:ln>
        </p:spPr>
      </p:sp>
      <p:sp>
        <p:nvSpPr>
          <p:cNvPr id="24" name="Text 22"/>
          <p:cNvSpPr/>
          <p:nvPr/>
        </p:nvSpPr>
        <p:spPr>
          <a:xfrm>
            <a:off x="1295400" y="3127248"/>
            <a:ext cx="960120" cy="31089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AI 不属于评价主体</a:t>
            </a:r>
            <a:endParaRPr lang="en-US" sz="1100" dirty="0"/>
          </a:p>
        </p:txBody>
      </p:sp>
      <p:sp>
        <p:nvSpPr>
          <p:cNvPr id="25" name="Text 23"/>
          <p:cNvSpPr/>
          <p:nvPr/>
        </p:nvSpPr>
        <p:spPr>
          <a:xfrm>
            <a:off x="1295400" y="3730752"/>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可部分借助工具</a:t>
            </a:r>
            <a:endParaRPr lang="en-US" sz="950" dirty="0"/>
          </a:p>
        </p:txBody>
      </p:sp>
      <p:sp>
        <p:nvSpPr>
          <p:cNvPr id="26" name="Text 24"/>
          <p:cNvSpPr/>
          <p:nvPr/>
        </p:nvSpPr>
        <p:spPr>
          <a:xfrm>
            <a:off x="1295400" y="3986784"/>
            <a:ext cx="4625188" cy="402336"/>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整理材料、形成初稿</a:t>
            </a:r>
            <a:endParaRPr lang="en-US" sz="2000" dirty="0"/>
          </a:p>
        </p:txBody>
      </p:sp>
      <p:sp>
        <p:nvSpPr>
          <p:cNvPr id="27" name="Text 25"/>
          <p:cNvSpPr/>
          <p:nvPr/>
        </p:nvSpPr>
        <p:spPr>
          <a:xfrm>
            <a:off x="6286348" y="3730752"/>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须由规定主体完成</a:t>
            </a:r>
            <a:endParaRPr lang="en-US" sz="950" dirty="0"/>
          </a:p>
        </p:txBody>
      </p:sp>
      <p:sp>
        <p:nvSpPr>
          <p:cNvPr id="28" name="Text 26"/>
          <p:cNvSpPr/>
          <p:nvPr/>
        </p:nvSpPr>
        <p:spPr>
          <a:xfrm>
            <a:off x="6286348" y="3986784"/>
            <a:ext cx="4625188" cy="402336"/>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确认、否决、评价与负责</a:t>
            </a:r>
            <a:endParaRPr lang="en-US" sz="2000" dirty="0"/>
          </a:p>
        </p:txBody>
      </p:sp>
      <p:sp>
        <p:nvSpPr>
          <p:cNvPr id="29" name="Text 27"/>
          <p:cNvSpPr/>
          <p:nvPr/>
        </p:nvSpPr>
        <p:spPr>
          <a:xfrm>
            <a:off x="6030316" y="3913632"/>
            <a:ext cx="512064" cy="402336"/>
          </a:xfrm>
          <a:prstGeom prst="rect">
            <a:avLst/>
          </a:prstGeom>
          <a:noFill/>
          <a:ln/>
        </p:spPr>
        <p:txBody>
          <a:bodyPr wrap="square" lIns="0" tIns="0" rIns="0" bIns="0" rtlCol="0" anchor="ctr"/>
          <a:lstStyle/>
          <a:p>
            <a:pPr algn="ctr" indent="0" marL="0">
              <a:buNone/>
            </a:pPr>
            <a:r>
              <a:rPr lang="en-US" sz="2000" dirty="0">
                <a:solidFill>
                  <a:srgbClr val="A8421F"/>
                </a:solidFill>
                <a:latin typeface="Microsoft YaHei" pitchFamily="34" charset="0"/>
                <a:ea typeface="Microsoft YaHei" pitchFamily="34" charset="-122"/>
                <a:cs typeface="Microsoft YaHei" pitchFamily="34" charset="-120"/>
              </a:rPr>
              <a:t>→</a:t>
            </a:r>
            <a:endParaRPr lang="en-US" sz="2000" dirty="0"/>
          </a:p>
        </p:txBody>
      </p:sp>
      <p:sp>
        <p:nvSpPr>
          <p:cNvPr id="30" name="Text 28"/>
          <p:cNvSpPr/>
          <p:nvPr/>
        </p:nvSpPr>
        <p:spPr>
          <a:xfrm>
            <a:off x="1295400" y="4828032"/>
            <a:ext cx="822960" cy="219456"/>
          </a:xfrm>
          <a:prstGeom prst="rect">
            <a:avLst/>
          </a:prstGeom>
          <a:noFill/>
          <a:ln/>
        </p:spPr>
        <p:txBody>
          <a:bodyPr wrap="square" lIns="0" tIns="0" rIns="0" bIns="0" rtlCol="0" anchor="ctr"/>
          <a:lstStyle/>
          <a:p>
            <a:pPr indent="0" marL="0">
              <a:buNone/>
            </a:pPr>
            <a:r>
              <a:rPr lang="en-US" sz="950" b="1" dirty="0">
                <a:solidFill>
                  <a:srgbClr val="A8421F"/>
                </a:solidFill>
                <a:latin typeface="Microsoft YaHei" pitchFamily="34" charset="0"/>
                <a:ea typeface="Microsoft YaHei" pitchFamily="34" charset="-122"/>
                <a:cs typeface="Microsoft YaHei" pitchFamily="34" charset="-120"/>
              </a:rPr>
              <a:t>教师签名</a:t>
            </a:r>
            <a:endParaRPr lang="en-US" sz="950" dirty="0"/>
          </a:p>
        </p:txBody>
      </p:sp>
      <p:sp>
        <p:nvSpPr>
          <p:cNvPr id="31" name="Shape 29"/>
          <p:cNvSpPr/>
          <p:nvPr/>
        </p:nvSpPr>
        <p:spPr>
          <a:xfrm>
            <a:off x="2255520" y="5029200"/>
            <a:ext cx="3383280" cy="0"/>
          </a:xfrm>
          <a:prstGeom prst="line">
            <a:avLst/>
          </a:prstGeom>
          <a:noFill/>
          <a:ln w="12700">
            <a:solidFill>
              <a:srgbClr val="081B3A"/>
            </a:solidFill>
            <a:prstDash val="solid"/>
          </a:ln>
        </p:spPr>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系统的功能已扩展至多步骤任务执行</a:t>
            </a:r>
            <a:endParaRPr lang="en-US" sz="3200" dirty="0"/>
          </a:p>
        </p:txBody>
      </p:sp>
      <p:sp>
        <p:nvSpPr>
          <p:cNvPr id="17" name="Shape 15"/>
          <p:cNvSpPr/>
          <p:nvPr/>
        </p:nvSpPr>
        <p:spPr>
          <a:xfrm>
            <a:off x="1551432" y="2587752"/>
            <a:ext cx="9469831" cy="0"/>
          </a:xfrm>
          <a:prstGeom prst="line">
            <a:avLst/>
          </a:prstGeom>
          <a:noFill/>
          <a:ln w="19050">
            <a:solidFill>
              <a:srgbClr val="BFD3EA"/>
            </a:solidFill>
            <a:prstDash val="solid"/>
          </a:ln>
        </p:spPr>
      </p:sp>
      <p:sp>
        <p:nvSpPr>
          <p:cNvPr id="18" name="Shape 16"/>
          <p:cNvSpPr/>
          <p:nvPr/>
        </p:nvSpPr>
        <p:spPr>
          <a:xfrm>
            <a:off x="1295400" y="2340864"/>
            <a:ext cx="713232" cy="493776"/>
          </a:xfrm>
          <a:prstGeom prst="roundRect">
            <a:avLst>
              <a:gd name="adj" fmla="val 50000"/>
            </a:avLst>
          </a:prstGeom>
          <a:solidFill>
            <a:srgbClr val="F7FAFF"/>
          </a:solidFill>
          <a:ln w="21590">
            <a:solidFill>
              <a:srgbClr val="C2552F"/>
            </a:solidFill>
            <a:prstDash val="solid"/>
          </a:ln>
        </p:spPr>
      </p:sp>
      <p:sp>
        <p:nvSpPr>
          <p:cNvPr id="19" name="Text 17"/>
          <p:cNvSpPr/>
          <p:nvPr/>
        </p:nvSpPr>
        <p:spPr>
          <a:xfrm>
            <a:off x="1295400"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2017</a:t>
            </a:r>
            <a:endParaRPr lang="en-US" sz="1100" dirty="0"/>
          </a:p>
        </p:txBody>
      </p:sp>
      <p:sp>
        <p:nvSpPr>
          <p:cNvPr id="20" name="Text 18"/>
          <p:cNvSpPr/>
          <p:nvPr/>
        </p:nvSpPr>
        <p:spPr>
          <a:xfrm>
            <a:off x="1295400"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语言处理架构发生变化</a:t>
            </a:r>
            <a:endParaRPr lang="en-US" sz="1700" dirty="0"/>
          </a:p>
        </p:txBody>
      </p:sp>
      <p:sp>
        <p:nvSpPr>
          <p:cNvPr id="21" name="Shape 19"/>
          <p:cNvSpPr/>
          <p:nvPr/>
        </p:nvSpPr>
        <p:spPr>
          <a:xfrm>
            <a:off x="1295400" y="3694176"/>
            <a:ext cx="3071266" cy="0"/>
          </a:xfrm>
          <a:prstGeom prst="line">
            <a:avLst/>
          </a:prstGeom>
          <a:noFill/>
          <a:ln w="12700">
            <a:solidFill>
              <a:srgbClr val="D9E2EF"/>
            </a:solidFill>
            <a:prstDash val="solid"/>
          </a:ln>
        </p:spPr>
      </p:sp>
      <p:sp>
        <p:nvSpPr>
          <p:cNvPr id="22" name="Text 20"/>
          <p:cNvSpPr/>
          <p:nvPr/>
        </p:nvSpPr>
        <p:spPr>
          <a:xfrm>
            <a:off x="1295400"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研究提出新的语言处理架构，后续模型能力持续发展。</a:t>
            </a:r>
            <a:endParaRPr lang="en-US" sz="1100" dirty="0"/>
          </a:p>
        </p:txBody>
      </p:sp>
      <p:sp>
        <p:nvSpPr>
          <p:cNvPr id="23" name="Shape 21"/>
          <p:cNvSpPr/>
          <p:nvPr/>
        </p:nvSpPr>
        <p:spPr>
          <a:xfrm>
            <a:off x="4714138" y="2340864"/>
            <a:ext cx="713232" cy="493776"/>
          </a:xfrm>
          <a:prstGeom prst="roundRect">
            <a:avLst>
              <a:gd name="adj" fmla="val 50000"/>
            </a:avLst>
          </a:prstGeom>
          <a:solidFill>
            <a:srgbClr val="F7FAFF"/>
          </a:solidFill>
          <a:ln w="21590">
            <a:solidFill>
              <a:srgbClr val="C2552F"/>
            </a:solidFill>
            <a:prstDash val="solid"/>
          </a:ln>
        </p:spPr>
      </p:sp>
      <p:sp>
        <p:nvSpPr>
          <p:cNvPr id="24" name="Text 22"/>
          <p:cNvSpPr/>
          <p:nvPr/>
        </p:nvSpPr>
        <p:spPr>
          <a:xfrm>
            <a:off x="4714138"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2022</a:t>
            </a:r>
            <a:endParaRPr lang="en-US" sz="1100" dirty="0"/>
          </a:p>
        </p:txBody>
      </p:sp>
      <p:sp>
        <p:nvSpPr>
          <p:cNvPr id="25" name="Text 23"/>
          <p:cNvSpPr/>
          <p:nvPr/>
        </p:nvSpPr>
        <p:spPr>
          <a:xfrm>
            <a:off x="4714138"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对话式生成进入公众使用</a:t>
            </a:r>
            <a:endParaRPr lang="en-US" sz="1700" dirty="0"/>
          </a:p>
        </p:txBody>
      </p:sp>
      <p:sp>
        <p:nvSpPr>
          <p:cNvPr id="26" name="Shape 24"/>
          <p:cNvSpPr/>
          <p:nvPr/>
        </p:nvSpPr>
        <p:spPr>
          <a:xfrm>
            <a:off x="4714138" y="3694176"/>
            <a:ext cx="3071266" cy="0"/>
          </a:xfrm>
          <a:prstGeom prst="line">
            <a:avLst/>
          </a:prstGeom>
          <a:noFill/>
          <a:ln w="12700">
            <a:solidFill>
              <a:srgbClr val="D9E2EF"/>
            </a:solidFill>
            <a:prstDash val="solid"/>
          </a:ln>
        </p:spPr>
      </p:sp>
      <p:sp>
        <p:nvSpPr>
          <p:cNvPr id="27" name="Text 25"/>
          <p:cNvSpPr/>
          <p:nvPr/>
        </p:nvSpPr>
        <p:spPr>
          <a:xfrm>
            <a:off x="4714138"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ChatGPT 以研究预览形式发布。普通用户可以用自然语言连续追问和修改。</a:t>
            </a:r>
            <a:endParaRPr lang="en-US" sz="1100" dirty="0"/>
          </a:p>
        </p:txBody>
      </p:sp>
      <p:sp>
        <p:nvSpPr>
          <p:cNvPr id="28" name="Shape 26"/>
          <p:cNvSpPr/>
          <p:nvPr/>
        </p:nvSpPr>
        <p:spPr>
          <a:xfrm>
            <a:off x="8132877" y="2340864"/>
            <a:ext cx="713232" cy="493776"/>
          </a:xfrm>
          <a:prstGeom prst="roundRect">
            <a:avLst>
              <a:gd name="adj" fmla="val 50000"/>
            </a:avLst>
          </a:prstGeom>
          <a:solidFill>
            <a:srgbClr val="F7FAFF"/>
          </a:solidFill>
          <a:ln w="21590">
            <a:solidFill>
              <a:srgbClr val="C2552F"/>
            </a:solidFill>
            <a:prstDash val="solid"/>
          </a:ln>
        </p:spPr>
      </p:sp>
      <p:sp>
        <p:nvSpPr>
          <p:cNvPr id="29" name="Text 27"/>
          <p:cNvSpPr/>
          <p:nvPr/>
        </p:nvSpPr>
        <p:spPr>
          <a:xfrm>
            <a:off x="8132877"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2024</a:t>
            </a:r>
            <a:endParaRPr lang="en-US" sz="1100" dirty="0"/>
          </a:p>
        </p:txBody>
      </p:sp>
      <p:sp>
        <p:nvSpPr>
          <p:cNvPr id="30" name="Text 28"/>
          <p:cNvSpPr/>
          <p:nvPr/>
        </p:nvSpPr>
        <p:spPr>
          <a:xfrm>
            <a:off x="8132877"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工具开始处理多步任务</a:t>
            </a:r>
            <a:endParaRPr lang="en-US" sz="1700" dirty="0"/>
          </a:p>
        </p:txBody>
      </p:sp>
      <p:sp>
        <p:nvSpPr>
          <p:cNvPr id="31" name="Shape 29"/>
          <p:cNvSpPr/>
          <p:nvPr/>
        </p:nvSpPr>
        <p:spPr>
          <a:xfrm>
            <a:off x="8132877" y="3694176"/>
            <a:ext cx="3071266" cy="0"/>
          </a:xfrm>
          <a:prstGeom prst="line">
            <a:avLst/>
          </a:prstGeom>
          <a:noFill/>
          <a:ln w="12700">
            <a:solidFill>
              <a:srgbClr val="D9E2EF"/>
            </a:solidFill>
            <a:prstDash val="solid"/>
          </a:ln>
        </p:spPr>
      </p:sp>
      <p:sp>
        <p:nvSpPr>
          <p:cNvPr id="32" name="Text 30"/>
          <p:cNvSpPr/>
          <p:nvPr/>
        </p:nvSpPr>
        <p:spPr>
          <a:xfrm>
            <a:off x="8132877"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智能体围绕目标安排步骤、选择工具、查看结果，再调整下一步。</a:t>
            </a:r>
            <a:endParaRPr lang="en-US" sz="11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对学校场景的重要变化，是系统开始从生成一次回答扩展到执行连续步骤。</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普通对话、固定流程与智能体</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工作方式</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适用任务</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普通对话</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使用者提出请求，系统生成一次回复</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概念解释与文字初稿</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固定流程</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使用者预先规定各步骤及执行顺序</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步骤稳定且需要一致输出的任务</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系统围绕目标选择后续步骤并调用工具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步骤难以完全预先规定的复杂任务</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自主程度越高，越需要明确权限、人工检查点和停止条件。</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课堂起步：有固定边界的任务助手</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本讲座将具有固定角色与回答边界的对话配置称为“任务助手”。这一称呼用于课堂操作说明，不等同于完整智能体。</a:t>
            </a:r>
            <a:endParaRPr lang="en-US" sz="1150" dirty="0"/>
          </a:p>
        </p:txBody>
      </p:sp>
      <p:pic>
        <p:nvPicPr>
          <p:cNvPr id="18" name="Image 0" descr="/Users/tonyxin/Documents/Codex/2026-08-22/https-github-com-tonyxinvip-slides-https/work/slides/comprehensive-practice-ai/figures/agent.png">    </p:cNvPr>
          <p:cNvPicPr>
            <a:picLocks noChangeAspect="1"/>
          </p:cNvPicPr>
          <p:nvPr/>
        </p:nvPicPr>
        <p:blipFill>
          <a:blip r:embed="rId1"/>
          <a:stretch>
            <a:fillRect/>
          </a:stretch>
        </p:blipFill>
        <p:spPr>
          <a:xfrm>
            <a:off x="1295400" y="2171700"/>
            <a:ext cx="9981895" cy="2324029"/>
          </a:xfrm>
          <a:prstGeom prst="rect">
            <a:avLst/>
          </a:prstGeom>
        </p:spPr>
      </p:pic>
      <p:sp>
        <p:nvSpPr>
          <p:cNvPr id="19" name="Shape 16"/>
          <p:cNvSpPr/>
          <p:nvPr/>
        </p:nvSpPr>
        <p:spPr>
          <a:xfrm>
            <a:off x="1295400" y="4642033"/>
            <a:ext cx="9981895" cy="1060704"/>
          </a:xfrm>
          <a:prstGeom prst="roundRect">
            <a:avLst>
              <a:gd name="adj" fmla="val 7759"/>
            </a:avLst>
          </a:prstGeom>
          <a:solidFill>
            <a:srgbClr val="FFFFFF"/>
          </a:solidFill>
          <a:ln w="12700">
            <a:solidFill>
              <a:srgbClr val="D9E2EF"/>
            </a:solidFill>
            <a:prstDash val="solid"/>
          </a:ln>
        </p:spPr>
      </p:sp>
      <p:sp>
        <p:nvSpPr>
          <p:cNvPr id="20" name="Shape 17"/>
          <p:cNvSpPr/>
          <p:nvPr/>
        </p:nvSpPr>
        <p:spPr>
          <a:xfrm>
            <a:off x="1295400" y="4696897"/>
            <a:ext cx="38100" cy="950976"/>
          </a:xfrm>
          <a:prstGeom prst="rect">
            <a:avLst/>
          </a:prstGeom>
          <a:solidFill>
            <a:srgbClr val="C2552F"/>
          </a:solidFill>
          <a:ln w="12700">
            <a:solidFill>
              <a:srgbClr val="A8421F"/>
            </a:solidFill>
            <a:prstDash val="solid"/>
          </a:ln>
        </p:spPr>
      </p:sp>
      <p:sp>
        <p:nvSpPr>
          <p:cNvPr id="21" name="Text 18"/>
          <p:cNvSpPr/>
          <p:nvPr/>
        </p:nvSpPr>
        <p:spPr>
          <a:xfrm>
            <a:off x="1569720" y="4760905"/>
            <a:ext cx="9433255" cy="182880"/>
          </a:xfrm>
          <a:prstGeom prst="rect">
            <a:avLst/>
          </a:prstGeom>
          <a:noFill/>
          <a:ln/>
        </p:spPr>
        <p:txBody>
          <a:bodyPr wrap="square" lIns="0" tIns="0" rIns="0" bIns="0" rtlCol="0" anchor="ctr"/>
          <a:lstStyle/>
          <a:p>
            <a:pPr indent="0" marL="0">
              <a:buNone/>
            </a:pPr>
            <a:r>
              <a:rPr lang="en-US" sz="950" b="1" spc="120" kern="0" dirty="0">
                <a:solidFill>
                  <a:srgbClr val="A8421F"/>
                </a:solidFill>
                <a:latin typeface="Microsoft YaHei" pitchFamily="34" charset="0"/>
                <a:ea typeface="Microsoft YaHei" pitchFamily="34" charset="-122"/>
                <a:cs typeface="Microsoft YaHei" pitchFamily="34" charset="-120"/>
              </a:rPr>
              <a:t>可直接使用的指令</a:t>
            </a:r>
            <a:endParaRPr lang="en-US" sz="950" dirty="0"/>
          </a:p>
        </p:txBody>
      </p:sp>
      <p:sp>
        <p:nvSpPr>
          <p:cNvPr id="22" name="Text 19"/>
          <p:cNvSpPr/>
          <p:nvPr/>
        </p:nvSpPr>
        <p:spPr>
          <a:xfrm>
            <a:off x="1569720" y="4989505"/>
            <a:ext cx="9433255" cy="621792"/>
          </a:xfrm>
          <a:prstGeom prst="rect">
            <a:avLst/>
          </a:prstGeom>
          <a:noFill/>
          <a:ln/>
        </p:spPr>
        <p:txBody>
          <a:bodyPr wrap="square" lIns="0" tIns="0" rIns="0" bIns="0" rtlCol="0" anchor="t"/>
          <a:lstStyle/>
          <a:p>
            <a:pPr indent="0" marL="0">
              <a:lnSpc>
                <a:spcPct val="155000"/>
              </a:lnSpc>
              <a:buNone/>
            </a:pPr>
            <a:r>
              <a:rPr lang="en-US" sz="1250" dirty="0">
                <a:solidFill>
                  <a:srgbClr val="27364A"/>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250" dirty="0"/>
          </a:p>
        </p:txBody>
      </p:sp>
      <p:sp>
        <p:nvSpPr>
          <p:cNvPr id="23" name="Shape 20"/>
          <p:cNvSpPr/>
          <p:nvPr/>
        </p:nvSpPr>
        <p:spPr>
          <a:xfrm>
            <a:off x="1295400" y="5888736"/>
            <a:ext cx="9981895" cy="0"/>
          </a:xfrm>
          <a:prstGeom prst="line">
            <a:avLst/>
          </a:prstGeom>
          <a:noFill/>
          <a:ln w="12700">
            <a:solidFill>
              <a:srgbClr val="D9E2EF"/>
            </a:solidFill>
            <a:prstDash val="solid"/>
          </a:ln>
        </p:spPr>
      </p:sp>
      <p:sp>
        <p:nvSpPr>
          <p:cNvPr id="24"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将指令放在一段对话的开头；新建对话时重新粘贴。更换用途时，改写任务范围与回答边界。</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三类支持工具的适用位置</a:t>
            </a:r>
            <a:endParaRPr lang="en-US" sz="3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适用环节</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不宜承担的功能</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对话式任务助手</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学生提出探究问题、学生解释结论、正式评价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任务单与留痕页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任务开始前的任务单、过程留痕、对外发布的成果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课堂反馈与过程记录工具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任务助手支持方案质疑与答辩准备；任务单、留痕页和互动工具承担过程记录。</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三周试行安排</a:t>
            </a:r>
            <a:endParaRPr lang="en-US" sz="3200" dirty="0"/>
          </a:p>
        </p:txBody>
      </p:sp>
      <p:sp>
        <p:nvSpPr>
          <p:cNvPr id="17" name="Shape 15"/>
          <p:cNvSpPr/>
          <p:nvPr/>
        </p:nvSpPr>
        <p:spPr>
          <a:xfrm>
            <a:off x="1551432" y="2587752"/>
            <a:ext cx="9469831" cy="0"/>
          </a:xfrm>
          <a:prstGeom prst="line">
            <a:avLst/>
          </a:prstGeom>
          <a:noFill/>
          <a:ln w="19050">
            <a:solidFill>
              <a:srgbClr val="BFD3EA"/>
            </a:solidFill>
            <a:prstDash val="solid"/>
          </a:ln>
        </p:spPr>
      </p:sp>
      <p:sp>
        <p:nvSpPr>
          <p:cNvPr id="18" name="Shape 16"/>
          <p:cNvSpPr/>
          <p:nvPr/>
        </p:nvSpPr>
        <p:spPr>
          <a:xfrm>
            <a:off x="1295400" y="2340864"/>
            <a:ext cx="713232" cy="493776"/>
          </a:xfrm>
          <a:prstGeom prst="roundRect">
            <a:avLst>
              <a:gd name="adj" fmla="val 50000"/>
            </a:avLst>
          </a:prstGeom>
          <a:solidFill>
            <a:srgbClr val="F7FAFF"/>
          </a:solidFill>
          <a:ln w="21590">
            <a:solidFill>
              <a:srgbClr val="C2552F"/>
            </a:solidFill>
            <a:prstDash val="solid"/>
          </a:ln>
        </p:spPr>
      </p:sp>
      <p:sp>
        <p:nvSpPr>
          <p:cNvPr id="19" name="Text 17"/>
          <p:cNvSpPr/>
          <p:nvPr/>
        </p:nvSpPr>
        <p:spPr>
          <a:xfrm>
            <a:off x="1295400"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第一周</a:t>
            </a:r>
            <a:endParaRPr lang="en-US" sz="1100" dirty="0"/>
          </a:p>
        </p:txBody>
      </p:sp>
      <p:sp>
        <p:nvSpPr>
          <p:cNvPr id="20" name="Text 18"/>
          <p:cNvSpPr/>
          <p:nvPr/>
        </p:nvSpPr>
        <p:spPr>
          <a:xfrm>
            <a:off x="1295400"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选择案例并收集真实问题</a:t>
            </a:r>
            <a:endParaRPr lang="en-US" sz="1700" dirty="0"/>
          </a:p>
        </p:txBody>
      </p:sp>
      <p:sp>
        <p:nvSpPr>
          <p:cNvPr id="21" name="Shape 19"/>
          <p:cNvSpPr/>
          <p:nvPr/>
        </p:nvSpPr>
        <p:spPr>
          <a:xfrm>
            <a:off x="1295400" y="3694176"/>
            <a:ext cx="3071266" cy="0"/>
          </a:xfrm>
          <a:prstGeom prst="line">
            <a:avLst/>
          </a:prstGeom>
          <a:noFill/>
          <a:ln w="12700">
            <a:solidFill>
              <a:srgbClr val="D9E2EF"/>
            </a:solidFill>
            <a:prstDash val="solid"/>
          </a:ln>
        </p:spPr>
      </p:sp>
      <p:sp>
        <p:nvSpPr>
          <p:cNvPr id="22" name="Text 20"/>
          <p:cNvSpPr/>
          <p:nvPr/>
        </p:nvSpPr>
        <p:spPr>
          <a:xfrm>
            <a:off x="1295400"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教师从讲义六套案例中选择一项与本校条件接近的主题。学生在一周内提交三个来自生活的具体问题，本周不使用 AI。</a:t>
            </a:r>
            <a:endParaRPr lang="en-US" sz="1100" dirty="0"/>
          </a:p>
        </p:txBody>
      </p:sp>
      <p:sp>
        <p:nvSpPr>
          <p:cNvPr id="23" name="Shape 21"/>
          <p:cNvSpPr/>
          <p:nvPr/>
        </p:nvSpPr>
        <p:spPr>
          <a:xfrm>
            <a:off x="4714138" y="2340864"/>
            <a:ext cx="713232" cy="493776"/>
          </a:xfrm>
          <a:prstGeom prst="roundRect">
            <a:avLst>
              <a:gd name="adj" fmla="val 50000"/>
            </a:avLst>
          </a:prstGeom>
          <a:solidFill>
            <a:srgbClr val="F7FAFF"/>
          </a:solidFill>
          <a:ln w="21590">
            <a:solidFill>
              <a:srgbClr val="C2552F"/>
            </a:solidFill>
            <a:prstDash val="solid"/>
          </a:ln>
        </p:spPr>
      </p:sp>
      <p:sp>
        <p:nvSpPr>
          <p:cNvPr id="24" name="Text 22"/>
          <p:cNvSpPr/>
          <p:nvPr/>
        </p:nvSpPr>
        <p:spPr>
          <a:xfrm>
            <a:off x="4714138"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第二周</a:t>
            </a:r>
            <a:endParaRPr lang="en-US" sz="1100" dirty="0"/>
          </a:p>
        </p:txBody>
      </p:sp>
      <p:sp>
        <p:nvSpPr>
          <p:cNvPr id="25" name="Text 23"/>
          <p:cNvSpPr/>
          <p:nvPr/>
        </p:nvSpPr>
        <p:spPr>
          <a:xfrm>
            <a:off x="4714138"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依据实施卡调整任务</a:t>
            </a:r>
            <a:endParaRPr lang="en-US" sz="1700" dirty="0"/>
          </a:p>
        </p:txBody>
      </p:sp>
      <p:sp>
        <p:nvSpPr>
          <p:cNvPr id="26" name="Shape 24"/>
          <p:cNvSpPr/>
          <p:nvPr/>
        </p:nvSpPr>
        <p:spPr>
          <a:xfrm>
            <a:off x="4714138" y="3694176"/>
            <a:ext cx="3071266" cy="0"/>
          </a:xfrm>
          <a:prstGeom prst="line">
            <a:avLst/>
          </a:prstGeom>
          <a:noFill/>
          <a:ln w="12700">
            <a:solidFill>
              <a:srgbClr val="D9E2EF"/>
            </a:solidFill>
            <a:prstDash val="solid"/>
          </a:ln>
        </p:spPr>
      </p:sp>
      <p:sp>
        <p:nvSpPr>
          <p:cNvPr id="27" name="Text 25"/>
          <p:cNvSpPr/>
          <p:nvPr/>
        </p:nvSpPr>
        <p:spPr>
          <a:xfrm>
            <a:off x="4714138"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教师结合实施卡与完整任务设计调整材料、场地和产出要求，并将方案质疑指令用于一份学生方案，记录采纳判断。</a:t>
            </a:r>
            <a:endParaRPr lang="en-US" sz="1100" dirty="0"/>
          </a:p>
        </p:txBody>
      </p:sp>
      <p:sp>
        <p:nvSpPr>
          <p:cNvPr id="28" name="Shape 26"/>
          <p:cNvSpPr/>
          <p:nvPr/>
        </p:nvSpPr>
        <p:spPr>
          <a:xfrm>
            <a:off x="8132877" y="2340864"/>
            <a:ext cx="713232" cy="493776"/>
          </a:xfrm>
          <a:prstGeom prst="roundRect">
            <a:avLst>
              <a:gd name="adj" fmla="val 50000"/>
            </a:avLst>
          </a:prstGeom>
          <a:solidFill>
            <a:srgbClr val="F7FAFF"/>
          </a:solidFill>
          <a:ln w="21590">
            <a:solidFill>
              <a:srgbClr val="C2552F"/>
            </a:solidFill>
            <a:prstDash val="solid"/>
          </a:ln>
        </p:spPr>
      </p:sp>
      <p:sp>
        <p:nvSpPr>
          <p:cNvPr id="29" name="Text 27"/>
          <p:cNvSpPr/>
          <p:nvPr/>
        </p:nvSpPr>
        <p:spPr>
          <a:xfrm>
            <a:off x="8132877" y="2340864"/>
            <a:ext cx="713232" cy="493776"/>
          </a:xfrm>
          <a:prstGeom prst="rect">
            <a:avLst/>
          </a:prstGeom>
          <a:noFill/>
          <a:ln/>
        </p:spPr>
        <p:txBody>
          <a:bodyPr wrap="square" lIns="0" tIns="0" rIns="0" bIns="0" rtlCol="0" anchor="ctr"/>
          <a:lstStyle/>
          <a:p>
            <a:pPr algn="ctr" indent="0" marL="0">
              <a:buNone/>
            </a:pPr>
            <a:r>
              <a:rPr lang="en-US" sz="1100" b="1" dirty="0">
                <a:solidFill>
                  <a:srgbClr val="A8421F"/>
                </a:solidFill>
                <a:latin typeface="Microsoft YaHei" pitchFamily="34" charset="0"/>
                <a:ea typeface="Microsoft YaHei" pitchFamily="34" charset="-122"/>
                <a:cs typeface="Microsoft YaHei" pitchFamily="34" charset="-120"/>
              </a:rPr>
              <a:t>第三周</a:t>
            </a:r>
            <a:endParaRPr lang="en-US" sz="1100" dirty="0"/>
          </a:p>
        </p:txBody>
      </p:sp>
      <p:sp>
        <p:nvSpPr>
          <p:cNvPr id="30" name="Text 28"/>
          <p:cNvSpPr/>
          <p:nvPr/>
        </p:nvSpPr>
        <p:spPr>
          <a:xfrm>
            <a:off x="8132877" y="3054096"/>
            <a:ext cx="3071266" cy="566928"/>
          </a:xfrm>
          <a:prstGeom prst="rect">
            <a:avLst/>
          </a:prstGeom>
          <a:noFill/>
          <a:ln/>
        </p:spPr>
        <p:txBody>
          <a:bodyPr wrap="square" lIns="0" tIns="0" rIns="0" bIns="0" rtlCol="0" anchor="t"/>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发放学生工作页与留痕表</a:t>
            </a:r>
            <a:endParaRPr lang="en-US" sz="1700" dirty="0"/>
          </a:p>
        </p:txBody>
      </p:sp>
      <p:sp>
        <p:nvSpPr>
          <p:cNvPr id="31" name="Shape 29"/>
          <p:cNvSpPr/>
          <p:nvPr/>
        </p:nvSpPr>
        <p:spPr>
          <a:xfrm>
            <a:off x="8132877" y="3694176"/>
            <a:ext cx="3071266" cy="0"/>
          </a:xfrm>
          <a:prstGeom prst="line">
            <a:avLst/>
          </a:prstGeom>
          <a:noFill/>
          <a:ln w="12700">
            <a:solidFill>
              <a:srgbClr val="D9E2EF"/>
            </a:solidFill>
            <a:prstDash val="solid"/>
          </a:ln>
        </p:spPr>
      </p:sp>
      <p:sp>
        <p:nvSpPr>
          <p:cNvPr id="32" name="Text 30"/>
          <p:cNvSpPr/>
          <p:nvPr/>
        </p:nvSpPr>
        <p:spPr>
          <a:xfrm>
            <a:off x="8132877" y="3822192"/>
            <a:ext cx="3071266" cy="960120"/>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学生按工作页推进任务；使用 AI 后当场填写四栏留痕表，不在结题时补录。</a:t>
            </a:r>
            <a:endParaRPr lang="en-US" sz="11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三周依次形成真实问题、教师调整记录与学生过程证据，后一项建立在前一项材料上。</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969264"/>
            <a:ext cx="9981895" cy="219456"/>
          </a:xfrm>
          <a:prstGeom prst="rect">
            <a:avLst/>
          </a:prstGeom>
          <a:noFill/>
          <a:ln/>
        </p:spPr>
        <p:txBody>
          <a:bodyPr wrap="square" lIns="0" tIns="0" rIns="0" bIns="0" rtlCol="0" anchor="ctr"/>
          <a:lstStyle/>
          <a:p>
            <a:pPr indent="0" marL="0">
              <a:buNone/>
            </a:pPr>
            <a:r>
              <a:rPr lang="en-US" sz="950" b="1" spc="180" kern="0" dirty="0">
                <a:solidFill>
                  <a:srgbClr val="A8421F"/>
                </a:solidFill>
                <a:latin typeface="Microsoft YaHei" pitchFamily="34" charset="0"/>
                <a:ea typeface="Microsoft YaHei" pitchFamily="34" charset="-122"/>
                <a:cs typeface="Microsoft YaHei" pitchFamily="34" charset="-120"/>
              </a:rPr>
              <a:t>配套材料清单</a:t>
            </a:r>
            <a:endParaRPr lang="en-US" sz="950" dirty="0"/>
          </a:p>
        </p:txBody>
      </p:sp>
      <p:sp>
        <p:nvSpPr>
          <p:cNvPr id="16" name="Shape 14"/>
          <p:cNvSpPr/>
          <p:nvPr/>
        </p:nvSpPr>
        <p:spPr>
          <a:xfrm>
            <a:off x="1295400" y="1261872"/>
            <a:ext cx="6903720" cy="384048"/>
          </a:xfrm>
          <a:prstGeom prst="roundRect">
            <a:avLst>
              <a:gd name="adj" fmla="val 16667"/>
            </a:avLst>
          </a:prstGeom>
          <a:solidFill>
            <a:srgbClr val="FFFFFF"/>
          </a:solidFill>
          <a:ln w="12700">
            <a:solidFill>
              <a:srgbClr val="D9E2EF"/>
            </a:solidFill>
            <a:prstDash val="solid"/>
          </a:ln>
        </p:spPr>
      </p:sp>
      <p:sp>
        <p:nvSpPr>
          <p:cNvPr id="17" name="Shape 15"/>
          <p:cNvSpPr/>
          <p:nvPr/>
        </p:nvSpPr>
        <p:spPr>
          <a:xfrm>
            <a:off x="1295400" y="1298448"/>
            <a:ext cx="38100" cy="310896"/>
          </a:xfrm>
          <a:prstGeom prst="rect">
            <a:avLst/>
          </a:prstGeom>
          <a:solidFill>
            <a:srgbClr val="2563EB"/>
          </a:solidFill>
          <a:ln w="12700">
            <a:solidFill>
              <a:srgbClr val="2563EB"/>
            </a:solidFill>
            <a:prstDash val="solid"/>
          </a:ln>
        </p:spPr>
      </p:sp>
      <p:sp>
        <p:nvSpPr>
          <p:cNvPr id="18" name="Text 16"/>
          <p:cNvSpPr/>
          <p:nvPr/>
        </p:nvSpPr>
        <p:spPr>
          <a:xfrm>
            <a:off x="1514856" y="12618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环节配置的三项判断</a:t>
            </a:r>
            <a:endParaRPr lang="en-US" sz="1200" dirty="0"/>
          </a:p>
        </p:txBody>
      </p:sp>
      <p:sp>
        <p:nvSpPr>
          <p:cNvPr id="19" name="Text 17"/>
          <p:cNvSpPr/>
          <p:nvPr/>
        </p:nvSpPr>
        <p:spPr>
          <a:xfrm>
            <a:off x="6827520" y="12618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19 页</a:t>
            </a:r>
            <a:endParaRPr lang="en-US" sz="1000" dirty="0"/>
          </a:p>
        </p:txBody>
      </p:sp>
      <p:sp>
        <p:nvSpPr>
          <p:cNvPr id="20" name="Shape 18"/>
          <p:cNvSpPr/>
          <p:nvPr/>
        </p:nvSpPr>
        <p:spPr>
          <a:xfrm>
            <a:off x="1295400" y="1719072"/>
            <a:ext cx="6903720" cy="384048"/>
          </a:xfrm>
          <a:prstGeom prst="roundRect">
            <a:avLst>
              <a:gd name="adj" fmla="val 16667"/>
            </a:avLst>
          </a:prstGeom>
          <a:solidFill>
            <a:srgbClr val="FFFFFF"/>
          </a:solidFill>
          <a:ln w="12700">
            <a:solidFill>
              <a:srgbClr val="D9E2EF"/>
            </a:solidFill>
            <a:prstDash val="solid"/>
          </a:ln>
        </p:spPr>
      </p:sp>
      <p:sp>
        <p:nvSpPr>
          <p:cNvPr id="21" name="Shape 19"/>
          <p:cNvSpPr/>
          <p:nvPr/>
        </p:nvSpPr>
        <p:spPr>
          <a:xfrm>
            <a:off x="1295400" y="1755648"/>
            <a:ext cx="38100" cy="310896"/>
          </a:xfrm>
          <a:prstGeom prst="rect">
            <a:avLst/>
          </a:prstGeom>
          <a:solidFill>
            <a:srgbClr val="2563EB"/>
          </a:solidFill>
          <a:ln w="12700">
            <a:solidFill>
              <a:srgbClr val="2563EB"/>
            </a:solidFill>
            <a:prstDash val="solid"/>
          </a:ln>
        </p:spPr>
      </p:sp>
      <p:sp>
        <p:nvSpPr>
          <p:cNvPr id="22" name="Text 20"/>
          <p:cNvSpPr/>
          <p:nvPr/>
        </p:nvSpPr>
        <p:spPr>
          <a:xfrm>
            <a:off x="1514856" y="17190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六环节配置表及填写示例</a:t>
            </a:r>
            <a:endParaRPr lang="en-US" sz="1200" dirty="0"/>
          </a:p>
        </p:txBody>
      </p:sp>
      <p:sp>
        <p:nvSpPr>
          <p:cNvPr id="23" name="Text 21"/>
          <p:cNvSpPr/>
          <p:nvPr/>
        </p:nvSpPr>
        <p:spPr>
          <a:xfrm>
            <a:off x="6827520" y="17190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21 页／讲义</a:t>
            </a:r>
            <a:endParaRPr lang="en-US" sz="1000" dirty="0"/>
          </a:p>
        </p:txBody>
      </p:sp>
      <p:sp>
        <p:nvSpPr>
          <p:cNvPr id="24" name="Shape 22"/>
          <p:cNvSpPr/>
          <p:nvPr/>
        </p:nvSpPr>
        <p:spPr>
          <a:xfrm>
            <a:off x="1295400" y="2176272"/>
            <a:ext cx="6903720" cy="384048"/>
          </a:xfrm>
          <a:prstGeom prst="roundRect">
            <a:avLst>
              <a:gd name="adj" fmla="val 16667"/>
            </a:avLst>
          </a:prstGeom>
          <a:solidFill>
            <a:srgbClr val="FFFFFF"/>
          </a:solidFill>
          <a:ln w="12700">
            <a:solidFill>
              <a:srgbClr val="D9E2EF"/>
            </a:solidFill>
            <a:prstDash val="solid"/>
          </a:ln>
        </p:spPr>
      </p:sp>
      <p:sp>
        <p:nvSpPr>
          <p:cNvPr id="25" name="Shape 23"/>
          <p:cNvSpPr/>
          <p:nvPr/>
        </p:nvSpPr>
        <p:spPr>
          <a:xfrm>
            <a:off x="1295400" y="2212848"/>
            <a:ext cx="38100" cy="310896"/>
          </a:xfrm>
          <a:prstGeom prst="rect">
            <a:avLst/>
          </a:prstGeom>
          <a:solidFill>
            <a:srgbClr val="2563EB"/>
          </a:solidFill>
          <a:ln w="12700">
            <a:solidFill>
              <a:srgbClr val="2563EB"/>
            </a:solidFill>
            <a:prstDash val="solid"/>
          </a:ln>
        </p:spPr>
      </p:sp>
      <p:sp>
        <p:nvSpPr>
          <p:cNvPr id="26" name="Text 24"/>
          <p:cNvSpPr/>
          <p:nvPr/>
        </p:nvSpPr>
        <p:spPr>
          <a:xfrm>
            <a:off x="1514856" y="21762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AI 使用留痕表</a:t>
            </a:r>
            <a:endParaRPr lang="en-US" sz="1200" dirty="0"/>
          </a:p>
        </p:txBody>
      </p:sp>
      <p:sp>
        <p:nvSpPr>
          <p:cNvPr id="27" name="Text 25"/>
          <p:cNvSpPr/>
          <p:nvPr/>
        </p:nvSpPr>
        <p:spPr>
          <a:xfrm>
            <a:off x="6827520" y="21762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36 页</a:t>
            </a:r>
            <a:endParaRPr lang="en-US" sz="1000" dirty="0"/>
          </a:p>
        </p:txBody>
      </p:sp>
      <p:sp>
        <p:nvSpPr>
          <p:cNvPr id="28" name="Shape 26"/>
          <p:cNvSpPr/>
          <p:nvPr/>
        </p:nvSpPr>
        <p:spPr>
          <a:xfrm>
            <a:off x="1295400" y="2633472"/>
            <a:ext cx="6903720" cy="384048"/>
          </a:xfrm>
          <a:prstGeom prst="roundRect">
            <a:avLst>
              <a:gd name="adj" fmla="val 16667"/>
            </a:avLst>
          </a:prstGeom>
          <a:solidFill>
            <a:srgbClr val="FFFFFF"/>
          </a:solidFill>
          <a:ln w="12700">
            <a:solidFill>
              <a:srgbClr val="D9E2EF"/>
            </a:solidFill>
            <a:prstDash val="solid"/>
          </a:ln>
        </p:spPr>
      </p:sp>
      <p:sp>
        <p:nvSpPr>
          <p:cNvPr id="29" name="Shape 27"/>
          <p:cNvSpPr/>
          <p:nvPr/>
        </p:nvSpPr>
        <p:spPr>
          <a:xfrm>
            <a:off x="1295400" y="2670048"/>
            <a:ext cx="38100" cy="310896"/>
          </a:xfrm>
          <a:prstGeom prst="rect">
            <a:avLst/>
          </a:prstGeom>
          <a:solidFill>
            <a:srgbClr val="2563EB"/>
          </a:solidFill>
          <a:ln w="12700">
            <a:solidFill>
              <a:srgbClr val="2563EB"/>
            </a:solidFill>
            <a:prstDash val="solid"/>
          </a:ln>
        </p:spPr>
      </p:sp>
      <p:sp>
        <p:nvSpPr>
          <p:cNvPr id="30" name="Text 28"/>
          <p:cNvSpPr/>
          <p:nvPr/>
        </p:nvSpPr>
        <p:spPr>
          <a:xfrm>
            <a:off x="1514856" y="26334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答辩环节的三项提问</a:t>
            </a:r>
            <a:endParaRPr lang="en-US" sz="1200" dirty="0"/>
          </a:p>
        </p:txBody>
      </p:sp>
      <p:sp>
        <p:nvSpPr>
          <p:cNvPr id="31" name="Text 29"/>
          <p:cNvSpPr/>
          <p:nvPr/>
        </p:nvSpPr>
        <p:spPr>
          <a:xfrm>
            <a:off x="6827520" y="26334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37 页</a:t>
            </a:r>
            <a:endParaRPr lang="en-US" sz="1000" dirty="0"/>
          </a:p>
        </p:txBody>
      </p:sp>
      <p:sp>
        <p:nvSpPr>
          <p:cNvPr id="32" name="Shape 30"/>
          <p:cNvSpPr/>
          <p:nvPr/>
        </p:nvSpPr>
        <p:spPr>
          <a:xfrm>
            <a:off x="1295400" y="3090672"/>
            <a:ext cx="6903720" cy="384048"/>
          </a:xfrm>
          <a:prstGeom prst="roundRect">
            <a:avLst>
              <a:gd name="adj" fmla="val 16667"/>
            </a:avLst>
          </a:prstGeom>
          <a:solidFill>
            <a:srgbClr val="FFFFFF"/>
          </a:solidFill>
          <a:ln w="12700">
            <a:solidFill>
              <a:srgbClr val="D9E2EF"/>
            </a:solidFill>
            <a:prstDash val="solid"/>
          </a:ln>
        </p:spPr>
      </p:sp>
      <p:sp>
        <p:nvSpPr>
          <p:cNvPr id="33" name="Shape 31"/>
          <p:cNvSpPr/>
          <p:nvPr/>
        </p:nvSpPr>
        <p:spPr>
          <a:xfrm>
            <a:off x="1295400" y="3127248"/>
            <a:ext cx="38100" cy="310896"/>
          </a:xfrm>
          <a:prstGeom prst="rect">
            <a:avLst/>
          </a:prstGeom>
          <a:solidFill>
            <a:srgbClr val="2563EB"/>
          </a:solidFill>
          <a:ln w="12700">
            <a:solidFill>
              <a:srgbClr val="2563EB"/>
            </a:solidFill>
            <a:prstDash val="solid"/>
          </a:ln>
        </p:spPr>
      </p:sp>
      <p:sp>
        <p:nvSpPr>
          <p:cNvPr id="34" name="Text 32"/>
          <p:cNvSpPr/>
          <p:nvPr/>
        </p:nvSpPr>
        <p:spPr>
          <a:xfrm>
            <a:off x="1514856" y="3090672"/>
            <a:ext cx="5349240" cy="384048"/>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六套完整案例与学生工作页</a:t>
            </a:r>
            <a:endParaRPr lang="en-US" sz="1200" dirty="0"/>
          </a:p>
        </p:txBody>
      </p:sp>
      <p:sp>
        <p:nvSpPr>
          <p:cNvPr id="35" name="Text 33"/>
          <p:cNvSpPr/>
          <p:nvPr/>
        </p:nvSpPr>
        <p:spPr>
          <a:xfrm>
            <a:off x="6827520" y="30906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教师讲义</a:t>
            </a:r>
            <a:endParaRPr lang="en-US" sz="1000" dirty="0"/>
          </a:p>
        </p:txBody>
      </p:sp>
      <p:sp>
        <p:nvSpPr>
          <p:cNvPr id="36" name="Shape 34"/>
          <p:cNvSpPr/>
          <p:nvPr/>
        </p:nvSpPr>
        <p:spPr>
          <a:xfrm>
            <a:off x="8455152" y="969264"/>
            <a:ext cx="2822143" cy="2688336"/>
          </a:xfrm>
          <a:prstGeom prst="rect">
            <a:avLst/>
          </a:prstGeom>
          <a:solidFill>
            <a:srgbClr val="FFFFFF"/>
          </a:solidFill>
          <a:ln w="12700">
            <a:solidFill>
              <a:srgbClr val="D9E2EF"/>
            </a:solidFill>
            <a:prstDash val="solid"/>
          </a:ln>
        </p:spPr>
      </p:sp>
      <p:sp>
        <p:nvSpPr>
          <p:cNvPr id="37" name="Shape 35"/>
          <p:cNvSpPr/>
          <p:nvPr/>
        </p:nvSpPr>
        <p:spPr>
          <a:xfrm>
            <a:off x="8455152" y="969264"/>
            <a:ext cx="2822143" cy="38100"/>
          </a:xfrm>
          <a:prstGeom prst="rect">
            <a:avLst/>
          </a:prstGeom>
          <a:solidFill>
            <a:srgbClr val="C2552F"/>
          </a:solidFill>
          <a:ln w="12700">
            <a:solidFill>
              <a:srgbClr val="C2552F"/>
            </a:solidFill>
            <a:prstDash val="solid"/>
          </a:ln>
        </p:spPr>
      </p:sp>
      <p:sp>
        <p:nvSpPr>
          <p:cNvPr id="38" name="Text 36"/>
          <p:cNvSpPr/>
          <p:nvPr/>
        </p:nvSpPr>
        <p:spPr>
          <a:xfrm>
            <a:off x="8619744" y="1133856"/>
            <a:ext cx="2492959" cy="256032"/>
          </a:xfrm>
          <a:prstGeom prst="rect">
            <a:avLst/>
          </a:prstGeom>
          <a:noFill/>
          <a:ln/>
        </p:spPr>
        <p:txBody>
          <a:bodyPr wrap="square" lIns="0" tIns="0" rIns="0" bIns="0" rtlCol="0" anchor="ctr"/>
          <a:lstStyle/>
          <a:p>
            <a:pPr indent="0" marL="0">
              <a:buNone/>
            </a:pPr>
            <a:r>
              <a:rPr lang="en-US" sz="1400" b="1" dirty="0">
                <a:solidFill>
                  <a:srgbClr val="081B3A"/>
                </a:solidFill>
                <a:latin typeface="Microsoft YaHei" pitchFamily="34" charset="0"/>
                <a:ea typeface="Microsoft YaHei" pitchFamily="34" charset="-122"/>
                <a:cs typeface="Microsoft YaHei" pitchFamily="34" charset="-120"/>
              </a:rPr>
              <a:t>每个案例五页</a:t>
            </a:r>
            <a:endParaRPr lang="en-US" sz="1400" dirty="0"/>
          </a:p>
        </p:txBody>
      </p:sp>
      <p:sp>
        <p:nvSpPr>
          <p:cNvPr id="39" name="Shape 37"/>
          <p:cNvSpPr/>
          <p:nvPr/>
        </p:nvSpPr>
        <p:spPr>
          <a:xfrm>
            <a:off x="8619744" y="1499616"/>
            <a:ext cx="2492959" cy="0"/>
          </a:xfrm>
          <a:prstGeom prst="line">
            <a:avLst/>
          </a:prstGeom>
          <a:noFill/>
          <a:ln w="12700">
            <a:solidFill>
              <a:srgbClr val="D9E2EF"/>
            </a:solidFill>
            <a:prstDash val="solid"/>
          </a:ln>
        </p:spPr>
      </p:sp>
      <p:sp>
        <p:nvSpPr>
          <p:cNvPr id="40" name="Text 38"/>
          <p:cNvSpPr/>
          <p:nvPr/>
        </p:nvSpPr>
        <p:spPr>
          <a:xfrm>
            <a:off x="8619744" y="1572768"/>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1</a:t>
            </a:r>
            <a:endParaRPr lang="en-US" sz="850" dirty="0"/>
          </a:p>
        </p:txBody>
      </p:sp>
      <p:sp>
        <p:nvSpPr>
          <p:cNvPr id="41" name="Text 39"/>
          <p:cNvSpPr/>
          <p:nvPr/>
        </p:nvSpPr>
        <p:spPr>
          <a:xfrm>
            <a:off x="8894064" y="1554480"/>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任务原文</a:t>
            </a:r>
            <a:endParaRPr lang="en-US" sz="1050" dirty="0"/>
          </a:p>
        </p:txBody>
      </p:sp>
      <p:sp>
        <p:nvSpPr>
          <p:cNvPr id="42" name="Shape 40"/>
          <p:cNvSpPr/>
          <p:nvPr/>
        </p:nvSpPr>
        <p:spPr>
          <a:xfrm>
            <a:off x="8619744" y="1837944"/>
            <a:ext cx="2492959" cy="0"/>
          </a:xfrm>
          <a:prstGeom prst="line">
            <a:avLst/>
          </a:prstGeom>
          <a:noFill/>
          <a:ln w="12700">
            <a:solidFill>
              <a:srgbClr val="D9E2EF"/>
            </a:solidFill>
            <a:prstDash val="solid"/>
          </a:ln>
        </p:spPr>
      </p:sp>
      <p:sp>
        <p:nvSpPr>
          <p:cNvPr id="43" name="Text 41"/>
          <p:cNvSpPr/>
          <p:nvPr/>
        </p:nvSpPr>
        <p:spPr>
          <a:xfrm>
            <a:off x="8619744" y="1911096"/>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2</a:t>
            </a:r>
            <a:endParaRPr lang="en-US" sz="850" dirty="0"/>
          </a:p>
        </p:txBody>
      </p:sp>
      <p:sp>
        <p:nvSpPr>
          <p:cNvPr id="44" name="Text 42"/>
          <p:cNvSpPr/>
          <p:nvPr/>
        </p:nvSpPr>
        <p:spPr>
          <a:xfrm>
            <a:off x="8894064" y="1892808"/>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环节配置</a:t>
            </a:r>
            <a:endParaRPr lang="en-US" sz="1050" dirty="0"/>
          </a:p>
        </p:txBody>
      </p:sp>
      <p:sp>
        <p:nvSpPr>
          <p:cNvPr id="45" name="Shape 43"/>
          <p:cNvSpPr/>
          <p:nvPr/>
        </p:nvSpPr>
        <p:spPr>
          <a:xfrm>
            <a:off x="8619744" y="2176272"/>
            <a:ext cx="2492959" cy="0"/>
          </a:xfrm>
          <a:prstGeom prst="line">
            <a:avLst/>
          </a:prstGeom>
          <a:noFill/>
          <a:ln w="12700">
            <a:solidFill>
              <a:srgbClr val="D9E2EF"/>
            </a:solidFill>
            <a:prstDash val="solid"/>
          </a:ln>
        </p:spPr>
      </p:sp>
      <p:sp>
        <p:nvSpPr>
          <p:cNvPr id="46" name="Text 44"/>
          <p:cNvSpPr/>
          <p:nvPr/>
        </p:nvSpPr>
        <p:spPr>
          <a:xfrm>
            <a:off x="8619744" y="2249424"/>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3</a:t>
            </a:r>
            <a:endParaRPr lang="en-US" sz="850" dirty="0"/>
          </a:p>
        </p:txBody>
      </p:sp>
      <p:sp>
        <p:nvSpPr>
          <p:cNvPr id="47" name="Text 45"/>
          <p:cNvSpPr/>
          <p:nvPr/>
        </p:nvSpPr>
        <p:spPr>
          <a:xfrm>
            <a:off x="8894064" y="2231136"/>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实施卡</a:t>
            </a:r>
            <a:endParaRPr lang="en-US" sz="1050" dirty="0"/>
          </a:p>
        </p:txBody>
      </p:sp>
      <p:sp>
        <p:nvSpPr>
          <p:cNvPr id="48" name="Shape 46"/>
          <p:cNvSpPr/>
          <p:nvPr/>
        </p:nvSpPr>
        <p:spPr>
          <a:xfrm>
            <a:off x="8619744" y="2514600"/>
            <a:ext cx="2492959" cy="0"/>
          </a:xfrm>
          <a:prstGeom prst="line">
            <a:avLst/>
          </a:prstGeom>
          <a:noFill/>
          <a:ln w="12700">
            <a:solidFill>
              <a:srgbClr val="D9E2EF"/>
            </a:solidFill>
            <a:prstDash val="solid"/>
          </a:ln>
        </p:spPr>
      </p:sp>
      <p:sp>
        <p:nvSpPr>
          <p:cNvPr id="49" name="Text 47"/>
          <p:cNvSpPr/>
          <p:nvPr/>
        </p:nvSpPr>
        <p:spPr>
          <a:xfrm>
            <a:off x="8619744" y="2587752"/>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4</a:t>
            </a:r>
            <a:endParaRPr lang="en-US" sz="850" dirty="0"/>
          </a:p>
        </p:txBody>
      </p:sp>
      <p:sp>
        <p:nvSpPr>
          <p:cNvPr id="50" name="Text 48"/>
          <p:cNvSpPr/>
          <p:nvPr/>
        </p:nvSpPr>
        <p:spPr>
          <a:xfrm>
            <a:off x="8894064" y="2569464"/>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任务设计</a:t>
            </a:r>
            <a:endParaRPr lang="en-US" sz="1050" dirty="0"/>
          </a:p>
        </p:txBody>
      </p:sp>
      <p:sp>
        <p:nvSpPr>
          <p:cNvPr id="51" name="Shape 49"/>
          <p:cNvSpPr/>
          <p:nvPr/>
        </p:nvSpPr>
        <p:spPr>
          <a:xfrm>
            <a:off x="8619744" y="2852928"/>
            <a:ext cx="2492959" cy="0"/>
          </a:xfrm>
          <a:prstGeom prst="line">
            <a:avLst/>
          </a:prstGeom>
          <a:noFill/>
          <a:ln w="12700">
            <a:solidFill>
              <a:srgbClr val="D9E2EF"/>
            </a:solidFill>
            <a:prstDash val="solid"/>
          </a:ln>
        </p:spPr>
      </p:sp>
      <p:sp>
        <p:nvSpPr>
          <p:cNvPr id="52" name="Text 50"/>
          <p:cNvSpPr/>
          <p:nvPr/>
        </p:nvSpPr>
        <p:spPr>
          <a:xfrm>
            <a:off x="8619744" y="2926080"/>
            <a:ext cx="219456" cy="164592"/>
          </a:xfrm>
          <a:prstGeom prst="rect">
            <a:avLst/>
          </a:prstGeom>
          <a:noFill/>
          <a:ln/>
        </p:spPr>
        <p:txBody>
          <a:bodyPr wrap="square" lIns="0" tIns="0" rIns="0" bIns="0" rtlCol="0" anchor="ctr"/>
          <a:lstStyle/>
          <a:p>
            <a:pPr indent="0" marL="0">
              <a:buNone/>
            </a:pPr>
            <a:r>
              <a:rPr lang="en-US" sz="850" b="1" dirty="0">
                <a:solidFill>
                  <a:srgbClr val="A8421F"/>
                </a:solidFill>
                <a:latin typeface="Microsoft YaHei" pitchFamily="34" charset="0"/>
                <a:ea typeface="Microsoft YaHei" pitchFamily="34" charset="-122"/>
                <a:cs typeface="Microsoft YaHei" pitchFamily="34" charset="-120"/>
              </a:rPr>
              <a:t>5</a:t>
            </a:r>
            <a:endParaRPr lang="en-US" sz="850" dirty="0"/>
          </a:p>
        </p:txBody>
      </p:sp>
      <p:sp>
        <p:nvSpPr>
          <p:cNvPr id="53" name="Text 51"/>
          <p:cNvSpPr/>
          <p:nvPr/>
        </p:nvSpPr>
        <p:spPr>
          <a:xfrm>
            <a:off x="8894064" y="2907792"/>
            <a:ext cx="2218639" cy="201168"/>
          </a:xfrm>
          <a:prstGeom prst="rect">
            <a:avLst/>
          </a:prstGeom>
          <a:noFill/>
          <a:ln/>
        </p:spPr>
        <p:txBody>
          <a:bodyPr wrap="square" lIns="0" tIns="0" rIns="0" bIns="0" rtlCol="0" anchor="ctr"/>
          <a:lstStyle/>
          <a:p>
            <a:pPr indent="0" marL="0">
              <a:buNone/>
            </a:pPr>
            <a:r>
              <a:rPr lang="en-US" sz="1050" dirty="0">
                <a:solidFill>
                  <a:srgbClr val="27364A"/>
                </a:solidFill>
                <a:latin typeface="Microsoft YaHei" pitchFamily="34" charset="0"/>
                <a:ea typeface="Microsoft YaHei" pitchFamily="34" charset="-122"/>
                <a:cs typeface="Microsoft YaHei" pitchFamily="34" charset="-120"/>
              </a:rPr>
              <a:t>学生工作页</a:t>
            </a:r>
            <a:endParaRPr lang="en-US" sz="1050" dirty="0"/>
          </a:p>
        </p:txBody>
      </p:sp>
      <p:sp>
        <p:nvSpPr>
          <p:cNvPr id="54" name="Text 52"/>
          <p:cNvSpPr/>
          <p:nvPr/>
        </p:nvSpPr>
        <p:spPr>
          <a:xfrm>
            <a:off x="8619744" y="3255264"/>
            <a:ext cx="2492959" cy="256032"/>
          </a:xfrm>
          <a:prstGeom prst="rect">
            <a:avLst/>
          </a:prstGeom>
          <a:noFill/>
          <a:ln/>
        </p:spPr>
        <p:txBody>
          <a:bodyPr wrap="square" lIns="0" tIns="0" rIns="0" bIns="0" rtlCol="0" anchor="t"/>
          <a:lstStyle/>
          <a:p>
            <a:pP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纸质讲义共 37 页，可直接打印。</a:t>
            </a:r>
            <a:endParaRPr lang="en-US" sz="900" dirty="0"/>
          </a:p>
        </p:txBody>
      </p:sp>
      <p:sp>
        <p:nvSpPr>
          <p:cNvPr id="55" name="Text 53"/>
          <p:cNvSpPr/>
          <p:nvPr/>
        </p:nvSpPr>
        <p:spPr>
          <a:xfrm>
            <a:off x="1295400" y="3803904"/>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050" dirty="0"/>
          </a:p>
        </p:txBody>
      </p:sp>
      <p:sp>
        <p:nvSpPr>
          <p:cNvPr id="56" name="Text 54"/>
          <p:cNvSpPr/>
          <p:nvPr/>
        </p:nvSpPr>
        <p:spPr>
          <a:xfrm>
            <a:off x="1295400" y="4279392"/>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a:t>
            </a:r>
            <a:endParaRPr lang="en-US" sz="1050" dirty="0"/>
          </a:p>
        </p:txBody>
      </p:sp>
      <p:sp>
        <p:nvSpPr>
          <p:cNvPr id="57" name="Text 55"/>
          <p:cNvSpPr/>
          <p:nvPr/>
        </p:nvSpPr>
        <p:spPr>
          <a:xfrm>
            <a:off x="1295400" y="4754880"/>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六个环节的工具介入程度是依据评价维度做出的专业判断，不是政策规定。指南原文只写了「辅助」二字。</a:t>
            </a:r>
            <a:endParaRPr lang="en-US" sz="1050" dirty="0"/>
          </a:p>
        </p:txBody>
      </p:sp>
      <p:sp>
        <p:nvSpPr>
          <p:cNvPr id="58" name="Text 56"/>
          <p:cNvSpPr/>
          <p:nvPr/>
        </p:nvSpPr>
        <p:spPr>
          <a:xfrm>
            <a:off x="1295400" y="5376672"/>
            <a:ext cx="9981895"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辛海洋　2026 年 8 月 25 日　深圳技术大学</a:t>
            </a:r>
            <a:endParaRPr lang="en-US" sz="1300" dirty="0"/>
          </a:p>
        </p:txBody>
      </p:sp>
      <p:sp>
        <p:nvSpPr>
          <p:cNvPr id="59" name="Shape 57"/>
          <p:cNvSpPr/>
          <p:nvPr/>
        </p:nvSpPr>
        <p:spPr>
          <a:xfrm>
            <a:off x="1295400" y="5760720"/>
            <a:ext cx="2468880" cy="402336"/>
          </a:xfrm>
          <a:prstGeom prst="roundRect">
            <a:avLst>
              <a:gd name="adj" fmla="val 15909"/>
            </a:avLst>
          </a:prstGeom>
          <a:solidFill>
            <a:srgbClr val="F7FAFF"/>
          </a:solidFill>
          <a:ln w="12700">
            <a:solidFill>
              <a:srgbClr val="DFB09C"/>
            </a:solidFill>
            <a:prstDash val="dash"/>
          </a:ln>
        </p:spPr>
      </p:sp>
      <p:sp>
        <p:nvSpPr>
          <p:cNvPr id="60" name="Text 58"/>
          <p:cNvSpPr/>
          <p:nvPr/>
        </p:nvSpPr>
        <p:spPr>
          <a:xfrm>
            <a:off x="1295400" y="5760720"/>
            <a:ext cx="2468880" cy="402336"/>
          </a:xfrm>
          <a:prstGeom prst="rect">
            <a:avLst/>
          </a:prstGeom>
          <a:noFill/>
          <a:ln/>
        </p:spPr>
        <p:txBody>
          <a:bodyPr wrap="square" lIns="0" tIns="0" rIns="0" bIns="0" rtlCol="0" anchor="ctr"/>
          <a:lstStyle/>
          <a:p>
            <a:pPr algn="ctr" indent="0" marL="0">
              <a:buNone/>
            </a:pPr>
            <a:r>
              <a:rPr lang="en-US" sz="1100" dirty="0">
                <a:solidFill>
                  <a:srgbClr val="A8421F"/>
                </a:solidFill>
                <a:latin typeface="Microsoft YaHei" pitchFamily="34" charset="0"/>
                <a:ea typeface="Microsoft YaHei" pitchFamily="34" charset="-122"/>
                <a:cs typeface="Microsoft YaHei" pitchFamily="34" charset="-120"/>
              </a:rPr>
              <a:t>纸质讲义另附</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附录：六个主题各一份案例</a:t>
            </a:r>
            <a:endParaRPr lang="en-US" sz="3200" dirty="0"/>
          </a:p>
        </p:txBody>
      </p:sp>
      <p:sp>
        <p:nvSpPr>
          <p:cNvPr id="17" name="Text 15"/>
          <p:cNvSpPr/>
          <p:nvPr/>
        </p:nvSpPr>
        <p:spPr>
          <a:xfrm>
            <a:off x="1295400" y="1805940"/>
            <a:ext cx="9981895" cy="530352"/>
          </a:xfrm>
          <a:prstGeom prst="rect">
            <a:avLst/>
          </a:prstGeom>
          <a:noFill/>
          <a:ln/>
        </p:spPr>
        <p:txBody>
          <a:bodyPr wrap="square" lIns="0" tIns="0" rIns="0" bIns="0" rtlCol="0" anchor="t"/>
          <a:lstStyle/>
          <a:p>
            <a:pPr indent="0" marL="0">
              <a:lnSpc>
                <a:spcPct val="140000"/>
              </a:lnSpc>
              <a:buNone/>
            </a:pPr>
            <a:r>
              <a:rPr lang="en-US" sz="1100" dirty="0">
                <a:solidFill>
                  <a:srgbClr val="5F7088"/>
                </a:solidFill>
                <a:latin typeface="Microsoft YaHei" pitchFamily="34" charset="0"/>
                <a:ea typeface="Microsoft YaHei" pitchFamily="34" charset="-122"/>
                <a:cs typeface="Microsoft YaHei" pitchFamily="34" charset="-120"/>
              </a:rPr>
              <a:t>指南附件给出六个主题、二十四项任务示例。PowerPoint 附录每项四页，依次呈现任务原文、六个环节的工具介入程度、特定约束与留痕、教师实施卡；教师讲义另含完整任务设计与学生工作页。</a:t>
            </a:r>
            <a:endParaRPr lang="en-US" sz="1100" dirty="0"/>
          </a:p>
        </p:txBody>
      </p:sp>
      <p:sp>
        <p:nvSpPr>
          <p:cNvPr id="18" name="Shape 16"/>
          <p:cNvSpPr/>
          <p:nvPr/>
        </p:nvSpPr>
        <p:spPr>
          <a:xfrm>
            <a:off x="1295400" y="2464308"/>
            <a:ext cx="9981895" cy="384048"/>
          </a:xfrm>
          <a:prstGeom prst="roundRect">
            <a:avLst>
              <a:gd name="adj" fmla="val 14286"/>
            </a:avLst>
          </a:prstGeom>
          <a:solidFill>
            <a:srgbClr val="FFFFFF"/>
          </a:solidFill>
          <a:ln w="12700">
            <a:solidFill>
              <a:srgbClr val="D9E2EF"/>
            </a:solidFill>
            <a:prstDash val="solid"/>
          </a:ln>
        </p:spPr>
      </p:sp>
      <p:sp>
        <p:nvSpPr>
          <p:cNvPr id="19" name="Shape 17"/>
          <p:cNvSpPr/>
          <p:nvPr/>
        </p:nvSpPr>
        <p:spPr>
          <a:xfrm>
            <a:off x="1295400" y="2500884"/>
            <a:ext cx="38100" cy="310896"/>
          </a:xfrm>
          <a:prstGeom prst="rect">
            <a:avLst/>
          </a:prstGeom>
          <a:solidFill>
            <a:srgbClr val="2563EB"/>
          </a:solidFill>
          <a:ln w="12700">
            <a:solidFill>
              <a:srgbClr val="2563EB"/>
            </a:solidFill>
            <a:prstDash val="solid"/>
          </a:ln>
        </p:spPr>
      </p:sp>
      <p:sp>
        <p:nvSpPr>
          <p:cNvPr id="20" name="Text 18"/>
          <p:cNvSpPr/>
          <p:nvPr/>
        </p:nvSpPr>
        <p:spPr>
          <a:xfrm>
            <a:off x="1514856" y="24643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一　生命健康</a:t>
            </a:r>
            <a:endParaRPr lang="en-US" sz="1100" dirty="0"/>
          </a:p>
        </p:txBody>
      </p:sp>
      <p:sp>
        <p:nvSpPr>
          <p:cNvPr id="21" name="Text 19"/>
          <p:cNvSpPr/>
          <p:nvPr/>
        </p:nvSpPr>
        <p:spPr>
          <a:xfrm>
            <a:off x="2849880" y="24643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科学护眼</a:t>
            </a:r>
            <a:endParaRPr lang="en-US" sz="1350" dirty="0"/>
          </a:p>
        </p:txBody>
      </p:sp>
      <p:sp>
        <p:nvSpPr>
          <p:cNvPr id="22" name="Text 20"/>
          <p:cNvSpPr/>
          <p:nvPr/>
        </p:nvSpPr>
        <p:spPr>
          <a:xfrm>
            <a:off x="8061960" y="24643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3" name="Text 21"/>
          <p:cNvSpPr/>
          <p:nvPr/>
        </p:nvSpPr>
        <p:spPr>
          <a:xfrm>
            <a:off x="10271455" y="24643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48—51</a:t>
            </a:r>
            <a:endParaRPr lang="en-US" sz="1000" dirty="0"/>
          </a:p>
        </p:txBody>
      </p:sp>
      <p:sp>
        <p:nvSpPr>
          <p:cNvPr id="24" name="Shape 22"/>
          <p:cNvSpPr/>
          <p:nvPr/>
        </p:nvSpPr>
        <p:spPr>
          <a:xfrm>
            <a:off x="1295400" y="2921508"/>
            <a:ext cx="9981895" cy="384048"/>
          </a:xfrm>
          <a:prstGeom prst="roundRect">
            <a:avLst>
              <a:gd name="adj" fmla="val 14286"/>
            </a:avLst>
          </a:prstGeom>
          <a:solidFill>
            <a:srgbClr val="FFFFFF"/>
          </a:solidFill>
          <a:ln w="12700">
            <a:solidFill>
              <a:srgbClr val="D9E2EF"/>
            </a:solidFill>
            <a:prstDash val="solid"/>
          </a:ln>
        </p:spPr>
      </p:sp>
      <p:sp>
        <p:nvSpPr>
          <p:cNvPr id="25" name="Shape 23"/>
          <p:cNvSpPr/>
          <p:nvPr/>
        </p:nvSpPr>
        <p:spPr>
          <a:xfrm>
            <a:off x="1295400" y="2958084"/>
            <a:ext cx="38100" cy="310896"/>
          </a:xfrm>
          <a:prstGeom prst="rect">
            <a:avLst/>
          </a:prstGeom>
          <a:solidFill>
            <a:srgbClr val="2563EB"/>
          </a:solidFill>
          <a:ln w="12700">
            <a:solidFill>
              <a:srgbClr val="2563EB"/>
            </a:solidFill>
            <a:prstDash val="solid"/>
          </a:ln>
        </p:spPr>
      </p:sp>
      <p:sp>
        <p:nvSpPr>
          <p:cNvPr id="26" name="Text 24"/>
          <p:cNvSpPr/>
          <p:nvPr/>
        </p:nvSpPr>
        <p:spPr>
          <a:xfrm>
            <a:off x="1514856" y="29215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二　生态环境</a:t>
            </a:r>
            <a:endParaRPr lang="en-US" sz="1100" dirty="0"/>
          </a:p>
        </p:txBody>
      </p:sp>
      <p:sp>
        <p:nvSpPr>
          <p:cNvPr id="27" name="Text 25"/>
          <p:cNvSpPr/>
          <p:nvPr/>
        </p:nvSpPr>
        <p:spPr>
          <a:xfrm>
            <a:off x="2849880" y="29215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绘制生物多样性图谱</a:t>
            </a:r>
            <a:endParaRPr lang="en-US" sz="1350" dirty="0"/>
          </a:p>
        </p:txBody>
      </p:sp>
      <p:sp>
        <p:nvSpPr>
          <p:cNvPr id="28" name="Text 26"/>
          <p:cNvSpPr/>
          <p:nvPr/>
        </p:nvSpPr>
        <p:spPr>
          <a:xfrm>
            <a:off x="8061960" y="29215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9" name="Text 27"/>
          <p:cNvSpPr/>
          <p:nvPr/>
        </p:nvSpPr>
        <p:spPr>
          <a:xfrm>
            <a:off x="10271455" y="29215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52—55</a:t>
            </a:r>
            <a:endParaRPr lang="en-US" sz="1000" dirty="0"/>
          </a:p>
        </p:txBody>
      </p:sp>
      <p:sp>
        <p:nvSpPr>
          <p:cNvPr id="30" name="Shape 28"/>
          <p:cNvSpPr/>
          <p:nvPr/>
        </p:nvSpPr>
        <p:spPr>
          <a:xfrm>
            <a:off x="1295400" y="3378708"/>
            <a:ext cx="9981895" cy="384048"/>
          </a:xfrm>
          <a:prstGeom prst="roundRect">
            <a:avLst>
              <a:gd name="adj" fmla="val 14286"/>
            </a:avLst>
          </a:prstGeom>
          <a:solidFill>
            <a:srgbClr val="FFFFFF"/>
          </a:solidFill>
          <a:ln w="12700">
            <a:solidFill>
              <a:srgbClr val="D9E2EF"/>
            </a:solidFill>
            <a:prstDash val="solid"/>
          </a:ln>
        </p:spPr>
      </p:sp>
      <p:sp>
        <p:nvSpPr>
          <p:cNvPr id="31" name="Shape 29"/>
          <p:cNvSpPr/>
          <p:nvPr/>
        </p:nvSpPr>
        <p:spPr>
          <a:xfrm>
            <a:off x="1295400" y="3415284"/>
            <a:ext cx="38100" cy="310896"/>
          </a:xfrm>
          <a:prstGeom prst="rect">
            <a:avLst/>
          </a:prstGeom>
          <a:solidFill>
            <a:srgbClr val="2563EB"/>
          </a:solidFill>
          <a:ln w="12700">
            <a:solidFill>
              <a:srgbClr val="2563EB"/>
            </a:solidFill>
            <a:prstDash val="solid"/>
          </a:ln>
        </p:spPr>
      </p:sp>
      <p:sp>
        <p:nvSpPr>
          <p:cNvPr id="32" name="Text 30"/>
          <p:cNvSpPr/>
          <p:nvPr/>
        </p:nvSpPr>
        <p:spPr>
          <a:xfrm>
            <a:off x="1514856" y="33787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三　地球奥秘</a:t>
            </a:r>
            <a:endParaRPr lang="en-US" sz="1100" dirty="0"/>
          </a:p>
        </p:txBody>
      </p:sp>
      <p:sp>
        <p:nvSpPr>
          <p:cNvPr id="33" name="Text 31"/>
          <p:cNvSpPr/>
          <p:nvPr/>
        </p:nvSpPr>
        <p:spPr>
          <a:xfrm>
            <a:off x="2849880" y="33787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寻找「第二个地球」</a:t>
            </a:r>
            <a:endParaRPr lang="en-US" sz="1350" dirty="0"/>
          </a:p>
        </p:txBody>
      </p:sp>
      <p:sp>
        <p:nvSpPr>
          <p:cNvPr id="34" name="Text 32"/>
          <p:cNvSpPr/>
          <p:nvPr/>
        </p:nvSpPr>
        <p:spPr>
          <a:xfrm>
            <a:off x="8061960" y="33787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35" name="Text 33"/>
          <p:cNvSpPr/>
          <p:nvPr/>
        </p:nvSpPr>
        <p:spPr>
          <a:xfrm>
            <a:off x="10271455" y="33787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56—59</a:t>
            </a:r>
            <a:endParaRPr lang="en-US" sz="1000" dirty="0"/>
          </a:p>
        </p:txBody>
      </p:sp>
      <p:sp>
        <p:nvSpPr>
          <p:cNvPr id="36" name="Shape 34"/>
          <p:cNvSpPr/>
          <p:nvPr/>
        </p:nvSpPr>
        <p:spPr>
          <a:xfrm>
            <a:off x="1295400" y="3835908"/>
            <a:ext cx="9981895" cy="384048"/>
          </a:xfrm>
          <a:prstGeom prst="roundRect">
            <a:avLst>
              <a:gd name="adj" fmla="val 14286"/>
            </a:avLst>
          </a:prstGeom>
          <a:solidFill>
            <a:srgbClr val="FFFFFF"/>
          </a:solidFill>
          <a:ln w="12700">
            <a:solidFill>
              <a:srgbClr val="D9E2EF"/>
            </a:solidFill>
            <a:prstDash val="solid"/>
          </a:ln>
        </p:spPr>
      </p:sp>
      <p:sp>
        <p:nvSpPr>
          <p:cNvPr id="37" name="Shape 35"/>
          <p:cNvSpPr/>
          <p:nvPr/>
        </p:nvSpPr>
        <p:spPr>
          <a:xfrm>
            <a:off x="1295400" y="3872484"/>
            <a:ext cx="38100" cy="310896"/>
          </a:xfrm>
          <a:prstGeom prst="rect">
            <a:avLst/>
          </a:prstGeom>
          <a:solidFill>
            <a:srgbClr val="2563EB"/>
          </a:solidFill>
          <a:ln w="12700">
            <a:solidFill>
              <a:srgbClr val="2563EB"/>
            </a:solidFill>
            <a:prstDash val="solid"/>
          </a:ln>
        </p:spPr>
      </p:sp>
      <p:sp>
        <p:nvSpPr>
          <p:cNvPr id="38" name="Text 36"/>
          <p:cNvSpPr/>
          <p:nvPr/>
        </p:nvSpPr>
        <p:spPr>
          <a:xfrm>
            <a:off x="1514856" y="38359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四　航空航天</a:t>
            </a:r>
            <a:endParaRPr lang="en-US" sz="1100" dirty="0"/>
          </a:p>
        </p:txBody>
      </p:sp>
      <p:sp>
        <p:nvSpPr>
          <p:cNvPr id="39" name="Text 37"/>
          <p:cNvSpPr/>
          <p:nvPr/>
        </p:nvSpPr>
        <p:spPr>
          <a:xfrm>
            <a:off x="2849880" y="38359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「火星」种菜</a:t>
            </a:r>
            <a:endParaRPr lang="en-US" sz="1350" dirty="0"/>
          </a:p>
        </p:txBody>
      </p:sp>
      <p:sp>
        <p:nvSpPr>
          <p:cNvPr id="40" name="Text 38"/>
          <p:cNvSpPr/>
          <p:nvPr/>
        </p:nvSpPr>
        <p:spPr>
          <a:xfrm>
            <a:off x="8061960" y="38359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1" name="Text 39"/>
          <p:cNvSpPr/>
          <p:nvPr/>
        </p:nvSpPr>
        <p:spPr>
          <a:xfrm>
            <a:off x="10271455" y="38359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60—63</a:t>
            </a:r>
            <a:endParaRPr lang="en-US" sz="1000" dirty="0"/>
          </a:p>
        </p:txBody>
      </p:sp>
      <p:sp>
        <p:nvSpPr>
          <p:cNvPr id="42" name="Shape 40"/>
          <p:cNvSpPr/>
          <p:nvPr/>
        </p:nvSpPr>
        <p:spPr>
          <a:xfrm>
            <a:off x="1295400" y="4293108"/>
            <a:ext cx="9981895" cy="384048"/>
          </a:xfrm>
          <a:prstGeom prst="roundRect">
            <a:avLst>
              <a:gd name="adj" fmla="val 14286"/>
            </a:avLst>
          </a:prstGeom>
          <a:solidFill>
            <a:srgbClr val="FFFFFF"/>
          </a:solidFill>
          <a:ln w="12700">
            <a:solidFill>
              <a:srgbClr val="D9E2EF"/>
            </a:solidFill>
            <a:prstDash val="solid"/>
          </a:ln>
        </p:spPr>
      </p:sp>
      <p:sp>
        <p:nvSpPr>
          <p:cNvPr id="43" name="Shape 41"/>
          <p:cNvSpPr/>
          <p:nvPr/>
        </p:nvSpPr>
        <p:spPr>
          <a:xfrm>
            <a:off x="1295400" y="4329684"/>
            <a:ext cx="38100" cy="310896"/>
          </a:xfrm>
          <a:prstGeom prst="rect">
            <a:avLst/>
          </a:prstGeom>
          <a:solidFill>
            <a:srgbClr val="2563EB"/>
          </a:solidFill>
          <a:ln w="12700">
            <a:solidFill>
              <a:srgbClr val="2563EB"/>
            </a:solidFill>
            <a:prstDash val="solid"/>
          </a:ln>
        </p:spPr>
      </p:sp>
      <p:sp>
        <p:nvSpPr>
          <p:cNvPr id="44" name="Text 42"/>
          <p:cNvSpPr/>
          <p:nvPr/>
        </p:nvSpPr>
        <p:spPr>
          <a:xfrm>
            <a:off x="1514856" y="42931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五　新兴产业</a:t>
            </a:r>
            <a:endParaRPr lang="en-US" sz="1100" dirty="0"/>
          </a:p>
        </p:txBody>
      </p:sp>
      <p:sp>
        <p:nvSpPr>
          <p:cNvPr id="45" name="Text 43"/>
          <p:cNvSpPr/>
          <p:nvPr/>
        </p:nvSpPr>
        <p:spPr>
          <a:xfrm>
            <a:off x="2849880" y="42931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350" dirty="0"/>
          </a:p>
        </p:txBody>
      </p:sp>
      <p:sp>
        <p:nvSpPr>
          <p:cNvPr id="46" name="Text 44"/>
          <p:cNvSpPr/>
          <p:nvPr/>
        </p:nvSpPr>
        <p:spPr>
          <a:xfrm>
            <a:off x="8061960" y="42931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7" name="Text 45"/>
          <p:cNvSpPr/>
          <p:nvPr/>
        </p:nvSpPr>
        <p:spPr>
          <a:xfrm>
            <a:off x="10271455" y="42931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64—67</a:t>
            </a:r>
            <a:endParaRPr lang="en-US" sz="1000" dirty="0"/>
          </a:p>
        </p:txBody>
      </p:sp>
      <p:sp>
        <p:nvSpPr>
          <p:cNvPr id="48" name="Shape 46"/>
          <p:cNvSpPr/>
          <p:nvPr/>
        </p:nvSpPr>
        <p:spPr>
          <a:xfrm>
            <a:off x="1295400" y="4750308"/>
            <a:ext cx="9981895" cy="384048"/>
          </a:xfrm>
          <a:prstGeom prst="roundRect">
            <a:avLst>
              <a:gd name="adj" fmla="val 14286"/>
            </a:avLst>
          </a:prstGeom>
          <a:solidFill>
            <a:srgbClr val="FFFFFF"/>
          </a:solidFill>
          <a:ln w="12700">
            <a:solidFill>
              <a:srgbClr val="D9E2EF"/>
            </a:solidFill>
            <a:prstDash val="solid"/>
          </a:ln>
        </p:spPr>
      </p:sp>
      <p:sp>
        <p:nvSpPr>
          <p:cNvPr id="49" name="Shape 47"/>
          <p:cNvSpPr/>
          <p:nvPr/>
        </p:nvSpPr>
        <p:spPr>
          <a:xfrm>
            <a:off x="1295400" y="4786884"/>
            <a:ext cx="38100" cy="310896"/>
          </a:xfrm>
          <a:prstGeom prst="rect">
            <a:avLst/>
          </a:prstGeom>
          <a:solidFill>
            <a:srgbClr val="2563EB"/>
          </a:solidFill>
          <a:ln w="12700">
            <a:solidFill>
              <a:srgbClr val="2563EB"/>
            </a:solidFill>
            <a:prstDash val="solid"/>
          </a:ln>
        </p:spPr>
      </p:sp>
      <p:sp>
        <p:nvSpPr>
          <p:cNvPr id="50" name="Text 48"/>
          <p:cNvSpPr/>
          <p:nvPr/>
        </p:nvSpPr>
        <p:spPr>
          <a:xfrm>
            <a:off x="1514856" y="4750308"/>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六　人工智能</a:t>
            </a:r>
            <a:endParaRPr lang="en-US" sz="1100" dirty="0"/>
          </a:p>
        </p:txBody>
      </p:sp>
      <p:sp>
        <p:nvSpPr>
          <p:cNvPr id="51" name="Text 49"/>
          <p:cNvSpPr/>
          <p:nvPr/>
        </p:nvSpPr>
        <p:spPr>
          <a:xfrm>
            <a:off x="2849880" y="4750308"/>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认识人工智能</a:t>
            </a:r>
            <a:endParaRPr lang="en-US" sz="1350" dirty="0"/>
          </a:p>
        </p:txBody>
      </p:sp>
      <p:sp>
        <p:nvSpPr>
          <p:cNvPr id="52" name="Text 50"/>
          <p:cNvSpPr/>
          <p:nvPr/>
        </p:nvSpPr>
        <p:spPr>
          <a:xfrm>
            <a:off x="8061960" y="4750308"/>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53" name="Text 51"/>
          <p:cNvSpPr/>
          <p:nvPr/>
        </p:nvSpPr>
        <p:spPr>
          <a:xfrm>
            <a:off x="10271455" y="4750308"/>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68—71</a:t>
            </a:r>
            <a:endParaRPr lang="en-US" sz="1000" dirty="0"/>
          </a:p>
        </p:txBody>
      </p:sp>
      <p:sp>
        <p:nvSpPr>
          <p:cNvPr id="54" name="Text 52"/>
          <p:cNvSpPr/>
          <p:nvPr/>
        </p:nvSpPr>
        <p:spPr>
          <a:xfrm>
            <a:off x="1295400" y="5298948"/>
            <a:ext cx="9981895" cy="457200"/>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六个环节产出的评价证据全场一致：提出问题和假设对应问题意识，设计方案、搜集分析证据、得出结论并解释对应探究实践能力，制作改进对应反思改进能力，交流反思对应合作交流能力。一手证据指学生通过观察、测量、实验或访谈直接取得的材料。以下各案例不再重复标注。</a:t>
            </a:r>
            <a:endParaRPr lang="en-US" sz="1050" dirty="0"/>
          </a:p>
        </p:txBody>
      </p:sp>
      <p:sp>
        <p:nvSpPr>
          <p:cNvPr id="55" name="Shape 53"/>
          <p:cNvSpPr/>
          <p:nvPr/>
        </p:nvSpPr>
        <p:spPr>
          <a:xfrm>
            <a:off x="1295400" y="5888736"/>
            <a:ext cx="9981895" cy="0"/>
          </a:xfrm>
          <a:prstGeom prst="line">
            <a:avLst/>
          </a:prstGeom>
          <a:noFill/>
          <a:ln w="12700">
            <a:solidFill>
              <a:srgbClr val="D9E2EF"/>
            </a:solidFill>
            <a:prstDash val="solid"/>
          </a:ln>
        </p:spPr>
      </p:sp>
      <p:sp>
        <p:nvSpPr>
          <p:cNvPr id="56" name="Text 5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任务名称、任务要求与实施建议为指南附件原文。工具介入程度、约束与留痕是依据评价维度做出的专业判断，不是政策规定。</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科学护眼</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45973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24—32 页已走查此项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以青少年近视防控为背景，围绕视力健康问题开展探究实践。通过完成本任务，提升数据收集、动手实践的能力，形成主动爱眼护眼的健康观念，提升守护健康的社会责任意识。</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提出问题：学生观察身边同学用眼情况，结合班级视力数据等素材，思考为什么有同学会戴眼镜、为什么要做眼保健操、如何保护视力等。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实验探究：学生围绕感兴趣的方向提出可探究的问题并开展实验。如，针对「为什么会近视」问题，可使用卡纸、透镜等简易材料动手模拟，解释近视成因。</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设计制作：基于不同的场景（如课堂、家庭），学生利用废旧材料创意设计与制作科学护眼工具（如坐姿矫正支架、护眼提醒卡等），通过测试反馈优化护眼工具。</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交流分享：展示并讲解护眼工具、科普护眼方法等。</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附件写为四步，指南正文要求六个环节，两者并非一一对应。下一页按六个环节重排。</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从本班用眼情况与视力数据中自行提出可探究的问题，并写出假设。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自行确定测什么、怎么测、测几次，以及如何控制变量。</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方案成形后核对变量是否有遗漏，只提问不改写。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照度、用眼距离与连续用眼时长由学生自行测量并记录。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从自己的数据得出结论并说明依据，近视成因由模拟实验解释。</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护眼工具的结构与改进方向由学生依据测试反馈决定。</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讲解内容的组织与取舍。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文稿润色、海报排版。</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问题提出、数据采集与结论形成须由学生完成，这三处均产生评价所需的过程证据。</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视力数据</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班级视力数据属学生个人健康信息，不得整表上传。需要 AI 协助整理时，先去掉姓名与学号，只留编号与数值。</a:t>
            </a:r>
            <a:endParaRPr lang="en-US" sz="1100" dirty="0"/>
          </a:p>
        </p:txBody>
      </p:sp>
      <p:sp>
        <p:nvSpPr>
          <p:cNvPr id="22" name="Shape 20"/>
          <p:cNvSpPr/>
          <p:nvPr/>
        </p:nvSpPr>
        <p:spPr>
          <a:xfrm>
            <a:off x="1295400" y="26014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6471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近视成因</a:t>
            </a:r>
            <a:endParaRPr lang="en-US" sz="1150" dirty="0"/>
          </a:p>
        </p:txBody>
      </p:sp>
      <p:sp>
        <p:nvSpPr>
          <p:cNvPr id="25" name="Text 23"/>
          <p:cNvSpPr/>
          <p:nvPr/>
        </p:nvSpPr>
        <p:spPr>
          <a:xfrm>
            <a:off x="2813304" y="26014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成因的解释须由学生从自己的模拟实验中得出。AI 给出的成因说明只能作为事后对照，不能作为结论来源。</a:t>
            </a:r>
            <a:endParaRPr lang="en-US" sz="1100" dirty="0"/>
          </a:p>
        </p:txBody>
      </p:sp>
      <p:sp>
        <p:nvSpPr>
          <p:cNvPr id="26" name="Shape 24"/>
          <p:cNvSpPr/>
          <p:nvPr/>
        </p:nvSpPr>
        <p:spPr>
          <a:xfrm>
            <a:off x="1295400" y="31958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2415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1958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工具设计</a:t>
            </a:r>
            <a:endParaRPr lang="en-US" sz="1150" dirty="0"/>
          </a:p>
        </p:txBody>
      </p:sp>
      <p:sp>
        <p:nvSpPr>
          <p:cNvPr id="29" name="Text 27"/>
          <p:cNvSpPr/>
          <p:nvPr/>
        </p:nvSpPr>
        <p:spPr>
          <a:xfrm>
            <a:off x="2813304" y="31958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护眼工具的结构方案不得由 AI 生成。学生可查询某种材料是否安全，不可要求 AI 输出设计图。</a:t>
            </a:r>
            <a:endParaRPr lang="en-US" sz="1100" dirty="0"/>
          </a:p>
        </p:txBody>
      </p:sp>
      <p:sp>
        <p:nvSpPr>
          <p:cNvPr id="30" name="Text 28"/>
          <p:cNvSpPr/>
          <p:nvPr/>
        </p:nvSpPr>
        <p:spPr>
          <a:xfrm>
            <a:off x="1295400" y="38267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视力数据若经 AI 整理，原始记录表与整理后的表一并留存；护眼工具的改进过程至少三次拍照，含未采用的方案。</a:t>
            </a:r>
            <a:endParaRPr lang="en-US" sz="1100" dirty="0"/>
          </a:p>
        </p:txBody>
      </p:sp>
      <p:sp>
        <p:nvSpPr>
          <p:cNvPr id="31" name="Shape 29"/>
          <p:cNvSpPr/>
          <p:nvPr/>
        </p:nvSpPr>
        <p:spPr>
          <a:xfrm>
            <a:off x="1295400" y="41925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2382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3022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5399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我要给五年级一项科学护眼探究任务，学生自行测量教室课桌面照度、用眼距离与连续用眼时长。请列出这三项测量各自最容易出错的地方，以及一张学生自己就能核对的检查清单，每条不超过二十字。</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从真实用眼现象形成可测量的问题，保持测量条件一致，并依据测试反馈改进护眼工具。</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准备匿名化的用眼情况材料、测量记录表，以及卡纸、透镜和可用于制作护眼工具的常见材料。先确认学生能够安全使用相关材料。</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提交问题形成记录、变量控制方案、原始测量数据、结论说明，以及护眼工具修改前后的版本记录。</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观察问题是否来自实际现象，测量条件是否保持一致，结论是否引用本组数据，改进理由是否来自测试反馈。</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缺少数字测量设备时，以卡纸与透镜模拟、用眼行为观察和手工记录为主，不使用系统生成的数据替代实际观察。</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学生形成自己的问题，保留原始记录，依据证据说明结论，并呈现一次有理由的修改。</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绘制生物多样性图谱</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生物多样性为背景，观察记录周边环境中动植物的种类及特点。通过完成本任务，了解描绘生物间食物联系和相互依存的科学方法，认识生物多样性及其重要性，发展分类归纳、逻辑推理能力，涵养人与自然和谐共生的生态价值观。</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提出问题：学生观察校园生物，结合日常经验，思考在校园里经常看到哪些动物和植物、它们之间有什么联系等。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实地调查：学生讨论调查生物的方法，设计调查记录表。在校园里选择某一观察区域，记录生物的种类、数量及生存环境，调查时注意安全防护。</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绘制图谱：学习生物图谱的绘制方法，合作绘制校园某一区域的生物图谱、食物链和简易食物网。</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交流分享：布置校园生物图谱展示区域，介绍校园生物种类和特点，以及保护生物多样性的事例。</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本项是六项中收得最紧的一项：学生侧全程不使用设备，AI 只配置在教师侧。</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从自己在校园里的观察中提出问题，不从检索结果中提问题。</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调查记录表由学生自行设计，含种类、数量、生存环境三类字段。</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表格成形后核对是否漏项，只提问不改写。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实地调查与记录全部由学生完成，不使用识别类应用。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食物链与食物网由学生根据自己的调查记录推断。</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图谱本身由学生绘制，含物种位置与联系的判断。</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展示区的版式与说明牌排版。</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介绍内容的组织与保护事例的选取。</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解说词润色。</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学生侧四个环节收紧，教师侧课前完全开放：速查卡由 AI 整理，教师核对后印发，指令见下一页。同一项任务，两侧的配置可以相反。</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物种识别</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不使用识别类应用。本项评价维度包括分类归纳，若由应用直接完成识别，学生将失去形成该项能力的过程证据。</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食物网</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食物链与食物网须由学生根据自己的观察记录推断。AI 给出的通用食物网与本校园的实际物种不对应，采用即失去调查的意义。</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拍摄范围</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调查照片只拍生物与环境。校外人员、他人肖像与可识别的门牌住址不得进入记录。</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调查记录表保留手写原件。若用 AI 核对过表格字段，在表末注明核对日期与改动条目。</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华南地区校园常见的乔木、灌木、草本与昆虫。请整理成一张速查卡，每种写明识别特征一条，不超过十五字；另单独列出其中有毒、有刺或会蜇人的种类及处置提示。不确定的种类请标注为待核，不要猜测。</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以现场特征支持物种识别，以一致的分类规则组织记录，并依据本组观察推断生物之间的联系。</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划定安全的调查范围，准备纸质调查表与图鉴，并预先核查有毒、有刺或可能蜇人的生物及相应安全提示。</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提交现场观察记录、物种分类依据、位置图谱，以及根据本组记录形成的食物联系或相互依存关系说明。</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观察识别依据是否来自可见特征，分类规则是否前后一致，关系推断是否能够回到本组的地点、时间与观察记录。</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调查范围可以缩小到校园内便于持续观察的区域，以纸质图鉴和重复观察替代识别类应用，不补写未观察到的物种。</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保留现场记录，说明分类依据，完成与实际观察位置对应的图谱，并对一项关系推断给出证据。</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寻找「第二个地球」</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以深空探测国家战略为背景，围绕宜居行星的基本特征和宜居带主要条件开展探究实践。通过完成本任务，感悟我国行星探测的自主创新精神，树立科学的宇宙观与保护地球家园的责任感。</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提出问题：学生观看我国火星、月球探测等相关视频，思考地球为什么是太阳系中宜居行星、能否找到「第二个地球」等。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设计制作：学生选用泡沫球、玻璃球、气球、塑料袋等常见材料，结合太阳系中天体的体积、密度、大气层、含水量、磁场、运动轨道等特征，制作太阳系比例模型。</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模拟探究：使用灯泡、温度计、光照传感器（或测光软件）等，探究太阳—行星距离与光照强度、行星表面温度之间的关系，推测太阳系宜居带的范围。</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交流分享：展示模型与实验成果，探讨「第二个地球」存在的可能性。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本项的证据几乎全部来自文献与实测两路，是六项中最容易被 AI 整项代做的一项。</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从视频与已知的地球条件中自行提出可探究的问题，并写出假设。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比例模型的换算方法、模拟实验的变量与测点由学生自行确定。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方案成形后核对单位换算与量级（数量的大致范围），只提问不改写。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距离、光照强度与表面温度由学生用灯泡、温度计、传感器自行测得。</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整理三列数据、作图，标注异常值（明显偏离其余记录的数值）。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宜居带范围的推测须从自己的实测曲线得出，并说明推断过程。</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模型的制作与比例取舍，以及模型与实测结果不符时的改法。</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查询材料属性，展板版式。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展示内容的组织与结论的表述。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天体参数属于可核验的公开数据，须逐项核对来源。参数核验属于必要的资料准备，不作为学生探究能力的主要评价证据。</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天体参数</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体积、密度、大气层、含水量、磁场、轨道六项须逐项自行核对来源。AI 在这类数值上出错的形态是给出格式正确但并不存在的数据，学生无法凭语感识别。</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8757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宜居带结论</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宜居带范围须由学生依据自己的实测曲线推断。直接采用系统生成的天文学结论，会使实测曲线失去作为探究证据的作用。</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6987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检索的次序</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系外行星的检索结果作为对照使用。学生须先写下自己的判断与依据，再检索，两者并列留档。</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六项天体参数逐项注明来源与核对日期；距离、光照、温度三列原始数据保留手写记录，与 AI 整理后的图表一并提交。</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6954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以下是学生制作太阳系比例模型要用到的六项天体参数。请把每一项的权威来源名称与常见量级（数量的大致范围）列成一张核对表，不要给出具体数值，只给来源与量级，供学生自行查证后填写。</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区分公开参数与模拟实验数据，正确处理单位和数量范围，并从实测曲线形成有限结论。</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确认灯泡与测量设备的安全使用方式，准备参数来源核对表、原始数据记录表，并区分资料数据与学生实测数据。</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提交比例换算过程、变量与测点方案、距离—光照—温度原始记录、数据图表，以及从曲线推断宜居范围的说明。</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观察单位与数量范围是否合理，图表是否对应原始记录，结论是否由曲线支持，公开参数是否注明来源与核对日期。</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设备不足时缩小研究问题，只保留学校能够稳定测量的指标；无法实测的指标作为资料背景，不补入实验数据。</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参数来源可核对，实测记录与图表一致，学生能够说明从测量结果到宜居范围判断的推理过程。</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「火星」种菜</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1088136"/>
          </a:xfrm>
          <a:prstGeom prst="roundRect">
            <a:avLst>
              <a:gd name="adj" fmla="val 5882"/>
            </a:avLst>
          </a:prstGeom>
          <a:solidFill>
            <a:srgbClr val="FFFFFF"/>
          </a:solidFill>
          <a:ln w="12700">
            <a:solidFill>
              <a:srgbClr val="D9E2EF"/>
            </a:solidFill>
            <a:prstDash val="solid"/>
          </a:ln>
        </p:spPr>
      </p:sp>
      <p:sp>
        <p:nvSpPr>
          <p:cNvPr id="22" name="Shape 20"/>
          <p:cNvSpPr/>
          <p:nvPr/>
        </p:nvSpPr>
        <p:spPr>
          <a:xfrm>
            <a:off x="1295400" y="2345436"/>
            <a:ext cx="38100" cy="996696"/>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685800"/>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我国空间站太空种菜技术、火星探测工程为背景，结合火星严苛的自然条件，设计种植基地。通过完成本任务，初步建立环境需求与系统设计之间的联系，形成基于系统工程解决实际问题的意识，初步体会中国航天从「近地」迈向「深空」的探索历程，树立航天强国志向和拓展人类生存空间的理想。</a:t>
            </a:r>
            <a:endParaRPr lang="en-US" sz="1050" dirty="0"/>
          </a:p>
        </p:txBody>
      </p:sp>
      <p:sp>
        <p:nvSpPr>
          <p:cNvPr id="25" name="Text 23"/>
          <p:cNvSpPr/>
          <p:nvPr/>
        </p:nvSpPr>
        <p:spPr>
          <a:xfrm>
            <a:off x="1295400" y="3534156"/>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7719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7719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提出问题：学生观看空间站在轨种菜与火星探测视频，以「未来航天总设计师」的身份，思考火星和地球有什么不同，在火星空气稀薄、昼夜温差极大、光照极端的环境中能否种植蔬菜等。</a:t>
            </a:r>
            <a:endParaRPr lang="en-US" sz="1000" dirty="0"/>
          </a:p>
        </p:txBody>
      </p:sp>
      <p:sp>
        <p:nvSpPr>
          <p:cNvPr id="28" name="Text 26"/>
          <p:cNvSpPr/>
          <p:nvPr/>
        </p:nvSpPr>
        <p:spPr>
          <a:xfrm>
            <a:off x="1295400" y="42108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2108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设计制作：学生制订方案，聚焦「模拟火星环境」设计种植装置。选用塑料瓶、纸箱、保鲜膜、普通灯泡、棉花、绿豆（或黄豆）等材料，模拟密封、人工光照环境，完成播种。</a:t>
            </a:r>
            <a:endParaRPr lang="en-US" sz="1000" dirty="0"/>
          </a:p>
        </p:txBody>
      </p:sp>
      <p:sp>
        <p:nvSpPr>
          <p:cNvPr id="30" name="Text 28"/>
          <p:cNvSpPr/>
          <p:nvPr/>
        </p:nvSpPr>
        <p:spPr>
          <a:xfrm>
            <a:off x="1295400" y="464972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64972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测试记录：开展模拟种植测试，定期观察种子发芽、生长情况。记录种子发芽时间、芽长、生长状态等指标和种植装置的使用情况及出现的问题。</a:t>
            </a:r>
            <a:endParaRPr lang="en-US" sz="1000" dirty="0"/>
          </a:p>
        </p:txBody>
      </p:sp>
      <p:sp>
        <p:nvSpPr>
          <p:cNvPr id="32" name="Text 30"/>
          <p:cNvSpPr/>
          <p:nvPr/>
        </p:nvSpPr>
        <p:spPr>
          <a:xfrm>
            <a:off x="1295400" y="508863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508863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分析优化：分析种子生长情况与模拟火星环境的关联，思考种植装置的问题，并优化装置。</a:t>
            </a:r>
            <a:endParaRPr lang="en-US" sz="1000" dirty="0"/>
          </a:p>
        </p:txBody>
      </p:sp>
      <p:sp>
        <p:nvSpPr>
          <p:cNvPr id="34" name="Text 32"/>
          <p:cNvSpPr/>
          <p:nvPr/>
        </p:nvSpPr>
        <p:spPr>
          <a:xfrm>
            <a:off x="1295400" y="533095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5.</a:t>
            </a:r>
            <a:endParaRPr lang="en-US" sz="1000" dirty="0"/>
          </a:p>
        </p:txBody>
      </p:sp>
      <p:sp>
        <p:nvSpPr>
          <p:cNvPr id="35" name="Text 33"/>
          <p:cNvSpPr/>
          <p:nvPr/>
        </p:nvSpPr>
        <p:spPr>
          <a:xfrm>
            <a:off x="1569720" y="533095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交流分享：展示模拟种植装置、种植记录，分享探究过程、遇到的问题及优化方法，交流研讨对火星生态种植的认识与科学设想。</a:t>
            </a:r>
            <a:endParaRPr lang="en-US" sz="1000" dirty="0"/>
          </a:p>
        </p:txBody>
      </p:sp>
      <p:sp>
        <p:nvSpPr>
          <p:cNvPr id="36" name="Text 34"/>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7" name="Shape 35"/>
          <p:cNvSpPr/>
          <p:nvPr/>
        </p:nvSpPr>
        <p:spPr>
          <a:xfrm>
            <a:off x="1295400" y="5888736"/>
            <a:ext cx="9981895" cy="0"/>
          </a:xfrm>
          <a:prstGeom prst="line">
            <a:avLst/>
          </a:prstGeom>
          <a:noFill/>
          <a:ln w="12700">
            <a:solidFill>
              <a:srgbClr val="D9E2EF"/>
            </a:solidFill>
            <a:prstDash val="solid"/>
          </a:ln>
        </p:spPr>
      </p:sp>
      <p:sp>
        <p:nvSpPr>
          <p:cNvPr id="38" name="Text 3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本项周期长，附件写为五步，其中测试记录与分析优化两步合并对应搜集分析证据与制作改进两个环节。</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从火星环境与地球环境的差别中自行提出可探究的问题，并写出假设。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密封、光照与温差的模拟方案，以及要记录哪些指标，由学生自行确定。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材料清单成形后核对是否遗漏，只提问不改写。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发芽时间、芽长、生长状态由学生逐日实测并记录，缺测如实标注。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整理为表格与生长曲线，不得补全缺测。</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生长情况与模拟环境的关联由学生从自己的记录中得出。</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装置的问题诊断与改进方向，依据自己的观察记录提出。</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展示内容的组织，遇到的问题与优化方法的表述。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长周期任务的收放要点在搜集分析证据一行：可以放整理，不可以放补全。</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缺测的处理</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生长数据不得由 AI 补全。缺测日期写「未测」，不使用插值（依据相邻数据推算缺失值）或平滑（调整曲线以减少波动）。</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8757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改进方向</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装置的改进方向须由学生依据自己的观察记录提出。AI 给出的通用改进建议与本组装置的实际问题不对应。</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火星参数</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气压、温差、光照三项须注明来源。本项模拟的是量级关系，不必也不应追求数值精确，注明来源即可。</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逐日记录表保留原件，含标注为未测的日期。生长曲线若由 AI 生成，与原始记录表一并提交，两者行数须对得上。</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以下是一组绿豆在模拟环境下逐日观察的原始记录，其中有三天缺测。请整理成表并作生长曲线，缺测的日期在图上留空，不要插值，也不要平滑。</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连续观察、如实处理缺测，并依据本组装置的实际记录形成问题诊断与改进方案。</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准备种植材料、装置设计记录表与连续观察表，明确材料使用安全要求，并约定固定的观察位置与记录方式。</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提交装置初始方案、生长原始记录、缺测说明、生长曲线、装置问题诊断，以及依据观察提出的改进版本。</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观察记录条件是否保持一致，缺测是否如实标注，图表是否对应原始记录，改进方向是否针对本组装置的实际问题。</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无法连续观察时，应明确实际观察时段与缺测情况，保留可获得的真实记录，不通过推算或生成内容补齐过程。</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原始记录能够追溯，缺测处理透明，装置修改前后可以对照，学生能够说明修改依据。</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中国水利工程为背景，基于水能利用视角，探究分水、蓄水等防洪方式对水利工程功能的影响。通过完成本任务，感悟中国水利工程为实现趋利避害，在因地制宜防洪、综合利用水资源、保护生态环境等方面的伟大智慧。</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提出问题：学生结合图片、视频资料及身边实例，思考不同地区采用不同治水方式的原因、水利工程在水资源综合利用中发挥的作用等。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模拟探究：学生根据学校实际条件，利用水槽、沙盘、矿泉水瓶等材料，探究不同水坝形状（如梯形、曲面等）、大小等因素对分水灌溉效果的影响。</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案例分析：选择一项中国典型水利工程（如三峡工程、雅江工程等），分析该工程在实现趋利避害方面体现的智慧，制作宣传海报。</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交流分享：汇报交流或展示成果，分享中国水利工程在分水防洪、农田灌溉、蓄水发电、生态保护等方面的智慧。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本项是六项中学生侧开放度最高的一项，另配一个只提问不给答案的任务助手。</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FFFFFF"/>
          </a:solidFill>
          <a:ln w="12700">
            <a:solidFill>
              <a:srgbClr val="D9E2EF"/>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可探究问题仍须学生自行写出，教师在开题时逐组核对。</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检索不同地区的治水方式与典型工程，作为背景对照。</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坝形、坝高与水量三者取哪个作变量，其余如何固定，由学生确定。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方案成形后核对变量控制是否成立，只提问不改写。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沙盘分水的模拟试验全部由学生完成，分水效果自行观测记录。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429768" cy="182880"/>
          </a:xfrm>
          <a:prstGeom prst="roundRect">
            <a:avLst>
              <a:gd name="adj" fmla="val 50000"/>
            </a:avLst>
          </a:prstGeom>
          <a:solidFill>
            <a:srgbClr val="C2552F"/>
          </a:solidFill>
          <a:ln w="12700">
            <a:solidFill>
              <a:srgbClr val="C2552F"/>
            </a:solidFill>
            <a:prstDash val="solid"/>
          </a:ln>
        </p:spPr>
      </p:sp>
      <p:sp>
        <p:nvSpPr>
          <p:cNvPr id="52" name="Text 50"/>
          <p:cNvSpPr/>
          <p:nvPr/>
        </p:nvSpPr>
        <p:spPr>
          <a:xfrm>
            <a:off x="1441704" y="4297680"/>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结论由学生先写出，对任务助手的每一条质疑逐条自行回应。</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只提问不给答案的质疑助手，指令见下一页。</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典型工程体现何种智慧，由学生分析并组织成文。</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宣传海报的版式与配图排布。</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汇报内容的组织与取舍。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任务前检索与任务后表达可使用工具；沙盘模拟试验须由学生完成，并形成本项的直接探究证据。</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沙盘环节</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模拟探究不引入 AI。分水效果的差异须由学生通过试验取得，照片与观测记录构成本项的直接探究证据。</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工程数据</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三峡、雅江等典型工程的参数与年代须逐项核对来源。AI 在工程数据上出错的形态是给出格式正确但并不存在的数值。</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质疑助手</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只提问，不给答案，不作评价。学生对每一条质疑的回应须自己写，代写即失去本环节的评价证据。</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每一种坝形的试验拍照留存，含失败的那几次。任务助手的质疑与学生的回应按条对照留档，两列并排。</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你是一个只提问的评审。学生会提交一份关于水坝形状对分水灌溉效果影响的实验结论。请针对结论中的每一条，提出一个指向证据是否充分的问题。只提问，不给答案，不作评价，不超过五个问题。</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区分背景资料与模拟试验证据，通过变量控制判断证据是否足以支持结论。</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准备水槽、沙盘或矿泉水瓶等可获得材料，明确用水安全与场地清理要求，并提供背景资料来源记录表。</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提交变量控制方案、沙盘试验照片与观测记录、基于试验形成的结论，以及对任务助手质疑的书面回应。</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观察每次试验是否只改变一个条件，背景资料与模拟试验证据是否分开，结论是否引用观测结果，回应是否由学生自行完成。</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根据学校现有材料缩小模型规模，但保留变量控制、实际放水与结果记录；不以工程介绍材料代替模拟探究。</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方案说明变量控制，试验留下可核对记录，结论引用本组证据，并完成对证据充分性的书面回应。</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认识人工智能</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围绕「如何正确使用人工智能」，针对生成式人工智能使用，结合学生学习和生活的具体问题，探索与生成式人工智能正确交流的方法与策略。通过完成本任务，初步形成主动辨别内容的意识，提高发现和定义问题的能力。</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提出问题：学生针对具体问题，采用不同提示词与生成式人工智能工具进行问答，比较生成结果。思考人工智能如何为学习服务、人工智能的回答为何会出现错误、怎样的提示词能让人工智能更懂提问者等。</a:t>
            </a:r>
            <a:endParaRPr lang="en-US" sz="1000" dirty="0"/>
          </a:p>
        </p:txBody>
      </p:sp>
      <p:sp>
        <p:nvSpPr>
          <p:cNvPr id="28" name="Text 26"/>
          <p:cNvSpPr/>
          <p:nvPr/>
        </p:nvSpPr>
        <p:spPr>
          <a:xfrm>
            <a:off x="1295400" y="40005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0005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活动探究：学生通过「问题墙」或「探究日志」记录与人工智能的交互过程，调整提示词后，分析生成结果的异同，帮助学生探究提示词设计的方法与策略。</a:t>
            </a:r>
            <a:endParaRPr lang="en-US" sz="1000" dirty="0"/>
          </a:p>
        </p:txBody>
      </p:sp>
      <p:sp>
        <p:nvSpPr>
          <p:cNvPr id="30" name="Text 28"/>
          <p:cNvSpPr/>
          <p:nvPr/>
        </p:nvSpPr>
        <p:spPr>
          <a:xfrm>
            <a:off x="1295400" y="44394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4394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研究讨论：结合活动实例，讨论「生成式人工智能生成的内容可以直接采用吗？应用生成式人工智能需要注意哪些问题？」，提高学生对生成式人工智能生成内容的辨别意识与能力。</a:t>
            </a:r>
            <a:endParaRPr lang="en-US" sz="1000" dirty="0"/>
          </a:p>
        </p:txBody>
      </p:sp>
      <p:sp>
        <p:nvSpPr>
          <p:cNvPr id="32" name="Text 30"/>
          <p:cNvSpPr/>
          <p:nvPr/>
        </p:nvSpPr>
        <p:spPr>
          <a:xfrm>
            <a:off x="1295400" y="4878324"/>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878324"/>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交流分享：将「使用生成式人工智能的讨论成果」做成演示文稿，与其他同学分享正确使用生成式人工智能的方法与策略。</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本项与前五项相反：使用 AI 是任务内容本身，不是捷径。收紧的对象随之改变。</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要拿来比较的那个具体问题，由学生从自己的学习生活中选定。</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不介入选题。</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324612" cy="182880"/>
          </a:xfrm>
          <a:prstGeom prst="roundRect">
            <a:avLst>
              <a:gd name="adj" fmla="val 50000"/>
            </a:avLst>
          </a:prstGeom>
          <a:solidFill>
            <a:srgbClr val="7A2C10"/>
          </a:solidFill>
          <a:ln w="12700">
            <a:solidFill>
              <a:srgbClr val="7A2C10"/>
            </a:solidFill>
            <a:prstDash val="solid"/>
          </a:ln>
        </p:spPr>
      </p:sp>
      <p:sp>
        <p:nvSpPr>
          <p:cNvPr id="36" name="Text 34"/>
          <p:cNvSpPr/>
          <p:nvPr/>
        </p:nvSpPr>
        <p:spPr>
          <a:xfrm>
            <a:off x="1441704" y="3172968"/>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提示词的对照方案由学生自行设计：一次只改一处，其余不变。</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不介入。这一步是本项的变量控制。</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FFFFFF"/>
          </a:solidFill>
          <a:ln w="12700">
            <a:solidFill>
              <a:srgbClr val="D9E2EF"/>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逐次记录提示词原文、改动之处与生成结果要点。</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用于生成对照材料；交互记录构成本项分析所需的一手数据。</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提示词与结果之间的规律，从自己的对照记录中归纳。</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不介入。不得索取「怎样写提示词」的现成答案。</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结论与实例由学生自己写，改进后的提示词须再验证一次。</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演示文稿的版式。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7A2C10"/>
          </a:solidFill>
          <a:ln w="12700">
            <a:solidFill>
              <a:srgbClr val="7A2C1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班级公约或使用建议须由学生讨论产生，逐条表决。</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六个环节中有四个限制系统介入。学生使用 AI 是本项任务内容，但对生成结果的比较与判断须由学生完成。</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70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收紧的对象</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本项与其他五项相反。学生使用 AI 是任务内容，须放开；收紧的是让 AI 替学生对 AI 作出判断这一步。</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8757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现成答案</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不得向 AI 索取「如何写好提示词」的现成答案。规律须从学生自己的对照记录中归纳，否则无法形成相应的评价证据。</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6987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输入内容</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输入的具体问题不得包含姓名、学校、班级、家庭住址与家长信息。选题定下后，教师逐组核对一次再开始。</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探究日志三列并排：提示词原文、生成结果要点、学生自己的判断。班级公约保留讨论过程中被否决的条目。</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6954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教师侧指令示例</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认识人工智能的探究任务，学生通过改动提示词来比较生成结果。请设计一张探究日志表，包含提示词原文、改动了哪一处、生成结果的要点、学生自己的判断四列，并给出两条填写示例，示例统一用「如何保护视力」这一问题。</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71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71</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5F7088"/>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教师实施卡</a:t>
            </a:r>
            <a:endParaRPr lang="en-US" sz="2500" dirty="0"/>
          </a:p>
        </p:txBody>
      </p:sp>
      <p:sp>
        <p:nvSpPr>
          <p:cNvPr id="18" name="Text 16"/>
          <p:cNvSpPr/>
          <p:nvPr/>
        </p:nvSpPr>
        <p:spPr>
          <a:xfrm>
            <a:off x="1295400" y="1952244"/>
            <a:ext cx="9981895" cy="201168"/>
          </a:xfrm>
          <a:prstGeom prst="rect">
            <a:avLst/>
          </a:prstGeom>
          <a:noFill/>
          <a:ln/>
        </p:spPr>
        <p:txBody>
          <a:bodyPr wrap="square" lIns="0" tIns="0" rIns="0" bIns="0" rtlCol="0" anchor="t"/>
          <a:lstStyle/>
          <a:p>
            <a:pPr indent="0" marL="0">
              <a:lnSpc>
                <a:spcPct val="135000"/>
              </a:lnSpc>
              <a:buNone/>
            </a:pPr>
            <a:r>
              <a:rPr lang="en-US" sz="950" dirty="0">
                <a:solidFill>
                  <a:srgbClr val="5F7088"/>
                </a:solidFill>
                <a:latin typeface="Microsoft YaHei" pitchFamily="34" charset="0"/>
                <a:ea typeface="Microsoft YaHei" pitchFamily="34" charset="-122"/>
                <a:cs typeface="Microsoft YaHei" pitchFamily="34" charset="-120"/>
              </a:rPr>
              <a:t>以下内容为依据任务要求提出的实施建议，不是指南原文。</a:t>
            </a:r>
            <a:endParaRPr lang="en-US" sz="950" dirty="0"/>
          </a:p>
        </p:txBody>
      </p:sp>
      <p:sp>
        <p:nvSpPr>
          <p:cNvPr id="19" name="Shape 17"/>
          <p:cNvSpPr/>
          <p:nvPr/>
        </p:nvSpPr>
        <p:spPr>
          <a:xfrm>
            <a:off x="1295400" y="2226564"/>
            <a:ext cx="9981895" cy="530352"/>
          </a:xfrm>
          <a:prstGeom prst="rect">
            <a:avLst/>
          </a:prstGeom>
          <a:solidFill>
            <a:srgbClr val="FFFFFF"/>
          </a:solidFill>
          <a:ln w="12700">
            <a:solidFill>
              <a:srgbClr val="D9E2EF"/>
            </a:solidFill>
            <a:prstDash val="solid"/>
          </a:ln>
        </p:spPr>
      </p:sp>
      <p:sp>
        <p:nvSpPr>
          <p:cNvPr id="20" name="Shape 18"/>
          <p:cNvSpPr/>
          <p:nvPr/>
        </p:nvSpPr>
        <p:spPr>
          <a:xfrm>
            <a:off x="1295400" y="2226564"/>
            <a:ext cx="38100" cy="530352"/>
          </a:xfrm>
          <a:prstGeom prst="rect">
            <a:avLst/>
          </a:prstGeom>
          <a:solidFill>
            <a:srgbClr val="2563EB"/>
          </a:solidFill>
          <a:ln w="12700">
            <a:solidFill>
              <a:srgbClr val="2563EB"/>
            </a:solidFill>
            <a:prstDash val="solid"/>
          </a:ln>
        </p:spPr>
      </p:sp>
      <p:sp>
        <p:nvSpPr>
          <p:cNvPr id="21" name="Text 19"/>
          <p:cNvSpPr/>
          <p:nvPr/>
        </p:nvSpPr>
        <p:spPr>
          <a:xfrm>
            <a:off x="1496568" y="2299716"/>
            <a:ext cx="1225296" cy="182880"/>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核心教学判断</a:t>
            </a:r>
            <a:endParaRPr lang="en-US" sz="950" dirty="0"/>
          </a:p>
        </p:txBody>
      </p:sp>
      <p:sp>
        <p:nvSpPr>
          <p:cNvPr id="22" name="Text 20"/>
          <p:cNvSpPr/>
          <p:nvPr/>
        </p:nvSpPr>
        <p:spPr>
          <a:xfrm>
            <a:off x="2813304" y="2290572"/>
            <a:ext cx="8244535" cy="420624"/>
          </a:xfrm>
          <a:prstGeom prst="rect">
            <a:avLst/>
          </a:prstGeom>
          <a:noFill/>
          <a:ln/>
        </p:spPr>
        <p:txBody>
          <a:bodyPr wrap="square" lIns="0" tIns="0" rIns="0" bIns="0" rtlCol="0" anchor="ctr"/>
          <a:lstStyle/>
          <a:p>
            <a:pPr indent="0" marL="0">
              <a:lnSpc>
                <a:spcPct val="135000"/>
              </a:lnSpc>
              <a:buNone/>
            </a:pPr>
            <a:r>
              <a:rPr lang="en-US" sz="1150" b="1" dirty="0">
                <a:solidFill>
                  <a:srgbClr val="081B3A"/>
                </a:solidFill>
                <a:latin typeface="Microsoft YaHei" pitchFamily="34" charset="0"/>
                <a:ea typeface="Microsoft YaHei" pitchFamily="34" charset="-122"/>
                <a:cs typeface="Microsoft YaHei" pitchFamily="34" charset="-120"/>
              </a:rPr>
              <a:t>通过受控的提示词对照保留交互原文，依据比较结果作出判断，并遵守个人信息保护要求。</a:t>
            </a:r>
            <a:endParaRPr lang="en-US" sz="1150" dirty="0"/>
          </a:p>
        </p:txBody>
      </p:sp>
      <p:sp>
        <p:nvSpPr>
          <p:cNvPr id="23" name="Shape 21"/>
          <p:cNvSpPr/>
          <p:nvPr/>
        </p:nvSpPr>
        <p:spPr>
          <a:xfrm>
            <a:off x="1295400" y="2866644"/>
            <a:ext cx="9981895" cy="0"/>
          </a:xfrm>
          <a:prstGeom prst="line">
            <a:avLst/>
          </a:prstGeom>
          <a:noFill/>
          <a:ln w="12700">
            <a:solidFill>
              <a:srgbClr val="D9E2EF"/>
            </a:solidFill>
            <a:prstDash val="solid"/>
          </a:ln>
        </p:spPr>
      </p:sp>
      <p:sp>
        <p:nvSpPr>
          <p:cNvPr id="24" name="Text 22"/>
          <p:cNvSpPr/>
          <p:nvPr/>
        </p:nvSpPr>
        <p:spPr>
          <a:xfrm>
            <a:off x="1459992" y="2958084"/>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课前准备</a:t>
            </a:r>
            <a:endParaRPr lang="en-US" sz="1050" dirty="0"/>
          </a:p>
        </p:txBody>
      </p:sp>
      <p:sp>
        <p:nvSpPr>
          <p:cNvPr id="25" name="Text 23"/>
          <p:cNvSpPr/>
          <p:nvPr/>
        </p:nvSpPr>
        <p:spPr>
          <a:xfrm>
            <a:off x="2868168" y="2939796"/>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确认所用工具符合学校准入要求，准备探究日志模板，预先说明不得输入个人身份与家庭信息，并明确由谁操作工具。</a:t>
            </a:r>
            <a:endParaRPr lang="en-US" sz="1150" dirty="0"/>
          </a:p>
        </p:txBody>
      </p:sp>
      <p:sp>
        <p:nvSpPr>
          <p:cNvPr id="26" name="Shape 24"/>
          <p:cNvSpPr/>
          <p:nvPr/>
        </p:nvSpPr>
        <p:spPr>
          <a:xfrm>
            <a:off x="1295400" y="3396996"/>
            <a:ext cx="9981895" cy="0"/>
          </a:xfrm>
          <a:prstGeom prst="line">
            <a:avLst/>
          </a:prstGeom>
          <a:noFill/>
          <a:ln w="12700">
            <a:solidFill>
              <a:srgbClr val="D9E2EF"/>
            </a:solidFill>
            <a:prstDash val="solid"/>
          </a:ln>
        </p:spPr>
      </p:sp>
      <p:sp>
        <p:nvSpPr>
          <p:cNvPr id="27" name="Text 25"/>
          <p:cNvSpPr/>
          <p:nvPr/>
        </p:nvSpPr>
        <p:spPr>
          <a:xfrm>
            <a:off x="1459992" y="3488436"/>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学生产出</a:t>
            </a:r>
            <a:endParaRPr lang="en-US" sz="1050" dirty="0"/>
          </a:p>
        </p:txBody>
      </p:sp>
      <p:sp>
        <p:nvSpPr>
          <p:cNvPr id="28" name="Text 26"/>
          <p:cNvSpPr/>
          <p:nvPr/>
        </p:nvSpPr>
        <p:spPr>
          <a:xfrm>
            <a:off x="2868168" y="3470148"/>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提交提示词对照方案、提示词与生成结果原文、差异分析、学生自己的判断，以及经讨论形成的使用建议。</a:t>
            </a:r>
            <a:endParaRPr lang="en-US" sz="1150" dirty="0"/>
          </a:p>
        </p:txBody>
      </p:sp>
      <p:sp>
        <p:nvSpPr>
          <p:cNvPr id="29" name="Shape 27"/>
          <p:cNvSpPr/>
          <p:nvPr/>
        </p:nvSpPr>
        <p:spPr>
          <a:xfrm>
            <a:off x="1295400" y="3927348"/>
            <a:ext cx="9981895" cy="0"/>
          </a:xfrm>
          <a:prstGeom prst="line">
            <a:avLst/>
          </a:prstGeom>
          <a:noFill/>
          <a:ln w="12700">
            <a:solidFill>
              <a:srgbClr val="D9E2EF"/>
            </a:solidFill>
            <a:prstDash val="solid"/>
          </a:ln>
        </p:spPr>
      </p:sp>
      <p:sp>
        <p:nvSpPr>
          <p:cNvPr id="30" name="Text 28"/>
          <p:cNvSpPr/>
          <p:nvPr/>
        </p:nvSpPr>
        <p:spPr>
          <a:xfrm>
            <a:off x="1459992" y="4018788"/>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教师观察</a:t>
            </a:r>
            <a:endParaRPr lang="en-US" sz="1050" dirty="0"/>
          </a:p>
        </p:txBody>
      </p:sp>
      <p:sp>
        <p:nvSpPr>
          <p:cNvPr id="31" name="Text 29"/>
          <p:cNvSpPr/>
          <p:nvPr/>
        </p:nvSpPr>
        <p:spPr>
          <a:xfrm>
            <a:off x="2868168" y="4000500"/>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观察每次比较是否只改变一个条件，记录是否忠实保留原文，判断是否引用对照结果，使用建议是否由学生讨论形成。</a:t>
            </a:r>
            <a:endParaRPr lang="en-US" sz="1150" dirty="0"/>
          </a:p>
        </p:txBody>
      </p:sp>
      <p:sp>
        <p:nvSpPr>
          <p:cNvPr id="32" name="Shape 30"/>
          <p:cNvSpPr/>
          <p:nvPr/>
        </p:nvSpPr>
        <p:spPr>
          <a:xfrm>
            <a:off x="1295400" y="4457700"/>
            <a:ext cx="9981895" cy="0"/>
          </a:xfrm>
          <a:prstGeom prst="line">
            <a:avLst/>
          </a:prstGeom>
          <a:noFill/>
          <a:ln w="12700">
            <a:solidFill>
              <a:srgbClr val="D9E2EF"/>
            </a:solidFill>
            <a:prstDash val="solid"/>
          </a:ln>
        </p:spPr>
      </p:sp>
      <p:sp>
        <p:nvSpPr>
          <p:cNvPr id="33" name="Text 31"/>
          <p:cNvSpPr/>
          <p:nvPr/>
        </p:nvSpPr>
        <p:spPr>
          <a:xfrm>
            <a:off x="1459992" y="4549140"/>
            <a:ext cx="1234440" cy="402336"/>
          </a:xfrm>
          <a:prstGeom prst="rect">
            <a:avLst/>
          </a:prstGeom>
          <a:noFill/>
          <a:ln/>
        </p:spPr>
        <p:txBody>
          <a:bodyPr wrap="square" lIns="0" tIns="0" rIns="0" bIns="0" rtlCol="0" anchor="t"/>
          <a:lstStyle/>
          <a:p>
            <a:pPr indent="0" marL="0">
              <a:buNone/>
            </a:pPr>
            <a:r>
              <a:rPr lang="en-US" sz="1050" b="1" dirty="0">
                <a:solidFill>
                  <a:srgbClr val="A8421F"/>
                </a:solidFill>
                <a:latin typeface="Microsoft YaHei" pitchFamily="34" charset="0"/>
                <a:ea typeface="Microsoft YaHei" pitchFamily="34" charset="-122"/>
                <a:cs typeface="Microsoft YaHei" pitchFamily="34" charset="-120"/>
              </a:rPr>
              <a:t>条件受限时</a:t>
            </a:r>
            <a:endParaRPr lang="en-US" sz="1050" dirty="0"/>
          </a:p>
        </p:txBody>
      </p:sp>
      <p:sp>
        <p:nvSpPr>
          <p:cNvPr id="34" name="Text 32"/>
          <p:cNvSpPr/>
          <p:nvPr/>
        </p:nvSpPr>
        <p:spPr>
          <a:xfrm>
            <a:off x="2868168" y="4530852"/>
            <a:ext cx="8226247" cy="420624"/>
          </a:xfrm>
          <a:prstGeom prst="rect">
            <a:avLst/>
          </a:prstGeom>
          <a:noFill/>
          <a:ln/>
        </p:spPr>
        <p:txBody>
          <a:bodyPr wrap="square" lIns="0" tIns="0" rIns="0" bIns="0" rtlCol="0" anchor="t"/>
          <a:lstStyle/>
          <a:p>
            <a:pPr indent="0" marL="0">
              <a:lnSpc>
                <a:spcPct val="148000"/>
              </a:lnSpc>
              <a:buNone/>
            </a:pPr>
            <a:r>
              <a:rPr lang="en-US" sz="1150" dirty="0">
                <a:solidFill>
                  <a:srgbClr val="27364A"/>
                </a:solidFill>
                <a:latin typeface="Microsoft YaHei" pitchFamily="34" charset="0"/>
                <a:ea typeface="Microsoft YaHei" pitchFamily="34" charset="-122"/>
                <a:cs typeface="Microsoft YaHei" pitchFamily="34" charset="-120"/>
              </a:rPr>
              <a:t>小学阶段不安排学生独自使用开放式内容生成功能。可由教师统一操作与投影，学生负责设计提示词、记录结果并完成比较。</a:t>
            </a:r>
            <a:endParaRPr lang="en-US" sz="1150" dirty="0"/>
          </a:p>
        </p:txBody>
      </p:sp>
      <p:sp>
        <p:nvSpPr>
          <p:cNvPr id="35" name="Shape 33"/>
          <p:cNvSpPr/>
          <p:nvPr/>
        </p:nvSpPr>
        <p:spPr>
          <a:xfrm>
            <a:off x="1295400" y="4988052"/>
            <a:ext cx="9981895" cy="0"/>
          </a:xfrm>
          <a:prstGeom prst="line">
            <a:avLst/>
          </a:prstGeom>
          <a:noFill/>
          <a:ln w="12700">
            <a:solidFill>
              <a:srgbClr val="D9E2EF"/>
            </a:solidFill>
            <a:prstDash val="solid"/>
          </a:ln>
        </p:spPr>
      </p:sp>
      <p:sp>
        <p:nvSpPr>
          <p:cNvPr id="36" name="Shape 34"/>
          <p:cNvSpPr/>
          <p:nvPr/>
        </p:nvSpPr>
        <p:spPr>
          <a:xfrm>
            <a:off x="1295400" y="5134356"/>
            <a:ext cx="9981895" cy="658368"/>
          </a:xfrm>
          <a:prstGeom prst="rect">
            <a:avLst/>
          </a:prstGeom>
          <a:solidFill>
            <a:srgbClr val="FCF2EC"/>
          </a:solidFill>
          <a:ln w="12700">
            <a:solidFill>
              <a:srgbClr val="DFB09C"/>
            </a:solidFill>
            <a:prstDash val="solid"/>
          </a:ln>
        </p:spPr>
      </p:sp>
      <p:sp>
        <p:nvSpPr>
          <p:cNvPr id="37" name="Shape 35"/>
          <p:cNvSpPr/>
          <p:nvPr/>
        </p:nvSpPr>
        <p:spPr>
          <a:xfrm>
            <a:off x="1295400" y="5134356"/>
            <a:ext cx="38100" cy="658368"/>
          </a:xfrm>
          <a:prstGeom prst="rect">
            <a:avLst/>
          </a:prstGeom>
          <a:solidFill>
            <a:srgbClr val="C2552F"/>
          </a:solidFill>
          <a:ln w="12700">
            <a:solidFill>
              <a:srgbClr val="C2552F"/>
            </a:solidFill>
            <a:prstDash val="solid"/>
          </a:ln>
        </p:spPr>
      </p:sp>
      <p:sp>
        <p:nvSpPr>
          <p:cNvPr id="38" name="Text 36"/>
          <p:cNvSpPr/>
          <p:nvPr/>
        </p:nvSpPr>
        <p:spPr>
          <a:xfrm>
            <a:off x="1514856" y="5225796"/>
            <a:ext cx="1298448" cy="201168"/>
          </a:xfrm>
          <a:prstGeom prst="rect">
            <a:avLst/>
          </a:prstGeom>
          <a:noFill/>
          <a:ln/>
        </p:spPr>
        <p:txBody>
          <a:bodyPr wrap="square" lIns="0" tIns="0" rIns="0" bIns="0" rtlCol="0" anchor="ctr"/>
          <a:lstStyle/>
          <a:p>
            <a:pPr indent="0" marL="0">
              <a:buNone/>
            </a:pPr>
            <a:r>
              <a:rPr lang="en-US" sz="950" b="1" dirty="0">
                <a:solidFill>
                  <a:srgbClr val="081B3A"/>
                </a:solidFill>
                <a:latin typeface="Microsoft YaHei" pitchFamily="34" charset="0"/>
                <a:ea typeface="Microsoft YaHei" pitchFamily="34" charset="-122"/>
                <a:cs typeface="Microsoft YaHei" pitchFamily="34" charset="-120"/>
              </a:rPr>
              <a:t>最低完成标准</a:t>
            </a:r>
            <a:endParaRPr lang="en-US" sz="950" dirty="0"/>
          </a:p>
        </p:txBody>
      </p:sp>
      <p:sp>
        <p:nvSpPr>
          <p:cNvPr id="39" name="Text 37"/>
          <p:cNvSpPr/>
          <p:nvPr/>
        </p:nvSpPr>
        <p:spPr>
          <a:xfrm>
            <a:off x="2868168" y="5207508"/>
            <a:ext cx="8189671" cy="530352"/>
          </a:xfrm>
          <a:prstGeom prst="rect">
            <a:avLst/>
          </a:prstGeom>
          <a:noFill/>
          <a:ln/>
        </p:spPr>
        <p:txBody>
          <a:bodyPr wrap="square" lIns="0" tIns="0" rIns="0" bIns="0" rtlCol="0" anchor="t"/>
          <a:lstStyle/>
          <a:p>
            <a:pPr indent="0" marL="0">
              <a:lnSpc>
                <a:spcPct val="142000"/>
              </a:lnSpc>
              <a:buNone/>
            </a:pPr>
            <a:r>
              <a:rPr lang="en-US" sz="1050" dirty="0">
                <a:solidFill>
                  <a:srgbClr val="5F7088"/>
                </a:solidFill>
                <a:latin typeface="Microsoft YaHei" pitchFamily="34" charset="0"/>
                <a:ea typeface="Microsoft YaHei" pitchFamily="34" charset="-122"/>
                <a:cs typeface="Microsoft YaHei" pitchFamily="34" charset="-120"/>
              </a:rPr>
              <a:t>对照条件清楚，交互记录完整，规律来自学生自己的比较，最终建议由学生依据记录作出。</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2026-08-22T13:09:04Z</dcterms:created>
  <dcterms:modified xsi:type="dcterms:W3CDTF">2026-08-22T13:09:04Z</dcterms:modified>
</cp:coreProperties>
</file>