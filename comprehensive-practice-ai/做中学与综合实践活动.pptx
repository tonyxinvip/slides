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开场不出现 AI。这一段只交代一件事实：有一份文件，九月落地。整段八分钟，节奏放慢，让台下先坐定。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先念文件名、文号、日期，再念人民日报那一句。不评论，不引申。台下多数人还没听说过这份文件，给他们时间把名字记住。做中学不是新词，2001 年教育部与中国科协共同发起过做中学科学教育改革工作，这句话对老教师能省很多解释成本，口头带一句即可。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逐字念六个环节。念完停一下，再说两句消解焦虑的话：第一，1—3 年级不另作要求，低段的老师这学期可以先不动；第二，这份文件从头到尾没有要求综合实践活动教师讲授科学原理，它要求的是学生走完这六个环节。台下最怕的是我不是科学老师讲不了，这句话要说得清楚。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这一页是给台下建坐标，不做评论。重点提两件事：2017 纲要至今未废止，这门课的目标与活动方式仍然按它走；2022 方案把劳动和信息科技从综合实践活动里独立出去了，所以这门课现在的定位是跨学科研究性学习与社会实践。这一页是 B 档，60 分钟版删掉，直接从第 5 页开始。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只念，不讲定义。讲定义会掉人，而且台下比我熟。这八个词的作用是当下一页的对照基准，定义靠对比自己出来。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与上一页并置着看。做中学对这门课做了两件事：加密，把探究拆成六个环节并要求走完；提标，引入识别变量、控制变量、证据推理、误差分析这些方法论要求，2017 纲要里没有写得这么硬。小学学段要求能识别变量、制订简单的探究方案，初中学段要求应用控制变量方法、制订比较完整的探究方案。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全场的支点，慢讲。做中学是这门课探究与物化那半边，做了加密与提标。它没有覆盖社会服务与职业体验，对责任担当的处理停在态度表述上，没有要求学生对他人或社区做任何事；价值体认走的是主题绑定的路径，与 2017 纲要从个体生活、社会生活及与大自然的接触中获得体验的路径不同。这个判断的意义在于：这不是外来入侵，是自家课程的一个子集被单独拎出来提了要求。台下的抵触情绪主要在这一页化解。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场脊柱，整场只出现这一次。说完停三秒。接着给两个具体补法，都从指南原文抠出来，不加自己的发挥：第一，把附件任务末尾的交流分享改成有对象、有回应、有留痕的行动，责任担当就落地了，任务结构没变；第二，指南社会协同条款写了鼓励有条件的学校邀请科学家、工程师等专业技术人员对学生的科学探究实践过程和结果进行指导评价，同一次到访，安排成点评就只是评价资源，安排成学生带问题清单提问对方的日常工作与判断依据，就是职业体验。差别在设计，不在成本。补这两个缺口不需要学科知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现场投票，先甲后乙，数一下大致比例，不要急着揭晓。两份都是虚构的平行案例，不涉及任何真实学生，这一点在揭晓页说明。B 档页，60 分钟版整块删掉，直接从第 11 页的冲击强度图进入。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必须讲明两份都是虚构的，不用真实学生作业。揭晓的落点不是嘲笑 AI 写得假，恰恰相反，乙写得比甲好，按纸面标准该给乙高分。问题在于评的是纸面。这就把成果不可信这件事从断言变成了台下刚刚亲历的判断。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排序的理由，不要讲成结论。考察探究受冲击最重，因为它的全部产出都是文本。设计制作次之，因为实物还要动手，但设计方案这一步已经不稀缺。社会服务与职业体验最轻，理由只有一条：身体必须在场，AI 替不了学生站到社区居民面前。页脚那句话要主动说出来，这是判断不是数据，台下有懂研究的人会问。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这一页是本场唯一一个需要把两条线索接起来的地方，讲慢。第一段说社会服务与职业体验是做中学的缺口，也就是综合实践老师的专业位置；刚才那张图说这两种方式受 AI 冲击最轻，因为身体必须在场。两件事叠起来的结论是：你们的专业位置，恰好也是最不容易被替代的位置。这句话对台下是实的，不是安慰。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过渡页，一分钟带过。不要在这里展开，展开的地方在第三段。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念，不评论。这六条台下比我熟，念的时候慢一点，让他们在心里对号。不要加一句这些问题很严重之类的话，念完直接进下一页。这一段的作用是先把公认的事实摆齐，再谈 AI 会往哪边推。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只用这一组数据，不要再加第二组。多讲会让台下感到被指责，而这一段需要的只是把真问题这件事坐实。最后那句话一定要说出来：这是全国普遍现象，不是深圳的问题。B 档页，60 分钟版删。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全场第一张表。三列念完就停，不要点破规律。规律是：左列全在学生侧，中列全在教师侧。留给老师自己看出来，到第 19 页再收。第三列是这场讲座可信度的来源之一，要念得实：AI 解决不了课时被挤占，解决不了师资兼任，解决不了基地质量，也替不了综评的公示签字。谁说 AI 能解决这些，谁在卖东西。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这三个词是夏雪梅团队的反面清单，出处是 2022 年国家级教学成果一等奖，讲的时候把出处带上，台下有人会记下来去查。落点是最后那句：空心项目原本还看得出来空，因为成果糙；AI 一进来，成果不糙了，空就藏住了。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这一页是全场可信度的支点，不能省，也不能夸大。先讲设计再讲结果，顺序不要颠倒。要主动说样本是大学生，中小学不能直接套数值，但机制一样：AI 把产出做好了，学生跳过了产生那个产出所需要的思考。边界条件那两条也要讲：国内两项元分析一致显示，干预时间长、样本量大的时候效应会转负或不显著，这提示很多宣传依据的是小规模短周期的演示效应。B 档页，60 分钟版删掉，但这条证据要留在口袋里，有人质疑时口头拿出来。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整屏一句。说完停。这里可以把三分表的规律点破了：刚才那张表，左边一列全是学生侧的事，右边一列全是教师侧的事。AI 用在教师身上是减负，用在学生身上是替他把课上了。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这是老师今天要带走的第一样东西。三问的顺序不能调：先想能力，再看替代，最后才谈补救。多数人是倒着想的，先看工具能干什么，再倒推该不该用，那样一定会用过头。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句话页。这句话是三问的压缩版，讲完停一下。指南写了鼓励学生大胆尝试，包容失败，在面对具有不确定性的问题时，通过不断试错、反思、改进等，寻求问题解决方案，体验科学探索的曲折过程。这门课的教学资产就是试错空间，而生成式 AI 的默认行为是把试错空间关掉。B 档页。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带走物。告诉老师这一页会随讲义发，或者自己照着画一张也行，格子不重要，三个问题重要。下一段用生命健康的两个任务把这张表当场填一遍，填完这张表就有样子了。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给形状，下一段用案例把形状填实。要讲准两件事：一是内核指的是六个环节这条主干，外圈指的是任务前的背景检索和任务后的表达传播，不是六个环节内部两端放；二是六个环节自己的走势是前紧后松，越往后越可以放。反直觉那句要停一下，台下多半心里想的正是让 AI 帮忙出主意。解释一句：想点子这一步产生的是问题意识，而问题意识是四个评价维度里唯一只能从这一步来的东西，替掉就没有别的地方补。这个收放配置是依据评价维度推演出来的专业主张，指南只写了辅助两个字，讲的时候要说成建议，不冒充政策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先说清楚一件事：附件任务写的是四步，指南正文要求的是六个环节，这两套不是一一对应的。接下来六页做的就是把四步摊成六个环节，顺便在每个环节上定 AI 的刻度。这个动作老师回去对着任何一个附件任务都能重做一遍。也要说清楚附件是参考不是规定动作。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这一步产生的评价证据是问题意识，而问题意识在四个评价维度里只有这一个来源，别处补不回来。AI 的默认危害是直接给出一个可探究的问题，学生就跳过了从现象到问题的转化。所以这一步收。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小学学段的要求是能识别变量、制订简单的探究方案，初中学段是应用控制变量方法、制订比较完整的探究方案。差别就在这里。让 AI 挑毛病是个好用的动作：学生得先有方案才能被挑，挑完还得自己判断改不改。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这一页有红线，要讲清楚。《中小学生成式人工智能使用指南（2025 年版）》要求学校建立工具白名单，严禁输入考试试题、个人身份信息等敏感数据。健康饮食这个任务本身就要用体质健康监测数据，所以必须在任务单上写死代号规则，不能靠学生自觉。AI 在这一步的默认危害是生成看起来合理的数据，一旦原始数据不是自己测的，后面全都不成立。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整场最该收紧的一步，比提出问题还紧。这一步产生的评价证据是反思改进能力。AI 对着一组异常数据能给出一个听上去很合理的解释，学生就不会再对它产生疑问了。指南的包容失败条款落在这里，附件任务里也反复出现如果任务完成没有达到预期效果、做好分析总结这类表述。把这句原文念出来，老师会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半放的边界在于：查资料是背景工作，出设计图是替学生做决定。这一步的评价证据同时落在探究实践能力和综合实践活动的创意物化上。要强调一版不算，测试之后必须改一版，这是做中学比 2017 纲要更硬的地方。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第一段那个缺口的兑现处。附件原文里健康饮食任务已经写了面向公众如社区居民开展科普宣传，这个朝外的口子是现成的，不用另外加课时。关键动作是事先约定对方给一次书面或口头答复，有回应才算服务，只展示不算。这一步也是职业体验的接口：请验光师或营养师来一次，学生带问题清单提问，而不是听讲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各一分钟带过，不展开。作用是说明刻度不是一刀切：低年级的生态调查可以整个任务学生不碰设备，初中的工程探究可以两端都开。决定刻度的是任务里哪一步是要学生经历的困难，不是学段，也不是主题。B 档页。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整屏一句，收第五段。说完停。这句话是六页走查的压缩，老师记住这一句就够了。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一句话页，接第五段的收放刻度。查重查不出 AI 写的东西，这一点台下多半已经知道。能用的办法只有两个：课时纪律，什么时候开设备什么时候不开；留痕表，用了就记下来。两个都是事前的。B 档页。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随任务单一起发，不要等到结题才补。要讲一个反直觉的好处：老师最怕的是过程性证据难收集，而 AI 交互天然是结构化、带时间戳、可复现的，这张表反而是四个评价维度里最容易采集的一份证据。第四栏是关键，前三栏都是记录，第四栏是判断。学生写不出第四栏，说明他没改，那本身就是评价信息。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这是老师要带走的第二样东西，也是最便宜的一样。三问问的都是过程，不问结论，所以背不出来。第三问最狠：答不上来说明他没验证过，那这份成果就是拿来的。如果今天只能记住一件事，记这三问。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这条链说明的是：过程证据不是给我自己看的，它有制度出口。2017 纲要对档案袋的要求是事实材料要真实、有据可查，指南要求纳入综合素质评价档案。所以留痕这件事不是多做的功课，是这条链的入口。深圳那一句要念准，写实记录须有佐证材料、签字、公示，不要说成 AI 素养已经纳入综合素质评价，教育部、广东、深圳的文件都是鼓励探索，只能说对接或探索纳入。B 档页。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条逐条念。第一条要补一句：识别类工具属于分类判别，不属于开放式内容生成，教师在场的课堂上用不触碰小学阶段的红线，这一条要主动讲，否则老师会因为不确定而整体回避。第四条的分寸要拿准，标识办法管的是网络信息服务提供者，说成学生必须标注是拔高了，说成诚信要求就对了。初中阶段可适度探索生成内容的逻辑性分析，这一句也可以带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指南列的评价主体就是这四类，里面没有 AI。用 AI 自动批阅探究日志、自动生成评语并直接进档案，超出了这份文件授权的范围。这一页是给老师的保护，不是限制：出了问题，签字的人担责，那么判断权也必须在签字的人手上。B 档页。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场第二张表，也是最后一张。这里讲的是工具类别，不是某个产品，老师用手上任何一款都对得上。要提醒一句：多数人做智能体的第一直觉是做答疑助手，而答疑助手正好落在提出问题和解释结论这两步，跟前面一小时讲的完全相反。要做就做一个只提问、不回答的，方案挑刺员或者答辩追问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收尾即停，不做展望。顺序是有讲究的：先有真问题，才谈得上给方案挑刺；先有方案和挑刺记录，留痕才有东西可留。谁上来就做第二件，多半会做成答疑助手。说完这三件就结束，不要再加一段升华。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末页停留时间长一点，让要拍照的人拍完。三条说明都要念，尤其第三条：把自己的判断和政策规定分开，这是这场讲座可信度的最后一道保障。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01 · A</a:t>
            </a:r>
            <a:endParaRPr lang="en-US" sz="900" dirty="0"/>
          </a:p>
        </p:txBody>
      </p:sp>
      <p:sp>
        <p:nvSpPr>
          <p:cNvPr id="3" name="Text 1"/>
          <p:cNvSpPr/>
          <p:nvPr/>
        </p:nvSpPr>
        <p:spPr>
          <a:xfrm>
            <a:off x="685800" y="1600200"/>
            <a:ext cx="10820095" cy="274320"/>
          </a:xfrm>
          <a:prstGeom prst="rect">
            <a:avLst/>
          </a:prstGeom>
          <a:noFill/>
          <a:ln/>
        </p:spPr>
        <p:txBody>
          <a:bodyPr wrap="square" lIns="0" tIns="0" rIns="0" bIns="0" rtlCol="0" anchor="ctr"/>
          <a:lstStyle/>
          <a:p>
            <a:pPr indent="0" marL="0">
              <a:buNone/>
            </a:pPr>
            <a:r>
              <a:rPr lang="en-US" sz="1400" spc="200" kern="0" dirty="0">
                <a:solidFill>
                  <a:srgbClr val="5A6472"/>
                </a:solidFill>
                <a:latin typeface="Microsoft YaHei" pitchFamily="34" charset="0"/>
                <a:ea typeface="Microsoft YaHei" pitchFamily="34" charset="-122"/>
                <a:cs typeface="Microsoft YaHei" pitchFamily="34" charset="-120"/>
              </a:rPr>
              <a:t>综合实践活动教师专题</a:t>
            </a:r>
            <a:endParaRPr lang="en-US" sz="1400" dirty="0"/>
          </a:p>
        </p:txBody>
      </p:sp>
      <p:sp>
        <p:nvSpPr>
          <p:cNvPr id="4" name="Text 2"/>
          <p:cNvSpPr/>
          <p:nvPr/>
        </p:nvSpPr>
        <p:spPr>
          <a:xfrm>
            <a:off x="685800" y="1965960"/>
            <a:ext cx="10820095" cy="868680"/>
          </a:xfrm>
          <a:prstGeom prst="rect">
            <a:avLst/>
          </a:prstGeom>
          <a:noFill/>
          <a:ln/>
        </p:spPr>
        <p:txBody>
          <a:bodyPr wrap="square" lIns="0" tIns="0" rIns="0" bIns="0" rtlCol="0" anchor="ctr"/>
          <a:lstStyle/>
          <a:p>
            <a:pPr indent="0" marL="0">
              <a:buNone/>
            </a:pPr>
            <a:r>
              <a:rPr lang="en-US" sz="4800" b="1" dirty="0">
                <a:solidFill>
                  <a:srgbClr val="1A2029"/>
                </a:solidFill>
                <a:latin typeface="Microsoft YaHei" pitchFamily="34" charset="0"/>
                <a:ea typeface="Microsoft YaHei" pitchFamily="34" charset="-122"/>
                <a:cs typeface="Microsoft YaHei" pitchFamily="34" charset="-120"/>
              </a:rPr>
              <a:t>做中学与综合实践活动</a:t>
            </a:r>
            <a:endParaRPr lang="en-US" sz="4800" dirty="0"/>
          </a:p>
        </p:txBody>
      </p:sp>
      <p:sp>
        <p:nvSpPr>
          <p:cNvPr id="5" name="Text 3"/>
          <p:cNvSpPr/>
          <p:nvPr/>
        </p:nvSpPr>
        <p:spPr>
          <a:xfrm>
            <a:off x="685800" y="2880360"/>
            <a:ext cx="10820095" cy="411480"/>
          </a:xfrm>
          <a:prstGeom prst="rect">
            <a:avLst/>
          </a:prstGeom>
          <a:noFill/>
          <a:ln/>
        </p:spPr>
        <p:txBody>
          <a:bodyPr wrap="square" lIns="0" tIns="0" rIns="0" bIns="0" rtlCol="0" anchor="ctr"/>
          <a:lstStyle/>
          <a:p>
            <a:pPr indent="0" marL="0">
              <a:buNone/>
            </a:pPr>
            <a:r>
              <a:rPr lang="en-US" sz="2100" dirty="0">
                <a:solidFill>
                  <a:srgbClr val="5A6472"/>
                </a:solidFill>
                <a:latin typeface="Microsoft YaHei" pitchFamily="34" charset="0"/>
                <a:ea typeface="Microsoft YaHei" pitchFamily="34" charset="-122"/>
                <a:cs typeface="Microsoft YaHei" pitchFamily="34" charset="-120"/>
              </a:rPr>
              <a:t>AI 在任务链条上的位置</a:t>
            </a:r>
            <a:endParaRPr lang="en-US" sz="2100" dirty="0"/>
          </a:p>
        </p:txBody>
      </p:sp>
      <p:sp>
        <p:nvSpPr>
          <p:cNvPr id="6" name="Shape 4"/>
          <p:cNvSpPr/>
          <p:nvPr/>
        </p:nvSpPr>
        <p:spPr>
          <a:xfrm>
            <a:off x="685800" y="3611880"/>
            <a:ext cx="1481328" cy="384048"/>
          </a:xfrm>
          <a:prstGeom prst="rect">
            <a:avLst/>
          </a:prstGeom>
          <a:solidFill>
            <a:srgbClr val="FFFFFF"/>
          </a:solidFill>
          <a:ln w="12700">
            <a:solidFill>
              <a:srgbClr val="E2E6EA"/>
            </a:solidFill>
            <a:prstDash val="solid"/>
          </a:ln>
        </p:spPr>
      </p:sp>
      <p:sp>
        <p:nvSpPr>
          <p:cNvPr id="7" name="Text 5"/>
          <p:cNvSpPr/>
          <p:nvPr/>
        </p:nvSpPr>
        <p:spPr>
          <a:xfrm>
            <a:off x="685800"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提出问题和假设</a:t>
            </a:r>
            <a:endParaRPr lang="en-US" sz="1000" dirty="0"/>
          </a:p>
        </p:txBody>
      </p:sp>
      <p:sp>
        <p:nvSpPr>
          <p:cNvPr id="8" name="Shape 6"/>
          <p:cNvSpPr/>
          <p:nvPr/>
        </p:nvSpPr>
        <p:spPr>
          <a:xfrm>
            <a:off x="2167128" y="3803904"/>
            <a:ext cx="146304" cy="0"/>
          </a:xfrm>
          <a:prstGeom prst="line">
            <a:avLst/>
          </a:prstGeom>
          <a:noFill/>
          <a:ln w="12700">
            <a:solidFill>
              <a:srgbClr val="E2E6EA"/>
            </a:solidFill>
            <a:prstDash val="solid"/>
          </a:ln>
        </p:spPr>
      </p:sp>
      <p:sp>
        <p:nvSpPr>
          <p:cNvPr id="9" name="Shape 7"/>
          <p:cNvSpPr/>
          <p:nvPr/>
        </p:nvSpPr>
        <p:spPr>
          <a:xfrm>
            <a:off x="2313432" y="3611880"/>
            <a:ext cx="1481328" cy="384048"/>
          </a:xfrm>
          <a:prstGeom prst="rect">
            <a:avLst/>
          </a:prstGeom>
          <a:solidFill>
            <a:srgbClr val="FFFFFF"/>
          </a:solidFill>
          <a:ln w="12700">
            <a:solidFill>
              <a:srgbClr val="E2E6EA"/>
            </a:solidFill>
            <a:prstDash val="solid"/>
          </a:ln>
        </p:spPr>
      </p:sp>
      <p:sp>
        <p:nvSpPr>
          <p:cNvPr id="10" name="Text 8"/>
          <p:cNvSpPr/>
          <p:nvPr/>
        </p:nvSpPr>
        <p:spPr>
          <a:xfrm>
            <a:off x="2313432"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设计方案</a:t>
            </a:r>
            <a:endParaRPr lang="en-US" sz="1000" dirty="0"/>
          </a:p>
        </p:txBody>
      </p:sp>
      <p:sp>
        <p:nvSpPr>
          <p:cNvPr id="11" name="Shape 9"/>
          <p:cNvSpPr/>
          <p:nvPr/>
        </p:nvSpPr>
        <p:spPr>
          <a:xfrm>
            <a:off x="3794760" y="3803904"/>
            <a:ext cx="146304" cy="0"/>
          </a:xfrm>
          <a:prstGeom prst="line">
            <a:avLst/>
          </a:prstGeom>
          <a:noFill/>
          <a:ln w="12700">
            <a:solidFill>
              <a:srgbClr val="E2E6EA"/>
            </a:solidFill>
            <a:prstDash val="solid"/>
          </a:ln>
        </p:spPr>
      </p:sp>
      <p:sp>
        <p:nvSpPr>
          <p:cNvPr id="12" name="Shape 10"/>
          <p:cNvSpPr/>
          <p:nvPr/>
        </p:nvSpPr>
        <p:spPr>
          <a:xfrm>
            <a:off x="3941064" y="3611880"/>
            <a:ext cx="1481328" cy="384048"/>
          </a:xfrm>
          <a:prstGeom prst="rect">
            <a:avLst/>
          </a:prstGeom>
          <a:solidFill>
            <a:srgbClr val="FFFFFF"/>
          </a:solidFill>
          <a:ln w="12700">
            <a:solidFill>
              <a:srgbClr val="E2E6EA"/>
            </a:solidFill>
            <a:prstDash val="solid"/>
          </a:ln>
        </p:spPr>
      </p:sp>
      <p:sp>
        <p:nvSpPr>
          <p:cNvPr id="13" name="Text 11"/>
          <p:cNvSpPr/>
          <p:nvPr/>
        </p:nvSpPr>
        <p:spPr>
          <a:xfrm>
            <a:off x="3941064"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搜集分析证据</a:t>
            </a:r>
            <a:endParaRPr lang="en-US" sz="1000" dirty="0"/>
          </a:p>
        </p:txBody>
      </p:sp>
      <p:sp>
        <p:nvSpPr>
          <p:cNvPr id="14" name="Shape 12"/>
          <p:cNvSpPr/>
          <p:nvPr/>
        </p:nvSpPr>
        <p:spPr>
          <a:xfrm>
            <a:off x="5422392" y="3803904"/>
            <a:ext cx="146304" cy="0"/>
          </a:xfrm>
          <a:prstGeom prst="line">
            <a:avLst/>
          </a:prstGeom>
          <a:noFill/>
          <a:ln w="12700">
            <a:solidFill>
              <a:srgbClr val="E2E6EA"/>
            </a:solidFill>
            <a:prstDash val="solid"/>
          </a:ln>
        </p:spPr>
      </p:sp>
      <p:sp>
        <p:nvSpPr>
          <p:cNvPr id="15" name="Shape 13"/>
          <p:cNvSpPr/>
          <p:nvPr/>
        </p:nvSpPr>
        <p:spPr>
          <a:xfrm>
            <a:off x="5568696" y="3611880"/>
            <a:ext cx="1481328" cy="384048"/>
          </a:xfrm>
          <a:prstGeom prst="rect">
            <a:avLst/>
          </a:prstGeom>
          <a:solidFill>
            <a:srgbClr val="FFFFFF"/>
          </a:solidFill>
          <a:ln w="12700">
            <a:solidFill>
              <a:srgbClr val="E2E6EA"/>
            </a:solidFill>
            <a:prstDash val="solid"/>
          </a:ln>
        </p:spPr>
      </p:sp>
      <p:sp>
        <p:nvSpPr>
          <p:cNvPr id="16" name="Text 14"/>
          <p:cNvSpPr/>
          <p:nvPr/>
        </p:nvSpPr>
        <p:spPr>
          <a:xfrm>
            <a:off x="5568696"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得出结论并解释</a:t>
            </a:r>
            <a:endParaRPr lang="en-US" sz="1000" dirty="0"/>
          </a:p>
        </p:txBody>
      </p:sp>
      <p:sp>
        <p:nvSpPr>
          <p:cNvPr id="17" name="Shape 15"/>
          <p:cNvSpPr/>
          <p:nvPr/>
        </p:nvSpPr>
        <p:spPr>
          <a:xfrm>
            <a:off x="7050024" y="3803904"/>
            <a:ext cx="146304" cy="0"/>
          </a:xfrm>
          <a:prstGeom prst="line">
            <a:avLst/>
          </a:prstGeom>
          <a:noFill/>
          <a:ln w="12700">
            <a:solidFill>
              <a:srgbClr val="E2E6EA"/>
            </a:solidFill>
            <a:prstDash val="solid"/>
          </a:ln>
        </p:spPr>
      </p:sp>
      <p:sp>
        <p:nvSpPr>
          <p:cNvPr id="18" name="Shape 16"/>
          <p:cNvSpPr/>
          <p:nvPr/>
        </p:nvSpPr>
        <p:spPr>
          <a:xfrm>
            <a:off x="7196328" y="3611880"/>
            <a:ext cx="1481328" cy="384048"/>
          </a:xfrm>
          <a:prstGeom prst="rect">
            <a:avLst/>
          </a:prstGeom>
          <a:solidFill>
            <a:srgbClr val="FFFFFF"/>
          </a:solidFill>
          <a:ln w="12700">
            <a:solidFill>
              <a:srgbClr val="E2E6EA"/>
            </a:solidFill>
            <a:prstDash val="solid"/>
          </a:ln>
        </p:spPr>
      </p:sp>
      <p:sp>
        <p:nvSpPr>
          <p:cNvPr id="19" name="Text 17"/>
          <p:cNvSpPr/>
          <p:nvPr/>
        </p:nvSpPr>
        <p:spPr>
          <a:xfrm>
            <a:off x="7196328"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制作改进</a:t>
            </a:r>
            <a:endParaRPr lang="en-US" sz="1000" dirty="0"/>
          </a:p>
        </p:txBody>
      </p:sp>
      <p:sp>
        <p:nvSpPr>
          <p:cNvPr id="20" name="Shape 18"/>
          <p:cNvSpPr/>
          <p:nvPr/>
        </p:nvSpPr>
        <p:spPr>
          <a:xfrm>
            <a:off x="8677656" y="3803904"/>
            <a:ext cx="146304" cy="0"/>
          </a:xfrm>
          <a:prstGeom prst="line">
            <a:avLst/>
          </a:prstGeom>
          <a:noFill/>
          <a:ln w="12700">
            <a:solidFill>
              <a:srgbClr val="E2E6EA"/>
            </a:solidFill>
            <a:prstDash val="solid"/>
          </a:ln>
        </p:spPr>
      </p:sp>
      <p:sp>
        <p:nvSpPr>
          <p:cNvPr id="21" name="Shape 19"/>
          <p:cNvSpPr/>
          <p:nvPr/>
        </p:nvSpPr>
        <p:spPr>
          <a:xfrm>
            <a:off x="8823960" y="3611880"/>
            <a:ext cx="1481328" cy="384048"/>
          </a:xfrm>
          <a:prstGeom prst="rect">
            <a:avLst/>
          </a:prstGeom>
          <a:solidFill>
            <a:srgbClr val="FFFFFF"/>
          </a:solidFill>
          <a:ln w="12700">
            <a:solidFill>
              <a:srgbClr val="E2E6EA"/>
            </a:solidFill>
            <a:prstDash val="solid"/>
          </a:ln>
        </p:spPr>
      </p:sp>
      <p:sp>
        <p:nvSpPr>
          <p:cNvPr id="22" name="Text 20"/>
          <p:cNvSpPr/>
          <p:nvPr/>
        </p:nvSpPr>
        <p:spPr>
          <a:xfrm>
            <a:off x="8823960" y="3611880"/>
            <a:ext cx="1481328" cy="384048"/>
          </a:xfrm>
          <a:prstGeom prst="rect">
            <a:avLst/>
          </a:prstGeom>
          <a:noFill/>
          <a:ln/>
        </p:spPr>
        <p:txBody>
          <a:bodyPr wrap="square" lIns="0" tIns="0" rIns="0" bIns="0" rtlCol="0" anchor="ctr"/>
          <a:lstStyle/>
          <a:p>
            <a:pPr algn="ctr" indent="0" marL="0">
              <a:buNone/>
            </a:pPr>
            <a:r>
              <a:rPr lang="en-US" sz="1000" dirty="0">
                <a:solidFill>
                  <a:srgbClr val="33414F"/>
                </a:solidFill>
                <a:latin typeface="Microsoft YaHei" pitchFamily="34" charset="0"/>
                <a:ea typeface="Microsoft YaHei" pitchFamily="34" charset="-122"/>
                <a:cs typeface="Microsoft YaHei" pitchFamily="34" charset="-120"/>
              </a:rPr>
              <a:t>交流反思</a:t>
            </a:r>
            <a:endParaRPr lang="en-US" sz="1000" dirty="0"/>
          </a:p>
        </p:txBody>
      </p:sp>
      <p:sp>
        <p:nvSpPr>
          <p:cNvPr id="23" name="Text 21"/>
          <p:cNvSpPr/>
          <p:nvPr/>
        </p:nvSpPr>
        <p:spPr>
          <a:xfrm>
            <a:off x="685800" y="5623560"/>
            <a:ext cx="2011680" cy="219456"/>
          </a:xfrm>
          <a:prstGeom prst="rect">
            <a:avLst/>
          </a:prstGeom>
          <a:noFill/>
          <a:ln/>
        </p:spPr>
        <p:txBody>
          <a:bodyPr wrap="square" lIns="0" tIns="0" rIns="0" bIns="0" rtlCol="0" anchor="ctr"/>
          <a:lstStyle/>
          <a:p>
            <a:pPr indent="0" marL="0">
              <a:buNone/>
            </a:pPr>
            <a:r>
              <a:rPr lang="en-US" sz="1200" dirty="0">
                <a:solidFill>
                  <a:srgbClr val="5A6472"/>
                </a:solidFill>
                <a:latin typeface="Microsoft YaHei" pitchFamily="34" charset="0"/>
                <a:ea typeface="Microsoft YaHei" pitchFamily="34" charset="-122"/>
                <a:cs typeface="Microsoft YaHei" pitchFamily="34" charset="-120"/>
              </a:rPr>
              <a:t>主讲</a:t>
            </a:r>
            <a:endParaRPr lang="en-US" sz="1200" dirty="0"/>
          </a:p>
        </p:txBody>
      </p:sp>
      <p:sp>
        <p:nvSpPr>
          <p:cNvPr id="24" name="Text 22"/>
          <p:cNvSpPr/>
          <p:nvPr/>
        </p:nvSpPr>
        <p:spPr>
          <a:xfrm>
            <a:off x="685800" y="5870448"/>
            <a:ext cx="2011680"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辛海洋</a:t>
            </a:r>
            <a:endParaRPr lang="en-US" sz="1600" dirty="0"/>
          </a:p>
        </p:txBody>
      </p:sp>
      <p:sp>
        <p:nvSpPr>
          <p:cNvPr id="25" name="Text 23"/>
          <p:cNvSpPr/>
          <p:nvPr/>
        </p:nvSpPr>
        <p:spPr>
          <a:xfrm>
            <a:off x="2880360" y="5623560"/>
            <a:ext cx="2011680" cy="219456"/>
          </a:xfrm>
          <a:prstGeom prst="rect">
            <a:avLst/>
          </a:prstGeom>
          <a:noFill/>
          <a:ln/>
        </p:spPr>
        <p:txBody>
          <a:bodyPr wrap="square" lIns="0" tIns="0" rIns="0" bIns="0" rtlCol="0" anchor="ctr"/>
          <a:lstStyle/>
          <a:p>
            <a:pPr indent="0" marL="0">
              <a:buNone/>
            </a:pPr>
            <a:r>
              <a:rPr lang="en-US" sz="1200" dirty="0">
                <a:solidFill>
                  <a:srgbClr val="5A6472"/>
                </a:solidFill>
                <a:latin typeface="Microsoft YaHei" pitchFamily="34" charset="0"/>
                <a:ea typeface="Microsoft YaHei" pitchFamily="34" charset="-122"/>
                <a:cs typeface="Microsoft YaHei" pitchFamily="34" charset="-120"/>
              </a:rPr>
              <a:t>日期</a:t>
            </a:r>
            <a:endParaRPr lang="en-US" sz="1200" dirty="0"/>
          </a:p>
        </p:txBody>
      </p:sp>
      <p:sp>
        <p:nvSpPr>
          <p:cNvPr id="26" name="Text 24"/>
          <p:cNvSpPr/>
          <p:nvPr/>
        </p:nvSpPr>
        <p:spPr>
          <a:xfrm>
            <a:off x="2880360" y="5870448"/>
            <a:ext cx="2011680"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2026 年 8 月 21 日</a:t>
            </a:r>
            <a:endParaRPr lang="en-US" sz="1600" dirty="0"/>
          </a:p>
        </p:txBody>
      </p:sp>
      <p:sp>
        <p:nvSpPr>
          <p:cNvPr id="27" name="Text 25"/>
          <p:cNvSpPr/>
          <p:nvPr/>
        </p:nvSpPr>
        <p:spPr>
          <a:xfrm>
            <a:off x="5074920" y="5623560"/>
            <a:ext cx="2011680" cy="219456"/>
          </a:xfrm>
          <a:prstGeom prst="rect">
            <a:avLst/>
          </a:prstGeom>
          <a:noFill/>
          <a:ln/>
        </p:spPr>
        <p:txBody>
          <a:bodyPr wrap="square" lIns="0" tIns="0" rIns="0" bIns="0" rtlCol="0" anchor="ctr"/>
          <a:lstStyle/>
          <a:p>
            <a:pPr indent="0" marL="0">
              <a:buNone/>
            </a:pPr>
            <a:r>
              <a:rPr lang="en-US" sz="1200" dirty="0">
                <a:solidFill>
                  <a:srgbClr val="5A6472"/>
                </a:solidFill>
                <a:latin typeface="Microsoft YaHei" pitchFamily="34" charset="0"/>
                <a:ea typeface="Microsoft YaHei" pitchFamily="34" charset="-122"/>
                <a:cs typeface="Microsoft YaHei" pitchFamily="34" charset="-120"/>
              </a:rPr>
              <a:t>时长</a:t>
            </a:r>
            <a:endParaRPr lang="en-US" sz="1200" dirty="0"/>
          </a:p>
        </p:txBody>
      </p:sp>
      <p:sp>
        <p:nvSpPr>
          <p:cNvPr id="28" name="Text 26"/>
          <p:cNvSpPr/>
          <p:nvPr/>
        </p:nvSpPr>
        <p:spPr>
          <a:xfrm>
            <a:off x="5074920" y="5870448"/>
            <a:ext cx="2011680"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90 分钟</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02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一份七月底印发的文件</a:t>
            </a:r>
            <a:endParaRPr lang="en-US" sz="3600" dirty="0"/>
          </a:p>
        </p:txBody>
      </p:sp>
      <p:sp>
        <p:nvSpPr>
          <p:cNvPr id="4" name="Text 2"/>
          <p:cNvSpPr/>
          <p:nvPr/>
        </p:nvSpPr>
        <p:spPr>
          <a:xfrm>
            <a:off x="685800" y="1417320"/>
            <a:ext cx="10820095" cy="548640"/>
          </a:xfrm>
          <a:prstGeom prst="rect">
            <a:avLst/>
          </a:prstGeom>
          <a:noFill/>
          <a:ln/>
        </p:spPr>
        <p:txBody>
          <a:bodyPr wrap="square" lIns="0" tIns="0" rIns="0" bIns="0" rtlCol="0" anchor="ctr"/>
          <a:lstStyle/>
          <a:p>
            <a:pPr indent="0" marL="0">
              <a:lnSpc>
                <a:spcPct val="140000"/>
              </a:lnSpc>
              <a:buNone/>
            </a:pPr>
            <a:r>
              <a:rPr lang="en-US" sz="2400" dirty="0">
                <a:solidFill>
                  <a:srgbClr val="1A2029"/>
                </a:solidFill>
                <a:latin typeface="Microsoft YaHei" pitchFamily="34" charset="0"/>
                <a:ea typeface="Microsoft YaHei" pitchFamily="34" charset="-122"/>
                <a:cs typeface="Microsoft YaHei" pitchFamily="34" charset="-120"/>
              </a:rPr>
              <a:t>《义务教育阶段科学教育“做中学”领航行动指南》</a:t>
            </a:r>
            <a:endParaRPr lang="en-US" sz="2400" dirty="0"/>
          </a:p>
        </p:txBody>
      </p:sp>
      <p:sp>
        <p:nvSpPr>
          <p:cNvPr id="5" name="Shape 3"/>
          <p:cNvSpPr/>
          <p:nvPr/>
        </p:nvSpPr>
        <p:spPr>
          <a:xfrm>
            <a:off x="685800" y="2395728"/>
            <a:ext cx="2971800" cy="0"/>
          </a:xfrm>
          <a:prstGeom prst="line">
            <a:avLst/>
          </a:prstGeom>
          <a:noFill/>
          <a:ln w="25400">
            <a:solidFill>
              <a:srgbClr val="33414F"/>
            </a:solidFill>
            <a:prstDash val="solid"/>
          </a:ln>
        </p:spPr>
      </p:sp>
      <p:sp>
        <p:nvSpPr>
          <p:cNvPr id="6" name="Text 4"/>
          <p:cNvSpPr/>
          <p:nvPr/>
        </p:nvSpPr>
        <p:spPr>
          <a:xfrm>
            <a:off x="685800" y="2487168"/>
            <a:ext cx="2971800" cy="237744"/>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文号</a:t>
            </a:r>
            <a:endParaRPr lang="en-US" sz="1100" dirty="0"/>
          </a:p>
        </p:txBody>
      </p:sp>
      <p:sp>
        <p:nvSpPr>
          <p:cNvPr id="7" name="Text 5"/>
          <p:cNvSpPr/>
          <p:nvPr/>
        </p:nvSpPr>
        <p:spPr>
          <a:xfrm>
            <a:off x="685800" y="2743200"/>
            <a:ext cx="2971800" cy="292608"/>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教监管厅〔2026〕1 号</a:t>
            </a:r>
            <a:endParaRPr lang="en-US" sz="1600" dirty="0"/>
          </a:p>
        </p:txBody>
      </p:sp>
      <p:sp>
        <p:nvSpPr>
          <p:cNvPr id="8" name="Shape 6"/>
          <p:cNvSpPr/>
          <p:nvPr/>
        </p:nvSpPr>
        <p:spPr>
          <a:xfrm>
            <a:off x="3840480" y="2395728"/>
            <a:ext cx="2971800" cy="0"/>
          </a:xfrm>
          <a:prstGeom prst="line">
            <a:avLst/>
          </a:prstGeom>
          <a:noFill/>
          <a:ln w="25400">
            <a:solidFill>
              <a:srgbClr val="33414F"/>
            </a:solidFill>
            <a:prstDash val="solid"/>
          </a:ln>
        </p:spPr>
      </p:sp>
      <p:sp>
        <p:nvSpPr>
          <p:cNvPr id="9" name="Text 7"/>
          <p:cNvSpPr/>
          <p:nvPr/>
        </p:nvSpPr>
        <p:spPr>
          <a:xfrm>
            <a:off x="3840480" y="2487168"/>
            <a:ext cx="2971800" cy="237744"/>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印发</a:t>
            </a:r>
            <a:endParaRPr lang="en-US" sz="1100" dirty="0"/>
          </a:p>
        </p:txBody>
      </p:sp>
      <p:sp>
        <p:nvSpPr>
          <p:cNvPr id="10" name="Text 8"/>
          <p:cNvSpPr/>
          <p:nvPr/>
        </p:nvSpPr>
        <p:spPr>
          <a:xfrm>
            <a:off x="3840480" y="2743200"/>
            <a:ext cx="2971800" cy="292608"/>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教育部办公厅</a:t>
            </a:r>
            <a:endParaRPr lang="en-US" sz="1600" dirty="0"/>
          </a:p>
        </p:txBody>
      </p:sp>
      <p:sp>
        <p:nvSpPr>
          <p:cNvPr id="11" name="Shape 9"/>
          <p:cNvSpPr/>
          <p:nvPr/>
        </p:nvSpPr>
        <p:spPr>
          <a:xfrm>
            <a:off x="6995160" y="2395728"/>
            <a:ext cx="2971800" cy="0"/>
          </a:xfrm>
          <a:prstGeom prst="line">
            <a:avLst/>
          </a:prstGeom>
          <a:noFill/>
          <a:ln w="25400">
            <a:solidFill>
              <a:srgbClr val="33414F"/>
            </a:solidFill>
            <a:prstDash val="solid"/>
          </a:ln>
        </p:spPr>
      </p:sp>
      <p:sp>
        <p:nvSpPr>
          <p:cNvPr id="12" name="Text 10"/>
          <p:cNvSpPr/>
          <p:nvPr/>
        </p:nvSpPr>
        <p:spPr>
          <a:xfrm>
            <a:off x="6995160" y="2487168"/>
            <a:ext cx="2971800" cy="237744"/>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日期</a:t>
            </a:r>
            <a:endParaRPr lang="en-US" sz="1100" dirty="0"/>
          </a:p>
        </p:txBody>
      </p:sp>
      <p:sp>
        <p:nvSpPr>
          <p:cNvPr id="13" name="Text 11"/>
          <p:cNvSpPr/>
          <p:nvPr/>
        </p:nvSpPr>
        <p:spPr>
          <a:xfrm>
            <a:off x="6995160" y="2743200"/>
            <a:ext cx="2971800" cy="292608"/>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2026 年 7 月 29 日</a:t>
            </a:r>
            <a:endParaRPr lang="en-US" sz="1600" dirty="0"/>
          </a:p>
        </p:txBody>
      </p:sp>
      <p:sp>
        <p:nvSpPr>
          <p:cNvPr id="14" name="Text 12"/>
          <p:cNvSpPr/>
          <p:nvPr/>
        </p:nvSpPr>
        <p:spPr>
          <a:xfrm>
            <a:off x="685800" y="3886200"/>
            <a:ext cx="10271455" cy="914400"/>
          </a:xfrm>
          <a:prstGeom prst="rect">
            <a:avLst/>
          </a:prstGeom>
          <a:noFill/>
          <a:ln/>
        </p:spPr>
        <p:txBody>
          <a:bodyPr wrap="square" lIns="0" tIns="0" rIns="0" bIns="0" rtlCol="0" anchor="t"/>
          <a:lstStyle/>
          <a:p>
            <a:pPr indent="0" marL="0">
              <a:lnSpc>
                <a:spcPct val="145000"/>
              </a:lnSpc>
              <a:buNone/>
            </a:pPr>
            <a:r>
              <a:rPr lang="en-US" sz="2100" dirty="0">
                <a:solidFill>
                  <a:srgbClr val="1A2029"/>
                </a:solidFill>
                <a:latin typeface="Microsoft YaHei" pitchFamily="34" charset="0"/>
                <a:ea typeface="Microsoft YaHei" pitchFamily="34" charset="-122"/>
                <a:cs typeface="Microsoft YaHei" pitchFamily="34" charset="-120"/>
              </a:rPr>
              <a:t>据人民日报 2026 年 8 月 5 日 06 版，今年 9 月开学起，领航行动将在全国的小学、初中全面开展。</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03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要求的是学生走完过程</a:t>
            </a:r>
            <a:endParaRPr lang="en-US" sz="3600" dirty="0"/>
          </a:p>
        </p:txBody>
      </p:sp>
      <p:sp>
        <p:nvSpPr>
          <p:cNvPr id="4" name="Shape 2"/>
          <p:cNvSpPr/>
          <p:nvPr/>
        </p:nvSpPr>
        <p:spPr>
          <a:xfrm>
            <a:off x="685800" y="1417320"/>
            <a:ext cx="10820095" cy="1417320"/>
          </a:xfrm>
          <a:prstGeom prst="rect">
            <a:avLst/>
          </a:prstGeom>
          <a:solidFill>
            <a:srgbClr val="F4F6F8"/>
          </a:solidFill>
          <a:ln w="12700">
            <a:solidFill>
              <a:srgbClr val="F4F6F8"/>
            </a:solidFill>
            <a:prstDash val="solid"/>
          </a:ln>
        </p:spPr>
      </p:sp>
      <p:sp>
        <p:nvSpPr>
          <p:cNvPr id="5" name="Text 3"/>
          <p:cNvSpPr/>
          <p:nvPr/>
        </p:nvSpPr>
        <p:spPr>
          <a:xfrm>
            <a:off x="960120" y="1563624"/>
            <a:ext cx="10271455" cy="1124712"/>
          </a:xfrm>
          <a:prstGeom prst="rect">
            <a:avLst/>
          </a:prstGeom>
          <a:noFill/>
          <a:ln/>
        </p:spPr>
        <p:txBody>
          <a:bodyPr wrap="square" lIns="0" tIns="0" rIns="0" bIns="0" rtlCol="0" anchor="t"/>
          <a:lstStyle/>
          <a:p>
            <a:pPr indent="0" marL="0">
              <a:lnSpc>
                <a:spcPct val="155000"/>
              </a:lnSpc>
              <a:buNone/>
            </a:pPr>
            <a:r>
              <a:rPr lang="en-US" sz="1700" dirty="0">
                <a:solidFill>
                  <a:srgbClr val="1A2029"/>
                </a:solidFill>
                <a:latin typeface="Microsoft YaHei" pitchFamily="34" charset="0"/>
                <a:ea typeface="Microsoft YaHei" pitchFamily="34" charset="-122"/>
                <a:cs typeface="Microsoft YaHei" pitchFamily="34" charset="-120"/>
              </a:rPr>
              <a:t>通过提出问题和假设、设计方案、搜集分析证据、得出结论并解释、制作改进、交流反思等过程，形成初步的科学观念，掌握基本的科学方法，具有初步的科学思维能力，树立基本的科学态度，具有正确的价值观和社会责任感。</a:t>
            </a:r>
            <a:endParaRPr lang="en-US" sz="1700" dirty="0"/>
          </a:p>
        </p:txBody>
      </p:sp>
      <p:sp>
        <p:nvSpPr>
          <p:cNvPr id="6" name="Text 4"/>
          <p:cNvSpPr/>
          <p:nvPr/>
        </p:nvSpPr>
        <p:spPr>
          <a:xfrm>
            <a:off x="685800" y="2962656"/>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《义务教育阶段科学教育“做中学”领航行动指南》，教监管厅〔2026〕1 号</a:t>
            </a:r>
            <a:endParaRPr lang="en-US" sz="1100" dirty="0"/>
          </a:p>
        </p:txBody>
      </p:sp>
      <p:sp>
        <p:nvSpPr>
          <p:cNvPr id="7" name="Shape 5"/>
          <p:cNvSpPr/>
          <p:nvPr/>
        </p:nvSpPr>
        <p:spPr>
          <a:xfrm>
            <a:off x="685800" y="3794760"/>
            <a:ext cx="1620469" cy="0"/>
          </a:xfrm>
          <a:prstGeom prst="line">
            <a:avLst/>
          </a:prstGeom>
          <a:noFill/>
          <a:ln w="25400">
            <a:solidFill>
              <a:srgbClr val="33414F"/>
            </a:solidFill>
            <a:prstDash val="solid"/>
          </a:ln>
        </p:spPr>
      </p:sp>
      <p:sp>
        <p:nvSpPr>
          <p:cNvPr id="8" name="Text 6"/>
          <p:cNvSpPr/>
          <p:nvPr/>
        </p:nvSpPr>
        <p:spPr>
          <a:xfrm>
            <a:off x="685800"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一</a:t>
            </a:r>
            <a:endParaRPr lang="en-US" sz="1100" dirty="0"/>
          </a:p>
        </p:txBody>
      </p:sp>
      <p:sp>
        <p:nvSpPr>
          <p:cNvPr id="9" name="Text 7"/>
          <p:cNvSpPr/>
          <p:nvPr/>
        </p:nvSpPr>
        <p:spPr>
          <a:xfrm>
            <a:off x="685800"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提出问题和假设</a:t>
            </a:r>
            <a:endParaRPr lang="en-US" sz="1300" dirty="0"/>
          </a:p>
        </p:txBody>
      </p:sp>
      <p:sp>
        <p:nvSpPr>
          <p:cNvPr id="10" name="Shape 8"/>
          <p:cNvSpPr/>
          <p:nvPr/>
        </p:nvSpPr>
        <p:spPr>
          <a:xfrm>
            <a:off x="2525725" y="3794760"/>
            <a:ext cx="1620469" cy="0"/>
          </a:xfrm>
          <a:prstGeom prst="line">
            <a:avLst/>
          </a:prstGeom>
          <a:noFill/>
          <a:ln w="25400">
            <a:solidFill>
              <a:srgbClr val="33414F"/>
            </a:solidFill>
            <a:prstDash val="solid"/>
          </a:ln>
        </p:spPr>
      </p:sp>
      <p:sp>
        <p:nvSpPr>
          <p:cNvPr id="11" name="Text 9"/>
          <p:cNvSpPr/>
          <p:nvPr/>
        </p:nvSpPr>
        <p:spPr>
          <a:xfrm>
            <a:off x="2525725"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二</a:t>
            </a:r>
            <a:endParaRPr lang="en-US" sz="1100" dirty="0"/>
          </a:p>
        </p:txBody>
      </p:sp>
      <p:sp>
        <p:nvSpPr>
          <p:cNvPr id="12" name="Text 10"/>
          <p:cNvSpPr/>
          <p:nvPr/>
        </p:nvSpPr>
        <p:spPr>
          <a:xfrm>
            <a:off x="2525725"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设计方案</a:t>
            </a:r>
            <a:endParaRPr lang="en-US" sz="1300" dirty="0"/>
          </a:p>
        </p:txBody>
      </p:sp>
      <p:sp>
        <p:nvSpPr>
          <p:cNvPr id="13" name="Shape 11"/>
          <p:cNvSpPr/>
          <p:nvPr/>
        </p:nvSpPr>
        <p:spPr>
          <a:xfrm>
            <a:off x="4365650" y="3794760"/>
            <a:ext cx="1620469" cy="0"/>
          </a:xfrm>
          <a:prstGeom prst="line">
            <a:avLst/>
          </a:prstGeom>
          <a:noFill/>
          <a:ln w="25400">
            <a:solidFill>
              <a:srgbClr val="33414F"/>
            </a:solidFill>
            <a:prstDash val="solid"/>
          </a:ln>
        </p:spPr>
      </p:sp>
      <p:sp>
        <p:nvSpPr>
          <p:cNvPr id="14" name="Text 12"/>
          <p:cNvSpPr/>
          <p:nvPr/>
        </p:nvSpPr>
        <p:spPr>
          <a:xfrm>
            <a:off x="4365650"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三</a:t>
            </a:r>
            <a:endParaRPr lang="en-US" sz="1100" dirty="0"/>
          </a:p>
        </p:txBody>
      </p:sp>
      <p:sp>
        <p:nvSpPr>
          <p:cNvPr id="15" name="Text 13"/>
          <p:cNvSpPr/>
          <p:nvPr/>
        </p:nvSpPr>
        <p:spPr>
          <a:xfrm>
            <a:off x="4365650"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搜集分析证据</a:t>
            </a:r>
            <a:endParaRPr lang="en-US" sz="1300" dirty="0"/>
          </a:p>
        </p:txBody>
      </p:sp>
      <p:sp>
        <p:nvSpPr>
          <p:cNvPr id="16" name="Shape 14"/>
          <p:cNvSpPr/>
          <p:nvPr/>
        </p:nvSpPr>
        <p:spPr>
          <a:xfrm>
            <a:off x="6205576" y="3794760"/>
            <a:ext cx="1620469" cy="0"/>
          </a:xfrm>
          <a:prstGeom prst="line">
            <a:avLst/>
          </a:prstGeom>
          <a:noFill/>
          <a:ln w="25400">
            <a:solidFill>
              <a:srgbClr val="33414F"/>
            </a:solidFill>
            <a:prstDash val="solid"/>
          </a:ln>
        </p:spPr>
      </p:sp>
      <p:sp>
        <p:nvSpPr>
          <p:cNvPr id="17" name="Text 15"/>
          <p:cNvSpPr/>
          <p:nvPr/>
        </p:nvSpPr>
        <p:spPr>
          <a:xfrm>
            <a:off x="6205576"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四</a:t>
            </a:r>
            <a:endParaRPr lang="en-US" sz="1100" dirty="0"/>
          </a:p>
        </p:txBody>
      </p:sp>
      <p:sp>
        <p:nvSpPr>
          <p:cNvPr id="18" name="Text 16"/>
          <p:cNvSpPr/>
          <p:nvPr/>
        </p:nvSpPr>
        <p:spPr>
          <a:xfrm>
            <a:off x="6205576"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得出结论并解释</a:t>
            </a:r>
            <a:endParaRPr lang="en-US" sz="1300" dirty="0"/>
          </a:p>
        </p:txBody>
      </p:sp>
      <p:sp>
        <p:nvSpPr>
          <p:cNvPr id="19" name="Shape 17"/>
          <p:cNvSpPr/>
          <p:nvPr/>
        </p:nvSpPr>
        <p:spPr>
          <a:xfrm>
            <a:off x="8045501" y="3794760"/>
            <a:ext cx="1620469" cy="0"/>
          </a:xfrm>
          <a:prstGeom prst="line">
            <a:avLst/>
          </a:prstGeom>
          <a:noFill/>
          <a:ln w="25400">
            <a:solidFill>
              <a:srgbClr val="33414F"/>
            </a:solidFill>
            <a:prstDash val="solid"/>
          </a:ln>
        </p:spPr>
      </p:sp>
      <p:sp>
        <p:nvSpPr>
          <p:cNvPr id="20" name="Text 18"/>
          <p:cNvSpPr/>
          <p:nvPr/>
        </p:nvSpPr>
        <p:spPr>
          <a:xfrm>
            <a:off x="8045501"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五</a:t>
            </a:r>
            <a:endParaRPr lang="en-US" sz="1100" dirty="0"/>
          </a:p>
        </p:txBody>
      </p:sp>
      <p:sp>
        <p:nvSpPr>
          <p:cNvPr id="21" name="Text 19"/>
          <p:cNvSpPr/>
          <p:nvPr/>
        </p:nvSpPr>
        <p:spPr>
          <a:xfrm>
            <a:off x="8045501"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制作改进</a:t>
            </a:r>
            <a:endParaRPr lang="en-US" sz="1300" dirty="0"/>
          </a:p>
        </p:txBody>
      </p:sp>
      <p:sp>
        <p:nvSpPr>
          <p:cNvPr id="22" name="Shape 20"/>
          <p:cNvSpPr/>
          <p:nvPr/>
        </p:nvSpPr>
        <p:spPr>
          <a:xfrm>
            <a:off x="9885426" y="3794760"/>
            <a:ext cx="1620469" cy="0"/>
          </a:xfrm>
          <a:prstGeom prst="line">
            <a:avLst/>
          </a:prstGeom>
          <a:noFill/>
          <a:ln w="25400">
            <a:solidFill>
              <a:srgbClr val="33414F"/>
            </a:solidFill>
            <a:prstDash val="solid"/>
          </a:ln>
        </p:spPr>
      </p:sp>
      <p:sp>
        <p:nvSpPr>
          <p:cNvPr id="23" name="Text 21"/>
          <p:cNvSpPr/>
          <p:nvPr/>
        </p:nvSpPr>
        <p:spPr>
          <a:xfrm>
            <a:off x="9885426" y="3886200"/>
            <a:ext cx="1620469"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六</a:t>
            </a:r>
            <a:endParaRPr lang="en-US" sz="1100" dirty="0"/>
          </a:p>
        </p:txBody>
      </p:sp>
      <p:sp>
        <p:nvSpPr>
          <p:cNvPr id="24" name="Text 22"/>
          <p:cNvSpPr/>
          <p:nvPr/>
        </p:nvSpPr>
        <p:spPr>
          <a:xfrm>
            <a:off x="9885426" y="4142232"/>
            <a:ext cx="1620469" cy="457200"/>
          </a:xfrm>
          <a:prstGeom prst="rect">
            <a:avLst/>
          </a:prstGeom>
          <a:noFill/>
          <a:ln/>
        </p:spPr>
        <p:txBody>
          <a:bodyPr wrap="square" lIns="0" tIns="0" rIns="0" bIns="0" rtlCol="0" anchor="t"/>
          <a:lstStyle/>
          <a:p>
            <a:pPr indent="0" marL="0">
              <a:lnSpc>
                <a:spcPct val="125000"/>
              </a:lnSpc>
              <a:buNone/>
            </a:pPr>
            <a:r>
              <a:rPr lang="en-US" sz="1300" dirty="0">
                <a:solidFill>
                  <a:srgbClr val="1A2029"/>
                </a:solidFill>
                <a:latin typeface="Microsoft YaHei" pitchFamily="34" charset="0"/>
                <a:ea typeface="Microsoft YaHei" pitchFamily="34" charset="-122"/>
                <a:cs typeface="Microsoft YaHei" pitchFamily="34" charset="-120"/>
              </a:rPr>
              <a:t>交流反思</a:t>
            </a:r>
            <a:endParaRPr lang="en-US" sz="1300" dirty="0"/>
          </a:p>
        </p:txBody>
      </p:sp>
      <p:sp>
        <p:nvSpPr>
          <p:cNvPr id="25" name="Shape 23"/>
          <p:cNvSpPr/>
          <p:nvPr/>
        </p:nvSpPr>
        <p:spPr>
          <a:xfrm>
            <a:off x="685800" y="5961888"/>
            <a:ext cx="10820095" cy="0"/>
          </a:xfrm>
          <a:prstGeom prst="line">
            <a:avLst/>
          </a:prstGeom>
          <a:noFill/>
          <a:ln w="12700">
            <a:solidFill>
              <a:srgbClr val="E2E6EA"/>
            </a:solidFill>
            <a:prstDash val="solid"/>
          </a:ln>
        </p:spPr>
      </p:sp>
      <p:sp>
        <p:nvSpPr>
          <p:cNvPr id="26" name="Text 24"/>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1－3 年级完成科学课程规定的探究实践活动即可，不另作要求。</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04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这门课走到今天</a:t>
            </a:r>
            <a:endParaRPr lang="en-US" sz="3600" dirty="0"/>
          </a:p>
        </p:txBody>
      </p:sp>
      <p:sp>
        <p:nvSpPr>
          <p:cNvPr id="4" name="Shape 2"/>
          <p:cNvSpPr/>
          <p:nvPr/>
        </p:nvSpPr>
        <p:spPr>
          <a:xfrm>
            <a:off x="685800" y="1417320"/>
            <a:ext cx="10820095" cy="0"/>
          </a:xfrm>
          <a:prstGeom prst="line">
            <a:avLst/>
          </a:prstGeom>
          <a:noFill/>
          <a:ln w="12700">
            <a:solidFill>
              <a:srgbClr val="E2E6EA"/>
            </a:solidFill>
            <a:prstDash val="solid"/>
          </a:ln>
        </p:spPr>
      </p:sp>
      <p:sp>
        <p:nvSpPr>
          <p:cNvPr id="5" name="Text 3"/>
          <p:cNvSpPr/>
          <p:nvPr/>
        </p:nvSpPr>
        <p:spPr>
          <a:xfrm>
            <a:off x="685800" y="1563624"/>
            <a:ext cx="1371600" cy="292608"/>
          </a:xfrm>
          <a:prstGeom prst="rect">
            <a:avLst/>
          </a:prstGeom>
          <a:noFill/>
          <a:ln/>
        </p:spPr>
        <p:txBody>
          <a:bodyPr wrap="square" lIns="0" tIns="0" rIns="0" bIns="0" rtlCol="0" anchor="ctr"/>
          <a:lstStyle/>
          <a:p>
            <a:pPr indent="0" marL="0">
              <a:buNone/>
            </a:pPr>
            <a:r>
              <a:rPr lang="en-US" sz="1600" b="1" dirty="0">
                <a:solidFill>
                  <a:srgbClr val="33414F"/>
                </a:solidFill>
                <a:latin typeface="Microsoft YaHei" pitchFamily="34" charset="0"/>
                <a:ea typeface="Microsoft YaHei" pitchFamily="34" charset="-122"/>
                <a:cs typeface="Microsoft YaHei" pitchFamily="34" charset="-120"/>
              </a:rPr>
              <a:t>2001</a:t>
            </a:r>
            <a:endParaRPr lang="en-US" sz="1600" dirty="0"/>
          </a:p>
        </p:txBody>
      </p:sp>
      <p:sp>
        <p:nvSpPr>
          <p:cNvPr id="6" name="Text 4"/>
          <p:cNvSpPr/>
          <p:nvPr/>
        </p:nvSpPr>
        <p:spPr>
          <a:xfrm>
            <a:off x="2194560" y="1563624"/>
            <a:ext cx="9311335" cy="457200"/>
          </a:xfrm>
          <a:prstGeom prst="rect">
            <a:avLst/>
          </a:prstGeom>
          <a:noFill/>
          <a:ln/>
        </p:spPr>
        <p:txBody>
          <a:bodyPr wrap="square" lIns="0" tIns="0" rIns="0" bIns="0" rtlCol="0" anchor="t"/>
          <a:lstStyle/>
          <a:p>
            <a:pPr indent="0" marL="0">
              <a:lnSpc>
                <a:spcPct val="130000"/>
              </a:lnSpc>
              <a:buNone/>
            </a:pPr>
            <a:r>
              <a:rPr lang="en-US" sz="1400" dirty="0">
                <a:solidFill>
                  <a:srgbClr val="1A2029"/>
                </a:solidFill>
                <a:latin typeface="Microsoft YaHei" pitchFamily="34" charset="0"/>
                <a:ea typeface="Microsoft YaHei" pitchFamily="34" charset="-122"/>
                <a:cs typeface="Microsoft YaHei" pitchFamily="34" charset="-120"/>
              </a:rPr>
              <a:t>综合实践活动设置为必修课程</a:t>
            </a:r>
            <a:endParaRPr lang="en-US" sz="1400" dirty="0"/>
          </a:p>
        </p:txBody>
      </p:sp>
      <p:sp>
        <p:nvSpPr>
          <p:cNvPr id="7" name="Shape 5"/>
          <p:cNvSpPr/>
          <p:nvPr/>
        </p:nvSpPr>
        <p:spPr>
          <a:xfrm>
            <a:off x="685800" y="2130552"/>
            <a:ext cx="10820095" cy="0"/>
          </a:xfrm>
          <a:prstGeom prst="line">
            <a:avLst/>
          </a:prstGeom>
          <a:noFill/>
          <a:ln w="12700">
            <a:solidFill>
              <a:srgbClr val="E2E6EA"/>
            </a:solidFill>
            <a:prstDash val="solid"/>
          </a:ln>
        </p:spPr>
      </p:sp>
      <p:sp>
        <p:nvSpPr>
          <p:cNvPr id="8" name="Text 6"/>
          <p:cNvSpPr/>
          <p:nvPr/>
        </p:nvSpPr>
        <p:spPr>
          <a:xfrm>
            <a:off x="685800" y="2276856"/>
            <a:ext cx="1371600" cy="292608"/>
          </a:xfrm>
          <a:prstGeom prst="rect">
            <a:avLst/>
          </a:prstGeom>
          <a:noFill/>
          <a:ln/>
        </p:spPr>
        <p:txBody>
          <a:bodyPr wrap="square" lIns="0" tIns="0" rIns="0" bIns="0" rtlCol="0" anchor="ctr"/>
          <a:lstStyle/>
          <a:p>
            <a:pPr indent="0" marL="0">
              <a:buNone/>
            </a:pPr>
            <a:r>
              <a:rPr lang="en-US" sz="1600" b="1" dirty="0">
                <a:solidFill>
                  <a:srgbClr val="33414F"/>
                </a:solidFill>
                <a:latin typeface="Microsoft YaHei" pitchFamily="34" charset="0"/>
                <a:ea typeface="Microsoft YaHei" pitchFamily="34" charset="-122"/>
                <a:cs typeface="Microsoft YaHei" pitchFamily="34" charset="-120"/>
              </a:rPr>
              <a:t>2017</a:t>
            </a:r>
            <a:endParaRPr lang="en-US" sz="1600" dirty="0"/>
          </a:p>
        </p:txBody>
      </p:sp>
      <p:sp>
        <p:nvSpPr>
          <p:cNvPr id="9" name="Text 7"/>
          <p:cNvSpPr/>
          <p:nvPr/>
        </p:nvSpPr>
        <p:spPr>
          <a:xfrm>
            <a:off x="2194560" y="2276856"/>
            <a:ext cx="9311335" cy="457200"/>
          </a:xfrm>
          <a:prstGeom prst="rect">
            <a:avLst/>
          </a:prstGeom>
          <a:noFill/>
          <a:ln/>
        </p:spPr>
        <p:txBody>
          <a:bodyPr wrap="square" lIns="0" tIns="0" rIns="0" bIns="0" rtlCol="0" anchor="t"/>
          <a:lstStyle/>
          <a:p>
            <a:pPr indent="0" marL="0">
              <a:lnSpc>
                <a:spcPct val="130000"/>
              </a:lnSpc>
              <a:buNone/>
            </a:pPr>
            <a:r>
              <a:rPr lang="en-US" sz="1400" dirty="0">
                <a:solidFill>
                  <a:srgbClr val="1A2029"/>
                </a:solidFill>
                <a:latin typeface="Microsoft YaHei" pitchFamily="34" charset="0"/>
                <a:ea typeface="Microsoft YaHei" pitchFamily="34" charset="-122"/>
                <a:cs typeface="Microsoft YaHei" pitchFamily="34" charset="-120"/>
              </a:rPr>
              <a:t>《中小学综合实践活动课程指导纲要》，教材〔2017〕4 号</a:t>
            </a:r>
            <a:endParaRPr lang="en-US" sz="1400" dirty="0"/>
          </a:p>
        </p:txBody>
      </p:sp>
      <p:sp>
        <p:nvSpPr>
          <p:cNvPr id="10" name="Shape 8"/>
          <p:cNvSpPr/>
          <p:nvPr/>
        </p:nvSpPr>
        <p:spPr>
          <a:xfrm>
            <a:off x="685800" y="2843784"/>
            <a:ext cx="10820095" cy="0"/>
          </a:xfrm>
          <a:prstGeom prst="line">
            <a:avLst/>
          </a:prstGeom>
          <a:noFill/>
          <a:ln w="12700">
            <a:solidFill>
              <a:srgbClr val="E2E6EA"/>
            </a:solidFill>
            <a:prstDash val="solid"/>
          </a:ln>
        </p:spPr>
      </p:sp>
      <p:sp>
        <p:nvSpPr>
          <p:cNvPr id="11" name="Text 9"/>
          <p:cNvSpPr/>
          <p:nvPr/>
        </p:nvSpPr>
        <p:spPr>
          <a:xfrm>
            <a:off x="685800" y="2990088"/>
            <a:ext cx="1371600" cy="292608"/>
          </a:xfrm>
          <a:prstGeom prst="rect">
            <a:avLst/>
          </a:prstGeom>
          <a:noFill/>
          <a:ln/>
        </p:spPr>
        <p:txBody>
          <a:bodyPr wrap="square" lIns="0" tIns="0" rIns="0" bIns="0" rtlCol="0" anchor="ctr"/>
          <a:lstStyle/>
          <a:p>
            <a:pPr indent="0" marL="0">
              <a:buNone/>
            </a:pPr>
            <a:r>
              <a:rPr lang="en-US" sz="1600" b="1" dirty="0">
                <a:solidFill>
                  <a:srgbClr val="33414F"/>
                </a:solidFill>
                <a:latin typeface="Microsoft YaHei" pitchFamily="34" charset="0"/>
                <a:ea typeface="Microsoft YaHei" pitchFamily="34" charset="-122"/>
                <a:cs typeface="Microsoft YaHei" pitchFamily="34" charset="-120"/>
              </a:rPr>
              <a:t>2022</a:t>
            </a:r>
            <a:endParaRPr lang="en-US" sz="1600" dirty="0"/>
          </a:p>
        </p:txBody>
      </p:sp>
      <p:sp>
        <p:nvSpPr>
          <p:cNvPr id="12" name="Text 10"/>
          <p:cNvSpPr/>
          <p:nvPr/>
        </p:nvSpPr>
        <p:spPr>
          <a:xfrm>
            <a:off x="2194560" y="2990088"/>
            <a:ext cx="9311335" cy="457200"/>
          </a:xfrm>
          <a:prstGeom prst="rect">
            <a:avLst/>
          </a:prstGeom>
          <a:noFill/>
          <a:ln/>
        </p:spPr>
        <p:txBody>
          <a:bodyPr wrap="square" lIns="0" tIns="0" rIns="0" bIns="0" rtlCol="0" anchor="t"/>
          <a:lstStyle/>
          <a:p>
            <a:pPr indent="0" marL="0">
              <a:lnSpc>
                <a:spcPct val="130000"/>
              </a:lnSpc>
              <a:buNone/>
            </a:pPr>
            <a:r>
              <a:rPr lang="en-US" sz="1400" dirty="0">
                <a:solidFill>
                  <a:srgbClr val="1A2029"/>
                </a:solidFill>
                <a:latin typeface="Microsoft YaHei" pitchFamily="34" charset="0"/>
                <a:ea typeface="Microsoft YaHei" pitchFamily="34" charset="-122"/>
                <a:cs typeface="Microsoft YaHei" pitchFamily="34" charset="-120"/>
              </a:rPr>
              <a:t>《义务教育课程方案和课程标准（2022 年版）》，教材〔2022〕2 号，劳动与信息科技独立设课</a:t>
            </a:r>
            <a:endParaRPr lang="en-US" sz="1400" dirty="0"/>
          </a:p>
        </p:txBody>
      </p:sp>
      <p:sp>
        <p:nvSpPr>
          <p:cNvPr id="13" name="Shape 11"/>
          <p:cNvSpPr/>
          <p:nvPr/>
        </p:nvSpPr>
        <p:spPr>
          <a:xfrm>
            <a:off x="685800" y="3557016"/>
            <a:ext cx="10820095" cy="0"/>
          </a:xfrm>
          <a:prstGeom prst="line">
            <a:avLst/>
          </a:prstGeom>
          <a:noFill/>
          <a:ln w="12700">
            <a:solidFill>
              <a:srgbClr val="E2E6EA"/>
            </a:solidFill>
            <a:prstDash val="solid"/>
          </a:ln>
        </p:spPr>
      </p:sp>
      <p:sp>
        <p:nvSpPr>
          <p:cNvPr id="14" name="Text 12"/>
          <p:cNvSpPr/>
          <p:nvPr/>
        </p:nvSpPr>
        <p:spPr>
          <a:xfrm>
            <a:off x="685800" y="3703320"/>
            <a:ext cx="1371600" cy="292608"/>
          </a:xfrm>
          <a:prstGeom prst="rect">
            <a:avLst/>
          </a:prstGeom>
          <a:noFill/>
          <a:ln/>
        </p:spPr>
        <p:txBody>
          <a:bodyPr wrap="square" lIns="0" tIns="0" rIns="0" bIns="0" rtlCol="0" anchor="ctr"/>
          <a:lstStyle/>
          <a:p>
            <a:pPr indent="0" marL="0">
              <a:buNone/>
            </a:pPr>
            <a:r>
              <a:rPr lang="en-US" sz="1600" b="1" dirty="0">
                <a:solidFill>
                  <a:srgbClr val="33414F"/>
                </a:solidFill>
                <a:latin typeface="Microsoft YaHei" pitchFamily="34" charset="0"/>
                <a:ea typeface="Microsoft YaHei" pitchFamily="34" charset="-122"/>
                <a:cs typeface="Microsoft YaHei" pitchFamily="34" charset="-120"/>
              </a:rPr>
              <a:t>2024—2025</a:t>
            </a:r>
            <a:endParaRPr lang="en-US" sz="1600" dirty="0"/>
          </a:p>
        </p:txBody>
      </p:sp>
      <p:sp>
        <p:nvSpPr>
          <p:cNvPr id="15" name="Text 13"/>
          <p:cNvSpPr/>
          <p:nvPr/>
        </p:nvSpPr>
        <p:spPr>
          <a:xfrm>
            <a:off x="2194560" y="3703320"/>
            <a:ext cx="9311335" cy="457200"/>
          </a:xfrm>
          <a:prstGeom prst="rect">
            <a:avLst/>
          </a:prstGeom>
          <a:noFill/>
          <a:ln/>
        </p:spPr>
        <p:txBody>
          <a:bodyPr wrap="square" lIns="0" tIns="0" rIns="0" bIns="0" rtlCol="0" anchor="t"/>
          <a:lstStyle/>
          <a:p>
            <a:pPr indent="0" marL="0">
              <a:lnSpc>
                <a:spcPct val="130000"/>
              </a:lnSpc>
              <a:buNone/>
            </a:pPr>
            <a:r>
              <a:rPr lang="en-US" sz="1400" dirty="0">
                <a:solidFill>
                  <a:srgbClr val="1A2029"/>
                </a:solidFill>
                <a:latin typeface="Microsoft YaHei" pitchFamily="34" charset="0"/>
                <a:ea typeface="Microsoft YaHei" pitchFamily="34" charset="-122"/>
                <a:cs typeface="Microsoft YaHei" pitchFamily="34" charset="-120"/>
              </a:rPr>
              <a:t>人工智能进课程的系列文件</a:t>
            </a:r>
            <a:endParaRPr lang="en-US" sz="1400" dirty="0"/>
          </a:p>
        </p:txBody>
      </p:sp>
      <p:sp>
        <p:nvSpPr>
          <p:cNvPr id="16" name="Shape 14"/>
          <p:cNvSpPr/>
          <p:nvPr/>
        </p:nvSpPr>
        <p:spPr>
          <a:xfrm>
            <a:off x="685800" y="4270248"/>
            <a:ext cx="10820095" cy="0"/>
          </a:xfrm>
          <a:prstGeom prst="line">
            <a:avLst/>
          </a:prstGeom>
          <a:noFill/>
          <a:ln w="12700">
            <a:solidFill>
              <a:srgbClr val="E2E6EA"/>
            </a:solidFill>
            <a:prstDash val="solid"/>
          </a:ln>
        </p:spPr>
      </p:sp>
      <p:sp>
        <p:nvSpPr>
          <p:cNvPr id="17" name="Text 15"/>
          <p:cNvSpPr/>
          <p:nvPr/>
        </p:nvSpPr>
        <p:spPr>
          <a:xfrm>
            <a:off x="685800" y="4416552"/>
            <a:ext cx="1371600" cy="292608"/>
          </a:xfrm>
          <a:prstGeom prst="rect">
            <a:avLst/>
          </a:prstGeom>
          <a:noFill/>
          <a:ln/>
        </p:spPr>
        <p:txBody>
          <a:bodyPr wrap="square" lIns="0" tIns="0" rIns="0" bIns="0" rtlCol="0" anchor="ctr"/>
          <a:lstStyle/>
          <a:p>
            <a:pPr indent="0" marL="0">
              <a:buNone/>
            </a:pPr>
            <a:r>
              <a:rPr lang="en-US" sz="1600" b="1" dirty="0">
                <a:solidFill>
                  <a:srgbClr val="33414F"/>
                </a:solidFill>
                <a:latin typeface="Microsoft YaHei" pitchFamily="34" charset="0"/>
                <a:ea typeface="Microsoft YaHei" pitchFamily="34" charset="-122"/>
                <a:cs typeface="Microsoft YaHei" pitchFamily="34" charset="-120"/>
              </a:rPr>
              <a:t>2026</a:t>
            </a:r>
            <a:endParaRPr lang="en-US" sz="1600" dirty="0"/>
          </a:p>
        </p:txBody>
      </p:sp>
      <p:sp>
        <p:nvSpPr>
          <p:cNvPr id="18" name="Text 16"/>
          <p:cNvSpPr/>
          <p:nvPr/>
        </p:nvSpPr>
        <p:spPr>
          <a:xfrm>
            <a:off x="2194560" y="4416552"/>
            <a:ext cx="9311335" cy="457200"/>
          </a:xfrm>
          <a:prstGeom prst="rect">
            <a:avLst/>
          </a:prstGeom>
          <a:noFill/>
          <a:ln/>
        </p:spPr>
        <p:txBody>
          <a:bodyPr wrap="square" lIns="0" tIns="0" rIns="0" bIns="0" rtlCol="0" anchor="t"/>
          <a:lstStyle/>
          <a:p>
            <a:pPr indent="0" marL="0">
              <a:lnSpc>
                <a:spcPct val="130000"/>
              </a:lnSpc>
              <a:buNone/>
            </a:pPr>
            <a:r>
              <a:rPr lang="en-US" sz="1400" dirty="0">
                <a:solidFill>
                  <a:srgbClr val="1A2029"/>
                </a:solidFill>
                <a:latin typeface="Microsoft YaHei" pitchFamily="34" charset="0"/>
                <a:ea typeface="Microsoft YaHei" pitchFamily="34" charset="-122"/>
                <a:cs typeface="Microsoft YaHei" pitchFamily="34" charset="-120"/>
              </a:rPr>
              <a:t>做中学领航行动指南，教监管厅〔2026〕1 号</a:t>
            </a:r>
            <a:endParaRPr lang="en-US" sz="1400" dirty="0"/>
          </a:p>
        </p:txBody>
      </p:sp>
      <p:sp>
        <p:nvSpPr>
          <p:cNvPr id="19" name="Shape 17"/>
          <p:cNvSpPr/>
          <p:nvPr/>
        </p:nvSpPr>
        <p:spPr>
          <a:xfrm>
            <a:off x="685800" y="4983480"/>
            <a:ext cx="10820095" cy="0"/>
          </a:xfrm>
          <a:prstGeom prst="line">
            <a:avLst/>
          </a:prstGeom>
          <a:noFill/>
          <a:ln w="12700">
            <a:solidFill>
              <a:srgbClr val="E2E6E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05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综合实践活动的四目标与四方式</a:t>
            </a:r>
            <a:endParaRPr lang="en-US" sz="3600" dirty="0"/>
          </a:p>
        </p:txBody>
      </p:sp>
      <p:sp>
        <p:nvSpPr>
          <p:cNvPr id="4" name="Text 2"/>
          <p:cNvSpPr/>
          <p:nvPr/>
        </p:nvSpPr>
        <p:spPr>
          <a:xfrm>
            <a:off x="685800"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四项培养目标</a:t>
            </a:r>
            <a:endParaRPr lang="en-US" sz="1100" dirty="0"/>
          </a:p>
        </p:txBody>
      </p:sp>
      <p:sp>
        <p:nvSpPr>
          <p:cNvPr id="5" name="Shape 3"/>
          <p:cNvSpPr/>
          <p:nvPr/>
        </p:nvSpPr>
        <p:spPr>
          <a:xfrm>
            <a:off x="685800" y="1819656"/>
            <a:ext cx="0" cy="402336"/>
          </a:xfrm>
          <a:prstGeom prst="line">
            <a:avLst/>
          </a:prstGeom>
          <a:noFill/>
          <a:ln w="25400">
            <a:solidFill>
              <a:srgbClr val="E2E6EA"/>
            </a:solidFill>
            <a:prstDash val="solid"/>
          </a:ln>
        </p:spPr>
      </p:sp>
      <p:sp>
        <p:nvSpPr>
          <p:cNvPr id="6" name="Text 4"/>
          <p:cNvSpPr/>
          <p:nvPr/>
        </p:nvSpPr>
        <p:spPr>
          <a:xfrm>
            <a:off x="850392" y="1819656"/>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价值体认</a:t>
            </a:r>
            <a:endParaRPr lang="en-US" sz="1600" dirty="0"/>
          </a:p>
        </p:txBody>
      </p:sp>
      <p:sp>
        <p:nvSpPr>
          <p:cNvPr id="7" name="Shape 5"/>
          <p:cNvSpPr/>
          <p:nvPr/>
        </p:nvSpPr>
        <p:spPr>
          <a:xfrm>
            <a:off x="685800" y="2331720"/>
            <a:ext cx="0" cy="402336"/>
          </a:xfrm>
          <a:prstGeom prst="line">
            <a:avLst/>
          </a:prstGeom>
          <a:noFill/>
          <a:ln w="25400">
            <a:solidFill>
              <a:srgbClr val="E2E6EA"/>
            </a:solidFill>
            <a:prstDash val="solid"/>
          </a:ln>
        </p:spPr>
      </p:sp>
      <p:sp>
        <p:nvSpPr>
          <p:cNvPr id="8" name="Text 6"/>
          <p:cNvSpPr/>
          <p:nvPr/>
        </p:nvSpPr>
        <p:spPr>
          <a:xfrm>
            <a:off x="850392" y="2331720"/>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责任担当</a:t>
            </a:r>
            <a:endParaRPr lang="en-US" sz="1600" dirty="0"/>
          </a:p>
        </p:txBody>
      </p:sp>
      <p:sp>
        <p:nvSpPr>
          <p:cNvPr id="9" name="Shape 7"/>
          <p:cNvSpPr/>
          <p:nvPr/>
        </p:nvSpPr>
        <p:spPr>
          <a:xfrm>
            <a:off x="685800" y="2843784"/>
            <a:ext cx="0" cy="402336"/>
          </a:xfrm>
          <a:prstGeom prst="line">
            <a:avLst/>
          </a:prstGeom>
          <a:noFill/>
          <a:ln w="25400">
            <a:solidFill>
              <a:srgbClr val="E2E6EA"/>
            </a:solidFill>
            <a:prstDash val="solid"/>
          </a:ln>
        </p:spPr>
      </p:sp>
      <p:sp>
        <p:nvSpPr>
          <p:cNvPr id="10" name="Text 8"/>
          <p:cNvSpPr/>
          <p:nvPr/>
        </p:nvSpPr>
        <p:spPr>
          <a:xfrm>
            <a:off x="850392" y="2843784"/>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问题解决</a:t>
            </a:r>
            <a:endParaRPr lang="en-US" sz="1600" dirty="0"/>
          </a:p>
        </p:txBody>
      </p:sp>
      <p:sp>
        <p:nvSpPr>
          <p:cNvPr id="11" name="Shape 9"/>
          <p:cNvSpPr/>
          <p:nvPr/>
        </p:nvSpPr>
        <p:spPr>
          <a:xfrm>
            <a:off x="685800" y="3355848"/>
            <a:ext cx="0" cy="402336"/>
          </a:xfrm>
          <a:prstGeom prst="line">
            <a:avLst/>
          </a:prstGeom>
          <a:noFill/>
          <a:ln w="25400">
            <a:solidFill>
              <a:srgbClr val="E2E6EA"/>
            </a:solidFill>
            <a:prstDash val="solid"/>
          </a:ln>
        </p:spPr>
      </p:sp>
      <p:sp>
        <p:nvSpPr>
          <p:cNvPr id="12" name="Text 10"/>
          <p:cNvSpPr/>
          <p:nvPr/>
        </p:nvSpPr>
        <p:spPr>
          <a:xfrm>
            <a:off x="850392" y="3355848"/>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创意物化</a:t>
            </a:r>
            <a:endParaRPr lang="en-US" sz="1600" dirty="0"/>
          </a:p>
        </p:txBody>
      </p:sp>
      <p:sp>
        <p:nvSpPr>
          <p:cNvPr id="13" name="Text 11"/>
          <p:cNvSpPr/>
          <p:nvPr/>
        </p:nvSpPr>
        <p:spPr>
          <a:xfrm>
            <a:off x="6324448"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四种活动方式</a:t>
            </a:r>
            <a:endParaRPr lang="en-US" sz="1100" dirty="0"/>
          </a:p>
        </p:txBody>
      </p:sp>
      <p:sp>
        <p:nvSpPr>
          <p:cNvPr id="14" name="Shape 12"/>
          <p:cNvSpPr/>
          <p:nvPr/>
        </p:nvSpPr>
        <p:spPr>
          <a:xfrm>
            <a:off x="6324448" y="1819656"/>
            <a:ext cx="0" cy="402336"/>
          </a:xfrm>
          <a:prstGeom prst="line">
            <a:avLst/>
          </a:prstGeom>
          <a:noFill/>
          <a:ln w="25400">
            <a:solidFill>
              <a:srgbClr val="E2E6EA"/>
            </a:solidFill>
            <a:prstDash val="solid"/>
          </a:ln>
        </p:spPr>
      </p:sp>
      <p:sp>
        <p:nvSpPr>
          <p:cNvPr id="15" name="Text 13"/>
          <p:cNvSpPr/>
          <p:nvPr/>
        </p:nvSpPr>
        <p:spPr>
          <a:xfrm>
            <a:off x="6489040" y="1819656"/>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考察探究</a:t>
            </a:r>
            <a:endParaRPr lang="en-US" sz="1600" dirty="0"/>
          </a:p>
        </p:txBody>
      </p:sp>
      <p:sp>
        <p:nvSpPr>
          <p:cNvPr id="16" name="Shape 14"/>
          <p:cNvSpPr/>
          <p:nvPr/>
        </p:nvSpPr>
        <p:spPr>
          <a:xfrm>
            <a:off x="6324448" y="2331720"/>
            <a:ext cx="0" cy="402336"/>
          </a:xfrm>
          <a:prstGeom prst="line">
            <a:avLst/>
          </a:prstGeom>
          <a:noFill/>
          <a:ln w="25400">
            <a:solidFill>
              <a:srgbClr val="E2E6EA"/>
            </a:solidFill>
            <a:prstDash val="solid"/>
          </a:ln>
        </p:spPr>
      </p:sp>
      <p:sp>
        <p:nvSpPr>
          <p:cNvPr id="17" name="Text 15"/>
          <p:cNvSpPr/>
          <p:nvPr/>
        </p:nvSpPr>
        <p:spPr>
          <a:xfrm>
            <a:off x="6489040" y="2331720"/>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社会服务</a:t>
            </a:r>
            <a:endParaRPr lang="en-US" sz="1600" dirty="0"/>
          </a:p>
        </p:txBody>
      </p:sp>
      <p:sp>
        <p:nvSpPr>
          <p:cNvPr id="18" name="Shape 16"/>
          <p:cNvSpPr/>
          <p:nvPr/>
        </p:nvSpPr>
        <p:spPr>
          <a:xfrm>
            <a:off x="6324448" y="2843784"/>
            <a:ext cx="0" cy="402336"/>
          </a:xfrm>
          <a:prstGeom prst="line">
            <a:avLst/>
          </a:prstGeom>
          <a:noFill/>
          <a:ln w="25400">
            <a:solidFill>
              <a:srgbClr val="E2E6EA"/>
            </a:solidFill>
            <a:prstDash val="solid"/>
          </a:ln>
        </p:spPr>
      </p:sp>
      <p:sp>
        <p:nvSpPr>
          <p:cNvPr id="19" name="Text 17"/>
          <p:cNvSpPr/>
          <p:nvPr/>
        </p:nvSpPr>
        <p:spPr>
          <a:xfrm>
            <a:off x="6489040" y="2843784"/>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设计制作</a:t>
            </a:r>
            <a:endParaRPr lang="en-US" sz="1600" dirty="0"/>
          </a:p>
        </p:txBody>
      </p:sp>
      <p:sp>
        <p:nvSpPr>
          <p:cNvPr id="20" name="Shape 18"/>
          <p:cNvSpPr/>
          <p:nvPr/>
        </p:nvSpPr>
        <p:spPr>
          <a:xfrm>
            <a:off x="6324448" y="3355848"/>
            <a:ext cx="0" cy="402336"/>
          </a:xfrm>
          <a:prstGeom prst="line">
            <a:avLst/>
          </a:prstGeom>
          <a:noFill/>
          <a:ln w="25400">
            <a:solidFill>
              <a:srgbClr val="E2E6EA"/>
            </a:solidFill>
            <a:prstDash val="solid"/>
          </a:ln>
        </p:spPr>
      </p:sp>
      <p:sp>
        <p:nvSpPr>
          <p:cNvPr id="21" name="Text 19"/>
          <p:cNvSpPr/>
          <p:nvPr/>
        </p:nvSpPr>
        <p:spPr>
          <a:xfrm>
            <a:off x="6489040" y="3355848"/>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职业体验</a:t>
            </a:r>
            <a:endParaRPr lang="en-US" sz="1600" dirty="0"/>
          </a:p>
        </p:txBody>
      </p:sp>
      <p:sp>
        <p:nvSpPr>
          <p:cNvPr id="22" name="Text 20"/>
          <p:cNvSpPr/>
          <p:nvPr/>
        </p:nvSpPr>
        <p:spPr>
          <a:xfrm>
            <a:off x="685800" y="5806440"/>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《中小学综合实践活动课程指导纲要》，教材〔2017〕4 号</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06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做中学的六个环节与四个评价维度</a:t>
            </a:r>
            <a:endParaRPr lang="en-US" sz="3600" dirty="0"/>
          </a:p>
        </p:txBody>
      </p:sp>
      <p:sp>
        <p:nvSpPr>
          <p:cNvPr id="4" name="Text 2"/>
          <p:cNvSpPr/>
          <p:nvPr/>
        </p:nvSpPr>
        <p:spPr>
          <a:xfrm>
            <a:off x="685800"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六个环节</a:t>
            </a:r>
            <a:endParaRPr lang="en-US" sz="1100" dirty="0"/>
          </a:p>
        </p:txBody>
      </p:sp>
      <p:sp>
        <p:nvSpPr>
          <p:cNvPr id="5" name="Shape 3"/>
          <p:cNvSpPr/>
          <p:nvPr/>
        </p:nvSpPr>
        <p:spPr>
          <a:xfrm>
            <a:off x="685800" y="1819656"/>
            <a:ext cx="0" cy="402336"/>
          </a:xfrm>
          <a:prstGeom prst="line">
            <a:avLst/>
          </a:prstGeom>
          <a:noFill/>
          <a:ln w="25400">
            <a:solidFill>
              <a:srgbClr val="E2E6EA"/>
            </a:solidFill>
            <a:prstDash val="solid"/>
          </a:ln>
        </p:spPr>
      </p:sp>
      <p:sp>
        <p:nvSpPr>
          <p:cNvPr id="6" name="Text 4"/>
          <p:cNvSpPr/>
          <p:nvPr/>
        </p:nvSpPr>
        <p:spPr>
          <a:xfrm>
            <a:off x="850392" y="1819656"/>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提出问题和假设</a:t>
            </a:r>
            <a:endParaRPr lang="en-US" sz="1600" dirty="0"/>
          </a:p>
        </p:txBody>
      </p:sp>
      <p:sp>
        <p:nvSpPr>
          <p:cNvPr id="7" name="Shape 5"/>
          <p:cNvSpPr/>
          <p:nvPr/>
        </p:nvSpPr>
        <p:spPr>
          <a:xfrm>
            <a:off x="685800" y="2331720"/>
            <a:ext cx="0" cy="402336"/>
          </a:xfrm>
          <a:prstGeom prst="line">
            <a:avLst/>
          </a:prstGeom>
          <a:noFill/>
          <a:ln w="25400">
            <a:solidFill>
              <a:srgbClr val="E2E6EA"/>
            </a:solidFill>
            <a:prstDash val="solid"/>
          </a:ln>
        </p:spPr>
      </p:sp>
      <p:sp>
        <p:nvSpPr>
          <p:cNvPr id="8" name="Text 6"/>
          <p:cNvSpPr/>
          <p:nvPr/>
        </p:nvSpPr>
        <p:spPr>
          <a:xfrm>
            <a:off x="850392" y="2331720"/>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设计方案</a:t>
            </a:r>
            <a:endParaRPr lang="en-US" sz="1600" dirty="0"/>
          </a:p>
        </p:txBody>
      </p:sp>
      <p:sp>
        <p:nvSpPr>
          <p:cNvPr id="9" name="Shape 7"/>
          <p:cNvSpPr/>
          <p:nvPr/>
        </p:nvSpPr>
        <p:spPr>
          <a:xfrm>
            <a:off x="685800" y="2843784"/>
            <a:ext cx="0" cy="402336"/>
          </a:xfrm>
          <a:prstGeom prst="line">
            <a:avLst/>
          </a:prstGeom>
          <a:noFill/>
          <a:ln w="25400">
            <a:solidFill>
              <a:srgbClr val="E2E6EA"/>
            </a:solidFill>
            <a:prstDash val="solid"/>
          </a:ln>
        </p:spPr>
      </p:sp>
      <p:sp>
        <p:nvSpPr>
          <p:cNvPr id="10" name="Text 8"/>
          <p:cNvSpPr/>
          <p:nvPr/>
        </p:nvSpPr>
        <p:spPr>
          <a:xfrm>
            <a:off x="850392" y="2843784"/>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搜集分析证据</a:t>
            </a:r>
            <a:endParaRPr lang="en-US" sz="1600" dirty="0"/>
          </a:p>
        </p:txBody>
      </p:sp>
      <p:sp>
        <p:nvSpPr>
          <p:cNvPr id="11" name="Shape 9"/>
          <p:cNvSpPr/>
          <p:nvPr/>
        </p:nvSpPr>
        <p:spPr>
          <a:xfrm>
            <a:off x="685800" y="3355848"/>
            <a:ext cx="0" cy="402336"/>
          </a:xfrm>
          <a:prstGeom prst="line">
            <a:avLst/>
          </a:prstGeom>
          <a:noFill/>
          <a:ln w="25400">
            <a:solidFill>
              <a:srgbClr val="E2E6EA"/>
            </a:solidFill>
            <a:prstDash val="solid"/>
          </a:ln>
        </p:spPr>
      </p:sp>
      <p:sp>
        <p:nvSpPr>
          <p:cNvPr id="12" name="Text 10"/>
          <p:cNvSpPr/>
          <p:nvPr/>
        </p:nvSpPr>
        <p:spPr>
          <a:xfrm>
            <a:off x="850392" y="3355848"/>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得出结论并解释</a:t>
            </a:r>
            <a:endParaRPr lang="en-US" sz="1600" dirty="0"/>
          </a:p>
        </p:txBody>
      </p:sp>
      <p:sp>
        <p:nvSpPr>
          <p:cNvPr id="13" name="Shape 11"/>
          <p:cNvSpPr/>
          <p:nvPr/>
        </p:nvSpPr>
        <p:spPr>
          <a:xfrm>
            <a:off x="685800" y="3867912"/>
            <a:ext cx="0" cy="402336"/>
          </a:xfrm>
          <a:prstGeom prst="line">
            <a:avLst/>
          </a:prstGeom>
          <a:noFill/>
          <a:ln w="25400">
            <a:solidFill>
              <a:srgbClr val="E2E6EA"/>
            </a:solidFill>
            <a:prstDash val="solid"/>
          </a:ln>
        </p:spPr>
      </p:sp>
      <p:sp>
        <p:nvSpPr>
          <p:cNvPr id="14" name="Text 12"/>
          <p:cNvSpPr/>
          <p:nvPr/>
        </p:nvSpPr>
        <p:spPr>
          <a:xfrm>
            <a:off x="850392" y="3867912"/>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制作改进</a:t>
            </a:r>
            <a:endParaRPr lang="en-US" sz="1600" dirty="0"/>
          </a:p>
        </p:txBody>
      </p:sp>
      <p:sp>
        <p:nvSpPr>
          <p:cNvPr id="15" name="Shape 13"/>
          <p:cNvSpPr/>
          <p:nvPr/>
        </p:nvSpPr>
        <p:spPr>
          <a:xfrm>
            <a:off x="685800" y="4379976"/>
            <a:ext cx="0" cy="402336"/>
          </a:xfrm>
          <a:prstGeom prst="line">
            <a:avLst/>
          </a:prstGeom>
          <a:noFill/>
          <a:ln w="25400">
            <a:solidFill>
              <a:srgbClr val="E2E6EA"/>
            </a:solidFill>
            <a:prstDash val="solid"/>
          </a:ln>
        </p:spPr>
      </p:sp>
      <p:sp>
        <p:nvSpPr>
          <p:cNvPr id="16" name="Text 14"/>
          <p:cNvSpPr/>
          <p:nvPr/>
        </p:nvSpPr>
        <p:spPr>
          <a:xfrm>
            <a:off x="850392" y="4379976"/>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交流反思</a:t>
            </a:r>
            <a:endParaRPr lang="en-US" sz="1600" dirty="0"/>
          </a:p>
        </p:txBody>
      </p:sp>
      <p:sp>
        <p:nvSpPr>
          <p:cNvPr id="17" name="Text 15"/>
          <p:cNvSpPr/>
          <p:nvPr/>
        </p:nvSpPr>
        <p:spPr>
          <a:xfrm>
            <a:off x="6324448"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四个评价维度</a:t>
            </a:r>
            <a:endParaRPr lang="en-US" sz="1100" dirty="0"/>
          </a:p>
        </p:txBody>
      </p:sp>
      <p:sp>
        <p:nvSpPr>
          <p:cNvPr id="18" name="Shape 16"/>
          <p:cNvSpPr/>
          <p:nvPr/>
        </p:nvSpPr>
        <p:spPr>
          <a:xfrm>
            <a:off x="6324448" y="1819656"/>
            <a:ext cx="0" cy="402336"/>
          </a:xfrm>
          <a:prstGeom prst="line">
            <a:avLst/>
          </a:prstGeom>
          <a:noFill/>
          <a:ln w="25400">
            <a:solidFill>
              <a:srgbClr val="E2E6EA"/>
            </a:solidFill>
            <a:prstDash val="solid"/>
          </a:ln>
        </p:spPr>
      </p:sp>
      <p:sp>
        <p:nvSpPr>
          <p:cNvPr id="19" name="Text 17"/>
          <p:cNvSpPr/>
          <p:nvPr/>
        </p:nvSpPr>
        <p:spPr>
          <a:xfrm>
            <a:off x="6489040" y="1819656"/>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问题意识</a:t>
            </a:r>
            <a:endParaRPr lang="en-US" sz="1600" dirty="0"/>
          </a:p>
        </p:txBody>
      </p:sp>
      <p:sp>
        <p:nvSpPr>
          <p:cNvPr id="20" name="Shape 18"/>
          <p:cNvSpPr/>
          <p:nvPr/>
        </p:nvSpPr>
        <p:spPr>
          <a:xfrm>
            <a:off x="6324448" y="2331720"/>
            <a:ext cx="0" cy="402336"/>
          </a:xfrm>
          <a:prstGeom prst="line">
            <a:avLst/>
          </a:prstGeom>
          <a:noFill/>
          <a:ln w="25400">
            <a:solidFill>
              <a:srgbClr val="E2E6EA"/>
            </a:solidFill>
            <a:prstDash val="solid"/>
          </a:ln>
        </p:spPr>
      </p:sp>
      <p:sp>
        <p:nvSpPr>
          <p:cNvPr id="21" name="Text 19"/>
          <p:cNvSpPr/>
          <p:nvPr/>
        </p:nvSpPr>
        <p:spPr>
          <a:xfrm>
            <a:off x="6489040" y="2331720"/>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探究实践能力</a:t>
            </a:r>
            <a:endParaRPr lang="en-US" sz="1600" dirty="0"/>
          </a:p>
        </p:txBody>
      </p:sp>
      <p:sp>
        <p:nvSpPr>
          <p:cNvPr id="22" name="Shape 20"/>
          <p:cNvSpPr/>
          <p:nvPr/>
        </p:nvSpPr>
        <p:spPr>
          <a:xfrm>
            <a:off x="6324448" y="2843784"/>
            <a:ext cx="0" cy="402336"/>
          </a:xfrm>
          <a:prstGeom prst="line">
            <a:avLst/>
          </a:prstGeom>
          <a:noFill/>
          <a:ln w="25400">
            <a:solidFill>
              <a:srgbClr val="E2E6EA"/>
            </a:solidFill>
            <a:prstDash val="solid"/>
          </a:ln>
        </p:spPr>
      </p:sp>
      <p:sp>
        <p:nvSpPr>
          <p:cNvPr id="23" name="Text 21"/>
          <p:cNvSpPr/>
          <p:nvPr/>
        </p:nvSpPr>
        <p:spPr>
          <a:xfrm>
            <a:off x="6489040" y="2843784"/>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反思改进能力</a:t>
            </a:r>
            <a:endParaRPr lang="en-US" sz="1600" dirty="0"/>
          </a:p>
        </p:txBody>
      </p:sp>
      <p:sp>
        <p:nvSpPr>
          <p:cNvPr id="24" name="Shape 22"/>
          <p:cNvSpPr/>
          <p:nvPr/>
        </p:nvSpPr>
        <p:spPr>
          <a:xfrm>
            <a:off x="6324448" y="3355848"/>
            <a:ext cx="0" cy="402336"/>
          </a:xfrm>
          <a:prstGeom prst="line">
            <a:avLst/>
          </a:prstGeom>
          <a:noFill/>
          <a:ln w="25400">
            <a:solidFill>
              <a:srgbClr val="E2E6EA"/>
            </a:solidFill>
            <a:prstDash val="solid"/>
          </a:ln>
        </p:spPr>
      </p:sp>
      <p:sp>
        <p:nvSpPr>
          <p:cNvPr id="25" name="Text 23"/>
          <p:cNvSpPr/>
          <p:nvPr/>
        </p:nvSpPr>
        <p:spPr>
          <a:xfrm>
            <a:off x="6489040" y="3355848"/>
            <a:ext cx="5016856" cy="402336"/>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合作交流能力</a:t>
            </a:r>
            <a:endParaRPr lang="en-US" sz="1600" dirty="0"/>
          </a:p>
        </p:txBody>
      </p:sp>
      <p:sp>
        <p:nvSpPr>
          <p:cNvPr id="26" name="Text 24"/>
          <p:cNvSpPr/>
          <p:nvPr/>
        </p:nvSpPr>
        <p:spPr>
          <a:xfrm>
            <a:off x="685800" y="5806440"/>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《义务教育阶段科学教育“做中学”领航行动指南》，教监管厅〔2026〕1 号</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07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覆盖关系</a:t>
            </a:r>
            <a:endParaRPr lang="en-US" sz="3600" dirty="0"/>
          </a:p>
        </p:txBody>
      </p:sp>
      <p:sp>
        <p:nvSpPr>
          <p:cNvPr id="4" name="Text 2"/>
          <p:cNvSpPr/>
          <p:nvPr/>
        </p:nvSpPr>
        <p:spPr>
          <a:xfrm>
            <a:off x="685800"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四种活动方式</a:t>
            </a:r>
            <a:endParaRPr lang="en-US" sz="1100" dirty="0"/>
          </a:p>
        </p:txBody>
      </p:sp>
      <p:sp>
        <p:nvSpPr>
          <p:cNvPr id="5" name="Shape 3"/>
          <p:cNvSpPr/>
          <p:nvPr/>
        </p:nvSpPr>
        <p:spPr>
          <a:xfrm>
            <a:off x="685800" y="1837944"/>
            <a:ext cx="5181448" cy="0"/>
          </a:xfrm>
          <a:prstGeom prst="line">
            <a:avLst/>
          </a:prstGeom>
          <a:noFill/>
          <a:ln w="12700">
            <a:solidFill>
              <a:srgbClr val="E2E6EA"/>
            </a:solidFill>
            <a:prstDash val="solid"/>
          </a:ln>
        </p:spPr>
      </p:sp>
      <p:sp>
        <p:nvSpPr>
          <p:cNvPr id="6" name="Shape 4"/>
          <p:cNvSpPr/>
          <p:nvPr/>
        </p:nvSpPr>
        <p:spPr>
          <a:xfrm>
            <a:off x="713232" y="2020824"/>
            <a:ext cx="137160" cy="137160"/>
          </a:xfrm>
          <a:prstGeom prst="ellipse">
            <a:avLst/>
          </a:prstGeom>
          <a:solidFill>
            <a:srgbClr val="33414F"/>
          </a:solidFill>
          <a:ln w="12700">
            <a:solidFill>
              <a:srgbClr val="33414F"/>
            </a:solidFill>
            <a:prstDash val="solid"/>
          </a:ln>
        </p:spPr>
      </p:sp>
      <p:sp>
        <p:nvSpPr>
          <p:cNvPr id="7" name="Text 5"/>
          <p:cNvSpPr/>
          <p:nvPr/>
        </p:nvSpPr>
        <p:spPr>
          <a:xfrm>
            <a:off x="996696" y="1956816"/>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考察探究</a:t>
            </a:r>
            <a:endParaRPr lang="en-US" sz="1600" dirty="0"/>
          </a:p>
        </p:txBody>
      </p:sp>
      <p:sp>
        <p:nvSpPr>
          <p:cNvPr id="8" name="Text 6"/>
          <p:cNvSpPr/>
          <p:nvPr/>
        </p:nvSpPr>
        <p:spPr>
          <a:xfrm>
            <a:off x="996696" y="2240280"/>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六个环节的主干</a:t>
            </a:r>
            <a:endParaRPr lang="en-US" sz="1100" dirty="0"/>
          </a:p>
        </p:txBody>
      </p:sp>
      <p:sp>
        <p:nvSpPr>
          <p:cNvPr id="9" name="Shape 7"/>
          <p:cNvSpPr/>
          <p:nvPr/>
        </p:nvSpPr>
        <p:spPr>
          <a:xfrm>
            <a:off x="685800" y="2679192"/>
            <a:ext cx="5181448" cy="0"/>
          </a:xfrm>
          <a:prstGeom prst="line">
            <a:avLst/>
          </a:prstGeom>
          <a:noFill/>
          <a:ln w="12700">
            <a:solidFill>
              <a:srgbClr val="E2E6EA"/>
            </a:solidFill>
            <a:prstDash val="solid"/>
          </a:ln>
        </p:spPr>
      </p:sp>
      <p:sp>
        <p:nvSpPr>
          <p:cNvPr id="10" name="Shape 8"/>
          <p:cNvSpPr/>
          <p:nvPr/>
        </p:nvSpPr>
        <p:spPr>
          <a:xfrm>
            <a:off x="713232" y="2862072"/>
            <a:ext cx="137160" cy="137160"/>
          </a:xfrm>
          <a:prstGeom prst="ellipse">
            <a:avLst/>
          </a:prstGeom>
          <a:solidFill>
            <a:srgbClr val="33414F"/>
          </a:solidFill>
          <a:ln w="12700">
            <a:solidFill>
              <a:srgbClr val="33414F"/>
            </a:solidFill>
            <a:prstDash val="solid"/>
          </a:ln>
        </p:spPr>
      </p:sp>
      <p:sp>
        <p:nvSpPr>
          <p:cNvPr id="11" name="Text 9"/>
          <p:cNvSpPr/>
          <p:nvPr/>
        </p:nvSpPr>
        <p:spPr>
          <a:xfrm>
            <a:off x="996696" y="2798064"/>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设计制作</a:t>
            </a:r>
            <a:endParaRPr lang="en-US" sz="1600" dirty="0"/>
          </a:p>
        </p:txBody>
      </p:sp>
      <p:sp>
        <p:nvSpPr>
          <p:cNvPr id="12" name="Text 10"/>
          <p:cNvSpPr/>
          <p:nvPr/>
        </p:nvSpPr>
        <p:spPr>
          <a:xfrm>
            <a:off x="996696" y="3081528"/>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对应制作改进</a:t>
            </a:r>
            <a:endParaRPr lang="en-US" sz="1100" dirty="0"/>
          </a:p>
        </p:txBody>
      </p:sp>
      <p:sp>
        <p:nvSpPr>
          <p:cNvPr id="13" name="Shape 11"/>
          <p:cNvSpPr/>
          <p:nvPr/>
        </p:nvSpPr>
        <p:spPr>
          <a:xfrm>
            <a:off x="685800" y="3520440"/>
            <a:ext cx="5181448" cy="0"/>
          </a:xfrm>
          <a:prstGeom prst="line">
            <a:avLst/>
          </a:prstGeom>
          <a:noFill/>
          <a:ln w="12700">
            <a:solidFill>
              <a:srgbClr val="E2E6EA"/>
            </a:solidFill>
            <a:prstDash val="solid"/>
          </a:ln>
        </p:spPr>
      </p:sp>
      <p:sp>
        <p:nvSpPr>
          <p:cNvPr id="14" name="Shape 12"/>
          <p:cNvSpPr/>
          <p:nvPr/>
        </p:nvSpPr>
        <p:spPr>
          <a:xfrm>
            <a:off x="713232" y="3703320"/>
            <a:ext cx="137160" cy="137160"/>
          </a:xfrm>
          <a:prstGeom prst="ellipse">
            <a:avLst/>
          </a:prstGeom>
          <a:solidFill>
            <a:srgbClr val="FFFFFF"/>
          </a:solidFill>
          <a:ln w="12700">
            <a:solidFill>
              <a:srgbClr val="8C97A3"/>
            </a:solidFill>
            <a:prstDash val="solid"/>
          </a:ln>
        </p:spPr>
      </p:sp>
      <p:sp>
        <p:nvSpPr>
          <p:cNvPr id="15" name="Text 13"/>
          <p:cNvSpPr/>
          <p:nvPr/>
        </p:nvSpPr>
        <p:spPr>
          <a:xfrm>
            <a:off x="996696" y="3639312"/>
            <a:ext cx="4870552" cy="274320"/>
          </a:xfrm>
          <a:prstGeom prst="rect">
            <a:avLst/>
          </a:prstGeom>
          <a:noFill/>
          <a:ln/>
        </p:spPr>
        <p:txBody>
          <a:bodyPr wrap="square" lIns="0" tIns="0" rIns="0" bIns="0" rtlCol="0" anchor="ctr"/>
          <a:lstStyle/>
          <a:p>
            <a:pPr indent="0" marL="0">
              <a:buNone/>
            </a:pPr>
            <a:r>
              <a:rPr lang="en-US" sz="1600" dirty="0">
                <a:solidFill>
                  <a:srgbClr val="5A6472"/>
                </a:solidFill>
                <a:latin typeface="Microsoft YaHei" pitchFamily="34" charset="0"/>
                <a:ea typeface="Microsoft YaHei" pitchFamily="34" charset="-122"/>
                <a:cs typeface="Microsoft YaHei" pitchFamily="34" charset="-120"/>
              </a:rPr>
              <a:t>社会服务</a:t>
            </a:r>
            <a:endParaRPr lang="en-US" sz="1600" dirty="0"/>
          </a:p>
        </p:txBody>
      </p:sp>
      <p:sp>
        <p:nvSpPr>
          <p:cNvPr id="16" name="Text 14"/>
          <p:cNvSpPr/>
          <p:nvPr/>
        </p:nvSpPr>
        <p:spPr>
          <a:xfrm>
            <a:off x="996696" y="3922776"/>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未涉及</a:t>
            </a:r>
            <a:endParaRPr lang="en-US" sz="1100" dirty="0"/>
          </a:p>
        </p:txBody>
      </p:sp>
      <p:sp>
        <p:nvSpPr>
          <p:cNvPr id="17" name="Shape 15"/>
          <p:cNvSpPr/>
          <p:nvPr/>
        </p:nvSpPr>
        <p:spPr>
          <a:xfrm>
            <a:off x="685800" y="4361688"/>
            <a:ext cx="5181448" cy="0"/>
          </a:xfrm>
          <a:prstGeom prst="line">
            <a:avLst/>
          </a:prstGeom>
          <a:noFill/>
          <a:ln w="12700">
            <a:solidFill>
              <a:srgbClr val="E2E6EA"/>
            </a:solidFill>
            <a:prstDash val="solid"/>
          </a:ln>
        </p:spPr>
      </p:sp>
      <p:sp>
        <p:nvSpPr>
          <p:cNvPr id="18" name="Shape 16"/>
          <p:cNvSpPr/>
          <p:nvPr/>
        </p:nvSpPr>
        <p:spPr>
          <a:xfrm>
            <a:off x="713232" y="4544568"/>
            <a:ext cx="137160" cy="137160"/>
          </a:xfrm>
          <a:prstGeom prst="ellipse">
            <a:avLst/>
          </a:prstGeom>
          <a:solidFill>
            <a:srgbClr val="FFFFFF"/>
          </a:solidFill>
          <a:ln w="12700">
            <a:solidFill>
              <a:srgbClr val="8C97A3"/>
            </a:solidFill>
            <a:prstDash val="solid"/>
          </a:ln>
        </p:spPr>
      </p:sp>
      <p:sp>
        <p:nvSpPr>
          <p:cNvPr id="19" name="Text 17"/>
          <p:cNvSpPr/>
          <p:nvPr/>
        </p:nvSpPr>
        <p:spPr>
          <a:xfrm>
            <a:off x="996696" y="4480560"/>
            <a:ext cx="4870552" cy="274320"/>
          </a:xfrm>
          <a:prstGeom prst="rect">
            <a:avLst/>
          </a:prstGeom>
          <a:noFill/>
          <a:ln/>
        </p:spPr>
        <p:txBody>
          <a:bodyPr wrap="square" lIns="0" tIns="0" rIns="0" bIns="0" rtlCol="0" anchor="ctr"/>
          <a:lstStyle/>
          <a:p>
            <a:pPr indent="0" marL="0">
              <a:buNone/>
            </a:pPr>
            <a:r>
              <a:rPr lang="en-US" sz="1600" dirty="0">
                <a:solidFill>
                  <a:srgbClr val="5A6472"/>
                </a:solidFill>
                <a:latin typeface="Microsoft YaHei" pitchFamily="34" charset="0"/>
                <a:ea typeface="Microsoft YaHei" pitchFamily="34" charset="-122"/>
                <a:cs typeface="Microsoft YaHei" pitchFamily="34" charset="-120"/>
              </a:rPr>
              <a:t>职业体验</a:t>
            </a:r>
            <a:endParaRPr lang="en-US" sz="1600" dirty="0"/>
          </a:p>
        </p:txBody>
      </p:sp>
      <p:sp>
        <p:nvSpPr>
          <p:cNvPr id="20" name="Text 18"/>
          <p:cNvSpPr/>
          <p:nvPr/>
        </p:nvSpPr>
        <p:spPr>
          <a:xfrm>
            <a:off x="996696" y="4764024"/>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未涉及</a:t>
            </a:r>
            <a:endParaRPr lang="en-US" sz="1100" dirty="0"/>
          </a:p>
        </p:txBody>
      </p:sp>
      <p:sp>
        <p:nvSpPr>
          <p:cNvPr id="21" name="Shape 19"/>
          <p:cNvSpPr/>
          <p:nvPr/>
        </p:nvSpPr>
        <p:spPr>
          <a:xfrm>
            <a:off x="685800" y="5202936"/>
            <a:ext cx="5181448" cy="0"/>
          </a:xfrm>
          <a:prstGeom prst="line">
            <a:avLst/>
          </a:prstGeom>
          <a:noFill/>
          <a:ln w="12700">
            <a:solidFill>
              <a:srgbClr val="E2E6EA"/>
            </a:solidFill>
            <a:prstDash val="solid"/>
          </a:ln>
        </p:spPr>
      </p:sp>
      <p:sp>
        <p:nvSpPr>
          <p:cNvPr id="22" name="Text 20"/>
          <p:cNvSpPr/>
          <p:nvPr/>
        </p:nvSpPr>
        <p:spPr>
          <a:xfrm>
            <a:off x="6324448" y="1417320"/>
            <a:ext cx="5181448" cy="237744"/>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四项培养目标</a:t>
            </a:r>
            <a:endParaRPr lang="en-US" sz="1100" dirty="0"/>
          </a:p>
        </p:txBody>
      </p:sp>
      <p:sp>
        <p:nvSpPr>
          <p:cNvPr id="23" name="Shape 21"/>
          <p:cNvSpPr/>
          <p:nvPr/>
        </p:nvSpPr>
        <p:spPr>
          <a:xfrm>
            <a:off x="6324448" y="1837944"/>
            <a:ext cx="5181448" cy="0"/>
          </a:xfrm>
          <a:prstGeom prst="line">
            <a:avLst/>
          </a:prstGeom>
          <a:noFill/>
          <a:ln w="12700">
            <a:solidFill>
              <a:srgbClr val="E2E6EA"/>
            </a:solidFill>
            <a:prstDash val="solid"/>
          </a:ln>
        </p:spPr>
      </p:sp>
      <p:sp>
        <p:nvSpPr>
          <p:cNvPr id="24" name="Shape 22"/>
          <p:cNvSpPr/>
          <p:nvPr/>
        </p:nvSpPr>
        <p:spPr>
          <a:xfrm>
            <a:off x="6351880" y="2020824"/>
            <a:ext cx="137160" cy="137160"/>
          </a:xfrm>
          <a:prstGeom prst="ellipse">
            <a:avLst/>
          </a:prstGeom>
          <a:solidFill>
            <a:srgbClr val="33414F"/>
          </a:solidFill>
          <a:ln w="12700">
            <a:solidFill>
              <a:srgbClr val="33414F"/>
            </a:solidFill>
            <a:prstDash val="solid"/>
          </a:ln>
        </p:spPr>
      </p:sp>
      <p:sp>
        <p:nvSpPr>
          <p:cNvPr id="25" name="Text 23"/>
          <p:cNvSpPr/>
          <p:nvPr/>
        </p:nvSpPr>
        <p:spPr>
          <a:xfrm>
            <a:off x="6635344" y="1956816"/>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问题解决</a:t>
            </a:r>
            <a:endParaRPr lang="en-US" sz="1600" dirty="0"/>
          </a:p>
        </p:txBody>
      </p:sp>
      <p:sp>
        <p:nvSpPr>
          <p:cNvPr id="26" name="Text 24"/>
          <p:cNvSpPr/>
          <p:nvPr/>
        </p:nvSpPr>
        <p:spPr>
          <a:xfrm>
            <a:off x="6635344" y="2240280"/>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完全覆盖，且要求更严</a:t>
            </a:r>
            <a:endParaRPr lang="en-US" sz="1100" dirty="0"/>
          </a:p>
        </p:txBody>
      </p:sp>
      <p:sp>
        <p:nvSpPr>
          <p:cNvPr id="27" name="Shape 25"/>
          <p:cNvSpPr/>
          <p:nvPr/>
        </p:nvSpPr>
        <p:spPr>
          <a:xfrm>
            <a:off x="6324448" y="2679192"/>
            <a:ext cx="5181448" cy="0"/>
          </a:xfrm>
          <a:prstGeom prst="line">
            <a:avLst/>
          </a:prstGeom>
          <a:noFill/>
          <a:ln w="12700">
            <a:solidFill>
              <a:srgbClr val="E2E6EA"/>
            </a:solidFill>
            <a:prstDash val="solid"/>
          </a:ln>
        </p:spPr>
      </p:sp>
      <p:sp>
        <p:nvSpPr>
          <p:cNvPr id="28" name="Shape 26"/>
          <p:cNvSpPr/>
          <p:nvPr/>
        </p:nvSpPr>
        <p:spPr>
          <a:xfrm>
            <a:off x="6351880" y="2862072"/>
            <a:ext cx="137160" cy="137160"/>
          </a:xfrm>
          <a:prstGeom prst="ellipse">
            <a:avLst/>
          </a:prstGeom>
          <a:solidFill>
            <a:srgbClr val="33414F"/>
          </a:solidFill>
          <a:ln w="12700">
            <a:solidFill>
              <a:srgbClr val="33414F"/>
            </a:solidFill>
            <a:prstDash val="solid"/>
          </a:ln>
        </p:spPr>
      </p:sp>
      <p:sp>
        <p:nvSpPr>
          <p:cNvPr id="29" name="Text 27"/>
          <p:cNvSpPr/>
          <p:nvPr/>
        </p:nvSpPr>
        <p:spPr>
          <a:xfrm>
            <a:off x="6635344" y="2798064"/>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创意物化</a:t>
            </a:r>
            <a:endParaRPr lang="en-US" sz="1600" dirty="0"/>
          </a:p>
        </p:txBody>
      </p:sp>
      <p:sp>
        <p:nvSpPr>
          <p:cNvPr id="30" name="Text 28"/>
          <p:cNvSpPr/>
          <p:nvPr/>
        </p:nvSpPr>
        <p:spPr>
          <a:xfrm>
            <a:off x="6635344" y="3081528"/>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覆盖，且带迭代要求</a:t>
            </a:r>
            <a:endParaRPr lang="en-US" sz="1100" dirty="0"/>
          </a:p>
        </p:txBody>
      </p:sp>
      <p:sp>
        <p:nvSpPr>
          <p:cNvPr id="31" name="Shape 29"/>
          <p:cNvSpPr/>
          <p:nvPr/>
        </p:nvSpPr>
        <p:spPr>
          <a:xfrm>
            <a:off x="6324448" y="3520440"/>
            <a:ext cx="5181448" cy="0"/>
          </a:xfrm>
          <a:prstGeom prst="line">
            <a:avLst/>
          </a:prstGeom>
          <a:noFill/>
          <a:ln w="12700">
            <a:solidFill>
              <a:srgbClr val="E2E6EA"/>
            </a:solidFill>
            <a:prstDash val="solid"/>
          </a:ln>
        </p:spPr>
      </p:sp>
      <p:sp>
        <p:nvSpPr>
          <p:cNvPr id="32" name="Shape 30"/>
          <p:cNvSpPr/>
          <p:nvPr/>
        </p:nvSpPr>
        <p:spPr>
          <a:xfrm>
            <a:off x="6351880" y="3703320"/>
            <a:ext cx="137160" cy="137160"/>
          </a:xfrm>
          <a:prstGeom prst="ellipse">
            <a:avLst/>
          </a:prstGeom>
          <a:solidFill>
            <a:srgbClr val="FFFFFF"/>
          </a:solidFill>
          <a:ln w="38100">
            <a:solidFill>
              <a:srgbClr val="33414F"/>
            </a:solidFill>
            <a:prstDash val="solid"/>
          </a:ln>
        </p:spPr>
      </p:sp>
      <p:sp>
        <p:nvSpPr>
          <p:cNvPr id="33" name="Text 31"/>
          <p:cNvSpPr/>
          <p:nvPr/>
        </p:nvSpPr>
        <p:spPr>
          <a:xfrm>
            <a:off x="6635344" y="3639312"/>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价值体认</a:t>
            </a:r>
            <a:endParaRPr lang="en-US" sz="1600" dirty="0"/>
          </a:p>
        </p:txBody>
      </p:sp>
      <p:sp>
        <p:nvSpPr>
          <p:cNvPr id="34" name="Text 32"/>
          <p:cNvSpPr/>
          <p:nvPr/>
        </p:nvSpPr>
        <p:spPr>
          <a:xfrm>
            <a:off x="6635344" y="3922776"/>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部分覆盖，路径不同</a:t>
            </a:r>
            <a:endParaRPr lang="en-US" sz="1100" dirty="0"/>
          </a:p>
        </p:txBody>
      </p:sp>
      <p:sp>
        <p:nvSpPr>
          <p:cNvPr id="35" name="Shape 33"/>
          <p:cNvSpPr/>
          <p:nvPr/>
        </p:nvSpPr>
        <p:spPr>
          <a:xfrm>
            <a:off x="6324448" y="4361688"/>
            <a:ext cx="5181448" cy="0"/>
          </a:xfrm>
          <a:prstGeom prst="line">
            <a:avLst/>
          </a:prstGeom>
          <a:noFill/>
          <a:ln w="12700">
            <a:solidFill>
              <a:srgbClr val="E2E6EA"/>
            </a:solidFill>
            <a:prstDash val="solid"/>
          </a:ln>
        </p:spPr>
      </p:sp>
      <p:sp>
        <p:nvSpPr>
          <p:cNvPr id="36" name="Shape 34"/>
          <p:cNvSpPr/>
          <p:nvPr/>
        </p:nvSpPr>
        <p:spPr>
          <a:xfrm>
            <a:off x="6351880" y="4544568"/>
            <a:ext cx="137160" cy="137160"/>
          </a:xfrm>
          <a:prstGeom prst="ellipse">
            <a:avLst/>
          </a:prstGeom>
          <a:solidFill>
            <a:srgbClr val="FFFFFF"/>
          </a:solidFill>
          <a:ln w="38100">
            <a:solidFill>
              <a:srgbClr val="33414F"/>
            </a:solidFill>
            <a:prstDash val="solid"/>
          </a:ln>
        </p:spPr>
      </p:sp>
      <p:sp>
        <p:nvSpPr>
          <p:cNvPr id="37" name="Text 35"/>
          <p:cNvSpPr/>
          <p:nvPr/>
        </p:nvSpPr>
        <p:spPr>
          <a:xfrm>
            <a:off x="6635344" y="4480560"/>
            <a:ext cx="4870552" cy="27432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责任担当</a:t>
            </a:r>
            <a:endParaRPr lang="en-US" sz="1600" dirty="0"/>
          </a:p>
        </p:txBody>
      </p:sp>
      <p:sp>
        <p:nvSpPr>
          <p:cNvPr id="38" name="Text 36"/>
          <p:cNvSpPr/>
          <p:nvPr/>
        </p:nvSpPr>
        <p:spPr>
          <a:xfrm>
            <a:off x="6635344" y="4764024"/>
            <a:ext cx="4870552"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停在态度层，没有落到行动</a:t>
            </a:r>
            <a:endParaRPr lang="en-US" sz="1100" dirty="0"/>
          </a:p>
        </p:txBody>
      </p:sp>
      <p:sp>
        <p:nvSpPr>
          <p:cNvPr id="39" name="Shape 37"/>
          <p:cNvSpPr/>
          <p:nvPr/>
        </p:nvSpPr>
        <p:spPr>
          <a:xfrm>
            <a:off x="6324448" y="5202936"/>
            <a:ext cx="5181448" cy="0"/>
          </a:xfrm>
          <a:prstGeom prst="line">
            <a:avLst/>
          </a:prstGeom>
          <a:noFill/>
          <a:ln w="12700">
            <a:solidFill>
              <a:srgbClr val="E2E6E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08 · A</a:t>
            </a:r>
            <a:endParaRPr lang="en-US" sz="900" dirty="0"/>
          </a:p>
        </p:txBody>
      </p:sp>
      <p:sp>
        <p:nvSpPr>
          <p:cNvPr id="3" name="Text 1"/>
          <p:cNvSpPr/>
          <p:nvPr/>
        </p:nvSpPr>
        <p:spPr>
          <a:xfrm>
            <a:off x="685800" y="1874520"/>
            <a:ext cx="10820095" cy="548640"/>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两个缺口就是专业位置</a:t>
            </a:r>
            <a:endParaRPr lang="en-US" sz="3600" dirty="0"/>
          </a:p>
        </p:txBody>
      </p:sp>
      <p:sp>
        <p:nvSpPr>
          <p:cNvPr id="4" name="Text 2"/>
          <p:cNvSpPr/>
          <p:nvPr/>
        </p:nvSpPr>
        <p:spPr>
          <a:xfrm>
            <a:off x="685800" y="2606040"/>
            <a:ext cx="9997135" cy="1828800"/>
          </a:xfrm>
          <a:prstGeom prst="rect">
            <a:avLst/>
          </a:prstGeom>
          <a:noFill/>
          <a:ln/>
        </p:spPr>
        <p:txBody>
          <a:bodyPr wrap="square" lIns="0" tIns="0" rIns="0" bIns="0" rtlCol="0" anchor="t"/>
          <a:lstStyle/>
          <a:p>
            <a:pPr indent="0" marL="0">
              <a:lnSpc>
                <a:spcPct val="145000"/>
              </a:lnSpc>
              <a:buNone/>
            </a:pPr>
            <a:r>
              <a:rPr lang="en-US" sz="3000" dirty="0">
                <a:solidFill>
                  <a:srgbClr val="1A2029"/>
                </a:solidFill>
                <a:latin typeface="Microsoft YaHei" pitchFamily="34" charset="0"/>
                <a:ea typeface="Microsoft YaHei" pitchFamily="34" charset="-122"/>
                <a:cs typeface="Microsoft YaHei" pitchFamily="34" charset="-120"/>
              </a:rPr>
              <a:t>AI 不是解决这门课问题的工具，它是一个会同时放大两端的变量。这门课原有的病灶正好是 AI 最容易加剧的地方，原有的负担正好是 AI 最容易减轻的地方。</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09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哪一份是学生自己做的</a:t>
            </a:r>
            <a:endParaRPr lang="en-US" sz="3600" dirty="0"/>
          </a:p>
        </p:txBody>
      </p:sp>
      <p:sp>
        <p:nvSpPr>
          <p:cNvPr id="4" name="Shape 2"/>
          <p:cNvSpPr/>
          <p:nvPr/>
        </p:nvSpPr>
        <p:spPr>
          <a:xfrm>
            <a:off x="685800" y="1417320"/>
            <a:ext cx="5295748" cy="3520440"/>
          </a:xfrm>
          <a:prstGeom prst="rect">
            <a:avLst/>
          </a:prstGeom>
          <a:solidFill>
            <a:srgbClr val="F4F6F8"/>
          </a:solidFill>
          <a:ln w="12700">
            <a:solidFill>
              <a:srgbClr val="F4F6F8"/>
            </a:solidFill>
            <a:prstDash val="solid"/>
          </a:ln>
        </p:spPr>
      </p:sp>
      <p:sp>
        <p:nvSpPr>
          <p:cNvPr id="5" name="Text 3"/>
          <p:cNvSpPr/>
          <p:nvPr/>
        </p:nvSpPr>
        <p:spPr>
          <a:xfrm>
            <a:off x="886968" y="1581912"/>
            <a:ext cx="4893412" cy="219456"/>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方案甲</a:t>
            </a:r>
            <a:endParaRPr lang="en-US" sz="1100" dirty="0"/>
          </a:p>
        </p:txBody>
      </p:sp>
      <p:sp>
        <p:nvSpPr>
          <p:cNvPr id="6" name="Text 4"/>
          <p:cNvSpPr/>
          <p:nvPr/>
        </p:nvSpPr>
        <p:spPr>
          <a:xfrm>
            <a:off x="886968" y="1892808"/>
            <a:ext cx="4893412" cy="2862072"/>
          </a:xfrm>
          <a:prstGeom prst="rect">
            <a:avLst/>
          </a:prstGeom>
          <a:noFill/>
          <a:ln/>
        </p:spPr>
        <p:txBody>
          <a:bodyPr wrap="square" lIns="0" tIns="0" rIns="0" bIns="0" rtlCol="0" anchor="t"/>
          <a:lstStyle/>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题目：校园里哪些位置的光照最适合绿萝生长</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一、研究背景　教室走廊的绿萝长得参差不齐，有几盆叶子发黄。</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二、研究问题　不同位置的光照强度是否影响绿萝的生长状况。</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三、研究方法　选取六个位置，每天上午十点用照度计测一次，连续两周；每周量一次新叶长度。</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四、预期成果　一张位置与长势对照表，一份摆放建议。</a:t>
            </a:r>
            <a:endParaRPr lang="en-US" sz="1100" dirty="0"/>
          </a:p>
        </p:txBody>
      </p:sp>
      <p:sp>
        <p:nvSpPr>
          <p:cNvPr id="7" name="Shape 5"/>
          <p:cNvSpPr/>
          <p:nvPr/>
        </p:nvSpPr>
        <p:spPr>
          <a:xfrm>
            <a:off x="6210148" y="1417320"/>
            <a:ext cx="5295748" cy="3520440"/>
          </a:xfrm>
          <a:prstGeom prst="rect">
            <a:avLst/>
          </a:prstGeom>
          <a:solidFill>
            <a:srgbClr val="F4F6F8"/>
          </a:solidFill>
          <a:ln w="12700">
            <a:solidFill>
              <a:srgbClr val="F4F6F8"/>
            </a:solidFill>
            <a:prstDash val="solid"/>
          </a:ln>
        </p:spPr>
      </p:sp>
      <p:sp>
        <p:nvSpPr>
          <p:cNvPr id="8" name="Text 6"/>
          <p:cNvSpPr/>
          <p:nvPr/>
        </p:nvSpPr>
        <p:spPr>
          <a:xfrm>
            <a:off x="6411316" y="1581912"/>
            <a:ext cx="4893412" cy="219456"/>
          </a:xfrm>
          <a:prstGeom prst="rect">
            <a:avLst/>
          </a:prstGeom>
          <a:noFill/>
          <a:ln/>
        </p:spPr>
        <p:txBody>
          <a:bodyPr wrap="square" lIns="0" tIns="0" rIns="0" bIns="0" rtlCol="0" anchor="ctr"/>
          <a:lstStyle/>
          <a:p>
            <a:pPr indent="0" marL="0">
              <a:buNone/>
            </a:pPr>
            <a:r>
              <a:rPr lang="en-US" sz="1100" spc="100" kern="0" dirty="0">
                <a:solidFill>
                  <a:srgbClr val="5A6472"/>
                </a:solidFill>
                <a:latin typeface="Microsoft YaHei" pitchFamily="34" charset="0"/>
                <a:ea typeface="Microsoft YaHei" pitchFamily="34" charset="-122"/>
                <a:cs typeface="Microsoft YaHei" pitchFamily="34" charset="-120"/>
              </a:rPr>
              <a:t>方案乙</a:t>
            </a:r>
            <a:endParaRPr lang="en-US" sz="1100" dirty="0"/>
          </a:p>
        </p:txBody>
      </p:sp>
      <p:sp>
        <p:nvSpPr>
          <p:cNvPr id="9" name="Text 7"/>
          <p:cNvSpPr/>
          <p:nvPr/>
        </p:nvSpPr>
        <p:spPr>
          <a:xfrm>
            <a:off x="6411316" y="1892808"/>
            <a:ext cx="4893412" cy="2862072"/>
          </a:xfrm>
          <a:prstGeom prst="rect">
            <a:avLst/>
          </a:prstGeom>
          <a:noFill/>
          <a:ln/>
        </p:spPr>
        <p:txBody>
          <a:bodyPr wrap="square" lIns="0" tIns="0" rIns="0" bIns="0" rtlCol="0" anchor="t"/>
          <a:lstStyle/>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题目：基于光照梯度的校园绿萝生长适应性探究</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一、研究背景　绿萝作为常见室内观叶植物，其生长状况受光照条件显著影响。</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二、研究问题　探究不同光照强度梯度下绿萝的生长差异及其适应机制。</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三、研究方法　设置高、中、低三个光照梯度，采用对照实验法，测定叶绿素含量、叶面积及株高等指标。</a:t>
            </a:r>
            <a:endParaRPr lang="en-US" sz="1100" dirty="0"/>
          </a:p>
          <a:p>
            <a:pPr indent="0" marL="0">
              <a:lnSpc>
                <a:spcPct val="145000"/>
              </a:lnSpc>
              <a:spcAft>
                <a:spcPts val="500"/>
              </a:spcAft>
              <a:buNone/>
            </a:pPr>
            <a:r>
              <a:rPr lang="en-US" sz="1100" dirty="0">
                <a:solidFill>
                  <a:srgbClr val="1A2029"/>
                </a:solidFill>
                <a:latin typeface="Microsoft YaHei" pitchFamily="34" charset="0"/>
                <a:ea typeface="Microsoft YaHei" pitchFamily="34" charset="-122"/>
                <a:cs typeface="Microsoft YaHei" pitchFamily="34" charset="-120"/>
              </a:rPr>
              <a:t>四、预期成果　形成光照强度与绿萝生长的相关性分析报告，为校园绿化布置提供科学依据。</a:t>
            </a:r>
            <a:endParaRPr lang="en-US" sz="1100" dirty="0"/>
          </a:p>
        </p:txBody>
      </p:sp>
      <p:sp>
        <p:nvSpPr>
          <p:cNvPr id="10" name="Text 8"/>
          <p:cNvSpPr/>
          <p:nvPr/>
        </p:nvSpPr>
        <p:spPr>
          <a:xfrm>
            <a:off x="685800" y="5138928"/>
            <a:ext cx="10820095" cy="320040"/>
          </a:xfrm>
          <a:prstGeom prst="rect">
            <a:avLst/>
          </a:prstGeom>
          <a:noFill/>
          <a:ln/>
        </p:spPr>
        <p:txBody>
          <a:bodyPr wrap="square" lIns="0" tIns="0" rIns="0" bIns="0" rtlCol="0" anchor="ctr"/>
          <a:lstStyle/>
          <a:p>
            <a:pPr indent="0" marL="0">
              <a:buNone/>
            </a:pPr>
            <a:r>
              <a:rPr lang="en-US" sz="1600" dirty="0">
                <a:solidFill>
                  <a:srgbClr val="1A2029"/>
                </a:solidFill>
                <a:latin typeface="Microsoft YaHei" pitchFamily="34" charset="0"/>
                <a:ea typeface="Microsoft YaHei" pitchFamily="34" charset="-122"/>
                <a:cs typeface="Microsoft YaHei" pitchFamily="34" charset="-120"/>
              </a:rPr>
              <a:t>举手：认为甲是学生自己做的，请举手。</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10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揭晓</a:t>
            </a:r>
            <a:endParaRPr lang="en-US" sz="3600" dirty="0"/>
          </a:p>
        </p:txBody>
      </p:sp>
      <p:sp>
        <p:nvSpPr>
          <p:cNvPr id="4" name="Text 2"/>
          <p:cNvSpPr/>
          <p:nvPr/>
        </p:nvSpPr>
        <p:spPr>
          <a:xfrm>
            <a:off x="685800" y="15544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1</a:t>
            </a:r>
            <a:endParaRPr lang="en-US" sz="1600" dirty="0"/>
          </a:p>
        </p:txBody>
      </p:sp>
      <p:sp>
        <p:nvSpPr>
          <p:cNvPr id="5" name="Text 3"/>
          <p:cNvSpPr/>
          <p:nvPr/>
        </p:nvSpPr>
        <p:spPr>
          <a:xfrm>
            <a:off x="1097280" y="15179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两份都是虚构的。甲按小学生的实际水平写，乙按 AI 的默认输出写。</a:t>
            </a:r>
            <a:endParaRPr lang="en-US" sz="2100" dirty="0"/>
          </a:p>
        </p:txBody>
      </p:sp>
      <p:sp>
        <p:nvSpPr>
          <p:cNvPr id="6" name="Text 4"/>
          <p:cNvSpPr/>
          <p:nvPr/>
        </p:nvSpPr>
        <p:spPr>
          <a:xfrm>
            <a:off x="685800" y="22402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2</a:t>
            </a:r>
            <a:endParaRPr lang="en-US" sz="1600" dirty="0"/>
          </a:p>
        </p:txBody>
      </p:sp>
      <p:sp>
        <p:nvSpPr>
          <p:cNvPr id="7" name="Text 5"/>
          <p:cNvSpPr/>
          <p:nvPr/>
        </p:nvSpPr>
        <p:spPr>
          <a:xfrm>
            <a:off x="1097280" y="22037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乙更完整、更规范、术语更多，也更像一份合格的研究方案。</a:t>
            </a:r>
            <a:endParaRPr lang="en-US" sz="2100" dirty="0"/>
          </a:p>
        </p:txBody>
      </p:sp>
      <p:sp>
        <p:nvSpPr>
          <p:cNvPr id="8" name="Text 6"/>
          <p:cNvSpPr/>
          <p:nvPr/>
        </p:nvSpPr>
        <p:spPr>
          <a:xfrm>
            <a:off x="685800" y="29260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3</a:t>
            </a:r>
            <a:endParaRPr lang="en-US" sz="1600" dirty="0"/>
          </a:p>
        </p:txBody>
      </p:sp>
      <p:sp>
        <p:nvSpPr>
          <p:cNvPr id="9" name="Text 7"/>
          <p:cNvSpPr/>
          <p:nvPr/>
        </p:nvSpPr>
        <p:spPr>
          <a:xfrm>
            <a:off x="1097280" y="28895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真正的差别不在文本里：甲的作者数过那六个位置，乙的作者没有。</a:t>
            </a:r>
            <a:endParaRPr lang="en-US" sz="2100" dirty="0"/>
          </a:p>
        </p:txBody>
      </p:sp>
      <p:sp>
        <p:nvSpPr>
          <p:cNvPr id="10" name="Shape 8"/>
          <p:cNvSpPr/>
          <p:nvPr/>
        </p:nvSpPr>
        <p:spPr>
          <a:xfrm>
            <a:off x="685800" y="5961888"/>
            <a:ext cx="10820095" cy="0"/>
          </a:xfrm>
          <a:prstGeom prst="line">
            <a:avLst/>
          </a:prstGeom>
          <a:noFill/>
          <a:ln w="12700">
            <a:solidFill>
              <a:srgbClr val="E2E6EA"/>
            </a:solidFill>
            <a:prstDash val="solid"/>
          </a:ln>
        </p:spPr>
      </p:sp>
      <p:sp>
        <p:nvSpPr>
          <p:cNvPr id="11" name="Text 9"/>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成果看起来都合格。凭什么给分，是后面全部内容的起点。</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11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四种活动方式受影响的程度</a:t>
            </a:r>
            <a:endParaRPr lang="en-US" sz="3600" dirty="0"/>
          </a:p>
        </p:txBody>
      </p:sp>
      <p:sp>
        <p:nvSpPr>
          <p:cNvPr id="4" name="Text 2"/>
          <p:cNvSpPr/>
          <p:nvPr/>
        </p:nvSpPr>
        <p:spPr>
          <a:xfrm>
            <a:off x="685800" y="1600200"/>
            <a:ext cx="1280160" cy="420624"/>
          </a:xfrm>
          <a:prstGeom prst="rect">
            <a:avLst/>
          </a:prstGeom>
          <a:noFill/>
          <a:ln/>
        </p:spPr>
        <p:txBody>
          <a:bodyPr wrap="square" lIns="0" tIns="0" rIns="0" bIns="0" rtlCol="0" anchor="ctr"/>
          <a:lstStyle/>
          <a:p>
            <a:pPr algn="r" indent="0" marL="0">
              <a:buNone/>
            </a:pPr>
            <a:r>
              <a:rPr lang="en-US" sz="1600" dirty="0">
                <a:solidFill>
                  <a:srgbClr val="1A2029"/>
                </a:solidFill>
                <a:latin typeface="Microsoft YaHei" pitchFamily="34" charset="0"/>
                <a:ea typeface="Microsoft YaHei" pitchFamily="34" charset="-122"/>
                <a:cs typeface="Microsoft YaHei" pitchFamily="34" charset="-120"/>
              </a:rPr>
              <a:t>考察探究</a:t>
            </a:r>
            <a:endParaRPr lang="en-US" sz="1600" dirty="0"/>
          </a:p>
        </p:txBody>
      </p:sp>
      <p:sp>
        <p:nvSpPr>
          <p:cNvPr id="5" name="Shape 3"/>
          <p:cNvSpPr/>
          <p:nvPr/>
        </p:nvSpPr>
        <p:spPr>
          <a:xfrm>
            <a:off x="2148840" y="1600200"/>
            <a:ext cx="9357055" cy="420624"/>
          </a:xfrm>
          <a:prstGeom prst="rect">
            <a:avLst/>
          </a:prstGeom>
          <a:solidFill>
            <a:srgbClr val="99341A"/>
          </a:solidFill>
          <a:ln w="12700">
            <a:solidFill>
              <a:srgbClr val="99341A"/>
            </a:solidFill>
            <a:prstDash val="solid"/>
          </a:ln>
        </p:spPr>
      </p:sp>
      <p:sp>
        <p:nvSpPr>
          <p:cNvPr id="6" name="Text 4"/>
          <p:cNvSpPr/>
          <p:nvPr/>
        </p:nvSpPr>
        <p:spPr>
          <a:xfrm>
            <a:off x="2148840" y="1600200"/>
            <a:ext cx="9210751" cy="42062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YaHei" pitchFamily="34" charset="0"/>
                <a:ea typeface="Microsoft YaHei" pitchFamily="34" charset="-122"/>
                <a:cs typeface="Microsoft YaHei" pitchFamily="34" charset="-120"/>
              </a:rPr>
              <a:t>重</a:t>
            </a:r>
            <a:endParaRPr lang="en-US" sz="1400" dirty="0"/>
          </a:p>
        </p:txBody>
      </p:sp>
      <p:sp>
        <p:nvSpPr>
          <p:cNvPr id="7" name="Text 5"/>
          <p:cNvSpPr/>
          <p:nvPr/>
        </p:nvSpPr>
        <p:spPr>
          <a:xfrm>
            <a:off x="2148840" y="2112264"/>
            <a:ext cx="9357055" cy="274320"/>
          </a:xfrm>
          <a:prstGeom prst="rect">
            <a:avLst/>
          </a:prstGeom>
          <a:noFill/>
          <a:ln/>
        </p:spPr>
        <p:txBody>
          <a:bodyPr wrap="square" lIns="0" tIns="0" rIns="0" bIns="0" rtlCol="0" anchor="ctr"/>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选题、文献、方案、报告，整条链几乎可被替代</a:t>
            </a:r>
            <a:endParaRPr lang="en-US" sz="1400" dirty="0"/>
          </a:p>
        </p:txBody>
      </p:sp>
      <p:sp>
        <p:nvSpPr>
          <p:cNvPr id="8" name="Text 6"/>
          <p:cNvSpPr/>
          <p:nvPr/>
        </p:nvSpPr>
        <p:spPr>
          <a:xfrm>
            <a:off x="685800" y="2514600"/>
            <a:ext cx="1280160" cy="420624"/>
          </a:xfrm>
          <a:prstGeom prst="rect">
            <a:avLst/>
          </a:prstGeom>
          <a:noFill/>
          <a:ln/>
        </p:spPr>
        <p:txBody>
          <a:bodyPr wrap="square" lIns="0" tIns="0" rIns="0" bIns="0" rtlCol="0" anchor="ctr"/>
          <a:lstStyle/>
          <a:p>
            <a:pPr algn="r" indent="0" marL="0">
              <a:buNone/>
            </a:pPr>
            <a:r>
              <a:rPr lang="en-US" sz="1600" dirty="0">
                <a:solidFill>
                  <a:srgbClr val="1A2029"/>
                </a:solidFill>
                <a:latin typeface="Microsoft YaHei" pitchFamily="34" charset="0"/>
                <a:ea typeface="Microsoft YaHei" pitchFamily="34" charset="-122"/>
                <a:cs typeface="Microsoft YaHei" pitchFamily="34" charset="-120"/>
              </a:rPr>
              <a:t>设计制作</a:t>
            </a:r>
            <a:endParaRPr lang="en-US" sz="1600" dirty="0"/>
          </a:p>
        </p:txBody>
      </p:sp>
      <p:sp>
        <p:nvSpPr>
          <p:cNvPr id="9" name="Shape 7"/>
          <p:cNvSpPr/>
          <p:nvPr/>
        </p:nvSpPr>
        <p:spPr>
          <a:xfrm>
            <a:off x="2148840" y="2514600"/>
            <a:ext cx="6175656" cy="420624"/>
          </a:xfrm>
          <a:prstGeom prst="rect">
            <a:avLst/>
          </a:prstGeom>
          <a:solidFill>
            <a:srgbClr val="C9714C"/>
          </a:solidFill>
          <a:ln w="12700">
            <a:solidFill>
              <a:srgbClr val="C9714C"/>
            </a:solidFill>
            <a:prstDash val="solid"/>
          </a:ln>
        </p:spPr>
      </p:sp>
      <p:sp>
        <p:nvSpPr>
          <p:cNvPr id="10" name="Text 8"/>
          <p:cNvSpPr/>
          <p:nvPr/>
        </p:nvSpPr>
        <p:spPr>
          <a:xfrm>
            <a:off x="2148840" y="2514600"/>
            <a:ext cx="6029352" cy="420624"/>
          </a:xfrm>
          <a:prstGeom prst="rect">
            <a:avLst/>
          </a:prstGeom>
          <a:noFill/>
          <a:ln/>
        </p:spPr>
        <p:txBody>
          <a:bodyPr wrap="square" lIns="0" tIns="0" rIns="0" bIns="0" rtlCol="0" anchor="ctr"/>
          <a:lstStyle/>
          <a:p>
            <a:pPr algn="r" indent="0" marL="0">
              <a:buNone/>
            </a:pPr>
            <a:r>
              <a:rPr lang="en-US" sz="1400" b="1" dirty="0">
                <a:solidFill>
                  <a:srgbClr val="FFFFFF"/>
                </a:solidFill>
                <a:latin typeface="Microsoft YaHei" pitchFamily="34" charset="0"/>
                <a:ea typeface="Microsoft YaHei" pitchFamily="34" charset="-122"/>
                <a:cs typeface="Microsoft YaHei" pitchFamily="34" charset="-120"/>
              </a:rPr>
              <a:t>次之</a:t>
            </a:r>
            <a:endParaRPr lang="en-US" sz="1400" dirty="0"/>
          </a:p>
        </p:txBody>
      </p:sp>
      <p:sp>
        <p:nvSpPr>
          <p:cNvPr id="11" name="Text 9"/>
          <p:cNvSpPr/>
          <p:nvPr/>
        </p:nvSpPr>
        <p:spPr>
          <a:xfrm>
            <a:off x="2148840" y="3026664"/>
            <a:ext cx="9357055" cy="274320"/>
          </a:xfrm>
          <a:prstGeom prst="rect">
            <a:avLst/>
          </a:prstGeom>
          <a:noFill/>
          <a:ln/>
        </p:spPr>
        <p:txBody>
          <a:bodyPr wrap="square" lIns="0" tIns="0" rIns="0" bIns="0" rtlCol="0" anchor="ctr"/>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原型不再稀缺，学生跳过试错直接拿到能用的东西</a:t>
            </a:r>
            <a:endParaRPr lang="en-US" sz="1400" dirty="0"/>
          </a:p>
        </p:txBody>
      </p:sp>
      <p:sp>
        <p:nvSpPr>
          <p:cNvPr id="12" name="Text 10"/>
          <p:cNvSpPr/>
          <p:nvPr/>
        </p:nvSpPr>
        <p:spPr>
          <a:xfrm>
            <a:off x="685800" y="3429000"/>
            <a:ext cx="1280160" cy="420624"/>
          </a:xfrm>
          <a:prstGeom prst="rect">
            <a:avLst/>
          </a:prstGeom>
          <a:noFill/>
          <a:ln/>
        </p:spPr>
        <p:txBody>
          <a:bodyPr wrap="square" lIns="0" tIns="0" rIns="0" bIns="0" rtlCol="0" anchor="ctr"/>
          <a:lstStyle/>
          <a:p>
            <a:pPr algn="r" indent="0" marL="0">
              <a:buNone/>
            </a:pPr>
            <a:r>
              <a:rPr lang="en-US" sz="1600" dirty="0">
                <a:solidFill>
                  <a:srgbClr val="1A2029"/>
                </a:solidFill>
                <a:latin typeface="Microsoft YaHei" pitchFamily="34" charset="0"/>
                <a:ea typeface="Microsoft YaHei" pitchFamily="34" charset="-122"/>
                <a:cs typeface="Microsoft YaHei" pitchFamily="34" charset="-120"/>
              </a:rPr>
              <a:t>社会服务</a:t>
            </a:r>
            <a:endParaRPr lang="en-US" sz="1600" dirty="0"/>
          </a:p>
        </p:txBody>
      </p:sp>
      <p:sp>
        <p:nvSpPr>
          <p:cNvPr id="13" name="Shape 11"/>
          <p:cNvSpPr/>
          <p:nvPr/>
        </p:nvSpPr>
        <p:spPr>
          <a:xfrm>
            <a:off x="2148840" y="3429000"/>
            <a:ext cx="2807117" cy="420624"/>
          </a:xfrm>
          <a:prstGeom prst="rect">
            <a:avLst/>
          </a:prstGeom>
          <a:solidFill>
            <a:srgbClr val="EBC4B2"/>
          </a:solidFill>
          <a:ln w="12700">
            <a:solidFill>
              <a:srgbClr val="D9A98F"/>
            </a:solidFill>
            <a:prstDash val="solid"/>
          </a:ln>
        </p:spPr>
      </p:sp>
      <p:sp>
        <p:nvSpPr>
          <p:cNvPr id="14" name="Text 12"/>
          <p:cNvSpPr/>
          <p:nvPr/>
        </p:nvSpPr>
        <p:spPr>
          <a:xfrm>
            <a:off x="2148840" y="3429000"/>
            <a:ext cx="2660813" cy="420624"/>
          </a:xfrm>
          <a:prstGeom prst="rect">
            <a:avLst/>
          </a:prstGeom>
          <a:noFill/>
          <a:ln/>
        </p:spPr>
        <p:txBody>
          <a:bodyPr wrap="square" lIns="0" tIns="0" rIns="0" bIns="0" rtlCol="0" anchor="ctr"/>
          <a:lstStyle/>
          <a:p>
            <a:pPr algn="r" indent="0" marL="0">
              <a:buNone/>
            </a:pPr>
            <a:r>
              <a:rPr lang="en-US" sz="1400" b="1" dirty="0">
                <a:solidFill>
                  <a:srgbClr val="1A2029"/>
                </a:solidFill>
                <a:latin typeface="Microsoft YaHei" pitchFamily="34" charset="0"/>
                <a:ea typeface="Microsoft YaHei" pitchFamily="34" charset="-122"/>
                <a:cs typeface="Microsoft YaHei" pitchFamily="34" charset="-120"/>
              </a:rPr>
              <a:t>轻</a:t>
            </a:r>
            <a:endParaRPr lang="en-US" sz="1400" dirty="0"/>
          </a:p>
        </p:txBody>
      </p:sp>
      <p:sp>
        <p:nvSpPr>
          <p:cNvPr id="15" name="Text 13"/>
          <p:cNvSpPr/>
          <p:nvPr/>
        </p:nvSpPr>
        <p:spPr>
          <a:xfrm>
            <a:off x="685800" y="3959352"/>
            <a:ext cx="1280160" cy="420624"/>
          </a:xfrm>
          <a:prstGeom prst="rect">
            <a:avLst/>
          </a:prstGeom>
          <a:noFill/>
          <a:ln/>
        </p:spPr>
        <p:txBody>
          <a:bodyPr wrap="square" lIns="0" tIns="0" rIns="0" bIns="0" rtlCol="0" anchor="ctr"/>
          <a:lstStyle/>
          <a:p>
            <a:pPr algn="r" indent="0" marL="0">
              <a:buNone/>
            </a:pPr>
            <a:r>
              <a:rPr lang="en-US" sz="1600" dirty="0">
                <a:solidFill>
                  <a:srgbClr val="1A2029"/>
                </a:solidFill>
                <a:latin typeface="Microsoft YaHei" pitchFamily="34" charset="0"/>
                <a:ea typeface="Microsoft YaHei" pitchFamily="34" charset="-122"/>
                <a:cs typeface="Microsoft YaHei" pitchFamily="34" charset="-120"/>
              </a:rPr>
              <a:t>职业体验</a:t>
            </a:r>
            <a:endParaRPr lang="en-US" sz="1600" dirty="0"/>
          </a:p>
        </p:txBody>
      </p:sp>
      <p:sp>
        <p:nvSpPr>
          <p:cNvPr id="16" name="Shape 14"/>
          <p:cNvSpPr/>
          <p:nvPr/>
        </p:nvSpPr>
        <p:spPr>
          <a:xfrm>
            <a:off x="2148840" y="3959352"/>
            <a:ext cx="2807117" cy="420624"/>
          </a:xfrm>
          <a:prstGeom prst="rect">
            <a:avLst/>
          </a:prstGeom>
          <a:solidFill>
            <a:srgbClr val="EBC4B2"/>
          </a:solidFill>
          <a:ln w="12700">
            <a:solidFill>
              <a:srgbClr val="D9A98F"/>
            </a:solidFill>
            <a:prstDash val="solid"/>
          </a:ln>
        </p:spPr>
      </p:sp>
      <p:sp>
        <p:nvSpPr>
          <p:cNvPr id="17" name="Text 15"/>
          <p:cNvSpPr/>
          <p:nvPr/>
        </p:nvSpPr>
        <p:spPr>
          <a:xfrm>
            <a:off x="2148840" y="3959352"/>
            <a:ext cx="2660813" cy="420624"/>
          </a:xfrm>
          <a:prstGeom prst="rect">
            <a:avLst/>
          </a:prstGeom>
          <a:noFill/>
          <a:ln/>
        </p:spPr>
        <p:txBody>
          <a:bodyPr wrap="square" lIns="0" tIns="0" rIns="0" bIns="0" rtlCol="0" anchor="ctr"/>
          <a:lstStyle/>
          <a:p>
            <a:pPr algn="r" indent="0" marL="0">
              <a:buNone/>
            </a:pPr>
            <a:r>
              <a:rPr lang="en-US" sz="1400" b="1" dirty="0">
                <a:solidFill>
                  <a:srgbClr val="1A2029"/>
                </a:solidFill>
                <a:latin typeface="Microsoft YaHei" pitchFamily="34" charset="0"/>
                <a:ea typeface="Microsoft YaHei" pitchFamily="34" charset="-122"/>
                <a:cs typeface="Microsoft YaHei" pitchFamily="34" charset="-120"/>
              </a:rPr>
              <a:t>轻</a:t>
            </a:r>
            <a:endParaRPr lang="en-US" sz="1400" dirty="0"/>
          </a:p>
        </p:txBody>
      </p:sp>
      <p:sp>
        <p:nvSpPr>
          <p:cNvPr id="18" name="Text 16"/>
          <p:cNvSpPr/>
          <p:nvPr/>
        </p:nvSpPr>
        <p:spPr>
          <a:xfrm>
            <a:off x="2148840" y="4471416"/>
            <a:ext cx="9357055" cy="274320"/>
          </a:xfrm>
          <a:prstGeom prst="rect">
            <a:avLst/>
          </a:prstGeom>
          <a:noFill/>
          <a:ln/>
        </p:spPr>
        <p:txBody>
          <a:bodyPr wrap="square" lIns="0" tIns="0" rIns="0" bIns="0" rtlCol="0" anchor="ctr"/>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身体必须在场</a:t>
            </a:r>
            <a:endParaRPr lang="en-US" sz="1400" dirty="0"/>
          </a:p>
        </p:txBody>
      </p:sp>
      <p:sp>
        <p:nvSpPr>
          <p:cNvPr id="19" name="Shape 17"/>
          <p:cNvSpPr/>
          <p:nvPr/>
        </p:nvSpPr>
        <p:spPr>
          <a:xfrm>
            <a:off x="685800" y="5961888"/>
            <a:ext cx="10820095" cy="0"/>
          </a:xfrm>
          <a:prstGeom prst="line">
            <a:avLst/>
          </a:prstGeom>
          <a:noFill/>
          <a:ln w="12700">
            <a:solidFill>
              <a:srgbClr val="E2E6EA"/>
            </a:solidFill>
            <a:prstDash val="solid"/>
          </a:ln>
        </p:spPr>
      </p:sp>
      <p:sp>
        <p:nvSpPr>
          <p:cNvPr id="20" name="Text 18"/>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四种活动方式出自《中小学综合实践活动课程指导纲要》（教材〔2017〕4 号）。此处的排序是按成果可替代性做的判断，不是测量数据，故不设数值轴。</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12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两张图叠起来看</a:t>
            </a:r>
            <a:endParaRPr lang="en-US" sz="3600" dirty="0"/>
          </a:p>
        </p:txBody>
      </p:sp>
      <p:sp>
        <p:nvSpPr>
          <p:cNvPr id="4" name="Shape 2"/>
          <p:cNvSpPr/>
          <p:nvPr/>
        </p:nvSpPr>
        <p:spPr>
          <a:xfrm>
            <a:off x="685800" y="1417320"/>
            <a:ext cx="5181448" cy="1737360"/>
          </a:xfrm>
          <a:prstGeom prst="rect">
            <a:avLst/>
          </a:prstGeom>
          <a:solidFill>
            <a:srgbClr val="F4F6F8"/>
          </a:solidFill>
          <a:ln w="12700">
            <a:solidFill>
              <a:srgbClr val="F4F6F8"/>
            </a:solidFill>
            <a:prstDash val="solid"/>
          </a:ln>
        </p:spPr>
      </p:sp>
      <p:sp>
        <p:nvSpPr>
          <p:cNvPr id="5" name="Text 3"/>
          <p:cNvSpPr/>
          <p:nvPr/>
        </p:nvSpPr>
        <p:spPr>
          <a:xfrm>
            <a:off x="923544" y="1600200"/>
            <a:ext cx="4705960"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做中学没有覆盖的</a:t>
            </a:r>
            <a:endParaRPr lang="en-US" sz="1100" dirty="0"/>
          </a:p>
        </p:txBody>
      </p:sp>
      <p:sp>
        <p:nvSpPr>
          <p:cNvPr id="6" name="Text 4"/>
          <p:cNvSpPr/>
          <p:nvPr/>
        </p:nvSpPr>
        <p:spPr>
          <a:xfrm>
            <a:off x="923544" y="1947672"/>
            <a:ext cx="4705960" cy="365760"/>
          </a:xfrm>
          <a:prstGeom prst="rect">
            <a:avLst/>
          </a:prstGeom>
          <a:noFill/>
          <a:ln/>
        </p:spPr>
        <p:txBody>
          <a:bodyPr wrap="square" lIns="0" tIns="0" rIns="0" bIns="0" rtlCol="0" anchor="ctr"/>
          <a:lstStyle/>
          <a:p>
            <a:pPr indent="0" marL="0">
              <a:buNone/>
            </a:pPr>
            <a:r>
              <a:rPr lang="en-US" sz="1900" b="1" dirty="0">
                <a:solidFill>
                  <a:srgbClr val="1A2029"/>
                </a:solidFill>
                <a:latin typeface="Microsoft YaHei" pitchFamily="34" charset="0"/>
                <a:ea typeface="Microsoft YaHei" pitchFamily="34" charset="-122"/>
                <a:cs typeface="Microsoft YaHei" pitchFamily="34" charset="-120"/>
              </a:rPr>
              <a:t>社会服务</a:t>
            </a:r>
            <a:endParaRPr lang="en-US" sz="1900" dirty="0"/>
          </a:p>
        </p:txBody>
      </p:sp>
      <p:sp>
        <p:nvSpPr>
          <p:cNvPr id="7" name="Text 5"/>
          <p:cNvSpPr/>
          <p:nvPr/>
        </p:nvSpPr>
        <p:spPr>
          <a:xfrm>
            <a:off x="923544" y="2386584"/>
            <a:ext cx="4705960" cy="365760"/>
          </a:xfrm>
          <a:prstGeom prst="rect">
            <a:avLst/>
          </a:prstGeom>
          <a:noFill/>
          <a:ln/>
        </p:spPr>
        <p:txBody>
          <a:bodyPr wrap="square" lIns="0" tIns="0" rIns="0" bIns="0" rtlCol="0" anchor="ctr"/>
          <a:lstStyle/>
          <a:p>
            <a:pPr indent="0" marL="0">
              <a:buNone/>
            </a:pPr>
            <a:r>
              <a:rPr lang="en-US" sz="1900" b="1" dirty="0">
                <a:solidFill>
                  <a:srgbClr val="1A2029"/>
                </a:solidFill>
                <a:latin typeface="Microsoft YaHei" pitchFamily="34" charset="0"/>
                <a:ea typeface="Microsoft YaHei" pitchFamily="34" charset="-122"/>
                <a:cs typeface="Microsoft YaHei" pitchFamily="34" charset="-120"/>
              </a:rPr>
              <a:t>职业体验</a:t>
            </a:r>
            <a:endParaRPr lang="en-US" sz="1900" dirty="0"/>
          </a:p>
        </p:txBody>
      </p:sp>
      <p:sp>
        <p:nvSpPr>
          <p:cNvPr id="8" name="Shape 6"/>
          <p:cNvSpPr/>
          <p:nvPr/>
        </p:nvSpPr>
        <p:spPr>
          <a:xfrm>
            <a:off x="6324448" y="1417320"/>
            <a:ext cx="5181448" cy="1737360"/>
          </a:xfrm>
          <a:prstGeom prst="rect">
            <a:avLst/>
          </a:prstGeom>
          <a:solidFill>
            <a:srgbClr val="F4F6F8"/>
          </a:solidFill>
          <a:ln w="12700">
            <a:solidFill>
              <a:srgbClr val="F4F6F8"/>
            </a:solidFill>
            <a:prstDash val="solid"/>
          </a:ln>
        </p:spPr>
      </p:sp>
      <p:sp>
        <p:nvSpPr>
          <p:cNvPr id="9" name="Text 7"/>
          <p:cNvSpPr/>
          <p:nvPr/>
        </p:nvSpPr>
        <p:spPr>
          <a:xfrm>
            <a:off x="6562192" y="1600200"/>
            <a:ext cx="4705960"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AI 冲击最轻的</a:t>
            </a:r>
            <a:endParaRPr lang="en-US" sz="1100" dirty="0"/>
          </a:p>
        </p:txBody>
      </p:sp>
      <p:sp>
        <p:nvSpPr>
          <p:cNvPr id="10" name="Text 8"/>
          <p:cNvSpPr/>
          <p:nvPr/>
        </p:nvSpPr>
        <p:spPr>
          <a:xfrm>
            <a:off x="6562192" y="1947672"/>
            <a:ext cx="4705960" cy="365760"/>
          </a:xfrm>
          <a:prstGeom prst="rect">
            <a:avLst/>
          </a:prstGeom>
          <a:noFill/>
          <a:ln/>
        </p:spPr>
        <p:txBody>
          <a:bodyPr wrap="square" lIns="0" tIns="0" rIns="0" bIns="0" rtlCol="0" anchor="ctr"/>
          <a:lstStyle/>
          <a:p>
            <a:pPr indent="0" marL="0">
              <a:buNone/>
            </a:pPr>
            <a:r>
              <a:rPr lang="en-US" sz="1900" b="1" dirty="0">
                <a:solidFill>
                  <a:srgbClr val="1A2029"/>
                </a:solidFill>
                <a:latin typeface="Microsoft YaHei" pitchFamily="34" charset="0"/>
                <a:ea typeface="Microsoft YaHei" pitchFamily="34" charset="-122"/>
                <a:cs typeface="Microsoft YaHei" pitchFamily="34" charset="-120"/>
              </a:rPr>
              <a:t>社会服务</a:t>
            </a:r>
            <a:endParaRPr lang="en-US" sz="1900" dirty="0"/>
          </a:p>
        </p:txBody>
      </p:sp>
      <p:sp>
        <p:nvSpPr>
          <p:cNvPr id="11" name="Text 9"/>
          <p:cNvSpPr/>
          <p:nvPr/>
        </p:nvSpPr>
        <p:spPr>
          <a:xfrm>
            <a:off x="6562192" y="2386584"/>
            <a:ext cx="4705960" cy="365760"/>
          </a:xfrm>
          <a:prstGeom prst="rect">
            <a:avLst/>
          </a:prstGeom>
          <a:noFill/>
          <a:ln/>
        </p:spPr>
        <p:txBody>
          <a:bodyPr wrap="square" lIns="0" tIns="0" rIns="0" bIns="0" rtlCol="0" anchor="ctr"/>
          <a:lstStyle/>
          <a:p>
            <a:pPr indent="0" marL="0">
              <a:buNone/>
            </a:pPr>
            <a:r>
              <a:rPr lang="en-US" sz="1900" b="1" dirty="0">
                <a:solidFill>
                  <a:srgbClr val="1A2029"/>
                </a:solidFill>
                <a:latin typeface="Microsoft YaHei" pitchFamily="34" charset="0"/>
                <a:ea typeface="Microsoft YaHei" pitchFamily="34" charset="-122"/>
                <a:cs typeface="Microsoft YaHei" pitchFamily="34" charset="-120"/>
              </a:rPr>
              <a:t>职业体验</a:t>
            </a:r>
            <a:endParaRPr lang="en-US" sz="1900" dirty="0"/>
          </a:p>
        </p:txBody>
      </p:sp>
      <p:sp>
        <p:nvSpPr>
          <p:cNvPr id="12" name="Text 10"/>
          <p:cNvSpPr/>
          <p:nvPr/>
        </p:nvSpPr>
        <p:spPr>
          <a:xfrm>
            <a:off x="685800" y="3566160"/>
            <a:ext cx="10820095" cy="731520"/>
          </a:xfrm>
          <a:prstGeom prst="rect">
            <a:avLst/>
          </a:prstGeom>
          <a:noFill/>
          <a:ln/>
        </p:spPr>
        <p:txBody>
          <a:bodyPr wrap="square" lIns="0" tIns="0" rIns="0" bIns="0" rtlCol="0" anchor="t"/>
          <a:lstStyle/>
          <a:p>
            <a:pPr indent="0" marL="0">
              <a:lnSpc>
                <a:spcPct val="140000"/>
              </a:lnSpc>
              <a:buNone/>
            </a:pPr>
            <a:r>
              <a:rPr lang="en-US" sz="2400" dirty="0">
                <a:solidFill>
                  <a:srgbClr val="1A2029"/>
                </a:solidFill>
                <a:latin typeface="Microsoft YaHei" pitchFamily="34" charset="0"/>
                <a:ea typeface="Microsoft YaHei" pitchFamily="34" charset="-122"/>
                <a:cs typeface="Microsoft YaHei" pitchFamily="34" charset="-120"/>
              </a:rPr>
              <a:t>做中学没覆盖的那半边，正好是 AI 冲击最轻的那半边。</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13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但这不等于可以不管</a:t>
            </a:r>
            <a:endParaRPr lang="en-US" sz="3600" dirty="0"/>
          </a:p>
        </p:txBody>
      </p:sp>
      <p:sp>
        <p:nvSpPr>
          <p:cNvPr id="4" name="Text 2"/>
          <p:cNvSpPr/>
          <p:nvPr/>
        </p:nvSpPr>
        <p:spPr>
          <a:xfrm>
            <a:off x="685800" y="15544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1</a:t>
            </a:r>
            <a:endParaRPr lang="en-US" sz="1600" dirty="0"/>
          </a:p>
        </p:txBody>
      </p:sp>
      <p:sp>
        <p:nvSpPr>
          <p:cNvPr id="5" name="Text 3"/>
          <p:cNvSpPr/>
          <p:nvPr/>
        </p:nvSpPr>
        <p:spPr>
          <a:xfrm>
            <a:off x="1097280" y="15179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被覆盖的那半边仍然要教，而且是国家现在加压的那一半。</a:t>
            </a:r>
            <a:endParaRPr lang="en-US" sz="2100" dirty="0"/>
          </a:p>
        </p:txBody>
      </p:sp>
      <p:sp>
        <p:nvSpPr>
          <p:cNvPr id="6" name="Text 4"/>
          <p:cNvSpPr/>
          <p:nvPr/>
        </p:nvSpPr>
        <p:spPr>
          <a:xfrm>
            <a:off x="685800" y="22402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2</a:t>
            </a:r>
            <a:endParaRPr lang="en-US" sz="1600" dirty="0"/>
          </a:p>
        </p:txBody>
      </p:sp>
      <p:sp>
        <p:nvSpPr>
          <p:cNvPr id="7" name="Text 5"/>
          <p:cNvSpPr/>
          <p:nvPr/>
        </p:nvSpPr>
        <p:spPr>
          <a:xfrm>
            <a:off x="1097280" y="22037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任务时间紧，教师的本能是用 AI 去加速慢的环节。</a:t>
            </a:r>
            <a:endParaRPr lang="en-US" sz="2100" dirty="0"/>
          </a:p>
        </p:txBody>
      </p:sp>
      <p:sp>
        <p:nvSpPr>
          <p:cNvPr id="8" name="Text 6"/>
          <p:cNvSpPr/>
          <p:nvPr/>
        </p:nvSpPr>
        <p:spPr>
          <a:xfrm>
            <a:off x="685800" y="2926080"/>
            <a:ext cx="320040" cy="36576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3</a:t>
            </a:r>
            <a:endParaRPr lang="en-US" sz="1600" dirty="0"/>
          </a:p>
        </p:txBody>
      </p:sp>
      <p:sp>
        <p:nvSpPr>
          <p:cNvPr id="9" name="Text 7"/>
          <p:cNvSpPr/>
          <p:nvPr/>
        </p:nvSpPr>
        <p:spPr>
          <a:xfrm>
            <a:off x="1097280" y="2889504"/>
            <a:ext cx="10408615" cy="548640"/>
          </a:xfrm>
          <a:prstGeom prst="rect">
            <a:avLst/>
          </a:prstGeom>
          <a:noFill/>
          <a:ln/>
        </p:spPr>
        <p:txBody>
          <a:bodyPr wrap="square" lIns="0" tIns="0" rIns="0" bIns="0" rtlCol="0" anchor="t"/>
          <a:lstStyle/>
          <a:p>
            <a:pPr indent="0" marL="0">
              <a:lnSpc>
                <a:spcPct val="135000"/>
              </a:lnSpc>
              <a:buNone/>
            </a:pPr>
            <a:r>
              <a:rPr lang="en-US" sz="2100" dirty="0">
                <a:solidFill>
                  <a:srgbClr val="1A2029"/>
                </a:solidFill>
                <a:latin typeface="Microsoft YaHei" pitchFamily="34" charset="0"/>
                <a:ea typeface="Microsoft YaHei" pitchFamily="34" charset="-122"/>
                <a:cs typeface="Microsoft YaHei" pitchFamily="34" charset="-120"/>
              </a:rPr>
              <a:t>慢的环节正是这门课的内容。</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14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六个老问题</a:t>
            </a:r>
            <a:endParaRPr lang="en-US" sz="3600" dirty="0"/>
          </a:p>
        </p:txBody>
      </p:sp>
      <p:sp>
        <p:nvSpPr>
          <p:cNvPr id="4" name="Shape 2"/>
          <p:cNvSpPr/>
          <p:nvPr/>
        </p:nvSpPr>
        <p:spPr>
          <a:xfrm>
            <a:off x="685800" y="2057400"/>
            <a:ext cx="5181448" cy="0"/>
          </a:xfrm>
          <a:prstGeom prst="line">
            <a:avLst/>
          </a:prstGeom>
          <a:noFill/>
          <a:ln w="12700">
            <a:solidFill>
              <a:srgbClr val="E2E6EA"/>
            </a:solidFill>
            <a:prstDash val="solid"/>
          </a:ln>
        </p:spPr>
      </p:sp>
      <p:sp>
        <p:nvSpPr>
          <p:cNvPr id="5" name="Text 3"/>
          <p:cNvSpPr/>
          <p:nvPr/>
        </p:nvSpPr>
        <p:spPr>
          <a:xfrm>
            <a:off x="685800" y="224028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01</a:t>
            </a:r>
            <a:endParaRPr lang="en-US" sz="1600" dirty="0"/>
          </a:p>
        </p:txBody>
      </p:sp>
      <p:sp>
        <p:nvSpPr>
          <p:cNvPr id="6" name="Text 4"/>
          <p:cNvSpPr/>
          <p:nvPr/>
        </p:nvSpPr>
        <p:spPr>
          <a:xfrm>
            <a:off x="1161288" y="222199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课时被挤占</a:t>
            </a:r>
            <a:endParaRPr lang="en-US" sz="2100" dirty="0"/>
          </a:p>
        </p:txBody>
      </p:sp>
      <p:sp>
        <p:nvSpPr>
          <p:cNvPr id="7" name="Shape 5"/>
          <p:cNvSpPr/>
          <p:nvPr/>
        </p:nvSpPr>
        <p:spPr>
          <a:xfrm>
            <a:off x="6324448" y="2057400"/>
            <a:ext cx="5181448" cy="0"/>
          </a:xfrm>
          <a:prstGeom prst="line">
            <a:avLst/>
          </a:prstGeom>
          <a:noFill/>
          <a:ln w="12700">
            <a:solidFill>
              <a:srgbClr val="E2E6EA"/>
            </a:solidFill>
            <a:prstDash val="solid"/>
          </a:ln>
        </p:spPr>
      </p:sp>
      <p:sp>
        <p:nvSpPr>
          <p:cNvPr id="8" name="Text 6"/>
          <p:cNvSpPr/>
          <p:nvPr/>
        </p:nvSpPr>
        <p:spPr>
          <a:xfrm>
            <a:off x="6324448" y="224028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02</a:t>
            </a:r>
            <a:endParaRPr lang="en-US" sz="1600" dirty="0"/>
          </a:p>
        </p:txBody>
      </p:sp>
      <p:sp>
        <p:nvSpPr>
          <p:cNvPr id="9" name="Text 7"/>
          <p:cNvSpPr/>
          <p:nvPr/>
        </p:nvSpPr>
        <p:spPr>
          <a:xfrm>
            <a:off x="6799936" y="222199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师资兼任</a:t>
            </a:r>
            <a:endParaRPr lang="en-US" sz="2100" dirty="0"/>
          </a:p>
        </p:txBody>
      </p:sp>
      <p:sp>
        <p:nvSpPr>
          <p:cNvPr id="10" name="Shape 8"/>
          <p:cNvSpPr/>
          <p:nvPr/>
        </p:nvSpPr>
        <p:spPr>
          <a:xfrm>
            <a:off x="685800" y="2834640"/>
            <a:ext cx="5181448" cy="0"/>
          </a:xfrm>
          <a:prstGeom prst="line">
            <a:avLst/>
          </a:prstGeom>
          <a:noFill/>
          <a:ln w="12700">
            <a:solidFill>
              <a:srgbClr val="E2E6EA"/>
            </a:solidFill>
            <a:prstDash val="solid"/>
          </a:ln>
        </p:spPr>
      </p:sp>
      <p:sp>
        <p:nvSpPr>
          <p:cNvPr id="11" name="Text 9"/>
          <p:cNvSpPr/>
          <p:nvPr/>
        </p:nvSpPr>
        <p:spPr>
          <a:xfrm>
            <a:off x="685800" y="301752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03</a:t>
            </a:r>
            <a:endParaRPr lang="en-US" sz="1600" dirty="0"/>
          </a:p>
        </p:txBody>
      </p:sp>
      <p:sp>
        <p:nvSpPr>
          <p:cNvPr id="12" name="Text 10"/>
          <p:cNvSpPr/>
          <p:nvPr/>
        </p:nvSpPr>
        <p:spPr>
          <a:xfrm>
            <a:off x="1161288" y="299923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形式化、材料化、成果拼盘</a:t>
            </a:r>
            <a:endParaRPr lang="en-US" sz="2100" dirty="0"/>
          </a:p>
        </p:txBody>
      </p:sp>
      <p:sp>
        <p:nvSpPr>
          <p:cNvPr id="13" name="Shape 11"/>
          <p:cNvSpPr/>
          <p:nvPr/>
        </p:nvSpPr>
        <p:spPr>
          <a:xfrm>
            <a:off x="6324448" y="2834640"/>
            <a:ext cx="5181448" cy="0"/>
          </a:xfrm>
          <a:prstGeom prst="line">
            <a:avLst/>
          </a:prstGeom>
          <a:noFill/>
          <a:ln w="12700">
            <a:solidFill>
              <a:srgbClr val="E2E6EA"/>
            </a:solidFill>
            <a:prstDash val="solid"/>
          </a:ln>
        </p:spPr>
      </p:sp>
      <p:sp>
        <p:nvSpPr>
          <p:cNvPr id="14" name="Text 12"/>
          <p:cNvSpPr/>
          <p:nvPr/>
        </p:nvSpPr>
        <p:spPr>
          <a:xfrm>
            <a:off x="6324448" y="301752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04</a:t>
            </a:r>
            <a:endParaRPr lang="en-US" sz="1600" dirty="0"/>
          </a:p>
        </p:txBody>
      </p:sp>
      <p:sp>
        <p:nvSpPr>
          <p:cNvPr id="15" name="Text 13"/>
          <p:cNvSpPr/>
          <p:nvPr/>
        </p:nvSpPr>
        <p:spPr>
          <a:xfrm>
            <a:off x="6799936" y="299923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研学只旅不学</a:t>
            </a:r>
            <a:endParaRPr lang="en-US" sz="2100" dirty="0"/>
          </a:p>
        </p:txBody>
      </p:sp>
      <p:sp>
        <p:nvSpPr>
          <p:cNvPr id="16" name="Shape 14"/>
          <p:cNvSpPr/>
          <p:nvPr/>
        </p:nvSpPr>
        <p:spPr>
          <a:xfrm>
            <a:off x="685800" y="3611880"/>
            <a:ext cx="5181448" cy="0"/>
          </a:xfrm>
          <a:prstGeom prst="line">
            <a:avLst/>
          </a:prstGeom>
          <a:noFill/>
          <a:ln w="12700">
            <a:solidFill>
              <a:srgbClr val="E2E6EA"/>
            </a:solidFill>
            <a:prstDash val="solid"/>
          </a:ln>
        </p:spPr>
      </p:sp>
      <p:sp>
        <p:nvSpPr>
          <p:cNvPr id="17" name="Text 15"/>
          <p:cNvSpPr/>
          <p:nvPr/>
        </p:nvSpPr>
        <p:spPr>
          <a:xfrm>
            <a:off x="685800" y="379476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05</a:t>
            </a:r>
            <a:endParaRPr lang="en-US" sz="1600" dirty="0"/>
          </a:p>
        </p:txBody>
      </p:sp>
      <p:sp>
        <p:nvSpPr>
          <p:cNvPr id="18" name="Text 16"/>
          <p:cNvSpPr/>
          <p:nvPr/>
        </p:nvSpPr>
        <p:spPr>
          <a:xfrm>
            <a:off x="1161288" y="377647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家长代劳、成果造假</a:t>
            </a:r>
            <a:endParaRPr lang="en-US" sz="2100" dirty="0"/>
          </a:p>
        </p:txBody>
      </p:sp>
      <p:sp>
        <p:nvSpPr>
          <p:cNvPr id="19" name="Shape 17"/>
          <p:cNvSpPr/>
          <p:nvPr/>
        </p:nvSpPr>
        <p:spPr>
          <a:xfrm>
            <a:off x="6324448" y="3611880"/>
            <a:ext cx="5181448" cy="0"/>
          </a:xfrm>
          <a:prstGeom prst="line">
            <a:avLst/>
          </a:prstGeom>
          <a:noFill/>
          <a:ln w="12700">
            <a:solidFill>
              <a:srgbClr val="E2E6EA"/>
            </a:solidFill>
            <a:prstDash val="solid"/>
          </a:ln>
        </p:spPr>
      </p:sp>
      <p:sp>
        <p:nvSpPr>
          <p:cNvPr id="20" name="Text 18"/>
          <p:cNvSpPr/>
          <p:nvPr/>
        </p:nvSpPr>
        <p:spPr>
          <a:xfrm>
            <a:off x="6324448" y="3794760"/>
            <a:ext cx="411480" cy="320040"/>
          </a:xfrm>
          <a:prstGeom prst="rect">
            <a:avLst/>
          </a:prstGeom>
          <a:noFill/>
          <a:ln/>
        </p:spPr>
        <p:txBody>
          <a:bodyPr wrap="square" lIns="0" tIns="0" rIns="0" bIns="0" rtlCol="0" anchor="ctr"/>
          <a:lstStyle/>
          <a:p>
            <a:pPr indent="0" marL="0">
              <a:buNone/>
            </a:pPr>
            <a:r>
              <a:rPr lang="en-US" sz="1600" b="1" dirty="0">
                <a:solidFill>
                  <a:srgbClr val="8C97A3"/>
                </a:solidFill>
                <a:latin typeface="Microsoft YaHei" pitchFamily="34" charset="0"/>
                <a:ea typeface="Microsoft YaHei" pitchFamily="34" charset="-122"/>
                <a:cs typeface="Microsoft YaHei" pitchFamily="34" charset="-120"/>
              </a:rPr>
              <a:t>06</a:t>
            </a:r>
            <a:endParaRPr lang="en-US" sz="1600" dirty="0"/>
          </a:p>
        </p:txBody>
      </p:sp>
      <p:sp>
        <p:nvSpPr>
          <p:cNvPr id="21" name="Text 19"/>
          <p:cNvSpPr/>
          <p:nvPr/>
        </p:nvSpPr>
        <p:spPr>
          <a:xfrm>
            <a:off x="6799936" y="3776472"/>
            <a:ext cx="4705960"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档案袋加重教师负担</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15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这些不是印象</a:t>
            </a:r>
            <a:endParaRPr lang="en-US" sz="3600" dirty="0"/>
          </a:p>
        </p:txBody>
      </p:sp>
      <p:sp>
        <p:nvSpPr>
          <p:cNvPr id="4" name="Shape 2"/>
          <p:cNvSpPr/>
          <p:nvPr/>
        </p:nvSpPr>
        <p:spPr>
          <a:xfrm>
            <a:off x="685800" y="1417320"/>
            <a:ext cx="10820095" cy="2286000"/>
          </a:xfrm>
          <a:prstGeom prst="rect">
            <a:avLst/>
          </a:prstGeom>
          <a:solidFill>
            <a:srgbClr val="F4F6F8"/>
          </a:solidFill>
          <a:ln w="12700">
            <a:solidFill>
              <a:srgbClr val="F4F6F8"/>
            </a:solidFill>
            <a:prstDash val="solid"/>
          </a:ln>
        </p:spPr>
      </p:sp>
      <p:sp>
        <p:nvSpPr>
          <p:cNvPr id="5" name="Text 3"/>
          <p:cNvSpPr/>
          <p:nvPr/>
        </p:nvSpPr>
        <p:spPr>
          <a:xfrm>
            <a:off x="960120" y="1600200"/>
            <a:ext cx="10271455" cy="365760"/>
          </a:xfrm>
          <a:prstGeom prst="rect">
            <a:avLst/>
          </a:prstGeom>
          <a:noFill/>
          <a:ln/>
        </p:spPr>
        <p:txBody>
          <a:bodyPr wrap="square" lIns="0" tIns="0" rIns="0" bIns="0" rtlCol="0" anchor="ctr"/>
          <a:lstStyle/>
          <a:p>
            <a:pPr indent="0" marL="0">
              <a:buNone/>
            </a:pPr>
            <a:r>
              <a:rPr lang="en-US" sz="2100" dirty="0">
                <a:solidFill>
                  <a:srgbClr val="1A2029"/>
                </a:solidFill>
                <a:latin typeface="Microsoft YaHei" pitchFamily="34" charset="0"/>
                <a:ea typeface="Microsoft YaHei" pitchFamily="34" charset="-122"/>
                <a:cs typeface="Microsoft YaHei" pitchFamily="34" charset="-120"/>
              </a:rPr>
              <a:t>师资兼任是普遍状况，且兼职教师的课程实施水平显著更低。</a:t>
            </a:r>
            <a:endParaRPr lang="en-US" sz="2100" dirty="0"/>
          </a:p>
        </p:txBody>
      </p:sp>
      <p:sp>
        <p:nvSpPr>
          <p:cNvPr id="6" name="Shape 4"/>
          <p:cNvSpPr/>
          <p:nvPr/>
        </p:nvSpPr>
        <p:spPr>
          <a:xfrm>
            <a:off x="960120" y="2130552"/>
            <a:ext cx="10271455" cy="0"/>
          </a:xfrm>
          <a:prstGeom prst="line">
            <a:avLst/>
          </a:prstGeom>
          <a:noFill/>
          <a:ln w="12700">
            <a:solidFill>
              <a:srgbClr val="E2E6EA"/>
            </a:solidFill>
            <a:prstDash val="solid"/>
          </a:ln>
        </p:spPr>
      </p:sp>
      <p:sp>
        <p:nvSpPr>
          <p:cNvPr id="7" name="Text 5"/>
          <p:cNvSpPr/>
          <p:nvPr/>
        </p:nvSpPr>
        <p:spPr>
          <a:xfrm>
            <a:off x="960120" y="2203704"/>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样本</a:t>
            </a:r>
            <a:endParaRPr lang="en-US" sz="1100" dirty="0"/>
          </a:p>
        </p:txBody>
      </p:sp>
      <p:sp>
        <p:nvSpPr>
          <p:cNvPr id="8" name="Text 6"/>
          <p:cNvSpPr/>
          <p:nvPr/>
        </p:nvSpPr>
        <p:spPr>
          <a:xfrm>
            <a:off x="1984248" y="2185416"/>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北京市 527 名小学综合实践活动教师</a:t>
            </a:r>
            <a:endParaRPr lang="en-US" sz="1400" dirty="0"/>
          </a:p>
        </p:txBody>
      </p:sp>
      <p:sp>
        <p:nvSpPr>
          <p:cNvPr id="9" name="Shape 7"/>
          <p:cNvSpPr/>
          <p:nvPr/>
        </p:nvSpPr>
        <p:spPr>
          <a:xfrm>
            <a:off x="960120" y="2514600"/>
            <a:ext cx="10271455" cy="0"/>
          </a:xfrm>
          <a:prstGeom prst="line">
            <a:avLst/>
          </a:prstGeom>
          <a:noFill/>
          <a:ln w="12700">
            <a:solidFill>
              <a:srgbClr val="E2E6EA"/>
            </a:solidFill>
            <a:prstDash val="solid"/>
          </a:ln>
        </p:spPr>
      </p:sp>
      <p:sp>
        <p:nvSpPr>
          <p:cNvPr id="10" name="Text 8"/>
          <p:cNvSpPr/>
          <p:nvPr/>
        </p:nvSpPr>
        <p:spPr>
          <a:xfrm>
            <a:off x="960120" y="2587752"/>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构成</a:t>
            </a:r>
            <a:endParaRPr lang="en-US" sz="1100" dirty="0"/>
          </a:p>
        </p:txBody>
      </p:sp>
      <p:sp>
        <p:nvSpPr>
          <p:cNvPr id="11" name="Text 9"/>
          <p:cNvSpPr/>
          <p:nvPr/>
        </p:nvSpPr>
        <p:spPr>
          <a:xfrm>
            <a:off x="1984248" y="2569464"/>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兼职占 56.9%，专职占 43.1%</a:t>
            </a:r>
            <a:endParaRPr lang="en-US" sz="1400" dirty="0"/>
          </a:p>
        </p:txBody>
      </p:sp>
      <p:sp>
        <p:nvSpPr>
          <p:cNvPr id="12" name="Shape 10"/>
          <p:cNvSpPr/>
          <p:nvPr/>
        </p:nvSpPr>
        <p:spPr>
          <a:xfrm>
            <a:off x="960120" y="2898648"/>
            <a:ext cx="10271455" cy="0"/>
          </a:xfrm>
          <a:prstGeom prst="line">
            <a:avLst/>
          </a:prstGeom>
          <a:noFill/>
          <a:ln w="12700">
            <a:solidFill>
              <a:srgbClr val="E2E6EA"/>
            </a:solidFill>
            <a:prstDash val="solid"/>
          </a:ln>
        </p:spPr>
      </p:sp>
      <p:sp>
        <p:nvSpPr>
          <p:cNvPr id="13" name="Text 11"/>
          <p:cNvSpPr/>
          <p:nvPr/>
        </p:nvSpPr>
        <p:spPr>
          <a:xfrm>
            <a:off x="960120" y="2971800"/>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差异</a:t>
            </a:r>
            <a:endParaRPr lang="en-US" sz="1100" dirty="0"/>
          </a:p>
        </p:txBody>
      </p:sp>
      <p:sp>
        <p:nvSpPr>
          <p:cNvPr id="14" name="Text 12"/>
          <p:cNvSpPr/>
          <p:nvPr/>
        </p:nvSpPr>
        <p:spPr>
          <a:xfrm>
            <a:off x="1984248" y="2953512"/>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专职教师课程实施水平显著高于兼职，p&lt;0.001</a:t>
            </a:r>
            <a:endParaRPr lang="en-US" sz="1400" dirty="0"/>
          </a:p>
        </p:txBody>
      </p:sp>
      <p:sp>
        <p:nvSpPr>
          <p:cNvPr id="15" name="Shape 13"/>
          <p:cNvSpPr/>
          <p:nvPr/>
        </p:nvSpPr>
        <p:spPr>
          <a:xfrm>
            <a:off x="960120" y="3282696"/>
            <a:ext cx="10271455" cy="0"/>
          </a:xfrm>
          <a:prstGeom prst="line">
            <a:avLst/>
          </a:prstGeom>
          <a:noFill/>
          <a:ln w="12700">
            <a:solidFill>
              <a:srgbClr val="E2E6EA"/>
            </a:solidFill>
            <a:prstDash val="solid"/>
          </a:ln>
        </p:spPr>
      </p:sp>
      <p:sp>
        <p:nvSpPr>
          <p:cNvPr id="16" name="Text 14"/>
          <p:cNvSpPr/>
          <p:nvPr/>
        </p:nvSpPr>
        <p:spPr>
          <a:xfrm>
            <a:off x="960120" y="3355848"/>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分布</a:t>
            </a:r>
            <a:endParaRPr lang="en-US" sz="1100" dirty="0"/>
          </a:p>
        </p:txBody>
      </p:sp>
      <p:sp>
        <p:nvSpPr>
          <p:cNvPr id="17" name="Text 15"/>
          <p:cNvSpPr/>
          <p:nvPr/>
        </p:nvSpPr>
        <p:spPr>
          <a:xfrm>
            <a:off x="1984248" y="3337560"/>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平稳实施型与机械执行型合计超过 60%</a:t>
            </a:r>
            <a:endParaRPr lang="en-US" sz="1400" dirty="0"/>
          </a:p>
        </p:txBody>
      </p:sp>
      <p:sp>
        <p:nvSpPr>
          <p:cNvPr id="18" name="Text 16"/>
          <p:cNvSpPr/>
          <p:nvPr/>
        </p:nvSpPr>
        <p:spPr>
          <a:xfrm>
            <a:off x="685800" y="3849624"/>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李小红等，2019，《华东师范大学学报（教育科学版）》37 卷 4 期</a:t>
            </a:r>
            <a:endParaRPr lang="en-US" sz="1100" dirty="0"/>
          </a:p>
        </p:txBody>
      </p:sp>
      <p:sp>
        <p:nvSpPr>
          <p:cNvPr id="19" name="Shape 17"/>
          <p:cNvSpPr/>
          <p:nvPr/>
        </p:nvSpPr>
        <p:spPr>
          <a:xfrm>
            <a:off x="685800" y="5961888"/>
            <a:ext cx="10820095" cy="0"/>
          </a:xfrm>
          <a:prstGeom prst="line">
            <a:avLst/>
          </a:prstGeom>
          <a:noFill/>
          <a:ln w="12700">
            <a:solidFill>
              <a:srgbClr val="E2E6EA"/>
            </a:solidFill>
            <a:prstDash val="solid"/>
          </a:ln>
        </p:spPr>
      </p:sp>
      <p:sp>
        <p:nvSpPr>
          <p:cNvPr id="20" name="Text 18"/>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这是全国范围的普遍现象，不是深圳的问题。</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16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AI 往哪边推</a:t>
            </a:r>
            <a:endParaRPr lang="en-US" sz="3600" dirty="0"/>
          </a:p>
        </p:txBody>
      </p:sp>
      <p:sp>
        <p:nvSpPr>
          <p:cNvPr id="4" name="Text 2"/>
          <p:cNvSpPr/>
          <p:nvPr/>
        </p:nvSpPr>
        <p:spPr>
          <a:xfrm>
            <a:off x="685800" y="1417320"/>
            <a:ext cx="3454298" cy="365760"/>
          </a:xfrm>
          <a:prstGeom prst="rect">
            <a:avLst/>
          </a:prstGeom>
          <a:noFill/>
          <a:ln/>
        </p:spPr>
        <p:txBody>
          <a:bodyPr wrap="square" lIns="0" tIns="0" rIns="0" bIns="0" rtlCol="0" anchor="ctr"/>
          <a:lstStyle/>
          <a:p>
            <a:pPr indent="0" marL="0">
              <a:buNone/>
            </a:pPr>
            <a:r>
              <a:rPr lang="en-US" sz="2100" b="1" dirty="0">
                <a:solidFill>
                  <a:srgbClr val="B0472A"/>
                </a:solidFill>
                <a:latin typeface="Microsoft YaHei" pitchFamily="34" charset="0"/>
                <a:ea typeface="Microsoft YaHei" pitchFamily="34" charset="-122"/>
                <a:cs typeface="Microsoft YaHei" pitchFamily="34" charset="-120"/>
              </a:rPr>
              <a:t>AI 会加剧</a:t>
            </a:r>
            <a:endParaRPr lang="en-US" sz="2100" dirty="0"/>
          </a:p>
        </p:txBody>
      </p:sp>
      <p:sp>
        <p:nvSpPr>
          <p:cNvPr id="5" name="Shape 3"/>
          <p:cNvSpPr/>
          <p:nvPr/>
        </p:nvSpPr>
        <p:spPr>
          <a:xfrm>
            <a:off x="685800" y="1837944"/>
            <a:ext cx="3454298" cy="0"/>
          </a:xfrm>
          <a:prstGeom prst="line">
            <a:avLst/>
          </a:prstGeom>
          <a:noFill/>
          <a:ln w="25400">
            <a:solidFill>
              <a:srgbClr val="B0472A"/>
            </a:solidFill>
            <a:prstDash val="solid"/>
          </a:ln>
        </p:spPr>
      </p:sp>
      <p:sp>
        <p:nvSpPr>
          <p:cNvPr id="6" name="Text 4"/>
          <p:cNvSpPr/>
          <p:nvPr/>
        </p:nvSpPr>
        <p:spPr>
          <a:xfrm>
            <a:off x="685800" y="1984248"/>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形式化、成果拼盘</a:t>
            </a:r>
            <a:endParaRPr lang="en-US" sz="1600" dirty="0"/>
          </a:p>
        </p:txBody>
      </p:sp>
      <p:sp>
        <p:nvSpPr>
          <p:cNvPr id="7" name="Shape 5"/>
          <p:cNvSpPr/>
          <p:nvPr/>
        </p:nvSpPr>
        <p:spPr>
          <a:xfrm>
            <a:off x="685800" y="2551176"/>
            <a:ext cx="3454298" cy="0"/>
          </a:xfrm>
          <a:prstGeom prst="line">
            <a:avLst/>
          </a:prstGeom>
          <a:noFill/>
          <a:ln w="12700">
            <a:solidFill>
              <a:srgbClr val="E2E6EA"/>
            </a:solidFill>
            <a:prstDash val="solid"/>
          </a:ln>
        </p:spPr>
      </p:sp>
      <p:sp>
        <p:nvSpPr>
          <p:cNvPr id="8" name="Text 6"/>
          <p:cNvSpPr/>
          <p:nvPr/>
        </p:nvSpPr>
        <p:spPr>
          <a:xfrm>
            <a:off x="685800" y="2697480"/>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家长代劳、成果造假</a:t>
            </a:r>
            <a:endParaRPr lang="en-US" sz="1600" dirty="0"/>
          </a:p>
        </p:txBody>
      </p:sp>
      <p:sp>
        <p:nvSpPr>
          <p:cNvPr id="9" name="Shape 7"/>
          <p:cNvSpPr/>
          <p:nvPr/>
        </p:nvSpPr>
        <p:spPr>
          <a:xfrm>
            <a:off x="685800" y="3264408"/>
            <a:ext cx="3454298" cy="0"/>
          </a:xfrm>
          <a:prstGeom prst="line">
            <a:avLst/>
          </a:prstGeom>
          <a:noFill/>
          <a:ln w="12700">
            <a:solidFill>
              <a:srgbClr val="E2E6EA"/>
            </a:solidFill>
            <a:prstDash val="solid"/>
          </a:ln>
        </p:spPr>
      </p:sp>
      <p:sp>
        <p:nvSpPr>
          <p:cNvPr id="10" name="Text 8"/>
          <p:cNvSpPr/>
          <p:nvPr/>
        </p:nvSpPr>
        <p:spPr>
          <a:xfrm>
            <a:off x="685800" y="3410712"/>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选题雷同</a:t>
            </a:r>
            <a:endParaRPr lang="en-US" sz="1600" dirty="0"/>
          </a:p>
        </p:txBody>
      </p:sp>
      <p:sp>
        <p:nvSpPr>
          <p:cNvPr id="11" name="Shape 9"/>
          <p:cNvSpPr/>
          <p:nvPr/>
        </p:nvSpPr>
        <p:spPr>
          <a:xfrm>
            <a:off x="685800" y="3977640"/>
            <a:ext cx="3454298" cy="0"/>
          </a:xfrm>
          <a:prstGeom prst="line">
            <a:avLst/>
          </a:prstGeom>
          <a:noFill/>
          <a:ln w="12700">
            <a:solidFill>
              <a:srgbClr val="E2E6EA"/>
            </a:solidFill>
            <a:prstDash val="solid"/>
          </a:ln>
        </p:spPr>
      </p:sp>
      <p:sp>
        <p:nvSpPr>
          <p:cNvPr id="12" name="Text 10"/>
          <p:cNvSpPr/>
          <p:nvPr/>
        </p:nvSpPr>
        <p:spPr>
          <a:xfrm>
            <a:off x="685800" y="4123944"/>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研学只旅不学</a:t>
            </a:r>
            <a:endParaRPr lang="en-US" sz="1600" dirty="0"/>
          </a:p>
        </p:txBody>
      </p:sp>
      <p:sp>
        <p:nvSpPr>
          <p:cNvPr id="13" name="Shape 11"/>
          <p:cNvSpPr/>
          <p:nvPr/>
        </p:nvSpPr>
        <p:spPr>
          <a:xfrm>
            <a:off x="685800" y="4690872"/>
            <a:ext cx="3454298" cy="0"/>
          </a:xfrm>
          <a:prstGeom prst="line">
            <a:avLst/>
          </a:prstGeom>
          <a:noFill/>
          <a:ln w="12700">
            <a:solidFill>
              <a:srgbClr val="E2E6EA"/>
            </a:solidFill>
            <a:prstDash val="solid"/>
          </a:ln>
        </p:spPr>
      </p:sp>
      <p:sp>
        <p:nvSpPr>
          <p:cNvPr id="14" name="Text 12"/>
          <p:cNvSpPr/>
          <p:nvPr/>
        </p:nvSpPr>
        <p:spPr>
          <a:xfrm>
            <a:off x="4368698" y="1417320"/>
            <a:ext cx="3454298" cy="365760"/>
          </a:xfrm>
          <a:prstGeom prst="rect">
            <a:avLst/>
          </a:prstGeom>
          <a:noFill/>
          <a:ln/>
        </p:spPr>
        <p:txBody>
          <a:bodyPr wrap="square" lIns="0" tIns="0" rIns="0" bIns="0" rtlCol="0" anchor="ctr"/>
          <a:lstStyle/>
          <a:p>
            <a:pPr indent="0" marL="0">
              <a:buNone/>
            </a:pPr>
            <a:r>
              <a:rPr lang="en-US" sz="2100" b="1" dirty="0">
                <a:solidFill>
                  <a:srgbClr val="33414F"/>
                </a:solidFill>
                <a:latin typeface="Microsoft YaHei" pitchFamily="34" charset="0"/>
                <a:ea typeface="Microsoft YaHei" pitchFamily="34" charset="-122"/>
                <a:cs typeface="Microsoft YaHei" pitchFamily="34" charset="-120"/>
              </a:rPr>
              <a:t>AI 能减轻</a:t>
            </a:r>
            <a:endParaRPr lang="en-US" sz="2100" dirty="0"/>
          </a:p>
        </p:txBody>
      </p:sp>
      <p:sp>
        <p:nvSpPr>
          <p:cNvPr id="15" name="Shape 13"/>
          <p:cNvSpPr/>
          <p:nvPr/>
        </p:nvSpPr>
        <p:spPr>
          <a:xfrm>
            <a:off x="4368698" y="1837944"/>
            <a:ext cx="3454298" cy="0"/>
          </a:xfrm>
          <a:prstGeom prst="line">
            <a:avLst/>
          </a:prstGeom>
          <a:noFill/>
          <a:ln w="25400">
            <a:solidFill>
              <a:srgbClr val="33414F"/>
            </a:solidFill>
            <a:prstDash val="solid"/>
          </a:ln>
        </p:spPr>
      </p:sp>
      <p:sp>
        <p:nvSpPr>
          <p:cNvPr id="16" name="Text 14"/>
          <p:cNvSpPr/>
          <p:nvPr/>
        </p:nvSpPr>
        <p:spPr>
          <a:xfrm>
            <a:off x="4368698" y="1984248"/>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过程证据的采集与结构化</a:t>
            </a:r>
            <a:endParaRPr lang="en-US" sz="1600" dirty="0"/>
          </a:p>
        </p:txBody>
      </p:sp>
      <p:sp>
        <p:nvSpPr>
          <p:cNvPr id="17" name="Shape 15"/>
          <p:cNvSpPr/>
          <p:nvPr/>
        </p:nvSpPr>
        <p:spPr>
          <a:xfrm>
            <a:off x="4368698" y="2551176"/>
            <a:ext cx="3454298" cy="0"/>
          </a:xfrm>
          <a:prstGeom prst="line">
            <a:avLst/>
          </a:prstGeom>
          <a:noFill/>
          <a:ln w="12700">
            <a:solidFill>
              <a:srgbClr val="E2E6EA"/>
            </a:solidFill>
            <a:prstDash val="solid"/>
          </a:ln>
        </p:spPr>
      </p:sp>
      <p:sp>
        <p:nvSpPr>
          <p:cNvPr id="18" name="Text 16"/>
          <p:cNvSpPr/>
          <p:nvPr/>
        </p:nvSpPr>
        <p:spPr>
          <a:xfrm>
            <a:off x="4368698" y="2697480"/>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量规、任务单、差异化分层</a:t>
            </a:r>
            <a:endParaRPr lang="en-US" sz="1600" dirty="0"/>
          </a:p>
        </p:txBody>
      </p:sp>
      <p:sp>
        <p:nvSpPr>
          <p:cNvPr id="19" name="Shape 17"/>
          <p:cNvSpPr/>
          <p:nvPr/>
        </p:nvSpPr>
        <p:spPr>
          <a:xfrm>
            <a:off x="4368698" y="3264408"/>
            <a:ext cx="3454298" cy="0"/>
          </a:xfrm>
          <a:prstGeom prst="line">
            <a:avLst/>
          </a:prstGeom>
          <a:noFill/>
          <a:ln w="12700">
            <a:solidFill>
              <a:srgbClr val="E2E6EA"/>
            </a:solidFill>
            <a:prstDash val="solid"/>
          </a:ln>
        </p:spPr>
      </p:sp>
      <p:sp>
        <p:nvSpPr>
          <p:cNvPr id="20" name="Text 18"/>
          <p:cNvSpPr/>
          <p:nvPr/>
        </p:nvSpPr>
        <p:spPr>
          <a:xfrm>
            <a:off x="4368698" y="3410712"/>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评语与写实记录的整理</a:t>
            </a:r>
            <a:endParaRPr lang="en-US" sz="1600" dirty="0"/>
          </a:p>
        </p:txBody>
      </p:sp>
      <p:sp>
        <p:nvSpPr>
          <p:cNvPr id="21" name="Shape 19"/>
          <p:cNvSpPr/>
          <p:nvPr/>
        </p:nvSpPr>
        <p:spPr>
          <a:xfrm>
            <a:off x="4368698" y="3977640"/>
            <a:ext cx="3454298" cy="0"/>
          </a:xfrm>
          <a:prstGeom prst="line">
            <a:avLst/>
          </a:prstGeom>
          <a:noFill/>
          <a:ln w="12700">
            <a:solidFill>
              <a:srgbClr val="E2E6EA"/>
            </a:solidFill>
            <a:prstDash val="solid"/>
          </a:ln>
        </p:spPr>
      </p:sp>
      <p:sp>
        <p:nvSpPr>
          <p:cNvPr id="22" name="Text 20"/>
          <p:cNvSpPr/>
          <p:nvPr/>
        </p:nvSpPr>
        <p:spPr>
          <a:xfrm>
            <a:off x="4368698" y="4123944"/>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1A2029"/>
                </a:solidFill>
                <a:latin typeface="Microsoft YaHei" pitchFamily="34" charset="0"/>
                <a:ea typeface="Microsoft YaHei" pitchFamily="34" charset="-122"/>
                <a:cs typeface="Microsoft YaHei" pitchFamily="34" charset="-120"/>
              </a:rPr>
              <a:t>低阶排版与图表</a:t>
            </a:r>
            <a:endParaRPr lang="en-US" sz="1600" dirty="0"/>
          </a:p>
        </p:txBody>
      </p:sp>
      <p:sp>
        <p:nvSpPr>
          <p:cNvPr id="23" name="Shape 21"/>
          <p:cNvSpPr/>
          <p:nvPr/>
        </p:nvSpPr>
        <p:spPr>
          <a:xfrm>
            <a:off x="4368698" y="4690872"/>
            <a:ext cx="3454298" cy="0"/>
          </a:xfrm>
          <a:prstGeom prst="line">
            <a:avLst/>
          </a:prstGeom>
          <a:noFill/>
          <a:ln w="12700">
            <a:solidFill>
              <a:srgbClr val="E2E6EA"/>
            </a:solidFill>
            <a:prstDash val="solid"/>
          </a:ln>
        </p:spPr>
      </p:sp>
      <p:sp>
        <p:nvSpPr>
          <p:cNvPr id="24" name="Text 22"/>
          <p:cNvSpPr/>
          <p:nvPr/>
        </p:nvSpPr>
        <p:spPr>
          <a:xfrm>
            <a:off x="8051597" y="1417320"/>
            <a:ext cx="3454298" cy="365760"/>
          </a:xfrm>
          <a:prstGeom prst="rect">
            <a:avLst/>
          </a:prstGeom>
          <a:noFill/>
          <a:ln/>
        </p:spPr>
        <p:txBody>
          <a:bodyPr wrap="square" lIns="0" tIns="0" rIns="0" bIns="0" rtlCol="0" anchor="ctr"/>
          <a:lstStyle/>
          <a:p>
            <a:pPr indent="0" marL="0">
              <a:buNone/>
            </a:pPr>
            <a:r>
              <a:rPr lang="en-US" sz="2100" b="1" dirty="0">
                <a:solidFill>
                  <a:srgbClr val="5A6472"/>
                </a:solidFill>
                <a:latin typeface="Microsoft YaHei" pitchFamily="34" charset="0"/>
                <a:ea typeface="Microsoft YaHei" pitchFamily="34" charset="-122"/>
                <a:cs typeface="Microsoft YaHei" pitchFamily="34" charset="-120"/>
              </a:rPr>
              <a:t>AI 无关</a:t>
            </a:r>
            <a:endParaRPr lang="en-US" sz="2100" dirty="0"/>
          </a:p>
        </p:txBody>
      </p:sp>
      <p:sp>
        <p:nvSpPr>
          <p:cNvPr id="25" name="Shape 23"/>
          <p:cNvSpPr/>
          <p:nvPr/>
        </p:nvSpPr>
        <p:spPr>
          <a:xfrm>
            <a:off x="8051597" y="1837944"/>
            <a:ext cx="3454298" cy="0"/>
          </a:xfrm>
          <a:prstGeom prst="line">
            <a:avLst/>
          </a:prstGeom>
          <a:noFill/>
          <a:ln w="25400">
            <a:solidFill>
              <a:srgbClr val="5A6472"/>
            </a:solidFill>
            <a:prstDash val="solid"/>
          </a:ln>
        </p:spPr>
      </p:sp>
      <p:sp>
        <p:nvSpPr>
          <p:cNvPr id="26" name="Text 24"/>
          <p:cNvSpPr/>
          <p:nvPr/>
        </p:nvSpPr>
        <p:spPr>
          <a:xfrm>
            <a:off x="8051597" y="1984248"/>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5A6472"/>
                </a:solidFill>
                <a:latin typeface="Microsoft YaHei" pitchFamily="34" charset="0"/>
                <a:ea typeface="Microsoft YaHei" pitchFamily="34" charset="-122"/>
                <a:cs typeface="Microsoft YaHei" pitchFamily="34" charset="-120"/>
              </a:rPr>
              <a:t>课时被挤占</a:t>
            </a:r>
            <a:endParaRPr lang="en-US" sz="1600" dirty="0"/>
          </a:p>
        </p:txBody>
      </p:sp>
      <p:sp>
        <p:nvSpPr>
          <p:cNvPr id="27" name="Shape 25"/>
          <p:cNvSpPr/>
          <p:nvPr/>
        </p:nvSpPr>
        <p:spPr>
          <a:xfrm>
            <a:off x="8051597" y="2551176"/>
            <a:ext cx="3454298" cy="0"/>
          </a:xfrm>
          <a:prstGeom prst="line">
            <a:avLst/>
          </a:prstGeom>
          <a:noFill/>
          <a:ln w="12700">
            <a:solidFill>
              <a:srgbClr val="E2E6EA"/>
            </a:solidFill>
            <a:prstDash val="solid"/>
          </a:ln>
        </p:spPr>
      </p:sp>
      <p:sp>
        <p:nvSpPr>
          <p:cNvPr id="28" name="Text 26"/>
          <p:cNvSpPr/>
          <p:nvPr/>
        </p:nvSpPr>
        <p:spPr>
          <a:xfrm>
            <a:off x="8051597" y="2697480"/>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5A6472"/>
                </a:solidFill>
                <a:latin typeface="Microsoft YaHei" pitchFamily="34" charset="0"/>
                <a:ea typeface="Microsoft YaHei" pitchFamily="34" charset="-122"/>
                <a:cs typeface="Microsoft YaHei" pitchFamily="34" charset="-120"/>
              </a:rPr>
              <a:t>师资兼任与工作量</a:t>
            </a:r>
            <a:endParaRPr lang="en-US" sz="1600" dirty="0"/>
          </a:p>
        </p:txBody>
      </p:sp>
      <p:sp>
        <p:nvSpPr>
          <p:cNvPr id="29" name="Shape 27"/>
          <p:cNvSpPr/>
          <p:nvPr/>
        </p:nvSpPr>
        <p:spPr>
          <a:xfrm>
            <a:off x="8051597" y="3264408"/>
            <a:ext cx="3454298" cy="0"/>
          </a:xfrm>
          <a:prstGeom prst="line">
            <a:avLst/>
          </a:prstGeom>
          <a:noFill/>
          <a:ln w="12700">
            <a:solidFill>
              <a:srgbClr val="E2E6EA"/>
            </a:solidFill>
            <a:prstDash val="solid"/>
          </a:ln>
        </p:spPr>
      </p:sp>
      <p:sp>
        <p:nvSpPr>
          <p:cNvPr id="30" name="Text 28"/>
          <p:cNvSpPr/>
          <p:nvPr/>
        </p:nvSpPr>
        <p:spPr>
          <a:xfrm>
            <a:off x="8051597" y="3410712"/>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5A6472"/>
                </a:solidFill>
                <a:latin typeface="Microsoft YaHei" pitchFamily="34" charset="0"/>
                <a:ea typeface="Microsoft YaHei" pitchFamily="34" charset="-122"/>
                <a:cs typeface="Microsoft YaHei" pitchFamily="34" charset="-120"/>
              </a:rPr>
              <a:t>校外基地质量</a:t>
            </a:r>
            <a:endParaRPr lang="en-US" sz="1600" dirty="0"/>
          </a:p>
        </p:txBody>
      </p:sp>
      <p:sp>
        <p:nvSpPr>
          <p:cNvPr id="31" name="Shape 29"/>
          <p:cNvSpPr/>
          <p:nvPr/>
        </p:nvSpPr>
        <p:spPr>
          <a:xfrm>
            <a:off x="8051597" y="3977640"/>
            <a:ext cx="3454298" cy="0"/>
          </a:xfrm>
          <a:prstGeom prst="line">
            <a:avLst/>
          </a:prstGeom>
          <a:noFill/>
          <a:ln w="12700">
            <a:solidFill>
              <a:srgbClr val="E2E6EA"/>
            </a:solidFill>
            <a:prstDash val="solid"/>
          </a:ln>
        </p:spPr>
      </p:sp>
      <p:sp>
        <p:nvSpPr>
          <p:cNvPr id="32" name="Text 30"/>
          <p:cNvSpPr/>
          <p:nvPr/>
        </p:nvSpPr>
        <p:spPr>
          <a:xfrm>
            <a:off x="8051597" y="4123944"/>
            <a:ext cx="3454298" cy="512064"/>
          </a:xfrm>
          <a:prstGeom prst="rect">
            <a:avLst/>
          </a:prstGeom>
          <a:noFill/>
          <a:ln/>
        </p:spPr>
        <p:txBody>
          <a:bodyPr wrap="square" lIns="0" tIns="0" rIns="0" bIns="0" rtlCol="0" anchor="ctr"/>
          <a:lstStyle/>
          <a:p>
            <a:pPr indent="0" marL="0">
              <a:lnSpc>
                <a:spcPct val="120000"/>
              </a:lnSpc>
              <a:buNone/>
            </a:pPr>
            <a:r>
              <a:rPr lang="en-US" sz="1600" dirty="0">
                <a:solidFill>
                  <a:srgbClr val="5A6472"/>
                </a:solidFill>
                <a:latin typeface="Microsoft YaHei" pitchFamily="34" charset="0"/>
                <a:ea typeface="Microsoft YaHei" pitchFamily="34" charset="-122"/>
                <a:cs typeface="Microsoft YaHei" pitchFamily="34" charset="-120"/>
              </a:rPr>
              <a:t>综评的公示签字机制</a:t>
            </a:r>
            <a:endParaRPr lang="en-US" sz="1600" dirty="0"/>
          </a:p>
        </p:txBody>
      </p:sp>
      <p:sp>
        <p:nvSpPr>
          <p:cNvPr id="33" name="Shape 31"/>
          <p:cNvSpPr/>
          <p:nvPr/>
        </p:nvSpPr>
        <p:spPr>
          <a:xfrm>
            <a:off x="8051597" y="4690872"/>
            <a:ext cx="3454298" cy="0"/>
          </a:xfrm>
          <a:prstGeom prst="line">
            <a:avLst/>
          </a:prstGeom>
          <a:noFill/>
          <a:ln w="12700">
            <a:solidFill>
              <a:srgbClr val="E2E6EA"/>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17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三类做不实的项目</a:t>
            </a:r>
            <a:endParaRPr lang="en-US" sz="3600" dirty="0"/>
          </a:p>
        </p:txBody>
      </p:sp>
      <p:sp>
        <p:nvSpPr>
          <p:cNvPr id="4" name="Shape 2"/>
          <p:cNvSpPr/>
          <p:nvPr/>
        </p:nvSpPr>
        <p:spPr>
          <a:xfrm>
            <a:off x="685800" y="2286000"/>
            <a:ext cx="3454298" cy="0"/>
          </a:xfrm>
          <a:prstGeom prst="line">
            <a:avLst/>
          </a:prstGeom>
          <a:noFill/>
          <a:ln w="25400">
            <a:solidFill>
              <a:srgbClr val="33414F"/>
            </a:solidFill>
            <a:prstDash val="solid"/>
          </a:ln>
        </p:spPr>
      </p:sp>
      <p:sp>
        <p:nvSpPr>
          <p:cNvPr id="5" name="Text 3"/>
          <p:cNvSpPr/>
          <p:nvPr/>
        </p:nvSpPr>
        <p:spPr>
          <a:xfrm>
            <a:off x="685800" y="2395728"/>
            <a:ext cx="3454298" cy="41148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花瓶项目</a:t>
            </a:r>
            <a:endParaRPr lang="en-US" sz="2000" dirty="0"/>
          </a:p>
        </p:txBody>
      </p:sp>
      <p:sp>
        <p:nvSpPr>
          <p:cNvPr id="6" name="Text 4"/>
          <p:cNvSpPr/>
          <p:nvPr/>
        </p:nvSpPr>
        <p:spPr>
          <a:xfrm>
            <a:off x="685800" y="2871216"/>
            <a:ext cx="3454298" cy="548640"/>
          </a:xfrm>
          <a:prstGeom prst="rect">
            <a:avLst/>
          </a:prstGeom>
          <a:noFill/>
          <a:ln/>
        </p:spPr>
        <p:txBody>
          <a:bodyPr wrap="square" lIns="0" tIns="0" rIns="0" bIns="0" rtlCol="0" anchor="t"/>
          <a:lstStyle/>
          <a:p>
            <a:pPr indent="0" marL="0">
              <a:lnSpc>
                <a:spcPct val="135000"/>
              </a:lnSpc>
              <a:buNone/>
            </a:pPr>
            <a:r>
              <a:rPr lang="en-US" sz="1400" dirty="0">
                <a:solidFill>
                  <a:srgbClr val="5A6472"/>
                </a:solidFill>
                <a:latin typeface="Microsoft YaHei" pitchFamily="34" charset="0"/>
                <a:ea typeface="Microsoft YaHei" pitchFamily="34" charset="-122"/>
                <a:cs typeface="Microsoft YaHei" pitchFamily="34" charset="-120"/>
              </a:rPr>
              <a:t>好看，但没有真实的问题</a:t>
            </a:r>
            <a:endParaRPr lang="en-US" sz="1400" dirty="0"/>
          </a:p>
        </p:txBody>
      </p:sp>
      <p:sp>
        <p:nvSpPr>
          <p:cNvPr id="7" name="Shape 5"/>
          <p:cNvSpPr/>
          <p:nvPr/>
        </p:nvSpPr>
        <p:spPr>
          <a:xfrm>
            <a:off x="4368698" y="2286000"/>
            <a:ext cx="3454298" cy="0"/>
          </a:xfrm>
          <a:prstGeom prst="line">
            <a:avLst/>
          </a:prstGeom>
          <a:noFill/>
          <a:ln w="25400">
            <a:solidFill>
              <a:srgbClr val="33414F"/>
            </a:solidFill>
            <a:prstDash val="solid"/>
          </a:ln>
        </p:spPr>
      </p:sp>
      <p:sp>
        <p:nvSpPr>
          <p:cNvPr id="8" name="Text 6"/>
          <p:cNvSpPr/>
          <p:nvPr/>
        </p:nvSpPr>
        <p:spPr>
          <a:xfrm>
            <a:off x="4368698" y="2395728"/>
            <a:ext cx="3454298" cy="41148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拼盘项目</a:t>
            </a:r>
            <a:endParaRPr lang="en-US" sz="2000" dirty="0"/>
          </a:p>
        </p:txBody>
      </p:sp>
      <p:sp>
        <p:nvSpPr>
          <p:cNvPr id="9" name="Text 7"/>
          <p:cNvSpPr/>
          <p:nvPr/>
        </p:nvSpPr>
        <p:spPr>
          <a:xfrm>
            <a:off x="4368698" y="2871216"/>
            <a:ext cx="3454298" cy="548640"/>
          </a:xfrm>
          <a:prstGeom prst="rect">
            <a:avLst/>
          </a:prstGeom>
          <a:noFill/>
          <a:ln/>
        </p:spPr>
        <p:txBody>
          <a:bodyPr wrap="square" lIns="0" tIns="0" rIns="0" bIns="0" rtlCol="0" anchor="t"/>
          <a:lstStyle/>
          <a:p>
            <a:pPr indent="0" marL="0">
              <a:lnSpc>
                <a:spcPct val="135000"/>
              </a:lnSpc>
              <a:buNone/>
            </a:pPr>
            <a:r>
              <a:rPr lang="en-US" sz="1400" dirty="0">
                <a:solidFill>
                  <a:srgbClr val="5A6472"/>
                </a:solidFill>
                <a:latin typeface="Microsoft YaHei" pitchFamily="34" charset="0"/>
                <a:ea typeface="Microsoft YaHei" pitchFamily="34" charset="-122"/>
                <a:cs typeface="Microsoft YaHei" pitchFamily="34" charset="-120"/>
              </a:rPr>
              <a:t>几个学科拼在一起，各做各的</a:t>
            </a:r>
            <a:endParaRPr lang="en-US" sz="1400" dirty="0"/>
          </a:p>
        </p:txBody>
      </p:sp>
      <p:sp>
        <p:nvSpPr>
          <p:cNvPr id="10" name="Shape 8"/>
          <p:cNvSpPr/>
          <p:nvPr/>
        </p:nvSpPr>
        <p:spPr>
          <a:xfrm>
            <a:off x="8051597" y="2286000"/>
            <a:ext cx="3454298" cy="0"/>
          </a:xfrm>
          <a:prstGeom prst="line">
            <a:avLst/>
          </a:prstGeom>
          <a:noFill/>
          <a:ln w="25400">
            <a:solidFill>
              <a:srgbClr val="33414F"/>
            </a:solidFill>
            <a:prstDash val="solid"/>
          </a:ln>
        </p:spPr>
      </p:sp>
      <p:sp>
        <p:nvSpPr>
          <p:cNvPr id="11" name="Text 9"/>
          <p:cNvSpPr/>
          <p:nvPr/>
        </p:nvSpPr>
        <p:spPr>
          <a:xfrm>
            <a:off x="8051597" y="2395728"/>
            <a:ext cx="3454298" cy="41148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空心项目</a:t>
            </a:r>
            <a:endParaRPr lang="en-US" sz="2000" dirty="0"/>
          </a:p>
        </p:txBody>
      </p:sp>
      <p:sp>
        <p:nvSpPr>
          <p:cNvPr id="12" name="Text 10"/>
          <p:cNvSpPr/>
          <p:nvPr/>
        </p:nvSpPr>
        <p:spPr>
          <a:xfrm>
            <a:off x="8051597" y="2871216"/>
            <a:ext cx="3454298" cy="548640"/>
          </a:xfrm>
          <a:prstGeom prst="rect">
            <a:avLst/>
          </a:prstGeom>
          <a:noFill/>
          <a:ln/>
        </p:spPr>
        <p:txBody>
          <a:bodyPr wrap="square" lIns="0" tIns="0" rIns="0" bIns="0" rtlCol="0" anchor="t"/>
          <a:lstStyle/>
          <a:p>
            <a:pPr indent="0" marL="0">
              <a:lnSpc>
                <a:spcPct val="135000"/>
              </a:lnSpc>
              <a:buNone/>
            </a:pPr>
            <a:r>
              <a:rPr lang="en-US" sz="1400" dirty="0">
                <a:solidFill>
                  <a:srgbClr val="5A6472"/>
                </a:solidFill>
                <a:latin typeface="Microsoft YaHei" pitchFamily="34" charset="0"/>
                <a:ea typeface="Microsoft YaHei" pitchFamily="34" charset="-122"/>
                <a:cs typeface="Microsoft YaHei" pitchFamily="34" charset="-120"/>
              </a:rPr>
              <a:t>有活动，无思维</a:t>
            </a:r>
            <a:endParaRPr lang="en-US" sz="1400" dirty="0"/>
          </a:p>
        </p:txBody>
      </p:sp>
      <p:sp>
        <p:nvSpPr>
          <p:cNvPr id="13" name="Text 11"/>
          <p:cNvSpPr/>
          <p:nvPr/>
        </p:nvSpPr>
        <p:spPr>
          <a:xfrm>
            <a:off x="685800" y="3703320"/>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夏雪梅团队《素养如何落地：项目化学习育人的上海创新与实践》，2022 年国家级教学成果一等奖</a:t>
            </a:r>
            <a:endParaRPr lang="en-US" sz="1100" dirty="0"/>
          </a:p>
        </p:txBody>
      </p:sp>
      <p:sp>
        <p:nvSpPr>
          <p:cNvPr id="14" name="Shape 12"/>
          <p:cNvSpPr/>
          <p:nvPr/>
        </p:nvSpPr>
        <p:spPr>
          <a:xfrm>
            <a:off x="685800" y="5961888"/>
            <a:ext cx="10820095" cy="0"/>
          </a:xfrm>
          <a:prstGeom prst="line">
            <a:avLst/>
          </a:prstGeom>
          <a:noFill/>
          <a:ln w="12700">
            <a:solidFill>
              <a:srgbClr val="E2E6EA"/>
            </a:solidFill>
            <a:prstDash val="solid"/>
          </a:ln>
        </p:spPr>
      </p:sp>
      <p:sp>
        <p:nvSpPr>
          <p:cNvPr id="15" name="Text 1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AI 让空心项目做得更漂亮：有活动，无思维，但成果集很好看。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18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表现提升不等于学习发生</a:t>
            </a:r>
            <a:endParaRPr lang="en-US" sz="3600" dirty="0"/>
          </a:p>
        </p:txBody>
      </p:sp>
      <p:sp>
        <p:nvSpPr>
          <p:cNvPr id="4" name="Shape 2"/>
          <p:cNvSpPr/>
          <p:nvPr/>
        </p:nvSpPr>
        <p:spPr>
          <a:xfrm>
            <a:off x="685800" y="1417320"/>
            <a:ext cx="10820095" cy="2148840"/>
          </a:xfrm>
          <a:prstGeom prst="rect">
            <a:avLst/>
          </a:prstGeom>
          <a:solidFill>
            <a:srgbClr val="F4F6F8"/>
          </a:solidFill>
          <a:ln w="12700">
            <a:solidFill>
              <a:srgbClr val="F4F6F8"/>
            </a:solidFill>
            <a:prstDash val="solid"/>
          </a:ln>
        </p:spPr>
      </p:sp>
      <p:sp>
        <p:nvSpPr>
          <p:cNvPr id="5" name="Shape 3"/>
          <p:cNvSpPr/>
          <p:nvPr/>
        </p:nvSpPr>
        <p:spPr>
          <a:xfrm>
            <a:off x="960120" y="1618488"/>
            <a:ext cx="10271455" cy="0"/>
          </a:xfrm>
          <a:prstGeom prst="line">
            <a:avLst/>
          </a:prstGeom>
          <a:noFill/>
          <a:ln w="12700">
            <a:solidFill>
              <a:srgbClr val="E2E6EA"/>
            </a:solidFill>
            <a:prstDash val="solid"/>
          </a:ln>
        </p:spPr>
      </p:sp>
      <p:sp>
        <p:nvSpPr>
          <p:cNvPr id="6" name="Text 4"/>
          <p:cNvSpPr/>
          <p:nvPr/>
        </p:nvSpPr>
        <p:spPr>
          <a:xfrm>
            <a:off x="960120" y="1691640"/>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设计</a:t>
            </a:r>
            <a:endParaRPr lang="en-US" sz="1100" dirty="0"/>
          </a:p>
        </p:txBody>
      </p:sp>
      <p:sp>
        <p:nvSpPr>
          <p:cNvPr id="7" name="Text 5"/>
          <p:cNvSpPr/>
          <p:nvPr/>
        </p:nvSpPr>
        <p:spPr>
          <a:xfrm>
            <a:off x="1984248" y="1673352"/>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随机实验，四组对照：ChatGPT 组、人类专家组、清单工具组、无支持组</a:t>
            </a:r>
            <a:endParaRPr lang="en-US" sz="1400" dirty="0"/>
          </a:p>
        </p:txBody>
      </p:sp>
      <p:sp>
        <p:nvSpPr>
          <p:cNvPr id="8" name="Shape 6"/>
          <p:cNvSpPr/>
          <p:nvPr/>
        </p:nvSpPr>
        <p:spPr>
          <a:xfrm>
            <a:off x="960120" y="2002536"/>
            <a:ext cx="10271455" cy="0"/>
          </a:xfrm>
          <a:prstGeom prst="line">
            <a:avLst/>
          </a:prstGeom>
          <a:noFill/>
          <a:ln w="12700">
            <a:solidFill>
              <a:srgbClr val="E2E6EA"/>
            </a:solidFill>
            <a:prstDash val="solid"/>
          </a:ln>
        </p:spPr>
      </p:sp>
      <p:sp>
        <p:nvSpPr>
          <p:cNvPr id="9" name="Text 7"/>
          <p:cNvSpPr/>
          <p:nvPr/>
        </p:nvSpPr>
        <p:spPr>
          <a:xfrm>
            <a:off x="960120" y="2075688"/>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样本</a:t>
            </a:r>
            <a:endParaRPr lang="en-US" sz="1100" dirty="0"/>
          </a:p>
        </p:txBody>
      </p:sp>
      <p:sp>
        <p:nvSpPr>
          <p:cNvPr id="10" name="Text 8"/>
          <p:cNvSpPr/>
          <p:nvPr/>
        </p:nvSpPr>
        <p:spPr>
          <a:xfrm>
            <a:off x="1984248" y="2057400"/>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117 名中国大学生，英语读写任务</a:t>
            </a:r>
            <a:endParaRPr lang="en-US" sz="1400" dirty="0"/>
          </a:p>
        </p:txBody>
      </p:sp>
      <p:sp>
        <p:nvSpPr>
          <p:cNvPr id="11" name="Shape 9"/>
          <p:cNvSpPr/>
          <p:nvPr/>
        </p:nvSpPr>
        <p:spPr>
          <a:xfrm>
            <a:off x="960120" y="2386584"/>
            <a:ext cx="10271455" cy="0"/>
          </a:xfrm>
          <a:prstGeom prst="line">
            <a:avLst/>
          </a:prstGeom>
          <a:noFill/>
          <a:ln w="12700">
            <a:solidFill>
              <a:srgbClr val="E2E6EA"/>
            </a:solidFill>
            <a:prstDash val="solid"/>
          </a:ln>
        </p:spPr>
      </p:sp>
      <p:sp>
        <p:nvSpPr>
          <p:cNvPr id="12" name="Text 10"/>
          <p:cNvSpPr/>
          <p:nvPr/>
        </p:nvSpPr>
        <p:spPr>
          <a:xfrm>
            <a:off x="960120" y="2459736"/>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结果</a:t>
            </a:r>
            <a:endParaRPr lang="en-US" sz="1100" dirty="0"/>
          </a:p>
        </p:txBody>
      </p:sp>
      <p:sp>
        <p:nvSpPr>
          <p:cNvPr id="13" name="Text 11"/>
          <p:cNvSpPr/>
          <p:nvPr/>
        </p:nvSpPr>
        <p:spPr>
          <a:xfrm>
            <a:off x="1984248" y="2441448"/>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ChatGPT 组作文成绩显著提升</a:t>
            </a:r>
            <a:endParaRPr lang="en-US" sz="1400" dirty="0"/>
          </a:p>
        </p:txBody>
      </p:sp>
      <p:sp>
        <p:nvSpPr>
          <p:cNvPr id="14" name="Shape 12"/>
          <p:cNvSpPr/>
          <p:nvPr/>
        </p:nvSpPr>
        <p:spPr>
          <a:xfrm>
            <a:off x="960120" y="2770632"/>
            <a:ext cx="10271455" cy="0"/>
          </a:xfrm>
          <a:prstGeom prst="line">
            <a:avLst/>
          </a:prstGeom>
          <a:noFill/>
          <a:ln w="12700">
            <a:solidFill>
              <a:srgbClr val="E2E6EA"/>
            </a:solidFill>
            <a:prstDash val="solid"/>
          </a:ln>
        </p:spPr>
      </p:sp>
      <p:sp>
        <p:nvSpPr>
          <p:cNvPr id="15" name="Text 13"/>
          <p:cNvSpPr/>
          <p:nvPr/>
        </p:nvSpPr>
        <p:spPr>
          <a:xfrm>
            <a:off x="960120" y="2843784"/>
            <a:ext cx="914400"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但是</a:t>
            </a:r>
            <a:endParaRPr lang="en-US" sz="1100" dirty="0"/>
          </a:p>
        </p:txBody>
      </p:sp>
      <p:sp>
        <p:nvSpPr>
          <p:cNvPr id="16" name="Text 14"/>
          <p:cNvSpPr/>
          <p:nvPr/>
        </p:nvSpPr>
        <p:spPr>
          <a:xfrm>
            <a:off x="1984248" y="2825496"/>
            <a:ext cx="9247327" cy="27432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知识获得与迁移，与其他组无显著差异</a:t>
            </a:r>
            <a:endParaRPr lang="en-US" sz="1400" dirty="0"/>
          </a:p>
        </p:txBody>
      </p:sp>
      <p:sp>
        <p:nvSpPr>
          <p:cNvPr id="17" name="Text 15"/>
          <p:cNvSpPr/>
          <p:nvPr/>
        </p:nvSpPr>
        <p:spPr>
          <a:xfrm>
            <a:off x="960120" y="3227832"/>
            <a:ext cx="10271455" cy="274320"/>
          </a:xfrm>
          <a:prstGeom prst="rect">
            <a:avLst/>
          </a:prstGeom>
          <a:noFill/>
          <a:ln/>
        </p:spPr>
        <p:txBody>
          <a:bodyPr wrap="square" lIns="0" tIns="0" rIns="0" bIns="0" rtlCol="0" anchor="ctr"/>
          <a:lstStyle/>
          <a:p>
            <a:pPr indent="0" marL="0">
              <a:buNone/>
            </a:pPr>
            <a:r>
              <a:rPr lang="en-US" sz="1600" b="1" dirty="0">
                <a:solidFill>
                  <a:srgbClr val="B0472A"/>
                </a:solidFill>
                <a:latin typeface="Microsoft YaHei" pitchFamily="34" charset="0"/>
                <a:ea typeface="Microsoft YaHei" pitchFamily="34" charset="-122"/>
                <a:cs typeface="Microsoft YaHei" pitchFamily="34" charset="-120"/>
              </a:rPr>
              <a:t>作者称之为「元认知懒惰」</a:t>
            </a:r>
            <a:endParaRPr lang="en-US" sz="1600" dirty="0"/>
          </a:p>
        </p:txBody>
      </p:sp>
      <p:sp>
        <p:nvSpPr>
          <p:cNvPr id="18" name="Text 16"/>
          <p:cNvSpPr/>
          <p:nvPr/>
        </p:nvSpPr>
        <p:spPr>
          <a:xfrm>
            <a:off x="685800" y="3694176"/>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Fan 等，2025，British Journal of Educational Technology 56(2)</a:t>
            </a:r>
            <a:endParaRPr lang="en-US" sz="1100" dirty="0"/>
          </a:p>
        </p:txBody>
      </p:sp>
      <p:sp>
        <p:nvSpPr>
          <p:cNvPr id="19" name="Text 17"/>
          <p:cNvSpPr/>
          <p:nvPr/>
        </p:nvSpPr>
        <p:spPr>
          <a:xfrm>
            <a:off x="685800" y="3986784"/>
            <a:ext cx="10820095"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和文斌等，2024，《开放教育研究》30 卷 5 期：干预超过 12 周，效应量转为负向。</a:t>
            </a:r>
            <a:endParaRPr lang="en-US" sz="1100" dirty="0"/>
          </a:p>
        </p:txBody>
      </p:sp>
      <p:sp>
        <p:nvSpPr>
          <p:cNvPr id="20" name="Text 18"/>
          <p:cNvSpPr/>
          <p:nvPr/>
        </p:nvSpPr>
        <p:spPr>
          <a:xfrm>
            <a:off x="685800" y="4261104"/>
            <a:ext cx="10820095" cy="256032"/>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钱莉等，2025，《现代教育技术》35 卷 8 期：样本超过 150 人时，效应不显著。</a:t>
            </a:r>
            <a:endParaRPr lang="en-US" sz="1100" dirty="0"/>
          </a:p>
        </p:txBody>
      </p:sp>
      <p:sp>
        <p:nvSpPr>
          <p:cNvPr id="21" name="Shape 19"/>
          <p:cNvSpPr/>
          <p:nvPr/>
        </p:nvSpPr>
        <p:spPr>
          <a:xfrm>
            <a:off x="685800" y="5961888"/>
            <a:ext cx="10820095" cy="0"/>
          </a:xfrm>
          <a:prstGeom prst="line">
            <a:avLst/>
          </a:prstGeom>
          <a:noFill/>
          <a:ln w="12700">
            <a:solidFill>
              <a:srgbClr val="E2E6EA"/>
            </a:solidFill>
            <a:prstDash val="solid"/>
          </a:ln>
        </p:spPr>
      </p:sp>
      <p:sp>
        <p:nvSpPr>
          <p:cNvPr id="22" name="Text 20"/>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样本是大学生。这条证据说明的是机制，不是数值。</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19 · A</a:t>
            </a:r>
            <a:endParaRPr lang="en-US" sz="900" dirty="0"/>
          </a:p>
        </p:txBody>
      </p:sp>
      <p:sp>
        <p:nvSpPr>
          <p:cNvPr id="3" name="Text 1"/>
          <p:cNvSpPr/>
          <p:nvPr/>
        </p:nvSpPr>
        <p:spPr>
          <a:xfrm>
            <a:off x="685800" y="2286000"/>
            <a:ext cx="9997135" cy="1828800"/>
          </a:xfrm>
          <a:prstGeom prst="rect">
            <a:avLst/>
          </a:prstGeom>
          <a:noFill/>
          <a:ln/>
        </p:spPr>
        <p:txBody>
          <a:bodyPr wrap="square" lIns="0" tIns="0" rIns="0" bIns="0" rtlCol="0" anchor="t"/>
          <a:lstStyle/>
          <a:p>
            <a:pPr indent="0" marL="0">
              <a:lnSpc>
                <a:spcPct val="145000"/>
              </a:lnSpc>
              <a:buNone/>
            </a:pPr>
            <a:r>
              <a:rPr lang="en-US" sz="3000" dirty="0">
                <a:solidFill>
                  <a:srgbClr val="1A2029"/>
                </a:solidFill>
                <a:latin typeface="Microsoft YaHei" pitchFamily="34" charset="0"/>
                <a:ea typeface="Microsoft YaHei" pitchFamily="34" charset="-122"/>
                <a:cs typeface="Microsoft YaHei" pitchFamily="34" charset="-120"/>
              </a:rPr>
              <a:t>AI 加速掉的，正是这门课要教的那部分。</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20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判断的三个问题</a:t>
            </a:r>
            <a:endParaRPr lang="en-US" sz="3600" dirty="0"/>
          </a:p>
        </p:txBody>
      </p:sp>
      <p:sp>
        <p:nvSpPr>
          <p:cNvPr id="4" name="Text 2"/>
          <p:cNvSpPr/>
          <p:nvPr/>
        </p:nvSpPr>
        <p:spPr>
          <a:xfrm>
            <a:off x="685800" y="2148840"/>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一</a:t>
            </a:r>
            <a:endParaRPr lang="en-US" sz="2100" dirty="0"/>
          </a:p>
        </p:txBody>
      </p:sp>
      <p:sp>
        <p:nvSpPr>
          <p:cNvPr id="5" name="Text 3"/>
          <p:cNvSpPr/>
          <p:nvPr/>
        </p:nvSpPr>
        <p:spPr>
          <a:xfrm>
            <a:off x="1234440" y="2112264"/>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这一步要练的能力是什么</a:t>
            </a:r>
            <a:endParaRPr lang="en-US" sz="2600" dirty="0"/>
          </a:p>
        </p:txBody>
      </p:sp>
      <p:sp>
        <p:nvSpPr>
          <p:cNvPr id="6" name="Text 4"/>
          <p:cNvSpPr/>
          <p:nvPr/>
        </p:nvSpPr>
        <p:spPr>
          <a:xfrm>
            <a:off x="685800" y="2935224"/>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二</a:t>
            </a:r>
            <a:endParaRPr lang="en-US" sz="2100" dirty="0"/>
          </a:p>
        </p:txBody>
      </p:sp>
      <p:sp>
        <p:nvSpPr>
          <p:cNvPr id="7" name="Text 5"/>
          <p:cNvSpPr/>
          <p:nvPr/>
        </p:nvSpPr>
        <p:spPr>
          <a:xfrm>
            <a:off x="1234440" y="2898648"/>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AI 替掉的是不是正好就是这个能力</a:t>
            </a:r>
            <a:endParaRPr lang="en-US" sz="2600" dirty="0"/>
          </a:p>
        </p:txBody>
      </p:sp>
      <p:sp>
        <p:nvSpPr>
          <p:cNvPr id="8" name="Text 6"/>
          <p:cNvSpPr/>
          <p:nvPr/>
        </p:nvSpPr>
        <p:spPr>
          <a:xfrm>
            <a:off x="685800" y="3721608"/>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三</a:t>
            </a:r>
            <a:endParaRPr lang="en-US" sz="2100" dirty="0"/>
          </a:p>
        </p:txBody>
      </p:sp>
      <p:sp>
        <p:nvSpPr>
          <p:cNvPr id="9" name="Text 7"/>
          <p:cNvSpPr/>
          <p:nvPr/>
        </p:nvSpPr>
        <p:spPr>
          <a:xfrm>
            <a:off x="1234440" y="3685032"/>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如果替掉了，我用什么把它补回来</a:t>
            </a:r>
            <a:endParaRPr lang="en-US" sz="2600" dirty="0"/>
          </a:p>
        </p:txBody>
      </p:sp>
      <p:sp>
        <p:nvSpPr>
          <p:cNvPr id="10" name="Shape 8"/>
          <p:cNvSpPr/>
          <p:nvPr/>
        </p:nvSpPr>
        <p:spPr>
          <a:xfrm>
            <a:off x="685800" y="5961888"/>
            <a:ext cx="10820095" cy="0"/>
          </a:xfrm>
          <a:prstGeom prst="line">
            <a:avLst/>
          </a:prstGeom>
          <a:noFill/>
          <a:ln w="12700">
            <a:solidFill>
              <a:srgbClr val="E2E6EA"/>
            </a:solidFill>
            <a:prstDash val="solid"/>
          </a:ln>
        </p:spPr>
      </p:sp>
      <p:sp>
        <p:nvSpPr>
          <p:cNvPr id="11" name="Text 9"/>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这三问对任何一个环节都适用，不需要记住任何工具的名字。</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21 · B</a:t>
            </a:r>
            <a:endParaRPr lang="en-US" sz="900" dirty="0"/>
          </a:p>
        </p:txBody>
      </p:sp>
      <p:sp>
        <p:nvSpPr>
          <p:cNvPr id="3" name="Text 1"/>
          <p:cNvSpPr/>
          <p:nvPr/>
        </p:nvSpPr>
        <p:spPr>
          <a:xfrm>
            <a:off x="685800" y="1874520"/>
            <a:ext cx="10820095" cy="548640"/>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判据</a:t>
            </a:r>
            <a:endParaRPr lang="en-US" sz="3600" dirty="0"/>
          </a:p>
        </p:txBody>
      </p:sp>
      <p:sp>
        <p:nvSpPr>
          <p:cNvPr id="4" name="Text 2"/>
          <p:cNvSpPr/>
          <p:nvPr/>
        </p:nvSpPr>
        <p:spPr>
          <a:xfrm>
            <a:off x="685800" y="2606040"/>
            <a:ext cx="9997135" cy="1828800"/>
          </a:xfrm>
          <a:prstGeom prst="rect">
            <a:avLst/>
          </a:prstGeom>
          <a:noFill/>
          <a:ln/>
        </p:spPr>
        <p:txBody>
          <a:bodyPr wrap="square" lIns="0" tIns="0" rIns="0" bIns="0" rtlCol="0" anchor="t"/>
          <a:lstStyle/>
          <a:p>
            <a:pPr indent="0" marL="0">
              <a:lnSpc>
                <a:spcPct val="145000"/>
              </a:lnSpc>
              <a:buNone/>
            </a:pPr>
            <a:r>
              <a:rPr lang="en-US" sz="3000" dirty="0">
                <a:solidFill>
                  <a:srgbClr val="1A2029"/>
                </a:solidFill>
                <a:latin typeface="Microsoft YaHei" pitchFamily="34" charset="0"/>
                <a:ea typeface="Microsoft YaHei" pitchFamily="34" charset="-122"/>
                <a:cs typeface="Microsoft YaHei" pitchFamily="34" charset="-120"/>
              </a:rPr>
              <a:t>不是「能不能用 AI」，是「这一步的困难，是不是这门课要学生经历的困难」。</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22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六个环节的空白表</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2377440"/>
                <a:gridCol w="2816352"/>
                <a:gridCol w="2816352"/>
                <a:gridCol w="2807208"/>
              </a:tblGrid>
              <a:tr h="475488">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这一步要练的能力</a:t>
                      </a:r>
                      <a:endParaRPr lang="en-US" sz="11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AI 替掉的是不是它</a:t>
                      </a:r>
                      <a:endParaRPr lang="en-US" sz="11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用什么补回来</a:t>
                      </a:r>
                      <a:endParaRPr lang="en-US" sz="11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提出问题和假设</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设计方案</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搜集分析证据</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得出结论并解释</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制作改进</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475488">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交流反思</a:t>
                      </a:r>
                      <a:endParaRPr lang="en-US" sz="14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76200" marR="76200" marT="76200" marB="762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bl>
          </a:graphicData>
        </a:graphic>
      </p:graphicFrame>
      <p:sp>
        <p:nvSpPr>
          <p:cNvPr id="5" name="Shape 2"/>
          <p:cNvSpPr/>
          <p:nvPr/>
        </p:nvSpPr>
        <p:spPr>
          <a:xfrm>
            <a:off x="685800" y="5961888"/>
            <a:ext cx="10820095" cy="0"/>
          </a:xfrm>
          <a:prstGeom prst="line">
            <a:avLst/>
          </a:prstGeom>
          <a:noFill/>
          <a:ln w="12700">
            <a:solidFill>
              <a:srgbClr val="E2E6EA"/>
            </a:solidFill>
            <a:prstDash val="solid"/>
          </a:ln>
        </p:spPr>
      </p:sp>
      <p:sp>
        <p:nvSpPr>
          <p:cNvPr id="6" name="Text 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这一页可以直接打印，一个任务填一张。</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23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形状</a:t>
            </a:r>
            <a:endParaRPr lang="en-US" sz="3600" dirty="0"/>
          </a:p>
        </p:txBody>
      </p:sp>
      <p:sp>
        <p:nvSpPr>
          <p:cNvPr id="4" name="Text 2"/>
          <p:cNvSpPr/>
          <p:nvPr/>
        </p:nvSpPr>
        <p:spPr>
          <a:xfrm>
            <a:off x="685800" y="2148840"/>
            <a:ext cx="1097280"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任务前</a:t>
            </a:r>
            <a:endParaRPr lang="en-US" sz="950" dirty="0"/>
          </a:p>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背景检索</a:t>
            </a:r>
            <a:endParaRPr lang="en-US" sz="950" dirty="0"/>
          </a:p>
        </p:txBody>
      </p:sp>
      <p:sp>
        <p:nvSpPr>
          <p:cNvPr id="5" name="Shape 3"/>
          <p:cNvSpPr/>
          <p:nvPr/>
        </p:nvSpPr>
        <p:spPr>
          <a:xfrm>
            <a:off x="685800" y="2697480"/>
            <a:ext cx="1097280" cy="566928"/>
          </a:xfrm>
          <a:prstGeom prst="rect">
            <a:avLst/>
          </a:prstGeom>
          <a:solidFill>
            <a:srgbClr val="F4F6F8"/>
          </a:solidFill>
          <a:ln w="12700">
            <a:solidFill>
              <a:srgbClr val="F4F6F8"/>
            </a:solidFill>
            <a:prstDash val="solid"/>
          </a:ln>
        </p:spPr>
      </p:sp>
      <p:sp>
        <p:nvSpPr>
          <p:cNvPr id="6" name="Text 4"/>
          <p:cNvSpPr/>
          <p:nvPr/>
        </p:nvSpPr>
        <p:spPr>
          <a:xfrm>
            <a:off x="685800" y="2697480"/>
            <a:ext cx="1097280" cy="566928"/>
          </a:xfrm>
          <a:prstGeom prst="rect">
            <a:avLst/>
          </a:prstGeom>
          <a:noFill/>
          <a:ln/>
        </p:spPr>
        <p:txBody>
          <a:bodyPr wrap="square" lIns="0" tIns="0" rIns="0" bIns="0" rtlCol="0" anchor="ctr"/>
          <a:lstStyle/>
          <a:p>
            <a:pPr algn="ctr" indent="0" marL="0">
              <a:buNone/>
            </a:pPr>
            <a:r>
              <a:rPr lang="en-US" sz="950" dirty="0">
                <a:solidFill>
                  <a:srgbClr val="5A6472"/>
                </a:solidFill>
                <a:latin typeface="Microsoft YaHei" pitchFamily="34" charset="0"/>
                <a:ea typeface="Microsoft YaHei" pitchFamily="34" charset="-122"/>
                <a:cs typeface="Microsoft YaHei" pitchFamily="34" charset="-120"/>
              </a:rPr>
              <a:t>放</a:t>
            </a:r>
            <a:endParaRPr lang="en-US" sz="950" dirty="0"/>
          </a:p>
        </p:txBody>
      </p:sp>
      <p:sp>
        <p:nvSpPr>
          <p:cNvPr id="7" name="Text 5"/>
          <p:cNvSpPr/>
          <p:nvPr/>
        </p:nvSpPr>
        <p:spPr>
          <a:xfrm>
            <a:off x="1874520"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提出问题和假设</a:t>
            </a:r>
            <a:endParaRPr lang="en-US" sz="950" dirty="0"/>
          </a:p>
        </p:txBody>
      </p:sp>
      <p:sp>
        <p:nvSpPr>
          <p:cNvPr id="8" name="Shape 6"/>
          <p:cNvSpPr/>
          <p:nvPr/>
        </p:nvSpPr>
        <p:spPr>
          <a:xfrm>
            <a:off x="1874520" y="2697480"/>
            <a:ext cx="1330909" cy="566928"/>
          </a:xfrm>
          <a:prstGeom prst="rect">
            <a:avLst/>
          </a:prstGeom>
          <a:solidFill>
            <a:srgbClr val="99341A"/>
          </a:solidFill>
          <a:ln w="12700">
            <a:solidFill>
              <a:srgbClr val="99341A"/>
            </a:solidFill>
            <a:prstDash val="solid"/>
          </a:ln>
        </p:spPr>
      </p:sp>
      <p:sp>
        <p:nvSpPr>
          <p:cNvPr id="9" name="Text 7"/>
          <p:cNvSpPr/>
          <p:nvPr/>
        </p:nvSpPr>
        <p:spPr>
          <a:xfrm>
            <a:off x="1874520" y="2697480"/>
            <a:ext cx="1330909" cy="566928"/>
          </a:xfrm>
          <a:prstGeom prst="rect">
            <a:avLst/>
          </a:prstGeom>
          <a:noFill/>
          <a:ln/>
        </p:spPr>
        <p:txBody>
          <a:bodyPr wrap="square" lIns="0" tIns="0" rIns="0" bIns="0" rtlCol="0" anchor="ctr"/>
          <a:lstStyle/>
          <a:p>
            <a:pPr algn="ctr" indent="0" marL="0">
              <a:buNone/>
            </a:pPr>
            <a:r>
              <a:rPr lang="en-US" sz="950" dirty="0">
                <a:solidFill>
                  <a:srgbClr val="FFFFFF"/>
                </a:solidFill>
                <a:latin typeface="Microsoft YaHei" pitchFamily="34" charset="0"/>
                <a:ea typeface="Microsoft YaHei" pitchFamily="34" charset="-122"/>
                <a:cs typeface="Microsoft YaHei" pitchFamily="34" charset="-120"/>
              </a:rPr>
              <a:t>收</a:t>
            </a:r>
            <a:endParaRPr lang="en-US" sz="950" dirty="0"/>
          </a:p>
        </p:txBody>
      </p:sp>
      <p:sp>
        <p:nvSpPr>
          <p:cNvPr id="10" name="Text 8"/>
          <p:cNvSpPr/>
          <p:nvPr/>
        </p:nvSpPr>
        <p:spPr>
          <a:xfrm>
            <a:off x="3296869"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设计方案</a:t>
            </a:r>
            <a:endParaRPr lang="en-US" sz="950" dirty="0"/>
          </a:p>
        </p:txBody>
      </p:sp>
      <p:sp>
        <p:nvSpPr>
          <p:cNvPr id="11" name="Shape 9"/>
          <p:cNvSpPr/>
          <p:nvPr/>
        </p:nvSpPr>
        <p:spPr>
          <a:xfrm>
            <a:off x="3296869" y="2697480"/>
            <a:ext cx="1330909" cy="566928"/>
          </a:xfrm>
          <a:prstGeom prst="rect">
            <a:avLst/>
          </a:prstGeom>
          <a:solidFill>
            <a:srgbClr val="C9714C"/>
          </a:solidFill>
          <a:ln w="12700">
            <a:solidFill>
              <a:srgbClr val="C9714C"/>
            </a:solidFill>
            <a:prstDash val="solid"/>
          </a:ln>
        </p:spPr>
      </p:sp>
      <p:sp>
        <p:nvSpPr>
          <p:cNvPr id="12" name="Text 10"/>
          <p:cNvSpPr/>
          <p:nvPr/>
        </p:nvSpPr>
        <p:spPr>
          <a:xfrm>
            <a:off x="3296869" y="2697480"/>
            <a:ext cx="1330909" cy="566928"/>
          </a:xfrm>
          <a:prstGeom prst="rect">
            <a:avLst/>
          </a:prstGeom>
          <a:noFill/>
          <a:ln/>
        </p:spPr>
        <p:txBody>
          <a:bodyPr wrap="square" lIns="0" tIns="0" rIns="0" bIns="0" rtlCol="0" anchor="ctr"/>
          <a:lstStyle/>
          <a:p>
            <a:pPr algn="ctr" indent="0" marL="0">
              <a:buNone/>
            </a:pPr>
            <a:r>
              <a:rPr lang="en-US" sz="950" dirty="0">
                <a:solidFill>
                  <a:srgbClr val="FFFFFF"/>
                </a:solidFill>
                <a:latin typeface="Microsoft YaHei" pitchFamily="34" charset="0"/>
                <a:ea typeface="Microsoft YaHei" pitchFamily="34" charset="-122"/>
                <a:cs typeface="Microsoft YaHei" pitchFamily="34" charset="-120"/>
              </a:rPr>
              <a:t>半收</a:t>
            </a:r>
            <a:endParaRPr lang="en-US" sz="950" dirty="0"/>
          </a:p>
        </p:txBody>
      </p:sp>
      <p:sp>
        <p:nvSpPr>
          <p:cNvPr id="13" name="Text 11"/>
          <p:cNvSpPr/>
          <p:nvPr/>
        </p:nvSpPr>
        <p:spPr>
          <a:xfrm>
            <a:off x="4719218"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搜集分析证据</a:t>
            </a:r>
            <a:endParaRPr lang="en-US" sz="950" dirty="0"/>
          </a:p>
        </p:txBody>
      </p:sp>
      <p:sp>
        <p:nvSpPr>
          <p:cNvPr id="14" name="Shape 12"/>
          <p:cNvSpPr/>
          <p:nvPr/>
        </p:nvSpPr>
        <p:spPr>
          <a:xfrm>
            <a:off x="4719218" y="2697480"/>
            <a:ext cx="1330909" cy="566928"/>
          </a:xfrm>
          <a:prstGeom prst="rect">
            <a:avLst/>
          </a:prstGeom>
          <a:solidFill>
            <a:srgbClr val="C9714C"/>
          </a:solidFill>
          <a:ln w="12700">
            <a:solidFill>
              <a:srgbClr val="C9714C"/>
            </a:solidFill>
            <a:prstDash val="solid"/>
          </a:ln>
        </p:spPr>
      </p:sp>
      <p:sp>
        <p:nvSpPr>
          <p:cNvPr id="15" name="Text 13"/>
          <p:cNvSpPr/>
          <p:nvPr/>
        </p:nvSpPr>
        <p:spPr>
          <a:xfrm>
            <a:off x="4719218" y="2697480"/>
            <a:ext cx="1330909" cy="566928"/>
          </a:xfrm>
          <a:prstGeom prst="rect">
            <a:avLst/>
          </a:prstGeom>
          <a:noFill/>
          <a:ln/>
        </p:spPr>
        <p:txBody>
          <a:bodyPr wrap="square" lIns="0" tIns="0" rIns="0" bIns="0" rtlCol="0" anchor="ctr"/>
          <a:lstStyle/>
          <a:p>
            <a:pPr algn="ctr" indent="0" marL="0">
              <a:buNone/>
            </a:pPr>
            <a:r>
              <a:rPr lang="en-US" sz="950" dirty="0">
                <a:solidFill>
                  <a:srgbClr val="FFFFFF"/>
                </a:solidFill>
                <a:latin typeface="Microsoft YaHei" pitchFamily="34" charset="0"/>
                <a:ea typeface="Microsoft YaHei" pitchFamily="34" charset="-122"/>
                <a:cs typeface="Microsoft YaHei" pitchFamily="34" charset="-120"/>
              </a:rPr>
              <a:t>采集收·处理放</a:t>
            </a:r>
            <a:endParaRPr lang="en-US" sz="950" dirty="0"/>
          </a:p>
        </p:txBody>
      </p:sp>
      <p:sp>
        <p:nvSpPr>
          <p:cNvPr id="16" name="Text 14"/>
          <p:cNvSpPr/>
          <p:nvPr/>
        </p:nvSpPr>
        <p:spPr>
          <a:xfrm>
            <a:off x="6141568"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得出结论并解释</a:t>
            </a:r>
            <a:endParaRPr lang="en-US" sz="950" dirty="0"/>
          </a:p>
        </p:txBody>
      </p:sp>
      <p:sp>
        <p:nvSpPr>
          <p:cNvPr id="17" name="Shape 15"/>
          <p:cNvSpPr/>
          <p:nvPr/>
        </p:nvSpPr>
        <p:spPr>
          <a:xfrm>
            <a:off x="6141568" y="2697480"/>
            <a:ext cx="1330909" cy="566928"/>
          </a:xfrm>
          <a:prstGeom prst="rect">
            <a:avLst/>
          </a:prstGeom>
          <a:solidFill>
            <a:srgbClr val="99341A"/>
          </a:solidFill>
          <a:ln w="12700">
            <a:solidFill>
              <a:srgbClr val="99341A"/>
            </a:solidFill>
            <a:prstDash val="solid"/>
          </a:ln>
        </p:spPr>
      </p:sp>
      <p:sp>
        <p:nvSpPr>
          <p:cNvPr id="18" name="Text 16"/>
          <p:cNvSpPr/>
          <p:nvPr/>
        </p:nvSpPr>
        <p:spPr>
          <a:xfrm>
            <a:off x="6141568" y="2697480"/>
            <a:ext cx="1330909" cy="566928"/>
          </a:xfrm>
          <a:prstGeom prst="rect">
            <a:avLst/>
          </a:prstGeom>
          <a:noFill/>
          <a:ln/>
        </p:spPr>
        <p:txBody>
          <a:bodyPr wrap="square" lIns="0" tIns="0" rIns="0" bIns="0" rtlCol="0" anchor="ctr"/>
          <a:lstStyle/>
          <a:p>
            <a:pPr algn="ctr" indent="0" marL="0">
              <a:buNone/>
            </a:pPr>
            <a:r>
              <a:rPr lang="en-US" sz="950" dirty="0">
                <a:solidFill>
                  <a:srgbClr val="FFFFFF"/>
                </a:solidFill>
                <a:latin typeface="Microsoft YaHei" pitchFamily="34" charset="0"/>
                <a:ea typeface="Microsoft YaHei" pitchFamily="34" charset="-122"/>
                <a:cs typeface="Microsoft YaHei" pitchFamily="34" charset="-120"/>
              </a:rPr>
              <a:t>收</a:t>
            </a:r>
            <a:endParaRPr lang="en-US" sz="950" dirty="0"/>
          </a:p>
        </p:txBody>
      </p:sp>
      <p:sp>
        <p:nvSpPr>
          <p:cNvPr id="19" name="Text 17"/>
          <p:cNvSpPr/>
          <p:nvPr/>
        </p:nvSpPr>
        <p:spPr>
          <a:xfrm>
            <a:off x="7563917"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制作改进</a:t>
            </a:r>
            <a:endParaRPr lang="en-US" sz="950" dirty="0"/>
          </a:p>
        </p:txBody>
      </p:sp>
      <p:sp>
        <p:nvSpPr>
          <p:cNvPr id="20" name="Shape 18"/>
          <p:cNvSpPr/>
          <p:nvPr/>
        </p:nvSpPr>
        <p:spPr>
          <a:xfrm>
            <a:off x="7563917" y="2697480"/>
            <a:ext cx="1330909" cy="566928"/>
          </a:xfrm>
          <a:prstGeom prst="rect">
            <a:avLst/>
          </a:prstGeom>
          <a:solidFill>
            <a:srgbClr val="EBC4B2"/>
          </a:solidFill>
          <a:ln w="12700">
            <a:solidFill>
              <a:srgbClr val="D9A98F"/>
            </a:solidFill>
            <a:prstDash val="solid"/>
          </a:ln>
        </p:spPr>
      </p:sp>
      <p:sp>
        <p:nvSpPr>
          <p:cNvPr id="21" name="Text 19"/>
          <p:cNvSpPr/>
          <p:nvPr/>
        </p:nvSpPr>
        <p:spPr>
          <a:xfrm>
            <a:off x="7563917" y="2697480"/>
            <a:ext cx="1330909" cy="566928"/>
          </a:xfrm>
          <a:prstGeom prst="rect">
            <a:avLst/>
          </a:prstGeom>
          <a:noFill/>
          <a:ln/>
        </p:spPr>
        <p:txBody>
          <a:bodyPr wrap="square" lIns="0" tIns="0" rIns="0" bIns="0" rtlCol="0" anchor="ctr"/>
          <a:lstStyle/>
          <a:p>
            <a:pPr algn="ctr" indent="0" marL="0">
              <a:buNone/>
            </a:pPr>
            <a:r>
              <a:rPr lang="en-US" sz="950" dirty="0">
                <a:solidFill>
                  <a:srgbClr val="1A2029"/>
                </a:solidFill>
                <a:latin typeface="Microsoft YaHei" pitchFamily="34" charset="0"/>
                <a:ea typeface="Microsoft YaHei" pitchFamily="34" charset="-122"/>
                <a:cs typeface="Microsoft YaHei" pitchFamily="34" charset="-120"/>
              </a:rPr>
              <a:t>半放</a:t>
            </a:r>
            <a:endParaRPr lang="en-US" sz="950" dirty="0"/>
          </a:p>
        </p:txBody>
      </p:sp>
      <p:sp>
        <p:nvSpPr>
          <p:cNvPr id="22" name="Text 20"/>
          <p:cNvSpPr/>
          <p:nvPr/>
        </p:nvSpPr>
        <p:spPr>
          <a:xfrm>
            <a:off x="8986266" y="2148840"/>
            <a:ext cx="1330909"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交流反思</a:t>
            </a:r>
            <a:endParaRPr lang="en-US" sz="950" dirty="0"/>
          </a:p>
        </p:txBody>
      </p:sp>
      <p:sp>
        <p:nvSpPr>
          <p:cNvPr id="23" name="Shape 21"/>
          <p:cNvSpPr/>
          <p:nvPr/>
        </p:nvSpPr>
        <p:spPr>
          <a:xfrm>
            <a:off x="8986266" y="2697480"/>
            <a:ext cx="1330909" cy="566928"/>
          </a:xfrm>
          <a:prstGeom prst="rect">
            <a:avLst/>
          </a:prstGeom>
          <a:solidFill>
            <a:srgbClr val="F4F6F8"/>
          </a:solidFill>
          <a:ln w="12700">
            <a:solidFill>
              <a:srgbClr val="F4F6F8"/>
            </a:solidFill>
            <a:prstDash val="solid"/>
          </a:ln>
        </p:spPr>
      </p:sp>
      <p:sp>
        <p:nvSpPr>
          <p:cNvPr id="24" name="Text 22"/>
          <p:cNvSpPr/>
          <p:nvPr/>
        </p:nvSpPr>
        <p:spPr>
          <a:xfrm>
            <a:off x="8986266" y="2697480"/>
            <a:ext cx="1330909" cy="566928"/>
          </a:xfrm>
          <a:prstGeom prst="rect">
            <a:avLst/>
          </a:prstGeom>
          <a:noFill/>
          <a:ln/>
        </p:spPr>
        <p:txBody>
          <a:bodyPr wrap="square" lIns="0" tIns="0" rIns="0" bIns="0" rtlCol="0" anchor="ctr"/>
          <a:lstStyle/>
          <a:p>
            <a:pPr algn="ctr" indent="0" marL="0">
              <a:buNone/>
            </a:pPr>
            <a:r>
              <a:rPr lang="en-US" sz="950" dirty="0">
                <a:solidFill>
                  <a:srgbClr val="5A6472"/>
                </a:solidFill>
                <a:latin typeface="Microsoft YaHei" pitchFamily="34" charset="0"/>
                <a:ea typeface="Microsoft YaHei" pitchFamily="34" charset="-122"/>
                <a:cs typeface="Microsoft YaHei" pitchFamily="34" charset="-120"/>
              </a:rPr>
              <a:t>放</a:t>
            </a:r>
            <a:endParaRPr lang="en-US" sz="950" dirty="0"/>
          </a:p>
        </p:txBody>
      </p:sp>
      <p:sp>
        <p:nvSpPr>
          <p:cNvPr id="25" name="Text 23"/>
          <p:cNvSpPr/>
          <p:nvPr/>
        </p:nvSpPr>
        <p:spPr>
          <a:xfrm>
            <a:off x="10408615" y="2148840"/>
            <a:ext cx="1097280" cy="457200"/>
          </a:xfrm>
          <a:prstGeom prst="rect">
            <a:avLst/>
          </a:prstGeom>
          <a:noFill/>
          <a:ln/>
        </p:spPr>
        <p:txBody>
          <a:bodyPr wrap="square" lIns="0" tIns="0" rIns="0" bIns="0" rtlCol="0" anchor="b"/>
          <a:lstStyle/>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任务后</a:t>
            </a:r>
            <a:endParaRPr lang="en-US" sz="950" dirty="0"/>
          </a:p>
          <a:p>
            <a:pPr algn="ctr" indent="0" marL="0">
              <a:lnSpc>
                <a:spcPct val="120000"/>
              </a:lnSpc>
              <a:buNone/>
            </a:pPr>
            <a:r>
              <a:rPr lang="en-US" sz="950" dirty="0">
                <a:solidFill>
                  <a:srgbClr val="5A6472"/>
                </a:solidFill>
                <a:latin typeface="Microsoft YaHei" pitchFamily="34" charset="0"/>
                <a:ea typeface="Microsoft YaHei" pitchFamily="34" charset="-122"/>
                <a:cs typeface="Microsoft YaHei" pitchFamily="34" charset="-120"/>
              </a:rPr>
              <a:t>表达与传播</a:t>
            </a:r>
            <a:endParaRPr lang="en-US" sz="950" dirty="0"/>
          </a:p>
        </p:txBody>
      </p:sp>
      <p:sp>
        <p:nvSpPr>
          <p:cNvPr id="26" name="Shape 24"/>
          <p:cNvSpPr/>
          <p:nvPr/>
        </p:nvSpPr>
        <p:spPr>
          <a:xfrm>
            <a:off x="10408615" y="2697480"/>
            <a:ext cx="1097280" cy="566928"/>
          </a:xfrm>
          <a:prstGeom prst="rect">
            <a:avLst/>
          </a:prstGeom>
          <a:solidFill>
            <a:srgbClr val="F4F6F8"/>
          </a:solidFill>
          <a:ln w="12700">
            <a:solidFill>
              <a:srgbClr val="F4F6F8"/>
            </a:solidFill>
            <a:prstDash val="solid"/>
          </a:ln>
        </p:spPr>
      </p:sp>
      <p:sp>
        <p:nvSpPr>
          <p:cNvPr id="27" name="Text 25"/>
          <p:cNvSpPr/>
          <p:nvPr/>
        </p:nvSpPr>
        <p:spPr>
          <a:xfrm>
            <a:off x="10408615" y="2697480"/>
            <a:ext cx="1097280" cy="566928"/>
          </a:xfrm>
          <a:prstGeom prst="rect">
            <a:avLst/>
          </a:prstGeom>
          <a:noFill/>
          <a:ln/>
        </p:spPr>
        <p:txBody>
          <a:bodyPr wrap="square" lIns="0" tIns="0" rIns="0" bIns="0" rtlCol="0" anchor="ctr"/>
          <a:lstStyle/>
          <a:p>
            <a:pPr algn="ctr" indent="0" marL="0">
              <a:buNone/>
            </a:pPr>
            <a:r>
              <a:rPr lang="en-US" sz="950" dirty="0">
                <a:solidFill>
                  <a:srgbClr val="5A6472"/>
                </a:solidFill>
                <a:latin typeface="Microsoft YaHei" pitchFamily="34" charset="0"/>
                <a:ea typeface="Microsoft YaHei" pitchFamily="34" charset="-122"/>
                <a:cs typeface="Microsoft YaHei" pitchFamily="34" charset="-120"/>
              </a:rPr>
              <a:t>放</a:t>
            </a:r>
            <a:endParaRPr lang="en-US" sz="950" dirty="0"/>
          </a:p>
        </p:txBody>
      </p:sp>
      <p:sp>
        <p:nvSpPr>
          <p:cNvPr id="28" name="Text 26"/>
          <p:cNvSpPr/>
          <p:nvPr/>
        </p:nvSpPr>
        <p:spPr>
          <a:xfrm>
            <a:off x="685800" y="3703320"/>
            <a:ext cx="10820095" cy="685800"/>
          </a:xfrm>
          <a:prstGeom prst="rect">
            <a:avLst/>
          </a:prstGeom>
          <a:noFill/>
          <a:ln/>
        </p:spPr>
        <p:txBody>
          <a:bodyPr wrap="square" lIns="0" tIns="0" rIns="0" bIns="0" rtlCol="0" anchor="t"/>
          <a:lstStyle/>
          <a:p>
            <a:pPr indent="0" marL="0">
              <a:lnSpc>
                <a:spcPct val="140000"/>
              </a:lnSpc>
              <a:buNone/>
            </a:pPr>
            <a:r>
              <a:rPr lang="en-US" sz="2200" dirty="0">
                <a:solidFill>
                  <a:srgbClr val="1A2029"/>
                </a:solidFill>
                <a:latin typeface="Microsoft YaHei" pitchFamily="34" charset="0"/>
                <a:ea typeface="Microsoft YaHei" pitchFamily="34" charset="-122"/>
                <a:cs typeface="Microsoft YaHei" pitchFamily="34" charset="-120"/>
              </a:rPr>
              <a:t>内核收，外圈放。六个环节本身前紧后松，任务前的检索与任务后的表达可以放开。</a:t>
            </a:r>
            <a:endParaRPr lang="en-US" sz="2200" dirty="0"/>
          </a:p>
        </p:txBody>
      </p:sp>
      <p:sp>
        <p:nvSpPr>
          <p:cNvPr id="29" name="Text 27"/>
          <p:cNvSpPr/>
          <p:nvPr/>
        </p:nvSpPr>
        <p:spPr>
          <a:xfrm>
            <a:off x="685800" y="4480560"/>
            <a:ext cx="10820095" cy="457200"/>
          </a:xfrm>
          <a:prstGeom prst="rect">
            <a:avLst/>
          </a:prstGeom>
          <a:noFill/>
          <a:ln/>
        </p:spPr>
        <p:txBody>
          <a:bodyPr wrap="square" lIns="0" tIns="0" rIns="0" bIns="0" rtlCol="0" anchor="t"/>
          <a:lstStyle/>
          <a:p>
            <a:pPr indent="0" marL="0">
              <a:lnSpc>
                <a:spcPct val="140000"/>
              </a:lnSpc>
              <a:buNone/>
            </a:pPr>
            <a:r>
              <a:rPr lang="en-US" sz="1400" dirty="0">
                <a:solidFill>
                  <a:srgbClr val="5A6472"/>
                </a:solidFill>
                <a:latin typeface="Microsoft YaHei" pitchFamily="34" charset="0"/>
                <a:ea typeface="Microsoft YaHei" pitchFamily="34" charset="-122"/>
                <a:cs typeface="Microsoft YaHei" pitchFamily="34" charset="-120"/>
              </a:rPr>
              <a:t>这与多数教师的直觉相反：第一反应是让 AI 帮着想点子，而想点子恰好是最该收的那一环。</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24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两个任务</a:t>
            </a:r>
            <a:endParaRPr lang="en-US" sz="3600" dirty="0"/>
          </a:p>
        </p:txBody>
      </p:sp>
      <p:sp>
        <p:nvSpPr>
          <p:cNvPr id="4" name="Shape 2"/>
          <p:cNvSpPr/>
          <p:nvPr/>
        </p:nvSpPr>
        <p:spPr>
          <a:xfrm>
            <a:off x="685800" y="1417320"/>
            <a:ext cx="5295748" cy="3566160"/>
          </a:xfrm>
          <a:prstGeom prst="rect">
            <a:avLst/>
          </a:prstGeom>
          <a:solidFill>
            <a:srgbClr val="F4F6F8"/>
          </a:solidFill>
          <a:ln w="12700">
            <a:solidFill>
              <a:srgbClr val="F4F6F8"/>
            </a:solidFill>
            <a:prstDash val="solid"/>
          </a:ln>
        </p:spPr>
      </p:sp>
      <p:sp>
        <p:nvSpPr>
          <p:cNvPr id="5" name="Text 3"/>
          <p:cNvSpPr/>
          <p:nvPr/>
        </p:nvSpPr>
        <p:spPr>
          <a:xfrm>
            <a:off x="923544" y="1600200"/>
            <a:ext cx="4820260" cy="36576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科学护眼</a:t>
            </a:r>
            <a:endParaRPr lang="en-US" sz="2000" dirty="0"/>
          </a:p>
        </p:txBody>
      </p:sp>
      <p:sp>
        <p:nvSpPr>
          <p:cNvPr id="6" name="Text 4"/>
          <p:cNvSpPr/>
          <p:nvPr/>
        </p:nvSpPr>
        <p:spPr>
          <a:xfrm>
            <a:off x="923544" y="1965960"/>
            <a:ext cx="4820260"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4—6 年级 · 建议 4—6 课时</a:t>
            </a:r>
            <a:endParaRPr lang="en-US" sz="1100" dirty="0"/>
          </a:p>
        </p:txBody>
      </p:sp>
      <p:sp>
        <p:nvSpPr>
          <p:cNvPr id="7" name="Text 5"/>
          <p:cNvSpPr/>
          <p:nvPr/>
        </p:nvSpPr>
        <p:spPr>
          <a:xfrm>
            <a:off x="923544" y="2258568"/>
            <a:ext cx="4820260" cy="457200"/>
          </a:xfrm>
          <a:prstGeom prst="rect">
            <a:avLst/>
          </a:prstGeom>
          <a:noFill/>
          <a:ln/>
        </p:spPr>
        <p:txBody>
          <a:bodyPr wrap="square" lIns="0" tIns="0" rIns="0" bIns="0" rtlCol="0" anchor="t"/>
          <a:lstStyle/>
          <a:p>
            <a:pPr indent="0" marL="0">
              <a:lnSpc>
                <a:spcPct val="140000"/>
              </a:lnSpc>
              <a:buNone/>
            </a:pPr>
            <a:r>
              <a:rPr lang="en-US" sz="1150" dirty="0">
                <a:solidFill>
                  <a:srgbClr val="1A2029"/>
                </a:solidFill>
                <a:latin typeface="Microsoft YaHei" pitchFamily="34" charset="0"/>
                <a:ea typeface="Microsoft YaHei" pitchFamily="34" charset="-122"/>
                <a:cs typeface="Microsoft YaHei" pitchFamily="34" charset="-120"/>
              </a:rPr>
              <a:t>以青少年近视防控为背景，围绕视力健康问题开展探究实践。</a:t>
            </a:r>
            <a:endParaRPr lang="en-US" sz="1150" dirty="0"/>
          </a:p>
        </p:txBody>
      </p:sp>
      <p:sp>
        <p:nvSpPr>
          <p:cNvPr id="8" name="Text 6"/>
          <p:cNvSpPr/>
          <p:nvPr/>
        </p:nvSpPr>
        <p:spPr>
          <a:xfrm>
            <a:off x="923544" y="2834640"/>
            <a:ext cx="4820260" cy="1965960"/>
          </a:xfrm>
          <a:prstGeom prst="rect">
            <a:avLst/>
          </a:prstGeom>
          <a:noFill/>
          <a:ln/>
        </p:spPr>
        <p:txBody>
          <a:bodyPr wrap="square" lIns="0" tIns="0" rIns="0" bIns="0" rtlCol="0" anchor="t"/>
          <a:lstStyle/>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1. 提出问题：观察身边同学用眼情况，结合班级视力数据</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2. 实验探究：用卡纸、透镜等简易材料模拟，解释近视成因</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3. 设计制作：用废旧材料做坐姿矫正支架、护眼提醒卡，测试反馈优化</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4. 交流分享：展示并讲解护眼工具、科普护眼方法</a:t>
            </a:r>
            <a:endParaRPr lang="en-US" sz="1050" dirty="0"/>
          </a:p>
        </p:txBody>
      </p:sp>
      <p:sp>
        <p:nvSpPr>
          <p:cNvPr id="9" name="Shape 7"/>
          <p:cNvSpPr/>
          <p:nvPr/>
        </p:nvSpPr>
        <p:spPr>
          <a:xfrm>
            <a:off x="6210148" y="1417320"/>
            <a:ext cx="5295748" cy="3566160"/>
          </a:xfrm>
          <a:prstGeom prst="rect">
            <a:avLst/>
          </a:prstGeom>
          <a:solidFill>
            <a:srgbClr val="F4F6F8"/>
          </a:solidFill>
          <a:ln w="12700">
            <a:solidFill>
              <a:srgbClr val="F4F6F8"/>
            </a:solidFill>
            <a:prstDash val="solid"/>
          </a:ln>
        </p:spPr>
      </p:sp>
      <p:sp>
        <p:nvSpPr>
          <p:cNvPr id="10" name="Text 8"/>
          <p:cNvSpPr/>
          <p:nvPr/>
        </p:nvSpPr>
        <p:spPr>
          <a:xfrm>
            <a:off x="6447892" y="1600200"/>
            <a:ext cx="4820260" cy="36576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健康饮食</a:t>
            </a:r>
            <a:endParaRPr lang="en-US" sz="2000" dirty="0"/>
          </a:p>
        </p:txBody>
      </p:sp>
      <p:sp>
        <p:nvSpPr>
          <p:cNvPr id="11" name="Text 9"/>
          <p:cNvSpPr/>
          <p:nvPr/>
        </p:nvSpPr>
        <p:spPr>
          <a:xfrm>
            <a:off x="6447892" y="1965960"/>
            <a:ext cx="4820260"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7—9 年级 · 建议 4—5 课时</a:t>
            </a:r>
            <a:endParaRPr lang="en-US" sz="1100" dirty="0"/>
          </a:p>
        </p:txBody>
      </p:sp>
      <p:sp>
        <p:nvSpPr>
          <p:cNvPr id="12" name="Text 10"/>
          <p:cNvSpPr/>
          <p:nvPr/>
        </p:nvSpPr>
        <p:spPr>
          <a:xfrm>
            <a:off x="6447892" y="2258568"/>
            <a:ext cx="4820260" cy="457200"/>
          </a:xfrm>
          <a:prstGeom prst="rect">
            <a:avLst/>
          </a:prstGeom>
          <a:noFill/>
          <a:ln/>
        </p:spPr>
        <p:txBody>
          <a:bodyPr wrap="square" lIns="0" tIns="0" rIns="0" bIns="0" rtlCol="0" anchor="t"/>
          <a:lstStyle/>
          <a:p>
            <a:pPr indent="0" marL="0">
              <a:lnSpc>
                <a:spcPct val="140000"/>
              </a:lnSpc>
              <a:buNone/>
            </a:pPr>
            <a:r>
              <a:rPr lang="en-US" sz="1150" dirty="0">
                <a:solidFill>
                  <a:srgbClr val="1A2029"/>
                </a:solidFill>
                <a:latin typeface="Microsoft YaHei" pitchFamily="34" charset="0"/>
                <a:ea typeface="Microsoft YaHei" pitchFamily="34" charset="-122"/>
                <a:cs typeface="Microsoft YaHei" pitchFamily="34" charset="-120"/>
              </a:rPr>
              <a:t>以青少年饮食健康为背景，围绕饮食结构与饮食习惯等问题开展探究实践。</a:t>
            </a:r>
            <a:endParaRPr lang="en-US" sz="1150" dirty="0"/>
          </a:p>
        </p:txBody>
      </p:sp>
      <p:sp>
        <p:nvSpPr>
          <p:cNvPr id="13" name="Text 11"/>
          <p:cNvSpPr/>
          <p:nvPr/>
        </p:nvSpPr>
        <p:spPr>
          <a:xfrm>
            <a:off x="6447892" y="2834640"/>
            <a:ext cx="4820260" cy="1965960"/>
          </a:xfrm>
          <a:prstGeom prst="rect">
            <a:avLst/>
          </a:prstGeom>
          <a:noFill/>
          <a:ln/>
        </p:spPr>
        <p:txBody>
          <a:bodyPr wrap="square" lIns="0" tIns="0" rIns="0" bIns="0" rtlCol="0" anchor="t"/>
          <a:lstStyle/>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1. 提出问题：查阅体质健康监测数据，调查对营养成分的认识偏差</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2. 实验探究：设计并实施对照实验，探究不同加工、储存方式对营养成分的影响</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3. 设计制作：拟定可行的健康饮食方案</a:t>
            </a:r>
            <a:endParaRPr lang="en-US" sz="1050" dirty="0"/>
          </a:p>
          <a:p>
            <a:pPr indent="0" marL="0">
              <a:lnSpc>
                <a:spcPct val="140000"/>
              </a:lnSpc>
              <a:spcAft>
                <a:spcPts val="500"/>
              </a:spcAft>
              <a:buNone/>
            </a:pPr>
            <a:r>
              <a:rPr lang="en-US" sz="1050" dirty="0">
                <a:solidFill>
                  <a:srgbClr val="5A6472"/>
                </a:solidFill>
                <a:latin typeface="Microsoft YaHei" pitchFamily="34" charset="0"/>
                <a:ea typeface="Microsoft YaHei" pitchFamily="34" charset="-122"/>
                <a:cs typeface="Microsoft YaHei" pitchFamily="34" charset="-120"/>
              </a:rPr>
              <a:t>4. 交流分享：面向公众开展健康饮食科普宣传，提出健康饮食倡议</a:t>
            </a:r>
            <a:endParaRPr lang="en-US" sz="1050" dirty="0"/>
          </a:p>
        </p:txBody>
      </p:sp>
      <p:sp>
        <p:nvSpPr>
          <p:cNvPr id="14" name="Shape 12"/>
          <p:cNvSpPr/>
          <p:nvPr/>
        </p:nvSpPr>
        <p:spPr>
          <a:xfrm>
            <a:off x="685800" y="5961888"/>
            <a:ext cx="10820095" cy="0"/>
          </a:xfrm>
          <a:prstGeom prst="line">
            <a:avLst/>
          </a:prstGeom>
          <a:noFill/>
          <a:ln w="12700">
            <a:solidFill>
              <a:srgbClr val="E2E6EA"/>
            </a:solidFill>
            <a:prstDash val="solid"/>
          </a:ln>
        </p:spPr>
      </p:sp>
      <p:sp>
        <p:nvSpPr>
          <p:cNvPr id="15" name="Text 1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两个任务的原文均出自指南附件。附件注明「仅为参考，各地各校可结合实际实施不同的科学探究实践任务」。</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25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提出问题和假设</a:t>
            </a:r>
            <a:endParaRPr lang="en-US" sz="3600" dirty="0"/>
          </a:p>
        </p:txBody>
      </p:sp>
      <p:sp>
        <p:nvSpPr>
          <p:cNvPr id="4" name="Shape 2"/>
          <p:cNvSpPr/>
          <p:nvPr/>
        </p:nvSpPr>
        <p:spPr>
          <a:xfrm>
            <a:off x="4160520" y="676656"/>
            <a:ext cx="868680" cy="365760"/>
          </a:xfrm>
          <a:prstGeom prst="rect">
            <a:avLst/>
          </a:prstGeom>
          <a:solidFill>
            <a:srgbClr val="99341A"/>
          </a:solidFill>
          <a:ln w="12700">
            <a:solidFill>
              <a:srgbClr val="99341A"/>
            </a:solidFill>
            <a:prstDash val="solid"/>
          </a:ln>
        </p:spPr>
      </p:sp>
      <p:sp>
        <p:nvSpPr>
          <p:cNvPr id="5" name="Text 3"/>
          <p:cNvSpPr/>
          <p:nvPr/>
        </p:nvSpPr>
        <p:spPr>
          <a:xfrm>
            <a:off x="4160520" y="676656"/>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收</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从班级视力数据出发。学生先观察身边同学的用眼情况，自己提出想弄清楚的问题。</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从体质健康监测数据出发。学生调查同学对食物营养成分的认识偏差，自己提出问题。</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学生先自己提。提完之后可以用 AI 检索这个问题别人怎么问过，检索结果作为对照，不作为替代。</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这一页的额外落点</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问题墙的位置。让学生一周内贴出三个真实困扰，教师从中挑一个打磨成驱动性问题。这一步不用 AI。</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26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设计方案</a:t>
            </a:r>
            <a:endParaRPr lang="en-US" sz="3600" dirty="0"/>
          </a:p>
        </p:txBody>
      </p:sp>
      <p:sp>
        <p:nvSpPr>
          <p:cNvPr id="4" name="Shape 2"/>
          <p:cNvSpPr/>
          <p:nvPr/>
        </p:nvSpPr>
        <p:spPr>
          <a:xfrm>
            <a:off x="2788920" y="676656"/>
            <a:ext cx="868680" cy="365760"/>
          </a:xfrm>
          <a:prstGeom prst="rect">
            <a:avLst/>
          </a:prstGeom>
          <a:solidFill>
            <a:srgbClr val="C9714C"/>
          </a:solidFill>
          <a:ln w="12700">
            <a:solidFill>
              <a:srgbClr val="C9714C"/>
            </a:solidFill>
            <a:prstDash val="solid"/>
          </a:ln>
        </p:spPr>
      </p:sp>
      <p:sp>
        <p:nvSpPr>
          <p:cNvPr id="5" name="Text 3"/>
          <p:cNvSpPr/>
          <p:nvPr/>
        </p:nvSpPr>
        <p:spPr>
          <a:xfrm>
            <a:off x="2788920" y="676656"/>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半收</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用卡纸和透镜模拟近视成因。学生要说清楚改变的是哪个量，不变的是哪些量。</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设计对照实验，探究不同加工、储存方式对营养成分含量的影响。</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AI 可以给三个方向让学生挑，可以给学生的方案挑毛病。不出成稿方案。</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为什么是半收</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这一步的评价证据是探究实践能力里的变量识别与控制。挑毛病不会替掉这个能力，出成稿会。</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27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搜集分析证据</a:t>
            </a:r>
            <a:endParaRPr lang="en-US" sz="3600" dirty="0"/>
          </a:p>
        </p:txBody>
      </p:sp>
      <p:sp>
        <p:nvSpPr>
          <p:cNvPr id="4" name="Shape 2"/>
          <p:cNvSpPr/>
          <p:nvPr/>
        </p:nvSpPr>
        <p:spPr>
          <a:xfrm>
            <a:off x="3703320" y="676656"/>
            <a:ext cx="1975104" cy="365760"/>
          </a:xfrm>
          <a:prstGeom prst="rect">
            <a:avLst/>
          </a:prstGeom>
          <a:solidFill>
            <a:srgbClr val="C9714C"/>
          </a:solidFill>
          <a:ln w="12700">
            <a:solidFill>
              <a:srgbClr val="C9714C"/>
            </a:solidFill>
            <a:prstDash val="solid"/>
          </a:ln>
        </p:spPr>
      </p:sp>
      <p:sp>
        <p:nvSpPr>
          <p:cNvPr id="5" name="Text 3"/>
          <p:cNvSpPr/>
          <p:nvPr/>
        </p:nvSpPr>
        <p:spPr>
          <a:xfrm>
            <a:off x="3703320" y="676656"/>
            <a:ext cx="197510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采集端收，处理端放</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照度、距离、时长，学生自己测自己记。</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对照实验的原始数据，学生自己做自己记。</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原始数据必须自己测、自己问。整理、作图、异常值标注可以用 AI。</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b="1" dirty="0">
                <a:solidFill>
                  <a:srgbClr val="B0472A"/>
                </a:solidFill>
                <a:latin typeface="Microsoft YaHei" pitchFamily="34" charset="0"/>
                <a:ea typeface="Microsoft YaHei" pitchFamily="34" charset="-122"/>
                <a:cs typeface="Microsoft YaHei" pitchFamily="34" charset="-120"/>
              </a:rPr>
              <a:t>数据红线</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体质健康数据属于敏感信息。用代号，不用姓名学号；健康与学业原始数据不上传公共工具；只用学校白名单内的工具。</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28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得出结论并解释</a:t>
            </a:r>
            <a:endParaRPr lang="en-US" sz="3600" dirty="0"/>
          </a:p>
        </p:txBody>
      </p:sp>
      <p:sp>
        <p:nvSpPr>
          <p:cNvPr id="4" name="Shape 2"/>
          <p:cNvSpPr/>
          <p:nvPr/>
        </p:nvSpPr>
        <p:spPr>
          <a:xfrm>
            <a:off x="4160520" y="676656"/>
            <a:ext cx="868680" cy="365760"/>
          </a:xfrm>
          <a:prstGeom prst="rect">
            <a:avLst/>
          </a:prstGeom>
          <a:solidFill>
            <a:srgbClr val="99341A"/>
          </a:solidFill>
          <a:ln w="12700">
            <a:solidFill>
              <a:srgbClr val="99341A"/>
            </a:solidFill>
            <a:prstDash val="solid"/>
          </a:ln>
        </p:spPr>
      </p:sp>
      <p:sp>
        <p:nvSpPr>
          <p:cNvPr id="5" name="Text 3"/>
          <p:cNvSpPr/>
          <p:nvPr/>
        </p:nvSpPr>
        <p:spPr>
          <a:xfrm>
            <a:off x="4160520" y="676656"/>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收</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模拟结果和预想不一样的时候，学生自己找原因。</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对照实验数据出现异常的时候，学生自己解释。</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这一步不开 AI。AI 一解释，失败就不再是学习材料。</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包容失败条款的落点</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指南原文：鼓励学生大胆尝试，包容失败，在面对具有不确定性的问题时，通过不断试错、反思、改进等，寻求问题解决方案，体验科学探索的曲折过程。</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29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制作改进</a:t>
            </a:r>
            <a:endParaRPr lang="en-US" sz="3600" dirty="0"/>
          </a:p>
        </p:txBody>
      </p:sp>
      <p:sp>
        <p:nvSpPr>
          <p:cNvPr id="4" name="Shape 2"/>
          <p:cNvSpPr/>
          <p:nvPr/>
        </p:nvSpPr>
        <p:spPr>
          <a:xfrm>
            <a:off x="2788920" y="676656"/>
            <a:ext cx="868680" cy="365760"/>
          </a:xfrm>
          <a:prstGeom prst="rect">
            <a:avLst/>
          </a:prstGeom>
          <a:solidFill>
            <a:srgbClr val="EBC4B2"/>
          </a:solidFill>
          <a:ln w="12700">
            <a:solidFill>
              <a:srgbClr val="D9A98F"/>
            </a:solidFill>
            <a:prstDash val="solid"/>
          </a:ln>
        </p:spPr>
      </p:sp>
      <p:sp>
        <p:nvSpPr>
          <p:cNvPr id="5" name="Text 3"/>
          <p:cNvSpPr/>
          <p:nvPr/>
        </p:nvSpPr>
        <p:spPr>
          <a:xfrm>
            <a:off x="2788920" y="676656"/>
            <a:ext cx="868680" cy="365760"/>
          </a:xfrm>
          <a:prstGeom prst="rect">
            <a:avLst/>
          </a:prstGeom>
          <a:noFill/>
          <a:ln/>
        </p:spPr>
        <p:txBody>
          <a:bodyPr wrap="square" lIns="0" tIns="0" rIns="0" bIns="0" rtlCol="0" anchor="ctr"/>
          <a:lstStyle/>
          <a:p>
            <a:pPr algn="ctr" indent="0" marL="0">
              <a:buNone/>
            </a:pPr>
            <a:r>
              <a:rPr lang="en-US" sz="1400" b="1" dirty="0">
                <a:solidFill>
                  <a:srgbClr val="1A2029"/>
                </a:solidFill>
                <a:latin typeface="Microsoft YaHei" pitchFamily="34" charset="0"/>
                <a:ea typeface="Microsoft YaHei" pitchFamily="34" charset="-122"/>
                <a:cs typeface="Microsoft YaHei" pitchFamily="34" charset="-120"/>
              </a:rPr>
              <a:t>半放</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用废旧材料做坐姿矫正支架或护眼提醒卡，测试之后再改一版。</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依据营养与能量的平衡，兼顾时间与经济成本，拟定可行的饮食方案。</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查材料属性、找同类结构可以。出设计图不行。</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迭代是硬要求</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做中学的物化带迭代要求：测试、优化、再测试。只做一版不算走完这一步。</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30 · A</a:t>
            </a:r>
            <a:endParaRPr lang="en-US" sz="900" dirty="0"/>
          </a:p>
        </p:txBody>
      </p:sp>
      <p:sp>
        <p:nvSpPr>
          <p:cNvPr id="3" name="Text 1"/>
          <p:cNvSpPr/>
          <p:nvPr/>
        </p:nvSpPr>
        <p:spPr>
          <a:xfrm>
            <a:off x="685800" y="566928"/>
            <a:ext cx="4937760" cy="566928"/>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交流反思</a:t>
            </a:r>
            <a:endParaRPr lang="en-US" sz="3600" dirty="0"/>
          </a:p>
        </p:txBody>
      </p:sp>
      <p:sp>
        <p:nvSpPr>
          <p:cNvPr id="4" name="Shape 2"/>
          <p:cNvSpPr/>
          <p:nvPr/>
        </p:nvSpPr>
        <p:spPr>
          <a:xfrm>
            <a:off x="2788920" y="676656"/>
            <a:ext cx="1426464" cy="365760"/>
          </a:xfrm>
          <a:prstGeom prst="rect">
            <a:avLst/>
          </a:prstGeom>
          <a:solidFill>
            <a:srgbClr val="F4F6F8"/>
          </a:solidFill>
          <a:ln w="12700">
            <a:solidFill>
              <a:srgbClr val="F4F6F8"/>
            </a:solidFill>
            <a:prstDash val="solid"/>
          </a:ln>
        </p:spPr>
      </p:sp>
      <p:sp>
        <p:nvSpPr>
          <p:cNvPr id="5" name="Text 3"/>
          <p:cNvSpPr/>
          <p:nvPr/>
        </p:nvSpPr>
        <p:spPr>
          <a:xfrm>
            <a:off x="2788920" y="676656"/>
            <a:ext cx="1426464" cy="365760"/>
          </a:xfrm>
          <a:prstGeom prst="rect">
            <a:avLst/>
          </a:prstGeom>
          <a:noFill/>
          <a:ln/>
        </p:spPr>
        <p:txBody>
          <a:bodyPr wrap="square" lIns="0" tIns="0" rIns="0" bIns="0" rtlCol="0" anchor="ctr"/>
          <a:lstStyle/>
          <a:p>
            <a:pPr algn="ctr" indent="0" marL="0">
              <a:buNone/>
            </a:pPr>
            <a:r>
              <a:rPr lang="en-US" sz="1400" b="1" dirty="0">
                <a:solidFill>
                  <a:srgbClr val="5A6472"/>
                </a:solidFill>
                <a:latin typeface="Microsoft YaHei" pitchFamily="34" charset="0"/>
                <a:ea typeface="Microsoft YaHei" pitchFamily="34" charset="-122"/>
                <a:cs typeface="Microsoft YaHei" pitchFamily="34" charset="-120"/>
              </a:rPr>
              <a:t>放，但要标注</a:t>
            </a:r>
            <a:endParaRPr lang="en-US" sz="1400" dirty="0"/>
          </a:p>
        </p:txBody>
      </p:sp>
      <p:sp>
        <p:nvSpPr>
          <p:cNvPr id="6" name="Shape 4"/>
          <p:cNvSpPr/>
          <p:nvPr/>
        </p:nvSpPr>
        <p:spPr>
          <a:xfrm>
            <a:off x="685800" y="1874520"/>
            <a:ext cx="5295748" cy="1005840"/>
          </a:xfrm>
          <a:prstGeom prst="rect">
            <a:avLst/>
          </a:prstGeom>
          <a:solidFill>
            <a:srgbClr val="F4F6F8"/>
          </a:solidFill>
          <a:ln w="12700">
            <a:solidFill>
              <a:srgbClr val="F4F6F8"/>
            </a:solidFill>
            <a:prstDash val="solid"/>
          </a:ln>
        </p:spPr>
      </p:sp>
      <p:sp>
        <p:nvSpPr>
          <p:cNvPr id="7" name="Text 5"/>
          <p:cNvSpPr/>
          <p:nvPr/>
        </p:nvSpPr>
        <p:spPr>
          <a:xfrm>
            <a:off x="905256"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科学护眼</a:t>
            </a:r>
            <a:endParaRPr lang="en-US" sz="1100" dirty="0"/>
          </a:p>
        </p:txBody>
      </p:sp>
      <p:sp>
        <p:nvSpPr>
          <p:cNvPr id="8" name="Text 6"/>
          <p:cNvSpPr/>
          <p:nvPr/>
        </p:nvSpPr>
        <p:spPr>
          <a:xfrm>
            <a:off x="905256"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面向一二年级做护眼倡议与工具试用，收集使用反馈，再改一版。</a:t>
            </a:r>
            <a:endParaRPr lang="en-US" sz="1500" dirty="0"/>
          </a:p>
        </p:txBody>
      </p:sp>
      <p:sp>
        <p:nvSpPr>
          <p:cNvPr id="9" name="Shape 7"/>
          <p:cNvSpPr/>
          <p:nvPr/>
        </p:nvSpPr>
        <p:spPr>
          <a:xfrm>
            <a:off x="6210148" y="1874520"/>
            <a:ext cx="5295748" cy="1005840"/>
          </a:xfrm>
          <a:prstGeom prst="rect">
            <a:avLst/>
          </a:prstGeom>
          <a:solidFill>
            <a:srgbClr val="F4F6F8"/>
          </a:solidFill>
          <a:ln w="12700">
            <a:solidFill>
              <a:srgbClr val="F4F6F8"/>
            </a:solidFill>
            <a:prstDash val="solid"/>
          </a:ln>
        </p:spPr>
      </p:sp>
      <p:sp>
        <p:nvSpPr>
          <p:cNvPr id="10" name="Text 8"/>
          <p:cNvSpPr/>
          <p:nvPr/>
        </p:nvSpPr>
        <p:spPr>
          <a:xfrm>
            <a:off x="6429604" y="2020824"/>
            <a:ext cx="4856836" cy="201168"/>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健康饮食</a:t>
            </a:r>
            <a:endParaRPr lang="en-US" sz="1100" dirty="0"/>
          </a:p>
        </p:txBody>
      </p:sp>
      <p:sp>
        <p:nvSpPr>
          <p:cNvPr id="11" name="Text 9"/>
          <p:cNvSpPr/>
          <p:nvPr/>
        </p:nvSpPr>
        <p:spPr>
          <a:xfrm>
            <a:off x="6429604" y="2276856"/>
            <a:ext cx="4856836" cy="457200"/>
          </a:xfrm>
          <a:prstGeom prst="rect">
            <a:avLst/>
          </a:prstGeom>
          <a:noFill/>
          <a:ln/>
        </p:spPr>
        <p:txBody>
          <a:bodyPr wrap="square" lIns="0" tIns="0" rIns="0" bIns="0" rtlCol="0" anchor="t"/>
          <a:lstStyle/>
          <a:p>
            <a:pPr indent="0" marL="0">
              <a:lnSpc>
                <a:spcPct val="135000"/>
              </a:lnSpc>
              <a:buNone/>
            </a:pPr>
            <a:r>
              <a:rPr lang="en-US" sz="1500" dirty="0">
                <a:solidFill>
                  <a:srgbClr val="1A2029"/>
                </a:solidFill>
                <a:latin typeface="Microsoft YaHei" pitchFamily="34" charset="0"/>
                <a:ea typeface="Microsoft YaHei" pitchFamily="34" charset="-122"/>
                <a:cs typeface="Microsoft YaHei" pitchFamily="34" charset="-120"/>
              </a:rPr>
              <a:t>面向社区居民做健康饮食科普宣传，提出健康饮食倡议。</a:t>
            </a:r>
            <a:endParaRPr lang="en-US" sz="1500" dirty="0"/>
          </a:p>
        </p:txBody>
      </p:sp>
      <p:sp>
        <p:nvSpPr>
          <p:cNvPr id="12" name="Text 10"/>
          <p:cNvSpPr/>
          <p:nvPr/>
        </p:nvSpPr>
        <p:spPr>
          <a:xfrm>
            <a:off x="685800" y="3246120"/>
            <a:ext cx="10820095" cy="731520"/>
          </a:xfrm>
          <a:prstGeom prst="rect">
            <a:avLst/>
          </a:prstGeom>
          <a:noFill/>
          <a:ln/>
        </p:spPr>
        <p:txBody>
          <a:bodyPr wrap="square" lIns="0" tIns="0" rIns="0" bIns="0" rtlCol="0" anchor="t"/>
          <a:lstStyle/>
          <a:p>
            <a:pPr indent="0" marL="0">
              <a:lnSpc>
                <a:spcPct val="140000"/>
              </a:lnSpc>
              <a:buNone/>
            </a:pPr>
            <a:r>
              <a:rPr lang="en-US" sz="2000" dirty="0">
                <a:solidFill>
                  <a:srgbClr val="1A2029"/>
                </a:solidFill>
                <a:latin typeface="Microsoft YaHei" pitchFamily="34" charset="0"/>
                <a:ea typeface="Microsoft YaHei" pitchFamily="34" charset="-122"/>
                <a:cs typeface="Microsoft YaHei" pitchFamily="34" charset="-120"/>
              </a:rPr>
              <a:t>思维已经发生，AI 用于表达是低风险的。用了要标注。</a:t>
            </a:r>
            <a:endParaRPr lang="en-US" sz="2000" dirty="0"/>
          </a:p>
        </p:txBody>
      </p:sp>
      <p:sp>
        <p:nvSpPr>
          <p:cNvPr id="13" name="Shape 11"/>
          <p:cNvSpPr/>
          <p:nvPr/>
        </p:nvSpPr>
        <p:spPr>
          <a:xfrm>
            <a:off x="685800" y="5440680"/>
            <a:ext cx="10820095" cy="0"/>
          </a:xfrm>
          <a:prstGeom prst="line">
            <a:avLst/>
          </a:prstGeom>
          <a:noFill/>
          <a:ln w="12700">
            <a:solidFill>
              <a:srgbClr val="E2E6EA"/>
            </a:solidFill>
            <a:prstDash val="solid"/>
          </a:ln>
        </p:spPr>
      </p:sp>
      <p:sp>
        <p:nvSpPr>
          <p:cNvPr id="14" name="Text 12"/>
          <p:cNvSpPr/>
          <p:nvPr/>
        </p:nvSpPr>
        <p:spPr>
          <a:xfrm>
            <a:off x="685800" y="5568696"/>
            <a:ext cx="10820095"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这一步是转成社会服务的接口</a:t>
            </a:r>
            <a:endParaRPr lang="en-US" sz="1100" dirty="0"/>
          </a:p>
        </p:txBody>
      </p:sp>
      <p:sp>
        <p:nvSpPr>
          <p:cNvPr id="15" name="Text 13"/>
          <p:cNvSpPr/>
          <p:nvPr/>
        </p:nvSpPr>
        <p:spPr>
          <a:xfrm>
            <a:off x="685800" y="5824728"/>
            <a:ext cx="10820095" cy="685800"/>
          </a:xfrm>
          <a:prstGeom prst="rect">
            <a:avLst/>
          </a:prstGeom>
          <a:noFill/>
          <a:ln/>
        </p:spPr>
        <p:txBody>
          <a:bodyPr wrap="square" lIns="0" tIns="0" rIns="0" bIns="0" rtlCol="0" anchor="t"/>
          <a:lstStyle/>
          <a:p>
            <a:pPr indent="0" marL="0">
              <a:lnSpc>
                <a:spcPct val="140000"/>
              </a:lnSpc>
              <a:buNone/>
            </a:pPr>
            <a:r>
              <a:rPr lang="en-US" sz="1350" dirty="0">
                <a:solidFill>
                  <a:srgbClr val="1A2029"/>
                </a:solidFill>
                <a:latin typeface="Microsoft YaHei" pitchFamily="34" charset="0"/>
                <a:ea typeface="Microsoft YaHei" pitchFamily="34" charset="-122"/>
                <a:cs typeface="Microsoft YaHei" pitchFamily="34" charset="-120"/>
              </a:rPr>
              <a:t>把展示改成有对象、有回应、有留痕的行动，责任担当就从态度落到了行动。事先跟对方约好给一次答复。</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31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另外两个刻度</a:t>
            </a:r>
            <a:endParaRPr lang="en-US" sz="3600" dirty="0"/>
          </a:p>
        </p:txBody>
      </p:sp>
      <p:sp>
        <p:nvSpPr>
          <p:cNvPr id="4" name="Shape 2"/>
          <p:cNvSpPr/>
          <p:nvPr/>
        </p:nvSpPr>
        <p:spPr>
          <a:xfrm>
            <a:off x="685800" y="2103120"/>
            <a:ext cx="5181448" cy="0"/>
          </a:xfrm>
          <a:prstGeom prst="line">
            <a:avLst/>
          </a:prstGeom>
          <a:noFill/>
          <a:ln w="25400">
            <a:solidFill>
              <a:srgbClr val="33414F"/>
            </a:solidFill>
            <a:prstDash val="solid"/>
          </a:ln>
        </p:spPr>
      </p:sp>
      <p:sp>
        <p:nvSpPr>
          <p:cNvPr id="5" name="Text 3"/>
          <p:cNvSpPr/>
          <p:nvPr/>
        </p:nvSpPr>
        <p:spPr>
          <a:xfrm>
            <a:off x="685800" y="2212848"/>
            <a:ext cx="5181448" cy="36576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绘制生物多样性图谱</a:t>
            </a:r>
            <a:endParaRPr lang="en-US" sz="2000" dirty="0"/>
          </a:p>
        </p:txBody>
      </p:sp>
      <p:sp>
        <p:nvSpPr>
          <p:cNvPr id="6" name="Text 4"/>
          <p:cNvSpPr/>
          <p:nvPr/>
        </p:nvSpPr>
        <p:spPr>
          <a:xfrm>
            <a:off x="685800" y="2615184"/>
            <a:ext cx="5181448"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4—6 年级 · 生态环境 · 建议 4—6 课时</a:t>
            </a:r>
            <a:endParaRPr lang="en-US" sz="1100" dirty="0"/>
          </a:p>
        </p:txBody>
      </p:sp>
      <p:sp>
        <p:nvSpPr>
          <p:cNvPr id="7" name="Text 5"/>
          <p:cNvSpPr/>
          <p:nvPr/>
        </p:nvSpPr>
        <p:spPr>
          <a:xfrm>
            <a:off x="685800" y="2944368"/>
            <a:ext cx="5181448" cy="457200"/>
          </a:xfrm>
          <a:prstGeom prst="rect">
            <a:avLst/>
          </a:prstGeom>
          <a:noFill/>
          <a:ln/>
        </p:spPr>
        <p:txBody>
          <a:bodyPr wrap="square" lIns="0" tIns="0" rIns="0" bIns="0" rtlCol="0" anchor="t"/>
          <a:lstStyle/>
          <a:p>
            <a:pPr indent="0" marL="0">
              <a:lnSpc>
                <a:spcPct val="130000"/>
              </a:lnSpc>
              <a:buNone/>
            </a:pPr>
            <a:r>
              <a:rPr lang="en-US" sz="1600" b="1" dirty="0">
                <a:solidFill>
                  <a:srgbClr val="1A2029"/>
                </a:solidFill>
                <a:latin typeface="Microsoft YaHei" pitchFamily="34" charset="0"/>
                <a:ea typeface="Microsoft YaHei" pitchFamily="34" charset="-122"/>
                <a:cs typeface="Microsoft YaHei" pitchFamily="34" charset="-120"/>
              </a:rPr>
              <a:t>AI 只在教师侧，学生一台设备都不碰。</a:t>
            </a:r>
            <a:endParaRPr lang="en-US" sz="1600" dirty="0"/>
          </a:p>
        </p:txBody>
      </p:sp>
      <p:sp>
        <p:nvSpPr>
          <p:cNvPr id="8" name="Text 6"/>
          <p:cNvSpPr/>
          <p:nvPr/>
        </p:nvSpPr>
        <p:spPr>
          <a:xfrm>
            <a:off x="685800" y="3520440"/>
            <a:ext cx="5181448" cy="1005840"/>
          </a:xfrm>
          <a:prstGeom prst="rect">
            <a:avLst/>
          </a:prstGeom>
          <a:noFill/>
          <a:ln/>
        </p:spPr>
        <p:txBody>
          <a:bodyPr wrap="square" lIns="0" tIns="0" rIns="0" bIns="0" rtlCol="0" anchor="t"/>
          <a:lstStyle/>
          <a:p>
            <a:pPr indent="0" marL="0">
              <a:lnSpc>
                <a:spcPct val="145000"/>
              </a:lnSpc>
              <a:buNone/>
            </a:pPr>
            <a:r>
              <a:rPr lang="en-US" sz="1350" dirty="0">
                <a:solidFill>
                  <a:srgbClr val="5A6472"/>
                </a:solidFill>
                <a:latin typeface="Microsoft YaHei" pitchFamily="34" charset="0"/>
                <a:ea typeface="Microsoft YaHei" pitchFamily="34" charset="-122"/>
                <a:cs typeface="Microsoft YaHei" pitchFamily="34" charset="-120"/>
              </a:rPr>
              <a:t>教师课前用智能体把校园可能遇到的物种、常见误认、有毒有刺植物的安全提示做成速查卡。学生用调查记录表和图鉴。</a:t>
            </a:r>
            <a:endParaRPr lang="en-US" sz="1350" dirty="0"/>
          </a:p>
        </p:txBody>
      </p:sp>
      <p:sp>
        <p:nvSpPr>
          <p:cNvPr id="9" name="Shape 7"/>
          <p:cNvSpPr/>
          <p:nvPr/>
        </p:nvSpPr>
        <p:spPr>
          <a:xfrm>
            <a:off x="6324448" y="2103120"/>
            <a:ext cx="5181448" cy="0"/>
          </a:xfrm>
          <a:prstGeom prst="line">
            <a:avLst/>
          </a:prstGeom>
          <a:noFill/>
          <a:ln w="25400">
            <a:solidFill>
              <a:srgbClr val="33414F"/>
            </a:solidFill>
            <a:prstDash val="solid"/>
          </a:ln>
        </p:spPr>
      </p:sp>
      <p:sp>
        <p:nvSpPr>
          <p:cNvPr id="10" name="Text 8"/>
          <p:cNvSpPr/>
          <p:nvPr/>
        </p:nvSpPr>
        <p:spPr>
          <a:xfrm>
            <a:off x="6324448" y="2212848"/>
            <a:ext cx="5181448" cy="365760"/>
          </a:xfrm>
          <a:prstGeom prst="rect">
            <a:avLst/>
          </a:prstGeom>
          <a:noFill/>
          <a:ln/>
        </p:spPr>
        <p:txBody>
          <a:bodyPr wrap="square" lIns="0" tIns="0" rIns="0" bIns="0" rtlCol="0" anchor="ctr"/>
          <a:lstStyle/>
          <a:p>
            <a:pPr indent="0" marL="0">
              <a:buNone/>
            </a:pPr>
            <a:r>
              <a:rPr lang="en-US" sz="2000" b="1" dirty="0">
                <a:solidFill>
                  <a:srgbClr val="1A2029"/>
                </a:solidFill>
                <a:latin typeface="Microsoft YaHei" pitchFamily="34" charset="0"/>
                <a:ea typeface="Microsoft YaHei" pitchFamily="34" charset="-122"/>
                <a:cs typeface="Microsoft YaHei" pitchFamily="34" charset="-120"/>
              </a:rPr>
              <a:t>中国水利工程的建造智慧</a:t>
            </a:r>
            <a:endParaRPr lang="en-US" sz="2000" dirty="0"/>
          </a:p>
        </p:txBody>
      </p:sp>
      <p:sp>
        <p:nvSpPr>
          <p:cNvPr id="11" name="Text 9"/>
          <p:cNvSpPr/>
          <p:nvPr/>
        </p:nvSpPr>
        <p:spPr>
          <a:xfrm>
            <a:off x="6324448" y="2615184"/>
            <a:ext cx="5181448"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7—9 年级 · 新兴产业 · 建议 5—7 课时</a:t>
            </a:r>
            <a:endParaRPr lang="en-US" sz="1100" dirty="0"/>
          </a:p>
        </p:txBody>
      </p:sp>
      <p:sp>
        <p:nvSpPr>
          <p:cNvPr id="12" name="Text 10"/>
          <p:cNvSpPr/>
          <p:nvPr/>
        </p:nvSpPr>
        <p:spPr>
          <a:xfrm>
            <a:off x="6324448" y="2944368"/>
            <a:ext cx="5181448" cy="457200"/>
          </a:xfrm>
          <a:prstGeom prst="rect">
            <a:avLst/>
          </a:prstGeom>
          <a:noFill/>
          <a:ln/>
        </p:spPr>
        <p:txBody>
          <a:bodyPr wrap="square" lIns="0" tIns="0" rIns="0" bIns="0" rtlCol="0" anchor="t"/>
          <a:lstStyle/>
          <a:p>
            <a:pPr indent="0" marL="0">
              <a:lnSpc>
                <a:spcPct val="130000"/>
              </a:lnSpc>
              <a:buNone/>
            </a:pPr>
            <a:r>
              <a:rPr lang="en-US" sz="1600" b="1" dirty="0">
                <a:solidFill>
                  <a:srgbClr val="1A2029"/>
                </a:solidFill>
                <a:latin typeface="Microsoft YaHei" pitchFamily="34" charset="0"/>
                <a:ea typeface="Microsoft YaHei" pitchFamily="34" charset="-122"/>
                <a:cs typeface="Microsoft YaHei" pitchFamily="34" charset="-120"/>
              </a:rPr>
              <a:t>学生侧两端都开，配一个挑刺智能体。</a:t>
            </a:r>
            <a:endParaRPr lang="en-US" sz="1600" dirty="0"/>
          </a:p>
        </p:txBody>
      </p:sp>
      <p:sp>
        <p:nvSpPr>
          <p:cNvPr id="13" name="Text 11"/>
          <p:cNvSpPr/>
          <p:nvPr/>
        </p:nvSpPr>
        <p:spPr>
          <a:xfrm>
            <a:off x="6324448" y="3520440"/>
            <a:ext cx="5181448" cy="1005840"/>
          </a:xfrm>
          <a:prstGeom prst="rect">
            <a:avLst/>
          </a:prstGeom>
          <a:noFill/>
          <a:ln/>
        </p:spPr>
        <p:txBody>
          <a:bodyPr wrap="square" lIns="0" tIns="0" rIns="0" bIns="0" rtlCol="0" anchor="t"/>
          <a:lstStyle/>
          <a:p>
            <a:pPr indent="0" marL="0">
              <a:lnSpc>
                <a:spcPct val="145000"/>
              </a:lnSpc>
              <a:buNone/>
            </a:pPr>
            <a:r>
              <a:rPr lang="en-US" sz="1350" dirty="0">
                <a:solidFill>
                  <a:srgbClr val="5A6472"/>
                </a:solidFill>
                <a:latin typeface="Microsoft YaHei" pitchFamily="34" charset="0"/>
                <a:ea typeface="Microsoft YaHei" pitchFamily="34" charset="-122"/>
                <a:cs typeface="Microsoft YaHei" pitchFamily="34" charset="-120"/>
              </a:rPr>
              <a:t>沙盘分水的模拟探究环节 AI 一点都不进。学生自己用水槽、沙盘、矿泉水瓶试不同坝形对分水灌溉的影响。</a:t>
            </a:r>
            <a:endParaRPr lang="en-US" sz="1350" dirty="0"/>
          </a:p>
        </p:txBody>
      </p:sp>
      <p:sp>
        <p:nvSpPr>
          <p:cNvPr id="14" name="Shape 12"/>
          <p:cNvSpPr/>
          <p:nvPr/>
        </p:nvSpPr>
        <p:spPr>
          <a:xfrm>
            <a:off x="685800" y="5961888"/>
            <a:ext cx="10820095" cy="0"/>
          </a:xfrm>
          <a:prstGeom prst="line">
            <a:avLst/>
          </a:prstGeom>
          <a:noFill/>
          <a:ln w="12700">
            <a:solidFill>
              <a:srgbClr val="E2E6EA"/>
            </a:solidFill>
            <a:prstDash val="solid"/>
          </a:ln>
        </p:spPr>
      </p:sp>
      <p:sp>
        <p:nvSpPr>
          <p:cNvPr id="15" name="Text 1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同一套判断，可以落成完全不同的刻度。</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32 · A</a:t>
            </a:r>
            <a:endParaRPr lang="en-US" sz="900" dirty="0"/>
          </a:p>
        </p:txBody>
      </p:sp>
      <p:sp>
        <p:nvSpPr>
          <p:cNvPr id="3" name="Text 1"/>
          <p:cNvSpPr/>
          <p:nvPr/>
        </p:nvSpPr>
        <p:spPr>
          <a:xfrm>
            <a:off x="685800" y="2286000"/>
            <a:ext cx="9997135" cy="1828800"/>
          </a:xfrm>
          <a:prstGeom prst="rect">
            <a:avLst/>
          </a:prstGeom>
          <a:noFill/>
          <a:ln/>
        </p:spPr>
        <p:txBody>
          <a:bodyPr wrap="square" lIns="0" tIns="0" rIns="0" bIns="0" rtlCol="0" anchor="t"/>
          <a:lstStyle/>
          <a:p>
            <a:pPr indent="0" marL="0">
              <a:lnSpc>
                <a:spcPct val="145000"/>
              </a:lnSpc>
              <a:buNone/>
            </a:pPr>
            <a:r>
              <a:rPr lang="en-US" sz="3000" dirty="0">
                <a:solidFill>
                  <a:srgbClr val="1A2029"/>
                </a:solidFill>
                <a:latin typeface="Microsoft YaHei" pitchFamily="34" charset="0"/>
                <a:ea typeface="Microsoft YaHei" pitchFamily="34" charset="-122"/>
                <a:cs typeface="Microsoft YaHei" pitchFamily="34" charset="-120"/>
              </a:rPr>
              <a:t>任务链条越长、失败越可能发生的环节，AI 越往教师侧收；越接近传播和表达，越可以往学生侧放。</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33 · B</a:t>
            </a:r>
            <a:endParaRPr lang="en-US" sz="900" dirty="0"/>
          </a:p>
        </p:txBody>
      </p:sp>
      <p:sp>
        <p:nvSpPr>
          <p:cNvPr id="3" name="Text 1"/>
          <p:cNvSpPr/>
          <p:nvPr/>
        </p:nvSpPr>
        <p:spPr>
          <a:xfrm>
            <a:off x="685800" y="1874520"/>
            <a:ext cx="10820095" cy="548640"/>
          </a:xfrm>
          <a:prstGeom prst="rect">
            <a:avLst/>
          </a:prstGeom>
          <a:noFill/>
          <a:ln/>
        </p:spPr>
        <p:txBody>
          <a:bodyPr wrap="square" lIns="0" tIns="0" rIns="0" bIns="0" rtlCol="0" anchor="ctr"/>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谁做的</a:t>
            </a:r>
            <a:endParaRPr lang="en-US" sz="3600" dirty="0"/>
          </a:p>
        </p:txBody>
      </p:sp>
      <p:sp>
        <p:nvSpPr>
          <p:cNvPr id="4" name="Text 2"/>
          <p:cNvSpPr/>
          <p:nvPr/>
        </p:nvSpPr>
        <p:spPr>
          <a:xfrm>
            <a:off x="685800" y="2606040"/>
            <a:ext cx="9997135" cy="1828800"/>
          </a:xfrm>
          <a:prstGeom prst="rect">
            <a:avLst/>
          </a:prstGeom>
          <a:noFill/>
          <a:ln/>
        </p:spPr>
        <p:txBody>
          <a:bodyPr wrap="square" lIns="0" tIns="0" rIns="0" bIns="0" rtlCol="0" anchor="t"/>
          <a:lstStyle/>
          <a:p>
            <a:pPr indent="0" marL="0">
              <a:lnSpc>
                <a:spcPct val="145000"/>
              </a:lnSpc>
              <a:buNone/>
            </a:pPr>
            <a:r>
              <a:rPr lang="en-US" sz="3000" dirty="0">
                <a:solidFill>
                  <a:srgbClr val="1A2029"/>
                </a:solidFill>
                <a:latin typeface="Microsoft YaHei" pitchFamily="34" charset="0"/>
                <a:ea typeface="Microsoft YaHei" pitchFamily="34" charset="-122"/>
                <a:cs typeface="Microsoft YaHei" pitchFamily="34" charset="-120"/>
              </a:rPr>
              <a:t>AI 一进来，谁做的就不可验证，除非事先设计。</a:t>
            </a:r>
            <a:endParaRPr lang="en-US" sz="3000" dirty="0"/>
          </a:p>
        </p:txBody>
      </p:sp>
      <p:sp>
        <p:nvSpPr>
          <p:cNvPr id="5" name="Text 3"/>
          <p:cNvSpPr/>
          <p:nvPr/>
        </p:nvSpPr>
        <p:spPr>
          <a:xfrm>
            <a:off x="685800" y="3840480"/>
            <a:ext cx="9997135" cy="457200"/>
          </a:xfrm>
          <a:prstGeom prst="rect">
            <a:avLst/>
          </a:prstGeom>
          <a:noFill/>
          <a:ln/>
        </p:spPr>
        <p:txBody>
          <a:bodyPr wrap="square" lIns="0" tIns="0" rIns="0" bIns="0" rtlCol="0" anchor="ctr"/>
          <a:lstStyle/>
          <a:p>
            <a:pPr indent="0" marL="0">
              <a:buNone/>
            </a:pPr>
            <a:r>
              <a:rPr lang="en-US" sz="2100" dirty="0">
                <a:solidFill>
                  <a:srgbClr val="5A6472"/>
                </a:solidFill>
                <a:latin typeface="Microsoft YaHei" pitchFamily="34" charset="0"/>
                <a:ea typeface="Microsoft YaHei" pitchFamily="34" charset="-122"/>
                <a:cs typeface="Microsoft YaHei" pitchFamily="34" charset="-120"/>
              </a:rPr>
              <a:t>事前配置比事后查重可靠。</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34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四栏留痕表</a:t>
            </a:r>
            <a:endParaRPr lang="en-US" sz="3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20095" cy="914400"/>
        </p:xfrm>
        <a:graphic>
          <a:graphicData uri="http://schemas.openxmlformats.org/drawingml/2006/table">
            <a:tbl>
              <a:tblPr/>
              <a:tblGrid>
                <a:gridCol w="2706624"/>
                <a:gridCol w="2706624"/>
                <a:gridCol w="2706624"/>
                <a:gridCol w="2697480"/>
              </a:tblGrid>
              <a:tr h="384048">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用在哪一步</a:t>
                      </a:r>
                      <a:endParaRPr lang="en-US" sz="1100" dirty="0">
                        <a:latin typeface="Microsoft YaHei" charset="0"/>
                        <a:ea typeface="Microsoft YaHei" charset="0"/>
                        <a:cs typeface="Microsoft YaHei" charset="0"/>
                      </a:endParaRPr>
                    </a:p>
                  </a:txBody>
                  <a:tcPr marL="114300" marR="114300" marT="114300" marB="114300">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我给了什么提示</a:t>
                      </a:r>
                      <a:endParaRPr lang="en-US" sz="1100" dirty="0">
                        <a:latin typeface="Microsoft YaHei" charset="0"/>
                        <a:ea typeface="Microsoft YaHei" charset="0"/>
                        <a:cs typeface="Microsoft YaHei" charset="0"/>
                      </a:endParaRPr>
                    </a:p>
                  </a:txBody>
                  <a:tcPr marL="114300" marR="114300" marT="114300" marB="114300">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AI 给了什么</a:t>
                      </a:r>
                      <a:endParaRPr lang="en-US" sz="1100" dirty="0">
                        <a:latin typeface="Microsoft YaHei" charset="0"/>
                        <a:ea typeface="Microsoft YaHei" charset="0"/>
                        <a:cs typeface="Microsoft YaHei" charset="0"/>
                      </a:endParaRPr>
                    </a:p>
                  </a:txBody>
                  <a:tcPr marL="114300" marR="114300" marT="114300" marB="114300">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我改了什么，为什么改</a:t>
                      </a:r>
                      <a:endParaRPr lang="en-US" sz="1100" dirty="0">
                        <a:latin typeface="Microsoft YaHei" charset="0"/>
                        <a:ea typeface="Microsoft YaHei" charset="0"/>
                        <a:cs typeface="Microsoft YaHei" charset="0"/>
                      </a:endParaRPr>
                    </a:p>
                  </a:txBody>
                  <a:tcPr marL="114300" marR="114300" marT="114300" marB="114300">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r>
              <a:tr h="1737360">
                <a:tc>
                  <a:txBody>
                    <a:bodyPr/>
                    <a:lstStyle/>
                    <a:p>
                      <a:pPr indent="0" marL="0">
                        <a:buNone/>
                      </a:pPr>
                      <a:r>
                        <a:rPr lang="en-US" sz="1350" dirty="0">
                          <a:solidFill>
                            <a:srgbClr val="1A2029"/>
                          </a:solidFill>
                          <a:latin typeface="Microsoft YaHei" pitchFamily="34" charset="0"/>
                          <a:ea typeface="Microsoft YaHei" pitchFamily="34" charset="-122"/>
                          <a:cs typeface="Microsoft YaHei" pitchFamily="34" charset="-120"/>
                        </a:rPr>
                        <a:t>设计方案</a:t>
                      </a:r>
                      <a:endParaRPr lang="en-US" sz="1350" dirty="0">
                        <a:latin typeface="Microsoft YaHei" charset="0"/>
                        <a:ea typeface="Microsoft YaHei" charset="0"/>
                        <a:cs typeface="Microsoft YaHei" charset="0"/>
                      </a:endParaRPr>
                    </a:p>
                  </a:txBody>
                  <a:tcPr marL="114300" marR="114300" marT="114300" marB="114300" anchor="t">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350" dirty="0">
                          <a:solidFill>
                            <a:srgbClr val="1A2029"/>
                          </a:solidFill>
                          <a:latin typeface="Microsoft YaHei" pitchFamily="34" charset="0"/>
                          <a:ea typeface="Microsoft YaHei" pitchFamily="34" charset="-122"/>
                          <a:cs typeface="Microsoft YaHei" pitchFamily="34" charset="-120"/>
                        </a:rPr>
                        <a:t>帮我看看这个对照实验有什么问题</a:t>
                      </a:r>
                      <a:endParaRPr lang="en-US" sz="1350" dirty="0">
                        <a:latin typeface="Microsoft YaHei" charset="0"/>
                        <a:ea typeface="Microsoft YaHei" charset="0"/>
                        <a:cs typeface="Microsoft YaHei" charset="0"/>
                      </a:endParaRPr>
                    </a:p>
                  </a:txBody>
                  <a:tcPr marL="114300" marR="114300" marT="114300" marB="114300" anchor="t">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350" dirty="0">
                          <a:solidFill>
                            <a:srgbClr val="1A2029"/>
                          </a:solidFill>
                          <a:latin typeface="Microsoft YaHei" pitchFamily="34" charset="0"/>
                          <a:ea typeface="Microsoft YaHei" pitchFamily="34" charset="-122"/>
                          <a:cs typeface="Microsoft YaHei" pitchFamily="34" charset="-120"/>
                        </a:rPr>
                        <a:t>说我没有控制光照</a:t>
                      </a:r>
                      <a:endParaRPr lang="en-US" sz="1350" dirty="0">
                        <a:latin typeface="Microsoft YaHei" charset="0"/>
                        <a:ea typeface="Microsoft YaHei" charset="0"/>
                        <a:cs typeface="Microsoft YaHei" charset="0"/>
                      </a:endParaRPr>
                    </a:p>
                  </a:txBody>
                  <a:tcPr marL="114300" marR="114300" marT="114300" marB="114300" anchor="t">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350" dirty="0">
                          <a:solidFill>
                            <a:srgbClr val="1A2029"/>
                          </a:solidFill>
                          <a:latin typeface="Microsoft YaHei" pitchFamily="34" charset="0"/>
                          <a:ea typeface="Microsoft YaHei" pitchFamily="34" charset="-122"/>
                          <a:cs typeface="Microsoft YaHei" pitchFamily="34" charset="-120"/>
                        </a:rPr>
                        <a:t>加了一句每组都放在同一个窗台，因为窗台光照一样</a:t>
                      </a:r>
                      <a:endParaRPr lang="en-US" sz="1350" dirty="0">
                        <a:latin typeface="Microsoft YaHei" charset="0"/>
                        <a:ea typeface="Microsoft YaHei" charset="0"/>
                        <a:cs typeface="Microsoft YaHei" charset="0"/>
                      </a:endParaRPr>
                    </a:p>
                  </a:txBody>
                  <a:tcPr marL="114300" marR="114300" marT="114300" marB="114300" anchor="t">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bl>
          </a:graphicData>
        </a:graphic>
      </p:graphicFrame>
      <p:sp>
        <p:nvSpPr>
          <p:cNvPr id="5" name="Shape 2"/>
          <p:cNvSpPr/>
          <p:nvPr/>
        </p:nvSpPr>
        <p:spPr>
          <a:xfrm>
            <a:off x="685800" y="5961888"/>
            <a:ext cx="10820095" cy="0"/>
          </a:xfrm>
          <a:prstGeom prst="line">
            <a:avLst/>
          </a:prstGeom>
          <a:noFill/>
          <a:ln w="12700">
            <a:solidFill>
              <a:srgbClr val="E2E6EA"/>
            </a:solidFill>
            <a:prstDash val="solid"/>
          </a:ln>
        </p:spPr>
      </p:sp>
      <p:sp>
        <p:nvSpPr>
          <p:cNvPr id="6" name="Text 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第四栏直接就是反思改进能力的书面表现，不是额外负担。</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35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答辩三问</a:t>
            </a:r>
            <a:endParaRPr lang="en-US" sz="3600" dirty="0"/>
          </a:p>
        </p:txBody>
      </p:sp>
      <p:sp>
        <p:nvSpPr>
          <p:cNvPr id="4" name="Text 2"/>
          <p:cNvSpPr/>
          <p:nvPr/>
        </p:nvSpPr>
        <p:spPr>
          <a:xfrm>
            <a:off x="685800" y="2148840"/>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一</a:t>
            </a:r>
            <a:endParaRPr lang="en-US" sz="2100" dirty="0"/>
          </a:p>
        </p:txBody>
      </p:sp>
      <p:sp>
        <p:nvSpPr>
          <p:cNvPr id="5" name="Text 3"/>
          <p:cNvSpPr/>
          <p:nvPr/>
        </p:nvSpPr>
        <p:spPr>
          <a:xfrm>
            <a:off x="1234440" y="2112264"/>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你为什么选这个方案</a:t>
            </a:r>
            <a:endParaRPr lang="en-US" sz="2600" dirty="0"/>
          </a:p>
        </p:txBody>
      </p:sp>
      <p:sp>
        <p:nvSpPr>
          <p:cNvPr id="6" name="Text 4"/>
          <p:cNvSpPr/>
          <p:nvPr/>
        </p:nvSpPr>
        <p:spPr>
          <a:xfrm>
            <a:off x="685800" y="2935224"/>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二</a:t>
            </a:r>
            <a:endParaRPr lang="en-US" sz="2100" dirty="0"/>
          </a:p>
        </p:txBody>
      </p:sp>
      <p:sp>
        <p:nvSpPr>
          <p:cNvPr id="7" name="Text 5"/>
          <p:cNvSpPr/>
          <p:nvPr/>
        </p:nvSpPr>
        <p:spPr>
          <a:xfrm>
            <a:off x="1234440" y="2898648"/>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你把 AI 给的东西改了哪里</a:t>
            </a:r>
            <a:endParaRPr lang="en-US" sz="2600" dirty="0"/>
          </a:p>
        </p:txBody>
      </p:sp>
      <p:sp>
        <p:nvSpPr>
          <p:cNvPr id="8" name="Text 6"/>
          <p:cNvSpPr/>
          <p:nvPr/>
        </p:nvSpPr>
        <p:spPr>
          <a:xfrm>
            <a:off x="685800" y="3721608"/>
            <a:ext cx="411480" cy="45720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三</a:t>
            </a:r>
            <a:endParaRPr lang="en-US" sz="2100" dirty="0"/>
          </a:p>
        </p:txBody>
      </p:sp>
      <p:sp>
        <p:nvSpPr>
          <p:cNvPr id="9" name="Text 7"/>
          <p:cNvSpPr/>
          <p:nvPr/>
        </p:nvSpPr>
        <p:spPr>
          <a:xfrm>
            <a:off x="1234440" y="3685032"/>
            <a:ext cx="10271455" cy="548640"/>
          </a:xfrm>
          <a:prstGeom prst="rect">
            <a:avLst/>
          </a:prstGeom>
          <a:noFill/>
          <a:ln/>
        </p:spPr>
        <p:txBody>
          <a:bodyPr wrap="square" lIns="0" tIns="0" rIns="0" bIns="0" rtlCol="0" anchor="t"/>
          <a:lstStyle/>
          <a:p>
            <a:pPr indent="0" marL="0">
              <a:buNone/>
            </a:pPr>
            <a:r>
              <a:rPr lang="en-US" sz="2600" dirty="0">
                <a:solidFill>
                  <a:srgbClr val="1A2029"/>
                </a:solidFill>
                <a:latin typeface="Microsoft YaHei" pitchFamily="34" charset="0"/>
                <a:ea typeface="Microsoft YaHei" pitchFamily="34" charset="-122"/>
                <a:cs typeface="Microsoft YaHei" pitchFamily="34" charset="-120"/>
              </a:rPr>
              <a:t>如果这里错了，你怎么发现</a:t>
            </a:r>
            <a:endParaRPr lang="en-US" sz="2600" dirty="0"/>
          </a:p>
        </p:txBody>
      </p:sp>
      <p:sp>
        <p:nvSpPr>
          <p:cNvPr id="10" name="Shape 8"/>
          <p:cNvSpPr/>
          <p:nvPr/>
        </p:nvSpPr>
        <p:spPr>
          <a:xfrm>
            <a:off x="685800" y="5961888"/>
            <a:ext cx="10820095" cy="0"/>
          </a:xfrm>
          <a:prstGeom prst="line">
            <a:avLst/>
          </a:prstGeom>
          <a:noFill/>
          <a:ln w="12700">
            <a:solidFill>
              <a:srgbClr val="E2E6EA"/>
            </a:solidFill>
            <a:prstDash val="solid"/>
          </a:ln>
        </p:spPr>
      </p:sp>
      <p:sp>
        <p:nvSpPr>
          <p:cNvPr id="11" name="Text 9"/>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零成本，零技术门槛，明天就能用。</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36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证据到哪里去</a:t>
            </a:r>
            <a:endParaRPr lang="en-US" sz="3600" dirty="0"/>
          </a:p>
        </p:txBody>
      </p:sp>
      <p:sp>
        <p:nvSpPr>
          <p:cNvPr id="4" name="Shape 2"/>
          <p:cNvSpPr/>
          <p:nvPr/>
        </p:nvSpPr>
        <p:spPr>
          <a:xfrm>
            <a:off x="685800" y="2148840"/>
            <a:ext cx="2458136" cy="1600200"/>
          </a:xfrm>
          <a:prstGeom prst="rect">
            <a:avLst/>
          </a:prstGeom>
          <a:solidFill>
            <a:srgbClr val="F4F6F8"/>
          </a:solidFill>
          <a:ln w="12700">
            <a:solidFill>
              <a:srgbClr val="F4F6F8"/>
            </a:solidFill>
            <a:prstDash val="solid"/>
          </a:ln>
        </p:spPr>
      </p:sp>
      <p:sp>
        <p:nvSpPr>
          <p:cNvPr id="5" name="Text 3"/>
          <p:cNvSpPr/>
          <p:nvPr/>
        </p:nvSpPr>
        <p:spPr>
          <a:xfrm>
            <a:off x="868680" y="2331720"/>
            <a:ext cx="2092376" cy="292608"/>
          </a:xfrm>
          <a:prstGeom prst="rect">
            <a:avLst/>
          </a:prstGeom>
          <a:noFill/>
          <a:ln/>
        </p:spPr>
        <p:txBody>
          <a:bodyPr wrap="square" lIns="0" tIns="0" rIns="0" bIns="0" rtlCol="0" anchor="ct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过程证据</a:t>
            </a:r>
            <a:endParaRPr lang="en-US" sz="1600" dirty="0"/>
          </a:p>
        </p:txBody>
      </p:sp>
      <p:sp>
        <p:nvSpPr>
          <p:cNvPr id="6" name="Text 4"/>
          <p:cNvSpPr/>
          <p:nvPr/>
        </p:nvSpPr>
        <p:spPr>
          <a:xfrm>
            <a:off x="868680" y="2679192"/>
            <a:ext cx="2092376" cy="914400"/>
          </a:xfrm>
          <a:prstGeom prst="rect">
            <a:avLst/>
          </a:prstGeom>
          <a:noFill/>
          <a:ln/>
        </p:spPr>
        <p:txBody>
          <a:bodyPr wrap="square" lIns="0" tIns="0" rIns="0" bIns="0" rtlCol="0" anchor="t"/>
          <a:lstStyle/>
          <a:p>
            <a:pPr indent="0" marL="0">
              <a:lnSpc>
                <a:spcPct val="140000"/>
              </a:lnSpc>
              <a:buNone/>
            </a:pPr>
            <a:r>
              <a:rPr lang="en-US" sz="1100" dirty="0">
                <a:solidFill>
                  <a:srgbClr val="5A6472"/>
                </a:solidFill>
                <a:latin typeface="Microsoft YaHei" pitchFamily="34" charset="0"/>
                <a:ea typeface="Microsoft YaHei" pitchFamily="34" charset="-122"/>
                <a:cs typeface="Microsoft YaHei" pitchFamily="34" charset="-120"/>
              </a:rPr>
              <a:t>记录表、留痕表、中间版本、失败记录</a:t>
            </a:r>
            <a:endParaRPr lang="en-US" sz="1100" dirty="0"/>
          </a:p>
        </p:txBody>
      </p:sp>
      <p:sp>
        <p:nvSpPr>
          <p:cNvPr id="7" name="Text 5"/>
          <p:cNvSpPr/>
          <p:nvPr/>
        </p:nvSpPr>
        <p:spPr>
          <a:xfrm>
            <a:off x="3143936" y="2802636"/>
            <a:ext cx="329184" cy="292608"/>
          </a:xfrm>
          <a:prstGeom prst="rect">
            <a:avLst/>
          </a:prstGeom>
          <a:noFill/>
          <a:ln/>
        </p:spPr>
        <p:txBody>
          <a:bodyPr wrap="square" lIns="0" tIns="0" rIns="0" bIns="0" rtlCol="0" anchor="ctr"/>
          <a:lstStyle/>
          <a:p>
            <a:pPr algn="ctr" indent="0" marL="0">
              <a:buNone/>
            </a:pPr>
            <a:r>
              <a:rPr lang="en-US" sz="1600" dirty="0">
                <a:solidFill>
                  <a:srgbClr val="8C97A3"/>
                </a:solidFill>
                <a:latin typeface="Microsoft YaHei" pitchFamily="34" charset="0"/>
                <a:ea typeface="Microsoft YaHei" pitchFamily="34" charset="-122"/>
                <a:cs typeface="Microsoft YaHei" pitchFamily="34" charset="-120"/>
              </a:rPr>
              <a:t>→</a:t>
            </a:r>
            <a:endParaRPr lang="en-US" sz="1600" dirty="0"/>
          </a:p>
        </p:txBody>
      </p:sp>
      <p:sp>
        <p:nvSpPr>
          <p:cNvPr id="8" name="Shape 6"/>
          <p:cNvSpPr/>
          <p:nvPr/>
        </p:nvSpPr>
        <p:spPr>
          <a:xfrm>
            <a:off x="3473120" y="2148840"/>
            <a:ext cx="2458136" cy="1600200"/>
          </a:xfrm>
          <a:prstGeom prst="rect">
            <a:avLst/>
          </a:prstGeom>
          <a:solidFill>
            <a:srgbClr val="F4F6F8"/>
          </a:solidFill>
          <a:ln w="12700">
            <a:solidFill>
              <a:srgbClr val="F4F6F8"/>
            </a:solidFill>
            <a:prstDash val="solid"/>
          </a:ln>
        </p:spPr>
      </p:sp>
      <p:sp>
        <p:nvSpPr>
          <p:cNvPr id="9" name="Text 7"/>
          <p:cNvSpPr/>
          <p:nvPr/>
        </p:nvSpPr>
        <p:spPr>
          <a:xfrm>
            <a:off x="3656000" y="2331720"/>
            <a:ext cx="2092376" cy="292608"/>
          </a:xfrm>
          <a:prstGeom prst="rect">
            <a:avLst/>
          </a:prstGeom>
          <a:noFill/>
          <a:ln/>
        </p:spPr>
        <p:txBody>
          <a:bodyPr wrap="square" lIns="0" tIns="0" rIns="0" bIns="0" rtlCol="0" anchor="ct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表现性评价</a:t>
            </a:r>
            <a:endParaRPr lang="en-US" sz="1600" dirty="0"/>
          </a:p>
        </p:txBody>
      </p:sp>
      <p:sp>
        <p:nvSpPr>
          <p:cNvPr id="10" name="Text 8"/>
          <p:cNvSpPr/>
          <p:nvPr/>
        </p:nvSpPr>
        <p:spPr>
          <a:xfrm>
            <a:off x="3656000" y="2679192"/>
            <a:ext cx="2092376" cy="914400"/>
          </a:xfrm>
          <a:prstGeom prst="rect">
            <a:avLst/>
          </a:prstGeom>
          <a:noFill/>
          <a:ln/>
        </p:spPr>
        <p:txBody>
          <a:bodyPr wrap="square" lIns="0" tIns="0" rIns="0" bIns="0" rtlCol="0" anchor="t"/>
          <a:lstStyle/>
          <a:p>
            <a:pPr indent="0" marL="0">
              <a:lnSpc>
                <a:spcPct val="140000"/>
              </a:lnSpc>
              <a:buNone/>
            </a:pPr>
            <a:r>
              <a:rPr lang="en-US" sz="1100" dirty="0">
                <a:solidFill>
                  <a:srgbClr val="5A6472"/>
                </a:solidFill>
                <a:latin typeface="Microsoft YaHei" pitchFamily="34" charset="0"/>
                <a:ea typeface="Microsoft YaHei" pitchFamily="34" charset="-122"/>
                <a:cs typeface="Microsoft YaHei" pitchFamily="34" charset="-120"/>
              </a:rPr>
              <a:t>关键环节设观测点，课堂观察、实践操作、口头汇报、作品展示</a:t>
            </a:r>
            <a:endParaRPr lang="en-US" sz="1100" dirty="0"/>
          </a:p>
        </p:txBody>
      </p:sp>
      <p:sp>
        <p:nvSpPr>
          <p:cNvPr id="11" name="Text 9"/>
          <p:cNvSpPr/>
          <p:nvPr/>
        </p:nvSpPr>
        <p:spPr>
          <a:xfrm>
            <a:off x="5931256" y="2802636"/>
            <a:ext cx="329184" cy="292608"/>
          </a:xfrm>
          <a:prstGeom prst="rect">
            <a:avLst/>
          </a:prstGeom>
          <a:noFill/>
          <a:ln/>
        </p:spPr>
        <p:txBody>
          <a:bodyPr wrap="square" lIns="0" tIns="0" rIns="0" bIns="0" rtlCol="0" anchor="ctr"/>
          <a:lstStyle/>
          <a:p>
            <a:pPr algn="ctr" indent="0" marL="0">
              <a:buNone/>
            </a:pPr>
            <a:r>
              <a:rPr lang="en-US" sz="1600" dirty="0">
                <a:solidFill>
                  <a:srgbClr val="8C97A3"/>
                </a:solidFill>
                <a:latin typeface="Microsoft YaHei" pitchFamily="34" charset="0"/>
                <a:ea typeface="Microsoft YaHei" pitchFamily="34" charset="-122"/>
                <a:cs typeface="Microsoft YaHei" pitchFamily="34" charset="-120"/>
              </a:rPr>
              <a:t>→</a:t>
            </a:r>
            <a:endParaRPr lang="en-US" sz="1600" dirty="0"/>
          </a:p>
        </p:txBody>
      </p:sp>
      <p:sp>
        <p:nvSpPr>
          <p:cNvPr id="12" name="Shape 10"/>
          <p:cNvSpPr/>
          <p:nvPr/>
        </p:nvSpPr>
        <p:spPr>
          <a:xfrm>
            <a:off x="6260440" y="2148840"/>
            <a:ext cx="2458136" cy="1600200"/>
          </a:xfrm>
          <a:prstGeom prst="rect">
            <a:avLst/>
          </a:prstGeom>
          <a:solidFill>
            <a:srgbClr val="F4F6F8"/>
          </a:solidFill>
          <a:ln w="12700">
            <a:solidFill>
              <a:srgbClr val="F4F6F8"/>
            </a:solidFill>
            <a:prstDash val="solid"/>
          </a:ln>
        </p:spPr>
      </p:sp>
      <p:sp>
        <p:nvSpPr>
          <p:cNvPr id="13" name="Text 11"/>
          <p:cNvSpPr/>
          <p:nvPr/>
        </p:nvSpPr>
        <p:spPr>
          <a:xfrm>
            <a:off x="6443320" y="2331720"/>
            <a:ext cx="2092376" cy="292608"/>
          </a:xfrm>
          <a:prstGeom prst="rect">
            <a:avLst/>
          </a:prstGeom>
          <a:noFill/>
          <a:ln/>
        </p:spPr>
        <p:txBody>
          <a:bodyPr wrap="square" lIns="0" tIns="0" rIns="0" bIns="0" rtlCol="0" anchor="ct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纪实性记录</a:t>
            </a:r>
            <a:endParaRPr lang="en-US" sz="1600" dirty="0"/>
          </a:p>
        </p:txBody>
      </p:sp>
      <p:sp>
        <p:nvSpPr>
          <p:cNvPr id="14" name="Text 12"/>
          <p:cNvSpPr/>
          <p:nvPr/>
        </p:nvSpPr>
        <p:spPr>
          <a:xfrm>
            <a:off x="6443320" y="2679192"/>
            <a:ext cx="2092376" cy="914400"/>
          </a:xfrm>
          <a:prstGeom prst="rect">
            <a:avLst/>
          </a:prstGeom>
          <a:noFill/>
          <a:ln/>
        </p:spPr>
        <p:txBody>
          <a:bodyPr wrap="square" lIns="0" tIns="0" rIns="0" bIns="0" rtlCol="0" anchor="t"/>
          <a:lstStyle/>
          <a:p>
            <a:pPr indent="0" marL="0">
              <a:lnSpc>
                <a:spcPct val="140000"/>
              </a:lnSpc>
              <a:buNone/>
            </a:pPr>
            <a:r>
              <a:rPr lang="en-US" sz="1100" dirty="0">
                <a:solidFill>
                  <a:srgbClr val="5A6472"/>
                </a:solidFill>
                <a:latin typeface="Microsoft YaHei" pitchFamily="34" charset="0"/>
                <a:ea typeface="Microsoft YaHei" pitchFamily="34" charset="-122"/>
                <a:cs typeface="Microsoft YaHei" pitchFamily="34" charset="-120"/>
              </a:rPr>
              <a:t>指南：将科学探究实践表现性评价以纪实性方式记录</a:t>
            </a:r>
            <a:endParaRPr lang="en-US" sz="1100" dirty="0"/>
          </a:p>
        </p:txBody>
      </p:sp>
      <p:sp>
        <p:nvSpPr>
          <p:cNvPr id="15" name="Text 13"/>
          <p:cNvSpPr/>
          <p:nvPr/>
        </p:nvSpPr>
        <p:spPr>
          <a:xfrm>
            <a:off x="8718575" y="2802636"/>
            <a:ext cx="329184" cy="292608"/>
          </a:xfrm>
          <a:prstGeom prst="rect">
            <a:avLst/>
          </a:prstGeom>
          <a:noFill/>
          <a:ln/>
        </p:spPr>
        <p:txBody>
          <a:bodyPr wrap="square" lIns="0" tIns="0" rIns="0" bIns="0" rtlCol="0" anchor="ctr"/>
          <a:lstStyle/>
          <a:p>
            <a:pPr algn="ctr" indent="0" marL="0">
              <a:buNone/>
            </a:pPr>
            <a:r>
              <a:rPr lang="en-US" sz="1600" dirty="0">
                <a:solidFill>
                  <a:srgbClr val="8C97A3"/>
                </a:solidFill>
                <a:latin typeface="Microsoft YaHei" pitchFamily="34" charset="0"/>
                <a:ea typeface="Microsoft YaHei" pitchFamily="34" charset="-122"/>
                <a:cs typeface="Microsoft YaHei" pitchFamily="34" charset="-120"/>
              </a:rPr>
              <a:t>→</a:t>
            </a:r>
            <a:endParaRPr lang="en-US" sz="1600" dirty="0"/>
          </a:p>
        </p:txBody>
      </p:sp>
      <p:sp>
        <p:nvSpPr>
          <p:cNvPr id="16" name="Shape 14"/>
          <p:cNvSpPr/>
          <p:nvPr/>
        </p:nvSpPr>
        <p:spPr>
          <a:xfrm>
            <a:off x="9047759" y="2148840"/>
            <a:ext cx="2458136" cy="1600200"/>
          </a:xfrm>
          <a:prstGeom prst="rect">
            <a:avLst/>
          </a:prstGeom>
          <a:solidFill>
            <a:srgbClr val="F4F6F8"/>
          </a:solidFill>
          <a:ln w="12700">
            <a:solidFill>
              <a:srgbClr val="F4F6F8"/>
            </a:solidFill>
            <a:prstDash val="solid"/>
          </a:ln>
        </p:spPr>
      </p:sp>
      <p:sp>
        <p:nvSpPr>
          <p:cNvPr id="17" name="Text 15"/>
          <p:cNvSpPr/>
          <p:nvPr/>
        </p:nvSpPr>
        <p:spPr>
          <a:xfrm>
            <a:off x="9230639" y="2331720"/>
            <a:ext cx="2092376" cy="292608"/>
          </a:xfrm>
          <a:prstGeom prst="rect">
            <a:avLst/>
          </a:prstGeom>
          <a:noFill/>
          <a:ln/>
        </p:spPr>
        <p:txBody>
          <a:bodyPr wrap="square" lIns="0" tIns="0" rIns="0" bIns="0" rtlCol="0" anchor="ct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综合素质评价档案</a:t>
            </a:r>
            <a:endParaRPr lang="en-US" sz="1600" dirty="0"/>
          </a:p>
        </p:txBody>
      </p:sp>
      <p:sp>
        <p:nvSpPr>
          <p:cNvPr id="18" name="Text 16"/>
          <p:cNvSpPr/>
          <p:nvPr/>
        </p:nvSpPr>
        <p:spPr>
          <a:xfrm>
            <a:off x="9230639" y="2679192"/>
            <a:ext cx="2092376" cy="914400"/>
          </a:xfrm>
          <a:prstGeom prst="rect">
            <a:avLst/>
          </a:prstGeom>
          <a:noFill/>
          <a:ln/>
        </p:spPr>
        <p:txBody>
          <a:bodyPr wrap="square" lIns="0" tIns="0" rIns="0" bIns="0" rtlCol="0" anchor="t"/>
          <a:lstStyle/>
          <a:p>
            <a:pPr indent="0" marL="0">
              <a:lnSpc>
                <a:spcPct val="140000"/>
              </a:lnSpc>
              <a:buNone/>
            </a:pPr>
            <a:r>
              <a:rPr lang="en-US" sz="1100" dirty="0">
                <a:solidFill>
                  <a:srgbClr val="5A6472"/>
                </a:solidFill>
                <a:latin typeface="Microsoft YaHei" pitchFamily="34" charset="0"/>
                <a:ea typeface="Microsoft YaHei" pitchFamily="34" charset="-122"/>
                <a:cs typeface="Microsoft YaHei" pitchFamily="34" charset="-120"/>
              </a:rPr>
              <a:t>指南：纳入学生综合素质评价档案，不另作考试要求</a:t>
            </a:r>
            <a:endParaRPr lang="en-US" sz="1100" dirty="0"/>
          </a:p>
        </p:txBody>
      </p:sp>
      <p:sp>
        <p:nvSpPr>
          <p:cNvPr id="19" name="Text 17"/>
          <p:cNvSpPr/>
          <p:nvPr/>
        </p:nvSpPr>
        <p:spPr>
          <a:xfrm>
            <a:off x="685800" y="4160520"/>
            <a:ext cx="10820095" cy="365760"/>
          </a:xfrm>
          <a:prstGeom prst="rect">
            <a:avLst/>
          </a:prstGeom>
          <a:noFill/>
          <a:ln/>
        </p:spPr>
        <p:txBody>
          <a:bodyPr wrap="square" lIns="0" tIns="0" rIns="0" bIns="0" rtlCol="0" anchor="ct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深圳的写实记录须有佐证材料、签字，公示期 5 个工作日。</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37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红线</a:t>
            </a:r>
            <a:endParaRPr lang="en-US" sz="3600" dirty="0"/>
          </a:p>
        </p:txBody>
      </p:sp>
      <p:sp>
        <p:nvSpPr>
          <p:cNvPr id="4" name="Shape 2"/>
          <p:cNvSpPr/>
          <p:nvPr/>
        </p:nvSpPr>
        <p:spPr>
          <a:xfrm>
            <a:off x="685800" y="1417320"/>
            <a:ext cx="10820095" cy="0"/>
          </a:xfrm>
          <a:prstGeom prst="line">
            <a:avLst/>
          </a:prstGeom>
          <a:noFill/>
          <a:ln w="12700">
            <a:solidFill>
              <a:srgbClr val="E2E6EA"/>
            </a:solidFill>
            <a:prstDash val="solid"/>
          </a:ln>
        </p:spPr>
      </p:sp>
      <p:sp>
        <p:nvSpPr>
          <p:cNvPr id="5" name="Text 3"/>
          <p:cNvSpPr/>
          <p:nvPr/>
        </p:nvSpPr>
        <p:spPr>
          <a:xfrm>
            <a:off x="685800" y="1563624"/>
            <a:ext cx="1463040" cy="310896"/>
          </a:xfrm>
          <a:prstGeom prst="rect">
            <a:avLst/>
          </a:prstGeom>
          <a:noFill/>
          <a:ln/>
        </p:spPr>
        <p:txBody>
          <a:bodyPr wrap="square" lIns="0" tIns="0" rIns="0" bIns="0" rtlCol="0" anchor="ctr"/>
          <a:lstStyle/>
          <a:p>
            <a:pPr indent="0" marL="0">
              <a:buNone/>
            </a:pPr>
            <a:r>
              <a:rPr lang="en-US" sz="1600" b="1" dirty="0">
                <a:solidFill>
                  <a:srgbClr val="B0472A"/>
                </a:solidFill>
                <a:latin typeface="Microsoft YaHei" pitchFamily="34" charset="0"/>
                <a:ea typeface="Microsoft YaHei" pitchFamily="34" charset="-122"/>
                <a:cs typeface="Microsoft YaHei" pitchFamily="34" charset="-120"/>
              </a:rPr>
              <a:t>小学阶段</a:t>
            </a:r>
            <a:endParaRPr lang="en-US" sz="1600" dirty="0"/>
          </a:p>
        </p:txBody>
      </p:sp>
      <p:sp>
        <p:nvSpPr>
          <p:cNvPr id="6" name="Text 4"/>
          <p:cNvSpPr/>
          <p:nvPr/>
        </p:nvSpPr>
        <p:spPr>
          <a:xfrm>
            <a:off x="2286000" y="1545336"/>
            <a:ext cx="9219895" cy="384048"/>
          </a:xfrm>
          <a:prstGeom prst="rect">
            <a:avLst/>
          </a:prstGeom>
          <a:noFill/>
          <a:ln/>
        </p:spPr>
        <p:txBody>
          <a:bodyPr wrap="square" lIns="0" tIns="0" rIns="0" bIns="0" rtlCol="0" anchor="t"/>
          <a:lstStyle/>
          <a:p>
            <a:pPr indent="0" marL="0">
              <a:lnSpc>
                <a:spcPct val="140000"/>
              </a:lnSpc>
              <a:buNone/>
            </a:pPr>
            <a:r>
              <a:rPr lang="en-US" sz="1400" dirty="0">
                <a:solidFill>
                  <a:srgbClr val="1A2029"/>
                </a:solidFill>
                <a:latin typeface="Microsoft YaHei" pitchFamily="34" charset="0"/>
                <a:ea typeface="Microsoft YaHei" pitchFamily="34" charset="-122"/>
                <a:cs typeface="Microsoft YaHei" pitchFamily="34" charset="-120"/>
              </a:rPr>
              <a:t>禁止学生独自使用开放式内容生成功能。教师可在课内适当使用辅助教学。</a:t>
            </a:r>
            <a:endParaRPr lang="en-US" sz="1400" dirty="0"/>
          </a:p>
        </p:txBody>
      </p:sp>
      <p:sp>
        <p:nvSpPr>
          <p:cNvPr id="7" name="Shape 5"/>
          <p:cNvSpPr/>
          <p:nvPr/>
        </p:nvSpPr>
        <p:spPr>
          <a:xfrm>
            <a:off x="685800" y="2020824"/>
            <a:ext cx="10820095" cy="0"/>
          </a:xfrm>
          <a:prstGeom prst="line">
            <a:avLst/>
          </a:prstGeom>
          <a:noFill/>
          <a:ln w="12700">
            <a:solidFill>
              <a:srgbClr val="E2E6EA"/>
            </a:solidFill>
            <a:prstDash val="solid"/>
          </a:ln>
        </p:spPr>
      </p:sp>
      <p:sp>
        <p:nvSpPr>
          <p:cNvPr id="8" name="Text 6"/>
          <p:cNvSpPr/>
          <p:nvPr/>
        </p:nvSpPr>
        <p:spPr>
          <a:xfrm>
            <a:off x="685800" y="2167128"/>
            <a:ext cx="1463040" cy="310896"/>
          </a:xfrm>
          <a:prstGeom prst="rect">
            <a:avLst/>
          </a:prstGeom>
          <a:noFill/>
          <a:ln/>
        </p:spPr>
        <p:txBody>
          <a:bodyPr wrap="square" lIns="0" tIns="0" rIns="0" bIns="0" rtlCol="0" anchor="ctr"/>
          <a:lstStyle/>
          <a:p>
            <a:pPr indent="0" marL="0">
              <a:buNone/>
            </a:pPr>
            <a:r>
              <a:rPr lang="en-US" sz="1600" b="1" dirty="0">
                <a:solidFill>
                  <a:srgbClr val="B0472A"/>
                </a:solidFill>
                <a:latin typeface="Microsoft YaHei" pitchFamily="34" charset="0"/>
                <a:ea typeface="Microsoft YaHei" pitchFamily="34" charset="-122"/>
                <a:cs typeface="Microsoft YaHei" pitchFamily="34" charset="-120"/>
              </a:rPr>
              <a:t>作业与考试</a:t>
            </a:r>
            <a:endParaRPr lang="en-US" sz="1600" dirty="0"/>
          </a:p>
        </p:txBody>
      </p:sp>
      <p:sp>
        <p:nvSpPr>
          <p:cNvPr id="9" name="Text 7"/>
          <p:cNvSpPr/>
          <p:nvPr/>
        </p:nvSpPr>
        <p:spPr>
          <a:xfrm>
            <a:off x="2286000" y="2148840"/>
            <a:ext cx="9219895" cy="384048"/>
          </a:xfrm>
          <a:prstGeom prst="rect">
            <a:avLst/>
          </a:prstGeom>
          <a:noFill/>
          <a:ln/>
        </p:spPr>
        <p:txBody>
          <a:bodyPr wrap="square" lIns="0" tIns="0" rIns="0" bIns="0" rtlCol="0" anchor="t"/>
          <a:lstStyle/>
          <a:p>
            <a:pPr indent="0" marL="0">
              <a:lnSpc>
                <a:spcPct val="140000"/>
              </a:lnSpc>
              <a:buNone/>
            </a:pPr>
            <a:r>
              <a:rPr lang="en-US" sz="1400" dirty="0">
                <a:solidFill>
                  <a:srgbClr val="1A2029"/>
                </a:solidFill>
                <a:latin typeface="Microsoft YaHei" pitchFamily="34" charset="0"/>
                <a:ea typeface="Microsoft YaHei" pitchFamily="34" charset="-122"/>
                <a:cs typeface="Microsoft YaHei" pitchFamily="34" charset="-120"/>
              </a:rPr>
              <a:t>禁止学生直接复制人工智能生成内容作为作业或考试答案。</a:t>
            </a:r>
            <a:endParaRPr lang="en-US" sz="1400" dirty="0"/>
          </a:p>
        </p:txBody>
      </p:sp>
      <p:sp>
        <p:nvSpPr>
          <p:cNvPr id="10" name="Shape 8"/>
          <p:cNvSpPr/>
          <p:nvPr/>
        </p:nvSpPr>
        <p:spPr>
          <a:xfrm>
            <a:off x="685800" y="2624328"/>
            <a:ext cx="10820095" cy="0"/>
          </a:xfrm>
          <a:prstGeom prst="line">
            <a:avLst/>
          </a:prstGeom>
          <a:noFill/>
          <a:ln w="12700">
            <a:solidFill>
              <a:srgbClr val="E2E6EA"/>
            </a:solidFill>
            <a:prstDash val="solid"/>
          </a:ln>
        </p:spPr>
      </p:sp>
      <p:sp>
        <p:nvSpPr>
          <p:cNvPr id="11" name="Text 9"/>
          <p:cNvSpPr/>
          <p:nvPr/>
        </p:nvSpPr>
        <p:spPr>
          <a:xfrm>
            <a:off x="685800" y="2770632"/>
            <a:ext cx="1463040" cy="310896"/>
          </a:xfrm>
          <a:prstGeom prst="rect">
            <a:avLst/>
          </a:prstGeom>
          <a:noFill/>
          <a:ln/>
        </p:spPr>
        <p:txBody>
          <a:bodyPr wrap="square" lIns="0" tIns="0" rIns="0" bIns="0" rtlCol="0" anchor="ctr"/>
          <a:lstStyle/>
          <a:p>
            <a:pPr indent="0" marL="0">
              <a:buNone/>
            </a:pPr>
            <a:r>
              <a:rPr lang="en-US" sz="1600" b="1" dirty="0">
                <a:solidFill>
                  <a:srgbClr val="B0472A"/>
                </a:solidFill>
                <a:latin typeface="Microsoft YaHei" pitchFamily="34" charset="0"/>
                <a:ea typeface="Microsoft YaHei" pitchFamily="34" charset="-122"/>
                <a:cs typeface="Microsoft YaHei" pitchFamily="34" charset="-120"/>
              </a:rPr>
              <a:t>数据</a:t>
            </a:r>
            <a:endParaRPr lang="en-US" sz="1600" dirty="0"/>
          </a:p>
        </p:txBody>
      </p:sp>
      <p:sp>
        <p:nvSpPr>
          <p:cNvPr id="12" name="Text 10"/>
          <p:cNvSpPr/>
          <p:nvPr/>
        </p:nvSpPr>
        <p:spPr>
          <a:xfrm>
            <a:off x="2286000" y="2752344"/>
            <a:ext cx="9219895" cy="384048"/>
          </a:xfrm>
          <a:prstGeom prst="rect">
            <a:avLst/>
          </a:prstGeom>
          <a:noFill/>
          <a:ln/>
        </p:spPr>
        <p:txBody>
          <a:bodyPr wrap="square" lIns="0" tIns="0" rIns="0" bIns="0" rtlCol="0" anchor="t"/>
          <a:lstStyle/>
          <a:p>
            <a:pPr indent="0" marL="0">
              <a:lnSpc>
                <a:spcPct val="140000"/>
              </a:lnSpc>
              <a:buNone/>
            </a:pPr>
            <a:r>
              <a:rPr lang="en-US" sz="1400" dirty="0">
                <a:solidFill>
                  <a:srgbClr val="1A2029"/>
                </a:solidFill>
                <a:latin typeface="Microsoft YaHei" pitchFamily="34" charset="0"/>
                <a:ea typeface="Microsoft YaHei" pitchFamily="34" charset="-122"/>
                <a:cs typeface="Microsoft YaHei" pitchFamily="34" charset="-120"/>
              </a:rPr>
              <a:t>学校须建立工具白名单，严禁输入考试试题、个人身份信息等敏感数据。</a:t>
            </a:r>
            <a:endParaRPr lang="en-US" sz="1400" dirty="0"/>
          </a:p>
        </p:txBody>
      </p:sp>
      <p:sp>
        <p:nvSpPr>
          <p:cNvPr id="13" name="Shape 11"/>
          <p:cNvSpPr/>
          <p:nvPr/>
        </p:nvSpPr>
        <p:spPr>
          <a:xfrm>
            <a:off x="685800" y="3227832"/>
            <a:ext cx="10820095" cy="0"/>
          </a:xfrm>
          <a:prstGeom prst="line">
            <a:avLst/>
          </a:prstGeom>
          <a:noFill/>
          <a:ln w="12700">
            <a:solidFill>
              <a:srgbClr val="E2E6EA"/>
            </a:solidFill>
            <a:prstDash val="solid"/>
          </a:ln>
        </p:spPr>
      </p:sp>
      <p:sp>
        <p:nvSpPr>
          <p:cNvPr id="14" name="Text 12"/>
          <p:cNvSpPr/>
          <p:nvPr/>
        </p:nvSpPr>
        <p:spPr>
          <a:xfrm>
            <a:off x="685800" y="3374136"/>
            <a:ext cx="1463040" cy="310896"/>
          </a:xfrm>
          <a:prstGeom prst="rect">
            <a:avLst/>
          </a:prstGeom>
          <a:noFill/>
          <a:ln/>
        </p:spPr>
        <p:txBody>
          <a:bodyPr wrap="square" lIns="0" tIns="0" rIns="0" bIns="0" rtlCol="0" anchor="ctr"/>
          <a:lstStyle/>
          <a:p>
            <a:pPr indent="0" marL="0">
              <a:buNone/>
            </a:pPr>
            <a:r>
              <a:rPr lang="en-US" sz="1600" b="1" dirty="0">
                <a:solidFill>
                  <a:srgbClr val="B0472A"/>
                </a:solidFill>
                <a:latin typeface="Microsoft YaHei" pitchFamily="34" charset="0"/>
                <a:ea typeface="Microsoft YaHei" pitchFamily="34" charset="-122"/>
                <a:cs typeface="Microsoft YaHei" pitchFamily="34" charset="-120"/>
              </a:rPr>
              <a:t>标注</a:t>
            </a:r>
            <a:endParaRPr lang="en-US" sz="1600" dirty="0"/>
          </a:p>
        </p:txBody>
      </p:sp>
      <p:sp>
        <p:nvSpPr>
          <p:cNvPr id="15" name="Text 13"/>
          <p:cNvSpPr/>
          <p:nvPr/>
        </p:nvSpPr>
        <p:spPr>
          <a:xfrm>
            <a:off x="2286000" y="3355848"/>
            <a:ext cx="9219895" cy="384048"/>
          </a:xfrm>
          <a:prstGeom prst="rect">
            <a:avLst/>
          </a:prstGeom>
          <a:noFill/>
          <a:ln/>
        </p:spPr>
        <p:txBody>
          <a:bodyPr wrap="square" lIns="0" tIns="0" rIns="0" bIns="0" rtlCol="0" anchor="t"/>
          <a:lstStyle/>
          <a:p>
            <a:pPr indent="0" marL="0">
              <a:lnSpc>
                <a:spcPct val="140000"/>
              </a:lnSpc>
              <a:buNone/>
            </a:pPr>
            <a:r>
              <a:rPr lang="en-US" sz="1400" dirty="0">
                <a:solidFill>
                  <a:srgbClr val="1A2029"/>
                </a:solidFill>
                <a:latin typeface="Microsoft YaHei" pitchFamily="34" charset="0"/>
                <a:ea typeface="Microsoft YaHei" pitchFamily="34" charset="-122"/>
                <a:cs typeface="Microsoft YaHei" pitchFamily="34" charset="-120"/>
              </a:rPr>
              <a:t>学生 AI 辅助完成的成果应主动标注。</a:t>
            </a:r>
            <a:endParaRPr lang="en-US" sz="1400" dirty="0"/>
          </a:p>
        </p:txBody>
      </p:sp>
      <p:sp>
        <p:nvSpPr>
          <p:cNvPr id="16" name="Shape 14"/>
          <p:cNvSpPr/>
          <p:nvPr/>
        </p:nvSpPr>
        <p:spPr>
          <a:xfrm>
            <a:off x="685800" y="3831336"/>
            <a:ext cx="10820095" cy="0"/>
          </a:xfrm>
          <a:prstGeom prst="line">
            <a:avLst/>
          </a:prstGeom>
          <a:noFill/>
          <a:ln w="12700">
            <a:solidFill>
              <a:srgbClr val="E2E6EA"/>
            </a:solidFill>
            <a:prstDash val="solid"/>
          </a:ln>
        </p:spPr>
      </p:sp>
      <p:sp>
        <p:nvSpPr>
          <p:cNvPr id="17" name="Text 15"/>
          <p:cNvSpPr/>
          <p:nvPr/>
        </p:nvSpPr>
        <p:spPr>
          <a:xfrm>
            <a:off x="685800" y="3977640"/>
            <a:ext cx="10820095" cy="274320"/>
          </a:xfrm>
          <a:prstGeom prst="rect">
            <a:avLst/>
          </a:prstGeom>
          <a:noFill/>
          <a:ln/>
        </p:spPr>
        <p:txBody>
          <a:bodyPr wrap="square" lIns="0" tIns="0" rIns="0" bIns="0" rtlCol="0" anchor="t"/>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前三条出自《中小学生成式人工智能使用指南（2025 年版）》。</a:t>
            </a:r>
            <a:endParaRPr lang="en-US" sz="1100" dirty="0"/>
          </a:p>
        </p:txBody>
      </p:sp>
      <p:sp>
        <p:nvSpPr>
          <p:cNvPr id="18" name="Shape 16"/>
          <p:cNvSpPr/>
          <p:nvPr/>
        </p:nvSpPr>
        <p:spPr>
          <a:xfrm>
            <a:off x="685800" y="5961888"/>
            <a:ext cx="10820095" cy="0"/>
          </a:xfrm>
          <a:prstGeom prst="line">
            <a:avLst/>
          </a:prstGeom>
          <a:noFill/>
          <a:ln w="12700">
            <a:solidFill>
              <a:srgbClr val="E2E6EA"/>
            </a:solidFill>
            <a:prstDash val="solid"/>
          </a:ln>
        </p:spPr>
      </p:sp>
      <p:sp>
        <p:nvSpPr>
          <p:cNvPr id="19" name="Text 17"/>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第四条：《人工智能生成合成内容标识办法》（国信办通字〔2025〕2 号，2025 年 9 月 1 日施行）主要规范网络信息服务提供者，对校园作业的约束是间接的，按诚信要求表述，不是对学生的强制条款。</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38 · B</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签名在谁那里</a:t>
            </a:r>
            <a:endParaRPr lang="en-US" sz="3600" dirty="0"/>
          </a:p>
        </p:txBody>
      </p:sp>
      <p:sp>
        <p:nvSpPr>
          <p:cNvPr id="4" name="Shape 2"/>
          <p:cNvSpPr/>
          <p:nvPr/>
        </p:nvSpPr>
        <p:spPr>
          <a:xfrm>
            <a:off x="685800" y="2286000"/>
            <a:ext cx="969264" cy="548640"/>
          </a:xfrm>
          <a:prstGeom prst="rect">
            <a:avLst/>
          </a:prstGeom>
          <a:solidFill>
            <a:srgbClr val="FFFFFF"/>
          </a:solidFill>
          <a:ln w="12700">
            <a:solidFill>
              <a:srgbClr val="E2E6EA"/>
            </a:solidFill>
            <a:prstDash val="solid"/>
          </a:ln>
        </p:spPr>
      </p:sp>
      <p:sp>
        <p:nvSpPr>
          <p:cNvPr id="5" name="Text 3"/>
          <p:cNvSpPr/>
          <p:nvPr/>
        </p:nvSpPr>
        <p:spPr>
          <a:xfrm>
            <a:off x="685800" y="2286000"/>
            <a:ext cx="969264" cy="548640"/>
          </a:xfrm>
          <a:prstGeom prst="rect">
            <a:avLst/>
          </a:prstGeom>
          <a:noFill/>
          <a:ln/>
        </p:spPr>
        <p:txBody>
          <a:bodyPr wrap="square" lIns="0" tIns="0" rIns="0" bIns="0" rtlCol="0" anchor="ctr"/>
          <a:lstStyle/>
          <a:p>
            <a:pPr algn="ctr" indent="0" marL="0">
              <a:buNone/>
            </a:pPr>
            <a:r>
              <a:rPr lang="en-US" sz="1900" dirty="0">
                <a:solidFill>
                  <a:srgbClr val="1A2029"/>
                </a:solidFill>
                <a:latin typeface="Microsoft YaHei" pitchFamily="34" charset="0"/>
                <a:ea typeface="Microsoft YaHei" pitchFamily="34" charset="-122"/>
                <a:cs typeface="Microsoft YaHei" pitchFamily="34" charset="-120"/>
              </a:rPr>
              <a:t>教师</a:t>
            </a:r>
            <a:endParaRPr lang="en-US" sz="1900" dirty="0"/>
          </a:p>
        </p:txBody>
      </p:sp>
      <p:sp>
        <p:nvSpPr>
          <p:cNvPr id="6" name="Shape 4"/>
          <p:cNvSpPr/>
          <p:nvPr/>
        </p:nvSpPr>
        <p:spPr>
          <a:xfrm>
            <a:off x="1883664" y="2286000"/>
            <a:ext cx="969264" cy="548640"/>
          </a:xfrm>
          <a:prstGeom prst="rect">
            <a:avLst/>
          </a:prstGeom>
          <a:solidFill>
            <a:srgbClr val="FFFFFF"/>
          </a:solidFill>
          <a:ln w="12700">
            <a:solidFill>
              <a:srgbClr val="E2E6EA"/>
            </a:solidFill>
            <a:prstDash val="solid"/>
          </a:ln>
        </p:spPr>
      </p:sp>
      <p:sp>
        <p:nvSpPr>
          <p:cNvPr id="7" name="Text 5"/>
          <p:cNvSpPr/>
          <p:nvPr/>
        </p:nvSpPr>
        <p:spPr>
          <a:xfrm>
            <a:off x="1883664" y="2286000"/>
            <a:ext cx="969264" cy="548640"/>
          </a:xfrm>
          <a:prstGeom prst="rect">
            <a:avLst/>
          </a:prstGeom>
          <a:noFill/>
          <a:ln/>
        </p:spPr>
        <p:txBody>
          <a:bodyPr wrap="square" lIns="0" tIns="0" rIns="0" bIns="0" rtlCol="0" anchor="ctr"/>
          <a:lstStyle/>
          <a:p>
            <a:pPr algn="ctr" indent="0" marL="0">
              <a:buNone/>
            </a:pPr>
            <a:r>
              <a:rPr lang="en-US" sz="1900" dirty="0">
                <a:solidFill>
                  <a:srgbClr val="1A2029"/>
                </a:solidFill>
                <a:latin typeface="Microsoft YaHei" pitchFamily="34" charset="0"/>
                <a:ea typeface="Microsoft YaHei" pitchFamily="34" charset="-122"/>
                <a:cs typeface="Microsoft YaHei" pitchFamily="34" charset="-120"/>
              </a:rPr>
              <a:t>学生</a:t>
            </a:r>
            <a:endParaRPr lang="en-US" sz="1900" dirty="0"/>
          </a:p>
        </p:txBody>
      </p:sp>
      <p:sp>
        <p:nvSpPr>
          <p:cNvPr id="8" name="Shape 6"/>
          <p:cNvSpPr/>
          <p:nvPr/>
        </p:nvSpPr>
        <p:spPr>
          <a:xfrm>
            <a:off x="3081528" y="2286000"/>
            <a:ext cx="969264" cy="548640"/>
          </a:xfrm>
          <a:prstGeom prst="rect">
            <a:avLst/>
          </a:prstGeom>
          <a:solidFill>
            <a:srgbClr val="FFFFFF"/>
          </a:solidFill>
          <a:ln w="12700">
            <a:solidFill>
              <a:srgbClr val="E2E6EA"/>
            </a:solidFill>
            <a:prstDash val="solid"/>
          </a:ln>
        </p:spPr>
      </p:sp>
      <p:sp>
        <p:nvSpPr>
          <p:cNvPr id="9" name="Text 7"/>
          <p:cNvSpPr/>
          <p:nvPr/>
        </p:nvSpPr>
        <p:spPr>
          <a:xfrm>
            <a:off x="3081528" y="2286000"/>
            <a:ext cx="969264" cy="548640"/>
          </a:xfrm>
          <a:prstGeom prst="rect">
            <a:avLst/>
          </a:prstGeom>
          <a:noFill/>
          <a:ln/>
        </p:spPr>
        <p:txBody>
          <a:bodyPr wrap="square" lIns="0" tIns="0" rIns="0" bIns="0" rtlCol="0" anchor="ctr"/>
          <a:lstStyle/>
          <a:p>
            <a:pPr algn="ctr" indent="0" marL="0">
              <a:buNone/>
            </a:pPr>
            <a:r>
              <a:rPr lang="en-US" sz="1900" dirty="0">
                <a:solidFill>
                  <a:srgbClr val="1A2029"/>
                </a:solidFill>
                <a:latin typeface="Microsoft YaHei" pitchFamily="34" charset="0"/>
                <a:ea typeface="Microsoft YaHei" pitchFamily="34" charset="-122"/>
                <a:cs typeface="Microsoft YaHei" pitchFamily="34" charset="-120"/>
              </a:rPr>
              <a:t>同伴</a:t>
            </a:r>
            <a:endParaRPr lang="en-US" sz="1900" dirty="0"/>
          </a:p>
        </p:txBody>
      </p:sp>
      <p:sp>
        <p:nvSpPr>
          <p:cNvPr id="10" name="Shape 8"/>
          <p:cNvSpPr/>
          <p:nvPr/>
        </p:nvSpPr>
        <p:spPr>
          <a:xfrm>
            <a:off x="4279392" y="2286000"/>
            <a:ext cx="3017520" cy="548640"/>
          </a:xfrm>
          <a:prstGeom prst="rect">
            <a:avLst/>
          </a:prstGeom>
          <a:solidFill>
            <a:srgbClr val="FFFFFF"/>
          </a:solidFill>
          <a:ln w="12700">
            <a:solidFill>
              <a:srgbClr val="E2E6EA"/>
            </a:solidFill>
            <a:prstDash val="solid"/>
          </a:ln>
        </p:spPr>
      </p:sp>
      <p:sp>
        <p:nvSpPr>
          <p:cNvPr id="11" name="Text 9"/>
          <p:cNvSpPr/>
          <p:nvPr/>
        </p:nvSpPr>
        <p:spPr>
          <a:xfrm>
            <a:off x="4279392" y="2286000"/>
            <a:ext cx="3017520" cy="548640"/>
          </a:xfrm>
          <a:prstGeom prst="rect">
            <a:avLst/>
          </a:prstGeom>
          <a:noFill/>
          <a:ln/>
        </p:spPr>
        <p:txBody>
          <a:bodyPr wrap="square" lIns="0" tIns="0" rIns="0" bIns="0" rtlCol="0" anchor="ctr"/>
          <a:lstStyle/>
          <a:p>
            <a:pPr algn="ctr" indent="0" marL="0">
              <a:buNone/>
            </a:pPr>
            <a:r>
              <a:rPr lang="en-US" sz="1900" dirty="0">
                <a:solidFill>
                  <a:srgbClr val="1A2029"/>
                </a:solidFill>
                <a:latin typeface="Microsoft YaHei" pitchFamily="34" charset="0"/>
                <a:ea typeface="Microsoft YaHei" pitchFamily="34" charset="-122"/>
                <a:cs typeface="Microsoft YaHei" pitchFamily="34" charset="-120"/>
              </a:rPr>
              <a:t>受邀的科学家与工程师</a:t>
            </a:r>
            <a:endParaRPr lang="en-US" sz="1900" dirty="0"/>
          </a:p>
        </p:txBody>
      </p:sp>
      <p:sp>
        <p:nvSpPr>
          <p:cNvPr id="12" name="Text 10"/>
          <p:cNvSpPr/>
          <p:nvPr/>
        </p:nvSpPr>
        <p:spPr>
          <a:xfrm>
            <a:off x="685800" y="3063240"/>
            <a:ext cx="10820095" cy="365760"/>
          </a:xfrm>
          <a:prstGeom prst="rect">
            <a:avLst/>
          </a:prstGeom>
          <a:noFill/>
          <a:ln/>
        </p:spPr>
        <p:txBody>
          <a:bodyPr wrap="square" lIns="0" tIns="0" rIns="0" bIns="0" rtlCol="0" anchor="ctr"/>
          <a:lstStyle/>
          <a:p>
            <a:pPr indent="0" marL="0">
              <a:buNone/>
            </a:pPr>
            <a:r>
              <a:rPr lang="en-US" sz="2100" b="1" dirty="0">
                <a:solidFill>
                  <a:srgbClr val="B0472A"/>
                </a:solidFill>
                <a:latin typeface="Microsoft YaHei" pitchFamily="34" charset="0"/>
                <a:ea typeface="Microsoft YaHei" pitchFamily="34" charset="-122"/>
                <a:cs typeface="Microsoft YaHei" pitchFamily="34" charset="-120"/>
              </a:rPr>
              <a:t>没有 AI</a:t>
            </a:r>
            <a:endParaRPr lang="en-US" sz="2100" dirty="0"/>
          </a:p>
        </p:txBody>
      </p:sp>
      <p:sp>
        <p:nvSpPr>
          <p:cNvPr id="13" name="Text 11"/>
          <p:cNvSpPr/>
          <p:nvPr/>
        </p:nvSpPr>
        <p:spPr>
          <a:xfrm>
            <a:off x="685800" y="3977640"/>
            <a:ext cx="5135728"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可以部分借助工具</a:t>
            </a:r>
            <a:endParaRPr lang="en-US" sz="1100" dirty="0"/>
          </a:p>
        </p:txBody>
      </p:sp>
      <p:sp>
        <p:nvSpPr>
          <p:cNvPr id="14" name="Text 12"/>
          <p:cNvSpPr/>
          <p:nvPr/>
        </p:nvSpPr>
        <p:spPr>
          <a:xfrm>
            <a:off x="685800" y="4251960"/>
            <a:ext cx="5135728" cy="411480"/>
          </a:xfrm>
          <a:prstGeom prst="rect">
            <a:avLst/>
          </a:prstGeom>
          <a:noFill/>
          <a:ln/>
        </p:spPr>
        <p:txBody>
          <a:bodyPr wrap="square" lIns="0" tIns="0" rIns="0" bIns="0" rtlCol="0" anchor="ctr"/>
          <a:lstStyle/>
          <a:p>
            <a:pPr indent="0" marL="0">
              <a:buNone/>
            </a:pPr>
            <a:r>
              <a:rPr lang="en-US" sz="2300" b="1" dirty="0">
                <a:solidFill>
                  <a:srgbClr val="1A2029"/>
                </a:solidFill>
                <a:latin typeface="Microsoft YaHei" pitchFamily="34" charset="0"/>
                <a:ea typeface="Microsoft YaHei" pitchFamily="34" charset="-122"/>
                <a:cs typeface="Microsoft YaHei" pitchFamily="34" charset="-120"/>
              </a:rPr>
              <a:t>提出、确认</a:t>
            </a:r>
            <a:endParaRPr lang="en-US" sz="2300" dirty="0"/>
          </a:p>
        </p:txBody>
      </p:sp>
      <p:sp>
        <p:nvSpPr>
          <p:cNvPr id="15" name="Text 13"/>
          <p:cNvSpPr/>
          <p:nvPr/>
        </p:nvSpPr>
        <p:spPr>
          <a:xfrm>
            <a:off x="6095848" y="3977640"/>
            <a:ext cx="5135728" cy="219456"/>
          </a:xfrm>
          <a:prstGeom prst="rect">
            <a:avLst/>
          </a:prstGeom>
          <a:noFill/>
          <a:ln/>
        </p:spPr>
        <p:txBody>
          <a:bodyPr wrap="square" lIns="0" tIns="0" rIns="0" bIns="0" rtlCol="0" anchor="ct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落在教师签名上</a:t>
            </a:r>
            <a:endParaRPr lang="en-US" sz="1100" dirty="0"/>
          </a:p>
        </p:txBody>
      </p:sp>
      <p:sp>
        <p:nvSpPr>
          <p:cNvPr id="16" name="Text 14"/>
          <p:cNvSpPr/>
          <p:nvPr/>
        </p:nvSpPr>
        <p:spPr>
          <a:xfrm>
            <a:off x="6095848" y="4251960"/>
            <a:ext cx="5135728" cy="411480"/>
          </a:xfrm>
          <a:prstGeom prst="rect">
            <a:avLst/>
          </a:prstGeom>
          <a:noFill/>
          <a:ln/>
        </p:spPr>
        <p:txBody>
          <a:bodyPr wrap="square" lIns="0" tIns="0" rIns="0" bIns="0" rtlCol="0" anchor="ctr"/>
          <a:lstStyle/>
          <a:p>
            <a:pPr indent="0" marL="0">
              <a:buNone/>
            </a:pPr>
            <a:r>
              <a:rPr lang="en-US" sz="2300" b="1" dirty="0">
                <a:solidFill>
                  <a:srgbClr val="1A2029"/>
                </a:solidFill>
                <a:latin typeface="Microsoft YaHei" pitchFamily="34" charset="0"/>
                <a:ea typeface="Microsoft YaHei" pitchFamily="34" charset="-122"/>
                <a:cs typeface="Microsoft YaHei" pitchFamily="34" charset="-120"/>
              </a:rPr>
              <a:t>否决、评价、负责</a:t>
            </a:r>
            <a:endParaRPr lang="en-US" sz="2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39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三类工具各自的位置</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820095" cy="914400"/>
        </p:xfrm>
        <a:graphic>
          <a:graphicData uri="http://schemas.openxmlformats.org/drawingml/2006/table">
            <a:tbl>
              <a:tblPr/>
              <a:tblGrid>
                <a:gridCol w="2194560"/>
                <a:gridCol w="4343400"/>
                <a:gridCol w="4279392"/>
              </a:tblGrid>
              <a:tr h="384048">
                <a:tc>
                  <a:txBody>
                    <a:bodyPr/>
                    <a:lstStyle/>
                    <a:p>
                      <a:pPr indent="0" marL="0">
                        <a:buNone/>
                      </a:pP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放在任务的哪一步</a:t>
                      </a:r>
                      <a:endParaRPr lang="en-US" sz="11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c>
                  <a:txBody>
                    <a:bodyPr/>
                    <a:lstStyle/>
                    <a:p>
                      <a:pPr indent="0" marL="0">
                        <a:buNone/>
                      </a:pPr>
                      <a:r>
                        <a:rPr lang="en-US" sz="1100" dirty="0">
                          <a:solidFill>
                            <a:srgbClr val="5A6472"/>
                          </a:solidFill>
                          <a:latin typeface="Microsoft YaHei" pitchFamily="34" charset="0"/>
                          <a:ea typeface="Microsoft YaHei" pitchFamily="34" charset="-122"/>
                          <a:cs typeface="Microsoft YaHei" pitchFamily="34" charset="-120"/>
                        </a:rPr>
                        <a:t>不放的位置</a:t>
                      </a:r>
                      <a:endParaRPr lang="en-US" sz="11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solidFill>
                      <a:srgbClr val="F4F6F8"/>
                    </a:solidFill>
                  </a:tcPr>
                </a:tc>
              </a:tr>
              <a:tr h="658368">
                <a:tc>
                  <a:txBody>
                    <a:bodyP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对话式智能体</a:t>
                      </a:r>
                      <a:endParaRPr lang="en-US" sz="16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方案挑刺、答辩预演、教师侧备课</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B0472A"/>
                          </a:solidFill>
                          <a:latin typeface="Microsoft YaHei" pitchFamily="34" charset="0"/>
                          <a:ea typeface="Microsoft YaHei" pitchFamily="34" charset="-122"/>
                          <a:cs typeface="Microsoft YaHei" pitchFamily="34" charset="-120"/>
                        </a:rPr>
                        <a:t>提出问题、解释结论、正式评价</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658368">
                <a:tc>
                  <a:txBody>
                    <a:bodyP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过程证据页</a:t>
                      </a:r>
                      <a:endParaRPr lang="en-US" sz="16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行前任务单、过程留痕、对外发布的成果</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B0472A"/>
                          </a:solidFill>
                          <a:latin typeface="Microsoft YaHei" pitchFamily="34" charset="0"/>
                          <a:ea typeface="Microsoft YaHei" pitchFamily="34" charset="-122"/>
                          <a:cs typeface="Microsoft YaHei" pitchFamily="34" charset="-120"/>
                        </a:rPr>
                        <a:t>代替动手做</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r h="658368">
                <a:tc>
                  <a:txBody>
                    <a:bodyPr/>
                    <a:lstStyle/>
                    <a:p>
                      <a:pPr indent="0" marL="0">
                        <a:buNone/>
                      </a:pPr>
                      <a:r>
                        <a:rPr lang="en-US" sz="1600" b="1" dirty="0">
                          <a:solidFill>
                            <a:srgbClr val="1A2029"/>
                          </a:solidFill>
                          <a:latin typeface="Microsoft YaHei" pitchFamily="34" charset="0"/>
                          <a:ea typeface="Microsoft YaHei" pitchFamily="34" charset="-122"/>
                          <a:cs typeface="Microsoft YaHei" pitchFamily="34" charset="-120"/>
                        </a:rPr>
                        <a:t>课堂互动工具</a:t>
                      </a:r>
                      <a:endParaRPr lang="en-US" sz="16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1A2029"/>
                          </a:solidFill>
                          <a:latin typeface="Microsoft YaHei" pitchFamily="34" charset="0"/>
                          <a:ea typeface="Microsoft YaHei" pitchFamily="34" charset="-122"/>
                          <a:cs typeface="Microsoft YaHei" pitchFamily="34" charset="-120"/>
                        </a:rPr>
                        <a:t>关键环节观测点、过程留痕</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c>
                  <a:txBody>
                    <a:bodyPr/>
                    <a:lstStyle/>
                    <a:p>
                      <a:pPr indent="0" marL="0">
                        <a:buNone/>
                      </a:pPr>
                      <a:r>
                        <a:rPr lang="en-US" sz="1400" dirty="0">
                          <a:solidFill>
                            <a:srgbClr val="B0472A"/>
                          </a:solidFill>
                          <a:latin typeface="Microsoft YaHei" pitchFamily="34" charset="0"/>
                          <a:ea typeface="Microsoft YaHei" pitchFamily="34" charset="-122"/>
                          <a:cs typeface="Microsoft YaHei" pitchFamily="34" charset="-120"/>
                        </a:rPr>
                        <a:t>代替教师判断</a:t>
                      </a:r>
                      <a:endParaRPr lang="en-US" sz="1400" dirty="0">
                        <a:latin typeface="Microsoft YaHei" charset="0"/>
                        <a:ea typeface="Microsoft YaHei" charset="0"/>
                        <a:cs typeface="Microsoft YaHei" charset="0"/>
                      </a:endParaRPr>
                    </a:p>
                  </a:txBody>
                  <a:tcPr marL="114300" marR="114300" marT="114300" marB="114300" anchor="ctr">
                    <a:lnL w="12700" cap="flat" cmpd="sng" algn="ctr">
                      <a:solidFill>
                        <a:srgbClr val="E2E6EA"/>
                      </a:solidFill>
                      <a:prstDash val="solid"/>
                      <a:round/>
                      <a:headEnd type="none" w="med" len="med"/>
                      <a:tailEnd type="none" w="med" len="med"/>
                    </a:lnL>
                    <a:lnR w="12700" cap="flat" cmpd="sng" algn="ctr">
                      <a:solidFill>
                        <a:srgbClr val="E2E6EA"/>
                      </a:solidFill>
                      <a:prstDash val="solid"/>
                      <a:round/>
                      <a:headEnd type="none" w="med" len="med"/>
                      <a:tailEnd type="none" w="med" len="med"/>
                    </a:lnR>
                    <a:lnT w="12700" cap="flat" cmpd="sng" algn="ctr">
                      <a:solidFill>
                        <a:srgbClr val="E2E6EA"/>
                      </a:solidFill>
                      <a:prstDash val="solid"/>
                      <a:round/>
                      <a:headEnd type="none" w="med" len="med"/>
                      <a:tailEnd type="none" w="med" len="med"/>
                    </a:lnT>
                    <a:lnB w="12700" cap="flat" cmpd="sng" algn="ctr">
                      <a:solidFill>
                        <a:srgbClr val="E2E6EA"/>
                      </a:solidFill>
                      <a:prstDash val="solid"/>
                      <a:round/>
                      <a:headEnd type="none" w="med" len="med"/>
                      <a:tailEnd type="none" w="med" len="med"/>
                    </a:lnB>
                  </a:tcPr>
                </a:tc>
              </a:tr>
            </a:tbl>
          </a:graphicData>
        </a:graphic>
      </p:graphicFrame>
      <p:sp>
        <p:nvSpPr>
          <p:cNvPr id="5" name="Shape 2"/>
          <p:cNvSpPr/>
          <p:nvPr/>
        </p:nvSpPr>
        <p:spPr>
          <a:xfrm>
            <a:off x="685800" y="5961888"/>
            <a:ext cx="10820095" cy="0"/>
          </a:xfrm>
          <a:prstGeom prst="line">
            <a:avLst/>
          </a:prstGeom>
          <a:noFill/>
          <a:ln w="12700">
            <a:solidFill>
              <a:srgbClr val="E2E6EA"/>
            </a:solidFill>
            <a:prstDash val="solid"/>
          </a:ln>
        </p:spPr>
      </p:sp>
      <p:sp>
        <p:nvSpPr>
          <p:cNvPr id="6" name="Text 3"/>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智能体管过程，证据页管留痕和传播。</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40 · A</a:t>
            </a:r>
            <a:endParaRPr lang="en-US" sz="900" dirty="0"/>
          </a:p>
        </p:txBody>
      </p:sp>
      <p:sp>
        <p:nvSpPr>
          <p:cNvPr id="3" name="Text 1"/>
          <p:cNvSpPr/>
          <p:nvPr/>
        </p:nvSpPr>
        <p:spPr>
          <a:xfrm>
            <a:off x="685800" y="566928"/>
            <a:ext cx="10820095" cy="566928"/>
          </a:xfrm>
          <a:prstGeom prst="rect">
            <a:avLst/>
          </a:prstGeom>
          <a:noFill/>
          <a:ln/>
        </p:spPr>
        <p:txBody>
          <a:bodyPr wrap="square" lIns="0" tIns="0" rIns="0" bIns="0" rtlCol="0" anchor="t"/>
          <a:lstStyle/>
          <a:p>
            <a:pPr indent="0" marL="0">
              <a:buNone/>
            </a:pPr>
            <a:r>
              <a:rPr lang="en-US" sz="3600" b="1" dirty="0">
                <a:solidFill>
                  <a:srgbClr val="1A2029"/>
                </a:solidFill>
                <a:latin typeface="Microsoft YaHei" pitchFamily="34" charset="0"/>
                <a:ea typeface="Microsoft YaHei" pitchFamily="34" charset="-122"/>
                <a:cs typeface="Microsoft YaHei" pitchFamily="34" charset="-120"/>
              </a:rPr>
              <a:t>下周三件事</a:t>
            </a:r>
            <a:endParaRPr lang="en-US" sz="3600" dirty="0"/>
          </a:p>
        </p:txBody>
      </p:sp>
      <p:sp>
        <p:nvSpPr>
          <p:cNvPr id="4" name="Text 2"/>
          <p:cNvSpPr/>
          <p:nvPr/>
        </p:nvSpPr>
        <p:spPr>
          <a:xfrm>
            <a:off x="685800" y="2011680"/>
            <a:ext cx="411480" cy="41148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一</a:t>
            </a:r>
            <a:endParaRPr lang="en-US" sz="2100" dirty="0"/>
          </a:p>
        </p:txBody>
      </p:sp>
      <p:sp>
        <p:nvSpPr>
          <p:cNvPr id="5" name="Text 3"/>
          <p:cNvSpPr/>
          <p:nvPr/>
        </p:nvSpPr>
        <p:spPr>
          <a:xfrm>
            <a:off x="1234440" y="2011680"/>
            <a:ext cx="10271455" cy="384048"/>
          </a:xfrm>
          <a:prstGeom prst="rect">
            <a:avLst/>
          </a:prstGeom>
          <a:noFill/>
          <a:ln/>
        </p:spPr>
        <p:txBody>
          <a:bodyPr wrap="square" lIns="0" tIns="0" rIns="0" bIns="0" rtlCol="0" anchor="ctr"/>
          <a:lstStyle/>
          <a:p>
            <a:pPr indent="0" marL="0">
              <a:buNone/>
            </a:pPr>
            <a:r>
              <a:rPr lang="en-US" sz="2300" b="1" dirty="0">
                <a:solidFill>
                  <a:srgbClr val="1A2029"/>
                </a:solidFill>
                <a:latin typeface="Microsoft YaHei" pitchFamily="34" charset="0"/>
                <a:ea typeface="Microsoft YaHei" pitchFamily="34" charset="-122"/>
                <a:cs typeface="Microsoft YaHei" pitchFamily="34" charset="-120"/>
              </a:rPr>
              <a:t>建问题墙</a:t>
            </a:r>
            <a:endParaRPr lang="en-US" sz="2300" dirty="0"/>
          </a:p>
        </p:txBody>
      </p:sp>
      <p:sp>
        <p:nvSpPr>
          <p:cNvPr id="6" name="Text 4"/>
          <p:cNvSpPr/>
          <p:nvPr/>
        </p:nvSpPr>
        <p:spPr>
          <a:xfrm>
            <a:off x="1234440" y="2414016"/>
            <a:ext cx="10271455" cy="365760"/>
          </a:xfrm>
          <a:prstGeom prst="rect">
            <a:avLst/>
          </a:prstGeom>
          <a:noFill/>
          <a:ln/>
        </p:spPr>
        <p:txBody>
          <a:bodyPr wrap="square" lIns="0" tIns="0" rIns="0" bIns="0" rtlCol="0" anchor="t"/>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学生一周内贴出三个真实困扰，教师挑一个打磨成驱动性问题。这一件不用 AI。</a:t>
            </a:r>
            <a:endParaRPr lang="en-US" sz="1400" dirty="0"/>
          </a:p>
        </p:txBody>
      </p:sp>
      <p:sp>
        <p:nvSpPr>
          <p:cNvPr id="7" name="Text 5"/>
          <p:cNvSpPr/>
          <p:nvPr/>
        </p:nvSpPr>
        <p:spPr>
          <a:xfrm>
            <a:off x="685800" y="2971800"/>
            <a:ext cx="411480" cy="41148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二</a:t>
            </a:r>
            <a:endParaRPr lang="en-US" sz="2100" dirty="0"/>
          </a:p>
        </p:txBody>
      </p:sp>
      <p:sp>
        <p:nvSpPr>
          <p:cNvPr id="8" name="Text 6"/>
          <p:cNvSpPr/>
          <p:nvPr/>
        </p:nvSpPr>
        <p:spPr>
          <a:xfrm>
            <a:off x="1234440" y="2971800"/>
            <a:ext cx="10271455" cy="384048"/>
          </a:xfrm>
          <a:prstGeom prst="rect">
            <a:avLst/>
          </a:prstGeom>
          <a:noFill/>
          <a:ln/>
        </p:spPr>
        <p:txBody>
          <a:bodyPr wrap="square" lIns="0" tIns="0" rIns="0" bIns="0" rtlCol="0" anchor="ctr"/>
          <a:lstStyle/>
          <a:p>
            <a:pPr indent="0" marL="0">
              <a:buNone/>
            </a:pPr>
            <a:r>
              <a:rPr lang="en-US" sz="2300" b="1" dirty="0">
                <a:solidFill>
                  <a:srgbClr val="1A2029"/>
                </a:solidFill>
                <a:latin typeface="Microsoft YaHei" pitchFamily="34" charset="0"/>
                <a:ea typeface="Microsoft YaHei" pitchFamily="34" charset="-122"/>
                <a:cs typeface="Microsoft YaHei" pitchFamily="34" charset="-120"/>
              </a:rPr>
              <a:t>做一个方案挑刺智能体</a:t>
            </a:r>
            <a:endParaRPr lang="en-US" sz="2300" dirty="0"/>
          </a:p>
        </p:txBody>
      </p:sp>
      <p:sp>
        <p:nvSpPr>
          <p:cNvPr id="9" name="Text 7"/>
          <p:cNvSpPr/>
          <p:nvPr/>
        </p:nvSpPr>
        <p:spPr>
          <a:xfrm>
            <a:off x="1234440" y="3374136"/>
            <a:ext cx="10271455" cy="365760"/>
          </a:xfrm>
          <a:prstGeom prst="rect">
            <a:avLst/>
          </a:prstGeom>
          <a:noFill/>
          <a:ln/>
        </p:spPr>
        <p:txBody>
          <a:bodyPr wrap="square" lIns="0" tIns="0" rIns="0" bIns="0" rtlCol="0" anchor="t"/>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只提问，不给答案。学生先有方案，它才有得挑。</a:t>
            </a:r>
            <a:endParaRPr lang="en-US" sz="1400" dirty="0"/>
          </a:p>
        </p:txBody>
      </p:sp>
      <p:sp>
        <p:nvSpPr>
          <p:cNvPr id="10" name="Text 8"/>
          <p:cNvSpPr/>
          <p:nvPr/>
        </p:nvSpPr>
        <p:spPr>
          <a:xfrm>
            <a:off x="685800" y="3931920"/>
            <a:ext cx="411480" cy="411480"/>
          </a:xfrm>
          <a:prstGeom prst="rect">
            <a:avLst/>
          </a:prstGeom>
          <a:noFill/>
          <a:ln/>
        </p:spPr>
        <p:txBody>
          <a:bodyPr wrap="square" lIns="0" tIns="0" rIns="0" bIns="0" rtlCol="0" anchor="ctr"/>
          <a:lstStyle/>
          <a:p>
            <a:pPr indent="0" marL="0">
              <a:buNone/>
            </a:pPr>
            <a:r>
              <a:rPr lang="en-US" sz="2100" b="1" dirty="0">
                <a:solidFill>
                  <a:srgbClr val="8C97A3"/>
                </a:solidFill>
                <a:latin typeface="Microsoft YaHei" pitchFamily="34" charset="0"/>
                <a:ea typeface="Microsoft YaHei" pitchFamily="34" charset="-122"/>
                <a:cs typeface="Microsoft YaHei" pitchFamily="34" charset="-120"/>
              </a:rPr>
              <a:t>三</a:t>
            </a:r>
            <a:endParaRPr lang="en-US" sz="2100" dirty="0"/>
          </a:p>
        </p:txBody>
      </p:sp>
      <p:sp>
        <p:nvSpPr>
          <p:cNvPr id="11" name="Text 9"/>
          <p:cNvSpPr/>
          <p:nvPr/>
        </p:nvSpPr>
        <p:spPr>
          <a:xfrm>
            <a:off x="1234440" y="3931920"/>
            <a:ext cx="10271455" cy="384048"/>
          </a:xfrm>
          <a:prstGeom prst="rect">
            <a:avLst/>
          </a:prstGeom>
          <a:noFill/>
          <a:ln/>
        </p:spPr>
        <p:txBody>
          <a:bodyPr wrap="square" lIns="0" tIns="0" rIns="0" bIns="0" rtlCol="0" anchor="ctr"/>
          <a:lstStyle/>
          <a:p>
            <a:pPr indent="0" marL="0">
              <a:buNone/>
            </a:pPr>
            <a:r>
              <a:rPr lang="en-US" sz="2300" b="1" dirty="0">
                <a:solidFill>
                  <a:srgbClr val="1A2029"/>
                </a:solidFill>
                <a:latin typeface="Microsoft YaHei" pitchFamily="34" charset="0"/>
                <a:ea typeface="Microsoft YaHei" pitchFamily="34" charset="-122"/>
                <a:cs typeface="Microsoft YaHei" pitchFamily="34" charset="-120"/>
              </a:rPr>
              <a:t>做一页过程证据留痕</a:t>
            </a:r>
            <a:endParaRPr lang="en-US" sz="2300" dirty="0"/>
          </a:p>
        </p:txBody>
      </p:sp>
      <p:sp>
        <p:nvSpPr>
          <p:cNvPr id="12" name="Text 10"/>
          <p:cNvSpPr/>
          <p:nvPr/>
        </p:nvSpPr>
        <p:spPr>
          <a:xfrm>
            <a:off x="1234440" y="4334256"/>
            <a:ext cx="10271455" cy="365760"/>
          </a:xfrm>
          <a:prstGeom prst="rect">
            <a:avLst/>
          </a:prstGeom>
          <a:noFill/>
          <a:ln/>
        </p:spPr>
        <p:txBody>
          <a:bodyPr wrap="square" lIns="0" tIns="0" rIns="0" bIns="0" rtlCol="0" anchor="t"/>
          <a:lstStyle/>
          <a:p>
            <a:pPr indent="0" marL="0">
              <a:buNone/>
            </a:pPr>
            <a:r>
              <a:rPr lang="en-US" sz="1400" dirty="0">
                <a:solidFill>
                  <a:srgbClr val="5A6472"/>
                </a:solidFill>
                <a:latin typeface="Microsoft YaHei" pitchFamily="34" charset="0"/>
                <a:ea typeface="Microsoft YaHei" pitchFamily="34" charset="-122"/>
                <a:cs typeface="Microsoft YaHei" pitchFamily="34" charset="-120"/>
              </a:rPr>
              <a:t>四栏留痕表随任务单一起发，不等结题才补。</a:t>
            </a:r>
            <a:endParaRPr lang="en-US" sz="1400" dirty="0"/>
          </a:p>
        </p:txBody>
      </p:sp>
      <p:sp>
        <p:nvSpPr>
          <p:cNvPr id="13" name="Shape 11"/>
          <p:cNvSpPr/>
          <p:nvPr/>
        </p:nvSpPr>
        <p:spPr>
          <a:xfrm>
            <a:off x="685800" y="5961888"/>
            <a:ext cx="10820095" cy="0"/>
          </a:xfrm>
          <a:prstGeom prst="line">
            <a:avLst/>
          </a:prstGeom>
          <a:noFill/>
          <a:ln w="12700">
            <a:solidFill>
              <a:srgbClr val="E2E6EA"/>
            </a:solidFill>
            <a:prstDash val="solid"/>
          </a:ln>
        </p:spPr>
      </p:sp>
      <p:sp>
        <p:nvSpPr>
          <p:cNvPr id="14" name="Text 12"/>
          <p:cNvSpPr/>
          <p:nvPr/>
        </p:nvSpPr>
        <p:spPr>
          <a:xfrm>
            <a:off x="685800" y="6035040"/>
            <a:ext cx="10820095" cy="502920"/>
          </a:xfrm>
          <a:prstGeom prst="rect">
            <a:avLst/>
          </a:prstGeom>
          <a:noFill/>
          <a:ln/>
        </p:spPr>
        <p:txBody>
          <a:bodyPr wrap="square" lIns="0" tIns="0" rIns="0" bIns="0" rtlCol="0" anchor="t"/>
          <a:lstStyle/>
          <a:p>
            <a:pPr indent="0" marL="0">
              <a:lnSpc>
                <a:spcPct val="135000"/>
              </a:lnSpc>
              <a:buNone/>
            </a:pPr>
            <a:r>
              <a:rPr lang="en-US" sz="1100" dirty="0">
                <a:solidFill>
                  <a:srgbClr val="5A6472"/>
                </a:solidFill>
                <a:latin typeface="Microsoft YaHei" pitchFamily="34" charset="0"/>
                <a:ea typeface="Microsoft YaHei" pitchFamily="34" charset="-122"/>
                <a:cs typeface="Microsoft YaHei" pitchFamily="34" charset="-120"/>
              </a:rPr>
              <a:t>顺序不要调。第一件必须是非 AI 的。</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20095" y="146304"/>
            <a:ext cx="914400" cy="219456"/>
          </a:xfrm>
          <a:prstGeom prst="rect">
            <a:avLst/>
          </a:prstGeom>
          <a:noFill/>
          <a:ln/>
        </p:spPr>
        <p:txBody>
          <a:bodyPr wrap="square" lIns="0" tIns="0" rIns="0" bIns="0" rtlCol="0" anchor="ctr"/>
          <a:lstStyle/>
          <a:p>
            <a:pPr algn="r" indent="0" marL="0">
              <a:buNone/>
            </a:pPr>
            <a:r>
              <a:rPr lang="en-US" sz="900" dirty="0">
                <a:solidFill>
                  <a:srgbClr val="8C97A3"/>
                </a:solidFill>
                <a:latin typeface="Microsoft YaHei" pitchFamily="34" charset="0"/>
                <a:ea typeface="Microsoft YaHei" pitchFamily="34" charset="-122"/>
                <a:cs typeface="Microsoft YaHei" pitchFamily="34" charset="-120"/>
              </a:rPr>
              <a:t>41 · A</a:t>
            </a:r>
            <a:endParaRPr lang="en-US" sz="900" dirty="0"/>
          </a:p>
        </p:txBody>
      </p:sp>
      <p:sp>
        <p:nvSpPr>
          <p:cNvPr id="3" name="Text 1"/>
          <p:cNvSpPr/>
          <p:nvPr/>
        </p:nvSpPr>
        <p:spPr>
          <a:xfrm>
            <a:off x="685800" y="2011680"/>
            <a:ext cx="9722815" cy="685800"/>
          </a:xfrm>
          <a:prstGeom prst="rect">
            <a:avLst/>
          </a:prstGeom>
          <a:noFill/>
          <a:ln/>
        </p:spPr>
        <p:txBody>
          <a:bodyPr wrap="square" lIns="0" tIns="0" rIns="0" bIns="0" rtlCol="0" anchor="t"/>
          <a:lstStyle/>
          <a:p>
            <a:pPr indent="0" marL="0">
              <a:lnSpc>
                <a:spcPct val="155000"/>
              </a:lnSpc>
              <a:buNone/>
            </a:pPr>
            <a:r>
              <a:rPr lang="en-US" sz="1600" dirty="0">
                <a:solidFill>
                  <a:srgbClr val="5A6472"/>
                </a:solidFill>
                <a:latin typeface="Microsoft YaHei" pitchFamily="34" charset="0"/>
                <a:ea typeface="Microsoft YaHei" pitchFamily="34" charset="-122"/>
                <a:cs typeface="Microsoft YaHei" pitchFamily="34" charset="-120"/>
              </a:rPr>
              <a:t>本场引用的政策条款均出自公开文件，文号与日期见各页页脚。</a:t>
            </a:r>
            <a:endParaRPr lang="en-US" sz="1600" dirty="0"/>
          </a:p>
        </p:txBody>
      </p:sp>
      <p:sp>
        <p:nvSpPr>
          <p:cNvPr id="4" name="Text 2"/>
          <p:cNvSpPr/>
          <p:nvPr/>
        </p:nvSpPr>
        <p:spPr>
          <a:xfrm>
            <a:off x="685800" y="2788920"/>
            <a:ext cx="9722815" cy="685800"/>
          </a:xfrm>
          <a:prstGeom prst="rect">
            <a:avLst/>
          </a:prstGeom>
          <a:noFill/>
          <a:ln/>
        </p:spPr>
        <p:txBody>
          <a:bodyPr wrap="square" lIns="0" tIns="0" rIns="0" bIns="0" rtlCol="0" anchor="t"/>
          <a:lstStyle/>
          <a:p>
            <a:pPr indent="0" marL="0">
              <a:lnSpc>
                <a:spcPct val="155000"/>
              </a:lnSpc>
              <a:buNone/>
            </a:pPr>
            <a:r>
              <a:rPr lang="en-US" sz="1600" dirty="0">
                <a:solidFill>
                  <a:srgbClr val="5A6472"/>
                </a:solidFill>
                <a:latin typeface="Microsoft YaHei" pitchFamily="34" charset="0"/>
                <a:ea typeface="Microsoft YaHei" pitchFamily="34" charset="-122"/>
                <a:cs typeface="Microsoft YaHei" pitchFamily="34" charset="-120"/>
              </a:rPr>
              <a:t>截至 2026 年 8 月，未查到广东省或深圳市针对做中学领航行动的配套实施文件。省市细则以后续文件为准，如与市级方案不一致，以市级为准。</a:t>
            </a:r>
            <a:endParaRPr lang="en-US" sz="1600" dirty="0"/>
          </a:p>
        </p:txBody>
      </p:sp>
      <p:sp>
        <p:nvSpPr>
          <p:cNvPr id="5" name="Text 3"/>
          <p:cNvSpPr/>
          <p:nvPr/>
        </p:nvSpPr>
        <p:spPr>
          <a:xfrm>
            <a:off x="685800" y="3566160"/>
            <a:ext cx="9722815" cy="685800"/>
          </a:xfrm>
          <a:prstGeom prst="rect">
            <a:avLst/>
          </a:prstGeom>
          <a:noFill/>
          <a:ln/>
        </p:spPr>
        <p:txBody>
          <a:bodyPr wrap="square" lIns="0" tIns="0" rIns="0" bIns="0" rtlCol="0" anchor="t"/>
          <a:lstStyle/>
          <a:p>
            <a:pPr indent="0" marL="0">
              <a:lnSpc>
                <a:spcPct val="155000"/>
              </a:lnSpc>
              <a:buNone/>
            </a:pPr>
            <a:r>
              <a:rPr lang="en-US" sz="1600" dirty="0">
                <a:solidFill>
                  <a:srgbClr val="5A6472"/>
                </a:solidFill>
                <a:latin typeface="Microsoft YaHei" pitchFamily="34" charset="0"/>
                <a:ea typeface="Microsoft YaHei" pitchFamily="34" charset="-122"/>
                <a:cs typeface="Microsoft YaHei" pitchFamily="34" charset="-120"/>
              </a:rPr>
              <a:t>六个环节的 AI 收放配置是依据评价维度做的专业判断，不是政策规定。指南原文只写了「辅助」二字。</a:t>
            </a:r>
            <a:endParaRPr lang="en-US" sz="1600" dirty="0"/>
          </a:p>
        </p:txBody>
      </p:sp>
      <p:sp>
        <p:nvSpPr>
          <p:cNvPr id="6" name="Shape 4"/>
          <p:cNvSpPr/>
          <p:nvPr/>
        </p:nvSpPr>
        <p:spPr>
          <a:xfrm>
            <a:off x="685800" y="5029200"/>
            <a:ext cx="3840480" cy="502920"/>
          </a:xfrm>
          <a:prstGeom prst="rect">
            <a:avLst/>
          </a:prstGeom>
          <a:solidFill>
            <a:srgbClr val="FFFFFF"/>
          </a:solidFill>
          <a:ln w="12700">
            <a:solidFill>
              <a:srgbClr val="D9A98F"/>
            </a:solidFill>
            <a:prstDash val="dash"/>
          </a:ln>
        </p:spPr>
      </p:sp>
      <p:sp>
        <p:nvSpPr>
          <p:cNvPr id="7" name="Text 5"/>
          <p:cNvSpPr/>
          <p:nvPr/>
        </p:nvSpPr>
        <p:spPr>
          <a:xfrm>
            <a:off x="685800" y="5029200"/>
            <a:ext cx="3840480" cy="502920"/>
          </a:xfrm>
          <a:prstGeom prst="rect">
            <a:avLst/>
          </a:prstGeom>
          <a:noFill/>
          <a:ln/>
        </p:spPr>
        <p:txBody>
          <a:bodyPr wrap="square" lIns="0" tIns="0" rIns="0" bIns="0" rtlCol="0" anchor="ctr"/>
          <a:lstStyle/>
          <a:p>
            <a:pPr algn="ctr" indent="0" marL="0">
              <a:buNone/>
            </a:pPr>
            <a:r>
              <a:rPr lang="en-US" sz="1300" dirty="0">
                <a:solidFill>
                  <a:srgbClr val="B0472A"/>
                </a:solidFill>
                <a:latin typeface="Microsoft YaHei" pitchFamily="34" charset="0"/>
                <a:ea typeface="Microsoft YaHei" pitchFamily="34" charset="-122"/>
                <a:cs typeface="Microsoft YaHei" pitchFamily="34" charset="-120"/>
              </a:rPr>
              <a:t>【占位】讲义与二维码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做中学与综合实践活动</dc:title>
  <dc:subject>PptxGenJS Presentation</dc:subject>
  <dc:creator>辛海洋</dc:creator>
  <cp:lastModifiedBy>辛海洋</cp:lastModifiedBy>
  <cp:revision>1</cp:revision>
  <dcterms:created xsi:type="dcterms:W3CDTF">2026-08-21T11:48:13Z</dcterms:created>
  <dcterms:modified xsi:type="dcterms:W3CDTF">2026-08-21T11:48:13Z</dcterms:modified>
</cp:coreProperties>
</file>