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本段不涉及 AI。内容限于一项事实：该文件已经印发，九月起实施。八分钟，节奏放缓，让听众先建立背景。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依次陈述文件名称、文号与印发日期，再引人民日报的报道，不作评论。多数听众尚未接触过这份文件，需要留出记住名称的时间。做中学并非新提法，2001 年教育部与中国科协曾共同发起做中学科学教育改革工作，对资深教师口头补充一句可以节省解释成本。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逐字宣读六个环节，随后停顿。有两点需要说明：其一，1—3 年级不另作要求，低学段教师本学期可以暂不调整；其二，该文件未要求综合实践活动教师讲授科学原理，其要求是学生完整经历这六个环节。听众最关心的是学科背景问题，这一点须表述清楚。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只作宣读，不展开定义。定义通过下一页的对比自行呈现，这八个词的作用是充当对照基准。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与上一页并置阅读。做中学对本课程做了两件事：其一是加密，将探究拆解为六个环节并要求完整走完；其二是提标，引入变量识别、控制变量、证据推理与误差分析等方法论要求，2017 年纲要未作这一层约束。两个学段的具体差别放到第 26 页设计方案环节再讲。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的支点，需要放缓。做中学对应本课程探究与物化的一半，并作了加密与提标。它未覆盖社会服务与职业体验，对责任担当的处理停留在态度表述，未要求学生对他人或社区采取行动；价值体认走的是主题绑定路径，与 2017 年纲要经由个体生活、社会生活及与自然接触获得体验的路径不同。这一判断的意义在于：做中学是本课程的一个子集被单独提出并提高了要求，不构成外部介入。听众的抵触情绪主要在本页化解。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场主张，全场仅出现一次，陈述后停顿。随后给出两项具体补法，均取自指南原文。其一，将附件任务末端的交流分享改为有对象、有回应、有留痕的行动，责任担当即可落到行动层，任务结构不变。其二，指南社会协同条款写明鼓励有条件的学校邀请科学家、工程师等专业技术人员对学生的科学探究实践过程和结果进行指导评价；同一次到访，安排为点评则仅获得评价资源，安排为学生持问题清单访谈其日常工作与判断依据则构成职业体验。差别在设计，不在成本。补这两处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排序的依据，不作为结论陈述。考察探究受影响最重，因其全部产出均为文本；设计制作次之，实物仍需动手，但方案设计一步已不稀缺；社会服务与职业体验最轻，依据只有一条，即身体必须在场。页脚的说明须主动讲出，此处是判断而非测量数据，听众中有研究背景者会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本页需要把两条线索接起来，放缓。第一段指出社会服务与职业体验是做中学的覆盖缺口，也是综合实践活动教师的专业位置；上一页指出这两种方式受生成式 AI 影响最轻，依据是身体必须在场。两者叠加的结论是：教师的专业位置与最不易被替代的位置重合。该结论有依据，不作安慰性表述。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过渡页，一分钟。不在此展开，展开在第三段。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宣读，不作评论。这六条听众比讲者熟悉，宣读时放缓，留出对照的时间，不附加评价性表述。本段的作用是先陈列公认事实，再讨论生成式 AI 的作用方向。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只用这一组数据。补充第二组会使听众产生被指责感，而本段所需的只是确认问题的真实性。末句须讲出：该状况属全国范围的普遍现象。本页属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全场第一张表。三列宣读完毕即停，不点破规律。规律是左列均属学生侧，中列均属教师侧，留待听众自行发现，由第 16 页的整屏句收束。第三列是本场可信度的来源之一，须如实陈述：生成式 AI 不能解决课时挤占，不能解决师资兼任，不能解决基地质量，也不能替代综合素质评价的公示与签字程序。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这三个名称出自夏雪梅团队的反面清单，出处为 2022 年国家级教学成果一等奖，讲述时须带出出处。落点在末句：空心项目原本可以从成果的粗糙程度识别，生成式 AI 提高完成度之后，这一识别线索消失。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台下若质疑 AI 是否可靠，本页是应答依据。不可省略，亦不可夸大。先陈述研究设计，再陈述结果，顺序不可颠倒。须主动说明样本为大学生，中小学不可直接套用其数值，但机制一致：生成式 AI 完成了产出，学生跳过了形成该产出所需的思考。边界条件两条亦须讲出，国内两项元分析一致显示，干预时间较长或样本量较大时效应量转为负向或不显著，提示其中不少宣传依据的是小规模短周期的演示效应。本页属 B 档，60 分钟版删除，但该证据须备于口头，遇质疑时使用。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整屏一句，陈述后停顿。此处可以点破三分表的规律：左列均为学生侧事项，中列均为教师侧事项。生成式 AI 用于教师侧是减负，用于学生侧则替代了学生本应完成的学习。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本页承接上一句整屏句，与下一页的指令原文合为本段的收尾。前面讲的是生成式 AI 对既有问题的加剧作用，本页讲它在教师侧的减负作用，两者合起来才是完整的判断。这四项是这批听众当天就能用上的部分，与下一页合计讲述时间不少于五分钟。四项按投入产出排序：量规初稿最省时，教师改一遍即可使用；三档任务单解决的是差异化分层这项一直缺人手的工作；写实记录整理须先做代号替换，此点必须讲，否则触碰红线；数据作图门槛最低。四项的共同点是产出物均须经教师修改后使用，AI 提供的是初稿而非终稿。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上一页的操作层，两页连着讲。要点在于指令的写法：每条由三部分构成，交代场景、说明所需产出、限定不取何种表述。第三部分最关键，量规那条限定了不要使用评价性形容词，任务单那条限定了字数，写实记录那条限定了不出现形容词，正是这些限定把返回结果从泛泛的套话拉回可用的初稿。不具备撰写指令经验的听众，照抄这三条并替换其中的学段与任务名称即可使用。第三条使用前的代号替换须再强调一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一项：判断方法。三项判断适用于任何一个环节。三项判断的顺序不可调换：先确认能力，再判断替代关系，最后讨论补偿。多数人的顺序相反，先看工具功能再倒推是否使用，该顺序容易导致使用过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一句话页。该句是三项判断的压缩形式，陈述后停顿。本课程的教学资产即试错空间，而生成式 AI 的默认行为是消除试错空间。指南的包容失败条款原文在第 30 页屏幕上，此处不必提前念。本页属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可带走的第二项：把上一页的判断方法做成表，可直接打印，每项任务填一张。说明该表将随讲义发放，教师亦可自行绘制，格式不重要，三项判断是重点。下一段以生命健康的两项任务当场填写一遍。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出配置形态，下一页落到学生的具体动作，再下一段以案例填实。两点须讲准：其一，内核指六个环节这条主干，外圈指任务前的背景检索与任务后的表达传播，并非六个环节内部的两端；其二，六个环节自身呈前紧后松，越靠后越可以放开。反直觉一句需要停顿，听众多数正持相反预期。六处配置逐条的依据不在本页展开，第五段每一页各讲一条。该收放配置系依据评价维度推演的专业判断，指南原文仅有辅助二字，讲述时须表述为建议，不得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把收放刻度图落到学生的具体动作上。三种用法的共同结构是：动作、约束、留痕，三者缺一不可。只讲动作，学生会越界；只讲约束，学生会整体回避；没有留痕，教师无从评价。第一种最容易被误用，须强调学生要先有自己的问法，检索是为了对照而不是替代。第三种风险最低，因为思维过程此时已经完成。三种之外的环节按上一页刻度收紧，这句话要讲出来，否则听众会以为放开的范围更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先说明一项事实：附件任务写为四步，指南正文要求六个环节，两者并非一一对应。后续六页所做的即是将四步展开为六个环节，并在每个环节上确定 AI 的配置。该动作可以迁移至任何一项附件任务。亦须说明附件为参考，非规定动作。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本环节产生的评价证据是问题意识，而问题意识在四个评价维度中仅此一个来源，别处无从补偿。生成式 AI 的默认危害是直接给出可探究问题，学生因此跳过了从现象到问题的转化。故本环节收紧。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小学学段的要求是识别变量、制订简单的探究方案，初中学段是应用控制变量方法、制订比较完整的探究方案，差别在此。让 AI 对方案提出质疑是可用的设计：学生须先有方案才能被质疑，质疑之后仍须自行判断是否修改。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全场唯一一处看得见的 AI 行为，须放慢，逐块念。三点要讲到：其一，输入里最关键的是末句的限定，它把工具限制在提问而不出方案，这正是设计方案环节的半收配置；其二，返回的三条中教师否决了一条，否决的依据是学段目标而非 AI 是否说错，这就是判断权留在教师手上的具体形态；其三，整个过程在教师侧完成，学生看到的是教师转述的问题，不接触工具。本页给的是操作的样子，第 28 页把其中的判断抽成可复用的三问，两页连着讲。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一页给了一次交互的实例，本页给的是可迁移到任何一次交互的方法。三问的顺序与用途对应：第一问筛掉答非所问，第二问拦住编造，第三问回到本场的收放判断。第二问要展开讲，生成式工具在数字、文献名称、文号这几类内容上出错的形态是给出格式正确但并不存在的条目，教师无法凭语感识别，只能逐条核对。第三问是把前面讲过的判据用在教师自己身上：教师若直接采用返回结果，学生少做的那一步就是这次使用的代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本页涉及红线，须讲清楚。《中小学生成式人工智能使用指南（2025 年版）》要求学校建立工具白名单，严禁输入考试试题、个人身份信息等敏感数据。健康饮食任务本身要使用体质健康监测数据，因此须在任务单上写明代号规则，不能依赖学生自觉。生成式 AI 在本环节的默认危害是生成表面合理的数据，原始数据一旦不是自行获得，后续全部推论均不成立。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六个环节中收得最紧的一步，紧于选题。本环节产生的评价证据是反思改进能力。生成式 AI 对一组异常数据能够给出表面合理的解释，学生因此不再对其产生疑问。指南的包容失败条款落在此处，附件任务中亦反复出现如果任务完成没有达到预期效果、做好分析总结一类表述。宣读该条原文，听众易于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询资料属于背景工作，输出设计图则代替学生作出决定。本环节的评价证据同时落在探究实践能力与综合实践活动的创意物化上。须强调单一版本不构成完成，测试之后必须修改一版，这是做中学强于 2017 年纲要之处。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第一段所述缺口的兑现处。附件原文中健康饮食任务已经写明面向公众如社区居民开展科普宣传，对外的接口是现成的，不需另加课时。关键动作是事先约定对方给出一次书面或口头答复，有回应方构成服务，仅展示不构成。本环节同时是职业体验的接口：邀请验光师或营养师到访一次，学生持问题清单访谈，而非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各一分钟，不展开。作用是说明配置并非一刀切：低学段的生物多样性调查可以整项任务学生不使用设备，初中的工程探究可以两端都开放。决定配置的是任务中哪一步属于学生应当经历的困难，而非学段或主题。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整屏一句，收束第五段，陈述后停顿。该句是六页走查的压缩形式。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一句话页，承接第五段的配置。查重无法识别生成式 AI 的产出，听众多数已知。可用的办法只有两项：课时纪律，即规定何时开放设备；留痕表，即使用后即记录。两项均属事前设计。本页属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可带走的第三项：留痕表，随任务单一并发放，不在结题时补录。须说明一项反直觉的作用：教师普遍认为过程性证据难以采集，而 AI 交互本身结构化、带时间戳、可复现，该表反而是四个评价维度中最易采集的一份证据。第四栏是关键，前三栏为记录，第四栏为判断；学生无法填写第四栏，说明其未作修改，该信息本身即评价依据。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可带走的第四项：答辩三问，成本最低，不需要任何准备。三项提问指向过程而非结论，无法预先背诵。第三问答不出，说明学生未作验证，该成果为外部获得。若全场只记住一项内容，即这三项提问。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本链条说明的是过程证据具有制度出口。2017 年纲要对档案袋的要求是事实材料要真实、有据可查，指南要求纳入综合素质评价档案，留痕由此成为该链条的入口。深圳一句须宣读准确：写实记录须有佐证材料、签字与公示。不得表述为 AI 素养已纳入综合素质评价，教育部、广东省与深圳市的文件均为鼓励探索，只能表述为对接或探索纳入。本页属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宣读。第一条须补充：识别类工具属分类判别，不属于开放式内容生成，教师在场的课堂使用不触及小学阶段红线；此点须主动说明，否则教师会因不确定而整体回避。第四条的分寸须准确：标识办法规范的是网络信息服务提供者，表述为学生必须标注属于拔高，表述为诚信要求方为恰当。初中阶段可适度探索生成内容的逻辑性分析，此句可以一并带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本页是全场唯一一处正面讲责任归属的地方，不可删。指南列举的评价主体即这四类，其中没有 AI。以 AI 自动批阅探究日志、自动生成评语并直接进入档案，超出该文件的授权范围。本页的作用是保护教师：责任由签字者承担，判断权亦须留在签字者手中。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解决的是执行障碍。多数听众听到智能体会以为需要开发，须当场说明它就是一段文字。指令中的三处限定要逐一指出：只提出问题、不提供修改后的方案、每次最多三个，前两处限定方向，第三处限定数量，避免学生被淹没。最后一句说明这段话可以照抄，也可以按自己的环节改写。若现场有投影和网络，可以当场贴一次，但不作为必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亦是最后一张。此处讲的是工具类别而非具体产品，教师使用任何一款均可对应。须提醒一点：多数人构建智能体的第一直觉是问答助手，而问答助手恰好落在提出问题与解释结论两个环节，与前述配置相反。可行的做法是构建只提问、不作答的工具，例如方案质疑或答辩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收束即止，不作展望。改为按周排布，是因为这批听众的技术基础较弱，三件事同时铺开会全部落空。第一周不涉及 AI，先把真实问题这一头做实；第二周只做一次交互，用的是上一页可以照抄的指令；第三周才把学生纳入。末句回应的是听众最常见的顾虑，即是否需要额外的软件与设备。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末页停留时间稍长，供拍照。先念可带走的五项，页码要报出来，这是听众唯一会拍的一页。三条说明随后宣读，尤其第三条：将专业判断与政策规定分开，此条不可省略。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附录不在九十分钟内讲，供听众会后带走。若现场有时间，只需说明一件事：六份案例的收放配置各不相同，决定配置的是任务中哪一步属于学生应当经历的困难，不是学段，也不是主题。第六项与前五项相反，人工智能主题里使用 AI 本身就是任务内容，收紧的是让 AI 替学生判断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本项是正文走查过的任务，放在附录第一位，可作为读法示例。其余五项按同一格式给出。任务要求与实施建议为附件原文，一字未改。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六行的配置逻辑与正文第 22 页一致：凡属学生应当经历的困难，收；凡属重复性劳动，放。本页不讲，供带走。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三条约束是本任务特有的，通用红线见正文第 39 页。指令一条可直接照抄，替换学段与场地即可。本页不讲，供带走。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本项的评价维度写明了分类归纳与逻辑推理，而识别与推断正是学生要经历的困难，因此学生侧不开放。教师侧的开放度反而最高。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 AI 价值几乎全在教师侧课前，不在六个环节之内，因此写在页脚而不占表格一行。本页不讲，供带走。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指令末句的「不确定的标注为待核，不要猜测」是关键，安全提示这类内容一旦编造，代价不在课堂上。本页不讲，供带走。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选这一项进附录，是因为它把风险摆到了明处：天体参数可检索，结论可生成，模型可照抄，唯一不可替代的是学生自己那条距离—光照—温度曲线。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与前两项相比，本项在搜集分析证据一行放得更开，原因是模拟实验的数据量大，整理耗时而无教学价值。本页不讲，供带走。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指令刻意要求不给具体数值，这样编造的数字就进不到学生的表里，查证这一步也留给了学生。本页不讲，供带走。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六项中唯一的长周期任务。周期长意味着一定会有缺测，缺测怎么处理是本项的关键，见第 57 页第一条。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这一行的边界比其他五项都细，原因是缺测在长周期任务里是常态，而补全与整理在操作上只差一句话。本页不讲，供带走。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这条指令是六项里最值得照抄的一条，「不要插值，也不要平滑」两句把造假的口子从工具侧堵掉了。本页不讲，供带走。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本项的问题来自工程案例而非学生自身经验，背景检索是必要的前置，因此首环节放开。放开的是背景，不是问题本身。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得出结论一行的质疑智能体是本项特有的做法，学生的回应本身就是反思改进能力的评价证据，比结论更值得看。本页不讲，供带走。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这条指令与正文第 41 页的智能体说明是同一套写法，可对照阅读。本页不讲，供带走。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附录里最值得细读的一项。前五项收的是学生用 AI，本项收的是让 AI 替学生判断 AI。同一套判据，落到这里得出的是相反的配置。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搜集分析证据一行是六项案例中唯一完全放开的一行，因为交互记录就是本项的实验数据。本页不讲，供带走。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示例问题特意用第一项案例的护眼，两项之间可以互相引用，教师排课时也便于连着上。本页不讲，供带走。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FFFFFF"/>
          </a:solidFill>
          <a:ln w="25400">
            <a:solidFill>
              <a:srgbClr val="D9E2E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1207008"/>
            <a:ext cx="9981895" cy="237744"/>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6" name="Text 14"/>
          <p:cNvSpPr/>
          <p:nvPr/>
        </p:nvSpPr>
        <p:spPr>
          <a:xfrm>
            <a:off x="1295400" y="1572768"/>
            <a:ext cx="9981895" cy="1005840"/>
          </a:xfrm>
          <a:prstGeom prst="rect">
            <a:avLst/>
          </a:prstGeom>
          <a:noFill/>
          <a:ln/>
        </p:spPr>
        <p:txBody>
          <a:bodyPr wrap="square" lIns="0" tIns="0" rIns="0" bIns="0" rtlCol="0" anchor="ctr"/>
          <a:lstStyle/>
          <a:p>
            <a:pPr indent="0" marL="0">
              <a:buNone/>
            </a:pPr>
            <a:r>
              <a:rPr lang="en-US" sz="5000" b="1" dirty="0">
                <a:solidFill>
                  <a:srgbClr val="081B3A"/>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7" name="Text 15"/>
          <p:cNvSpPr/>
          <p:nvPr/>
        </p:nvSpPr>
        <p:spPr>
          <a:xfrm>
            <a:off x="1295400" y="2670048"/>
            <a:ext cx="9981895" cy="402336"/>
          </a:xfrm>
          <a:prstGeom prst="rect">
            <a:avLst/>
          </a:prstGeom>
          <a:noFill/>
          <a:ln/>
        </p:spPr>
        <p:txBody>
          <a:bodyPr wrap="square" lIns="0" tIns="0" rIns="0" bIns="0" rtlCol="0" anchor="ctr"/>
          <a:lstStyle/>
          <a:p>
            <a:pPr indent="0" marL="0">
              <a:buNone/>
            </a:pPr>
            <a:r>
              <a:rPr lang="en-US" sz="1900" dirty="0">
                <a:solidFill>
                  <a:srgbClr val="5F7088"/>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8" name="Shape 16"/>
          <p:cNvSpPr/>
          <p:nvPr/>
        </p:nvSpPr>
        <p:spPr>
          <a:xfrm>
            <a:off x="1295400" y="3346704"/>
            <a:ext cx="1481328" cy="384048"/>
          </a:xfrm>
          <a:prstGeom prst="roundRect">
            <a:avLst>
              <a:gd name="adj" fmla="val 16667"/>
            </a:avLst>
          </a:prstGeom>
          <a:solidFill>
            <a:srgbClr val="FFFFFF"/>
          </a:solidFill>
          <a:ln w="12700">
            <a:solidFill>
              <a:srgbClr val="D9E2EF"/>
            </a:solidFill>
            <a:prstDash val="solid"/>
          </a:ln>
        </p:spPr>
      </p:sp>
      <p:sp>
        <p:nvSpPr>
          <p:cNvPr id="19" name="Text 17"/>
          <p:cNvSpPr/>
          <p:nvPr/>
        </p:nvSpPr>
        <p:spPr>
          <a:xfrm>
            <a:off x="1295400"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提出问题和假设</a:t>
            </a:r>
            <a:endParaRPr lang="en-US" sz="1000" dirty="0"/>
          </a:p>
        </p:txBody>
      </p:sp>
      <p:sp>
        <p:nvSpPr>
          <p:cNvPr id="20" name="Shape 18"/>
          <p:cNvSpPr/>
          <p:nvPr/>
        </p:nvSpPr>
        <p:spPr>
          <a:xfrm>
            <a:off x="2776728" y="3538728"/>
            <a:ext cx="182880" cy="0"/>
          </a:xfrm>
          <a:prstGeom prst="line">
            <a:avLst/>
          </a:prstGeom>
          <a:noFill/>
          <a:ln w="12700">
            <a:solidFill>
              <a:srgbClr val="D9E2EF"/>
            </a:solidFill>
            <a:prstDash val="solid"/>
          </a:ln>
        </p:spPr>
      </p:sp>
      <p:sp>
        <p:nvSpPr>
          <p:cNvPr id="21" name="Shape 19"/>
          <p:cNvSpPr/>
          <p:nvPr/>
        </p:nvSpPr>
        <p:spPr>
          <a:xfrm>
            <a:off x="2959608" y="3346704"/>
            <a:ext cx="1481328" cy="384048"/>
          </a:xfrm>
          <a:prstGeom prst="roundRect">
            <a:avLst>
              <a:gd name="adj" fmla="val 16667"/>
            </a:avLst>
          </a:prstGeom>
          <a:solidFill>
            <a:srgbClr val="FFFFFF"/>
          </a:solidFill>
          <a:ln w="12700">
            <a:solidFill>
              <a:srgbClr val="D9E2EF"/>
            </a:solidFill>
            <a:prstDash val="solid"/>
          </a:ln>
        </p:spPr>
      </p:sp>
      <p:sp>
        <p:nvSpPr>
          <p:cNvPr id="22" name="Text 20"/>
          <p:cNvSpPr/>
          <p:nvPr/>
        </p:nvSpPr>
        <p:spPr>
          <a:xfrm>
            <a:off x="2959608"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设计方案</a:t>
            </a:r>
            <a:endParaRPr lang="en-US" sz="1000" dirty="0"/>
          </a:p>
        </p:txBody>
      </p:sp>
      <p:sp>
        <p:nvSpPr>
          <p:cNvPr id="23" name="Shape 21"/>
          <p:cNvSpPr/>
          <p:nvPr/>
        </p:nvSpPr>
        <p:spPr>
          <a:xfrm>
            <a:off x="4440936" y="3538728"/>
            <a:ext cx="182880" cy="0"/>
          </a:xfrm>
          <a:prstGeom prst="line">
            <a:avLst/>
          </a:prstGeom>
          <a:noFill/>
          <a:ln w="12700">
            <a:solidFill>
              <a:srgbClr val="D9E2EF"/>
            </a:solidFill>
            <a:prstDash val="solid"/>
          </a:ln>
        </p:spPr>
      </p:sp>
      <p:sp>
        <p:nvSpPr>
          <p:cNvPr id="24" name="Shape 22"/>
          <p:cNvSpPr/>
          <p:nvPr/>
        </p:nvSpPr>
        <p:spPr>
          <a:xfrm>
            <a:off x="4623816" y="3346704"/>
            <a:ext cx="1481328" cy="384048"/>
          </a:xfrm>
          <a:prstGeom prst="roundRect">
            <a:avLst>
              <a:gd name="adj" fmla="val 16667"/>
            </a:avLst>
          </a:prstGeom>
          <a:solidFill>
            <a:srgbClr val="FFFFFF"/>
          </a:solidFill>
          <a:ln w="12700">
            <a:solidFill>
              <a:srgbClr val="D9E2EF"/>
            </a:solidFill>
            <a:prstDash val="solid"/>
          </a:ln>
        </p:spPr>
      </p:sp>
      <p:sp>
        <p:nvSpPr>
          <p:cNvPr id="25" name="Text 23"/>
          <p:cNvSpPr/>
          <p:nvPr/>
        </p:nvSpPr>
        <p:spPr>
          <a:xfrm>
            <a:off x="4623816"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搜集分析证据</a:t>
            </a:r>
            <a:endParaRPr lang="en-US" sz="1000" dirty="0"/>
          </a:p>
        </p:txBody>
      </p:sp>
      <p:sp>
        <p:nvSpPr>
          <p:cNvPr id="26" name="Shape 24"/>
          <p:cNvSpPr/>
          <p:nvPr/>
        </p:nvSpPr>
        <p:spPr>
          <a:xfrm>
            <a:off x="6105144" y="3538728"/>
            <a:ext cx="182880" cy="0"/>
          </a:xfrm>
          <a:prstGeom prst="line">
            <a:avLst/>
          </a:prstGeom>
          <a:noFill/>
          <a:ln w="12700">
            <a:solidFill>
              <a:srgbClr val="D9E2EF"/>
            </a:solidFill>
            <a:prstDash val="solid"/>
          </a:ln>
        </p:spPr>
      </p:sp>
      <p:sp>
        <p:nvSpPr>
          <p:cNvPr id="27" name="Shape 25"/>
          <p:cNvSpPr/>
          <p:nvPr/>
        </p:nvSpPr>
        <p:spPr>
          <a:xfrm>
            <a:off x="6288024" y="3346704"/>
            <a:ext cx="1481328" cy="384048"/>
          </a:xfrm>
          <a:prstGeom prst="roundRect">
            <a:avLst>
              <a:gd name="adj" fmla="val 16667"/>
            </a:avLst>
          </a:prstGeom>
          <a:solidFill>
            <a:srgbClr val="FFFFFF"/>
          </a:solidFill>
          <a:ln w="12700">
            <a:solidFill>
              <a:srgbClr val="D9E2EF"/>
            </a:solidFill>
            <a:prstDash val="solid"/>
          </a:ln>
        </p:spPr>
      </p:sp>
      <p:sp>
        <p:nvSpPr>
          <p:cNvPr id="28" name="Text 26"/>
          <p:cNvSpPr/>
          <p:nvPr/>
        </p:nvSpPr>
        <p:spPr>
          <a:xfrm>
            <a:off x="6288024"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得出结论并解释</a:t>
            </a:r>
            <a:endParaRPr lang="en-US" sz="1000" dirty="0"/>
          </a:p>
        </p:txBody>
      </p:sp>
      <p:sp>
        <p:nvSpPr>
          <p:cNvPr id="29" name="Shape 27"/>
          <p:cNvSpPr/>
          <p:nvPr/>
        </p:nvSpPr>
        <p:spPr>
          <a:xfrm>
            <a:off x="7769352" y="3538728"/>
            <a:ext cx="182880" cy="0"/>
          </a:xfrm>
          <a:prstGeom prst="line">
            <a:avLst/>
          </a:prstGeom>
          <a:noFill/>
          <a:ln w="12700">
            <a:solidFill>
              <a:srgbClr val="D9E2EF"/>
            </a:solidFill>
            <a:prstDash val="solid"/>
          </a:ln>
        </p:spPr>
      </p:sp>
      <p:sp>
        <p:nvSpPr>
          <p:cNvPr id="30" name="Shape 28"/>
          <p:cNvSpPr/>
          <p:nvPr/>
        </p:nvSpPr>
        <p:spPr>
          <a:xfrm>
            <a:off x="7952232" y="3346704"/>
            <a:ext cx="1481328" cy="384048"/>
          </a:xfrm>
          <a:prstGeom prst="roundRect">
            <a:avLst>
              <a:gd name="adj" fmla="val 16667"/>
            </a:avLst>
          </a:prstGeom>
          <a:solidFill>
            <a:srgbClr val="FFFFFF"/>
          </a:solidFill>
          <a:ln w="12700">
            <a:solidFill>
              <a:srgbClr val="D9E2EF"/>
            </a:solidFill>
            <a:prstDash val="solid"/>
          </a:ln>
        </p:spPr>
      </p:sp>
      <p:sp>
        <p:nvSpPr>
          <p:cNvPr id="31" name="Text 29"/>
          <p:cNvSpPr/>
          <p:nvPr/>
        </p:nvSpPr>
        <p:spPr>
          <a:xfrm>
            <a:off x="7952232"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制作改进</a:t>
            </a:r>
            <a:endParaRPr lang="en-US" sz="1000" dirty="0"/>
          </a:p>
        </p:txBody>
      </p:sp>
      <p:sp>
        <p:nvSpPr>
          <p:cNvPr id="32" name="Shape 30"/>
          <p:cNvSpPr/>
          <p:nvPr/>
        </p:nvSpPr>
        <p:spPr>
          <a:xfrm>
            <a:off x="9433560" y="3538728"/>
            <a:ext cx="182880" cy="0"/>
          </a:xfrm>
          <a:prstGeom prst="line">
            <a:avLst/>
          </a:prstGeom>
          <a:noFill/>
          <a:ln w="12700">
            <a:solidFill>
              <a:srgbClr val="D9E2EF"/>
            </a:solidFill>
            <a:prstDash val="solid"/>
          </a:ln>
        </p:spPr>
      </p:sp>
      <p:sp>
        <p:nvSpPr>
          <p:cNvPr id="33" name="Shape 31"/>
          <p:cNvSpPr/>
          <p:nvPr/>
        </p:nvSpPr>
        <p:spPr>
          <a:xfrm>
            <a:off x="9616440" y="3346704"/>
            <a:ext cx="1481328" cy="384048"/>
          </a:xfrm>
          <a:prstGeom prst="roundRect">
            <a:avLst>
              <a:gd name="adj" fmla="val 16667"/>
            </a:avLst>
          </a:prstGeom>
          <a:solidFill>
            <a:srgbClr val="FFFFFF"/>
          </a:solidFill>
          <a:ln w="12700">
            <a:solidFill>
              <a:srgbClr val="D9E2EF"/>
            </a:solidFill>
            <a:prstDash val="solid"/>
          </a:ln>
        </p:spPr>
      </p:sp>
      <p:sp>
        <p:nvSpPr>
          <p:cNvPr id="34" name="Text 32"/>
          <p:cNvSpPr/>
          <p:nvPr/>
        </p:nvSpPr>
        <p:spPr>
          <a:xfrm>
            <a:off x="9616440"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交流反思</a:t>
            </a:r>
            <a:endParaRPr lang="en-US" sz="1000" dirty="0"/>
          </a:p>
        </p:txBody>
      </p:sp>
      <p:sp>
        <p:nvSpPr>
          <p:cNvPr id="35" name="Text 33"/>
          <p:cNvSpPr/>
          <p:nvPr/>
        </p:nvSpPr>
        <p:spPr>
          <a:xfrm>
            <a:off x="1295400" y="4572000"/>
            <a:ext cx="2103120" cy="219456"/>
          </a:xfrm>
          <a:prstGeom prst="rect">
            <a:avLst/>
          </a:prstGeom>
          <a:noFill/>
          <a:ln/>
        </p:spPr>
        <p:txBody>
          <a:bodyPr wrap="square" lIns="0" tIns="0" rIns="0" bIns="0" rtlCol="0" anchor="ctr"/>
          <a:lstStyle/>
          <a:p>
            <a:pPr indent="0" marL="0">
              <a:buNone/>
            </a:pPr>
            <a:r>
              <a:rPr lang="en-US" sz="1100" dirty="0">
                <a:solidFill>
                  <a:srgbClr val="5F7088"/>
                </a:solidFill>
                <a:latin typeface="Microsoft YaHei" pitchFamily="34" charset="0"/>
                <a:ea typeface="Microsoft YaHei" pitchFamily="34" charset="-122"/>
                <a:cs typeface="Microsoft YaHei" pitchFamily="34" charset="-120"/>
              </a:rPr>
              <a:t>主讲</a:t>
            </a:r>
            <a:endParaRPr lang="en-US" sz="1100" dirty="0"/>
          </a:p>
        </p:txBody>
      </p:sp>
      <p:sp>
        <p:nvSpPr>
          <p:cNvPr id="36" name="Text 34"/>
          <p:cNvSpPr/>
          <p:nvPr/>
        </p:nvSpPr>
        <p:spPr>
          <a:xfrm>
            <a:off x="1295400" y="4846320"/>
            <a:ext cx="2103120" cy="274320"/>
          </a:xfrm>
          <a:prstGeom prst="rect">
            <a:avLst/>
          </a:prstGeom>
          <a:noFill/>
          <a:ln/>
        </p:spPr>
        <p:txBody>
          <a:bodyPr wrap="square" lIns="0" tIns="0" rIns="0" bIns="0" rtlCol="0" anchor="ctr"/>
          <a:lstStyle/>
          <a:p>
            <a:pPr indent="0" marL="0">
              <a:buNone/>
            </a:pPr>
            <a:r>
              <a:rPr lang="en-US" sz="1400" dirty="0">
                <a:solidFill>
                  <a:srgbClr val="081B3A"/>
                </a:solidFill>
                <a:latin typeface="Microsoft YaHei" pitchFamily="34" charset="0"/>
                <a:ea typeface="Microsoft YaHei" pitchFamily="34" charset="-122"/>
                <a:cs typeface="Microsoft YaHei" pitchFamily="34" charset="-120"/>
              </a:rPr>
              <a:t>辛海洋</a:t>
            </a:r>
            <a:endParaRPr lang="en-US" sz="1400" dirty="0"/>
          </a:p>
        </p:txBody>
      </p:sp>
      <p:sp>
        <p:nvSpPr>
          <p:cNvPr id="37" name="Text 35"/>
          <p:cNvSpPr/>
          <p:nvPr/>
        </p:nvSpPr>
        <p:spPr>
          <a:xfrm>
            <a:off x="3581400" y="4572000"/>
            <a:ext cx="2103120" cy="219456"/>
          </a:xfrm>
          <a:prstGeom prst="rect">
            <a:avLst/>
          </a:prstGeom>
          <a:noFill/>
          <a:ln/>
        </p:spPr>
        <p:txBody>
          <a:bodyPr wrap="square" lIns="0" tIns="0" rIns="0" bIns="0" rtlCol="0" anchor="ctr"/>
          <a:lstStyle/>
          <a:p>
            <a:pPr indent="0" marL="0">
              <a:buNone/>
            </a:pPr>
            <a:r>
              <a:rPr lang="en-US" sz="1100" dirty="0">
                <a:solidFill>
                  <a:srgbClr val="5F7088"/>
                </a:solidFill>
                <a:latin typeface="Microsoft YaHei" pitchFamily="34" charset="0"/>
                <a:ea typeface="Microsoft YaHei" pitchFamily="34" charset="-122"/>
                <a:cs typeface="Microsoft YaHei" pitchFamily="34" charset="-120"/>
              </a:rPr>
              <a:t>日期</a:t>
            </a:r>
            <a:endParaRPr lang="en-US" sz="1100" dirty="0"/>
          </a:p>
        </p:txBody>
      </p:sp>
      <p:sp>
        <p:nvSpPr>
          <p:cNvPr id="38" name="Text 36"/>
          <p:cNvSpPr/>
          <p:nvPr/>
        </p:nvSpPr>
        <p:spPr>
          <a:xfrm>
            <a:off x="3581400" y="4846320"/>
            <a:ext cx="2103120" cy="274320"/>
          </a:xfrm>
          <a:prstGeom prst="rect">
            <a:avLst/>
          </a:prstGeom>
          <a:noFill/>
          <a:ln/>
        </p:spPr>
        <p:txBody>
          <a:bodyPr wrap="square" lIns="0" tIns="0" rIns="0" bIns="0" rtlCol="0" anchor="ctr"/>
          <a:lstStyle/>
          <a:p>
            <a:pPr indent="0" marL="0">
              <a:buNone/>
            </a:pPr>
            <a:r>
              <a:rPr lang="en-US" sz="1400" dirty="0">
                <a:solidFill>
                  <a:srgbClr val="081B3A"/>
                </a:solidFill>
                <a:latin typeface="Microsoft YaHei" pitchFamily="34" charset="0"/>
                <a:ea typeface="Microsoft YaHei" pitchFamily="34" charset="-122"/>
                <a:cs typeface="Microsoft YaHei" pitchFamily="34" charset="-120"/>
              </a:rPr>
              <a:t>2026 年 8 月 21 日</a:t>
            </a:r>
            <a:endParaRPr lang="en-US" sz="1400" dirty="0"/>
          </a:p>
        </p:txBody>
      </p:sp>
      <p:sp>
        <p:nvSpPr>
          <p:cNvPr id="39" name="Text 37"/>
          <p:cNvSpPr/>
          <p:nvPr/>
        </p:nvSpPr>
        <p:spPr>
          <a:xfrm>
            <a:off x="5867400" y="4572000"/>
            <a:ext cx="2103120" cy="219456"/>
          </a:xfrm>
          <a:prstGeom prst="rect">
            <a:avLst/>
          </a:prstGeom>
          <a:noFill/>
          <a:ln/>
        </p:spPr>
        <p:txBody>
          <a:bodyPr wrap="square" lIns="0" tIns="0" rIns="0" bIns="0" rtlCol="0" anchor="ctr"/>
          <a:lstStyle/>
          <a:p>
            <a:pPr indent="0" marL="0">
              <a:buNone/>
            </a:pPr>
            <a:r>
              <a:rPr lang="en-US" sz="1100" dirty="0">
                <a:solidFill>
                  <a:srgbClr val="5F7088"/>
                </a:solidFill>
                <a:latin typeface="Microsoft YaHei" pitchFamily="34" charset="0"/>
                <a:ea typeface="Microsoft YaHei" pitchFamily="34" charset="-122"/>
                <a:cs typeface="Microsoft YaHei" pitchFamily="34" charset="-120"/>
              </a:rPr>
              <a:t>时长</a:t>
            </a:r>
            <a:endParaRPr lang="en-US" sz="1100" dirty="0"/>
          </a:p>
        </p:txBody>
      </p:sp>
      <p:sp>
        <p:nvSpPr>
          <p:cNvPr id="40" name="Text 38"/>
          <p:cNvSpPr/>
          <p:nvPr/>
        </p:nvSpPr>
        <p:spPr>
          <a:xfrm>
            <a:off x="5867400" y="4846320"/>
            <a:ext cx="2103120" cy="274320"/>
          </a:xfrm>
          <a:prstGeom prst="rect">
            <a:avLst/>
          </a:prstGeom>
          <a:noFill/>
          <a:ln/>
        </p:spPr>
        <p:txBody>
          <a:bodyPr wrap="square" lIns="0" tIns="0" rIns="0" bIns="0" rtlCol="0" anchor="ctr"/>
          <a:lstStyle/>
          <a:p>
            <a:pPr indent="0" marL="0">
              <a:buNone/>
            </a:pPr>
            <a:r>
              <a:rPr lang="en-US" sz="1400" dirty="0">
                <a:solidFill>
                  <a:srgbClr val="081B3A"/>
                </a:solidFill>
                <a:latin typeface="Microsoft YaHei" pitchFamily="34" charset="0"/>
                <a:ea typeface="Microsoft YaHei" pitchFamily="34" charset="-122"/>
                <a:cs typeface="Microsoft YaHei" pitchFamily="34" charset="-120"/>
              </a:rPr>
              <a:t>90 分钟</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FFFFFF"/>
          </a:solidFill>
          <a:ln w="25400">
            <a:solidFill>
              <a:srgbClr val="D9E2E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领航行动指南的文件信息</a:t>
            </a:r>
            <a:endParaRPr lang="en-US" sz="3200" dirty="0"/>
          </a:p>
        </p:txBody>
      </p:sp>
      <p:sp>
        <p:nvSpPr>
          <p:cNvPr id="17" name="Text 15"/>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81B3A"/>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8" name="Shape 16"/>
          <p:cNvSpPr/>
          <p:nvPr/>
        </p:nvSpPr>
        <p:spPr>
          <a:xfrm>
            <a:off x="1295400" y="2487168"/>
            <a:ext cx="3162706" cy="786384"/>
          </a:xfrm>
          <a:prstGeom prst="roundRect">
            <a:avLst>
              <a:gd name="adj" fmla="val 10465"/>
            </a:avLst>
          </a:prstGeom>
          <a:solidFill>
            <a:srgbClr val="FFFFFF"/>
          </a:solidFill>
          <a:ln w="12700">
            <a:solidFill>
              <a:srgbClr val="D9E2EF"/>
            </a:solidFill>
            <a:prstDash val="solid"/>
          </a:ln>
        </p:spPr>
      </p:sp>
      <p:sp>
        <p:nvSpPr>
          <p:cNvPr id="19" name="Shape 17"/>
          <p:cNvSpPr/>
          <p:nvPr/>
        </p:nvSpPr>
        <p:spPr>
          <a:xfrm>
            <a:off x="1359408" y="2487168"/>
            <a:ext cx="3034690" cy="38100"/>
          </a:xfrm>
          <a:prstGeom prst="rect">
            <a:avLst/>
          </a:prstGeom>
          <a:solidFill>
            <a:srgbClr val="1D4ED8"/>
          </a:solidFill>
          <a:ln w="12700">
            <a:solidFill>
              <a:srgbClr val="1D4ED8"/>
            </a:solidFill>
            <a:prstDash val="solid"/>
          </a:ln>
        </p:spPr>
      </p:sp>
      <p:sp>
        <p:nvSpPr>
          <p:cNvPr id="20" name="Text 18"/>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文号</a:t>
            </a:r>
            <a:endParaRPr lang="en-US" sz="950" dirty="0"/>
          </a:p>
        </p:txBody>
      </p:sp>
      <p:sp>
        <p:nvSpPr>
          <p:cNvPr id="21" name="Text 19"/>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教监管厅〔2026〕1 号</a:t>
            </a:r>
            <a:endParaRPr lang="en-US" sz="1300" dirty="0"/>
          </a:p>
        </p:txBody>
      </p:sp>
      <p:sp>
        <p:nvSpPr>
          <p:cNvPr id="22" name="Shape 20"/>
          <p:cNvSpPr/>
          <p:nvPr/>
        </p:nvSpPr>
        <p:spPr>
          <a:xfrm>
            <a:off x="4704994" y="2487168"/>
            <a:ext cx="3162706" cy="786384"/>
          </a:xfrm>
          <a:prstGeom prst="roundRect">
            <a:avLst>
              <a:gd name="adj" fmla="val 10465"/>
            </a:avLst>
          </a:prstGeom>
          <a:solidFill>
            <a:srgbClr val="FFFFFF"/>
          </a:solidFill>
          <a:ln w="12700">
            <a:solidFill>
              <a:srgbClr val="D9E2EF"/>
            </a:solidFill>
            <a:prstDash val="solid"/>
          </a:ln>
        </p:spPr>
      </p:sp>
      <p:sp>
        <p:nvSpPr>
          <p:cNvPr id="23" name="Shape 21"/>
          <p:cNvSpPr/>
          <p:nvPr/>
        </p:nvSpPr>
        <p:spPr>
          <a:xfrm>
            <a:off x="4769002" y="2487168"/>
            <a:ext cx="3034690" cy="38100"/>
          </a:xfrm>
          <a:prstGeom prst="rect">
            <a:avLst/>
          </a:prstGeom>
          <a:solidFill>
            <a:srgbClr val="1D4ED8"/>
          </a:solidFill>
          <a:ln w="12700">
            <a:solidFill>
              <a:srgbClr val="1D4ED8"/>
            </a:solidFill>
            <a:prstDash val="solid"/>
          </a:ln>
        </p:spPr>
      </p:sp>
      <p:sp>
        <p:nvSpPr>
          <p:cNvPr id="24" name="Text 22"/>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印发</a:t>
            </a:r>
            <a:endParaRPr lang="en-US" sz="950" dirty="0"/>
          </a:p>
        </p:txBody>
      </p:sp>
      <p:sp>
        <p:nvSpPr>
          <p:cNvPr id="25" name="Text 23"/>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教育部办公厅</a:t>
            </a:r>
            <a:endParaRPr lang="en-US" sz="1300" dirty="0"/>
          </a:p>
        </p:txBody>
      </p:sp>
      <p:sp>
        <p:nvSpPr>
          <p:cNvPr id="26" name="Shape 24"/>
          <p:cNvSpPr/>
          <p:nvPr/>
        </p:nvSpPr>
        <p:spPr>
          <a:xfrm>
            <a:off x="8114589" y="2487168"/>
            <a:ext cx="3162706" cy="786384"/>
          </a:xfrm>
          <a:prstGeom prst="roundRect">
            <a:avLst>
              <a:gd name="adj" fmla="val 10465"/>
            </a:avLst>
          </a:prstGeom>
          <a:solidFill>
            <a:srgbClr val="FFFFFF"/>
          </a:solidFill>
          <a:ln w="12700">
            <a:solidFill>
              <a:srgbClr val="D9E2EF"/>
            </a:solidFill>
            <a:prstDash val="solid"/>
          </a:ln>
        </p:spPr>
      </p:sp>
      <p:sp>
        <p:nvSpPr>
          <p:cNvPr id="27" name="Shape 25"/>
          <p:cNvSpPr/>
          <p:nvPr/>
        </p:nvSpPr>
        <p:spPr>
          <a:xfrm>
            <a:off x="8178597" y="2487168"/>
            <a:ext cx="3034690" cy="38100"/>
          </a:xfrm>
          <a:prstGeom prst="rect">
            <a:avLst/>
          </a:prstGeom>
          <a:solidFill>
            <a:srgbClr val="1D4ED8"/>
          </a:solidFill>
          <a:ln w="12700">
            <a:solidFill>
              <a:srgbClr val="1D4ED8"/>
            </a:solidFill>
            <a:prstDash val="solid"/>
          </a:ln>
        </p:spPr>
      </p:sp>
      <p:sp>
        <p:nvSpPr>
          <p:cNvPr id="28" name="Text 26"/>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日期</a:t>
            </a:r>
            <a:endParaRPr lang="en-US" sz="950" dirty="0"/>
          </a:p>
        </p:txBody>
      </p:sp>
      <p:sp>
        <p:nvSpPr>
          <p:cNvPr id="29" name="Text 27"/>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2026 年 7 月 29 日</a:t>
            </a:r>
            <a:endParaRPr lang="en-US" sz="1300" dirty="0"/>
          </a:p>
        </p:txBody>
      </p:sp>
      <p:sp>
        <p:nvSpPr>
          <p:cNvPr id="30" name="Text 28"/>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FFFFFF"/>
          </a:solidFill>
          <a:ln w="25400">
            <a:solidFill>
              <a:srgbClr val="D9E2E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指南对学习过程的要求</a:t>
            </a:r>
            <a:endParaRPr lang="en-US" sz="3200" dirty="0"/>
          </a:p>
        </p:txBody>
      </p:sp>
      <p:sp>
        <p:nvSpPr>
          <p:cNvPr id="17" name="Shape 15"/>
          <p:cNvSpPr/>
          <p:nvPr/>
        </p:nvSpPr>
        <p:spPr>
          <a:xfrm>
            <a:off x="1295400" y="1860804"/>
            <a:ext cx="9981895" cy="1298448"/>
          </a:xfrm>
          <a:prstGeom prst="roundRect">
            <a:avLst>
              <a:gd name="adj" fmla="val 6338"/>
            </a:avLst>
          </a:prstGeom>
          <a:solidFill>
            <a:srgbClr val="FFFFFF"/>
          </a:solidFill>
          <a:ln w="12700">
            <a:solidFill>
              <a:srgbClr val="D9E2EF"/>
            </a:solidFill>
            <a:prstDash val="solid"/>
          </a:ln>
        </p:spPr>
      </p:sp>
      <p:sp>
        <p:nvSpPr>
          <p:cNvPr id="18" name="Shape 16"/>
          <p:cNvSpPr/>
          <p:nvPr/>
        </p:nvSpPr>
        <p:spPr>
          <a:xfrm>
            <a:off x="1295400" y="1915668"/>
            <a:ext cx="38100" cy="1188720"/>
          </a:xfrm>
          <a:prstGeom prst="rect">
            <a:avLst/>
          </a:prstGeom>
          <a:solidFill>
            <a:srgbClr val="2563EB"/>
          </a:solidFill>
          <a:ln w="12700">
            <a:solidFill>
              <a:srgbClr val="2563EB"/>
            </a:solidFill>
            <a:prstDash val="solid"/>
          </a:ln>
        </p:spPr>
      </p:sp>
      <p:sp>
        <p:nvSpPr>
          <p:cNvPr id="19" name="Text 17"/>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27364A"/>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20" name="Text 18"/>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1" name="Shape 19"/>
          <p:cNvSpPr/>
          <p:nvPr/>
        </p:nvSpPr>
        <p:spPr>
          <a:xfrm>
            <a:off x="1295400" y="3913632"/>
            <a:ext cx="1549349" cy="786384"/>
          </a:xfrm>
          <a:prstGeom prst="roundRect">
            <a:avLst>
              <a:gd name="adj" fmla="val 10465"/>
            </a:avLst>
          </a:prstGeom>
          <a:solidFill>
            <a:srgbClr val="FFFFFF"/>
          </a:solidFill>
          <a:ln w="12700">
            <a:solidFill>
              <a:srgbClr val="D9E2EF"/>
            </a:solidFill>
            <a:prstDash val="solid"/>
          </a:ln>
        </p:spPr>
      </p:sp>
      <p:sp>
        <p:nvSpPr>
          <p:cNvPr id="22" name="Shape 20"/>
          <p:cNvSpPr/>
          <p:nvPr/>
        </p:nvSpPr>
        <p:spPr>
          <a:xfrm>
            <a:off x="1359408" y="3913632"/>
            <a:ext cx="1421333" cy="38100"/>
          </a:xfrm>
          <a:prstGeom prst="rect">
            <a:avLst/>
          </a:prstGeom>
          <a:solidFill>
            <a:srgbClr val="1D4ED8"/>
          </a:solidFill>
          <a:ln w="12700">
            <a:solidFill>
              <a:srgbClr val="1D4ED8"/>
            </a:solidFill>
            <a:prstDash val="solid"/>
          </a:ln>
        </p:spPr>
      </p:sp>
      <p:sp>
        <p:nvSpPr>
          <p:cNvPr id="23" name="Text 21"/>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一</a:t>
            </a:r>
            <a:endParaRPr lang="en-US" sz="950" dirty="0"/>
          </a:p>
        </p:txBody>
      </p:sp>
      <p:sp>
        <p:nvSpPr>
          <p:cNvPr id="24" name="Text 22"/>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提出问题和假设</a:t>
            </a:r>
            <a:endParaRPr lang="en-US" sz="1150" dirty="0"/>
          </a:p>
        </p:txBody>
      </p:sp>
      <p:sp>
        <p:nvSpPr>
          <p:cNvPr id="25" name="Shape 23"/>
          <p:cNvSpPr/>
          <p:nvPr/>
        </p:nvSpPr>
        <p:spPr>
          <a:xfrm>
            <a:off x="2981909" y="3913632"/>
            <a:ext cx="1549349" cy="786384"/>
          </a:xfrm>
          <a:prstGeom prst="roundRect">
            <a:avLst>
              <a:gd name="adj" fmla="val 10465"/>
            </a:avLst>
          </a:prstGeom>
          <a:solidFill>
            <a:srgbClr val="FFFFFF"/>
          </a:solidFill>
          <a:ln w="12700">
            <a:solidFill>
              <a:srgbClr val="D9E2EF"/>
            </a:solidFill>
            <a:prstDash val="solid"/>
          </a:ln>
        </p:spPr>
      </p:sp>
      <p:sp>
        <p:nvSpPr>
          <p:cNvPr id="26" name="Shape 24"/>
          <p:cNvSpPr/>
          <p:nvPr/>
        </p:nvSpPr>
        <p:spPr>
          <a:xfrm>
            <a:off x="3045917" y="3913632"/>
            <a:ext cx="1421333" cy="38100"/>
          </a:xfrm>
          <a:prstGeom prst="rect">
            <a:avLst/>
          </a:prstGeom>
          <a:solidFill>
            <a:srgbClr val="1D4ED8"/>
          </a:solidFill>
          <a:ln w="12700">
            <a:solidFill>
              <a:srgbClr val="1D4ED8"/>
            </a:solidFill>
            <a:prstDash val="solid"/>
          </a:ln>
        </p:spPr>
      </p:sp>
      <p:sp>
        <p:nvSpPr>
          <p:cNvPr id="27" name="Text 25"/>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二</a:t>
            </a:r>
            <a:endParaRPr lang="en-US" sz="950" dirty="0"/>
          </a:p>
        </p:txBody>
      </p:sp>
      <p:sp>
        <p:nvSpPr>
          <p:cNvPr id="28" name="Text 26"/>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设计方案</a:t>
            </a:r>
            <a:endParaRPr lang="en-US" sz="1150" dirty="0"/>
          </a:p>
        </p:txBody>
      </p:sp>
      <p:sp>
        <p:nvSpPr>
          <p:cNvPr id="29" name="Shape 27"/>
          <p:cNvSpPr/>
          <p:nvPr/>
        </p:nvSpPr>
        <p:spPr>
          <a:xfrm>
            <a:off x="4668418" y="3913632"/>
            <a:ext cx="1549349" cy="786384"/>
          </a:xfrm>
          <a:prstGeom prst="roundRect">
            <a:avLst>
              <a:gd name="adj" fmla="val 10465"/>
            </a:avLst>
          </a:prstGeom>
          <a:solidFill>
            <a:srgbClr val="FFFFFF"/>
          </a:solidFill>
          <a:ln w="12700">
            <a:solidFill>
              <a:srgbClr val="D9E2EF"/>
            </a:solidFill>
            <a:prstDash val="solid"/>
          </a:ln>
        </p:spPr>
      </p:sp>
      <p:sp>
        <p:nvSpPr>
          <p:cNvPr id="30" name="Shape 28"/>
          <p:cNvSpPr/>
          <p:nvPr/>
        </p:nvSpPr>
        <p:spPr>
          <a:xfrm>
            <a:off x="4732426" y="3913632"/>
            <a:ext cx="1421333" cy="38100"/>
          </a:xfrm>
          <a:prstGeom prst="rect">
            <a:avLst/>
          </a:prstGeom>
          <a:solidFill>
            <a:srgbClr val="1D4ED8"/>
          </a:solidFill>
          <a:ln w="12700">
            <a:solidFill>
              <a:srgbClr val="1D4ED8"/>
            </a:solidFill>
            <a:prstDash val="solid"/>
          </a:ln>
        </p:spPr>
      </p:sp>
      <p:sp>
        <p:nvSpPr>
          <p:cNvPr id="31" name="Text 29"/>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三</a:t>
            </a:r>
            <a:endParaRPr lang="en-US" sz="950" dirty="0"/>
          </a:p>
        </p:txBody>
      </p:sp>
      <p:sp>
        <p:nvSpPr>
          <p:cNvPr id="32" name="Text 30"/>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搜集分析证据</a:t>
            </a:r>
            <a:endParaRPr lang="en-US" sz="1150" dirty="0"/>
          </a:p>
        </p:txBody>
      </p:sp>
      <p:sp>
        <p:nvSpPr>
          <p:cNvPr id="33" name="Shape 31"/>
          <p:cNvSpPr/>
          <p:nvPr/>
        </p:nvSpPr>
        <p:spPr>
          <a:xfrm>
            <a:off x="6354928" y="3913632"/>
            <a:ext cx="1549349" cy="786384"/>
          </a:xfrm>
          <a:prstGeom prst="roundRect">
            <a:avLst>
              <a:gd name="adj" fmla="val 10465"/>
            </a:avLst>
          </a:prstGeom>
          <a:solidFill>
            <a:srgbClr val="FFFFFF"/>
          </a:solidFill>
          <a:ln w="12700">
            <a:solidFill>
              <a:srgbClr val="D9E2EF"/>
            </a:solidFill>
            <a:prstDash val="solid"/>
          </a:ln>
        </p:spPr>
      </p:sp>
      <p:sp>
        <p:nvSpPr>
          <p:cNvPr id="34" name="Shape 32"/>
          <p:cNvSpPr/>
          <p:nvPr/>
        </p:nvSpPr>
        <p:spPr>
          <a:xfrm>
            <a:off x="6418936" y="3913632"/>
            <a:ext cx="1421333" cy="38100"/>
          </a:xfrm>
          <a:prstGeom prst="rect">
            <a:avLst/>
          </a:prstGeom>
          <a:solidFill>
            <a:srgbClr val="1D4ED8"/>
          </a:solidFill>
          <a:ln w="12700">
            <a:solidFill>
              <a:srgbClr val="1D4ED8"/>
            </a:solidFill>
            <a:prstDash val="solid"/>
          </a:ln>
        </p:spPr>
      </p:sp>
      <p:sp>
        <p:nvSpPr>
          <p:cNvPr id="35" name="Text 33"/>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四</a:t>
            </a:r>
            <a:endParaRPr lang="en-US" sz="950" dirty="0"/>
          </a:p>
        </p:txBody>
      </p:sp>
      <p:sp>
        <p:nvSpPr>
          <p:cNvPr id="36" name="Text 34"/>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得出结论并解释</a:t>
            </a:r>
            <a:endParaRPr lang="en-US" sz="1150" dirty="0"/>
          </a:p>
        </p:txBody>
      </p:sp>
      <p:sp>
        <p:nvSpPr>
          <p:cNvPr id="37" name="Shape 35"/>
          <p:cNvSpPr/>
          <p:nvPr/>
        </p:nvSpPr>
        <p:spPr>
          <a:xfrm>
            <a:off x="8041437" y="3913632"/>
            <a:ext cx="1549349" cy="786384"/>
          </a:xfrm>
          <a:prstGeom prst="roundRect">
            <a:avLst>
              <a:gd name="adj" fmla="val 10465"/>
            </a:avLst>
          </a:prstGeom>
          <a:solidFill>
            <a:srgbClr val="FFFFFF"/>
          </a:solidFill>
          <a:ln w="12700">
            <a:solidFill>
              <a:srgbClr val="D9E2EF"/>
            </a:solidFill>
            <a:prstDash val="solid"/>
          </a:ln>
        </p:spPr>
      </p:sp>
      <p:sp>
        <p:nvSpPr>
          <p:cNvPr id="38" name="Shape 36"/>
          <p:cNvSpPr/>
          <p:nvPr/>
        </p:nvSpPr>
        <p:spPr>
          <a:xfrm>
            <a:off x="8105445" y="3913632"/>
            <a:ext cx="1421333" cy="38100"/>
          </a:xfrm>
          <a:prstGeom prst="rect">
            <a:avLst/>
          </a:prstGeom>
          <a:solidFill>
            <a:srgbClr val="1D4ED8"/>
          </a:solidFill>
          <a:ln w="12700">
            <a:solidFill>
              <a:srgbClr val="1D4ED8"/>
            </a:solidFill>
            <a:prstDash val="solid"/>
          </a:ln>
        </p:spPr>
      </p:sp>
      <p:sp>
        <p:nvSpPr>
          <p:cNvPr id="39" name="Text 37"/>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五</a:t>
            </a:r>
            <a:endParaRPr lang="en-US" sz="950" dirty="0"/>
          </a:p>
        </p:txBody>
      </p:sp>
      <p:sp>
        <p:nvSpPr>
          <p:cNvPr id="40" name="Text 38"/>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制作改进</a:t>
            </a:r>
            <a:endParaRPr lang="en-US" sz="1150" dirty="0"/>
          </a:p>
        </p:txBody>
      </p:sp>
      <p:sp>
        <p:nvSpPr>
          <p:cNvPr id="41" name="Shape 39"/>
          <p:cNvSpPr/>
          <p:nvPr/>
        </p:nvSpPr>
        <p:spPr>
          <a:xfrm>
            <a:off x="9727946" y="3913632"/>
            <a:ext cx="1549349" cy="786384"/>
          </a:xfrm>
          <a:prstGeom prst="roundRect">
            <a:avLst>
              <a:gd name="adj" fmla="val 10465"/>
            </a:avLst>
          </a:prstGeom>
          <a:solidFill>
            <a:srgbClr val="FFFFFF"/>
          </a:solidFill>
          <a:ln w="12700">
            <a:solidFill>
              <a:srgbClr val="D9E2EF"/>
            </a:solidFill>
            <a:prstDash val="solid"/>
          </a:ln>
        </p:spPr>
      </p:sp>
      <p:sp>
        <p:nvSpPr>
          <p:cNvPr id="42" name="Shape 40"/>
          <p:cNvSpPr/>
          <p:nvPr/>
        </p:nvSpPr>
        <p:spPr>
          <a:xfrm>
            <a:off x="9791954" y="3913632"/>
            <a:ext cx="1421333" cy="38100"/>
          </a:xfrm>
          <a:prstGeom prst="rect">
            <a:avLst/>
          </a:prstGeom>
          <a:solidFill>
            <a:srgbClr val="1D4ED8"/>
          </a:solidFill>
          <a:ln w="12700">
            <a:solidFill>
              <a:srgbClr val="1D4ED8"/>
            </a:solidFill>
            <a:prstDash val="solid"/>
          </a:ln>
        </p:spPr>
      </p:sp>
      <p:sp>
        <p:nvSpPr>
          <p:cNvPr id="43" name="Text 41"/>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六</a:t>
            </a:r>
            <a:endParaRPr lang="en-US" sz="950" dirty="0"/>
          </a:p>
        </p:txBody>
      </p:sp>
      <p:sp>
        <p:nvSpPr>
          <p:cNvPr id="44" name="Text 42"/>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交流反思</a:t>
            </a:r>
            <a:endParaRPr lang="en-US" sz="1150" dirty="0"/>
          </a:p>
        </p:txBody>
      </p:sp>
      <p:sp>
        <p:nvSpPr>
          <p:cNvPr id="45" name="Shape 43"/>
          <p:cNvSpPr/>
          <p:nvPr/>
        </p:nvSpPr>
        <p:spPr>
          <a:xfrm>
            <a:off x="1295400" y="5888736"/>
            <a:ext cx="9981895" cy="0"/>
          </a:xfrm>
          <a:prstGeom prst="line">
            <a:avLst/>
          </a:prstGeom>
          <a:noFill/>
          <a:ln w="12700">
            <a:solidFill>
              <a:srgbClr val="D9E2EF"/>
            </a:solidFill>
            <a:prstDash val="solid"/>
          </a:ln>
        </p:spPr>
      </p:sp>
      <p:sp>
        <p:nvSpPr>
          <p:cNvPr id="46" name="Text 4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四项培养目标</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D9E2EF"/>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价值体认</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D9E2EF"/>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责任担当</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D9E2EF"/>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问题解决</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D9E2EF"/>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创意物化</a:t>
            </a:r>
            <a:endParaRPr lang="en-US" sz="1400" dirty="0"/>
          </a:p>
        </p:txBody>
      </p:sp>
      <p:sp>
        <p:nvSpPr>
          <p:cNvPr id="26" name="Text 24"/>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四种活动方式</a:t>
            </a:r>
            <a:endParaRPr lang="en-US" sz="950" dirty="0"/>
          </a:p>
        </p:txBody>
      </p:sp>
      <p:sp>
        <p:nvSpPr>
          <p:cNvPr id="27" name="Shape 25"/>
          <p:cNvSpPr/>
          <p:nvPr/>
        </p:nvSpPr>
        <p:spPr>
          <a:xfrm>
            <a:off x="6514948" y="2171700"/>
            <a:ext cx="4762348" cy="402336"/>
          </a:xfrm>
          <a:prstGeom prst="roundRect">
            <a:avLst>
              <a:gd name="adj" fmla="val 15909"/>
            </a:avLst>
          </a:prstGeom>
          <a:solidFill>
            <a:srgbClr val="FFFFFF"/>
          </a:solidFill>
          <a:ln w="12700">
            <a:solidFill>
              <a:srgbClr val="D9E2EF"/>
            </a:solidFill>
            <a:prstDash val="solid"/>
          </a:ln>
        </p:spPr>
      </p:sp>
      <p:sp>
        <p:nvSpPr>
          <p:cNvPr id="28" name="Text 26"/>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考察探究</a:t>
            </a:r>
            <a:endParaRPr lang="en-US" sz="1400" dirty="0"/>
          </a:p>
        </p:txBody>
      </p:sp>
      <p:sp>
        <p:nvSpPr>
          <p:cNvPr id="29" name="Shape 27"/>
          <p:cNvSpPr/>
          <p:nvPr/>
        </p:nvSpPr>
        <p:spPr>
          <a:xfrm>
            <a:off x="6514948" y="2656332"/>
            <a:ext cx="4762348" cy="402336"/>
          </a:xfrm>
          <a:prstGeom prst="roundRect">
            <a:avLst>
              <a:gd name="adj" fmla="val 15909"/>
            </a:avLst>
          </a:prstGeom>
          <a:solidFill>
            <a:srgbClr val="FFFFFF"/>
          </a:solidFill>
          <a:ln w="12700">
            <a:solidFill>
              <a:srgbClr val="D9E2EF"/>
            </a:solidFill>
            <a:prstDash val="solid"/>
          </a:ln>
        </p:spPr>
      </p:sp>
      <p:sp>
        <p:nvSpPr>
          <p:cNvPr id="30" name="Text 28"/>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社会服务</a:t>
            </a:r>
            <a:endParaRPr lang="en-US" sz="1400" dirty="0"/>
          </a:p>
        </p:txBody>
      </p:sp>
      <p:sp>
        <p:nvSpPr>
          <p:cNvPr id="31" name="Shape 29"/>
          <p:cNvSpPr/>
          <p:nvPr/>
        </p:nvSpPr>
        <p:spPr>
          <a:xfrm>
            <a:off x="6514948" y="3140964"/>
            <a:ext cx="4762348" cy="402336"/>
          </a:xfrm>
          <a:prstGeom prst="roundRect">
            <a:avLst>
              <a:gd name="adj" fmla="val 15909"/>
            </a:avLst>
          </a:prstGeom>
          <a:solidFill>
            <a:srgbClr val="FFFFFF"/>
          </a:solidFill>
          <a:ln w="12700">
            <a:solidFill>
              <a:srgbClr val="D9E2EF"/>
            </a:solidFill>
            <a:prstDash val="solid"/>
          </a:ln>
        </p:spPr>
      </p:sp>
      <p:sp>
        <p:nvSpPr>
          <p:cNvPr id="32" name="Text 30"/>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设计制作</a:t>
            </a:r>
            <a:endParaRPr lang="en-US" sz="1400" dirty="0"/>
          </a:p>
        </p:txBody>
      </p:sp>
      <p:sp>
        <p:nvSpPr>
          <p:cNvPr id="33" name="Shape 31"/>
          <p:cNvSpPr/>
          <p:nvPr/>
        </p:nvSpPr>
        <p:spPr>
          <a:xfrm>
            <a:off x="6514948" y="3625596"/>
            <a:ext cx="4762348" cy="402336"/>
          </a:xfrm>
          <a:prstGeom prst="roundRect">
            <a:avLst>
              <a:gd name="adj" fmla="val 15909"/>
            </a:avLst>
          </a:prstGeom>
          <a:solidFill>
            <a:srgbClr val="FFFFFF"/>
          </a:solidFill>
          <a:ln w="12700">
            <a:solidFill>
              <a:srgbClr val="D9E2EF"/>
            </a:solidFill>
            <a:prstDash val="solid"/>
          </a:ln>
        </p:spPr>
      </p:sp>
      <p:sp>
        <p:nvSpPr>
          <p:cNvPr id="34" name="Text 32"/>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职业体验</a:t>
            </a:r>
            <a:endParaRPr lang="en-US" sz="1400" dirty="0"/>
          </a:p>
        </p:txBody>
      </p:sp>
      <p:sp>
        <p:nvSpPr>
          <p:cNvPr id="35" name="Text 33"/>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六个环节</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D9E2EF"/>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提出问题和假设</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D9E2EF"/>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设计方案</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D9E2EF"/>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搜集分析证据</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D9E2EF"/>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得出结论并解释</a:t>
            </a:r>
            <a:endParaRPr lang="en-US" sz="1400" dirty="0"/>
          </a:p>
        </p:txBody>
      </p:sp>
      <p:sp>
        <p:nvSpPr>
          <p:cNvPr id="26" name="Shape 24"/>
          <p:cNvSpPr/>
          <p:nvPr/>
        </p:nvSpPr>
        <p:spPr>
          <a:xfrm>
            <a:off x="1295400" y="4110228"/>
            <a:ext cx="4762348" cy="402336"/>
          </a:xfrm>
          <a:prstGeom prst="roundRect">
            <a:avLst>
              <a:gd name="adj" fmla="val 15909"/>
            </a:avLst>
          </a:prstGeom>
          <a:solidFill>
            <a:srgbClr val="FFFFFF"/>
          </a:solidFill>
          <a:ln w="12700">
            <a:solidFill>
              <a:srgbClr val="D9E2EF"/>
            </a:solidFill>
            <a:prstDash val="solid"/>
          </a:ln>
        </p:spPr>
      </p:sp>
      <p:sp>
        <p:nvSpPr>
          <p:cNvPr id="27" name="Text 25"/>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制作改进</a:t>
            </a:r>
            <a:endParaRPr lang="en-US" sz="1400" dirty="0"/>
          </a:p>
        </p:txBody>
      </p:sp>
      <p:sp>
        <p:nvSpPr>
          <p:cNvPr id="28" name="Shape 26"/>
          <p:cNvSpPr/>
          <p:nvPr/>
        </p:nvSpPr>
        <p:spPr>
          <a:xfrm>
            <a:off x="1295400" y="4594860"/>
            <a:ext cx="4762348" cy="402336"/>
          </a:xfrm>
          <a:prstGeom prst="roundRect">
            <a:avLst>
              <a:gd name="adj" fmla="val 15909"/>
            </a:avLst>
          </a:prstGeom>
          <a:solidFill>
            <a:srgbClr val="FFFFFF"/>
          </a:solidFill>
          <a:ln w="12700">
            <a:solidFill>
              <a:srgbClr val="D9E2EF"/>
            </a:solidFill>
            <a:prstDash val="solid"/>
          </a:ln>
        </p:spPr>
      </p:sp>
      <p:sp>
        <p:nvSpPr>
          <p:cNvPr id="29" name="Text 27"/>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交流反思</a:t>
            </a:r>
            <a:endParaRPr lang="en-US" sz="1400" dirty="0"/>
          </a:p>
        </p:txBody>
      </p:sp>
      <p:sp>
        <p:nvSpPr>
          <p:cNvPr id="30" name="Text 28"/>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四个评价维度</a:t>
            </a:r>
            <a:endParaRPr lang="en-US" sz="950" dirty="0"/>
          </a:p>
        </p:txBody>
      </p:sp>
      <p:sp>
        <p:nvSpPr>
          <p:cNvPr id="31" name="Shape 29"/>
          <p:cNvSpPr/>
          <p:nvPr/>
        </p:nvSpPr>
        <p:spPr>
          <a:xfrm>
            <a:off x="6514948" y="2171700"/>
            <a:ext cx="4762348" cy="402336"/>
          </a:xfrm>
          <a:prstGeom prst="roundRect">
            <a:avLst>
              <a:gd name="adj" fmla="val 15909"/>
            </a:avLst>
          </a:prstGeom>
          <a:solidFill>
            <a:srgbClr val="FFFFFF"/>
          </a:solidFill>
          <a:ln w="12700">
            <a:solidFill>
              <a:srgbClr val="D9E2EF"/>
            </a:solidFill>
            <a:prstDash val="solid"/>
          </a:ln>
        </p:spPr>
      </p:sp>
      <p:sp>
        <p:nvSpPr>
          <p:cNvPr id="32" name="Text 30"/>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问题意识</a:t>
            </a:r>
            <a:endParaRPr lang="en-US" sz="1400" dirty="0"/>
          </a:p>
        </p:txBody>
      </p:sp>
      <p:sp>
        <p:nvSpPr>
          <p:cNvPr id="33" name="Shape 31"/>
          <p:cNvSpPr/>
          <p:nvPr/>
        </p:nvSpPr>
        <p:spPr>
          <a:xfrm>
            <a:off x="6514948" y="2656332"/>
            <a:ext cx="4762348" cy="402336"/>
          </a:xfrm>
          <a:prstGeom prst="roundRect">
            <a:avLst>
              <a:gd name="adj" fmla="val 15909"/>
            </a:avLst>
          </a:prstGeom>
          <a:solidFill>
            <a:srgbClr val="FFFFFF"/>
          </a:solidFill>
          <a:ln w="12700">
            <a:solidFill>
              <a:srgbClr val="D9E2EF"/>
            </a:solidFill>
            <a:prstDash val="solid"/>
          </a:ln>
        </p:spPr>
      </p:sp>
      <p:sp>
        <p:nvSpPr>
          <p:cNvPr id="34" name="Text 32"/>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探究实践能力</a:t>
            </a:r>
            <a:endParaRPr lang="en-US" sz="1400" dirty="0"/>
          </a:p>
        </p:txBody>
      </p:sp>
      <p:sp>
        <p:nvSpPr>
          <p:cNvPr id="35" name="Shape 33"/>
          <p:cNvSpPr/>
          <p:nvPr/>
        </p:nvSpPr>
        <p:spPr>
          <a:xfrm>
            <a:off x="6514948" y="3140964"/>
            <a:ext cx="4762348" cy="402336"/>
          </a:xfrm>
          <a:prstGeom prst="roundRect">
            <a:avLst>
              <a:gd name="adj" fmla="val 15909"/>
            </a:avLst>
          </a:prstGeom>
          <a:solidFill>
            <a:srgbClr val="FFFFFF"/>
          </a:solidFill>
          <a:ln w="12700">
            <a:solidFill>
              <a:srgbClr val="D9E2EF"/>
            </a:solidFill>
            <a:prstDash val="solid"/>
          </a:ln>
        </p:spPr>
      </p:sp>
      <p:sp>
        <p:nvSpPr>
          <p:cNvPr id="36" name="Text 34"/>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反思改进能力</a:t>
            </a:r>
            <a:endParaRPr lang="en-US" sz="1400" dirty="0"/>
          </a:p>
        </p:txBody>
      </p:sp>
      <p:sp>
        <p:nvSpPr>
          <p:cNvPr id="37" name="Shape 35"/>
          <p:cNvSpPr/>
          <p:nvPr/>
        </p:nvSpPr>
        <p:spPr>
          <a:xfrm>
            <a:off x="6514948" y="3625596"/>
            <a:ext cx="4762348" cy="402336"/>
          </a:xfrm>
          <a:prstGeom prst="roundRect">
            <a:avLst>
              <a:gd name="adj" fmla="val 15909"/>
            </a:avLst>
          </a:prstGeom>
          <a:solidFill>
            <a:srgbClr val="FFFFFF"/>
          </a:solidFill>
          <a:ln w="12700">
            <a:solidFill>
              <a:srgbClr val="D9E2EF"/>
            </a:solidFill>
            <a:prstDash val="solid"/>
          </a:ln>
        </p:spPr>
      </p:sp>
      <p:sp>
        <p:nvSpPr>
          <p:cNvPr id="38" name="Text 36"/>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合作交流能力</a:t>
            </a:r>
            <a:endParaRPr lang="en-US" sz="1400" dirty="0"/>
          </a:p>
        </p:txBody>
      </p:sp>
      <p:sp>
        <p:nvSpPr>
          <p:cNvPr id="39" name="Text 37"/>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做中学对综合实践活动的覆盖关系</a:t>
            </a:r>
            <a:endParaRPr lang="en-US" sz="3200" dirty="0"/>
          </a:p>
        </p:txBody>
      </p:sp>
      <p:pic>
        <p:nvPicPr>
          <p:cNvPr id="17" name="Image 0" descr="/home/user/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本场主张</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81B3A"/>
                </a:solidFill>
                <a:latin typeface="Microsoft YaHei" pitchFamily="34" charset="0"/>
                <a:ea typeface="Microsoft YaHei" pitchFamily="34" charset="-122"/>
                <a:cs typeface="Microsoft YaHei" pitchFamily="34" charset="-120"/>
              </a:rPr>
              <a:t>生成式 AI 并非解决本课程既有问题的工具，而是一个同时放大两端的变量。本课程既有的实施问题，恰是 AI 最容易加剧的部分；既有的教师负担，恰是 AI 最容易减轻的部分。</a:t>
            </a:r>
            <a:endParaRPr lang="en-US" sz="2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四种活动方式受生成式 AI 影响的程度</a:t>
            </a:r>
            <a:endParaRPr lang="en-US" sz="3200" dirty="0"/>
          </a:p>
        </p:txBody>
      </p:sp>
      <p:pic>
        <p:nvPicPr>
          <p:cNvPr id="17" name="Image 0" descr="/home/user/slides/comprehensive-practice-ai/figures/impact.png">    </p:cNvPr>
          <p:cNvPicPr>
            <a:picLocks noChangeAspect="1"/>
          </p:cNvPicPr>
          <p:nvPr/>
        </p:nvPicPr>
        <p:blipFill>
          <a:blip r:embed="rId1"/>
          <a:stretch>
            <a:fillRect/>
          </a:stretch>
        </p:blipFill>
        <p:spPr>
          <a:xfrm>
            <a:off x="1778257" y="2080260"/>
            <a:ext cx="9016181" cy="3200400"/>
          </a:xfrm>
          <a:prstGeom prst="rect">
            <a:avLst/>
          </a:prstGeom>
        </p:spPr>
      </p:pic>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覆盖缺口与影响强度的交集</a:t>
            </a:r>
            <a:endParaRPr lang="en-US" sz="3200" dirty="0"/>
          </a:p>
        </p:txBody>
      </p:sp>
      <p:pic>
        <p:nvPicPr>
          <p:cNvPr id="17" name="Image 0" descr="/home/user/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8" name="Text 15"/>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27364A"/>
                </a:solidFill>
                <a:latin typeface="Microsoft YaHei" pitchFamily="34" charset="0"/>
                <a:ea typeface="Microsoft YaHei" pitchFamily="34" charset="-122"/>
                <a:cs typeface="Microsoft YaHei" pitchFamily="34" charset="-120"/>
              </a:rPr>
              <a:t>做中学未覆盖的两种活动方式，正是受生成式 AI 影响最轻的两种。</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被覆盖部分的教学压力</a:t>
            </a:r>
            <a:endParaRPr lang="en-US" sz="3200" dirty="0"/>
          </a:p>
        </p:txBody>
      </p:sp>
      <p:sp>
        <p:nvSpPr>
          <p:cNvPr id="17" name="Text 15"/>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1</a:t>
            </a:r>
            <a:endParaRPr lang="en-US" sz="1500" dirty="0"/>
          </a:p>
        </p:txBody>
      </p:sp>
      <p:sp>
        <p:nvSpPr>
          <p:cNvPr id="18" name="Text 16"/>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被覆盖的一半仍须教学，且是当前政策加压的一半。</a:t>
            </a:r>
            <a:endParaRPr lang="en-US" sz="1600" dirty="0"/>
          </a:p>
        </p:txBody>
      </p:sp>
      <p:sp>
        <p:nvSpPr>
          <p:cNvPr id="19" name="Text 17"/>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2</a:t>
            </a:r>
            <a:endParaRPr lang="en-US" sz="1500" dirty="0"/>
          </a:p>
        </p:txBody>
      </p:sp>
      <p:sp>
        <p:nvSpPr>
          <p:cNvPr id="20" name="Text 18"/>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任务周期紧张时，教师的本能是借助 AI 加速耗时的环节。</a:t>
            </a:r>
            <a:endParaRPr lang="en-US" sz="1600" dirty="0"/>
          </a:p>
        </p:txBody>
      </p:sp>
      <p:sp>
        <p:nvSpPr>
          <p:cNvPr id="21" name="Text 19"/>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3</a:t>
            </a:r>
            <a:endParaRPr lang="en-US" sz="1500" dirty="0"/>
          </a:p>
        </p:txBody>
      </p:sp>
      <p:sp>
        <p:nvSpPr>
          <p:cNvPr id="22" name="Text 20"/>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于是加速的对象与教学的对象重合。这一重合是第三段要处理的问题。</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课程实施的六类既有问题</a:t>
            </a:r>
            <a:endParaRPr lang="en-US" sz="3200" dirty="0"/>
          </a:p>
        </p:txBody>
      </p:sp>
      <p:sp>
        <p:nvSpPr>
          <p:cNvPr id="17" name="Shape 15"/>
          <p:cNvSpPr/>
          <p:nvPr/>
        </p:nvSpPr>
        <p:spPr>
          <a:xfrm>
            <a:off x="1295400" y="2286000"/>
            <a:ext cx="4798924" cy="530352"/>
          </a:xfrm>
          <a:prstGeom prst="roundRect">
            <a:avLst>
              <a:gd name="adj" fmla="val 12069"/>
            </a:avLst>
          </a:prstGeom>
          <a:solidFill>
            <a:srgbClr val="FFFFFF"/>
          </a:solidFill>
          <a:ln w="12700">
            <a:solidFill>
              <a:srgbClr val="D9E2EF"/>
            </a:solidFill>
            <a:prstDash val="solid"/>
          </a:ln>
        </p:spPr>
      </p:sp>
      <p:sp>
        <p:nvSpPr>
          <p:cNvPr id="18" name="Text 16"/>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01</a:t>
            </a:r>
            <a:endParaRPr lang="en-US" sz="1200" dirty="0"/>
          </a:p>
        </p:txBody>
      </p:sp>
      <p:sp>
        <p:nvSpPr>
          <p:cNvPr id="19" name="Text 17"/>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课时被挤占</a:t>
            </a:r>
            <a:endParaRPr lang="en-US" sz="1450" dirty="0"/>
          </a:p>
        </p:txBody>
      </p:sp>
      <p:sp>
        <p:nvSpPr>
          <p:cNvPr id="20" name="Shape 18"/>
          <p:cNvSpPr/>
          <p:nvPr/>
        </p:nvSpPr>
        <p:spPr>
          <a:xfrm>
            <a:off x="6478372" y="2286000"/>
            <a:ext cx="4798924" cy="530352"/>
          </a:xfrm>
          <a:prstGeom prst="roundRect">
            <a:avLst>
              <a:gd name="adj" fmla="val 12069"/>
            </a:avLst>
          </a:prstGeom>
          <a:solidFill>
            <a:srgbClr val="FFFFFF"/>
          </a:solidFill>
          <a:ln w="12700">
            <a:solidFill>
              <a:srgbClr val="D9E2EF"/>
            </a:solidFill>
            <a:prstDash val="solid"/>
          </a:ln>
        </p:spPr>
      </p:sp>
      <p:sp>
        <p:nvSpPr>
          <p:cNvPr id="21" name="Text 19"/>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02</a:t>
            </a:r>
            <a:endParaRPr lang="en-US" sz="1200" dirty="0"/>
          </a:p>
        </p:txBody>
      </p:sp>
      <p:sp>
        <p:nvSpPr>
          <p:cNvPr id="22" name="Text 20"/>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师资兼任</a:t>
            </a:r>
            <a:endParaRPr lang="en-US" sz="1450" dirty="0"/>
          </a:p>
        </p:txBody>
      </p:sp>
      <p:sp>
        <p:nvSpPr>
          <p:cNvPr id="23" name="Shape 21"/>
          <p:cNvSpPr/>
          <p:nvPr/>
        </p:nvSpPr>
        <p:spPr>
          <a:xfrm>
            <a:off x="1295400" y="2962656"/>
            <a:ext cx="4798924" cy="530352"/>
          </a:xfrm>
          <a:prstGeom prst="roundRect">
            <a:avLst>
              <a:gd name="adj" fmla="val 12069"/>
            </a:avLst>
          </a:prstGeom>
          <a:solidFill>
            <a:srgbClr val="FFFFFF"/>
          </a:solidFill>
          <a:ln w="12700">
            <a:solidFill>
              <a:srgbClr val="D9E2EF"/>
            </a:solidFill>
            <a:prstDash val="solid"/>
          </a:ln>
        </p:spPr>
      </p:sp>
      <p:sp>
        <p:nvSpPr>
          <p:cNvPr id="24" name="Text 22"/>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03</a:t>
            </a:r>
            <a:endParaRPr lang="en-US" sz="1200" dirty="0"/>
          </a:p>
        </p:txBody>
      </p:sp>
      <p:sp>
        <p:nvSpPr>
          <p:cNvPr id="25" name="Text 23"/>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6" name="Shape 24"/>
          <p:cNvSpPr/>
          <p:nvPr/>
        </p:nvSpPr>
        <p:spPr>
          <a:xfrm>
            <a:off x="6478372" y="2962656"/>
            <a:ext cx="4798924" cy="530352"/>
          </a:xfrm>
          <a:prstGeom prst="roundRect">
            <a:avLst>
              <a:gd name="adj" fmla="val 12069"/>
            </a:avLst>
          </a:prstGeom>
          <a:solidFill>
            <a:srgbClr val="FFFFFF"/>
          </a:solidFill>
          <a:ln w="12700">
            <a:solidFill>
              <a:srgbClr val="D9E2EF"/>
            </a:solidFill>
            <a:prstDash val="solid"/>
          </a:ln>
        </p:spPr>
      </p:sp>
      <p:sp>
        <p:nvSpPr>
          <p:cNvPr id="27" name="Text 25"/>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04</a:t>
            </a:r>
            <a:endParaRPr lang="en-US" sz="1200" dirty="0"/>
          </a:p>
        </p:txBody>
      </p:sp>
      <p:sp>
        <p:nvSpPr>
          <p:cNvPr id="28" name="Text 26"/>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研学只旅不学</a:t>
            </a:r>
            <a:endParaRPr lang="en-US" sz="1450" dirty="0"/>
          </a:p>
        </p:txBody>
      </p:sp>
      <p:sp>
        <p:nvSpPr>
          <p:cNvPr id="29" name="Shape 27"/>
          <p:cNvSpPr/>
          <p:nvPr/>
        </p:nvSpPr>
        <p:spPr>
          <a:xfrm>
            <a:off x="1295400" y="3639312"/>
            <a:ext cx="4798924" cy="530352"/>
          </a:xfrm>
          <a:prstGeom prst="roundRect">
            <a:avLst>
              <a:gd name="adj" fmla="val 12069"/>
            </a:avLst>
          </a:prstGeom>
          <a:solidFill>
            <a:srgbClr val="FFFFFF"/>
          </a:solidFill>
          <a:ln w="12700">
            <a:solidFill>
              <a:srgbClr val="D9E2EF"/>
            </a:solidFill>
            <a:prstDash val="solid"/>
          </a:ln>
        </p:spPr>
      </p:sp>
      <p:sp>
        <p:nvSpPr>
          <p:cNvPr id="30" name="Text 28"/>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05</a:t>
            </a:r>
            <a:endParaRPr lang="en-US" sz="1200" dirty="0"/>
          </a:p>
        </p:txBody>
      </p:sp>
      <p:sp>
        <p:nvSpPr>
          <p:cNvPr id="31" name="Text 29"/>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2" name="Shape 30"/>
          <p:cNvSpPr/>
          <p:nvPr/>
        </p:nvSpPr>
        <p:spPr>
          <a:xfrm>
            <a:off x="6478372" y="3639312"/>
            <a:ext cx="4798924" cy="530352"/>
          </a:xfrm>
          <a:prstGeom prst="roundRect">
            <a:avLst>
              <a:gd name="adj" fmla="val 12069"/>
            </a:avLst>
          </a:prstGeom>
          <a:solidFill>
            <a:srgbClr val="FFFFFF"/>
          </a:solidFill>
          <a:ln w="12700">
            <a:solidFill>
              <a:srgbClr val="D9E2EF"/>
            </a:solidFill>
            <a:prstDash val="solid"/>
          </a:ln>
        </p:spPr>
      </p:sp>
      <p:sp>
        <p:nvSpPr>
          <p:cNvPr id="33" name="Text 31"/>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06</a:t>
            </a:r>
            <a:endParaRPr lang="en-US" sz="1200" dirty="0"/>
          </a:p>
        </p:txBody>
      </p:sp>
      <p:sp>
        <p:nvSpPr>
          <p:cNvPr id="34" name="Text 32"/>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师资结构的实证依据</a:t>
            </a:r>
            <a:endParaRPr lang="en-US" sz="3200" dirty="0"/>
          </a:p>
        </p:txBody>
      </p:sp>
      <p:sp>
        <p:nvSpPr>
          <p:cNvPr id="17" name="Shape 15"/>
          <p:cNvSpPr/>
          <p:nvPr/>
        </p:nvSpPr>
        <p:spPr>
          <a:xfrm>
            <a:off x="1295400" y="1860804"/>
            <a:ext cx="9981895" cy="2148840"/>
          </a:xfrm>
          <a:prstGeom prst="roundRect">
            <a:avLst>
              <a:gd name="adj" fmla="val 3830"/>
            </a:avLst>
          </a:prstGeom>
          <a:solidFill>
            <a:srgbClr val="FFFFFF"/>
          </a:solidFill>
          <a:ln w="12700">
            <a:solidFill>
              <a:srgbClr val="D9E2EF"/>
            </a:solidFill>
            <a:prstDash val="solid"/>
          </a:ln>
        </p:spPr>
      </p:sp>
      <p:sp>
        <p:nvSpPr>
          <p:cNvPr id="18" name="Shape 16"/>
          <p:cNvSpPr/>
          <p:nvPr/>
        </p:nvSpPr>
        <p:spPr>
          <a:xfrm>
            <a:off x="1359408" y="1860804"/>
            <a:ext cx="9853879" cy="38100"/>
          </a:xfrm>
          <a:prstGeom prst="rect">
            <a:avLst/>
          </a:prstGeom>
          <a:solidFill>
            <a:srgbClr val="1D4ED8"/>
          </a:solidFill>
          <a:ln w="12700">
            <a:solidFill>
              <a:srgbClr val="1D4ED8"/>
            </a:solidFill>
            <a:prstDash val="solid"/>
          </a:ln>
        </p:spPr>
      </p:sp>
      <p:sp>
        <p:nvSpPr>
          <p:cNvPr id="19" name="Text 17"/>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师资兼任为普遍状况，兼职教师的课程实施水平显著低于专职教师。</a:t>
            </a:r>
            <a:endParaRPr lang="en-US" sz="1600" dirty="0"/>
          </a:p>
        </p:txBody>
      </p:sp>
      <p:sp>
        <p:nvSpPr>
          <p:cNvPr id="20" name="Shape 18"/>
          <p:cNvSpPr/>
          <p:nvPr/>
        </p:nvSpPr>
        <p:spPr>
          <a:xfrm>
            <a:off x="1551432" y="2519172"/>
            <a:ext cx="9469831" cy="0"/>
          </a:xfrm>
          <a:prstGeom prst="line">
            <a:avLst/>
          </a:prstGeom>
          <a:noFill/>
          <a:ln w="12700">
            <a:solidFill>
              <a:srgbClr val="D9E2EF"/>
            </a:solidFill>
            <a:prstDash val="solid"/>
          </a:ln>
        </p:spPr>
      </p:sp>
      <p:sp>
        <p:nvSpPr>
          <p:cNvPr id="21" name="Text 19"/>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样本</a:t>
            </a:r>
            <a:endParaRPr lang="en-US" sz="950" dirty="0"/>
          </a:p>
        </p:txBody>
      </p:sp>
      <p:sp>
        <p:nvSpPr>
          <p:cNvPr id="22" name="Text 20"/>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3" name="Shape 21"/>
          <p:cNvSpPr/>
          <p:nvPr/>
        </p:nvSpPr>
        <p:spPr>
          <a:xfrm>
            <a:off x="1551432" y="2866644"/>
            <a:ext cx="9469831" cy="0"/>
          </a:xfrm>
          <a:prstGeom prst="line">
            <a:avLst/>
          </a:prstGeom>
          <a:noFill/>
          <a:ln w="12700">
            <a:solidFill>
              <a:srgbClr val="D9E2EF"/>
            </a:solidFill>
            <a:prstDash val="solid"/>
          </a:ln>
        </p:spPr>
      </p:sp>
      <p:sp>
        <p:nvSpPr>
          <p:cNvPr id="24" name="Text 22"/>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构成</a:t>
            </a:r>
            <a:endParaRPr lang="en-US" sz="950" dirty="0"/>
          </a:p>
        </p:txBody>
      </p:sp>
      <p:sp>
        <p:nvSpPr>
          <p:cNvPr id="25" name="Text 23"/>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6" name="Shape 24"/>
          <p:cNvSpPr/>
          <p:nvPr/>
        </p:nvSpPr>
        <p:spPr>
          <a:xfrm>
            <a:off x="1551432" y="3214116"/>
            <a:ext cx="9469831" cy="0"/>
          </a:xfrm>
          <a:prstGeom prst="line">
            <a:avLst/>
          </a:prstGeom>
          <a:noFill/>
          <a:ln w="12700">
            <a:solidFill>
              <a:srgbClr val="D9E2EF"/>
            </a:solidFill>
            <a:prstDash val="solid"/>
          </a:ln>
        </p:spPr>
      </p:sp>
      <p:sp>
        <p:nvSpPr>
          <p:cNvPr id="27" name="Text 25"/>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差异</a:t>
            </a:r>
            <a:endParaRPr lang="en-US" sz="950" dirty="0"/>
          </a:p>
        </p:txBody>
      </p:sp>
      <p:sp>
        <p:nvSpPr>
          <p:cNvPr id="28" name="Text 26"/>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9" name="Shape 27"/>
          <p:cNvSpPr/>
          <p:nvPr/>
        </p:nvSpPr>
        <p:spPr>
          <a:xfrm>
            <a:off x="1551432" y="3561588"/>
            <a:ext cx="9469831" cy="0"/>
          </a:xfrm>
          <a:prstGeom prst="line">
            <a:avLst/>
          </a:prstGeom>
          <a:noFill/>
          <a:ln w="12700">
            <a:solidFill>
              <a:srgbClr val="D9E2EF"/>
            </a:solidFill>
            <a:prstDash val="solid"/>
          </a:ln>
        </p:spPr>
      </p:sp>
      <p:sp>
        <p:nvSpPr>
          <p:cNvPr id="30" name="Text 28"/>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分布</a:t>
            </a:r>
            <a:endParaRPr lang="en-US" sz="950" dirty="0"/>
          </a:p>
        </p:txBody>
      </p:sp>
      <p:sp>
        <p:nvSpPr>
          <p:cNvPr id="31" name="Text 29"/>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2" name="Text 30"/>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3" name="Shape 31"/>
          <p:cNvSpPr/>
          <p:nvPr/>
        </p:nvSpPr>
        <p:spPr>
          <a:xfrm>
            <a:off x="1295400" y="5888736"/>
            <a:ext cx="9981895" cy="0"/>
          </a:xfrm>
          <a:prstGeom prst="line">
            <a:avLst/>
          </a:prstGeom>
          <a:noFill/>
          <a:ln w="12700">
            <a:solidFill>
              <a:srgbClr val="D9E2EF"/>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该状况属全国范围的普遍现象，非深圳一地的问题。</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生成式 AI 对既有问题的作用方向</a:t>
            </a:r>
            <a:endParaRPr lang="en-US" sz="3200" dirty="0"/>
          </a:p>
        </p:txBody>
      </p:sp>
      <p:sp>
        <p:nvSpPr>
          <p:cNvPr id="17" name="Shape 15"/>
          <p:cNvSpPr/>
          <p:nvPr/>
        </p:nvSpPr>
        <p:spPr>
          <a:xfrm>
            <a:off x="1295400" y="1860804"/>
            <a:ext cx="3199282" cy="3200400"/>
          </a:xfrm>
          <a:prstGeom prst="roundRect">
            <a:avLst>
              <a:gd name="adj" fmla="val 2572"/>
            </a:avLst>
          </a:prstGeom>
          <a:solidFill>
            <a:srgbClr val="FFFFFF"/>
          </a:solidFill>
          <a:ln w="12700">
            <a:solidFill>
              <a:srgbClr val="D9E2EF"/>
            </a:solidFill>
            <a:prstDash val="solid"/>
          </a:ln>
        </p:spPr>
      </p:sp>
      <p:sp>
        <p:nvSpPr>
          <p:cNvPr id="18" name="Shape 16"/>
          <p:cNvSpPr/>
          <p:nvPr/>
        </p:nvSpPr>
        <p:spPr>
          <a:xfrm>
            <a:off x="1359408" y="1860804"/>
            <a:ext cx="3071266" cy="38100"/>
          </a:xfrm>
          <a:prstGeom prst="rect">
            <a:avLst/>
          </a:prstGeom>
          <a:solidFill>
            <a:srgbClr val="A8421F"/>
          </a:solidFill>
          <a:ln w="12700">
            <a:solidFill>
              <a:srgbClr val="A8421F"/>
            </a:solidFill>
            <a:prstDash val="solid"/>
          </a:ln>
        </p:spPr>
      </p:sp>
      <p:sp>
        <p:nvSpPr>
          <p:cNvPr id="19" name="Text 17"/>
          <p:cNvSpPr/>
          <p:nvPr/>
        </p:nvSpPr>
        <p:spPr>
          <a:xfrm>
            <a:off x="1496568" y="2043684"/>
            <a:ext cx="2796946" cy="310896"/>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AI 会加剧</a:t>
            </a:r>
            <a:endParaRPr lang="en-US" sz="1600" dirty="0"/>
          </a:p>
        </p:txBody>
      </p:sp>
      <p:sp>
        <p:nvSpPr>
          <p:cNvPr id="20" name="Shape 18"/>
          <p:cNvSpPr/>
          <p:nvPr/>
        </p:nvSpPr>
        <p:spPr>
          <a:xfrm>
            <a:off x="1496568" y="2427732"/>
            <a:ext cx="2796946" cy="0"/>
          </a:xfrm>
          <a:prstGeom prst="line">
            <a:avLst/>
          </a:prstGeom>
          <a:noFill/>
          <a:ln w="25400">
            <a:solidFill>
              <a:srgbClr val="A8421F"/>
            </a:solidFill>
            <a:prstDash val="solid"/>
          </a:ln>
        </p:spPr>
      </p:sp>
      <p:sp>
        <p:nvSpPr>
          <p:cNvPr id="21" name="Text 19"/>
          <p:cNvSpPr/>
          <p:nvPr/>
        </p:nvSpPr>
        <p:spPr>
          <a:xfrm>
            <a:off x="1496568"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形式化、成果拼盘</a:t>
            </a:r>
            <a:endParaRPr lang="en-US" sz="1300" dirty="0"/>
          </a:p>
        </p:txBody>
      </p:sp>
      <p:sp>
        <p:nvSpPr>
          <p:cNvPr id="22" name="Shape 20"/>
          <p:cNvSpPr/>
          <p:nvPr/>
        </p:nvSpPr>
        <p:spPr>
          <a:xfrm>
            <a:off x="1496568" y="3031236"/>
            <a:ext cx="2796946" cy="0"/>
          </a:xfrm>
          <a:prstGeom prst="line">
            <a:avLst/>
          </a:prstGeom>
          <a:noFill/>
          <a:ln w="12700">
            <a:solidFill>
              <a:srgbClr val="D9E2EF"/>
            </a:solidFill>
            <a:prstDash val="solid"/>
          </a:ln>
        </p:spPr>
      </p:sp>
      <p:sp>
        <p:nvSpPr>
          <p:cNvPr id="23" name="Text 21"/>
          <p:cNvSpPr/>
          <p:nvPr/>
        </p:nvSpPr>
        <p:spPr>
          <a:xfrm>
            <a:off x="1496568"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4" name="Shape 22"/>
          <p:cNvSpPr/>
          <p:nvPr/>
        </p:nvSpPr>
        <p:spPr>
          <a:xfrm>
            <a:off x="1496568" y="3634740"/>
            <a:ext cx="2796946" cy="0"/>
          </a:xfrm>
          <a:prstGeom prst="line">
            <a:avLst/>
          </a:prstGeom>
          <a:noFill/>
          <a:ln w="12700">
            <a:solidFill>
              <a:srgbClr val="D9E2EF"/>
            </a:solidFill>
            <a:prstDash val="solid"/>
          </a:ln>
        </p:spPr>
      </p:sp>
      <p:sp>
        <p:nvSpPr>
          <p:cNvPr id="25" name="Text 23"/>
          <p:cNvSpPr/>
          <p:nvPr/>
        </p:nvSpPr>
        <p:spPr>
          <a:xfrm>
            <a:off x="1496568"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选题雷同</a:t>
            </a:r>
            <a:endParaRPr lang="en-US" sz="1300" dirty="0"/>
          </a:p>
        </p:txBody>
      </p:sp>
      <p:sp>
        <p:nvSpPr>
          <p:cNvPr id="26" name="Shape 24"/>
          <p:cNvSpPr/>
          <p:nvPr/>
        </p:nvSpPr>
        <p:spPr>
          <a:xfrm>
            <a:off x="1496568" y="4238244"/>
            <a:ext cx="2796946" cy="0"/>
          </a:xfrm>
          <a:prstGeom prst="line">
            <a:avLst/>
          </a:prstGeom>
          <a:noFill/>
          <a:ln w="12700">
            <a:solidFill>
              <a:srgbClr val="D9E2EF"/>
            </a:solidFill>
            <a:prstDash val="solid"/>
          </a:ln>
        </p:spPr>
      </p:sp>
      <p:sp>
        <p:nvSpPr>
          <p:cNvPr id="27" name="Text 25"/>
          <p:cNvSpPr/>
          <p:nvPr/>
        </p:nvSpPr>
        <p:spPr>
          <a:xfrm>
            <a:off x="1496568"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研学只旅不学</a:t>
            </a:r>
            <a:endParaRPr lang="en-US" sz="1300" dirty="0"/>
          </a:p>
        </p:txBody>
      </p:sp>
      <p:sp>
        <p:nvSpPr>
          <p:cNvPr id="28" name="Shape 26"/>
          <p:cNvSpPr/>
          <p:nvPr/>
        </p:nvSpPr>
        <p:spPr>
          <a:xfrm>
            <a:off x="4686706" y="1860804"/>
            <a:ext cx="3199282" cy="3200400"/>
          </a:xfrm>
          <a:prstGeom prst="roundRect">
            <a:avLst>
              <a:gd name="adj" fmla="val 2572"/>
            </a:avLst>
          </a:prstGeom>
          <a:solidFill>
            <a:srgbClr val="FFFFFF"/>
          </a:solidFill>
          <a:ln w="12700">
            <a:solidFill>
              <a:srgbClr val="D9E2EF"/>
            </a:solidFill>
            <a:prstDash val="solid"/>
          </a:ln>
        </p:spPr>
      </p:sp>
      <p:sp>
        <p:nvSpPr>
          <p:cNvPr id="29" name="Shape 27"/>
          <p:cNvSpPr/>
          <p:nvPr/>
        </p:nvSpPr>
        <p:spPr>
          <a:xfrm>
            <a:off x="4750714" y="1860804"/>
            <a:ext cx="3071266" cy="38100"/>
          </a:xfrm>
          <a:prstGeom prst="rect">
            <a:avLst/>
          </a:prstGeom>
          <a:solidFill>
            <a:srgbClr val="1D4ED8"/>
          </a:solidFill>
          <a:ln w="12700">
            <a:solidFill>
              <a:srgbClr val="1D4ED8"/>
            </a:solidFill>
            <a:prstDash val="solid"/>
          </a:ln>
        </p:spPr>
      </p:sp>
      <p:sp>
        <p:nvSpPr>
          <p:cNvPr id="30" name="Text 28"/>
          <p:cNvSpPr/>
          <p:nvPr/>
        </p:nvSpPr>
        <p:spPr>
          <a:xfrm>
            <a:off x="4887874" y="2043684"/>
            <a:ext cx="2796946" cy="310896"/>
          </a:xfrm>
          <a:prstGeom prst="rect">
            <a:avLst/>
          </a:prstGeom>
          <a:noFill/>
          <a:ln/>
        </p:spPr>
        <p:txBody>
          <a:bodyPr wrap="square" lIns="0" tIns="0" rIns="0" bIns="0" rtlCol="0" anchor="ctr"/>
          <a:lstStyle/>
          <a:p>
            <a:pPr indent="0" marL="0">
              <a:buNone/>
            </a:pPr>
            <a:r>
              <a:rPr lang="en-US" sz="1600" b="1" dirty="0">
                <a:solidFill>
                  <a:srgbClr val="1D4ED8"/>
                </a:solidFill>
                <a:latin typeface="Microsoft YaHei" pitchFamily="34" charset="0"/>
                <a:ea typeface="Microsoft YaHei" pitchFamily="34" charset="-122"/>
                <a:cs typeface="Microsoft YaHei" pitchFamily="34" charset="-120"/>
              </a:rPr>
              <a:t>AI 能减轻</a:t>
            </a:r>
            <a:endParaRPr lang="en-US" sz="1600" dirty="0"/>
          </a:p>
        </p:txBody>
      </p:sp>
      <p:sp>
        <p:nvSpPr>
          <p:cNvPr id="31" name="Shape 29"/>
          <p:cNvSpPr/>
          <p:nvPr/>
        </p:nvSpPr>
        <p:spPr>
          <a:xfrm>
            <a:off x="4887874" y="2427732"/>
            <a:ext cx="2796946" cy="0"/>
          </a:xfrm>
          <a:prstGeom prst="line">
            <a:avLst/>
          </a:prstGeom>
          <a:noFill/>
          <a:ln w="25400">
            <a:solidFill>
              <a:srgbClr val="1D4ED8"/>
            </a:solidFill>
            <a:prstDash val="solid"/>
          </a:ln>
        </p:spPr>
      </p:sp>
      <p:sp>
        <p:nvSpPr>
          <p:cNvPr id="32" name="Text 30"/>
          <p:cNvSpPr/>
          <p:nvPr/>
        </p:nvSpPr>
        <p:spPr>
          <a:xfrm>
            <a:off x="4887874"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3" name="Shape 31"/>
          <p:cNvSpPr/>
          <p:nvPr/>
        </p:nvSpPr>
        <p:spPr>
          <a:xfrm>
            <a:off x="4887874" y="3031236"/>
            <a:ext cx="2796946" cy="0"/>
          </a:xfrm>
          <a:prstGeom prst="line">
            <a:avLst/>
          </a:prstGeom>
          <a:noFill/>
          <a:ln w="12700">
            <a:solidFill>
              <a:srgbClr val="D9E2EF"/>
            </a:solidFill>
            <a:prstDash val="solid"/>
          </a:ln>
        </p:spPr>
      </p:sp>
      <p:sp>
        <p:nvSpPr>
          <p:cNvPr id="34" name="Text 32"/>
          <p:cNvSpPr/>
          <p:nvPr/>
        </p:nvSpPr>
        <p:spPr>
          <a:xfrm>
            <a:off x="4887874"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5" name="Shape 33"/>
          <p:cNvSpPr/>
          <p:nvPr/>
        </p:nvSpPr>
        <p:spPr>
          <a:xfrm>
            <a:off x="4887874" y="3634740"/>
            <a:ext cx="2796946" cy="0"/>
          </a:xfrm>
          <a:prstGeom prst="line">
            <a:avLst/>
          </a:prstGeom>
          <a:noFill/>
          <a:ln w="12700">
            <a:solidFill>
              <a:srgbClr val="D9E2EF"/>
            </a:solidFill>
            <a:prstDash val="solid"/>
          </a:ln>
        </p:spPr>
      </p:sp>
      <p:sp>
        <p:nvSpPr>
          <p:cNvPr id="36" name="Text 34"/>
          <p:cNvSpPr/>
          <p:nvPr/>
        </p:nvSpPr>
        <p:spPr>
          <a:xfrm>
            <a:off x="4887874"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写实记录的归并整理</a:t>
            </a:r>
            <a:endParaRPr lang="en-US" sz="1300" dirty="0"/>
          </a:p>
        </p:txBody>
      </p:sp>
      <p:sp>
        <p:nvSpPr>
          <p:cNvPr id="37" name="Shape 35"/>
          <p:cNvSpPr/>
          <p:nvPr/>
        </p:nvSpPr>
        <p:spPr>
          <a:xfrm>
            <a:off x="4887874" y="4238244"/>
            <a:ext cx="2796946" cy="0"/>
          </a:xfrm>
          <a:prstGeom prst="line">
            <a:avLst/>
          </a:prstGeom>
          <a:noFill/>
          <a:ln w="12700">
            <a:solidFill>
              <a:srgbClr val="D9E2EF"/>
            </a:solidFill>
            <a:prstDash val="solid"/>
          </a:ln>
        </p:spPr>
      </p:sp>
      <p:sp>
        <p:nvSpPr>
          <p:cNvPr id="38" name="Text 36"/>
          <p:cNvSpPr/>
          <p:nvPr/>
        </p:nvSpPr>
        <p:spPr>
          <a:xfrm>
            <a:off x="4887874"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排版与基础图表</a:t>
            </a:r>
            <a:endParaRPr lang="en-US" sz="1300" dirty="0"/>
          </a:p>
        </p:txBody>
      </p:sp>
      <p:sp>
        <p:nvSpPr>
          <p:cNvPr id="39" name="Shape 37"/>
          <p:cNvSpPr/>
          <p:nvPr/>
        </p:nvSpPr>
        <p:spPr>
          <a:xfrm>
            <a:off x="8078013" y="1860804"/>
            <a:ext cx="3199282" cy="3200400"/>
          </a:xfrm>
          <a:prstGeom prst="roundRect">
            <a:avLst>
              <a:gd name="adj" fmla="val 2572"/>
            </a:avLst>
          </a:prstGeom>
          <a:solidFill>
            <a:srgbClr val="FFFFFF"/>
          </a:solidFill>
          <a:ln w="12700">
            <a:solidFill>
              <a:srgbClr val="D9E2EF"/>
            </a:solidFill>
            <a:prstDash val="solid"/>
          </a:ln>
        </p:spPr>
      </p:sp>
      <p:sp>
        <p:nvSpPr>
          <p:cNvPr id="40" name="Shape 38"/>
          <p:cNvSpPr/>
          <p:nvPr/>
        </p:nvSpPr>
        <p:spPr>
          <a:xfrm>
            <a:off x="8142021" y="1860804"/>
            <a:ext cx="3071266" cy="38100"/>
          </a:xfrm>
          <a:prstGeom prst="rect">
            <a:avLst/>
          </a:prstGeom>
          <a:solidFill>
            <a:srgbClr val="D9E2EF"/>
          </a:solidFill>
          <a:ln w="12700">
            <a:solidFill>
              <a:srgbClr val="D9E2EF"/>
            </a:solidFill>
            <a:prstDash val="solid"/>
          </a:ln>
        </p:spPr>
      </p:sp>
      <p:sp>
        <p:nvSpPr>
          <p:cNvPr id="41" name="Text 39"/>
          <p:cNvSpPr/>
          <p:nvPr/>
        </p:nvSpPr>
        <p:spPr>
          <a:xfrm>
            <a:off x="8279181" y="2043684"/>
            <a:ext cx="2796946" cy="310896"/>
          </a:xfrm>
          <a:prstGeom prst="rect">
            <a:avLst/>
          </a:prstGeom>
          <a:noFill/>
          <a:ln/>
        </p:spPr>
        <p:txBody>
          <a:bodyPr wrap="square" lIns="0" tIns="0" rIns="0" bIns="0" rtlCol="0" anchor="ctr"/>
          <a:lstStyle/>
          <a:p>
            <a:pPr indent="0" marL="0">
              <a:buNone/>
            </a:pPr>
            <a:r>
              <a:rPr lang="en-US" sz="1600" b="1" dirty="0">
                <a:solidFill>
                  <a:srgbClr val="5F7088"/>
                </a:solidFill>
                <a:latin typeface="Microsoft YaHei" pitchFamily="34" charset="0"/>
                <a:ea typeface="Microsoft YaHei" pitchFamily="34" charset="-122"/>
                <a:cs typeface="Microsoft YaHei" pitchFamily="34" charset="-120"/>
              </a:rPr>
              <a:t>AI 无关</a:t>
            </a:r>
            <a:endParaRPr lang="en-US" sz="1600" dirty="0"/>
          </a:p>
        </p:txBody>
      </p:sp>
      <p:sp>
        <p:nvSpPr>
          <p:cNvPr id="42" name="Shape 40"/>
          <p:cNvSpPr/>
          <p:nvPr/>
        </p:nvSpPr>
        <p:spPr>
          <a:xfrm>
            <a:off x="8279181" y="2427732"/>
            <a:ext cx="2796946" cy="0"/>
          </a:xfrm>
          <a:prstGeom prst="line">
            <a:avLst/>
          </a:prstGeom>
          <a:noFill/>
          <a:ln w="25400">
            <a:solidFill>
              <a:srgbClr val="5F7088"/>
            </a:solidFill>
            <a:prstDash val="solid"/>
          </a:ln>
        </p:spPr>
      </p:sp>
      <p:sp>
        <p:nvSpPr>
          <p:cNvPr id="43" name="Text 41"/>
          <p:cNvSpPr/>
          <p:nvPr/>
        </p:nvSpPr>
        <p:spPr>
          <a:xfrm>
            <a:off x="8279181"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课时被挤占</a:t>
            </a:r>
            <a:endParaRPr lang="en-US" sz="1300" dirty="0"/>
          </a:p>
        </p:txBody>
      </p:sp>
      <p:sp>
        <p:nvSpPr>
          <p:cNvPr id="44" name="Shape 42"/>
          <p:cNvSpPr/>
          <p:nvPr/>
        </p:nvSpPr>
        <p:spPr>
          <a:xfrm>
            <a:off x="8279181" y="3031236"/>
            <a:ext cx="2796946" cy="0"/>
          </a:xfrm>
          <a:prstGeom prst="line">
            <a:avLst/>
          </a:prstGeom>
          <a:noFill/>
          <a:ln w="12700">
            <a:solidFill>
              <a:srgbClr val="D9E2EF"/>
            </a:solidFill>
            <a:prstDash val="solid"/>
          </a:ln>
        </p:spPr>
      </p:sp>
      <p:sp>
        <p:nvSpPr>
          <p:cNvPr id="45" name="Text 43"/>
          <p:cNvSpPr/>
          <p:nvPr/>
        </p:nvSpPr>
        <p:spPr>
          <a:xfrm>
            <a:off x="8279181"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46" name="Shape 44"/>
          <p:cNvSpPr/>
          <p:nvPr/>
        </p:nvSpPr>
        <p:spPr>
          <a:xfrm>
            <a:off x="8279181" y="3634740"/>
            <a:ext cx="2796946" cy="0"/>
          </a:xfrm>
          <a:prstGeom prst="line">
            <a:avLst/>
          </a:prstGeom>
          <a:noFill/>
          <a:ln w="12700">
            <a:solidFill>
              <a:srgbClr val="D9E2EF"/>
            </a:solidFill>
            <a:prstDash val="solid"/>
          </a:ln>
        </p:spPr>
      </p:sp>
      <p:sp>
        <p:nvSpPr>
          <p:cNvPr id="47" name="Text 45"/>
          <p:cNvSpPr/>
          <p:nvPr/>
        </p:nvSpPr>
        <p:spPr>
          <a:xfrm>
            <a:off x="8279181"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校外基地质量</a:t>
            </a:r>
            <a:endParaRPr lang="en-US" sz="1300" dirty="0"/>
          </a:p>
        </p:txBody>
      </p:sp>
      <p:sp>
        <p:nvSpPr>
          <p:cNvPr id="48" name="Shape 46"/>
          <p:cNvSpPr/>
          <p:nvPr/>
        </p:nvSpPr>
        <p:spPr>
          <a:xfrm>
            <a:off x="8279181" y="4238244"/>
            <a:ext cx="2796946" cy="0"/>
          </a:xfrm>
          <a:prstGeom prst="line">
            <a:avLst/>
          </a:prstGeom>
          <a:noFill/>
          <a:ln w="12700">
            <a:solidFill>
              <a:srgbClr val="D9E2EF"/>
            </a:solidFill>
            <a:prstDash val="solid"/>
          </a:ln>
        </p:spPr>
      </p:sp>
      <p:sp>
        <p:nvSpPr>
          <p:cNvPr id="49" name="Text 47"/>
          <p:cNvSpPr/>
          <p:nvPr/>
        </p:nvSpPr>
        <p:spPr>
          <a:xfrm>
            <a:off x="8279181"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综合素质评价的公示与签字程序</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项目化学习的三类失效形态</a:t>
            </a:r>
            <a:endParaRPr lang="en-US" sz="3200" dirty="0"/>
          </a:p>
        </p:txBody>
      </p:sp>
      <p:sp>
        <p:nvSpPr>
          <p:cNvPr id="17" name="Shape 15"/>
          <p:cNvSpPr/>
          <p:nvPr/>
        </p:nvSpPr>
        <p:spPr>
          <a:xfrm>
            <a:off x="1295400" y="2043684"/>
            <a:ext cx="3205378" cy="1207008"/>
          </a:xfrm>
          <a:prstGeom prst="roundRect">
            <a:avLst>
              <a:gd name="adj" fmla="val 6818"/>
            </a:avLst>
          </a:prstGeom>
          <a:solidFill>
            <a:srgbClr val="FFFFFF"/>
          </a:solidFill>
          <a:ln w="12700">
            <a:solidFill>
              <a:srgbClr val="D9E2EF"/>
            </a:solidFill>
            <a:prstDash val="solid"/>
          </a:ln>
        </p:spPr>
      </p:sp>
      <p:sp>
        <p:nvSpPr>
          <p:cNvPr id="18" name="Shape 16"/>
          <p:cNvSpPr/>
          <p:nvPr/>
        </p:nvSpPr>
        <p:spPr>
          <a:xfrm>
            <a:off x="1359408" y="2043684"/>
            <a:ext cx="3077362" cy="38100"/>
          </a:xfrm>
          <a:prstGeom prst="rect">
            <a:avLst/>
          </a:prstGeom>
          <a:solidFill>
            <a:srgbClr val="1D4ED8"/>
          </a:solidFill>
          <a:ln w="12700">
            <a:solidFill>
              <a:srgbClr val="1D4ED8"/>
            </a:solidFill>
            <a:prstDash val="solid"/>
          </a:ln>
        </p:spPr>
      </p:sp>
      <p:sp>
        <p:nvSpPr>
          <p:cNvPr id="19" name="Text 17"/>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花瓶项目</a:t>
            </a:r>
            <a:endParaRPr lang="en-US" sz="1600" dirty="0"/>
          </a:p>
        </p:txBody>
      </p:sp>
      <p:sp>
        <p:nvSpPr>
          <p:cNvPr id="20" name="Text 18"/>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成果形态完整，但缺少真实问题</a:t>
            </a:r>
            <a:endParaRPr lang="en-US" sz="1150" dirty="0"/>
          </a:p>
        </p:txBody>
      </p:sp>
      <p:sp>
        <p:nvSpPr>
          <p:cNvPr id="21" name="Shape 19"/>
          <p:cNvSpPr/>
          <p:nvPr/>
        </p:nvSpPr>
        <p:spPr>
          <a:xfrm>
            <a:off x="4683658" y="2043684"/>
            <a:ext cx="3205378" cy="1207008"/>
          </a:xfrm>
          <a:prstGeom prst="roundRect">
            <a:avLst>
              <a:gd name="adj" fmla="val 6818"/>
            </a:avLst>
          </a:prstGeom>
          <a:solidFill>
            <a:srgbClr val="FFFFFF"/>
          </a:solidFill>
          <a:ln w="12700">
            <a:solidFill>
              <a:srgbClr val="D9E2EF"/>
            </a:solidFill>
            <a:prstDash val="solid"/>
          </a:ln>
        </p:spPr>
      </p:sp>
      <p:sp>
        <p:nvSpPr>
          <p:cNvPr id="22" name="Shape 20"/>
          <p:cNvSpPr/>
          <p:nvPr/>
        </p:nvSpPr>
        <p:spPr>
          <a:xfrm>
            <a:off x="4747666" y="2043684"/>
            <a:ext cx="3077362" cy="38100"/>
          </a:xfrm>
          <a:prstGeom prst="rect">
            <a:avLst/>
          </a:prstGeom>
          <a:solidFill>
            <a:srgbClr val="C2552F"/>
          </a:solidFill>
          <a:ln w="12700">
            <a:solidFill>
              <a:srgbClr val="C2552F"/>
            </a:solidFill>
            <a:prstDash val="solid"/>
          </a:ln>
        </p:spPr>
      </p:sp>
      <p:sp>
        <p:nvSpPr>
          <p:cNvPr id="23" name="Text 21"/>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拼盘项目</a:t>
            </a:r>
            <a:endParaRPr lang="en-US" sz="1600" dirty="0"/>
          </a:p>
        </p:txBody>
      </p:sp>
      <p:sp>
        <p:nvSpPr>
          <p:cNvPr id="24" name="Text 22"/>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多学科并置，各自独立，未形成整合</a:t>
            </a:r>
            <a:endParaRPr lang="en-US" sz="1150" dirty="0"/>
          </a:p>
        </p:txBody>
      </p:sp>
      <p:sp>
        <p:nvSpPr>
          <p:cNvPr id="25" name="Shape 23"/>
          <p:cNvSpPr/>
          <p:nvPr/>
        </p:nvSpPr>
        <p:spPr>
          <a:xfrm>
            <a:off x="8071917" y="2043684"/>
            <a:ext cx="3205378" cy="1207008"/>
          </a:xfrm>
          <a:prstGeom prst="roundRect">
            <a:avLst>
              <a:gd name="adj" fmla="val 6818"/>
            </a:avLst>
          </a:prstGeom>
          <a:solidFill>
            <a:srgbClr val="FFFFFF"/>
          </a:solidFill>
          <a:ln w="12700">
            <a:solidFill>
              <a:srgbClr val="D9E2EF"/>
            </a:solidFill>
            <a:prstDash val="solid"/>
          </a:ln>
        </p:spPr>
      </p:sp>
      <p:sp>
        <p:nvSpPr>
          <p:cNvPr id="26" name="Shape 24"/>
          <p:cNvSpPr/>
          <p:nvPr/>
        </p:nvSpPr>
        <p:spPr>
          <a:xfrm>
            <a:off x="8135925" y="2043684"/>
            <a:ext cx="3077362" cy="38100"/>
          </a:xfrm>
          <a:prstGeom prst="rect">
            <a:avLst/>
          </a:prstGeom>
          <a:solidFill>
            <a:srgbClr val="A8421F"/>
          </a:solidFill>
          <a:ln w="12700">
            <a:solidFill>
              <a:srgbClr val="A8421F"/>
            </a:solidFill>
            <a:prstDash val="solid"/>
          </a:ln>
        </p:spPr>
      </p:sp>
      <p:sp>
        <p:nvSpPr>
          <p:cNvPr id="27" name="Text 25"/>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空心项目</a:t>
            </a:r>
            <a:endParaRPr lang="en-US" sz="1600" dirty="0"/>
          </a:p>
        </p:txBody>
      </p:sp>
      <p:sp>
        <p:nvSpPr>
          <p:cNvPr id="28" name="Text 26"/>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有活动过程，无思维发生</a:t>
            </a:r>
            <a:endParaRPr lang="en-US" sz="1150" dirty="0"/>
          </a:p>
        </p:txBody>
      </p:sp>
      <p:sp>
        <p:nvSpPr>
          <p:cNvPr id="29" name="Text 27"/>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000" dirty="0"/>
          </a:p>
        </p:txBody>
      </p:sp>
      <p:sp>
        <p:nvSpPr>
          <p:cNvPr id="30" name="Shape 28"/>
          <p:cNvSpPr/>
          <p:nvPr/>
        </p:nvSpPr>
        <p:spPr>
          <a:xfrm>
            <a:off x="1295400" y="5888736"/>
            <a:ext cx="9981895" cy="0"/>
          </a:xfrm>
          <a:prstGeom prst="line">
            <a:avLst/>
          </a:prstGeom>
          <a:noFill/>
          <a:ln w="12700">
            <a:solidFill>
              <a:srgbClr val="D9E2EF"/>
            </a:solidFill>
            <a:prstDash val="solid"/>
          </a:ln>
        </p:spPr>
      </p:sp>
      <p:sp>
        <p:nvSpPr>
          <p:cNvPr id="31" name="Text 29"/>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生成式 AI 提高的是成果的完成度。空心项目因此更难从成果上识别。</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表现提升与学习发生的分离</a:t>
            </a:r>
            <a:endParaRPr lang="en-US" sz="3200" dirty="0"/>
          </a:p>
        </p:txBody>
      </p:sp>
      <p:sp>
        <p:nvSpPr>
          <p:cNvPr id="17" name="Shape 15"/>
          <p:cNvSpPr/>
          <p:nvPr/>
        </p:nvSpPr>
        <p:spPr>
          <a:xfrm>
            <a:off x="1295400" y="1860804"/>
            <a:ext cx="9981895" cy="1965960"/>
          </a:xfrm>
          <a:prstGeom prst="roundRect">
            <a:avLst>
              <a:gd name="adj" fmla="val 4186"/>
            </a:avLst>
          </a:prstGeom>
          <a:solidFill>
            <a:srgbClr val="FFFFFF"/>
          </a:solidFill>
          <a:ln w="12700">
            <a:solidFill>
              <a:srgbClr val="D9E2EF"/>
            </a:solidFill>
            <a:prstDash val="solid"/>
          </a:ln>
        </p:spPr>
      </p:sp>
      <p:sp>
        <p:nvSpPr>
          <p:cNvPr id="18" name="Shape 16"/>
          <p:cNvSpPr/>
          <p:nvPr/>
        </p:nvSpPr>
        <p:spPr>
          <a:xfrm>
            <a:off x="1359408" y="1860804"/>
            <a:ext cx="9853879" cy="38100"/>
          </a:xfrm>
          <a:prstGeom prst="rect">
            <a:avLst/>
          </a:prstGeom>
          <a:solidFill>
            <a:srgbClr val="A8421F"/>
          </a:solidFill>
          <a:ln w="12700">
            <a:solidFill>
              <a:srgbClr val="A8421F"/>
            </a:solidFill>
            <a:prstDash val="solid"/>
          </a:ln>
        </p:spPr>
      </p:sp>
      <p:sp>
        <p:nvSpPr>
          <p:cNvPr id="19" name="Shape 17"/>
          <p:cNvSpPr/>
          <p:nvPr/>
        </p:nvSpPr>
        <p:spPr>
          <a:xfrm>
            <a:off x="1551432" y="2080260"/>
            <a:ext cx="9469831" cy="0"/>
          </a:xfrm>
          <a:prstGeom prst="line">
            <a:avLst/>
          </a:prstGeom>
          <a:noFill/>
          <a:ln w="12700">
            <a:solidFill>
              <a:srgbClr val="D9E2EF"/>
            </a:solidFill>
            <a:prstDash val="solid"/>
          </a:ln>
        </p:spPr>
      </p:sp>
      <p:sp>
        <p:nvSpPr>
          <p:cNvPr id="20" name="Text 18"/>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设计</a:t>
            </a:r>
            <a:endParaRPr lang="en-US" sz="950" dirty="0"/>
          </a:p>
        </p:txBody>
      </p:sp>
      <p:sp>
        <p:nvSpPr>
          <p:cNvPr id="21" name="Text 19"/>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2" name="Shape 20"/>
          <p:cNvSpPr/>
          <p:nvPr/>
        </p:nvSpPr>
        <p:spPr>
          <a:xfrm>
            <a:off x="1551432" y="2427732"/>
            <a:ext cx="9469831" cy="0"/>
          </a:xfrm>
          <a:prstGeom prst="line">
            <a:avLst/>
          </a:prstGeom>
          <a:noFill/>
          <a:ln w="12700">
            <a:solidFill>
              <a:srgbClr val="D9E2EF"/>
            </a:solidFill>
            <a:prstDash val="solid"/>
          </a:ln>
        </p:spPr>
      </p:sp>
      <p:sp>
        <p:nvSpPr>
          <p:cNvPr id="23" name="Text 21"/>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样本</a:t>
            </a:r>
            <a:endParaRPr lang="en-US" sz="950" dirty="0"/>
          </a:p>
        </p:txBody>
      </p:sp>
      <p:sp>
        <p:nvSpPr>
          <p:cNvPr id="24" name="Text 22"/>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5" name="Shape 23"/>
          <p:cNvSpPr/>
          <p:nvPr/>
        </p:nvSpPr>
        <p:spPr>
          <a:xfrm>
            <a:off x="1551432" y="2775204"/>
            <a:ext cx="9469831" cy="0"/>
          </a:xfrm>
          <a:prstGeom prst="line">
            <a:avLst/>
          </a:prstGeom>
          <a:noFill/>
          <a:ln w="12700">
            <a:solidFill>
              <a:srgbClr val="D9E2EF"/>
            </a:solidFill>
            <a:prstDash val="solid"/>
          </a:ln>
        </p:spPr>
      </p:sp>
      <p:sp>
        <p:nvSpPr>
          <p:cNvPr id="26" name="Text 24"/>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结果</a:t>
            </a:r>
            <a:endParaRPr lang="en-US" sz="950" dirty="0"/>
          </a:p>
        </p:txBody>
      </p:sp>
      <p:sp>
        <p:nvSpPr>
          <p:cNvPr id="27" name="Text 25"/>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8" name="Shape 26"/>
          <p:cNvSpPr/>
          <p:nvPr/>
        </p:nvSpPr>
        <p:spPr>
          <a:xfrm>
            <a:off x="1551432" y="3122676"/>
            <a:ext cx="9469831" cy="0"/>
          </a:xfrm>
          <a:prstGeom prst="line">
            <a:avLst/>
          </a:prstGeom>
          <a:noFill/>
          <a:ln w="12700">
            <a:solidFill>
              <a:srgbClr val="D9E2EF"/>
            </a:solidFill>
            <a:prstDash val="solid"/>
          </a:ln>
        </p:spPr>
      </p:sp>
      <p:sp>
        <p:nvSpPr>
          <p:cNvPr id="29" name="Text 27"/>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但是</a:t>
            </a:r>
            <a:endParaRPr lang="en-US" sz="950" dirty="0"/>
          </a:p>
        </p:txBody>
      </p:sp>
      <p:sp>
        <p:nvSpPr>
          <p:cNvPr id="30" name="Text 28"/>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1" name="Text 29"/>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A8421F"/>
                </a:solidFill>
                <a:latin typeface="Microsoft YaHei" pitchFamily="34" charset="0"/>
                <a:ea typeface="Microsoft YaHei" pitchFamily="34" charset="-122"/>
                <a:cs typeface="Microsoft YaHei" pitchFamily="34" charset="-120"/>
              </a:rPr>
              <a:t>作者称之为「元认知懒惰」</a:t>
            </a:r>
            <a:endParaRPr lang="en-US" sz="1350" dirty="0"/>
          </a:p>
        </p:txBody>
      </p:sp>
      <p:sp>
        <p:nvSpPr>
          <p:cNvPr id="32" name="Text 30"/>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3" name="Text 31"/>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4" name="Text 32"/>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该研究的样本为大学生。此处引用的是其揭示的机制，而非效应量数值。</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81B3A"/>
                </a:solidFill>
                <a:latin typeface="Microsoft YaHei" pitchFamily="34" charset="0"/>
                <a:ea typeface="Microsoft YaHei" pitchFamily="34" charset="-122"/>
                <a:cs typeface="Microsoft YaHei" pitchFamily="34" charset="-120"/>
              </a:rPr>
              <a:t>生成式 AI 所加速的环节，正是本课程的教学内容本身。</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教师侧的四项用途</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上表中列的四项，都在教师侧，学生不接触，也不涉及学生数据。以下各给一个具体做法。</a:t>
            </a:r>
            <a:endParaRPr lang="en-US" sz="1150" dirty="0"/>
          </a:p>
        </p:txBody>
      </p:sp>
      <p:sp>
        <p:nvSpPr>
          <p:cNvPr id="18" name="Shape 16"/>
          <p:cNvSpPr/>
          <p:nvPr/>
        </p:nvSpPr>
        <p:spPr>
          <a:xfrm>
            <a:off x="1295400" y="2226564"/>
            <a:ext cx="4899508" cy="1298448"/>
          </a:xfrm>
          <a:prstGeom prst="roundRect">
            <a:avLst>
              <a:gd name="adj" fmla="val 6338"/>
            </a:avLst>
          </a:prstGeom>
          <a:solidFill>
            <a:srgbClr val="FFFFFF"/>
          </a:solidFill>
          <a:ln w="12700">
            <a:solidFill>
              <a:srgbClr val="D9E2EF"/>
            </a:solidFill>
            <a:prstDash val="solid"/>
          </a:ln>
        </p:spPr>
      </p:sp>
      <p:sp>
        <p:nvSpPr>
          <p:cNvPr id="19" name="Shape 17"/>
          <p:cNvSpPr/>
          <p:nvPr/>
        </p:nvSpPr>
        <p:spPr>
          <a:xfrm>
            <a:off x="1359408" y="2226564"/>
            <a:ext cx="4771492" cy="38100"/>
          </a:xfrm>
          <a:prstGeom prst="rect">
            <a:avLst/>
          </a:prstGeom>
          <a:solidFill>
            <a:srgbClr val="2563EB"/>
          </a:solidFill>
          <a:ln w="12700">
            <a:solidFill>
              <a:srgbClr val="2563EB"/>
            </a:solidFill>
            <a:prstDash val="solid"/>
          </a:ln>
        </p:spPr>
      </p:sp>
      <p:sp>
        <p:nvSpPr>
          <p:cNvPr id="20" name="Text 18"/>
          <p:cNvSpPr/>
          <p:nvPr/>
        </p:nvSpPr>
        <p:spPr>
          <a:xfrm>
            <a:off x="1496568" y="237286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评价量规初稿</a:t>
            </a:r>
            <a:endParaRPr lang="en-US" sz="1500" dirty="0"/>
          </a:p>
        </p:txBody>
      </p:sp>
      <p:sp>
        <p:nvSpPr>
          <p:cNvPr id="21" name="Text 19"/>
          <p:cNvSpPr/>
          <p:nvPr/>
        </p:nvSpPr>
        <p:spPr>
          <a:xfrm>
            <a:off x="1496568"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把任务描述与四个评价维度交给 AI，要求输出一张四级量规草稿，教师逐条修改。</a:t>
            </a:r>
            <a:endParaRPr lang="en-US" sz="1150" dirty="0"/>
          </a:p>
        </p:txBody>
      </p:sp>
      <p:sp>
        <p:nvSpPr>
          <p:cNvPr id="22" name="Shape 20"/>
          <p:cNvSpPr/>
          <p:nvPr/>
        </p:nvSpPr>
        <p:spPr>
          <a:xfrm>
            <a:off x="1496568" y="3195828"/>
            <a:ext cx="4497172" cy="0"/>
          </a:xfrm>
          <a:prstGeom prst="line">
            <a:avLst/>
          </a:prstGeom>
          <a:noFill/>
          <a:ln w="12700">
            <a:solidFill>
              <a:srgbClr val="D9E2EF"/>
            </a:solidFill>
            <a:prstDash val="solid"/>
          </a:ln>
        </p:spPr>
      </p:sp>
      <p:sp>
        <p:nvSpPr>
          <p:cNvPr id="23" name="Text 21"/>
          <p:cNvSpPr/>
          <p:nvPr/>
        </p:nvSpPr>
        <p:spPr>
          <a:xfrm>
            <a:off x="1496568" y="325983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一张开题时就能发给学生的量规</a:t>
            </a:r>
            <a:endParaRPr lang="en-US" sz="1000" dirty="0"/>
          </a:p>
        </p:txBody>
      </p:sp>
      <p:sp>
        <p:nvSpPr>
          <p:cNvPr id="24" name="Shape 22"/>
          <p:cNvSpPr/>
          <p:nvPr/>
        </p:nvSpPr>
        <p:spPr>
          <a:xfrm>
            <a:off x="6377788" y="2226564"/>
            <a:ext cx="4899508" cy="1298448"/>
          </a:xfrm>
          <a:prstGeom prst="roundRect">
            <a:avLst>
              <a:gd name="adj" fmla="val 6338"/>
            </a:avLst>
          </a:prstGeom>
          <a:solidFill>
            <a:srgbClr val="FFFFFF"/>
          </a:solidFill>
          <a:ln w="12700">
            <a:solidFill>
              <a:srgbClr val="D9E2EF"/>
            </a:solidFill>
            <a:prstDash val="solid"/>
          </a:ln>
        </p:spPr>
      </p:sp>
      <p:sp>
        <p:nvSpPr>
          <p:cNvPr id="25" name="Shape 23"/>
          <p:cNvSpPr/>
          <p:nvPr/>
        </p:nvSpPr>
        <p:spPr>
          <a:xfrm>
            <a:off x="6441796" y="2226564"/>
            <a:ext cx="4771492" cy="38100"/>
          </a:xfrm>
          <a:prstGeom prst="rect">
            <a:avLst/>
          </a:prstGeom>
          <a:solidFill>
            <a:srgbClr val="C2552F"/>
          </a:solidFill>
          <a:ln w="12700">
            <a:solidFill>
              <a:srgbClr val="C2552F"/>
            </a:solidFill>
            <a:prstDash val="solid"/>
          </a:ln>
        </p:spPr>
      </p:sp>
      <p:sp>
        <p:nvSpPr>
          <p:cNvPr id="26" name="Text 24"/>
          <p:cNvSpPr/>
          <p:nvPr/>
        </p:nvSpPr>
        <p:spPr>
          <a:xfrm>
            <a:off x="6578956" y="237286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三档任务单</a:t>
            </a:r>
            <a:endParaRPr lang="en-US" sz="1500" dirty="0"/>
          </a:p>
        </p:txBody>
      </p:sp>
      <p:sp>
        <p:nvSpPr>
          <p:cNvPr id="27" name="Text 25"/>
          <p:cNvSpPr/>
          <p:nvPr/>
        </p:nvSpPr>
        <p:spPr>
          <a:xfrm>
            <a:off x="6578956"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同一项任务，要求 AI 按基础、常规、拓展三档各写一份任务单。</a:t>
            </a:r>
            <a:endParaRPr lang="en-US" sz="1150" dirty="0"/>
          </a:p>
        </p:txBody>
      </p:sp>
      <p:sp>
        <p:nvSpPr>
          <p:cNvPr id="28" name="Shape 26"/>
          <p:cNvSpPr/>
          <p:nvPr/>
        </p:nvSpPr>
        <p:spPr>
          <a:xfrm>
            <a:off x="6578956" y="3195828"/>
            <a:ext cx="4497172" cy="0"/>
          </a:xfrm>
          <a:prstGeom prst="line">
            <a:avLst/>
          </a:prstGeom>
          <a:noFill/>
          <a:ln w="12700">
            <a:solidFill>
              <a:srgbClr val="D9E2EF"/>
            </a:solidFill>
            <a:prstDash val="solid"/>
          </a:ln>
        </p:spPr>
      </p:sp>
      <p:sp>
        <p:nvSpPr>
          <p:cNvPr id="29" name="Text 27"/>
          <p:cNvSpPr/>
          <p:nvPr/>
        </p:nvSpPr>
        <p:spPr>
          <a:xfrm>
            <a:off x="6578956" y="325983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可直接分发的差异化任务单</a:t>
            </a:r>
            <a:endParaRPr lang="en-US" sz="1000" dirty="0"/>
          </a:p>
        </p:txBody>
      </p:sp>
      <p:sp>
        <p:nvSpPr>
          <p:cNvPr id="30" name="Shape 28"/>
          <p:cNvSpPr/>
          <p:nvPr/>
        </p:nvSpPr>
        <p:spPr>
          <a:xfrm>
            <a:off x="1295400" y="3689604"/>
            <a:ext cx="4899508" cy="1298448"/>
          </a:xfrm>
          <a:prstGeom prst="roundRect">
            <a:avLst>
              <a:gd name="adj" fmla="val 6338"/>
            </a:avLst>
          </a:prstGeom>
          <a:solidFill>
            <a:srgbClr val="FFFFFF"/>
          </a:solidFill>
          <a:ln w="12700">
            <a:solidFill>
              <a:srgbClr val="D9E2EF"/>
            </a:solidFill>
            <a:prstDash val="solid"/>
          </a:ln>
        </p:spPr>
      </p:sp>
      <p:sp>
        <p:nvSpPr>
          <p:cNvPr id="31" name="Shape 29"/>
          <p:cNvSpPr/>
          <p:nvPr/>
        </p:nvSpPr>
        <p:spPr>
          <a:xfrm>
            <a:off x="1359408" y="3689604"/>
            <a:ext cx="4771492" cy="38100"/>
          </a:xfrm>
          <a:prstGeom prst="rect">
            <a:avLst/>
          </a:prstGeom>
          <a:solidFill>
            <a:srgbClr val="C2552F"/>
          </a:solidFill>
          <a:ln w="12700">
            <a:solidFill>
              <a:srgbClr val="C2552F"/>
            </a:solidFill>
            <a:prstDash val="solid"/>
          </a:ln>
        </p:spPr>
      </p:sp>
      <p:sp>
        <p:nvSpPr>
          <p:cNvPr id="32" name="Text 30"/>
          <p:cNvSpPr/>
          <p:nvPr/>
        </p:nvSpPr>
        <p:spPr>
          <a:xfrm>
            <a:off x="1496568" y="383590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写实记录的整理</a:t>
            </a:r>
            <a:endParaRPr lang="en-US" sz="1500" dirty="0"/>
          </a:p>
        </p:txBody>
      </p:sp>
      <p:sp>
        <p:nvSpPr>
          <p:cNvPr id="33" name="Text 31"/>
          <p:cNvSpPr/>
          <p:nvPr/>
        </p:nvSpPr>
        <p:spPr>
          <a:xfrm>
            <a:off x="1496568"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把一学期的过程记录按代号整理后交给 AI，要求归并为综评写实记录的条目格式。</a:t>
            </a:r>
            <a:endParaRPr lang="en-US" sz="1150" dirty="0"/>
          </a:p>
        </p:txBody>
      </p:sp>
      <p:sp>
        <p:nvSpPr>
          <p:cNvPr id="34" name="Shape 32"/>
          <p:cNvSpPr/>
          <p:nvPr/>
        </p:nvSpPr>
        <p:spPr>
          <a:xfrm>
            <a:off x="1496568" y="4658868"/>
            <a:ext cx="4497172" cy="0"/>
          </a:xfrm>
          <a:prstGeom prst="line">
            <a:avLst/>
          </a:prstGeom>
          <a:noFill/>
          <a:ln w="12700">
            <a:solidFill>
              <a:srgbClr val="D9E2EF"/>
            </a:solidFill>
            <a:prstDash val="solid"/>
          </a:ln>
        </p:spPr>
      </p:sp>
      <p:sp>
        <p:nvSpPr>
          <p:cNvPr id="35" name="Text 33"/>
          <p:cNvSpPr/>
          <p:nvPr/>
        </p:nvSpPr>
        <p:spPr>
          <a:xfrm>
            <a:off x="1496568" y="472287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写实记录草稿，教师核对后签字</a:t>
            </a:r>
            <a:endParaRPr lang="en-US" sz="1000" dirty="0"/>
          </a:p>
        </p:txBody>
      </p:sp>
      <p:sp>
        <p:nvSpPr>
          <p:cNvPr id="36" name="Shape 34"/>
          <p:cNvSpPr/>
          <p:nvPr/>
        </p:nvSpPr>
        <p:spPr>
          <a:xfrm>
            <a:off x="6377788" y="3689604"/>
            <a:ext cx="4899508" cy="1298448"/>
          </a:xfrm>
          <a:prstGeom prst="roundRect">
            <a:avLst>
              <a:gd name="adj" fmla="val 6338"/>
            </a:avLst>
          </a:prstGeom>
          <a:solidFill>
            <a:srgbClr val="FFFFFF"/>
          </a:solidFill>
          <a:ln w="12700">
            <a:solidFill>
              <a:srgbClr val="D9E2EF"/>
            </a:solidFill>
            <a:prstDash val="solid"/>
          </a:ln>
        </p:spPr>
      </p:sp>
      <p:sp>
        <p:nvSpPr>
          <p:cNvPr id="37" name="Shape 35"/>
          <p:cNvSpPr/>
          <p:nvPr/>
        </p:nvSpPr>
        <p:spPr>
          <a:xfrm>
            <a:off x="6441796" y="3689604"/>
            <a:ext cx="4771492" cy="38100"/>
          </a:xfrm>
          <a:prstGeom prst="rect">
            <a:avLst/>
          </a:prstGeom>
          <a:solidFill>
            <a:srgbClr val="2563EB"/>
          </a:solidFill>
          <a:ln w="12700">
            <a:solidFill>
              <a:srgbClr val="2563EB"/>
            </a:solidFill>
            <a:prstDash val="solid"/>
          </a:ln>
        </p:spPr>
      </p:sp>
      <p:sp>
        <p:nvSpPr>
          <p:cNvPr id="38" name="Text 36"/>
          <p:cNvSpPr/>
          <p:nvPr/>
        </p:nvSpPr>
        <p:spPr>
          <a:xfrm>
            <a:off x="6578956" y="383590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数据作图</a:t>
            </a:r>
            <a:endParaRPr lang="en-US" sz="1500" dirty="0"/>
          </a:p>
        </p:txBody>
      </p:sp>
      <p:sp>
        <p:nvSpPr>
          <p:cNvPr id="39" name="Text 37"/>
          <p:cNvSpPr/>
          <p:nvPr/>
        </p:nvSpPr>
        <p:spPr>
          <a:xfrm>
            <a:off x="6578956"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把学生自己测得的数据交给 AI，要求输出展示用图表。</a:t>
            </a:r>
            <a:endParaRPr lang="en-US" sz="1150" dirty="0"/>
          </a:p>
        </p:txBody>
      </p:sp>
      <p:sp>
        <p:nvSpPr>
          <p:cNvPr id="40" name="Shape 38"/>
          <p:cNvSpPr/>
          <p:nvPr/>
        </p:nvSpPr>
        <p:spPr>
          <a:xfrm>
            <a:off x="6578956" y="4658868"/>
            <a:ext cx="4497172" cy="0"/>
          </a:xfrm>
          <a:prstGeom prst="line">
            <a:avLst/>
          </a:prstGeom>
          <a:noFill/>
          <a:ln w="12700">
            <a:solidFill>
              <a:srgbClr val="D9E2EF"/>
            </a:solidFill>
            <a:prstDash val="solid"/>
          </a:ln>
        </p:spPr>
      </p:sp>
      <p:sp>
        <p:nvSpPr>
          <p:cNvPr id="41" name="Text 39"/>
          <p:cNvSpPr/>
          <p:nvPr/>
        </p:nvSpPr>
        <p:spPr>
          <a:xfrm>
            <a:off x="6578956" y="472287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成果展示与结题报告用图</a:t>
            </a:r>
            <a:endParaRPr lang="en-US" sz="1000" dirty="0"/>
          </a:p>
        </p:txBody>
      </p:sp>
      <p:sp>
        <p:nvSpPr>
          <p:cNvPr id="42" name="Shape 40"/>
          <p:cNvSpPr/>
          <p:nvPr/>
        </p:nvSpPr>
        <p:spPr>
          <a:xfrm>
            <a:off x="1295400" y="5888736"/>
            <a:ext cx="9981895" cy="0"/>
          </a:xfrm>
          <a:prstGeom prst="line">
            <a:avLst/>
          </a:prstGeom>
          <a:noFill/>
          <a:ln w="12700">
            <a:solidFill>
              <a:srgbClr val="D9E2EF"/>
            </a:solidFill>
            <a:prstDash val="solid"/>
          </a:ln>
        </p:spPr>
      </p:sp>
      <p:sp>
        <p:nvSpPr>
          <p:cNvPr id="43" name="Text 4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四项均不上传学生姓名与学号。第三项须先按代号替换，再交给工具处理。</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教师侧的指令原文</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上一页四项用途中前三项的指令原文，可直接照抄。三条都是同一个三段结构，底色标出了分界。自己写第四条时按这三段填空即可。</a:t>
            </a:r>
            <a:endParaRPr lang="en-US" sz="1150" dirty="0"/>
          </a:p>
        </p:txBody>
      </p:sp>
      <p:sp>
        <p:nvSpPr>
          <p:cNvPr id="18" name="Shape 16"/>
          <p:cNvSpPr/>
          <p:nvPr/>
        </p:nvSpPr>
        <p:spPr>
          <a:xfrm>
            <a:off x="1295400" y="2208276"/>
            <a:ext cx="3266338" cy="256032"/>
          </a:xfrm>
          <a:prstGeom prst="roundRect">
            <a:avLst>
              <a:gd name="adj" fmla="val 17857"/>
            </a:avLst>
          </a:prstGeom>
          <a:solidFill>
            <a:srgbClr val="DBEAFE"/>
          </a:solidFill>
          <a:ln w="12700">
            <a:solidFill>
              <a:srgbClr val="BFD3EA"/>
            </a:solidFill>
            <a:prstDash val="solid"/>
          </a:ln>
        </p:spPr>
      </p:sp>
      <p:sp>
        <p:nvSpPr>
          <p:cNvPr id="19" name="Text 17"/>
          <p:cNvSpPr/>
          <p:nvPr/>
        </p:nvSpPr>
        <p:spPr>
          <a:xfrm>
            <a:off x="1405128"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①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交代场景</a:t>
            </a:r>
            <a:pPr indent="0" marL="0">
              <a:buNone/>
            </a:pPr>
            <a:r>
              <a:rPr lang="en-US" sz="850" dirty="0">
                <a:solidFill>
                  <a:srgbClr val="5F7088"/>
                </a:solidFill>
                <a:latin typeface="Microsoft YaHei" pitchFamily="34" charset="0"/>
                <a:ea typeface="Microsoft YaHei" pitchFamily="34" charset="-122"/>
                <a:cs typeface="Microsoft YaHei" pitchFamily="34" charset="-120"/>
              </a:rPr>
              <a:t>　学段、任务、手上有什么</a:t>
            </a:r>
            <a:endParaRPr lang="en-US" sz="950" dirty="0"/>
          </a:p>
        </p:txBody>
      </p:sp>
      <p:sp>
        <p:nvSpPr>
          <p:cNvPr id="20" name="Shape 18"/>
          <p:cNvSpPr/>
          <p:nvPr/>
        </p:nvSpPr>
        <p:spPr>
          <a:xfrm>
            <a:off x="4653178" y="2208276"/>
            <a:ext cx="3266338" cy="256032"/>
          </a:xfrm>
          <a:prstGeom prst="roundRect">
            <a:avLst>
              <a:gd name="adj" fmla="val 17857"/>
            </a:avLst>
          </a:prstGeom>
          <a:solidFill>
            <a:srgbClr val="F7FAFF"/>
          </a:solidFill>
          <a:ln w="12700">
            <a:solidFill>
              <a:srgbClr val="D9E2EF"/>
            </a:solidFill>
            <a:prstDash val="solid"/>
          </a:ln>
        </p:spPr>
      </p:sp>
      <p:sp>
        <p:nvSpPr>
          <p:cNvPr id="21" name="Text 19"/>
          <p:cNvSpPr/>
          <p:nvPr/>
        </p:nvSpPr>
        <p:spPr>
          <a:xfrm>
            <a:off x="4762906"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②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说明所需产出</a:t>
            </a:r>
            <a:pPr indent="0" marL="0">
              <a:buNone/>
            </a:pPr>
            <a:r>
              <a:rPr lang="en-US" sz="850" dirty="0">
                <a:solidFill>
                  <a:srgbClr val="5F7088"/>
                </a:solidFill>
                <a:latin typeface="Microsoft YaHei" pitchFamily="34" charset="0"/>
                <a:ea typeface="Microsoft YaHei" pitchFamily="34" charset="-122"/>
                <a:cs typeface="Microsoft YaHei" pitchFamily="34" charset="-120"/>
              </a:rPr>
              <a:t>　要几份、什么形态、多长</a:t>
            </a:r>
            <a:endParaRPr lang="en-US" sz="950" dirty="0"/>
          </a:p>
        </p:txBody>
      </p:sp>
      <p:sp>
        <p:nvSpPr>
          <p:cNvPr id="22" name="Shape 20"/>
          <p:cNvSpPr/>
          <p:nvPr/>
        </p:nvSpPr>
        <p:spPr>
          <a:xfrm>
            <a:off x="8010957" y="2208276"/>
            <a:ext cx="3266338" cy="256032"/>
          </a:xfrm>
          <a:prstGeom prst="roundRect">
            <a:avLst>
              <a:gd name="adj" fmla="val 17857"/>
            </a:avLst>
          </a:prstGeom>
          <a:solidFill>
            <a:srgbClr val="F2C9B4"/>
          </a:solidFill>
          <a:ln w="12700">
            <a:solidFill>
              <a:srgbClr val="DFB09C"/>
            </a:solidFill>
            <a:prstDash val="solid"/>
          </a:ln>
        </p:spPr>
      </p:sp>
      <p:sp>
        <p:nvSpPr>
          <p:cNvPr id="23" name="Text 21"/>
          <p:cNvSpPr/>
          <p:nvPr/>
        </p:nvSpPr>
        <p:spPr>
          <a:xfrm>
            <a:off x="8120685"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③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限定不取什么</a:t>
            </a:r>
            <a:pPr indent="0" marL="0">
              <a:buNone/>
            </a:pPr>
            <a:r>
              <a:rPr lang="en-US" sz="850" dirty="0">
                <a:solidFill>
                  <a:srgbClr val="5F7088"/>
                </a:solidFill>
                <a:latin typeface="Microsoft YaHei" pitchFamily="34" charset="0"/>
                <a:ea typeface="Microsoft YaHei" pitchFamily="34" charset="-122"/>
                <a:cs typeface="Microsoft YaHei" pitchFamily="34" charset="-120"/>
              </a:rPr>
              <a:t>　哪些写法一律不要</a:t>
            </a:r>
            <a:endParaRPr lang="en-US" sz="950" dirty="0"/>
          </a:p>
        </p:txBody>
      </p:sp>
      <p:sp>
        <p:nvSpPr>
          <p:cNvPr id="24" name="Shape 22"/>
          <p:cNvSpPr/>
          <p:nvPr/>
        </p:nvSpPr>
        <p:spPr>
          <a:xfrm>
            <a:off x="1295400" y="2574036"/>
            <a:ext cx="9981895" cy="822960"/>
          </a:xfrm>
          <a:prstGeom prst="roundRect">
            <a:avLst>
              <a:gd name="adj" fmla="val 8889"/>
            </a:avLst>
          </a:prstGeom>
          <a:solidFill>
            <a:srgbClr val="FFFFFF"/>
          </a:solidFill>
          <a:ln w="12700">
            <a:solidFill>
              <a:srgbClr val="D9E2EF"/>
            </a:solidFill>
            <a:prstDash val="solid"/>
          </a:ln>
        </p:spPr>
      </p:sp>
      <p:sp>
        <p:nvSpPr>
          <p:cNvPr id="25" name="Shape 23"/>
          <p:cNvSpPr/>
          <p:nvPr/>
        </p:nvSpPr>
        <p:spPr>
          <a:xfrm>
            <a:off x="1295400" y="2619756"/>
            <a:ext cx="38100" cy="731520"/>
          </a:xfrm>
          <a:prstGeom prst="rect">
            <a:avLst/>
          </a:prstGeom>
          <a:solidFill>
            <a:srgbClr val="C2552F"/>
          </a:solidFill>
          <a:ln w="12700">
            <a:solidFill>
              <a:srgbClr val="A8421F"/>
            </a:solidFill>
            <a:prstDash val="solid"/>
          </a:ln>
        </p:spPr>
      </p:sp>
      <p:sp>
        <p:nvSpPr>
          <p:cNvPr id="26" name="Text 24"/>
          <p:cNvSpPr/>
          <p:nvPr/>
        </p:nvSpPr>
        <p:spPr>
          <a:xfrm>
            <a:off x="1533144" y="2729484"/>
            <a:ext cx="1060704" cy="2560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量规初稿</a:t>
            </a:r>
            <a:endParaRPr lang="en-US" sz="1150" dirty="0"/>
          </a:p>
        </p:txBody>
      </p:sp>
      <p:sp>
        <p:nvSpPr>
          <p:cNvPr id="27" name="Text 25"/>
          <p:cNvSpPr/>
          <p:nvPr/>
        </p:nvSpPr>
        <p:spPr>
          <a:xfrm>
            <a:off x="2795016" y="2702052"/>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27364A"/>
                </a:solidFill>
                <a:highlight>
                  <a:srgbClr val="DBEAFE"/>
                </a:highlight>
                <a:latin typeface="Microsoft YaHei" pitchFamily="34" charset="0"/>
                <a:ea typeface="Microsoft YaHei" pitchFamily="34" charset="-122"/>
                <a:cs typeface="Microsoft YaHei" pitchFamily="34" charset="-120"/>
              </a:rPr>
              <a:t>我要给五年级一项科学护眼探究任务。评价维度是问题意识、探究实践能力、反思改进能力、合作交流能力。</a:t>
            </a:r>
            <a:pPr indent="0" marL="0">
              <a:lnSpc>
                <a:spcPct val="150000"/>
              </a:lnSpc>
              <a:buNone/>
            </a:pPr>
            <a:r>
              <a:rPr lang="en-US" sz="1200" u="sng" dirty="0">
                <a:solidFill>
                  <a:srgbClr val="27364A"/>
                </a:solidFill>
                <a:uFill>
                  <a:solidFill>
                    <a:srgbClr val="9FB6D4"/>
                  </a:solidFill>
                </a:uFill>
                <a:latin typeface="Microsoft YaHei" pitchFamily="34" charset="0"/>
                <a:ea typeface="Microsoft YaHei" pitchFamily="34" charset="-122"/>
                <a:cs typeface="Microsoft YaHei" pitchFamily="34" charset="-120"/>
              </a:rPr>
              <a:t>请为这四个维度各写一张四级量规，每一级用学生做得出来的行为来描述。</a:t>
            </a:r>
            <a:pPr indent="0" marL="0">
              <a:lnSpc>
                <a:spcPct val="150000"/>
              </a:lnSpc>
              <a:buNone/>
            </a:pPr>
            <a:r>
              <a:rPr lang="en-US" sz="1200" dirty="0">
                <a:solidFill>
                  <a:srgbClr val="27364A"/>
                </a:solidFill>
                <a:highlight>
                  <a:srgbClr val="F2C9B4"/>
                </a:highlight>
                <a:latin typeface="Microsoft YaHei" pitchFamily="34" charset="0"/>
                <a:ea typeface="Microsoft YaHei" pitchFamily="34" charset="-122"/>
                <a:cs typeface="Microsoft YaHei" pitchFamily="34" charset="-120"/>
              </a:rPr>
              <a:t>不要使用较好、优秀这类词。</a:t>
            </a:r>
            <a:endParaRPr lang="en-US" sz="1200" dirty="0"/>
          </a:p>
        </p:txBody>
      </p:sp>
      <p:sp>
        <p:nvSpPr>
          <p:cNvPr id="28" name="Shape 26"/>
          <p:cNvSpPr/>
          <p:nvPr/>
        </p:nvSpPr>
        <p:spPr>
          <a:xfrm>
            <a:off x="1295400" y="3525012"/>
            <a:ext cx="9981895" cy="822960"/>
          </a:xfrm>
          <a:prstGeom prst="roundRect">
            <a:avLst>
              <a:gd name="adj" fmla="val 8889"/>
            </a:avLst>
          </a:prstGeom>
          <a:solidFill>
            <a:srgbClr val="FFFFFF"/>
          </a:solidFill>
          <a:ln w="12700">
            <a:solidFill>
              <a:srgbClr val="D9E2EF"/>
            </a:solidFill>
            <a:prstDash val="solid"/>
          </a:ln>
        </p:spPr>
      </p:sp>
      <p:sp>
        <p:nvSpPr>
          <p:cNvPr id="29" name="Shape 27"/>
          <p:cNvSpPr/>
          <p:nvPr/>
        </p:nvSpPr>
        <p:spPr>
          <a:xfrm>
            <a:off x="1295400" y="3570732"/>
            <a:ext cx="38100" cy="731520"/>
          </a:xfrm>
          <a:prstGeom prst="rect">
            <a:avLst/>
          </a:prstGeom>
          <a:solidFill>
            <a:srgbClr val="C2552F"/>
          </a:solidFill>
          <a:ln w="12700">
            <a:solidFill>
              <a:srgbClr val="A8421F"/>
            </a:solidFill>
            <a:prstDash val="solid"/>
          </a:ln>
        </p:spPr>
      </p:sp>
      <p:sp>
        <p:nvSpPr>
          <p:cNvPr id="30" name="Text 28"/>
          <p:cNvSpPr/>
          <p:nvPr/>
        </p:nvSpPr>
        <p:spPr>
          <a:xfrm>
            <a:off x="1533144" y="3680460"/>
            <a:ext cx="1060704" cy="2560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三档任务单</a:t>
            </a:r>
            <a:endParaRPr lang="en-US" sz="1150" dirty="0"/>
          </a:p>
        </p:txBody>
      </p:sp>
      <p:sp>
        <p:nvSpPr>
          <p:cNvPr id="31" name="Text 29"/>
          <p:cNvSpPr/>
          <p:nvPr/>
        </p:nvSpPr>
        <p:spPr>
          <a:xfrm>
            <a:off x="2795016" y="3653028"/>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27364A"/>
                </a:solidFill>
                <a:highlight>
                  <a:srgbClr val="DBEAFE"/>
                </a:highlight>
                <a:latin typeface="Microsoft YaHei" pitchFamily="34" charset="0"/>
                <a:ea typeface="Microsoft YaHei" pitchFamily="34" charset="-122"/>
                <a:cs typeface="Microsoft YaHei" pitchFamily="34" charset="-120"/>
              </a:rPr>
              <a:t>同一项任务，学生水平分三层。</a:t>
            </a:r>
            <a:pPr indent="0" marL="0">
              <a:lnSpc>
                <a:spcPct val="150000"/>
              </a:lnSpc>
              <a:buNone/>
            </a:pPr>
            <a:r>
              <a:rPr lang="en-US" sz="1200" u="sng" dirty="0">
                <a:solidFill>
                  <a:srgbClr val="27364A"/>
                </a:solidFill>
                <a:uFill>
                  <a:solidFill>
                    <a:srgbClr val="9FB6D4"/>
                  </a:solidFill>
                </a:uFill>
                <a:latin typeface="Microsoft YaHei" pitchFamily="34" charset="0"/>
                <a:ea typeface="Microsoft YaHei" pitchFamily="34" charset="-122"/>
                <a:cs typeface="Microsoft YaHei" pitchFamily="34" charset="-120"/>
              </a:rPr>
              <a:t>请写三份任务单：基础档只要求完成规定步骤，常规档要求自主设计一个变量，拓展档要求增加一次测试与改进。</a:t>
            </a:r>
            <a:pPr indent="0" marL="0">
              <a:lnSpc>
                <a:spcPct val="150000"/>
              </a:lnSpc>
              <a:buNone/>
            </a:pPr>
            <a:r>
              <a:rPr lang="en-US" sz="1200" dirty="0">
                <a:solidFill>
                  <a:srgbClr val="27364A"/>
                </a:solidFill>
                <a:highlight>
                  <a:srgbClr val="F2C9B4"/>
                </a:highlight>
                <a:latin typeface="Microsoft YaHei" pitchFamily="34" charset="0"/>
                <a:ea typeface="Microsoft YaHei" pitchFamily="34" charset="-122"/>
                <a:cs typeface="Microsoft YaHei" pitchFamily="34" charset="-120"/>
              </a:rPr>
              <a:t>每份不超过二百字，不要写导语和结语。</a:t>
            </a:r>
            <a:endParaRPr lang="en-US" sz="1200" dirty="0"/>
          </a:p>
        </p:txBody>
      </p:sp>
      <p:sp>
        <p:nvSpPr>
          <p:cNvPr id="32" name="Shape 30"/>
          <p:cNvSpPr/>
          <p:nvPr/>
        </p:nvSpPr>
        <p:spPr>
          <a:xfrm>
            <a:off x="1295400" y="4475988"/>
            <a:ext cx="9981895" cy="822960"/>
          </a:xfrm>
          <a:prstGeom prst="roundRect">
            <a:avLst>
              <a:gd name="adj" fmla="val 8889"/>
            </a:avLst>
          </a:prstGeom>
          <a:solidFill>
            <a:srgbClr val="FFFFFF"/>
          </a:solidFill>
          <a:ln w="12700">
            <a:solidFill>
              <a:srgbClr val="D9E2EF"/>
            </a:solidFill>
            <a:prstDash val="solid"/>
          </a:ln>
        </p:spPr>
      </p:sp>
      <p:sp>
        <p:nvSpPr>
          <p:cNvPr id="33" name="Shape 31"/>
          <p:cNvSpPr/>
          <p:nvPr/>
        </p:nvSpPr>
        <p:spPr>
          <a:xfrm>
            <a:off x="1295400" y="4521708"/>
            <a:ext cx="38100" cy="731520"/>
          </a:xfrm>
          <a:prstGeom prst="rect">
            <a:avLst/>
          </a:prstGeom>
          <a:solidFill>
            <a:srgbClr val="C2552F"/>
          </a:solidFill>
          <a:ln w="12700">
            <a:solidFill>
              <a:srgbClr val="A8421F"/>
            </a:solidFill>
            <a:prstDash val="solid"/>
          </a:ln>
        </p:spPr>
      </p:sp>
      <p:sp>
        <p:nvSpPr>
          <p:cNvPr id="34" name="Text 32"/>
          <p:cNvSpPr/>
          <p:nvPr/>
        </p:nvSpPr>
        <p:spPr>
          <a:xfrm>
            <a:off x="1533144" y="4631436"/>
            <a:ext cx="1060704" cy="2560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写实记录整理</a:t>
            </a:r>
            <a:endParaRPr lang="en-US" sz="1150" dirty="0"/>
          </a:p>
        </p:txBody>
      </p:sp>
      <p:sp>
        <p:nvSpPr>
          <p:cNvPr id="35" name="Text 33"/>
          <p:cNvSpPr/>
          <p:nvPr/>
        </p:nvSpPr>
        <p:spPr>
          <a:xfrm>
            <a:off x="2795016" y="4604004"/>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27364A"/>
                </a:solidFill>
                <a:highlight>
                  <a:srgbClr val="DBEAFE"/>
                </a:highlight>
                <a:latin typeface="Microsoft YaHei" pitchFamily="34" charset="0"/>
                <a:ea typeface="Microsoft YaHei" pitchFamily="34" charset="-122"/>
                <a:cs typeface="Microsoft YaHei" pitchFamily="34" charset="-120"/>
              </a:rPr>
              <a:t>以下是一名学生一学期的过程记录，该生以代号 A3 表示。</a:t>
            </a:r>
            <a:pPr indent="0" marL="0">
              <a:lnSpc>
                <a:spcPct val="150000"/>
              </a:lnSpc>
              <a:buNone/>
            </a:pPr>
            <a:r>
              <a:rPr lang="en-US" sz="1200" u="sng" dirty="0">
                <a:solidFill>
                  <a:srgbClr val="27364A"/>
                </a:solidFill>
                <a:uFill>
                  <a:solidFill>
                    <a:srgbClr val="9FB6D4"/>
                  </a:solidFill>
                </a:uFill>
                <a:latin typeface="Microsoft YaHei" pitchFamily="34" charset="0"/>
                <a:ea typeface="Microsoft YaHei" pitchFamily="34" charset="-122"/>
                <a:cs typeface="Microsoft YaHei" pitchFamily="34" charset="-120"/>
              </a:rPr>
              <a:t>请归并为综合素质评价写实记录的条目，每条包含时间、活动名称与该生的具体行为。</a:t>
            </a:r>
            <a:pPr indent="0" marL="0">
              <a:lnSpc>
                <a:spcPct val="150000"/>
              </a:lnSpc>
              <a:buNone/>
            </a:pPr>
            <a:r>
              <a:rPr lang="en-US" sz="1200" dirty="0">
                <a:solidFill>
                  <a:srgbClr val="27364A"/>
                </a:solidFill>
                <a:highlight>
                  <a:srgbClr val="F2C9B4"/>
                </a:highlight>
                <a:latin typeface="Microsoft YaHei" pitchFamily="34" charset="0"/>
                <a:ea typeface="Microsoft YaHei" pitchFamily="34" charset="-122"/>
                <a:cs typeface="Microsoft YaHei" pitchFamily="34" charset="-120"/>
              </a:rPr>
              <a:t>不要出现评价性形容词。</a:t>
            </a:r>
            <a:endParaRPr lang="en-US" sz="1200" dirty="0"/>
          </a:p>
        </p:txBody>
      </p:sp>
      <p:sp>
        <p:nvSpPr>
          <p:cNvPr id="36" name="Shape 34"/>
          <p:cNvSpPr/>
          <p:nvPr/>
        </p:nvSpPr>
        <p:spPr>
          <a:xfrm>
            <a:off x="1295400" y="5888736"/>
            <a:ext cx="9981895" cy="0"/>
          </a:xfrm>
          <a:prstGeom prst="line">
            <a:avLst/>
          </a:prstGeom>
          <a:noFill/>
          <a:ln w="12700">
            <a:solidFill>
              <a:srgbClr val="D9E2EF"/>
            </a:solidFill>
            <a:prstDash val="solid"/>
          </a:ln>
        </p:spPr>
      </p:sp>
      <p:sp>
        <p:nvSpPr>
          <p:cNvPr id="37" name="Text 3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第三段最要紧。去掉它，返回的是一段泛泛的套话；写上它，返回的才是能改的初稿。三条返回的都是初稿，教师逐条改过才能用。</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环节配置的三项判断</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该环节要训练的能力是什么</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AI 替代的是否正是该能力</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若已被替代，用什么加以补偿</a:t>
            </a:r>
            <a:endParaRPr lang="en-US" sz="2300" dirty="0"/>
          </a:p>
        </p:txBody>
      </p:sp>
      <p:sp>
        <p:nvSpPr>
          <p:cNvPr id="23" name="Shape 21"/>
          <p:cNvSpPr/>
          <p:nvPr/>
        </p:nvSpPr>
        <p:spPr>
          <a:xfrm>
            <a:off x="1295400" y="5888736"/>
            <a:ext cx="9981895" cy="0"/>
          </a:xfrm>
          <a:prstGeom prst="line">
            <a:avLst/>
          </a:prstGeom>
          <a:noFill/>
          <a:ln w="12700">
            <a:solidFill>
              <a:srgbClr val="D9E2EF"/>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三项判断适用于任何一个环节，不依赖对具体工具的了解。</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判据</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81B3A"/>
                </a:solidFill>
                <a:latin typeface="Microsoft YaHei" pitchFamily="34" charset="0"/>
                <a:ea typeface="Microsoft YaHei" pitchFamily="34" charset="-122"/>
                <a:cs typeface="Microsoft YaHei" pitchFamily="34" charset="-120"/>
              </a:rPr>
              <a:t>判据只有一条：该环节的困难，是否属于课程要求学生经历的困难。</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六环节配置表（空白）</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95400" y="1952244"/>
          <a:ext cx="9981895" cy="914400"/>
        </p:xfrm>
        <a:graphic>
          <a:graphicData uri="http://schemas.openxmlformats.org/drawingml/2006/table">
            <a:tbl>
              <a:tblPr/>
              <a:tblGrid>
                <a:gridCol w="2103120"/>
                <a:gridCol w="2624328"/>
                <a:gridCol w="2624328"/>
                <a:gridCol w="2624328"/>
              </a:tblGrid>
              <a:tr h="457200">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这一步要练的能力</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AI 替掉的是不是它</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用什么补回来</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提出问题和假设</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设计方案</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搜集分析证据</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得出结论并解释</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制作改进</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交流反思</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本表可直接打印使用，每项任务填写一张。</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六个环节的收放配置</a:t>
            </a:r>
            <a:endParaRPr lang="en-US" sz="3200" dirty="0"/>
          </a:p>
        </p:txBody>
      </p:sp>
      <p:pic>
        <p:nvPicPr>
          <p:cNvPr id="17" name="Image 0" descr="/home/user/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8" name="Text 15"/>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27364A"/>
                </a:solidFill>
                <a:latin typeface="Microsoft YaHei" pitchFamily="34" charset="0"/>
                <a:ea typeface="Microsoft YaHei" pitchFamily="34" charset="-122"/>
                <a:cs typeface="Microsoft YaHei" pitchFamily="34" charset="-120"/>
              </a:rPr>
              <a:t>内核收紧，外圈放开。六个环节自身呈前紧后松，任务前的背景检索与任务后的表达传播可以放开。</a:t>
            </a:r>
            <a:endParaRPr lang="en-US" sz="1600" dirty="0"/>
          </a:p>
        </p:txBody>
      </p:sp>
      <p:sp>
        <p:nvSpPr>
          <p:cNvPr id="19" name="Text 16"/>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该配置与常见直觉相反。教师的第一反应多为借助 AI 生成选题方向，而选题恰是最应收紧的环节。</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学生侧放开的三种用法</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上一页的刻度图中，放与半放的部分具体指以下三种。每一种都配一条约束与一项留痕要求。</a:t>
            </a:r>
            <a:endParaRPr lang="en-US" sz="1150" dirty="0"/>
          </a:p>
        </p:txBody>
      </p:sp>
      <p:sp>
        <p:nvSpPr>
          <p:cNvPr id="18" name="Shape 16"/>
          <p:cNvSpPr/>
          <p:nvPr/>
        </p:nvSpPr>
        <p:spPr>
          <a:xfrm>
            <a:off x="1295400" y="2281428"/>
            <a:ext cx="3205378" cy="2286000"/>
          </a:xfrm>
          <a:prstGeom prst="roundRect">
            <a:avLst>
              <a:gd name="adj" fmla="val 3600"/>
            </a:avLst>
          </a:prstGeom>
          <a:solidFill>
            <a:srgbClr val="FFFFFF"/>
          </a:solidFill>
          <a:ln w="12700">
            <a:solidFill>
              <a:srgbClr val="D9E2EF"/>
            </a:solidFill>
            <a:prstDash val="solid"/>
          </a:ln>
        </p:spPr>
      </p:sp>
      <p:sp>
        <p:nvSpPr>
          <p:cNvPr id="19" name="Shape 17"/>
          <p:cNvSpPr/>
          <p:nvPr/>
        </p:nvSpPr>
        <p:spPr>
          <a:xfrm>
            <a:off x="1359408" y="2281428"/>
            <a:ext cx="3077362" cy="38100"/>
          </a:xfrm>
          <a:prstGeom prst="rect">
            <a:avLst/>
          </a:prstGeom>
          <a:solidFill>
            <a:srgbClr val="2563EB"/>
          </a:solidFill>
          <a:ln w="12700">
            <a:solidFill>
              <a:srgbClr val="2563EB"/>
            </a:solidFill>
            <a:prstDash val="solid"/>
          </a:ln>
        </p:spPr>
      </p:sp>
      <p:sp>
        <p:nvSpPr>
          <p:cNvPr id="20" name="Text 18"/>
          <p:cNvSpPr/>
          <p:nvPr/>
        </p:nvSpPr>
        <p:spPr>
          <a:xfrm>
            <a:off x="1478280"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背景检索的对照</a:t>
            </a:r>
            <a:endParaRPr lang="en-US" sz="1500" dirty="0"/>
          </a:p>
        </p:txBody>
      </p:sp>
      <p:sp>
        <p:nvSpPr>
          <p:cNvPr id="21" name="Text 19"/>
          <p:cNvSpPr/>
          <p:nvPr/>
        </p:nvSpPr>
        <p:spPr>
          <a:xfrm>
            <a:off x="1478280"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学生先自行提出问题，再用 AI 检索同类问题的既有表述。</a:t>
            </a:r>
            <a:endParaRPr lang="en-US" sz="1200" dirty="0"/>
          </a:p>
        </p:txBody>
      </p:sp>
      <p:sp>
        <p:nvSpPr>
          <p:cNvPr id="22" name="Shape 20"/>
          <p:cNvSpPr/>
          <p:nvPr/>
        </p:nvSpPr>
        <p:spPr>
          <a:xfrm>
            <a:off x="1478280" y="3616452"/>
            <a:ext cx="2839618" cy="0"/>
          </a:xfrm>
          <a:prstGeom prst="line">
            <a:avLst/>
          </a:prstGeom>
          <a:noFill/>
          <a:ln w="12700">
            <a:solidFill>
              <a:srgbClr val="D9E2EF"/>
            </a:solidFill>
            <a:prstDash val="solid"/>
          </a:ln>
        </p:spPr>
      </p:sp>
      <p:sp>
        <p:nvSpPr>
          <p:cNvPr id="23" name="Text 21"/>
          <p:cNvSpPr/>
          <p:nvPr/>
        </p:nvSpPr>
        <p:spPr>
          <a:xfrm>
            <a:off x="1478280"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检索结果作为对照，不作为替代。</a:t>
            </a:r>
            <a:endParaRPr lang="en-US" sz="1050" dirty="0"/>
          </a:p>
        </p:txBody>
      </p:sp>
      <p:sp>
        <p:nvSpPr>
          <p:cNvPr id="24" name="Text 22"/>
          <p:cNvSpPr/>
          <p:nvPr/>
        </p:nvSpPr>
        <p:spPr>
          <a:xfrm>
            <a:off x="1478280"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记下自己原来的问法与 AI 给出的问法。</a:t>
            </a:r>
            <a:endParaRPr lang="en-US" sz="1050" dirty="0"/>
          </a:p>
        </p:txBody>
      </p:sp>
      <p:sp>
        <p:nvSpPr>
          <p:cNvPr id="25" name="Shape 23"/>
          <p:cNvSpPr/>
          <p:nvPr/>
        </p:nvSpPr>
        <p:spPr>
          <a:xfrm>
            <a:off x="4683658" y="2281428"/>
            <a:ext cx="3205378" cy="2286000"/>
          </a:xfrm>
          <a:prstGeom prst="roundRect">
            <a:avLst>
              <a:gd name="adj" fmla="val 3600"/>
            </a:avLst>
          </a:prstGeom>
          <a:solidFill>
            <a:srgbClr val="FFFFFF"/>
          </a:solidFill>
          <a:ln w="12700">
            <a:solidFill>
              <a:srgbClr val="D9E2EF"/>
            </a:solidFill>
            <a:prstDash val="solid"/>
          </a:ln>
        </p:spPr>
      </p:sp>
      <p:sp>
        <p:nvSpPr>
          <p:cNvPr id="26" name="Shape 24"/>
          <p:cNvSpPr/>
          <p:nvPr/>
        </p:nvSpPr>
        <p:spPr>
          <a:xfrm>
            <a:off x="4747666" y="2281428"/>
            <a:ext cx="3077362" cy="38100"/>
          </a:xfrm>
          <a:prstGeom prst="rect">
            <a:avLst/>
          </a:prstGeom>
          <a:solidFill>
            <a:srgbClr val="2563EB"/>
          </a:solidFill>
          <a:ln w="12700">
            <a:solidFill>
              <a:srgbClr val="2563EB"/>
            </a:solidFill>
            <a:prstDash val="solid"/>
          </a:ln>
        </p:spPr>
      </p:sp>
      <p:sp>
        <p:nvSpPr>
          <p:cNvPr id="27" name="Text 25"/>
          <p:cNvSpPr/>
          <p:nvPr/>
        </p:nvSpPr>
        <p:spPr>
          <a:xfrm>
            <a:off x="4866538"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数据整理与作图</a:t>
            </a:r>
            <a:endParaRPr lang="en-US" sz="1500" dirty="0"/>
          </a:p>
        </p:txBody>
      </p:sp>
      <p:sp>
        <p:nvSpPr>
          <p:cNvPr id="28" name="Text 26"/>
          <p:cNvSpPr/>
          <p:nvPr/>
        </p:nvSpPr>
        <p:spPr>
          <a:xfrm>
            <a:off x="4866538"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原始数据由学生自行测量，整理、作图与异常值标注可以借助 AI。</a:t>
            </a:r>
            <a:endParaRPr lang="en-US" sz="1200" dirty="0"/>
          </a:p>
        </p:txBody>
      </p:sp>
      <p:sp>
        <p:nvSpPr>
          <p:cNvPr id="29" name="Shape 27"/>
          <p:cNvSpPr/>
          <p:nvPr/>
        </p:nvSpPr>
        <p:spPr>
          <a:xfrm>
            <a:off x="4866538" y="3616452"/>
            <a:ext cx="2839618" cy="0"/>
          </a:xfrm>
          <a:prstGeom prst="line">
            <a:avLst/>
          </a:prstGeom>
          <a:noFill/>
          <a:ln w="12700">
            <a:solidFill>
              <a:srgbClr val="D9E2EF"/>
            </a:solidFill>
            <a:prstDash val="solid"/>
          </a:ln>
        </p:spPr>
      </p:sp>
      <p:sp>
        <p:nvSpPr>
          <p:cNvPr id="30" name="Text 28"/>
          <p:cNvSpPr/>
          <p:nvPr/>
        </p:nvSpPr>
        <p:spPr>
          <a:xfrm>
            <a:off x="4866538"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不得由 AI 生成数据。</a:t>
            </a:r>
            <a:endParaRPr lang="en-US" sz="1050" dirty="0"/>
          </a:p>
        </p:txBody>
      </p:sp>
      <p:sp>
        <p:nvSpPr>
          <p:cNvPr id="31" name="Text 29"/>
          <p:cNvSpPr/>
          <p:nvPr/>
        </p:nvSpPr>
        <p:spPr>
          <a:xfrm>
            <a:off x="4866538"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保留原始记录表。</a:t>
            </a:r>
            <a:endParaRPr lang="en-US" sz="1050" dirty="0"/>
          </a:p>
        </p:txBody>
      </p:sp>
      <p:sp>
        <p:nvSpPr>
          <p:cNvPr id="32" name="Shape 30"/>
          <p:cNvSpPr/>
          <p:nvPr/>
        </p:nvSpPr>
        <p:spPr>
          <a:xfrm>
            <a:off x="8071917" y="2281428"/>
            <a:ext cx="3205378" cy="2286000"/>
          </a:xfrm>
          <a:prstGeom prst="roundRect">
            <a:avLst>
              <a:gd name="adj" fmla="val 3600"/>
            </a:avLst>
          </a:prstGeom>
          <a:solidFill>
            <a:srgbClr val="FFFFFF"/>
          </a:solidFill>
          <a:ln w="12700">
            <a:solidFill>
              <a:srgbClr val="D9E2EF"/>
            </a:solidFill>
            <a:prstDash val="solid"/>
          </a:ln>
        </p:spPr>
      </p:sp>
      <p:sp>
        <p:nvSpPr>
          <p:cNvPr id="33" name="Shape 31"/>
          <p:cNvSpPr/>
          <p:nvPr/>
        </p:nvSpPr>
        <p:spPr>
          <a:xfrm>
            <a:off x="8135925" y="2281428"/>
            <a:ext cx="3077362" cy="38100"/>
          </a:xfrm>
          <a:prstGeom prst="rect">
            <a:avLst/>
          </a:prstGeom>
          <a:solidFill>
            <a:srgbClr val="2563EB"/>
          </a:solidFill>
          <a:ln w="12700">
            <a:solidFill>
              <a:srgbClr val="2563EB"/>
            </a:solidFill>
            <a:prstDash val="solid"/>
          </a:ln>
        </p:spPr>
      </p:sp>
      <p:sp>
        <p:nvSpPr>
          <p:cNvPr id="34" name="Text 32"/>
          <p:cNvSpPr/>
          <p:nvPr/>
        </p:nvSpPr>
        <p:spPr>
          <a:xfrm>
            <a:off x="8254797"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表达与传播</a:t>
            </a:r>
            <a:endParaRPr lang="en-US" sz="1500" dirty="0"/>
          </a:p>
        </p:txBody>
      </p:sp>
      <p:sp>
        <p:nvSpPr>
          <p:cNvPr id="35" name="Text 33"/>
          <p:cNvSpPr/>
          <p:nvPr/>
        </p:nvSpPr>
        <p:spPr>
          <a:xfrm>
            <a:off x="8254797"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结题材料的润色、海报排版、科普稿的改写。</a:t>
            </a:r>
            <a:endParaRPr lang="en-US" sz="1200" dirty="0"/>
          </a:p>
        </p:txBody>
      </p:sp>
      <p:sp>
        <p:nvSpPr>
          <p:cNvPr id="36" name="Shape 34"/>
          <p:cNvSpPr/>
          <p:nvPr/>
        </p:nvSpPr>
        <p:spPr>
          <a:xfrm>
            <a:off x="8254797" y="3616452"/>
            <a:ext cx="2839618" cy="0"/>
          </a:xfrm>
          <a:prstGeom prst="line">
            <a:avLst/>
          </a:prstGeom>
          <a:noFill/>
          <a:ln w="12700">
            <a:solidFill>
              <a:srgbClr val="D9E2EF"/>
            </a:solidFill>
            <a:prstDash val="solid"/>
          </a:ln>
        </p:spPr>
      </p:sp>
      <p:sp>
        <p:nvSpPr>
          <p:cNvPr id="37" name="Text 35"/>
          <p:cNvSpPr/>
          <p:nvPr/>
        </p:nvSpPr>
        <p:spPr>
          <a:xfrm>
            <a:off x="8254797"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结论与判断不得由 AI 生成。</a:t>
            </a:r>
            <a:endParaRPr lang="en-US" sz="1050" dirty="0"/>
          </a:p>
        </p:txBody>
      </p:sp>
      <p:sp>
        <p:nvSpPr>
          <p:cNvPr id="38" name="Text 36"/>
          <p:cNvSpPr/>
          <p:nvPr/>
        </p:nvSpPr>
        <p:spPr>
          <a:xfrm>
            <a:off x="8254797"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成果上标注 AI 参与的部分。</a:t>
            </a:r>
            <a:endParaRPr lang="en-US" sz="1050" dirty="0"/>
          </a:p>
        </p:txBody>
      </p:sp>
      <p:sp>
        <p:nvSpPr>
          <p:cNvPr id="39" name="Shape 37"/>
          <p:cNvSpPr/>
          <p:nvPr/>
        </p:nvSpPr>
        <p:spPr>
          <a:xfrm>
            <a:off x="1295400" y="5888736"/>
            <a:ext cx="9981895" cy="0"/>
          </a:xfrm>
          <a:prstGeom prst="line">
            <a:avLst/>
          </a:prstGeom>
          <a:noFill/>
          <a:ln w="12700">
            <a:solidFill>
              <a:srgbClr val="D9E2EF"/>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三种用法之外的环节，按上一页的刻度收紧。</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生命健康主题的两项任务</a:t>
            </a:r>
            <a:endParaRPr lang="en-US" sz="3200" dirty="0"/>
          </a:p>
        </p:txBody>
      </p:sp>
      <p:sp>
        <p:nvSpPr>
          <p:cNvPr id="17" name="Shape 15"/>
          <p:cNvSpPr/>
          <p:nvPr/>
        </p:nvSpPr>
        <p:spPr>
          <a:xfrm>
            <a:off x="1295400" y="1860804"/>
            <a:ext cx="4881220" cy="2971800"/>
          </a:xfrm>
          <a:prstGeom prst="roundRect">
            <a:avLst>
              <a:gd name="adj" fmla="val 2769"/>
            </a:avLst>
          </a:prstGeom>
          <a:solidFill>
            <a:srgbClr val="FFFFFF"/>
          </a:solidFill>
          <a:ln w="12700">
            <a:solidFill>
              <a:srgbClr val="D9E2EF"/>
            </a:solidFill>
            <a:prstDash val="solid"/>
          </a:ln>
        </p:spPr>
      </p:sp>
      <p:sp>
        <p:nvSpPr>
          <p:cNvPr id="18" name="Shape 16"/>
          <p:cNvSpPr/>
          <p:nvPr/>
        </p:nvSpPr>
        <p:spPr>
          <a:xfrm>
            <a:off x="1359408" y="1860804"/>
            <a:ext cx="4753204" cy="38100"/>
          </a:xfrm>
          <a:prstGeom prst="rect">
            <a:avLst/>
          </a:prstGeom>
          <a:solidFill>
            <a:srgbClr val="1D4ED8"/>
          </a:solidFill>
          <a:ln w="12700">
            <a:solidFill>
              <a:srgbClr val="1D4ED8"/>
            </a:solidFill>
            <a:prstDash val="solid"/>
          </a:ln>
        </p:spPr>
      </p:sp>
      <p:sp>
        <p:nvSpPr>
          <p:cNvPr id="19" name="Text 17"/>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科学护眼</a:t>
            </a:r>
            <a:endParaRPr lang="en-US" sz="1700" dirty="0"/>
          </a:p>
        </p:txBody>
      </p:sp>
      <p:sp>
        <p:nvSpPr>
          <p:cNvPr id="20" name="Text 18"/>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1" name="Text 19"/>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2" name="Text 20"/>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3" name="Shape 21"/>
          <p:cNvSpPr/>
          <p:nvPr/>
        </p:nvSpPr>
        <p:spPr>
          <a:xfrm>
            <a:off x="6396076" y="1860804"/>
            <a:ext cx="4881220" cy="2971800"/>
          </a:xfrm>
          <a:prstGeom prst="roundRect">
            <a:avLst>
              <a:gd name="adj" fmla="val 2769"/>
            </a:avLst>
          </a:prstGeom>
          <a:solidFill>
            <a:srgbClr val="FFFFFF"/>
          </a:solidFill>
          <a:ln w="12700">
            <a:solidFill>
              <a:srgbClr val="D9E2EF"/>
            </a:solidFill>
            <a:prstDash val="solid"/>
          </a:ln>
        </p:spPr>
      </p:sp>
      <p:sp>
        <p:nvSpPr>
          <p:cNvPr id="24" name="Shape 22"/>
          <p:cNvSpPr/>
          <p:nvPr/>
        </p:nvSpPr>
        <p:spPr>
          <a:xfrm>
            <a:off x="6460084" y="1860804"/>
            <a:ext cx="4753204" cy="38100"/>
          </a:xfrm>
          <a:prstGeom prst="rect">
            <a:avLst/>
          </a:prstGeom>
          <a:solidFill>
            <a:srgbClr val="C2552F"/>
          </a:solidFill>
          <a:ln w="12700">
            <a:solidFill>
              <a:srgbClr val="C2552F"/>
            </a:solidFill>
            <a:prstDash val="solid"/>
          </a:ln>
        </p:spPr>
      </p:sp>
      <p:sp>
        <p:nvSpPr>
          <p:cNvPr id="25" name="Text 23"/>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健康饮食</a:t>
            </a:r>
            <a:endParaRPr lang="en-US" sz="1700" dirty="0"/>
          </a:p>
        </p:txBody>
      </p:sp>
      <p:sp>
        <p:nvSpPr>
          <p:cNvPr id="26" name="Text 24"/>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7" name="Text 25"/>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8" name="Text 26"/>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提出问题和假设</a:t>
            </a:r>
            <a:endParaRPr lang="en-US" sz="3200" dirty="0"/>
          </a:p>
        </p:txBody>
      </p:sp>
      <p:sp>
        <p:nvSpPr>
          <p:cNvPr id="17" name="Shape 15"/>
          <p:cNvSpPr/>
          <p:nvPr/>
        </p:nvSpPr>
        <p:spPr>
          <a:xfrm>
            <a:off x="4495800" y="1220724"/>
            <a:ext cx="822960" cy="329184"/>
          </a:xfrm>
          <a:prstGeom prst="roundRect">
            <a:avLst>
              <a:gd name="adj" fmla="val 50000"/>
            </a:avLst>
          </a:prstGeom>
          <a:solidFill>
            <a:srgbClr val="7A2C10"/>
          </a:solidFill>
          <a:ln w="12700">
            <a:solidFill>
              <a:srgbClr val="7A2C10"/>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02436"/>
            <a:ext cx="601980" cy="155448"/>
          </a:xfrm>
          <a:prstGeom prst="roundRect">
            <a:avLst>
              <a:gd name="adj" fmla="val 17647"/>
            </a:avLst>
          </a:prstGeom>
          <a:solidFill>
            <a:srgbClr val="7A2C10"/>
          </a:solidFill>
          <a:ln w="12700">
            <a:solidFill>
              <a:srgbClr val="7A2C10"/>
            </a:solidFill>
            <a:prstDash val="solid"/>
          </a:ln>
        </p:spPr>
      </p:sp>
      <p:sp>
        <p:nvSpPr>
          <p:cNvPr id="20" name="Shape 18"/>
          <p:cNvSpPr/>
          <p:nvPr/>
        </p:nvSpPr>
        <p:spPr>
          <a:xfrm>
            <a:off x="7436815" y="1403604"/>
            <a:ext cx="601980" cy="27432"/>
          </a:xfrm>
          <a:prstGeom prst="rect">
            <a:avLst/>
          </a:prstGeom>
          <a:solidFill>
            <a:srgbClr val="A8421F"/>
          </a:solidFill>
          <a:ln w="12700">
            <a:solidFill>
              <a:srgbClr val="A8421F"/>
            </a:solidFill>
            <a:prstDash val="solid"/>
          </a:ln>
        </p:spPr>
      </p:sp>
      <p:sp>
        <p:nvSpPr>
          <p:cNvPr id="21" name="Shape 19"/>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1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以班级视力数据为起点。学生观察同学的用眼情况，自行提出待探究的问题。</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以体质健康监测数据为起点。学生调查同学对食物营养成分的认识偏差，自行提出问题。</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学生先自行提出问题。提出之后可用 AI 检索同类问题的既有表述，检索结果作为对照，不作为替代。</a:t>
            </a:r>
            <a:endParaRPr lang="en-US" sz="1800" dirty="0"/>
          </a:p>
        </p:txBody>
      </p:sp>
      <p:sp>
        <p:nvSpPr>
          <p:cNvPr id="36" name="Shape 34"/>
          <p:cNvSpPr/>
          <p:nvPr/>
        </p:nvSpPr>
        <p:spPr>
          <a:xfrm>
            <a:off x="1295400" y="5376672"/>
            <a:ext cx="9981895" cy="0"/>
          </a:xfrm>
          <a:prstGeom prst="line">
            <a:avLst/>
          </a:prstGeom>
          <a:noFill/>
          <a:ln w="12700">
            <a:solidFill>
              <a:srgbClr val="D9E2EF"/>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配套动作</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设置问题墙。真实困扰由学生自己提交，教师只做打磨，不代拟。这是问题意识唯一的取证机会。</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设计方案</a:t>
            </a:r>
            <a:endParaRPr lang="en-US" sz="3200" dirty="0"/>
          </a:p>
        </p:txBody>
      </p:sp>
      <p:sp>
        <p:nvSpPr>
          <p:cNvPr id="17" name="Shape 15"/>
          <p:cNvSpPr/>
          <p:nvPr/>
        </p:nvSpPr>
        <p:spPr>
          <a:xfrm>
            <a:off x="3233928" y="1220724"/>
            <a:ext cx="822960" cy="329184"/>
          </a:xfrm>
          <a:prstGeom prst="roundRect">
            <a:avLst>
              <a:gd name="adj" fmla="val 50000"/>
            </a:avLst>
          </a:prstGeom>
          <a:solidFill>
            <a:srgbClr val="C2552F"/>
          </a:solidFill>
          <a:ln w="12700">
            <a:solidFill>
              <a:srgbClr val="C2552F"/>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半收</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02436"/>
            <a:ext cx="601980" cy="155448"/>
          </a:xfrm>
          <a:prstGeom prst="roundRect">
            <a:avLst>
              <a:gd name="adj" fmla="val 17647"/>
            </a:avLst>
          </a:prstGeom>
          <a:solidFill>
            <a:srgbClr val="C2552F"/>
          </a:solidFill>
          <a:ln w="12700">
            <a:solidFill>
              <a:srgbClr val="C2552F"/>
            </a:solidFill>
            <a:prstDash val="solid"/>
          </a:ln>
        </p:spPr>
      </p:sp>
      <p:sp>
        <p:nvSpPr>
          <p:cNvPr id="21" name="Shape 19"/>
          <p:cNvSpPr/>
          <p:nvPr/>
        </p:nvSpPr>
        <p:spPr>
          <a:xfrm>
            <a:off x="8084515" y="1403604"/>
            <a:ext cx="601980" cy="27432"/>
          </a:xfrm>
          <a:prstGeom prst="rect">
            <a:avLst/>
          </a:prstGeom>
          <a:solidFill>
            <a:srgbClr val="A8421F"/>
          </a:solidFill>
          <a:ln w="12700">
            <a:solidFill>
              <a:srgbClr val="A8421F"/>
            </a:solidFill>
            <a:prstDash val="solid"/>
          </a:ln>
        </p:spPr>
      </p:sp>
      <p:sp>
        <p:nvSpPr>
          <p:cNvPr id="22" name="Shape 20"/>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2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以卡纸与透镜模拟近视成因。学生须说明所改变的变量与所控制的变量。</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设计对照实验，探究不同加工与储存方式对营养成分含量的影响。</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AI 可提供若干备选方向供学生选择，可对学生已有方案提出质疑。不得输出成稿方案。</a:t>
            </a:r>
            <a:endParaRPr lang="en-US" sz="1800" dirty="0"/>
          </a:p>
        </p:txBody>
      </p:sp>
      <p:sp>
        <p:nvSpPr>
          <p:cNvPr id="36" name="Shape 34"/>
          <p:cNvSpPr/>
          <p:nvPr/>
        </p:nvSpPr>
        <p:spPr>
          <a:xfrm>
            <a:off x="1295400" y="5376672"/>
            <a:ext cx="9981895" cy="0"/>
          </a:xfrm>
          <a:prstGeom prst="line">
            <a:avLst/>
          </a:prstGeom>
          <a:noFill/>
          <a:ln w="12700">
            <a:solidFill>
              <a:srgbClr val="D9E2EF"/>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半收的依据</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本环节的评价证据是探究实践能力中的变量识别与控制。提出质疑不替代该能力，输出成稿方案则替代该能力。</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一次完整的交互</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以上一页的设计方案环节为例。教师侧操作，学生不参与。</a:t>
            </a:r>
            <a:endParaRPr lang="en-US" sz="1150" dirty="0"/>
          </a:p>
        </p:txBody>
      </p:sp>
      <p:sp>
        <p:nvSpPr>
          <p:cNvPr id="18" name="Shape 16"/>
          <p:cNvSpPr/>
          <p:nvPr/>
        </p:nvSpPr>
        <p:spPr>
          <a:xfrm>
            <a:off x="1295400" y="2226564"/>
            <a:ext cx="9981895" cy="786384"/>
          </a:xfrm>
          <a:prstGeom prst="roundRect">
            <a:avLst>
              <a:gd name="adj" fmla="val 9302"/>
            </a:avLst>
          </a:prstGeom>
          <a:solidFill>
            <a:srgbClr val="FFFFFF"/>
          </a:solidFill>
          <a:ln w="12700">
            <a:solidFill>
              <a:srgbClr val="D9E2EF"/>
            </a:solidFill>
            <a:prstDash val="solid"/>
          </a:ln>
        </p:spPr>
      </p:sp>
      <p:sp>
        <p:nvSpPr>
          <p:cNvPr id="19" name="Shape 17"/>
          <p:cNvSpPr/>
          <p:nvPr/>
        </p:nvSpPr>
        <p:spPr>
          <a:xfrm>
            <a:off x="1295400" y="2272284"/>
            <a:ext cx="38100" cy="694944"/>
          </a:xfrm>
          <a:prstGeom prst="rect">
            <a:avLst/>
          </a:prstGeom>
          <a:solidFill>
            <a:srgbClr val="1D4ED8"/>
          </a:solidFill>
          <a:ln w="12700">
            <a:solidFill>
              <a:srgbClr val="1D4ED8"/>
            </a:solidFill>
            <a:prstDash val="solid"/>
          </a:ln>
        </p:spPr>
      </p:sp>
      <p:sp>
        <p:nvSpPr>
          <p:cNvPr id="20" name="Text 18"/>
          <p:cNvSpPr/>
          <p:nvPr/>
        </p:nvSpPr>
        <p:spPr>
          <a:xfrm>
            <a:off x="1514856" y="2354580"/>
            <a:ext cx="960120"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教师输入</a:t>
            </a:r>
            <a:endParaRPr lang="en-US" sz="1000" dirty="0"/>
          </a:p>
        </p:txBody>
      </p:sp>
      <p:sp>
        <p:nvSpPr>
          <p:cNvPr id="21" name="Text 19"/>
          <p:cNvSpPr/>
          <p:nvPr/>
        </p:nvSpPr>
        <p:spPr>
          <a:xfrm>
            <a:off x="2612136" y="2336292"/>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27364A"/>
                </a:solidFill>
                <a:latin typeface="Microsoft YaHei" pitchFamily="34" charset="0"/>
                <a:ea typeface="Microsoft YaHei" pitchFamily="34" charset="-122"/>
                <a:cs typeface="Microsoft YaHei" pitchFamily="34" charset="-120"/>
              </a:rPr>
              <a:t>五年级学生用卡纸和透镜模拟近视成因。他们的方案是：把透镜放在卡纸前面，看字清不清楚。请指出这个方案在变量控制上有哪些问题。只提问题，不要给我改好的方案。</a:t>
            </a:r>
            <a:endParaRPr lang="en-US" sz="1250" dirty="0"/>
          </a:p>
        </p:txBody>
      </p:sp>
      <p:sp>
        <p:nvSpPr>
          <p:cNvPr id="22" name="Shape 20"/>
          <p:cNvSpPr/>
          <p:nvPr/>
        </p:nvSpPr>
        <p:spPr>
          <a:xfrm>
            <a:off x="1295400" y="3140964"/>
            <a:ext cx="9981895" cy="896112"/>
          </a:xfrm>
          <a:prstGeom prst="roundRect">
            <a:avLst>
              <a:gd name="adj" fmla="val 8163"/>
            </a:avLst>
          </a:prstGeom>
          <a:solidFill>
            <a:srgbClr val="F7FAFF"/>
          </a:solidFill>
          <a:ln w="12700">
            <a:solidFill>
              <a:srgbClr val="D9E2EF"/>
            </a:solidFill>
            <a:prstDash val="solid"/>
          </a:ln>
        </p:spPr>
      </p:sp>
      <p:sp>
        <p:nvSpPr>
          <p:cNvPr id="23" name="Shape 21"/>
          <p:cNvSpPr/>
          <p:nvPr/>
        </p:nvSpPr>
        <p:spPr>
          <a:xfrm>
            <a:off x="1295400" y="3186684"/>
            <a:ext cx="38100" cy="804672"/>
          </a:xfrm>
          <a:prstGeom prst="rect">
            <a:avLst/>
          </a:prstGeom>
          <a:solidFill>
            <a:srgbClr val="C2552F"/>
          </a:solidFill>
          <a:ln w="12700">
            <a:solidFill>
              <a:srgbClr val="C2552F"/>
            </a:solidFill>
            <a:prstDash val="solid"/>
          </a:ln>
        </p:spPr>
      </p:sp>
      <p:sp>
        <p:nvSpPr>
          <p:cNvPr id="24" name="Text 22"/>
          <p:cNvSpPr/>
          <p:nvPr/>
        </p:nvSpPr>
        <p:spPr>
          <a:xfrm>
            <a:off x="1514856" y="3268980"/>
            <a:ext cx="960120" cy="219456"/>
          </a:xfrm>
          <a:prstGeom prst="rect">
            <a:avLst/>
          </a:prstGeom>
          <a:noFill/>
          <a:ln/>
        </p:spPr>
        <p:txBody>
          <a:bodyPr wrap="square" lIns="0" tIns="0" rIns="0" bIns="0" rtlCol="0" anchor="ctr"/>
          <a:lstStyle/>
          <a:p>
            <a:pPr indent="0" marL="0">
              <a:buNone/>
            </a:pPr>
            <a:r>
              <a:rPr lang="en-US" sz="1000" b="1" dirty="0">
                <a:solidFill>
                  <a:srgbClr val="C2552F"/>
                </a:solidFill>
                <a:latin typeface="Microsoft YaHei" pitchFamily="34" charset="0"/>
                <a:ea typeface="Microsoft YaHei" pitchFamily="34" charset="-122"/>
                <a:cs typeface="Microsoft YaHei" pitchFamily="34" charset="-120"/>
              </a:rPr>
              <a:t>AI 返回</a:t>
            </a:r>
            <a:endParaRPr lang="en-US" sz="1000" dirty="0"/>
          </a:p>
        </p:txBody>
      </p:sp>
      <p:sp>
        <p:nvSpPr>
          <p:cNvPr id="25" name="Text 23"/>
          <p:cNvSpPr/>
          <p:nvPr/>
        </p:nvSpPr>
        <p:spPr>
          <a:xfrm>
            <a:off x="2612136" y="3250692"/>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一</a:t>
            </a:r>
            <a:endParaRPr lang="en-US" sz="1000" dirty="0"/>
          </a:p>
        </p:txBody>
      </p:sp>
      <p:sp>
        <p:nvSpPr>
          <p:cNvPr id="26" name="Text 24"/>
          <p:cNvSpPr/>
          <p:nvPr/>
        </p:nvSpPr>
        <p:spPr>
          <a:xfrm>
            <a:off x="2868168" y="3250692"/>
            <a:ext cx="219456" cy="219456"/>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a:t>
            </a:r>
            <a:endParaRPr lang="en-US" sz="1100" dirty="0"/>
          </a:p>
        </p:txBody>
      </p:sp>
      <p:sp>
        <p:nvSpPr>
          <p:cNvPr id="27" name="Text 25"/>
          <p:cNvSpPr/>
          <p:nvPr/>
        </p:nvSpPr>
        <p:spPr>
          <a:xfrm>
            <a:off x="3142488" y="3250692"/>
            <a:ext cx="7878775" cy="219456"/>
          </a:xfrm>
          <a:prstGeom prst="rect">
            <a:avLst/>
          </a:prstGeom>
          <a:noFill/>
          <a:ln/>
        </p:spPr>
        <p:txBody>
          <a:bodyPr wrap="square" lIns="0" tIns="0" rIns="0" bIns="0" rtlCol="0" anchor="ctr"/>
          <a:lstStyle/>
          <a:p>
            <a:pPr indent="0" marL="0">
              <a:buNone/>
            </a:pPr>
            <a:r>
              <a:rPr lang="en-US" sz="1200" dirty="0">
                <a:solidFill>
                  <a:srgbClr val="5F7088"/>
                </a:solidFill>
                <a:latin typeface="Microsoft YaHei" pitchFamily="34" charset="0"/>
                <a:ea typeface="Microsoft YaHei" pitchFamily="34" charset="-122"/>
                <a:cs typeface="Microsoft YaHei" pitchFamily="34" charset="-120"/>
              </a:rPr>
              <a:t>未说明透镜与卡纸之间的距离是否固定。</a:t>
            </a:r>
            <a:endParaRPr lang="en-US" sz="1200" dirty="0"/>
          </a:p>
        </p:txBody>
      </p:sp>
      <p:sp>
        <p:nvSpPr>
          <p:cNvPr id="28" name="Text 26"/>
          <p:cNvSpPr/>
          <p:nvPr/>
        </p:nvSpPr>
        <p:spPr>
          <a:xfrm>
            <a:off x="2612136" y="3506724"/>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二</a:t>
            </a:r>
            <a:endParaRPr lang="en-US" sz="1000" dirty="0"/>
          </a:p>
        </p:txBody>
      </p:sp>
      <p:sp>
        <p:nvSpPr>
          <p:cNvPr id="29" name="Text 27"/>
          <p:cNvSpPr/>
          <p:nvPr/>
        </p:nvSpPr>
        <p:spPr>
          <a:xfrm>
            <a:off x="2868168" y="3506724"/>
            <a:ext cx="219456" cy="219456"/>
          </a:xfrm>
          <a:prstGeom prst="rect">
            <a:avLst/>
          </a:prstGeom>
          <a:noFill/>
          <a:ln/>
        </p:spPr>
        <p:txBody>
          <a:bodyPr wrap="square" lIns="0" tIns="0" rIns="0" bIns="0" rtlCol="0" anchor="ctr"/>
          <a:lstStyle/>
          <a:p>
            <a:pPr indent="0" marL="0">
              <a:buNone/>
            </a:pPr>
            <a:r>
              <a:rPr lang="en-US" sz="1100" b="1" dirty="0">
                <a:solidFill>
                  <a:srgbClr val="A8421F"/>
                </a:solidFill>
                <a:latin typeface="Microsoft YaHei" pitchFamily="34" charset="0"/>
                <a:ea typeface="Microsoft YaHei" pitchFamily="34" charset="-122"/>
                <a:cs typeface="Microsoft YaHei" pitchFamily="34" charset="-120"/>
              </a:rPr>
              <a:t>×</a:t>
            </a:r>
            <a:endParaRPr lang="en-US" sz="1100" dirty="0"/>
          </a:p>
        </p:txBody>
      </p:sp>
      <p:sp>
        <p:nvSpPr>
          <p:cNvPr id="30" name="Text 28"/>
          <p:cNvSpPr/>
          <p:nvPr/>
        </p:nvSpPr>
        <p:spPr>
          <a:xfrm>
            <a:off x="3142488" y="3506724"/>
            <a:ext cx="7878775" cy="219456"/>
          </a:xfrm>
          <a:prstGeom prst="rect">
            <a:avLst/>
          </a:prstGeom>
          <a:noFill/>
          <a:ln/>
        </p:spPr>
        <p:txBody>
          <a:bodyPr wrap="square" lIns="0" tIns="0" rIns="0" bIns="0" rtlCol="0" anchor="ctr"/>
          <a:lstStyle/>
          <a:p>
            <a:pPr indent="0" marL="0">
              <a:buNone/>
            </a:pPr>
            <a:r>
              <a:rPr lang="en-US" sz="1200" strike="sngStrike" dirty="0">
                <a:solidFill>
                  <a:srgbClr val="5F7088"/>
                </a:solidFill>
                <a:latin typeface="Microsoft YaHei" pitchFamily="34" charset="0"/>
                <a:ea typeface="Microsoft YaHei" pitchFamily="34" charset="-122"/>
                <a:cs typeface="Microsoft YaHei" pitchFamily="34" charset="-120"/>
              </a:rPr>
              <a:t>未说明使用哪一种透镜，不同度数的结果不同。</a:t>
            </a:r>
            <a:endParaRPr lang="en-US" sz="1200" dirty="0"/>
          </a:p>
        </p:txBody>
      </p:sp>
      <p:sp>
        <p:nvSpPr>
          <p:cNvPr id="31" name="Text 29"/>
          <p:cNvSpPr/>
          <p:nvPr/>
        </p:nvSpPr>
        <p:spPr>
          <a:xfrm>
            <a:off x="2612136" y="3762756"/>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三</a:t>
            </a:r>
            <a:endParaRPr lang="en-US" sz="1000" dirty="0"/>
          </a:p>
        </p:txBody>
      </p:sp>
      <p:sp>
        <p:nvSpPr>
          <p:cNvPr id="32" name="Text 30"/>
          <p:cNvSpPr/>
          <p:nvPr/>
        </p:nvSpPr>
        <p:spPr>
          <a:xfrm>
            <a:off x="2868168" y="3762756"/>
            <a:ext cx="219456" cy="219456"/>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a:t>
            </a:r>
            <a:endParaRPr lang="en-US" sz="1100" dirty="0"/>
          </a:p>
        </p:txBody>
      </p:sp>
      <p:sp>
        <p:nvSpPr>
          <p:cNvPr id="33" name="Text 31"/>
          <p:cNvSpPr/>
          <p:nvPr/>
        </p:nvSpPr>
        <p:spPr>
          <a:xfrm>
            <a:off x="3142488" y="3762756"/>
            <a:ext cx="7878775" cy="219456"/>
          </a:xfrm>
          <a:prstGeom prst="rect">
            <a:avLst/>
          </a:prstGeom>
          <a:noFill/>
          <a:ln/>
        </p:spPr>
        <p:txBody>
          <a:bodyPr wrap="square" lIns="0" tIns="0" rIns="0" bIns="0" rtlCol="0" anchor="ctr"/>
          <a:lstStyle/>
          <a:p>
            <a:pPr indent="0" marL="0">
              <a:buNone/>
            </a:pPr>
            <a:r>
              <a:rPr lang="en-US" sz="1200" dirty="0">
                <a:solidFill>
                  <a:srgbClr val="5F7088"/>
                </a:solidFill>
                <a:latin typeface="Microsoft YaHei" pitchFamily="34" charset="0"/>
                <a:ea typeface="Microsoft YaHei" pitchFamily="34" charset="-122"/>
                <a:cs typeface="Microsoft YaHei" pitchFamily="34" charset="-120"/>
              </a:rPr>
              <a:t>未说明「清不清楚」由谁判断、按什么标准判断。</a:t>
            </a:r>
            <a:endParaRPr lang="en-US" sz="1200" dirty="0"/>
          </a:p>
        </p:txBody>
      </p:sp>
      <p:sp>
        <p:nvSpPr>
          <p:cNvPr id="34" name="Shape 32"/>
          <p:cNvSpPr/>
          <p:nvPr/>
        </p:nvSpPr>
        <p:spPr>
          <a:xfrm>
            <a:off x="1295400" y="4165092"/>
            <a:ext cx="9981895" cy="786384"/>
          </a:xfrm>
          <a:prstGeom prst="roundRect">
            <a:avLst>
              <a:gd name="adj" fmla="val 9302"/>
            </a:avLst>
          </a:prstGeom>
          <a:solidFill>
            <a:srgbClr val="FCF2EC"/>
          </a:solidFill>
          <a:ln w="12700">
            <a:solidFill>
              <a:srgbClr val="DFB09C"/>
            </a:solidFill>
            <a:prstDash val="solid"/>
          </a:ln>
        </p:spPr>
      </p:sp>
      <p:sp>
        <p:nvSpPr>
          <p:cNvPr id="35" name="Shape 33"/>
          <p:cNvSpPr/>
          <p:nvPr/>
        </p:nvSpPr>
        <p:spPr>
          <a:xfrm>
            <a:off x="1295400" y="4210812"/>
            <a:ext cx="38100" cy="694944"/>
          </a:xfrm>
          <a:prstGeom prst="rect">
            <a:avLst/>
          </a:prstGeom>
          <a:solidFill>
            <a:srgbClr val="A8421F"/>
          </a:solidFill>
          <a:ln w="12700">
            <a:solidFill>
              <a:srgbClr val="A8421F"/>
            </a:solidFill>
            <a:prstDash val="solid"/>
          </a:ln>
        </p:spPr>
      </p:sp>
      <p:sp>
        <p:nvSpPr>
          <p:cNvPr id="36" name="Text 34"/>
          <p:cNvSpPr/>
          <p:nvPr/>
        </p:nvSpPr>
        <p:spPr>
          <a:xfrm>
            <a:off x="1514856" y="4293108"/>
            <a:ext cx="960120" cy="219456"/>
          </a:xfrm>
          <a:prstGeom prst="rect">
            <a:avLst/>
          </a:prstGeom>
          <a:noFill/>
          <a:ln/>
        </p:spPr>
        <p:txBody>
          <a:bodyPr wrap="square" lIns="0" tIns="0" rIns="0" bIns="0" rtlCol="0" anchor="ctr"/>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教师的判断</a:t>
            </a:r>
            <a:endParaRPr lang="en-US" sz="1000" dirty="0"/>
          </a:p>
        </p:txBody>
      </p:sp>
      <p:sp>
        <p:nvSpPr>
          <p:cNvPr id="37" name="Text 35"/>
          <p:cNvSpPr/>
          <p:nvPr/>
        </p:nvSpPr>
        <p:spPr>
          <a:xfrm>
            <a:off x="2612136" y="4274820"/>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27364A"/>
                </a:solidFill>
                <a:latin typeface="Microsoft YaHei" pitchFamily="34" charset="0"/>
                <a:ea typeface="Microsoft YaHei" pitchFamily="34" charset="-122"/>
                <a:cs typeface="Microsoft YaHei" pitchFamily="34" charset="-120"/>
              </a:rPr>
              <a:t>第一条与第三条采纳，交给学生自己补充。第二条划掉：五年级实验箱里只有一种透镜，提出来会把任务复杂化，超出该学段的方案要求。</a:t>
            </a:r>
            <a:endParaRPr lang="en-US" sz="1250" dirty="0"/>
          </a:p>
        </p:txBody>
      </p:sp>
      <p:sp>
        <p:nvSpPr>
          <p:cNvPr id="38" name="Text 36"/>
          <p:cNvSpPr/>
          <p:nvPr/>
        </p:nvSpPr>
        <p:spPr>
          <a:xfrm>
            <a:off x="1295400" y="5079492"/>
            <a:ext cx="9981895"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返回的三条并非都要用。中间一栏的标记是教师逐条判断的结果：勾的两条进任务单，叉的那一条不进。</a:t>
            </a:r>
            <a:endParaRPr lang="en-US" sz="1000" dirty="0"/>
          </a:p>
        </p:txBody>
      </p:sp>
      <p:sp>
        <p:nvSpPr>
          <p:cNvPr id="39" name="Shape 37"/>
          <p:cNvSpPr/>
          <p:nvPr/>
        </p:nvSpPr>
        <p:spPr>
          <a:xfrm>
            <a:off x="1295400" y="5888736"/>
            <a:ext cx="9981895" cy="0"/>
          </a:xfrm>
          <a:prstGeom prst="line">
            <a:avLst/>
          </a:prstGeom>
          <a:noFill/>
          <a:ln w="12700">
            <a:solidFill>
              <a:srgbClr val="D9E2EF"/>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指令末句「只提问题，不要给我改好的方案」是这次交互能停在半收档位的原因。去掉这一句，返回的就是一份成稿方案。</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判断 AI 返回内容的三项自查</a:t>
            </a:r>
            <a:endParaRPr lang="en-US" sz="3200" dirty="0"/>
          </a:p>
        </p:txBody>
      </p:sp>
      <p:sp>
        <p:nvSpPr>
          <p:cNvPr id="17" name="Text 15"/>
          <p:cNvSpPr/>
          <p:nvPr/>
        </p:nvSpPr>
        <p:spPr>
          <a:xfrm>
            <a:off x="1295400" y="2212848"/>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157984"/>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返回内容是否对应本任务的实际要求</a:t>
            </a:r>
            <a:endParaRPr lang="en-US" sz="2300" dirty="0"/>
          </a:p>
        </p:txBody>
      </p:sp>
      <p:sp>
        <p:nvSpPr>
          <p:cNvPr id="19" name="Shape 17"/>
          <p:cNvSpPr/>
          <p:nvPr/>
        </p:nvSpPr>
        <p:spPr>
          <a:xfrm>
            <a:off x="1862328" y="2633472"/>
            <a:ext cx="18288" cy="219456"/>
          </a:xfrm>
          <a:prstGeom prst="rect">
            <a:avLst/>
          </a:prstGeom>
          <a:solidFill>
            <a:srgbClr val="DFB09C"/>
          </a:solidFill>
          <a:ln w="12700">
            <a:solidFill>
              <a:srgbClr val="DFB09C"/>
            </a:solidFill>
            <a:prstDash val="solid"/>
          </a:ln>
        </p:spPr>
      </p:sp>
      <p:sp>
        <p:nvSpPr>
          <p:cNvPr id="20" name="Text 18"/>
          <p:cNvSpPr/>
          <p:nvPr/>
        </p:nvSpPr>
        <p:spPr>
          <a:xfrm>
            <a:off x="1990344" y="2615184"/>
            <a:ext cx="9286951" cy="256032"/>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不对应，回去改指令，不在返回结果上修补</a:t>
            </a:r>
            <a:endParaRPr lang="en-US" sz="1150" dirty="0"/>
          </a:p>
        </p:txBody>
      </p:sp>
      <p:sp>
        <p:nvSpPr>
          <p:cNvPr id="21" name="Text 19"/>
          <p:cNvSpPr/>
          <p:nvPr/>
        </p:nvSpPr>
        <p:spPr>
          <a:xfrm>
            <a:off x="1295400" y="3182112"/>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二</a:t>
            </a:r>
            <a:endParaRPr lang="en-US" sz="1600" dirty="0"/>
          </a:p>
        </p:txBody>
      </p:sp>
      <p:sp>
        <p:nvSpPr>
          <p:cNvPr id="22" name="Text 20"/>
          <p:cNvSpPr/>
          <p:nvPr/>
        </p:nvSpPr>
        <p:spPr>
          <a:xfrm>
            <a:off x="1862328" y="3127248"/>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其中是否含有无法自行核验的信息</a:t>
            </a:r>
            <a:endParaRPr lang="en-US" sz="2300" dirty="0"/>
          </a:p>
        </p:txBody>
      </p:sp>
      <p:sp>
        <p:nvSpPr>
          <p:cNvPr id="23" name="Shape 21"/>
          <p:cNvSpPr/>
          <p:nvPr/>
        </p:nvSpPr>
        <p:spPr>
          <a:xfrm>
            <a:off x="1862328" y="3602736"/>
            <a:ext cx="18288" cy="219456"/>
          </a:xfrm>
          <a:prstGeom prst="rect">
            <a:avLst/>
          </a:prstGeom>
          <a:solidFill>
            <a:srgbClr val="DFB09C"/>
          </a:solidFill>
          <a:ln w="12700">
            <a:solidFill>
              <a:srgbClr val="DFB09C"/>
            </a:solidFill>
            <a:prstDash val="solid"/>
          </a:ln>
        </p:spPr>
      </p:sp>
      <p:sp>
        <p:nvSpPr>
          <p:cNvPr id="24" name="Text 22"/>
          <p:cNvSpPr/>
          <p:nvPr/>
        </p:nvSpPr>
        <p:spPr>
          <a:xfrm>
            <a:off x="1990344" y="3584448"/>
            <a:ext cx="9286951" cy="256032"/>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有，逐条核对来源；核不了的直接删掉</a:t>
            </a:r>
            <a:endParaRPr lang="en-US" sz="1150" dirty="0"/>
          </a:p>
        </p:txBody>
      </p:sp>
      <p:sp>
        <p:nvSpPr>
          <p:cNvPr id="25" name="Text 23"/>
          <p:cNvSpPr/>
          <p:nvPr/>
        </p:nvSpPr>
        <p:spPr>
          <a:xfrm>
            <a:off x="1295400" y="4151376"/>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三</a:t>
            </a:r>
            <a:endParaRPr lang="en-US" sz="1600" dirty="0"/>
          </a:p>
        </p:txBody>
      </p:sp>
      <p:sp>
        <p:nvSpPr>
          <p:cNvPr id="26" name="Text 24"/>
          <p:cNvSpPr/>
          <p:nvPr/>
        </p:nvSpPr>
        <p:spPr>
          <a:xfrm>
            <a:off x="1862328" y="4096512"/>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若直接采用，学生将省去哪一步</a:t>
            </a:r>
            <a:endParaRPr lang="en-US" sz="2300" dirty="0"/>
          </a:p>
        </p:txBody>
      </p:sp>
      <p:sp>
        <p:nvSpPr>
          <p:cNvPr id="27" name="Shape 25"/>
          <p:cNvSpPr/>
          <p:nvPr/>
        </p:nvSpPr>
        <p:spPr>
          <a:xfrm>
            <a:off x="1862328" y="4572000"/>
            <a:ext cx="18288" cy="219456"/>
          </a:xfrm>
          <a:prstGeom prst="rect">
            <a:avLst/>
          </a:prstGeom>
          <a:solidFill>
            <a:srgbClr val="DFB09C"/>
          </a:solidFill>
          <a:ln w="12700">
            <a:solidFill>
              <a:srgbClr val="DFB09C"/>
            </a:solidFill>
            <a:prstDash val="solid"/>
          </a:ln>
        </p:spPr>
      </p:sp>
      <p:sp>
        <p:nvSpPr>
          <p:cNvPr id="28" name="Text 26"/>
          <p:cNvSpPr/>
          <p:nvPr/>
        </p:nvSpPr>
        <p:spPr>
          <a:xfrm>
            <a:off x="1990344" y="4553712"/>
            <a:ext cx="9286951" cy="256032"/>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省掉的那一步若是评价证据的来源，此条不采用</a:t>
            </a:r>
            <a:endParaRPr lang="en-US" sz="115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第二问指向数字、文献、名称、条款这一类内容。这类信息一律自行核对后再使用。</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搜集分析证据</a:t>
            </a:r>
            <a:endParaRPr lang="en-US" sz="3200" dirty="0"/>
          </a:p>
        </p:txBody>
      </p:sp>
      <p:sp>
        <p:nvSpPr>
          <p:cNvPr id="17" name="Shape 15"/>
          <p:cNvSpPr/>
          <p:nvPr/>
        </p:nvSpPr>
        <p:spPr>
          <a:xfrm>
            <a:off x="4075176" y="1220724"/>
            <a:ext cx="1956816" cy="329184"/>
          </a:xfrm>
          <a:prstGeom prst="roundRect">
            <a:avLst>
              <a:gd name="adj" fmla="val 50000"/>
            </a:avLst>
          </a:prstGeom>
          <a:solidFill>
            <a:srgbClr val="C2552F"/>
          </a:solidFill>
          <a:ln w="12700">
            <a:solidFill>
              <a:srgbClr val="C2552F"/>
            </a:solidFill>
            <a:prstDash val="solid"/>
          </a:ln>
        </p:spPr>
      </p:sp>
      <p:sp>
        <p:nvSpPr>
          <p:cNvPr id="18" name="Text 16"/>
          <p:cNvSpPr/>
          <p:nvPr/>
        </p:nvSpPr>
        <p:spPr>
          <a:xfrm>
            <a:off x="4075176" y="1220724"/>
            <a:ext cx="1956816"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采集端收，处理端放</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02436"/>
            <a:ext cx="601980" cy="155448"/>
          </a:xfrm>
          <a:prstGeom prst="roundRect">
            <a:avLst>
              <a:gd name="adj" fmla="val 17647"/>
            </a:avLst>
          </a:prstGeom>
          <a:solidFill>
            <a:srgbClr val="C2552F"/>
          </a:solidFill>
          <a:ln w="12700">
            <a:solidFill>
              <a:srgbClr val="C2552F"/>
            </a:solidFill>
            <a:prstDash val="solid"/>
          </a:ln>
        </p:spPr>
      </p:sp>
      <p:sp>
        <p:nvSpPr>
          <p:cNvPr id="22" name="Shape 20"/>
          <p:cNvSpPr/>
          <p:nvPr/>
        </p:nvSpPr>
        <p:spPr>
          <a:xfrm>
            <a:off x="8732215" y="1403604"/>
            <a:ext cx="601980" cy="27432"/>
          </a:xfrm>
          <a:prstGeom prst="rect">
            <a:avLst/>
          </a:prstGeom>
          <a:solidFill>
            <a:srgbClr val="A8421F"/>
          </a:solidFill>
          <a:ln w="12700">
            <a:solidFill>
              <a:srgbClr val="A8421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3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照度、距离与时长由学生自行测量并记录。</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对照实验的原始数据由学生自行获得并记录。</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照度、距离、时长与营养成分含量，四项都须由学生亲手测得。测完之后的整理与作图不再是本环节的教学内容。</a:t>
            </a:r>
            <a:endParaRPr lang="en-US" sz="1800" dirty="0"/>
          </a:p>
        </p:txBody>
      </p:sp>
      <p:sp>
        <p:nvSpPr>
          <p:cNvPr id="36" name="Shape 34"/>
          <p:cNvSpPr/>
          <p:nvPr/>
        </p:nvSpPr>
        <p:spPr>
          <a:xfrm>
            <a:off x="1295400" y="5321808"/>
            <a:ext cx="9981895" cy="932688"/>
          </a:xfrm>
          <a:prstGeom prst="roundRect">
            <a:avLst>
              <a:gd name="adj" fmla="val 7843"/>
            </a:avLst>
          </a:prstGeom>
          <a:solidFill>
            <a:srgbClr val="FCF2EC"/>
          </a:solidFill>
          <a:ln w="12700">
            <a:solidFill>
              <a:srgbClr val="FCF2EC"/>
            </a:solidFill>
            <a:prstDash val="solid"/>
          </a:ln>
        </p:spPr>
      </p:sp>
      <p:sp>
        <p:nvSpPr>
          <p:cNvPr id="37" name="Text 35"/>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A8421F"/>
                </a:solidFill>
                <a:latin typeface="Microsoft YaHei" pitchFamily="34" charset="0"/>
                <a:ea typeface="Microsoft YaHei" pitchFamily="34" charset="-122"/>
                <a:cs typeface="Microsoft YaHei" pitchFamily="34" charset="-120"/>
              </a:rPr>
              <a:t>数据红线</a:t>
            </a:r>
            <a:endParaRPr lang="en-US" sz="950" dirty="0"/>
          </a:p>
        </p:txBody>
      </p:sp>
      <p:sp>
        <p:nvSpPr>
          <p:cNvPr id="38" name="Text 36"/>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体质健康数据属敏感信息。使用代号，不使用姓名与学号；健康与学业原始数据不上传公共工具；仅使用学校白名单内的工具。</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得出结论并解释</a:t>
            </a:r>
            <a:endParaRPr lang="en-US" sz="3200" dirty="0"/>
          </a:p>
        </p:txBody>
      </p:sp>
      <p:sp>
        <p:nvSpPr>
          <p:cNvPr id="17" name="Shape 15"/>
          <p:cNvSpPr/>
          <p:nvPr/>
        </p:nvSpPr>
        <p:spPr>
          <a:xfrm>
            <a:off x="4495800" y="1220724"/>
            <a:ext cx="822960" cy="329184"/>
          </a:xfrm>
          <a:prstGeom prst="roundRect">
            <a:avLst>
              <a:gd name="adj" fmla="val 50000"/>
            </a:avLst>
          </a:prstGeom>
          <a:solidFill>
            <a:srgbClr val="7A2C10"/>
          </a:solidFill>
          <a:ln w="12700">
            <a:solidFill>
              <a:srgbClr val="7A2C10"/>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02436"/>
            <a:ext cx="601980" cy="155448"/>
          </a:xfrm>
          <a:prstGeom prst="roundRect">
            <a:avLst>
              <a:gd name="adj" fmla="val 17647"/>
            </a:avLst>
          </a:prstGeom>
          <a:solidFill>
            <a:srgbClr val="7A2C10"/>
          </a:solidFill>
          <a:ln w="12700">
            <a:solidFill>
              <a:srgbClr val="7A2C10"/>
            </a:solidFill>
            <a:prstDash val="solid"/>
          </a:ln>
        </p:spPr>
      </p:sp>
      <p:sp>
        <p:nvSpPr>
          <p:cNvPr id="23" name="Shape 21"/>
          <p:cNvSpPr/>
          <p:nvPr/>
        </p:nvSpPr>
        <p:spPr>
          <a:xfrm>
            <a:off x="9379915" y="1403604"/>
            <a:ext cx="601980" cy="27432"/>
          </a:xfrm>
          <a:prstGeom prst="rect">
            <a:avLst/>
          </a:prstGeom>
          <a:solidFill>
            <a:srgbClr val="A8421F"/>
          </a:solidFill>
          <a:ln w="12700">
            <a:solidFill>
              <a:srgbClr val="A8421F"/>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4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模拟结果与预期不符时，由学生自行分析原因。</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对照实验数据出现异常时，由学生自行解释。</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本环节不使用 AI。一旦由 AI 给出解释，失败便不再具备学习材料的价值。</a:t>
            </a:r>
            <a:endParaRPr lang="en-US" sz="1800" dirty="0"/>
          </a:p>
        </p:txBody>
      </p:sp>
      <p:sp>
        <p:nvSpPr>
          <p:cNvPr id="36" name="Shape 34"/>
          <p:cNvSpPr/>
          <p:nvPr/>
        </p:nvSpPr>
        <p:spPr>
          <a:xfrm>
            <a:off x="1295400" y="5376672"/>
            <a:ext cx="9981895" cy="0"/>
          </a:xfrm>
          <a:prstGeom prst="line">
            <a:avLst/>
          </a:prstGeom>
          <a:noFill/>
          <a:ln w="12700">
            <a:solidFill>
              <a:srgbClr val="D9E2EF"/>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制作改进</a:t>
            </a:r>
            <a:endParaRPr lang="en-US" sz="3200" dirty="0"/>
          </a:p>
        </p:txBody>
      </p:sp>
      <p:sp>
        <p:nvSpPr>
          <p:cNvPr id="17" name="Shape 15"/>
          <p:cNvSpPr/>
          <p:nvPr/>
        </p:nvSpPr>
        <p:spPr>
          <a:xfrm>
            <a:off x="3233928" y="1220724"/>
            <a:ext cx="822960" cy="329184"/>
          </a:xfrm>
          <a:prstGeom prst="roundRect">
            <a:avLst>
              <a:gd name="adj" fmla="val 50000"/>
            </a:avLst>
          </a:prstGeom>
          <a:solidFill>
            <a:srgbClr val="F0CBBB"/>
          </a:solidFill>
          <a:ln w="12700">
            <a:solidFill>
              <a:srgbClr val="DFB09C"/>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27364A"/>
                </a:solidFill>
                <a:latin typeface="Microsoft YaHei" pitchFamily="34" charset="0"/>
                <a:ea typeface="Microsoft YaHei" pitchFamily="34" charset="-122"/>
                <a:cs typeface="Microsoft YaHei" pitchFamily="34" charset="-120"/>
              </a:rPr>
              <a:t>半放</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3" name="Shape 21"/>
          <p:cNvSpPr/>
          <p:nvPr/>
        </p:nvSpPr>
        <p:spPr>
          <a:xfrm>
            <a:off x="10027615" y="1202436"/>
            <a:ext cx="601980" cy="155448"/>
          </a:xfrm>
          <a:prstGeom prst="roundRect">
            <a:avLst>
              <a:gd name="adj" fmla="val 17647"/>
            </a:avLst>
          </a:prstGeom>
          <a:solidFill>
            <a:srgbClr val="F0CBBB"/>
          </a:solidFill>
          <a:ln w="12700">
            <a:solidFill>
              <a:srgbClr val="DFB09C"/>
            </a:solidFill>
            <a:prstDash val="solid"/>
          </a:ln>
        </p:spPr>
      </p:sp>
      <p:sp>
        <p:nvSpPr>
          <p:cNvPr id="24" name="Shape 22"/>
          <p:cNvSpPr/>
          <p:nvPr/>
        </p:nvSpPr>
        <p:spPr>
          <a:xfrm>
            <a:off x="10027615" y="1403604"/>
            <a:ext cx="601980" cy="27432"/>
          </a:xfrm>
          <a:prstGeom prst="rect">
            <a:avLst/>
          </a:prstGeom>
          <a:solidFill>
            <a:srgbClr val="A8421F"/>
          </a:solidFill>
          <a:ln w="12700">
            <a:solidFill>
              <a:srgbClr val="A8421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5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以废旧材料制作坐姿矫正支架或护眼提醒卡，测试后修改一版。</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查询材料属性、检索同类结构可行。输出成品设计方案不可行。</a:t>
            </a:r>
            <a:endParaRPr lang="en-US" sz="1800" dirty="0"/>
          </a:p>
        </p:txBody>
      </p:sp>
      <p:sp>
        <p:nvSpPr>
          <p:cNvPr id="36" name="Shape 34"/>
          <p:cNvSpPr/>
          <p:nvPr/>
        </p:nvSpPr>
        <p:spPr>
          <a:xfrm>
            <a:off x="1295400" y="5376672"/>
            <a:ext cx="9981895" cy="0"/>
          </a:xfrm>
          <a:prstGeom prst="line">
            <a:avLst/>
          </a:prstGeom>
          <a:noFill/>
          <a:ln w="12700">
            <a:solidFill>
              <a:srgbClr val="D9E2EF"/>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迭代要求</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做中学的物化环节带迭代要求：测试、优化、再测试。单一版本不构成完成。</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交流反思</a:t>
            </a:r>
            <a:endParaRPr lang="en-US" sz="3200" dirty="0"/>
          </a:p>
        </p:txBody>
      </p:sp>
      <p:sp>
        <p:nvSpPr>
          <p:cNvPr id="17" name="Shape 15"/>
          <p:cNvSpPr/>
          <p:nvPr/>
        </p:nvSpPr>
        <p:spPr>
          <a:xfrm>
            <a:off x="3233928" y="1220724"/>
            <a:ext cx="1408176" cy="329184"/>
          </a:xfrm>
          <a:prstGeom prst="roundRect">
            <a:avLst>
              <a:gd name="adj" fmla="val 50000"/>
            </a:avLst>
          </a:prstGeom>
          <a:solidFill>
            <a:srgbClr val="FFFFFF"/>
          </a:solidFill>
          <a:ln w="12700">
            <a:solidFill>
              <a:srgbClr val="DFB09C"/>
            </a:solidFill>
            <a:prstDash val="solid"/>
          </a:ln>
        </p:spPr>
      </p:sp>
      <p:sp>
        <p:nvSpPr>
          <p:cNvPr id="18" name="Text 16"/>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F7088"/>
                </a:solidFill>
                <a:latin typeface="Microsoft YaHei" pitchFamily="34" charset="0"/>
                <a:ea typeface="Microsoft YaHei" pitchFamily="34" charset="-122"/>
                <a:cs typeface="Microsoft YaHei" pitchFamily="34" charset="-120"/>
              </a:rPr>
              <a:t>放，但要标注</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3" name="Shape 21"/>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4" name="Shape 22"/>
          <p:cNvSpPr/>
          <p:nvPr/>
        </p:nvSpPr>
        <p:spPr>
          <a:xfrm>
            <a:off x="10675315" y="1202436"/>
            <a:ext cx="601980" cy="155448"/>
          </a:xfrm>
          <a:prstGeom prst="roundRect">
            <a:avLst>
              <a:gd name="adj" fmla="val 17647"/>
            </a:avLst>
          </a:prstGeom>
          <a:solidFill>
            <a:srgbClr val="FFFFFF"/>
          </a:solidFill>
          <a:ln w="12700">
            <a:solidFill>
              <a:srgbClr val="D9E2EF"/>
            </a:solidFill>
            <a:prstDash val="solid"/>
          </a:ln>
        </p:spPr>
      </p:sp>
      <p:sp>
        <p:nvSpPr>
          <p:cNvPr id="25" name="Shape 23"/>
          <p:cNvSpPr/>
          <p:nvPr/>
        </p:nvSpPr>
        <p:spPr>
          <a:xfrm>
            <a:off x="10675315" y="1403604"/>
            <a:ext cx="601980" cy="27432"/>
          </a:xfrm>
          <a:prstGeom prst="rect">
            <a:avLst/>
          </a:prstGeom>
          <a:solidFill>
            <a:srgbClr val="A8421F"/>
          </a:solidFill>
          <a:ln w="12700">
            <a:solidFill>
              <a:srgbClr val="A8421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6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面向一二年级开展护眼倡议与工具试用，收集反馈后修改一版。</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面向社区居民开展健康饮食科普宣传，提出健康饮食倡议。</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此时思维过程已经完成，AI 用于表达的风险较低。使用后须标注。</a:t>
            </a:r>
            <a:endParaRPr lang="en-US" sz="1800" dirty="0"/>
          </a:p>
        </p:txBody>
      </p:sp>
      <p:sp>
        <p:nvSpPr>
          <p:cNvPr id="36" name="Shape 34"/>
          <p:cNvSpPr/>
          <p:nvPr/>
        </p:nvSpPr>
        <p:spPr>
          <a:xfrm>
            <a:off x="1295400" y="5376672"/>
            <a:ext cx="9981895" cy="0"/>
          </a:xfrm>
          <a:prstGeom prst="line">
            <a:avLst/>
          </a:prstGeom>
          <a:noFill/>
          <a:ln w="12700">
            <a:solidFill>
              <a:srgbClr val="D9E2EF"/>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转为社会服务的接口</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将展示改为有对象、有回应、有留痕的行动，责任担当即由态度落到行动。须事先约定对方给出一次答复。</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另外两项任务的配置差异</a:t>
            </a:r>
            <a:endParaRPr lang="en-US" sz="3200" dirty="0"/>
          </a:p>
        </p:txBody>
      </p:sp>
      <p:sp>
        <p:nvSpPr>
          <p:cNvPr id="17" name="Shape 15"/>
          <p:cNvSpPr/>
          <p:nvPr/>
        </p:nvSpPr>
        <p:spPr>
          <a:xfrm>
            <a:off x="1295400" y="2043684"/>
            <a:ext cx="4881220" cy="1755648"/>
          </a:xfrm>
          <a:prstGeom prst="roundRect">
            <a:avLst>
              <a:gd name="adj" fmla="val 4688"/>
            </a:avLst>
          </a:prstGeom>
          <a:solidFill>
            <a:srgbClr val="FFFFFF"/>
          </a:solidFill>
          <a:ln w="12700">
            <a:solidFill>
              <a:srgbClr val="D9E2EF"/>
            </a:solidFill>
            <a:prstDash val="solid"/>
          </a:ln>
        </p:spPr>
      </p:sp>
      <p:sp>
        <p:nvSpPr>
          <p:cNvPr id="18" name="Shape 16"/>
          <p:cNvSpPr/>
          <p:nvPr/>
        </p:nvSpPr>
        <p:spPr>
          <a:xfrm>
            <a:off x="1359408" y="2043684"/>
            <a:ext cx="4753204" cy="38100"/>
          </a:xfrm>
          <a:prstGeom prst="rect">
            <a:avLst/>
          </a:prstGeom>
          <a:solidFill>
            <a:srgbClr val="1D4ED8"/>
          </a:solidFill>
          <a:ln w="12700">
            <a:solidFill>
              <a:srgbClr val="1D4ED8"/>
            </a:solidFill>
            <a:prstDash val="solid"/>
          </a:ln>
        </p:spPr>
      </p:sp>
      <p:sp>
        <p:nvSpPr>
          <p:cNvPr id="19" name="Text 17"/>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20" name="Text 18"/>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1" name="Text 19"/>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27364A"/>
                </a:solidFill>
                <a:latin typeface="Microsoft YaHei" pitchFamily="34" charset="0"/>
                <a:ea typeface="Microsoft YaHei" pitchFamily="34" charset="-122"/>
                <a:cs typeface="Microsoft YaHei" pitchFamily="34" charset="-120"/>
              </a:rPr>
              <a:t>AI 仅配置在教师侧，学生全程不使用设备。</a:t>
            </a:r>
            <a:endParaRPr lang="en-US" sz="1300" dirty="0"/>
          </a:p>
        </p:txBody>
      </p:sp>
      <p:sp>
        <p:nvSpPr>
          <p:cNvPr id="22" name="Text 20"/>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教师课前以智能体整理校园常见物种、易混淆种类与有毒有刺植物的安全提示，编成速查卡。学生使用调查记录表与图鉴。</a:t>
            </a:r>
            <a:endParaRPr lang="en-US" sz="1050" dirty="0"/>
          </a:p>
        </p:txBody>
      </p:sp>
      <p:sp>
        <p:nvSpPr>
          <p:cNvPr id="23" name="Shape 21"/>
          <p:cNvSpPr/>
          <p:nvPr/>
        </p:nvSpPr>
        <p:spPr>
          <a:xfrm>
            <a:off x="6396076" y="2043684"/>
            <a:ext cx="4881220" cy="1755648"/>
          </a:xfrm>
          <a:prstGeom prst="roundRect">
            <a:avLst>
              <a:gd name="adj" fmla="val 4688"/>
            </a:avLst>
          </a:prstGeom>
          <a:solidFill>
            <a:srgbClr val="FFFFFF"/>
          </a:solidFill>
          <a:ln w="12700">
            <a:solidFill>
              <a:srgbClr val="D9E2EF"/>
            </a:solidFill>
            <a:prstDash val="solid"/>
          </a:ln>
        </p:spPr>
      </p:sp>
      <p:sp>
        <p:nvSpPr>
          <p:cNvPr id="24" name="Shape 22"/>
          <p:cNvSpPr/>
          <p:nvPr/>
        </p:nvSpPr>
        <p:spPr>
          <a:xfrm>
            <a:off x="6460084" y="2043684"/>
            <a:ext cx="4753204" cy="38100"/>
          </a:xfrm>
          <a:prstGeom prst="rect">
            <a:avLst/>
          </a:prstGeom>
          <a:solidFill>
            <a:srgbClr val="C2552F"/>
          </a:solidFill>
          <a:ln w="12700">
            <a:solidFill>
              <a:srgbClr val="C2552F"/>
            </a:solidFill>
            <a:prstDash val="solid"/>
          </a:ln>
        </p:spPr>
      </p:sp>
      <p:sp>
        <p:nvSpPr>
          <p:cNvPr id="25" name="Text 23"/>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6" name="Text 24"/>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7" name="Text 25"/>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27364A"/>
                </a:solidFill>
                <a:latin typeface="Microsoft YaHei" pitchFamily="34" charset="0"/>
                <a:ea typeface="Microsoft YaHei" pitchFamily="34" charset="-122"/>
                <a:cs typeface="Microsoft YaHei" pitchFamily="34" charset="-120"/>
              </a:rPr>
              <a:t>学生侧两端均开放，另配一个提出质疑的智能体。</a:t>
            </a:r>
            <a:endParaRPr lang="en-US" sz="1300" dirty="0"/>
          </a:p>
        </p:txBody>
      </p:sp>
      <p:sp>
        <p:nvSpPr>
          <p:cNvPr id="28" name="Text 26"/>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沙盘分水的模拟探究环节完全不引入 AI。学生以水槽、沙盘与容器自行试验不同坝形对分水灌溉的影响。</a:t>
            </a:r>
            <a:endParaRPr lang="en-US" sz="105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同一套判据，在不同任务上可以落成完全不同的配置。</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81B3A"/>
                </a:solidFill>
                <a:latin typeface="Microsoft YaHei" pitchFamily="34" charset="0"/>
                <a:ea typeface="Microsoft YaHei" pitchFamily="34" charset="-122"/>
                <a:cs typeface="Microsoft YaHei" pitchFamily="34" charset="-120"/>
              </a:rPr>
              <a:t>任务链条中越可能发生失败的环节，AI 越应收向教师侧；越接近表达与传播的环节，越可以放向学生侧。</a:t>
            </a:r>
            <a:endParaRPr lang="en-US" sz="2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作者身份的可验证性</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81B3A"/>
                </a:solidFill>
                <a:latin typeface="Microsoft YaHei" pitchFamily="34" charset="0"/>
                <a:ea typeface="Microsoft YaHei" pitchFamily="34" charset="-122"/>
                <a:cs typeface="Microsoft YaHei" pitchFamily="34" charset="-120"/>
              </a:rPr>
              <a:t>生成式 AI 介入后，成果的作者身份不可事后验证，除非在任务设计阶段预先安排。</a:t>
            </a:r>
            <a:endParaRPr lang="en-US" sz="2500" dirty="0"/>
          </a:p>
        </p:txBody>
      </p:sp>
      <p:sp>
        <p:nvSpPr>
          <p:cNvPr id="17" name="Text 15"/>
          <p:cNvSpPr/>
          <p:nvPr/>
        </p:nvSpPr>
        <p:spPr>
          <a:xfrm>
            <a:off x="1295400" y="4078224"/>
            <a:ext cx="9158935" cy="365760"/>
          </a:xfrm>
          <a:prstGeom prst="rect">
            <a:avLst/>
          </a:prstGeom>
          <a:noFill/>
          <a:ln/>
        </p:spPr>
        <p:txBody>
          <a:bodyPr wrap="square" lIns="0" tIns="0" rIns="0" bIns="0" rtlCol="0" anchor="ctr"/>
          <a:lstStyle/>
          <a:p>
            <a:pPr indent="0" marL="0">
              <a:buNone/>
            </a:pPr>
            <a:r>
              <a:rPr lang="en-US" sz="1500" dirty="0">
                <a:solidFill>
                  <a:srgbClr val="5F7088"/>
                </a:solidFill>
                <a:latin typeface="Microsoft YaHei" pitchFamily="34" charset="0"/>
                <a:ea typeface="Microsoft YaHei" pitchFamily="34" charset="-122"/>
                <a:cs typeface="Microsoft YaHei" pitchFamily="34" charset="-120"/>
              </a:rPr>
              <a:t>事前配置的可靠性高于事后查重。</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AI 使用留痕表</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496312"/>
                <a:gridCol w="2496312"/>
                <a:gridCol w="2496312"/>
                <a:gridCol w="2487168"/>
              </a:tblGrid>
              <a:tr h="365760">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1554480">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设计方案</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帮我看看这个对照实验有什么问题</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说我没有控制光照</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加了一句每组都放在同一个窗台，因为窗台光照一样</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第四栏即反思改进能力的书面表现，属于评价证据，不构成额外负担。</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答辩环节的三项提问</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你为什么选这个方案</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你对 AI 的输出作了哪些修改</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如果此处有误，你如何发现</a:t>
            </a:r>
            <a:endParaRPr lang="en-US" sz="2300" dirty="0"/>
          </a:p>
        </p:txBody>
      </p:sp>
      <p:sp>
        <p:nvSpPr>
          <p:cNvPr id="23" name="Shape 21"/>
          <p:cNvSpPr/>
          <p:nvPr/>
        </p:nvSpPr>
        <p:spPr>
          <a:xfrm>
            <a:off x="1295400" y="5888736"/>
            <a:ext cx="9981895" cy="0"/>
          </a:xfrm>
          <a:prstGeom prst="line">
            <a:avLst/>
          </a:prstGeom>
          <a:noFill/>
          <a:ln w="12700">
            <a:solidFill>
              <a:srgbClr val="D9E2EF"/>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三项提问不依赖额外工具与准备，可在下一次答辩中直接使用。</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过程证据的制度出口</a:t>
            </a:r>
            <a:endParaRPr lang="en-US" sz="3200" dirty="0"/>
          </a:p>
        </p:txBody>
      </p:sp>
      <p:pic>
        <p:nvPicPr>
          <p:cNvPr id="17" name="Image 0" descr="/home/user/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8" name="Text 15"/>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生成式 AI 的使用红线</a:t>
            </a:r>
            <a:endParaRPr lang="en-US" sz="3200" dirty="0"/>
          </a:p>
        </p:txBody>
      </p:sp>
      <p:sp>
        <p:nvSpPr>
          <p:cNvPr id="17" name="Shape 15"/>
          <p:cNvSpPr/>
          <p:nvPr/>
        </p:nvSpPr>
        <p:spPr>
          <a:xfrm>
            <a:off x="1295400" y="1860804"/>
            <a:ext cx="9981895" cy="512064"/>
          </a:xfrm>
          <a:prstGeom prst="roundRect">
            <a:avLst>
              <a:gd name="adj" fmla="val 12500"/>
            </a:avLst>
          </a:prstGeom>
          <a:solidFill>
            <a:srgbClr val="FFFFFF"/>
          </a:solidFill>
          <a:ln w="12700">
            <a:solidFill>
              <a:srgbClr val="D9E2EF"/>
            </a:solidFill>
            <a:prstDash val="solid"/>
          </a:ln>
        </p:spPr>
      </p:sp>
      <p:sp>
        <p:nvSpPr>
          <p:cNvPr id="18" name="Shape 16"/>
          <p:cNvSpPr/>
          <p:nvPr/>
        </p:nvSpPr>
        <p:spPr>
          <a:xfrm>
            <a:off x="1295400" y="1906524"/>
            <a:ext cx="38100" cy="420624"/>
          </a:xfrm>
          <a:prstGeom prst="rect">
            <a:avLst/>
          </a:prstGeom>
          <a:solidFill>
            <a:srgbClr val="C2552F"/>
          </a:solidFill>
          <a:ln w="12700">
            <a:solidFill>
              <a:srgbClr val="A8421F"/>
            </a:solidFill>
            <a:prstDash val="solid"/>
          </a:ln>
        </p:spPr>
      </p:sp>
      <p:sp>
        <p:nvSpPr>
          <p:cNvPr id="19" name="Text 17"/>
          <p:cNvSpPr/>
          <p:nvPr/>
        </p:nvSpPr>
        <p:spPr>
          <a:xfrm>
            <a:off x="1514856" y="1860804"/>
            <a:ext cx="1280160" cy="512064"/>
          </a:xfrm>
          <a:prstGeom prst="rect">
            <a:avLst/>
          </a:prstGeom>
          <a:noFill/>
          <a:ln/>
        </p:spPr>
        <p:txBody>
          <a:bodyPr wrap="square" lIns="0" tIns="0" rIns="0" bIns="0" rtlCol="0" anchor="ctr"/>
          <a:lstStyle/>
          <a:p>
            <a:pPr indent="0" marL="0">
              <a:buNone/>
            </a:pPr>
            <a:r>
              <a:rPr lang="en-US" sz="1300" b="1" dirty="0">
                <a:solidFill>
                  <a:srgbClr val="A8421F"/>
                </a:solidFill>
                <a:latin typeface="Microsoft YaHei" pitchFamily="34" charset="0"/>
                <a:ea typeface="Microsoft YaHei" pitchFamily="34" charset="-122"/>
                <a:cs typeface="Microsoft YaHei" pitchFamily="34" charset="-120"/>
              </a:rPr>
              <a:t>小学阶段</a:t>
            </a:r>
            <a:endParaRPr lang="en-US" sz="1300" dirty="0"/>
          </a:p>
        </p:txBody>
      </p:sp>
      <p:sp>
        <p:nvSpPr>
          <p:cNvPr id="20" name="Text 18"/>
          <p:cNvSpPr/>
          <p:nvPr/>
        </p:nvSpPr>
        <p:spPr>
          <a:xfrm>
            <a:off x="2904744" y="1860804"/>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27364A"/>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200" dirty="0"/>
          </a:p>
        </p:txBody>
      </p:sp>
      <p:sp>
        <p:nvSpPr>
          <p:cNvPr id="21" name="Shape 19"/>
          <p:cNvSpPr/>
          <p:nvPr/>
        </p:nvSpPr>
        <p:spPr>
          <a:xfrm>
            <a:off x="1295400" y="2464308"/>
            <a:ext cx="9981895" cy="512064"/>
          </a:xfrm>
          <a:prstGeom prst="roundRect">
            <a:avLst>
              <a:gd name="adj" fmla="val 12500"/>
            </a:avLst>
          </a:prstGeom>
          <a:solidFill>
            <a:srgbClr val="FFFFFF"/>
          </a:solidFill>
          <a:ln w="12700">
            <a:solidFill>
              <a:srgbClr val="D9E2EF"/>
            </a:solidFill>
            <a:prstDash val="solid"/>
          </a:ln>
        </p:spPr>
      </p:sp>
      <p:sp>
        <p:nvSpPr>
          <p:cNvPr id="22" name="Shape 20"/>
          <p:cNvSpPr/>
          <p:nvPr/>
        </p:nvSpPr>
        <p:spPr>
          <a:xfrm>
            <a:off x="1295400" y="2510028"/>
            <a:ext cx="38100" cy="420624"/>
          </a:xfrm>
          <a:prstGeom prst="rect">
            <a:avLst/>
          </a:prstGeom>
          <a:solidFill>
            <a:srgbClr val="C2552F"/>
          </a:solidFill>
          <a:ln w="12700">
            <a:solidFill>
              <a:srgbClr val="A8421F"/>
            </a:solidFill>
            <a:prstDash val="solid"/>
          </a:ln>
        </p:spPr>
      </p:sp>
      <p:sp>
        <p:nvSpPr>
          <p:cNvPr id="23" name="Text 21"/>
          <p:cNvSpPr/>
          <p:nvPr/>
        </p:nvSpPr>
        <p:spPr>
          <a:xfrm>
            <a:off x="1514856" y="2464308"/>
            <a:ext cx="1280160" cy="512064"/>
          </a:xfrm>
          <a:prstGeom prst="rect">
            <a:avLst/>
          </a:prstGeom>
          <a:noFill/>
          <a:ln/>
        </p:spPr>
        <p:txBody>
          <a:bodyPr wrap="square" lIns="0" tIns="0" rIns="0" bIns="0" rtlCol="0" anchor="ctr"/>
          <a:lstStyle/>
          <a:p>
            <a:pPr indent="0" marL="0">
              <a:buNone/>
            </a:pPr>
            <a:r>
              <a:rPr lang="en-US" sz="1300" b="1" dirty="0">
                <a:solidFill>
                  <a:srgbClr val="A8421F"/>
                </a:solidFill>
                <a:latin typeface="Microsoft YaHei" pitchFamily="34" charset="0"/>
                <a:ea typeface="Microsoft YaHei" pitchFamily="34" charset="-122"/>
                <a:cs typeface="Microsoft YaHei" pitchFamily="34" charset="-120"/>
              </a:rPr>
              <a:t>作业与考试</a:t>
            </a:r>
            <a:endParaRPr lang="en-US" sz="1300" dirty="0"/>
          </a:p>
        </p:txBody>
      </p:sp>
      <p:sp>
        <p:nvSpPr>
          <p:cNvPr id="24" name="Text 22"/>
          <p:cNvSpPr/>
          <p:nvPr/>
        </p:nvSpPr>
        <p:spPr>
          <a:xfrm>
            <a:off x="2904744" y="2464308"/>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27364A"/>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200" dirty="0"/>
          </a:p>
        </p:txBody>
      </p:sp>
      <p:sp>
        <p:nvSpPr>
          <p:cNvPr id="25" name="Shape 23"/>
          <p:cNvSpPr/>
          <p:nvPr/>
        </p:nvSpPr>
        <p:spPr>
          <a:xfrm>
            <a:off x="1295400" y="3067812"/>
            <a:ext cx="9981895" cy="512064"/>
          </a:xfrm>
          <a:prstGeom prst="roundRect">
            <a:avLst>
              <a:gd name="adj" fmla="val 12500"/>
            </a:avLst>
          </a:prstGeom>
          <a:solidFill>
            <a:srgbClr val="FFFFFF"/>
          </a:solidFill>
          <a:ln w="12700">
            <a:solidFill>
              <a:srgbClr val="D9E2EF"/>
            </a:solidFill>
            <a:prstDash val="solid"/>
          </a:ln>
        </p:spPr>
      </p:sp>
      <p:sp>
        <p:nvSpPr>
          <p:cNvPr id="26" name="Shape 24"/>
          <p:cNvSpPr/>
          <p:nvPr/>
        </p:nvSpPr>
        <p:spPr>
          <a:xfrm>
            <a:off x="1295400" y="3113532"/>
            <a:ext cx="38100" cy="420624"/>
          </a:xfrm>
          <a:prstGeom prst="rect">
            <a:avLst/>
          </a:prstGeom>
          <a:solidFill>
            <a:srgbClr val="C2552F"/>
          </a:solidFill>
          <a:ln w="12700">
            <a:solidFill>
              <a:srgbClr val="A8421F"/>
            </a:solidFill>
            <a:prstDash val="solid"/>
          </a:ln>
        </p:spPr>
      </p:sp>
      <p:sp>
        <p:nvSpPr>
          <p:cNvPr id="27" name="Text 25"/>
          <p:cNvSpPr/>
          <p:nvPr/>
        </p:nvSpPr>
        <p:spPr>
          <a:xfrm>
            <a:off x="1514856" y="3067812"/>
            <a:ext cx="1280160" cy="512064"/>
          </a:xfrm>
          <a:prstGeom prst="rect">
            <a:avLst/>
          </a:prstGeom>
          <a:noFill/>
          <a:ln/>
        </p:spPr>
        <p:txBody>
          <a:bodyPr wrap="square" lIns="0" tIns="0" rIns="0" bIns="0" rtlCol="0" anchor="ctr"/>
          <a:lstStyle/>
          <a:p>
            <a:pPr indent="0" marL="0">
              <a:buNone/>
            </a:pPr>
            <a:r>
              <a:rPr lang="en-US" sz="1300" b="1" dirty="0">
                <a:solidFill>
                  <a:srgbClr val="A8421F"/>
                </a:solidFill>
                <a:latin typeface="Microsoft YaHei" pitchFamily="34" charset="0"/>
                <a:ea typeface="Microsoft YaHei" pitchFamily="34" charset="-122"/>
                <a:cs typeface="Microsoft YaHei" pitchFamily="34" charset="-120"/>
              </a:rPr>
              <a:t>数据</a:t>
            </a:r>
            <a:endParaRPr lang="en-US" sz="1300" dirty="0"/>
          </a:p>
        </p:txBody>
      </p:sp>
      <p:sp>
        <p:nvSpPr>
          <p:cNvPr id="28" name="Text 26"/>
          <p:cNvSpPr/>
          <p:nvPr/>
        </p:nvSpPr>
        <p:spPr>
          <a:xfrm>
            <a:off x="2904744" y="3067812"/>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27364A"/>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200" dirty="0"/>
          </a:p>
        </p:txBody>
      </p:sp>
      <p:sp>
        <p:nvSpPr>
          <p:cNvPr id="29" name="Shape 27"/>
          <p:cNvSpPr/>
          <p:nvPr/>
        </p:nvSpPr>
        <p:spPr>
          <a:xfrm>
            <a:off x="1295400" y="3671316"/>
            <a:ext cx="9981895" cy="512064"/>
          </a:xfrm>
          <a:prstGeom prst="roundRect">
            <a:avLst>
              <a:gd name="adj" fmla="val 12500"/>
            </a:avLst>
          </a:prstGeom>
          <a:solidFill>
            <a:srgbClr val="FFFFFF"/>
          </a:solidFill>
          <a:ln w="12700">
            <a:solidFill>
              <a:srgbClr val="D9E2EF"/>
            </a:solidFill>
            <a:prstDash val="solid"/>
          </a:ln>
        </p:spPr>
      </p:sp>
      <p:sp>
        <p:nvSpPr>
          <p:cNvPr id="30" name="Shape 28"/>
          <p:cNvSpPr/>
          <p:nvPr/>
        </p:nvSpPr>
        <p:spPr>
          <a:xfrm>
            <a:off x="1295400" y="3717036"/>
            <a:ext cx="38100" cy="420624"/>
          </a:xfrm>
          <a:prstGeom prst="rect">
            <a:avLst/>
          </a:prstGeom>
          <a:solidFill>
            <a:srgbClr val="C2552F"/>
          </a:solidFill>
          <a:ln w="12700">
            <a:solidFill>
              <a:srgbClr val="A8421F"/>
            </a:solidFill>
            <a:prstDash val="solid"/>
          </a:ln>
        </p:spPr>
      </p:sp>
      <p:sp>
        <p:nvSpPr>
          <p:cNvPr id="31" name="Text 29"/>
          <p:cNvSpPr/>
          <p:nvPr/>
        </p:nvSpPr>
        <p:spPr>
          <a:xfrm>
            <a:off x="1514856" y="3671316"/>
            <a:ext cx="1280160" cy="512064"/>
          </a:xfrm>
          <a:prstGeom prst="rect">
            <a:avLst/>
          </a:prstGeom>
          <a:noFill/>
          <a:ln/>
        </p:spPr>
        <p:txBody>
          <a:bodyPr wrap="square" lIns="0" tIns="0" rIns="0" bIns="0" rtlCol="0" anchor="ctr"/>
          <a:lstStyle/>
          <a:p>
            <a:pPr indent="0" marL="0">
              <a:buNone/>
            </a:pPr>
            <a:r>
              <a:rPr lang="en-US" sz="1300" b="1" dirty="0">
                <a:solidFill>
                  <a:srgbClr val="A8421F"/>
                </a:solidFill>
                <a:latin typeface="Microsoft YaHei" pitchFamily="34" charset="0"/>
                <a:ea typeface="Microsoft YaHei" pitchFamily="34" charset="-122"/>
                <a:cs typeface="Microsoft YaHei" pitchFamily="34" charset="-120"/>
              </a:rPr>
              <a:t>标注</a:t>
            </a:r>
            <a:endParaRPr lang="en-US" sz="1300" dirty="0"/>
          </a:p>
        </p:txBody>
      </p:sp>
      <p:sp>
        <p:nvSpPr>
          <p:cNvPr id="32" name="Text 30"/>
          <p:cNvSpPr/>
          <p:nvPr/>
        </p:nvSpPr>
        <p:spPr>
          <a:xfrm>
            <a:off x="2904744" y="3671316"/>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27364A"/>
                </a:solidFill>
                <a:latin typeface="Microsoft YaHei" pitchFamily="34" charset="0"/>
                <a:ea typeface="Microsoft YaHei" pitchFamily="34" charset="-122"/>
                <a:cs typeface="Microsoft YaHei" pitchFamily="34" charset="-120"/>
              </a:rPr>
              <a:t>学生 AI 辅助完成的成果应主动标注。</a:t>
            </a:r>
            <a:endParaRPr lang="en-US" sz="1200" dirty="0"/>
          </a:p>
        </p:txBody>
      </p:sp>
      <p:sp>
        <p:nvSpPr>
          <p:cNvPr id="33" name="Text 31"/>
          <p:cNvSpPr/>
          <p:nvPr/>
        </p:nvSpPr>
        <p:spPr>
          <a:xfrm>
            <a:off x="1295400" y="4402836"/>
            <a:ext cx="9981895" cy="274320"/>
          </a:xfrm>
          <a:prstGeom prst="rect">
            <a:avLst/>
          </a:prstGeom>
          <a:noFill/>
          <a:ln/>
        </p:spPr>
        <p:txBody>
          <a:bodyPr wrap="square" lIns="0" tIns="0" rIns="0" bIns="0" rtlCol="0" anchor="ctr"/>
          <a:lstStyle/>
          <a:p>
            <a:pPr indent="0" marL="0">
              <a:buNone/>
            </a:pPr>
            <a:r>
              <a:rPr lang="en-US" sz="1300" dirty="0">
                <a:solidFill>
                  <a:srgbClr val="27364A"/>
                </a:solidFill>
                <a:latin typeface="Microsoft YaHei" pitchFamily="34" charset="0"/>
                <a:ea typeface="Microsoft YaHei" pitchFamily="34" charset="-122"/>
                <a:cs typeface="Microsoft YaHei" pitchFamily="34" charset="-120"/>
              </a:rPr>
              <a:t>这四条是硬约束。四条之外的使用方式，教育部与地方文件采取的是鼓励探索的表述。</a:t>
            </a:r>
            <a:endParaRPr lang="en-US" sz="1300" dirty="0"/>
          </a:p>
        </p:txBody>
      </p:sp>
      <p:sp>
        <p:nvSpPr>
          <p:cNvPr id="34" name="Text 32"/>
          <p:cNvSpPr/>
          <p:nvPr/>
        </p:nvSpPr>
        <p:spPr>
          <a:xfrm>
            <a:off x="1295400" y="475030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前三条出自《中小学生成式人工智能使用指南（2025 年版）》。</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评价主体与责任归属</a:t>
            </a:r>
            <a:endParaRPr lang="en-US" sz="3200" dirty="0"/>
          </a:p>
        </p:txBody>
      </p:sp>
      <p:sp>
        <p:nvSpPr>
          <p:cNvPr id="17" name="Shape 15"/>
          <p:cNvSpPr/>
          <p:nvPr/>
        </p:nvSpPr>
        <p:spPr>
          <a:xfrm>
            <a:off x="1295400" y="2468880"/>
            <a:ext cx="896112" cy="530352"/>
          </a:xfrm>
          <a:prstGeom prst="roundRect">
            <a:avLst>
              <a:gd name="adj" fmla="val 15517"/>
            </a:avLst>
          </a:prstGeom>
          <a:solidFill>
            <a:srgbClr val="FFFFFF"/>
          </a:solidFill>
          <a:ln w="12700">
            <a:solidFill>
              <a:srgbClr val="D9E2EF"/>
            </a:solidFill>
            <a:prstDash val="solid"/>
          </a:ln>
        </p:spPr>
      </p:sp>
      <p:sp>
        <p:nvSpPr>
          <p:cNvPr id="18" name="Text 16"/>
          <p:cNvSpPr/>
          <p:nvPr/>
        </p:nvSpPr>
        <p:spPr>
          <a:xfrm>
            <a:off x="1295400" y="2468880"/>
            <a:ext cx="896112" cy="530352"/>
          </a:xfrm>
          <a:prstGeom prst="rect">
            <a:avLst/>
          </a:prstGeom>
          <a:noFill/>
          <a:ln/>
        </p:spPr>
        <p:txBody>
          <a:bodyPr wrap="square" lIns="0" tIns="0" rIns="0" bIns="0" rtlCol="0" anchor="ctr"/>
          <a:lstStyle/>
          <a:p>
            <a:pPr algn="ctr" indent="0" marL="0">
              <a:buNone/>
            </a:pPr>
            <a:r>
              <a:rPr lang="en-US" sz="1500" b="1" dirty="0">
                <a:solidFill>
                  <a:srgbClr val="081B3A"/>
                </a:solidFill>
                <a:latin typeface="Microsoft YaHei" pitchFamily="34" charset="0"/>
                <a:ea typeface="Microsoft YaHei" pitchFamily="34" charset="-122"/>
                <a:cs typeface="Microsoft YaHei" pitchFamily="34" charset="-120"/>
              </a:rPr>
              <a:t>教师</a:t>
            </a:r>
            <a:endParaRPr lang="en-US" sz="1500" dirty="0"/>
          </a:p>
        </p:txBody>
      </p:sp>
      <p:sp>
        <p:nvSpPr>
          <p:cNvPr id="19" name="Shape 17"/>
          <p:cNvSpPr/>
          <p:nvPr/>
        </p:nvSpPr>
        <p:spPr>
          <a:xfrm>
            <a:off x="2374392" y="2468880"/>
            <a:ext cx="896112" cy="530352"/>
          </a:xfrm>
          <a:prstGeom prst="roundRect">
            <a:avLst>
              <a:gd name="adj" fmla="val 15517"/>
            </a:avLst>
          </a:prstGeom>
          <a:solidFill>
            <a:srgbClr val="FFFFFF"/>
          </a:solidFill>
          <a:ln w="12700">
            <a:solidFill>
              <a:srgbClr val="D9E2EF"/>
            </a:solidFill>
            <a:prstDash val="solid"/>
          </a:ln>
        </p:spPr>
      </p:sp>
      <p:sp>
        <p:nvSpPr>
          <p:cNvPr id="20" name="Text 18"/>
          <p:cNvSpPr/>
          <p:nvPr/>
        </p:nvSpPr>
        <p:spPr>
          <a:xfrm>
            <a:off x="2374392" y="2468880"/>
            <a:ext cx="896112" cy="530352"/>
          </a:xfrm>
          <a:prstGeom prst="rect">
            <a:avLst/>
          </a:prstGeom>
          <a:noFill/>
          <a:ln/>
        </p:spPr>
        <p:txBody>
          <a:bodyPr wrap="square" lIns="0" tIns="0" rIns="0" bIns="0" rtlCol="0" anchor="ctr"/>
          <a:lstStyle/>
          <a:p>
            <a:pPr algn="ctr" indent="0" marL="0">
              <a:buNone/>
            </a:pPr>
            <a:r>
              <a:rPr lang="en-US" sz="1500" b="1" dirty="0">
                <a:solidFill>
                  <a:srgbClr val="081B3A"/>
                </a:solidFill>
                <a:latin typeface="Microsoft YaHei" pitchFamily="34" charset="0"/>
                <a:ea typeface="Microsoft YaHei" pitchFamily="34" charset="-122"/>
                <a:cs typeface="Microsoft YaHei" pitchFamily="34" charset="-120"/>
              </a:rPr>
              <a:t>学生</a:t>
            </a:r>
            <a:endParaRPr lang="en-US" sz="1500" dirty="0"/>
          </a:p>
        </p:txBody>
      </p:sp>
      <p:sp>
        <p:nvSpPr>
          <p:cNvPr id="21" name="Shape 19"/>
          <p:cNvSpPr/>
          <p:nvPr/>
        </p:nvSpPr>
        <p:spPr>
          <a:xfrm>
            <a:off x="3453384" y="2468880"/>
            <a:ext cx="896112" cy="530352"/>
          </a:xfrm>
          <a:prstGeom prst="roundRect">
            <a:avLst>
              <a:gd name="adj" fmla="val 15517"/>
            </a:avLst>
          </a:prstGeom>
          <a:solidFill>
            <a:srgbClr val="FFFFFF"/>
          </a:solidFill>
          <a:ln w="12700">
            <a:solidFill>
              <a:srgbClr val="D9E2EF"/>
            </a:solidFill>
            <a:prstDash val="solid"/>
          </a:ln>
        </p:spPr>
      </p:sp>
      <p:sp>
        <p:nvSpPr>
          <p:cNvPr id="22" name="Text 20"/>
          <p:cNvSpPr/>
          <p:nvPr/>
        </p:nvSpPr>
        <p:spPr>
          <a:xfrm>
            <a:off x="3453384" y="2468880"/>
            <a:ext cx="896112" cy="530352"/>
          </a:xfrm>
          <a:prstGeom prst="rect">
            <a:avLst/>
          </a:prstGeom>
          <a:noFill/>
          <a:ln/>
        </p:spPr>
        <p:txBody>
          <a:bodyPr wrap="square" lIns="0" tIns="0" rIns="0" bIns="0" rtlCol="0" anchor="ctr"/>
          <a:lstStyle/>
          <a:p>
            <a:pPr algn="ctr" indent="0" marL="0">
              <a:buNone/>
            </a:pPr>
            <a:r>
              <a:rPr lang="en-US" sz="1500" b="1" dirty="0">
                <a:solidFill>
                  <a:srgbClr val="081B3A"/>
                </a:solidFill>
                <a:latin typeface="Microsoft YaHei" pitchFamily="34" charset="0"/>
                <a:ea typeface="Microsoft YaHei" pitchFamily="34" charset="-122"/>
                <a:cs typeface="Microsoft YaHei" pitchFamily="34" charset="-120"/>
              </a:rPr>
              <a:t>同伴</a:t>
            </a:r>
            <a:endParaRPr lang="en-US" sz="1500" dirty="0"/>
          </a:p>
        </p:txBody>
      </p:sp>
      <p:sp>
        <p:nvSpPr>
          <p:cNvPr id="23" name="Shape 21"/>
          <p:cNvSpPr/>
          <p:nvPr/>
        </p:nvSpPr>
        <p:spPr>
          <a:xfrm>
            <a:off x="4532376" y="2468880"/>
            <a:ext cx="2871216" cy="530352"/>
          </a:xfrm>
          <a:prstGeom prst="roundRect">
            <a:avLst>
              <a:gd name="adj" fmla="val 15517"/>
            </a:avLst>
          </a:prstGeom>
          <a:solidFill>
            <a:srgbClr val="FFFFFF"/>
          </a:solidFill>
          <a:ln w="12700">
            <a:solidFill>
              <a:srgbClr val="D9E2EF"/>
            </a:solidFill>
            <a:prstDash val="solid"/>
          </a:ln>
        </p:spPr>
      </p:sp>
      <p:sp>
        <p:nvSpPr>
          <p:cNvPr id="24" name="Text 22"/>
          <p:cNvSpPr/>
          <p:nvPr/>
        </p:nvSpPr>
        <p:spPr>
          <a:xfrm>
            <a:off x="4532376" y="2468880"/>
            <a:ext cx="2871216" cy="530352"/>
          </a:xfrm>
          <a:prstGeom prst="rect">
            <a:avLst/>
          </a:prstGeom>
          <a:noFill/>
          <a:ln/>
        </p:spPr>
        <p:txBody>
          <a:bodyPr wrap="square" lIns="0" tIns="0" rIns="0" bIns="0" rtlCol="0" anchor="ctr"/>
          <a:lstStyle/>
          <a:p>
            <a:pPr algn="ctr" indent="0" marL="0">
              <a:buNone/>
            </a:pPr>
            <a:r>
              <a:rPr lang="en-US" sz="1500" b="1" dirty="0">
                <a:solidFill>
                  <a:srgbClr val="081B3A"/>
                </a:solidFill>
                <a:latin typeface="Microsoft YaHei" pitchFamily="34" charset="0"/>
                <a:ea typeface="Microsoft YaHei" pitchFamily="34" charset="-122"/>
                <a:cs typeface="Microsoft YaHei" pitchFamily="34" charset="-120"/>
              </a:rPr>
              <a:t>受邀的科学家与工程师</a:t>
            </a:r>
            <a:endParaRPr lang="en-US" sz="1500" dirty="0"/>
          </a:p>
        </p:txBody>
      </p:sp>
      <p:sp>
        <p:nvSpPr>
          <p:cNvPr id="25" name="Text 23"/>
          <p:cNvSpPr/>
          <p:nvPr/>
        </p:nvSpPr>
        <p:spPr>
          <a:xfrm>
            <a:off x="1295400" y="3218688"/>
            <a:ext cx="9981895" cy="329184"/>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没有 AI</a:t>
            </a:r>
            <a:endParaRPr lang="en-US" sz="1500" dirty="0"/>
          </a:p>
        </p:txBody>
      </p:sp>
      <p:sp>
        <p:nvSpPr>
          <p:cNvPr id="26" name="Text 24"/>
          <p:cNvSpPr/>
          <p:nvPr/>
        </p:nvSpPr>
        <p:spPr>
          <a:xfrm>
            <a:off x="1295400" y="3986784"/>
            <a:ext cx="4625188"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可以部分借助工具</a:t>
            </a:r>
            <a:endParaRPr lang="en-US" sz="950" dirty="0"/>
          </a:p>
        </p:txBody>
      </p:sp>
      <p:sp>
        <p:nvSpPr>
          <p:cNvPr id="27" name="Text 25"/>
          <p:cNvSpPr/>
          <p:nvPr/>
        </p:nvSpPr>
        <p:spPr>
          <a:xfrm>
            <a:off x="1295400" y="4242816"/>
            <a:ext cx="4625188" cy="402336"/>
          </a:xfrm>
          <a:prstGeom prst="rect">
            <a:avLst/>
          </a:prstGeom>
          <a:noFill/>
          <a:ln/>
        </p:spPr>
        <p:txBody>
          <a:bodyPr wrap="square" lIns="0" tIns="0" rIns="0" bIns="0" rtlCol="0" anchor="ctr"/>
          <a:lstStyle/>
          <a:p>
            <a:pPr indent="0" marL="0">
              <a:buNone/>
            </a:pPr>
            <a:r>
              <a:rPr lang="en-US" sz="2100" b="1" dirty="0">
                <a:solidFill>
                  <a:srgbClr val="081B3A"/>
                </a:solidFill>
                <a:latin typeface="Microsoft YaHei" pitchFamily="34" charset="0"/>
                <a:ea typeface="Microsoft YaHei" pitchFamily="34" charset="-122"/>
                <a:cs typeface="Microsoft YaHei" pitchFamily="34" charset="-120"/>
              </a:rPr>
              <a:t>提出、确认</a:t>
            </a:r>
            <a:endParaRPr lang="en-US" sz="2100" dirty="0"/>
          </a:p>
        </p:txBody>
      </p:sp>
      <p:sp>
        <p:nvSpPr>
          <p:cNvPr id="28" name="Text 26"/>
          <p:cNvSpPr/>
          <p:nvPr/>
        </p:nvSpPr>
        <p:spPr>
          <a:xfrm>
            <a:off x="6286348" y="3986784"/>
            <a:ext cx="4625188"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落在教师签名上</a:t>
            </a:r>
            <a:endParaRPr lang="en-US" sz="950" dirty="0"/>
          </a:p>
        </p:txBody>
      </p:sp>
      <p:sp>
        <p:nvSpPr>
          <p:cNvPr id="29" name="Text 27"/>
          <p:cNvSpPr/>
          <p:nvPr/>
        </p:nvSpPr>
        <p:spPr>
          <a:xfrm>
            <a:off x="6286348" y="4242816"/>
            <a:ext cx="4625188" cy="402336"/>
          </a:xfrm>
          <a:prstGeom prst="rect">
            <a:avLst/>
          </a:prstGeom>
          <a:noFill/>
          <a:ln/>
        </p:spPr>
        <p:txBody>
          <a:bodyPr wrap="square" lIns="0" tIns="0" rIns="0" bIns="0" rtlCol="0" anchor="ctr"/>
          <a:lstStyle/>
          <a:p>
            <a:pPr indent="0" marL="0">
              <a:buNone/>
            </a:pPr>
            <a:r>
              <a:rPr lang="en-US" sz="2100" b="1" dirty="0">
                <a:solidFill>
                  <a:srgbClr val="081B3A"/>
                </a:solidFill>
                <a:latin typeface="Microsoft YaHei" pitchFamily="34" charset="0"/>
                <a:ea typeface="Microsoft YaHei" pitchFamily="34" charset="-122"/>
                <a:cs typeface="Microsoft YaHei" pitchFamily="34" charset="-120"/>
              </a:rPr>
              <a:t>否决、评价、负责</a:t>
            </a:r>
            <a:endParaRPr lang="en-US" sz="2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智能体是什么</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智能体就是一段预先写好的指令，附在每次提问之前。写一次，之后每次对话它都按这段指令行事。不需要安装软件，也不需要编程。</a:t>
            </a:r>
            <a:endParaRPr lang="en-US" sz="1150" dirty="0"/>
          </a:p>
        </p:txBody>
      </p:sp>
      <p:pic>
        <p:nvPicPr>
          <p:cNvPr id="18" name="Image 0" descr="/home/user/slides/comprehensive-practice-ai/figures/agent.png">    </p:cNvPr>
          <p:cNvPicPr>
            <a:picLocks noChangeAspect="1"/>
          </p:cNvPicPr>
          <p:nvPr/>
        </p:nvPicPr>
        <p:blipFill>
          <a:blip r:embed="rId1"/>
          <a:stretch>
            <a:fillRect/>
          </a:stretch>
        </p:blipFill>
        <p:spPr>
          <a:xfrm>
            <a:off x="1295400" y="2171700"/>
            <a:ext cx="9981895" cy="2324029"/>
          </a:xfrm>
          <a:prstGeom prst="rect">
            <a:avLst/>
          </a:prstGeom>
        </p:spPr>
      </p:pic>
      <p:sp>
        <p:nvSpPr>
          <p:cNvPr id="19" name="Shape 16"/>
          <p:cNvSpPr/>
          <p:nvPr/>
        </p:nvSpPr>
        <p:spPr>
          <a:xfrm>
            <a:off x="1295400" y="4642033"/>
            <a:ext cx="9981895" cy="1060704"/>
          </a:xfrm>
          <a:prstGeom prst="roundRect">
            <a:avLst>
              <a:gd name="adj" fmla="val 7759"/>
            </a:avLst>
          </a:prstGeom>
          <a:solidFill>
            <a:srgbClr val="FFFFFF"/>
          </a:solidFill>
          <a:ln w="12700">
            <a:solidFill>
              <a:srgbClr val="D9E2EF"/>
            </a:solidFill>
            <a:prstDash val="solid"/>
          </a:ln>
        </p:spPr>
      </p:sp>
      <p:sp>
        <p:nvSpPr>
          <p:cNvPr id="20" name="Shape 17"/>
          <p:cNvSpPr/>
          <p:nvPr/>
        </p:nvSpPr>
        <p:spPr>
          <a:xfrm>
            <a:off x="1295400" y="4696897"/>
            <a:ext cx="38100" cy="950976"/>
          </a:xfrm>
          <a:prstGeom prst="rect">
            <a:avLst/>
          </a:prstGeom>
          <a:solidFill>
            <a:srgbClr val="C2552F"/>
          </a:solidFill>
          <a:ln w="12700">
            <a:solidFill>
              <a:srgbClr val="A8421F"/>
            </a:solidFill>
            <a:prstDash val="solid"/>
          </a:ln>
        </p:spPr>
      </p:sp>
      <p:sp>
        <p:nvSpPr>
          <p:cNvPr id="21" name="Text 18"/>
          <p:cNvSpPr/>
          <p:nvPr/>
        </p:nvSpPr>
        <p:spPr>
          <a:xfrm>
            <a:off x="1569720" y="4760905"/>
            <a:ext cx="9433255" cy="182880"/>
          </a:xfrm>
          <a:prstGeom prst="rect">
            <a:avLst/>
          </a:prstGeom>
          <a:noFill/>
          <a:ln/>
        </p:spPr>
        <p:txBody>
          <a:bodyPr wrap="square" lIns="0" tIns="0" rIns="0" bIns="0" rtlCol="0" anchor="ctr"/>
          <a:lstStyle/>
          <a:p>
            <a:pPr indent="0" marL="0">
              <a:buNone/>
            </a:pPr>
            <a:r>
              <a:rPr lang="en-US" sz="950" b="1" spc="120" kern="0" dirty="0">
                <a:solidFill>
                  <a:srgbClr val="A8421F"/>
                </a:solidFill>
                <a:latin typeface="Microsoft YaHei" pitchFamily="34" charset="0"/>
                <a:ea typeface="Microsoft YaHei" pitchFamily="34" charset="-122"/>
                <a:cs typeface="Microsoft YaHei" pitchFamily="34" charset="-120"/>
              </a:rPr>
              <a:t>可直接照抄的指令</a:t>
            </a:r>
            <a:endParaRPr lang="en-US" sz="950" dirty="0"/>
          </a:p>
        </p:txBody>
      </p:sp>
      <p:sp>
        <p:nvSpPr>
          <p:cNvPr id="22" name="Text 19"/>
          <p:cNvSpPr/>
          <p:nvPr/>
        </p:nvSpPr>
        <p:spPr>
          <a:xfrm>
            <a:off x="1569720" y="4989505"/>
            <a:ext cx="9433255" cy="621792"/>
          </a:xfrm>
          <a:prstGeom prst="rect">
            <a:avLst/>
          </a:prstGeom>
          <a:noFill/>
          <a:ln/>
        </p:spPr>
        <p:txBody>
          <a:bodyPr wrap="square" lIns="0" tIns="0" rIns="0" bIns="0" rtlCol="0" anchor="t"/>
          <a:lstStyle/>
          <a:p>
            <a:pPr indent="0" marL="0">
              <a:lnSpc>
                <a:spcPct val="155000"/>
              </a:lnSpc>
              <a:buNone/>
            </a:pPr>
            <a:r>
              <a:rPr lang="en-US" sz="1250" dirty="0">
                <a:solidFill>
                  <a:srgbClr val="27364A"/>
                </a:solidFill>
                <a:latin typeface="Microsoft YaHei" pitchFamily="34" charset="0"/>
                <a:ea typeface="Microsoft YaHei" pitchFamily="34" charset="-122"/>
                <a:cs typeface="Microsoft YaHei" pitchFamily="34" charset="-120"/>
              </a:rPr>
              <a:t>你是综合实践活动课的方案质疑员。学生会给你一份探究方案。你只提出问题，不提供修改后的方案，也不给结论。每次最多提三个问题，围绕变量控制、数据来源，以及结论能否由所给数据支持。</a:t>
            </a:r>
            <a:endParaRPr lang="en-US" sz="1250" dirty="0"/>
          </a:p>
        </p:txBody>
      </p:sp>
      <p:sp>
        <p:nvSpPr>
          <p:cNvPr id="23" name="Shape 20"/>
          <p:cNvSpPr/>
          <p:nvPr/>
        </p:nvSpPr>
        <p:spPr>
          <a:xfrm>
            <a:off x="1295400" y="5888736"/>
            <a:ext cx="9981895" cy="0"/>
          </a:xfrm>
          <a:prstGeom prst="line">
            <a:avLst/>
          </a:prstGeom>
          <a:noFill/>
          <a:ln w="12700">
            <a:solidFill>
              <a:srgbClr val="D9E2EF"/>
            </a:solidFill>
            <a:prstDash val="solid"/>
          </a:ln>
        </p:spPr>
      </p:sp>
      <p:sp>
        <p:nvSpPr>
          <p:cNvPr id="24"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把这段话贴进任何一个对话框，之后的每一次提问都会按它执行。要换用途，改写这段话即可。</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三类工具在任务中的位置</a:t>
            </a:r>
            <a:endParaRPr lang="en-US" sz="3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放在任务的哪一步</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不放的位置</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对话式智能体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方案质疑、答辩预演、教师备课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提出问题、解释结论、正式评价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过程证据页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行前任务单、过程留痕、对外发布的成果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替代动手实践</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课堂互动工具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替代教师判断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对话式工具承担过程支持，证据页承担留痕与对外发布。</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三周的起步路径</a:t>
            </a:r>
            <a:endParaRPr lang="en-US" sz="3200" dirty="0"/>
          </a:p>
        </p:txBody>
      </p:sp>
      <p:sp>
        <p:nvSpPr>
          <p:cNvPr id="17" name="Text 15"/>
          <p:cNvSpPr/>
          <p:nvPr/>
        </p:nvSpPr>
        <p:spPr>
          <a:xfrm>
            <a:off x="1295400" y="2286000"/>
            <a:ext cx="877824" cy="402336"/>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第一周</a:t>
            </a:r>
            <a:endParaRPr lang="en-US" sz="1600" dirty="0"/>
          </a:p>
        </p:txBody>
      </p:sp>
      <p:sp>
        <p:nvSpPr>
          <p:cNvPr id="18" name="Text 16"/>
          <p:cNvSpPr/>
          <p:nvPr/>
        </p:nvSpPr>
        <p:spPr>
          <a:xfrm>
            <a:off x="2374392" y="2286000"/>
            <a:ext cx="8902903" cy="384048"/>
          </a:xfrm>
          <a:prstGeom prst="rect">
            <a:avLst/>
          </a:prstGeom>
          <a:noFill/>
          <a:ln/>
        </p:spPr>
        <p:txBody>
          <a:bodyPr wrap="square" lIns="0" tIns="0" rIns="0" bIns="0" rtlCol="0" anchor="ctr"/>
          <a:lstStyle/>
          <a:p>
            <a:pPr indent="0" marL="0">
              <a:buNone/>
            </a:pPr>
            <a:r>
              <a:rPr lang="en-US" sz="2000" b="1" dirty="0">
                <a:solidFill>
                  <a:srgbClr val="081B3A"/>
                </a:solidFill>
                <a:latin typeface="Microsoft YaHei" pitchFamily="34" charset="0"/>
                <a:ea typeface="Microsoft YaHei" pitchFamily="34" charset="-122"/>
                <a:cs typeface="Microsoft YaHei" pitchFamily="34" charset="-120"/>
              </a:rPr>
              <a:t>设置问题墙</a:t>
            </a:r>
            <a:endParaRPr lang="en-US" sz="2000" dirty="0"/>
          </a:p>
        </p:txBody>
      </p:sp>
      <p:sp>
        <p:nvSpPr>
          <p:cNvPr id="19" name="Text 17"/>
          <p:cNvSpPr/>
          <p:nvPr/>
        </p:nvSpPr>
        <p:spPr>
          <a:xfrm>
            <a:off x="2374392" y="2688336"/>
            <a:ext cx="8902903" cy="365760"/>
          </a:xfrm>
          <a:prstGeom prst="rect">
            <a:avLst/>
          </a:prstGeom>
          <a:noFill/>
          <a:ln/>
        </p:spPr>
        <p:txBody>
          <a:bodyPr wrap="square" lIns="0" tIns="0" rIns="0" bIns="0" rtlCol="0" anchor="t"/>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学生一周内提交三个真实困扰，教师选取一个打磨为驱动性问题。本周不使用 AI。</a:t>
            </a:r>
            <a:endParaRPr lang="en-US" sz="1150" dirty="0"/>
          </a:p>
        </p:txBody>
      </p:sp>
      <p:sp>
        <p:nvSpPr>
          <p:cNvPr id="20" name="Text 18"/>
          <p:cNvSpPr/>
          <p:nvPr/>
        </p:nvSpPr>
        <p:spPr>
          <a:xfrm>
            <a:off x="1295400" y="3218688"/>
            <a:ext cx="877824" cy="402336"/>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第二周</a:t>
            </a:r>
            <a:endParaRPr lang="en-US" sz="1600" dirty="0"/>
          </a:p>
        </p:txBody>
      </p:sp>
      <p:sp>
        <p:nvSpPr>
          <p:cNvPr id="21" name="Text 19"/>
          <p:cNvSpPr/>
          <p:nvPr/>
        </p:nvSpPr>
        <p:spPr>
          <a:xfrm>
            <a:off x="2374392" y="3218688"/>
            <a:ext cx="8902903" cy="384048"/>
          </a:xfrm>
          <a:prstGeom prst="rect">
            <a:avLst/>
          </a:prstGeom>
          <a:noFill/>
          <a:ln/>
        </p:spPr>
        <p:txBody>
          <a:bodyPr wrap="square" lIns="0" tIns="0" rIns="0" bIns="0" rtlCol="0" anchor="ctr"/>
          <a:lstStyle/>
          <a:p>
            <a:pPr indent="0" marL="0">
              <a:buNone/>
            </a:pPr>
            <a:r>
              <a:rPr lang="en-US" sz="2000" b="1" dirty="0">
                <a:solidFill>
                  <a:srgbClr val="081B3A"/>
                </a:solidFill>
                <a:latin typeface="Microsoft YaHei" pitchFamily="34" charset="0"/>
                <a:ea typeface="Microsoft YaHei" pitchFamily="34" charset="-122"/>
                <a:cs typeface="Microsoft YaHei" pitchFamily="34" charset="-120"/>
              </a:rPr>
              <a:t>用一次方案质疑员</a:t>
            </a:r>
            <a:endParaRPr lang="en-US" sz="2000" dirty="0"/>
          </a:p>
        </p:txBody>
      </p:sp>
      <p:sp>
        <p:nvSpPr>
          <p:cNvPr id="22" name="Text 20"/>
          <p:cNvSpPr/>
          <p:nvPr/>
        </p:nvSpPr>
        <p:spPr>
          <a:xfrm>
            <a:off x="2374392" y="3621024"/>
            <a:ext cx="8902903" cy="365760"/>
          </a:xfrm>
          <a:prstGeom prst="rect">
            <a:avLst/>
          </a:prstGeom>
          <a:noFill/>
          <a:ln/>
        </p:spPr>
        <p:txBody>
          <a:bodyPr wrap="square" lIns="0" tIns="0" rIns="0" bIns="0" rtlCol="0" anchor="t"/>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把上一页的指令贴进对话框，对一份学生方案提一次问题，自行判断哪些采纳。</a:t>
            </a:r>
            <a:endParaRPr lang="en-US" sz="1150" dirty="0"/>
          </a:p>
        </p:txBody>
      </p:sp>
      <p:sp>
        <p:nvSpPr>
          <p:cNvPr id="23" name="Text 21"/>
          <p:cNvSpPr/>
          <p:nvPr/>
        </p:nvSpPr>
        <p:spPr>
          <a:xfrm>
            <a:off x="1295400" y="4151376"/>
            <a:ext cx="877824" cy="402336"/>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第三周</a:t>
            </a:r>
            <a:endParaRPr lang="en-US" sz="1600" dirty="0"/>
          </a:p>
        </p:txBody>
      </p:sp>
      <p:sp>
        <p:nvSpPr>
          <p:cNvPr id="24" name="Text 22"/>
          <p:cNvSpPr/>
          <p:nvPr/>
        </p:nvSpPr>
        <p:spPr>
          <a:xfrm>
            <a:off x="2374392" y="4151376"/>
            <a:ext cx="8902903" cy="384048"/>
          </a:xfrm>
          <a:prstGeom prst="rect">
            <a:avLst/>
          </a:prstGeom>
          <a:noFill/>
          <a:ln/>
        </p:spPr>
        <p:txBody>
          <a:bodyPr wrap="square" lIns="0" tIns="0" rIns="0" bIns="0" rtlCol="0" anchor="ctr"/>
          <a:lstStyle/>
          <a:p>
            <a:pPr indent="0" marL="0">
              <a:buNone/>
            </a:pPr>
            <a:r>
              <a:rPr lang="en-US" sz="2000" b="1" dirty="0">
                <a:solidFill>
                  <a:srgbClr val="081B3A"/>
                </a:solidFill>
                <a:latin typeface="Microsoft YaHei" pitchFamily="34" charset="0"/>
                <a:ea typeface="Microsoft YaHei" pitchFamily="34" charset="-122"/>
                <a:cs typeface="Microsoft YaHei" pitchFamily="34" charset="-120"/>
              </a:rPr>
              <a:t>发出四栏留痕表</a:t>
            </a:r>
            <a:endParaRPr lang="en-US" sz="2000" dirty="0"/>
          </a:p>
        </p:txBody>
      </p:sp>
      <p:sp>
        <p:nvSpPr>
          <p:cNvPr id="25" name="Text 23"/>
          <p:cNvSpPr/>
          <p:nvPr/>
        </p:nvSpPr>
        <p:spPr>
          <a:xfrm>
            <a:off x="2374392" y="4553712"/>
            <a:ext cx="8902903" cy="365760"/>
          </a:xfrm>
          <a:prstGeom prst="rect">
            <a:avLst/>
          </a:prstGeom>
          <a:noFill/>
          <a:ln/>
        </p:spPr>
        <p:txBody>
          <a:bodyPr wrap="square" lIns="0" tIns="0" rIns="0" bIns="0" rtlCol="0" anchor="t"/>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留痕表随任务单一并发放，学生使用 AI 后当场填写，不在结题时补录。</a:t>
            </a:r>
            <a:endParaRPr lang="en-US" sz="1150" dirty="0"/>
          </a:p>
        </p:txBody>
      </p:sp>
      <p:sp>
        <p:nvSpPr>
          <p:cNvPr id="26" name="Shape 24"/>
          <p:cNvSpPr/>
          <p:nvPr/>
        </p:nvSpPr>
        <p:spPr>
          <a:xfrm>
            <a:off x="1295400" y="5888736"/>
            <a:ext cx="9981895" cy="0"/>
          </a:xfrm>
          <a:prstGeom prst="line">
            <a:avLst/>
          </a:prstGeom>
          <a:noFill/>
          <a:ln w="12700">
            <a:solidFill>
              <a:srgbClr val="D9E2EF"/>
            </a:solidFill>
            <a:prstDash val="solid"/>
          </a:ln>
        </p:spPr>
      </p:sp>
      <p:sp>
        <p:nvSpPr>
          <p:cNvPr id="27" name="Text 2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三项存在先后依赖：没有真实问题，质疑无从提起；没有用过一次，留痕表不知道该怎么填。顺序不调换。</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969264"/>
            <a:ext cx="9981895" cy="219456"/>
          </a:xfrm>
          <a:prstGeom prst="rect">
            <a:avLst/>
          </a:prstGeom>
          <a:noFill/>
          <a:ln/>
        </p:spPr>
        <p:txBody>
          <a:bodyPr wrap="square" lIns="0" tIns="0" rIns="0" bIns="0" rtlCol="0" anchor="ctr"/>
          <a:lstStyle/>
          <a:p>
            <a:pPr indent="0" marL="0">
              <a:buNone/>
            </a:pPr>
            <a:r>
              <a:rPr lang="en-US" sz="950" b="1" spc="180" kern="0" dirty="0">
                <a:solidFill>
                  <a:srgbClr val="A8421F"/>
                </a:solidFill>
                <a:latin typeface="Microsoft YaHei" pitchFamily="34" charset="0"/>
                <a:ea typeface="Microsoft YaHei" pitchFamily="34" charset="-122"/>
                <a:cs typeface="Microsoft YaHei" pitchFamily="34" charset="-120"/>
              </a:rPr>
              <a:t>可带走的四件，加一份附录</a:t>
            </a:r>
            <a:endParaRPr lang="en-US" sz="950" dirty="0"/>
          </a:p>
        </p:txBody>
      </p:sp>
      <p:sp>
        <p:nvSpPr>
          <p:cNvPr id="16" name="Shape 14"/>
          <p:cNvSpPr/>
          <p:nvPr/>
        </p:nvSpPr>
        <p:spPr>
          <a:xfrm>
            <a:off x="1295400" y="1261872"/>
            <a:ext cx="7223760" cy="384048"/>
          </a:xfrm>
          <a:prstGeom prst="roundRect">
            <a:avLst>
              <a:gd name="adj" fmla="val 16667"/>
            </a:avLst>
          </a:prstGeom>
          <a:solidFill>
            <a:srgbClr val="FFFFFF"/>
          </a:solidFill>
          <a:ln w="12700">
            <a:solidFill>
              <a:srgbClr val="D9E2EF"/>
            </a:solidFill>
            <a:prstDash val="solid"/>
          </a:ln>
        </p:spPr>
      </p:sp>
      <p:sp>
        <p:nvSpPr>
          <p:cNvPr id="17" name="Shape 15"/>
          <p:cNvSpPr/>
          <p:nvPr/>
        </p:nvSpPr>
        <p:spPr>
          <a:xfrm>
            <a:off x="1295400" y="1298448"/>
            <a:ext cx="38100" cy="310896"/>
          </a:xfrm>
          <a:prstGeom prst="rect">
            <a:avLst/>
          </a:prstGeom>
          <a:solidFill>
            <a:srgbClr val="2563EB"/>
          </a:solidFill>
          <a:ln w="12700">
            <a:solidFill>
              <a:srgbClr val="2563EB"/>
            </a:solidFill>
            <a:prstDash val="solid"/>
          </a:ln>
        </p:spPr>
      </p:sp>
      <p:sp>
        <p:nvSpPr>
          <p:cNvPr id="18" name="Text 16"/>
          <p:cNvSpPr/>
          <p:nvPr/>
        </p:nvSpPr>
        <p:spPr>
          <a:xfrm>
            <a:off x="1514856" y="1261872"/>
            <a:ext cx="5669280" cy="384048"/>
          </a:xfrm>
          <a:prstGeom prst="rect">
            <a:avLst/>
          </a:prstGeom>
          <a:noFill/>
          <a:ln/>
        </p:spPr>
        <p:txBody>
          <a:bodyPr wrap="square" lIns="0" tIns="0" rIns="0" bIns="0" rtlCol="0" anchor="ct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环节配置的三项判断</a:t>
            </a:r>
            <a:endParaRPr lang="en-US" sz="1300" dirty="0"/>
          </a:p>
        </p:txBody>
      </p:sp>
      <p:sp>
        <p:nvSpPr>
          <p:cNvPr id="19" name="Text 17"/>
          <p:cNvSpPr/>
          <p:nvPr/>
        </p:nvSpPr>
        <p:spPr>
          <a:xfrm>
            <a:off x="7147560" y="12618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19 页</a:t>
            </a:r>
            <a:endParaRPr lang="en-US" sz="1000" dirty="0"/>
          </a:p>
        </p:txBody>
      </p:sp>
      <p:sp>
        <p:nvSpPr>
          <p:cNvPr id="20" name="Shape 18"/>
          <p:cNvSpPr/>
          <p:nvPr/>
        </p:nvSpPr>
        <p:spPr>
          <a:xfrm>
            <a:off x="1295400" y="1719072"/>
            <a:ext cx="7223760" cy="384048"/>
          </a:xfrm>
          <a:prstGeom prst="roundRect">
            <a:avLst>
              <a:gd name="adj" fmla="val 16667"/>
            </a:avLst>
          </a:prstGeom>
          <a:solidFill>
            <a:srgbClr val="FFFFFF"/>
          </a:solidFill>
          <a:ln w="12700">
            <a:solidFill>
              <a:srgbClr val="D9E2EF"/>
            </a:solidFill>
            <a:prstDash val="solid"/>
          </a:ln>
        </p:spPr>
      </p:sp>
      <p:sp>
        <p:nvSpPr>
          <p:cNvPr id="21" name="Shape 19"/>
          <p:cNvSpPr/>
          <p:nvPr/>
        </p:nvSpPr>
        <p:spPr>
          <a:xfrm>
            <a:off x="1295400" y="1755648"/>
            <a:ext cx="38100" cy="310896"/>
          </a:xfrm>
          <a:prstGeom prst="rect">
            <a:avLst/>
          </a:prstGeom>
          <a:solidFill>
            <a:srgbClr val="2563EB"/>
          </a:solidFill>
          <a:ln w="12700">
            <a:solidFill>
              <a:srgbClr val="2563EB"/>
            </a:solidFill>
            <a:prstDash val="solid"/>
          </a:ln>
        </p:spPr>
      </p:sp>
      <p:sp>
        <p:nvSpPr>
          <p:cNvPr id="22" name="Text 20"/>
          <p:cNvSpPr/>
          <p:nvPr/>
        </p:nvSpPr>
        <p:spPr>
          <a:xfrm>
            <a:off x="1514856" y="1719072"/>
            <a:ext cx="5669280" cy="384048"/>
          </a:xfrm>
          <a:prstGeom prst="rect">
            <a:avLst/>
          </a:prstGeom>
          <a:noFill/>
          <a:ln/>
        </p:spPr>
        <p:txBody>
          <a:bodyPr wrap="square" lIns="0" tIns="0" rIns="0" bIns="0" rtlCol="0" anchor="ct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六环节配置表（空白，可打印）</a:t>
            </a:r>
            <a:endParaRPr lang="en-US" sz="1300" dirty="0"/>
          </a:p>
        </p:txBody>
      </p:sp>
      <p:sp>
        <p:nvSpPr>
          <p:cNvPr id="23" name="Text 21"/>
          <p:cNvSpPr/>
          <p:nvPr/>
        </p:nvSpPr>
        <p:spPr>
          <a:xfrm>
            <a:off x="7147560" y="17190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21 页</a:t>
            </a:r>
            <a:endParaRPr lang="en-US" sz="1000" dirty="0"/>
          </a:p>
        </p:txBody>
      </p:sp>
      <p:sp>
        <p:nvSpPr>
          <p:cNvPr id="24" name="Shape 22"/>
          <p:cNvSpPr/>
          <p:nvPr/>
        </p:nvSpPr>
        <p:spPr>
          <a:xfrm>
            <a:off x="1295400" y="2176272"/>
            <a:ext cx="7223760" cy="384048"/>
          </a:xfrm>
          <a:prstGeom prst="roundRect">
            <a:avLst>
              <a:gd name="adj" fmla="val 16667"/>
            </a:avLst>
          </a:prstGeom>
          <a:solidFill>
            <a:srgbClr val="FFFFFF"/>
          </a:solidFill>
          <a:ln w="12700">
            <a:solidFill>
              <a:srgbClr val="D9E2EF"/>
            </a:solidFill>
            <a:prstDash val="solid"/>
          </a:ln>
        </p:spPr>
      </p:sp>
      <p:sp>
        <p:nvSpPr>
          <p:cNvPr id="25" name="Shape 23"/>
          <p:cNvSpPr/>
          <p:nvPr/>
        </p:nvSpPr>
        <p:spPr>
          <a:xfrm>
            <a:off x="1295400" y="2212848"/>
            <a:ext cx="38100" cy="310896"/>
          </a:xfrm>
          <a:prstGeom prst="rect">
            <a:avLst/>
          </a:prstGeom>
          <a:solidFill>
            <a:srgbClr val="2563EB"/>
          </a:solidFill>
          <a:ln w="12700">
            <a:solidFill>
              <a:srgbClr val="2563EB"/>
            </a:solidFill>
            <a:prstDash val="solid"/>
          </a:ln>
        </p:spPr>
      </p:sp>
      <p:sp>
        <p:nvSpPr>
          <p:cNvPr id="26" name="Text 24"/>
          <p:cNvSpPr/>
          <p:nvPr/>
        </p:nvSpPr>
        <p:spPr>
          <a:xfrm>
            <a:off x="1514856" y="2176272"/>
            <a:ext cx="5669280" cy="384048"/>
          </a:xfrm>
          <a:prstGeom prst="rect">
            <a:avLst/>
          </a:prstGeom>
          <a:noFill/>
          <a:ln/>
        </p:spPr>
        <p:txBody>
          <a:bodyPr wrap="square" lIns="0" tIns="0" rIns="0" bIns="0" rtlCol="0" anchor="ct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AI 使用留痕表</a:t>
            </a:r>
            <a:endParaRPr lang="en-US" sz="1300" dirty="0"/>
          </a:p>
        </p:txBody>
      </p:sp>
      <p:sp>
        <p:nvSpPr>
          <p:cNvPr id="27" name="Text 25"/>
          <p:cNvSpPr/>
          <p:nvPr/>
        </p:nvSpPr>
        <p:spPr>
          <a:xfrm>
            <a:off x="7147560" y="21762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36 页</a:t>
            </a:r>
            <a:endParaRPr lang="en-US" sz="1000" dirty="0"/>
          </a:p>
        </p:txBody>
      </p:sp>
      <p:sp>
        <p:nvSpPr>
          <p:cNvPr id="28" name="Shape 26"/>
          <p:cNvSpPr/>
          <p:nvPr/>
        </p:nvSpPr>
        <p:spPr>
          <a:xfrm>
            <a:off x="1295400" y="2633472"/>
            <a:ext cx="7223760" cy="384048"/>
          </a:xfrm>
          <a:prstGeom prst="roundRect">
            <a:avLst>
              <a:gd name="adj" fmla="val 16667"/>
            </a:avLst>
          </a:prstGeom>
          <a:solidFill>
            <a:srgbClr val="FFFFFF"/>
          </a:solidFill>
          <a:ln w="12700">
            <a:solidFill>
              <a:srgbClr val="D9E2EF"/>
            </a:solidFill>
            <a:prstDash val="solid"/>
          </a:ln>
        </p:spPr>
      </p:sp>
      <p:sp>
        <p:nvSpPr>
          <p:cNvPr id="29" name="Shape 27"/>
          <p:cNvSpPr/>
          <p:nvPr/>
        </p:nvSpPr>
        <p:spPr>
          <a:xfrm>
            <a:off x="1295400" y="2670048"/>
            <a:ext cx="38100" cy="310896"/>
          </a:xfrm>
          <a:prstGeom prst="rect">
            <a:avLst/>
          </a:prstGeom>
          <a:solidFill>
            <a:srgbClr val="2563EB"/>
          </a:solidFill>
          <a:ln w="12700">
            <a:solidFill>
              <a:srgbClr val="2563EB"/>
            </a:solidFill>
            <a:prstDash val="solid"/>
          </a:ln>
        </p:spPr>
      </p:sp>
      <p:sp>
        <p:nvSpPr>
          <p:cNvPr id="30" name="Text 28"/>
          <p:cNvSpPr/>
          <p:nvPr/>
        </p:nvSpPr>
        <p:spPr>
          <a:xfrm>
            <a:off x="1514856" y="2633472"/>
            <a:ext cx="5669280" cy="384048"/>
          </a:xfrm>
          <a:prstGeom prst="rect">
            <a:avLst/>
          </a:prstGeom>
          <a:noFill/>
          <a:ln/>
        </p:spPr>
        <p:txBody>
          <a:bodyPr wrap="square" lIns="0" tIns="0" rIns="0" bIns="0" rtlCol="0" anchor="ct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答辩环节的三项提问</a:t>
            </a:r>
            <a:endParaRPr lang="en-US" sz="1300" dirty="0"/>
          </a:p>
        </p:txBody>
      </p:sp>
      <p:sp>
        <p:nvSpPr>
          <p:cNvPr id="31" name="Text 29"/>
          <p:cNvSpPr/>
          <p:nvPr/>
        </p:nvSpPr>
        <p:spPr>
          <a:xfrm>
            <a:off x="7147560" y="26334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37 页</a:t>
            </a:r>
            <a:endParaRPr lang="en-US" sz="1000" dirty="0"/>
          </a:p>
        </p:txBody>
      </p:sp>
      <p:sp>
        <p:nvSpPr>
          <p:cNvPr id="32" name="Shape 30"/>
          <p:cNvSpPr/>
          <p:nvPr/>
        </p:nvSpPr>
        <p:spPr>
          <a:xfrm>
            <a:off x="1295400" y="3090672"/>
            <a:ext cx="7223760" cy="384048"/>
          </a:xfrm>
          <a:prstGeom prst="roundRect">
            <a:avLst>
              <a:gd name="adj" fmla="val 16667"/>
            </a:avLst>
          </a:prstGeom>
          <a:solidFill>
            <a:srgbClr val="FFFFFF"/>
          </a:solidFill>
          <a:ln w="12700">
            <a:solidFill>
              <a:srgbClr val="D9E2EF"/>
            </a:solidFill>
            <a:prstDash val="solid"/>
          </a:ln>
        </p:spPr>
      </p:sp>
      <p:sp>
        <p:nvSpPr>
          <p:cNvPr id="33" name="Shape 31"/>
          <p:cNvSpPr/>
          <p:nvPr/>
        </p:nvSpPr>
        <p:spPr>
          <a:xfrm>
            <a:off x="1295400" y="3127248"/>
            <a:ext cx="38100" cy="310896"/>
          </a:xfrm>
          <a:prstGeom prst="rect">
            <a:avLst/>
          </a:prstGeom>
          <a:solidFill>
            <a:srgbClr val="2563EB"/>
          </a:solidFill>
          <a:ln w="12700">
            <a:solidFill>
              <a:srgbClr val="2563EB"/>
            </a:solidFill>
            <a:prstDash val="solid"/>
          </a:ln>
        </p:spPr>
      </p:sp>
      <p:sp>
        <p:nvSpPr>
          <p:cNvPr id="34" name="Text 32"/>
          <p:cNvSpPr/>
          <p:nvPr/>
        </p:nvSpPr>
        <p:spPr>
          <a:xfrm>
            <a:off x="1514856" y="3090672"/>
            <a:ext cx="5669280" cy="384048"/>
          </a:xfrm>
          <a:prstGeom prst="rect">
            <a:avLst/>
          </a:prstGeom>
          <a:noFill/>
          <a:ln/>
        </p:spPr>
        <p:txBody>
          <a:bodyPr wrap="square" lIns="0" tIns="0" rIns="0" bIns="0" rtlCol="0" anchor="ct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六个主题各一份案例</a:t>
            </a:r>
            <a:endParaRPr lang="en-US" sz="1300" dirty="0"/>
          </a:p>
        </p:txBody>
      </p:sp>
      <p:sp>
        <p:nvSpPr>
          <p:cNvPr id="35" name="Text 33"/>
          <p:cNvSpPr/>
          <p:nvPr/>
        </p:nvSpPr>
        <p:spPr>
          <a:xfrm>
            <a:off x="7147560" y="30906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附录</a:t>
            </a:r>
            <a:endParaRPr lang="en-US" sz="1000" dirty="0"/>
          </a:p>
        </p:txBody>
      </p:sp>
      <p:sp>
        <p:nvSpPr>
          <p:cNvPr id="36" name="Text 34"/>
          <p:cNvSpPr/>
          <p:nvPr/>
        </p:nvSpPr>
        <p:spPr>
          <a:xfrm>
            <a:off x="1295400" y="3803904"/>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050" dirty="0"/>
          </a:p>
        </p:txBody>
      </p:sp>
      <p:sp>
        <p:nvSpPr>
          <p:cNvPr id="37" name="Text 35"/>
          <p:cNvSpPr/>
          <p:nvPr/>
        </p:nvSpPr>
        <p:spPr>
          <a:xfrm>
            <a:off x="1295400" y="4279392"/>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050" dirty="0"/>
          </a:p>
        </p:txBody>
      </p:sp>
      <p:sp>
        <p:nvSpPr>
          <p:cNvPr id="38" name="Text 36"/>
          <p:cNvSpPr/>
          <p:nvPr/>
        </p:nvSpPr>
        <p:spPr>
          <a:xfrm>
            <a:off x="1295400" y="4754880"/>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050" dirty="0"/>
          </a:p>
        </p:txBody>
      </p:sp>
      <p:sp>
        <p:nvSpPr>
          <p:cNvPr id="39" name="Text 37"/>
          <p:cNvSpPr/>
          <p:nvPr/>
        </p:nvSpPr>
        <p:spPr>
          <a:xfrm>
            <a:off x="1295400" y="5376672"/>
            <a:ext cx="9981895"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辛海洋　2026 年 8 月 21 日　深圳</a:t>
            </a:r>
            <a:endParaRPr lang="en-US" sz="1300" dirty="0"/>
          </a:p>
        </p:txBody>
      </p:sp>
      <p:sp>
        <p:nvSpPr>
          <p:cNvPr id="40" name="Shape 38"/>
          <p:cNvSpPr/>
          <p:nvPr/>
        </p:nvSpPr>
        <p:spPr>
          <a:xfrm>
            <a:off x="1295400" y="5760720"/>
            <a:ext cx="2468880" cy="402336"/>
          </a:xfrm>
          <a:prstGeom prst="roundRect">
            <a:avLst>
              <a:gd name="adj" fmla="val 15909"/>
            </a:avLst>
          </a:prstGeom>
          <a:solidFill>
            <a:srgbClr val="F7FAFF"/>
          </a:solidFill>
          <a:ln w="12700">
            <a:solidFill>
              <a:srgbClr val="DFB09C"/>
            </a:solidFill>
            <a:prstDash val="dash"/>
          </a:ln>
        </p:spPr>
      </p:sp>
      <p:sp>
        <p:nvSpPr>
          <p:cNvPr id="41" name="Text 39"/>
          <p:cNvSpPr/>
          <p:nvPr/>
        </p:nvSpPr>
        <p:spPr>
          <a:xfrm>
            <a:off x="1295400" y="5760720"/>
            <a:ext cx="2468880" cy="402336"/>
          </a:xfrm>
          <a:prstGeom prst="rect">
            <a:avLst/>
          </a:prstGeom>
          <a:noFill/>
          <a:ln/>
        </p:spPr>
        <p:txBody>
          <a:bodyPr wrap="square" lIns="0" tIns="0" rIns="0" bIns="0" rtlCol="0" anchor="ctr"/>
          <a:lstStyle/>
          <a:p>
            <a:pPr algn="ctr" indent="0" marL="0">
              <a:buNone/>
            </a:pPr>
            <a:r>
              <a:rPr lang="en-US" sz="1100" dirty="0">
                <a:solidFill>
                  <a:srgbClr val="A8421F"/>
                </a:solidFill>
                <a:latin typeface="Microsoft YaHei" pitchFamily="34" charset="0"/>
                <a:ea typeface="Microsoft YaHei" pitchFamily="34" charset="-122"/>
                <a:cs typeface="Microsoft YaHei" pitchFamily="34" charset="-120"/>
              </a:rPr>
              <a:t>【占位】讲义与二维码</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附录：六个主题各一份案例</a:t>
            </a:r>
            <a:endParaRPr lang="en-US" sz="3200" dirty="0"/>
          </a:p>
        </p:txBody>
      </p:sp>
      <p:sp>
        <p:nvSpPr>
          <p:cNvPr id="17" name="Text 15"/>
          <p:cNvSpPr/>
          <p:nvPr/>
        </p:nvSpPr>
        <p:spPr>
          <a:xfrm>
            <a:off x="1295400" y="1805940"/>
            <a:ext cx="9981895" cy="384048"/>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指南附件给出六个主题、二十四项任务示例。以下按主题各取一项，逐项写出任务原文、六个环节的 AI 收放配置、以及本任务特有的约束与留痕。每项三页。</a:t>
            </a:r>
            <a:endParaRPr lang="en-US" sz="1150" dirty="0"/>
          </a:p>
        </p:txBody>
      </p:sp>
      <p:sp>
        <p:nvSpPr>
          <p:cNvPr id="18" name="Shape 16"/>
          <p:cNvSpPr/>
          <p:nvPr/>
        </p:nvSpPr>
        <p:spPr>
          <a:xfrm>
            <a:off x="1295400" y="2318004"/>
            <a:ext cx="9981895" cy="384048"/>
          </a:xfrm>
          <a:prstGeom prst="roundRect">
            <a:avLst>
              <a:gd name="adj" fmla="val 14286"/>
            </a:avLst>
          </a:prstGeom>
          <a:solidFill>
            <a:srgbClr val="FFFFFF"/>
          </a:solidFill>
          <a:ln w="12700">
            <a:solidFill>
              <a:srgbClr val="D9E2EF"/>
            </a:solidFill>
            <a:prstDash val="solid"/>
          </a:ln>
        </p:spPr>
      </p:sp>
      <p:sp>
        <p:nvSpPr>
          <p:cNvPr id="19" name="Shape 17"/>
          <p:cNvSpPr/>
          <p:nvPr/>
        </p:nvSpPr>
        <p:spPr>
          <a:xfrm>
            <a:off x="1295400" y="2354580"/>
            <a:ext cx="38100" cy="310896"/>
          </a:xfrm>
          <a:prstGeom prst="rect">
            <a:avLst/>
          </a:prstGeom>
          <a:solidFill>
            <a:srgbClr val="2563EB"/>
          </a:solidFill>
          <a:ln w="12700">
            <a:solidFill>
              <a:srgbClr val="2563EB"/>
            </a:solidFill>
            <a:prstDash val="solid"/>
          </a:ln>
        </p:spPr>
      </p:sp>
      <p:sp>
        <p:nvSpPr>
          <p:cNvPr id="20" name="Text 18"/>
          <p:cNvSpPr/>
          <p:nvPr/>
        </p:nvSpPr>
        <p:spPr>
          <a:xfrm>
            <a:off x="1514856" y="23180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一　生命健康</a:t>
            </a:r>
            <a:endParaRPr lang="en-US" sz="1100" dirty="0"/>
          </a:p>
        </p:txBody>
      </p:sp>
      <p:sp>
        <p:nvSpPr>
          <p:cNvPr id="21" name="Text 19"/>
          <p:cNvSpPr/>
          <p:nvPr/>
        </p:nvSpPr>
        <p:spPr>
          <a:xfrm>
            <a:off x="2849880" y="23180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科学护眼</a:t>
            </a:r>
            <a:endParaRPr lang="en-US" sz="1350" dirty="0"/>
          </a:p>
        </p:txBody>
      </p:sp>
      <p:sp>
        <p:nvSpPr>
          <p:cNvPr id="22" name="Text 20"/>
          <p:cNvSpPr/>
          <p:nvPr/>
        </p:nvSpPr>
        <p:spPr>
          <a:xfrm>
            <a:off x="8061960" y="23180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23" name="Text 21"/>
          <p:cNvSpPr/>
          <p:nvPr/>
        </p:nvSpPr>
        <p:spPr>
          <a:xfrm>
            <a:off x="10271455" y="23180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46—48</a:t>
            </a:r>
            <a:endParaRPr lang="en-US" sz="1000" dirty="0"/>
          </a:p>
        </p:txBody>
      </p:sp>
      <p:sp>
        <p:nvSpPr>
          <p:cNvPr id="24" name="Shape 22"/>
          <p:cNvSpPr/>
          <p:nvPr/>
        </p:nvSpPr>
        <p:spPr>
          <a:xfrm>
            <a:off x="1295400" y="2775204"/>
            <a:ext cx="9981895" cy="384048"/>
          </a:xfrm>
          <a:prstGeom prst="roundRect">
            <a:avLst>
              <a:gd name="adj" fmla="val 14286"/>
            </a:avLst>
          </a:prstGeom>
          <a:solidFill>
            <a:srgbClr val="FFFFFF"/>
          </a:solidFill>
          <a:ln w="12700">
            <a:solidFill>
              <a:srgbClr val="D9E2EF"/>
            </a:solidFill>
            <a:prstDash val="solid"/>
          </a:ln>
        </p:spPr>
      </p:sp>
      <p:sp>
        <p:nvSpPr>
          <p:cNvPr id="25" name="Shape 23"/>
          <p:cNvSpPr/>
          <p:nvPr/>
        </p:nvSpPr>
        <p:spPr>
          <a:xfrm>
            <a:off x="1295400" y="2811780"/>
            <a:ext cx="38100" cy="310896"/>
          </a:xfrm>
          <a:prstGeom prst="rect">
            <a:avLst/>
          </a:prstGeom>
          <a:solidFill>
            <a:srgbClr val="2563EB"/>
          </a:solidFill>
          <a:ln w="12700">
            <a:solidFill>
              <a:srgbClr val="2563EB"/>
            </a:solidFill>
            <a:prstDash val="solid"/>
          </a:ln>
        </p:spPr>
      </p:sp>
      <p:sp>
        <p:nvSpPr>
          <p:cNvPr id="26" name="Text 24"/>
          <p:cNvSpPr/>
          <p:nvPr/>
        </p:nvSpPr>
        <p:spPr>
          <a:xfrm>
            <a:off x="1514856" y="27752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二　生态环境</a:t>
            </a:r>
            <a:endParaRPr lang="en-US" sz="1100" dirty="0"/>
          </a:p>
        </p:txBody>
      </p:sp>
      <p:sp>
        <p:nvSpPr>
          <p:cNvPr id="27" name="Text 25"/>
          <p:cNvSpPr/>
          <p:nvPr/>
        </p:nvSpPr>
        <p:spPr>
          <a:xfrm>
            <a:off x="2849880" y="27752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绘制生物多样性图谱</a:t>
            </a:r>
            <a:endParaRPr lang="en-US" sz="1350" dirty="0"/>
          </a:p>
        </p:txBody>
      </p:sp>
      <p:sp>
        <p:nvSpPr>
          <p:cNvPr id="28" name="Text 26"/>
          <p:cNvSpPr/>
          <p:nvPr/>
        </p:nvSpPr>
        <p:spPr>
          <a:xfrm>
            <a:off x="8061960" y="27752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29" name="Text 27"/>
          <p:cNvSpPr/>
          <p:nvPr/>
        </p:nvSpPr>
        <p:spPr>
          <a:xfrm>
            <a:off x="10271455" y="27752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49—51</a:t>
            </a:r>
            <a:endParaRPr lang="en-US" sz="1000" dirty="0"/>
          </a:p>
        </p:txBody>
      </p:sp>
      <p:sp>
        <p:nvSpPr>
          <p:cNvPr id="30" name="Shape 28"/>
          <p:cNvSpPr/>
          <p:nvPr/>
        </p:nvSpPr>
        <p:spPr>
          <a:xfrm>
            <a:off x="1295400" y="3232404"/>
            <a:ext cx="9981895" cy="384048"/>
          </a:xfrm>
          <a:prstGeom prst="roundRect">
            <a:avLst>
              <a:gd name="adj" fmla="val 14286"/>
            </a:avLst>
          </a:prstGeom>
          <a:solidFill>
            <a:srgbClr val="FFFFFF"/>
          </a:solidFill>
          <a:ln w="12700">
            <a:solidFill>
              <a:srgbClr val="D9E2EF"/>
            </a:solidFill>
            <a:prstDash val="solid"/>
          </a:ln>
        </p:spPr>
      </p:sp>
      <p:sp>
        <p:nvSpPr>
          <p:cNvPr id="31" name="Shape 29"/>
          <p:cNvSpPr/>
          <p:nvPr/>
        </p:nvSpPr>
        <p:spPr>
          <a:xfrm>
            <a:off x="1295400" y="3268980"/>
            <a:ext cx="38100" cy="310896"/>
          </a:xfrm>
          <a:prstGeom prst="rect">
            <a:avLst/>
          </a:prstGeom>
          <a:solidFill>
            <a:srgbClr val="2563EB"/>
          </a:solidFill>
          <a:ln w="12700">
            <a:solidFill>
              <a:srgbClr val="2563EB"/>
            </a:solidFill>
            <a:prstDash val="solid"/>
          </a:ln>
        </p:spPr>
      </p:sp>
      <p:sp>
        <p:nvSpPr>
          <p:cNvPr id="32" name="Text 30"/>
          <p:cNvSpPr/>
          <p:nvPr/>
        </p:nvSpPr>
        <p:spPr>
          <a:xfrm>
            <a:off x="1514856" y="32324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三　地球奥秘</a:t>
            </a:r>
            <a:endParaRPr lang="en-US" sz="1100" dirty="0"/>
          </a:p>
        </p:txBody>
      </p:sp>
      <p:sp>
        <p:nvSpPr>
          <p:cNvPr id="33" name="Text 31"/>
          <p:cNvSpPr/>
          <p:nvPr/>
        </p:nvSpPr>
        <p:spPr>
          <a:xfrm>
            <a:off x="2849880" y="32324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寻找「第二个地球」</a:t>
            </a:r>
            <a:endParaRPr lang="en-US" sz="1350" dirty="0"/>
          </a:p>
        </p:txBody>
      </p:sp>
      <p:sp>
        <p:nvSpPr>
          <p:cNvPr id="34" name="Text 32"/>
          <p:cNvSpPr/>
          <p:nvPr/>
        </p:nvSpPr>
        <p:spPr>
          <a:xfrm>
            <a:off x="8061960" y="32324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35" name="Text 33"/>
          <p:cNvSpPr/>
          <p:nvPr/>
        </p:nvSpPr>
        <p:spPr>
          <a:xfrm>
            <a:off x="10271455" y="32324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52—54</a:t>
            </a:r>
            <a:endParaRPr lang="en-US" sz="1000" dirty="0"/>
          </a:p>
        </p:txBody>
      </p:sp>
      <p:sp>
        <p:nvSpPr>
          <p:cNvPr id="36" name="Shape 34"/>
          <p:cNvSpPr/>
          <p:nvPr/>
        </p:nvSpPr>
        <p:spPr>
          <a:xfrm>
            <a:off x="1295400" y="3689604"/>
            <a:ext cx="9981895" cy="384048"/>
          </a:xfrm>
          <a:prstGeom prst="roundRect">
            <a:avLst>
              <a:gd name="adj" fmla="val 14286"/>
            </a:avLst>
          </a:prstGeom>
          <a:solidFill>
            <a:srgbClr val="FFFFFF"/>
          </a:solidFill>
          <a:ln w="12700">
            <a:solidFill>
              <a:srgbClr val="D9E2EF"/>
            </a:solidFill>
            <a:prstDash val="solid"/>
          </a:ln>
        </p:spPr>
      </p:sp>
      <p:sp>
        <p:nvSpPr>
          <p:cNvPr id="37" name="Shape 35"/>
          <p:cNvSpPr/>
          <p:nvPr/>
        </p:nvSpPr>
        <p:spPr>
          <a:xfrm>
            <a:off x="1295400" y="3726180"/>
            <a:ext cx="38100" cy="310896"/>
          </a:xfrm>
          <a:prstGeom prst="rect">
            <a:avLst/>
          </a:prstGeom>
          <a:solidFill>
            <a:srgbClr val="2563EB"/>
          </a:solidFill>
          <a:ln w="12700">
            <a:solidFill>
              <a:srgbClr val="2563EB"/>
            </a:solidFill>
            <a:prstDash val="solid"/>
          </a:ln>
        </p:spPr>
      </p:sp>
      <p:sp>
        <p:nvSpPr>
          <p:cNvPr id="38" name="Text 36"/>
          <p:cNvSpPr/>
          <p:nvPr/>
        </p:nvSpPr>
        <p:spPr>
          <a:xfrm>
            <a:off x="1514856" y="36896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四　航空航天</a:t>
            </a:r>
            <a:endParaRPr lang="en-US" sz="1100" dirty="0"/>
          </a:p>
        </p:txBody>
      </p:sp>
      <p:sp>
        <p:nvSpPr>
          <p:cNvPr id="39" name="Text 37"/>
          <p:cNvSpPr/>
          <p:nvPr/>
        </p:nvSpPr>
        <p:spPr>
          <a:xfrm>
            <a:off x="2849880" y="36896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「火星」种菜</a:t>
            </a:r>
            <a:endParaRPr lang="en-US" sz="1350" dirty="0"/>
          </a:p>
        </p:txBody>
      </p:sp>
      <p:sp>
        <p:nvSpPr>
          <p:cNvPr id="40" name="Text 38"/>
          <p:cNvSpPr/>
          <p:nvPr/>
        </p:nvSpPr>
        <p:spPr>
          <a:xfrm>
            <a:off x="8061960" y="36896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41" name="Text 39"/>
          <p:cNvSpPr/>
          <p:nvPr/>
        </p:nvSpPr>
        <p:spPr>
          <a:xfrm>
            <a:off x="10271455" y="36896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55—57</a:t>
            </a:r>
            <a:endParaRPr lang="en-US" sz="1000" dirty="0"/>
          </a:p>
        </p:txBody>
      </p:sp>
      <p:sp>
        <p:nvSpPr>
          <p:cNvPr id="42" name="Shape 40"/>
          <p:cNvSpPr/>
          <p:nvPr/>
        </p:nvSpPr>
        <p:spPr>
          <a:xfrm>
            <a:off x="1295400" y="4146804"/>
            <a:ext cx="9981895" cy="384048"/>
          </a:xfrm>
          <a:prstGeom prst="roundRect">
            <a:avLst>
              <a:gd name="adj" fmla="val 14286"/>
            </a:avLst>
          </a:prstGeom>
          <a:solidFill>
            <a:srgbClr val="FFFFFF"/>
          </a:solidFill>
          <a:ln w="12700">
            <a:solidFill>
              <a:srgbClr val="D9E2EF"/>
            </a:solidFill>
            <a:prstDash val="solid"/>
          </a:ln>
        </p:spPr>
      </p:sp>
      <p:sp>
        <p:nvSpPr>
          <p:cNvPr id="43" name="Shape 41"/>
          <p:cNvSpPr/>
          <p:nvPr/>
        </p:nvSpPr>
        <p:spPr>
          <a:xfrm>
            <a:off x="1295400" y="4183380"/>
            <a:ext cx="38100" cy="310896"/>
          </a:xfrm>
          <a:prstGeom prst="rect">
            <a:avLst/>
          </a:prstGeom>
          <a:solidFill>
            <a:srgbClr val="2563EB"/>
          </a:solidFill>
          <a:ln w="12700">
            <a:solidFill>
              <a:srgbClr val="2563EB"/>
            </a:solidFill>
            <a:prstDash val="solid"/>
          </a:ln>
        </p:spPr>
      </p:sp>
      <p:sp>
        <p:nvSpPr>
          <p:cNvPr id="44" name="Text 42"/>
          <p:cNvSpPr/>
          <p:nvPr/>
        </p:nvSpPr>
        <p:spPr>
          <a:xfrm>
            <a:off x="1514856" y="41468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五　新兴产业</a:t>
            </a:r>
            <a:endParaRPr lang="en-US" sz="1100" dirty="0"/>
          </a:p>
        </p:txBody>
      </p:sp>
      <p:sp>
        <p:nvSpPr>
          <p:cNvPr id="45" name="Text 43"/>
          <p:cNvSpPr/>
          <p:nvPr/>
        </p:nvSpPr>
        <p:spPr>
          <a:xfrm>
            <a:off x="2849880" y="41468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1350" dirty="0"/>
          </a:p>
        </p:txBody>
      </p:sp>
      <p:sp>
        <p:nvSpPr>
          <p:cNvPr id="46" name="Text 44"/>
          <p:cNvSpPr/>
          <p:nvPr/>
        </p:nvSpPr>
        <p:spPr>
          <a:xfrm>
            <a:off x="8061960" y="41468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47" name="Text 45"/>
          <p:cNvSpPr/>
          <p:nvPr/>
        </p:nvSpPr>
        <p:spPr>
          <a:xfrm>
            <a:off x="10271455" y="41468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58—60</a:t>
            </a:r>
            <a:endParaRPr lang="en-US" sz="1000" dirty="0"/>
          </a:p>
        </p:txBody>
      </p:sp>
      <p:sp>
        <p:nvSpPr>
          <p:cNvPr id="48" name="Shape 46"/>
          <p:cNvSpPr/>
          <p:nvPr/>
        </p:nvSpPr>
        <p:spPr>
          <a:xfrm>
            <a:off x="1295400" y="4604004"/>
            <a:ext cx="9981895" cy="384048"/>
          </a:xfrm>
          <a:prstGeom prst="roundRect">
            <a:avLst>
              <a:gd name="adj" fmla="val 14286"/>
            </a:avLst>
          </a:prstGeom>
          <a:solidFill>
            <a:srgbClr val="FFFFFF"/>
          </a:solidFill>
          <a:ln w="12700">
            <a:solidFill>
              <a:srgbClr val="D9E2EF"/>
            </a:solidFill>
            <a:prstDash val="solid"/>
          </a:ln>
        </p:spPr>
      </p:sp>
      <p:sp>
        <p:nvSpPr>
          <p:cNvPr id="49" name="Shape 47"/>
          <p:cNvSpPr/>
          <p:nvPr/>
        </p:nvSpPr>
        <p:spPr>
          <a:xfrm>
            <a:off x="1295400" y="4640580"/>
            <a:ext cx="38100" cy="310896"/>
          </a:xfrm>
          <a:prstGeom prst="rect">
            <a:avLst/>
          </a:prstGeom>
          <a:solidFill>
            <a:srgbClr val="2563EB"/>
          </a:solidFill>
          <a:ln w="12700">
            <a:solidFill>
              <a:srgbClr val="2563EB"/>
            </a:solidFill>
            <a:prstDash val="solid"/>
          </a:ln>
        </p:spPr>
      </p:sp>
      <p:sp>
        <p:nvSpPr>
          <p:cNvPr id="50" name="Text 48"/>
          <p:cNvSpPr/>
          <p:nvPr/>
        </p:nvSpPr>
        <p:spPr>
          <a:xfrm>
            <a:off x="1514856" y="46040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六　人工智能</a:t>
            </a:r>
            <a:endParaRPr lang="en-US" sz="1100" dirty="0"/>
          </a:p>
        </p:txBody>
      </p:sp>
      <p:sp>
        <p:nvSpPr>
          <p:cNvPr id="51" name="Text 49"/>
          <p:cNvSpPr/>
          <p:nvPr/>
        </p:nvSpPr>
        <p:spPr>
          <a:xfrm>
            <a:off x="2849880" y="46040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认识人工智能</a:t>
            </a:r>
            <a:endParaRPr lang="en-US" sz="1350" dirty="0"/>
          </a:p>
        </p:txBody>
      </p:sp>
      <p:sp>
        <p:nvSpPr>
          <p:cNvPr id="52" name="Text 50"/>
          <p:cNvSpPr/>
          <p:nvPr/>
        </p:nvSpPr>
        <p:spPr>
          <a:xfrm>
            <a:off x="8061960" y="46040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53" name="Text 51"/>
          <p:cNvSpPr/>
          <p:nvPr/>
        </p:nvSpPr>
        <p:spPr>
          <a:xfrm>
            <a:off x="10271455" y="46040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61—63</a:t>
            </a:r>
            <a:endParaRPr lang="en-US" sz="1000" dirty="0"/>
          </a:p>
        </p:txBody>
      </p:sp>
      <p:sp>
        <p:nvSpPr>
          <p:cNvPr id="54" name="Text 52"/>
          <p:cNvSpPr/>
          <p:nvPr/>
        </p:nvSpPr>
        <p:spPr>
          <a:xfrm>
            <a:off x="1295400" y="5152644"/>
            <a:ext cx="9981895" cy="457200"/>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六个环节产出的评价证据全场一致：提出问题和假设对应问题意识，设计方案、搜集分析证据、得出结论并解释对应探究实践能力，制作改进对应反思改进能力，交流反思对应合作交流能力。以下各案例不再重复标注。</a:t>
            </a:r>
            <a:endParaRPr lang="en-US" sz="1050" dirty="0"/>
          </a:p>
        </p:txBody>
      </p:sp>
      <p:sp>
        <p:nvSpPr>
          <p:cNvPr id="55" name="Shape 53"/>
          <p:cNvSpPr/>
          <p:nvPr/>
        </p:nvSpPr>
        <p:spPr>
          <a:xfrm>
            <a:off x="1295400" y="5888736"/>
            <a:ext cx="9981895" cy="0"/>
          </a:xfrm>
          <a:prstGeom prst="line">
            <a:avLst/>
          </a:prstGeom>
          <a:noFill/>
          <a:ln w="12700">
            <a:solidFill>
              <a:srgbClr val="D9E2EF"/>
            </a:solidFill>
            <a:prstDash val="solid"/>
          </a:ln>
        </p:spPr>
      </p:sp>
      <p:sp>
        <p:nvSpPr>
          <p:cNvPr id="56" name="Text 5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任务名称、任务要求与实施建议为指南附件原文。收放配置、约束与留痕是依据评价维度做的专业判断，不是政策规定。</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科学护眼</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45973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24—32 页已走查此项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以青少年近视防控为背景，围绕视力健康问题开展探究实践。通过完成本任务，提升数据收集、动手实践的能力，形成主动爱眼护眼的健康观念，提升守护健康的社会责任意识。</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提出问题：学生观察身边同学用眼情况，结合班级视力数据等素材，思考为什么有同学会戴眼镜、为什么要做眼保健操、如何保护视力等。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实验探究：学生围绕感兴趣的方向提出可探究的问题并开展实验。如，针对「为什么会近视」问题，可使用卡纸、透镜等简易材料动手模拟，解释近视成因。</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设计制作：基于不同的场景（如课堂、家庭），学生利用废旧材料创意设计与制作科学护眼工具（如坐姿矫正支架、护眼提醒卡等），通过测试反馈优化护眼工具。</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交流分享：展示并讲解护眼工具、科普护眼方法等。</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附件写为四步，指南正文要求六个环节，两者并非一一对应。下一页按六个环节重排。</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科学护眼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从本班用眼情况与视力数据中自行提出可探究的问题，并写出假设。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自行确定测什么、怎么测、测几次，以及如何控制变量。</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方案成形后核对变量是否有遗漏，只提问不改写。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照度、用眼距离与连续用眼时长由学生自行测量并记录。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从自己的数据得出结论并说明依据，近视成因由模拟实验解释。</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护眼工具的结构与改进方向由学生依据测试反馈决定。</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讲解内容的组织与取舍。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文稿润色、海报排版。</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收紧的三处是问题的提出、数据的采集、结论的得出，这三处正是四个评价维度的证据来源。</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科学护眼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视力数据</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班级视力数据属学生个人健康信息，不得整表上传。需要 AI 协助整理时，先去掉姓名与学号，只留编号与数值。</a:t>
            </a:r>
            <a:endParaRPr lang="en-US" sz="1100" dirty="0"/>
          </a:p>
        </p:txBody>
      </p:sp>
      <p:sp>
        <p:nvSpPr>
          <p:cNvPr id="22" name="Shape 20"/>
          <p:cNvSpPr/>
          <p:nvPr/>
        </p:nvSpPr>
        <p:spPr>
          <a:xfrm>
            <a:off x="1295400" y="2601468"/>
            <a:ext cx="9981895" cy="484632"/>
          </a:xfrm>
          <a:prstGeom prst="roundRect">
            <a:avLst>
              <a:gd name="adj" fmla="val 13208"/>
            </a:avLst>
          </a:prstGeom>
          <a:solidFill>
            <a:srgbClr val="FFFFFF"/>
          </a:solidFill>
          <a:ln w="12700">
            <a:solidFill>
              <a:srgbClr val="D9E2EF"/>
            </a:solidFill>
            <a:prstDash val="solid"/>
          </a:ln>
        </p:spPr>
      </p:sp>
      <p:sp>
        <p:nvSpPr>
          <p:cNvPr id="23" name="Shape 21"/>
          <p:cNvSpPr/>
          <p:nvPr/>
        </p:nvSpPr>
        <p:spPr>
          <a:xfrm>
            <a:off x="1295400" y="2647188"/>
            <a:ext cx="38100" cy="3931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近视成因</a:t>
            </a:r>
            <a:endParaRPr lang="en-US" sz="1150" dirty="0"/>
          </a:p>
        </p:txBody>
      </p:sp>
      <p:sp>
        <p:nvSpPr>
          <p:cNvPr id="25" name="Text 23"/>
          <p:cNvSpPr/>
          <p:nvPr/>
        </p:nvSpPr>
        <p:spPr>
          <a:xfrm>
            <a:off x="2813304" y="26014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成因的解释须由学生从自己的模拟实验中得出。AI 给出的成因说明只能作为事后对照，不能作为结论来源。</a:t>
            </a:r>
            <a:endParaRPr lang="en-US" sz="1100" dirty="0"/>
          </a:p>
        </p:txBody>
      </p:sp>
      <p:sp>
        <p:nvSpPr>
          <p:cNvPr id="26" name="Shape 24"/>
          <p:cNvSpPr/>
          <p:nvPr/>
        </p:nvSpPr>
        <p:spPr>
          <a:xfrm>
            <a:off x="1295400" y="31958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2415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1958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工具设计</a:t>
            </a:r>
            <a:endParaRPr lang="en-US" sz="1150" dirty="0"/>
          </a:p>
        </p:txBody>
      </p:sp>
      <p:sp>
        <p:nvSpPr>
          <p:cNvPr id="29" name="Text 27"/>
          <p:cNvSpPr/>
          <p:nvPr/>
        </p:nvSpPr>
        <p:spPr>
          <a:xfrm>
            <a:off x="2813304" y="31958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护眼工具的结构方案不得由 AI 生成。学生可查询某种材料是否安全，不可要求 AI 输出设计图。</a:t>
            </a:r>
            <a:endParaRPr lang="en-US" sz="1100" dirty="0"/>
          </a:p>
        </p:txBody>
      </p:sp>
      <p:sp>
        <p:nvSpPr>
          <p:cNvPr id="30" name="Text 28"/>
          <p:cNvSpPr/>
          <p:nvPr/>
        </p:nvSpPr>
        <p:spPr>
          <a:xfrm>
            <a:off x="1295400" y="38267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视力数据若经 AI 整理，原始记录表与整理后的表一并留存；护眼工具的改进过程至少三次拍照，含未采用的方案。</a:t>
            </a:r>
            <a:endParaRPr lang="en-US" sz="1100" dirty="0"/>
          </a:p>
        </p:txBody>
      </p:sp>
      <p:sp>
        <p:nvSpPr>
          <p:cNvPr id="31" name="Shape 29"/>
          <p:cNvSpPr/>
          <p:nvPr/>
        </p:nvSpPr>
        <p:spPr>
          <a:xfrm>
            <a:off x="1295400" y="41925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2382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3022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5399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我要给五年级一项科学护眼探究任务，学生自行测量教室课桌面照度、用眼距离与连续用眼时长。请列出这三项测量各自最容易出错的地方，以及一张学生自己就能核对的检查清单，每条不超过二十字。</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绘制生物多样性图谱</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生物多样性为背景，观察记录周边环境中动植物的种类及特点。通过完成本任务，了解描绘生物间食物联系和相互依存的科学方法，认识生物多样性及其重要性，发展分类归纳、逻辑推理能力，涵养人与自然和谐共生的生态价值观。</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提出问题：学生观察校园生物，结合日常经验，思考在校园里经常看到哪些动物和植物、它们之间有什么联系等。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实地调查：学生讨论调查生物的方法，设计调查记录表。在校园里选择某一观察区域，记录生物的种类、数量及生存环境，调查时注意安全防护。</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绘制图谱：学习生物图谱的绘制方法，合作绘制校园某一区域的生物图谱、食物链和简易食物网。</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交流分享：布置校园生物图谱展示区域，介绍校园生物种类和特点，以及保护生物多样性的事例。</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本项是六项中收得最紧的一项：学生侧全程不使用设备，AI 只配置在教师侧。</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绘制生物多样性图谱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从自己在校园里的观察中提出问题，不从检索结果中提问题。</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调查记录表由学生自行设计，含种类、数量、生存环境三类字段。</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表格成形后核对是否漏项，只提问不改写。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7A2C10"/>
          </a:solidFill>
          <a:ln w="12700">
            <a:solidFill>
              <a:srgbClr val="7A2C1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实地调查与记录全部由学生完成，不使用识别类应用。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食物链与食物网由学生根据自己的调查记录推断。</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图谱本身由学生绘制，含物种位置与联系的判断。</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展示区的版式与说明牌排版。</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介绍内容的组织与保护事例的选取。</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解说词润色。</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学生侧四个环节收紧，教师侧课前完全开放：速查卡由 AI 整理，教师核对后印发，指令见下一页。同一项任务，两侧的配置可以相反。</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绘制生物多样性图谱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物种识别</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不使用识别类应用。本项的评价维度是分类归纳，识别过程本身就是学生要经历的困难，交给应用即全部落空。</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6471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食物网</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食物链与食物网须由学生根据自己的观察记录推断。AI 给出的通用食物网与本校园的实际物种不对应，采用即失去调查的意义。</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拍摄范围</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调查照片只拍生物与环境。校外人员、他人肖像与可识别的门牌住址不得进入记录。</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调查记录表保留手写原件。若用 AI 核对过表格字段，在表末注明核对日期与改动条目。</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华南地区校园常见的乔木、灌木、草本与昆虫。请整理成一张速查卡，每种写明识别特征一条，不超过十五字；另单独列出其中有毒、有刺或会蜇人的种类及处置提示。不确定的种类请标注为待核，不要猜测。</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寻找「第二个地球」</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以深空探测国家战略为背景，围绕宜居行星的基本特征和宜居带主要条件开展探究实践。通过完成本任务，感悟我国行星探测的自主创新精神，树立科学的宇宙观与保护地球家园的责任感。</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提出问题：学生观看我国火星、月球探测等相关视频，思考地球为什么是太阳系中宜居行星、能否找到「第二个地球」等。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设计制作：学生选用泡沫球、玻璃球、气球、塑料袋等常见材料，结合太阳系中天体的体积、密度、大气层、含水量、磁场、运动轨道等特征，制作太阳系比例模型。</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模拟探究：使用灯泡、温度计、光照传感器（或测光软件）等，探究太阳—行星距离与光照强度、行星表面温度之间的关系，推测太阳系宜居带的范围。</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交流分享：展示模型与实验成果，探讨「第二个地球」存在的可能性。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本项的证据几乎全部来自文献与实测两路，是六项中最容易被 AI 整项代做的一项。</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寻找「第二个地球」·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从视频与已知的地球条件中自行提出可探究的问题，并写出假设。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比例模型的换算方法、模拟实验的变量与测点由学生自行确定。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方案成形后核对单位换算与量级，只提问不改写。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距离、光照强度与表面温度由学生用灯泡、温度计、传感器自行测得。</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整理三列数据、作图、标注异常值。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宜居带范围的推测须从自己的实测曲线得出，并说明推断过程。</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模型的制作与比例取舍，以及模型与实测结果不符时的改法。</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查询材料属性，展板版式。</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展示内容的组织与结论的表述。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本项的天体参数属可核验的公开数据，须逐项自行核对来源。这一步不算学生的探究，但省不得。</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寻找「第二个地球」·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天体参数</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体积、密度、大气层、含水量、磁场、轨道六项须逐项自行核对来源。AI 在这类数值上出错的形态是给出格式正确但并不存在的数据，学生无法凭语感识别。</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D9E2EF"/>
            </a:solidFill>
            <a:prstDash val="solid"/>
          </a:ln>
        </p:spPr>
      </p:sp>
      <p:sp>
        <p:nvSpPr>
          <p:cNvPr id="23" name="Shape 21"/>
          <p:cNvSpPr/>
          <p:nvPr/>
        </p:nvSpPr>
        <p:spPr>
          <a:xfrm>
            <a:off x="1295400" y="2875788"/>
            <a:ext cx="38100" cy="3931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宜居带结论</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宜居带的范围须由学生从自己的实测曲线推出。直接采用 AI 给出的天文学结论，本项唯一的一手证据就作废了。</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检索的次序</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系外行星的检索结果作为对照使用。学生须先写下自己的判断与依据，再检索，两者并列留档。</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六项天体参数逐项注明来源与核对日期；距离、光照、温度三列原始数据保留手写记录，与 AI 整理后的图表一并提交。</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以下是学生制作太阳系比例模型要用到的六项天体参数。请把每一项的权威来源名称与常见量级列成一张核对表，不要给出具体数值，只给来源与量级，供学生自行查证后填写。</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「火星」种菜</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1088136"/>
          </a:xfrm>
          <a:prstGeom prst="roundRect">
            <a:avLst>
              <a:gd name="adj" fmla="val 5882"/>
            </a:avLst>
          </a:prstGeom>
          <a:solidFill>
            <a:srgbClr val="FFFFFF"/>
          </a:solidFill>
          <a:ln w="12700">
            <a:solidFill>
              <a:srgbClr val="D9E2EF"/>
            </a:solidFill>
            <a:prstDash val="solid"/>
          </a:ln>
        </p:spPr>
      </p:sp>
      <p:sp>
        <p:nvSpPr>
          <p:cNvPr id="22" name="Shape 20"/>
          <p:cNvSpPr/>
          <p:nvPr/>
        </p:nvSpPr>
        <p:spPr>
          <a:xfrm>
            <a:off x="1295400" y="2345436"/>
            <a:ext cx="38100" cy="996696"/>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685800"/>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我国空间站太空种菜技术、火星探测工程为背景，结合火星严苛的自然条件，设计种植基地。通过完成本任务，初步建立环境需求与系统设计之间的联系，形成基于系统工程解决实际问题的意识，初步体会中国航天从「近地」迈向「深空」的探索历程，树立航天强国志向和拓展人类生存空间的理想。</a:t>
            </a:r>
            <a:endParaRPr lang="en-US" sz="1050" dirty="0"/>
          </a:p>
        </p:txBody>
      </p:sp>
      <p:sp>
        <p:nvSpPr>
          <p:cNvPr id="25" name="Text 23"/>
          <p:cNvSpPr/>
          <p:nvPr/>
        </p:nvSpPr>
        <p:spPr>
          <a:xfrm>
            <a:off x="1295400" y="3534156"/>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771900"/>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7719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提出问题：学生观看空间站在轨种菜与火星探测视频，以「未来航天总设计师」的身份，思考火星和地球有什么不同，在火星空气稀薄、昼夜温差极大、光照极端的环境中能否种植蔬菜等。</a:t>
            </a:r>
            <a:endParaRPr lang="en-US" sz="1000" dirty="0"/>
          </a:p>
        </p:txBody>
      </p:sp>
      <p:sp>
        <p:nvSpPr>
          <p:cNvPr id="28" name="Text 26"/>
          <p:cNvSpPr/>
          <p:nvPr/>
        </p:nvSpPr>
        <p:spPr>
          <a:xfrm>
            <a:off x="1295400" y="4210812"/>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2108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设计制作：学生制订方案，聚焦「模拟火星环境」设计种植装置。选用塑料瓶、纸箱、保鲜膜、普通灯泡、棉花、绿豆（或黄豆）等材料，模拟密封、人工光照环境，完成播种。</a:t>
            </a:r>
            <a:endParaRPr lang="en-US" sz="1000" dirty="0"/>
          </a:p>
        </p:txBody>
      </p:sp>
      <p:sp>
        <p:nvSpPr>
          <p:cNvPr id="30" name="Text 28"/>
          <p:cNvSpPr/>
          <p:nvPr/>
        </p:nvSpPr>
        <p:spPr>
          <a:xfrm>
            <a:off x="1295400" y="464972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64972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测试记录：开展模拟种植测试，定期观察种子发芽、生长情况。记录种子发芽时间、芽长、生长状态等指标和种植装置的使用情况及出现的问题。</a:t>
            </a:r>
            <a:endParaRPr lang="en-US" sz="1000" dirty="0"/>
          </a:p>
        </p:txBody>
      </p:sp>
      <p:sp>
        <p:nvSpPr>
          <p:cNvPr id="32" name="Text 30"/>
          <p:cNvSpPr/>
          <p:nvPr/>
        </p:nvSpPr>
        <p:spPr>
          <a:xfrm>
            <a:off x="1295400" y="508863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508863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分析优化：分析种子生长情况与模拟火星环境的关联，思考种植装置的问题，并优化装置。</a:t>
            </a:r>
            <a:endParaRPr lang="en-US" sz="1000" dirty="0"/>
          </a:p>
        </p:txBody>
      </p:sp>
      <p:sp>
        <p:nvSpPr>
          <p:cNvPr id="34" name="Text 32"/>
          <p:cNvSpPr/>
          <p:nvPr/>
        </p:nvSpPr>
        <p:spPr>
          <a:xfrm>
            <a:off x="1295400" y="533095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5.</a:t>
            </a:r>
            <a:endParaRPr lang="en-US" sz="1000" dirty="0"/>
          </a:p>
        </p:txBody>
      </p:sp>
      <p:sp>
        <p:nvSpPr>
          <p:cNvPr id="35" name="Text 33"/>
          <p:cNvSpPr/>
          <p:nvPr/>
        </p:nvSpPr>
        <p:spPr>
          <a:xfrm>
            <a:off x="1569720" y="533095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交流分享：展示模拟种植装置、种植记录，分享探究过程、遇到的问题及优化方法，交流研讨对火星生态种植的认识与科学设想。</a:t>
            </a:r>
            <a:endParaRPr lang="en-US" sz="1000" dirty="0"/>
          </a:p>
        </p:txBody>
      </p:sp>
      <p:sp>
        <p:nvSpPr>
          <p:cNvPr id="36" name="Text 34"/>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7" name="Shape 35"/>
          <p:cNvSpPr/>
          <p:nvPr/>
        </p:nvSpPr>
        <p:spPr>
          <a:xfrm>
            <a:off x="1295400" y="5888736"/>
            <a:ext cx="9981895" cy="0"/>
          </a:xfrm>
          <a:prstGeom prst="line">
            <a:avLst/>
          </a:prstGeom>
          <a:noFill/>
          <a:ln w="12700">
            <a:solidFill>
              <a:srgbClr val="D9E2EF"/>
            </a:solidFill>
            <a:prstDash val="solid"/>
          </a:ln>
        </p:spPr>
      </p:sp>
      <p:sp>
        <p:nvSpPr>
          <p:cNvPr id="38" name="Text 3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本项周期长，附件写为五步，其中测试记录与分析优化两步合并对应搜集分析证据与制作改进两个环节。</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「火星」种菜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从火星环境与地球环境的差别中自行提出可探究的问题，并写出假设。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密封、光照与温差的模拟方案，以及要记录哪些指标，由学生自行确定。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材料清单成形后核对是否遗漏，只提问不改写。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发芽时间、芽长、生长状态由学生逐日实测并记录，缺测如实标注。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整理为表格与生长曲线，不得补全缺测。</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生长情况与模拟环境的关联由学生从自己的记录中得出。</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装置的问题诊断与改进方向，依据自己的观察记录提出。</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展示内容的组织，遇到的问题与优化方法的表述。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长周期任务的收放要点在搜集分析证据一行：可以放整理，不可以放补全。</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「火星」种菜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缺测的处理</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生长数据不得由 AI 补全。缺测的那一天写「未测」，不允许用推算值填上。本项周期长，缺测是常态，补全即是造假。</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D9E2EF"/>
            </a:solidFill>
            <a:prstDash val="solid"/>
          </a:ln>
        </p:spPr>
      </p:sp>
      <p:sp>
        <p:nvSpPr>
          <p:cNvPr id="23" name="Shape 21"/>
          <p:cNvSpPr/>
          <p:nvPr/>
        </p:nvSpPr>
        <p:spPr>
          <a:xfrm>
            <a:off x="1295400" y="2875788"/>
            <a:ext cx="38100" cy="3931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改进方向</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装置的改进方向须由学生依据自己的观察记录提出。AI 给出的通用改进建议与本组装置的实际问题不对应。</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火星参数</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气压、温差、光照三项须注明来源。本项模拟的是量级关系，不必也不应追求数值精确，注明来源即可。</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逐日记录表保留原件，含标注为未测的日期。生长曲线若由 AI 生成，与原始记录表一并提交，两者行数须对得上。</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以下是一组绿豆在模拟环境下逐日观察的原始记录，其中有三天缺测。请整理成表并作生长曲线，缺测的日期在图上留空，不要插值，也不要平滑。</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中国水利工程为背景，基于水能利用视角，探究分水、蓄水等防洪方式对水利工程功能的影响。通过完成本任务，感悟中国水利工程为实现趋利避害，在因地制宜防洪、综合利用水资源、保护生态环境等方面的伟大智慧。</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提出问题：学生结合图片、视频资料及身边实例，思考不同地区采用不同治水方式的原因、水利工程在水资源综合利用中发挥的作用等。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模拟探究：学生根据学校实际条件，利用水槽、沙盘、矿泉水瓶等材料，探究不同水坝形状（如梯形、曲面等）、大小等因素对分水灌溉效果的影响。</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案例分析：选择一项中国典型水利工程（如三峡工程、雅江工程等），分析该工程在实现趋利避害方面体现的智慧，制作宣传海报。</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交流分享：汇报交流或展示成果，分享中国水利工程在分水防洪、农田灌溉、蓄水发电、生态保护等方面的智慧。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本项是六项中学生侧开放度最高的一项，另配一个只提问不给答案的智能体。</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中国水利工程的建造智慧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FFFFFF"/>
          </a:solidFill>
          <a:ln w="12700">
            <a:solidFill>
              <a:srgbClr val="D9E2EF"/>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可探究问题仍须学生自行写出，教师在开题时逐组核对。</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检索不同地区的治水方式与典型工程，作为背景对照。</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坝形、坝高与水量三者取哪个作变量，其余如何固定，由学生确定。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方案成形后核对变量控制是否成立，只提问不改写。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7A2C10"/>
          </a:solidFill>
          <a:ln w="12700">
            <a:solidFill>
              <a:srgbClr val="7A2C1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沙盘分水的模拟试验全部由学生完成，分水效果自行观测记录。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429768" cy="182880"/>
          </a:xfrm>
          <a:prstGeom prst="roundRect">
            <a:avLst>
              <a:gd name="adj" fmla="val 50000"/>
            </a:avLst>
          </a:prstGeom>
          <a:solidFill>
            <a:srgbClr val="C2552F"/>
          </a:solidFill>
          <a:ln w="12700">
            <a:solidFill>
              <a:srgbClr val="C2552F"/>
            </a:solidFill>
            <a:prstDash val="solid"/>
          </a:ln>
        </p:spPr>
      </p:sp>
      <p:sp>
        <p:nvSpPr>
          <p:cNvPr id="52" name="Text 50"/>
          <p:cNvSpPr/>
          <p:nvPr/>
        </p:nvSpPr>
        <p:spPr>
          <a:xfrm>
            <a:off x="1441704" y="4297680"/>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结论由学生先写出，对智能体的每一条质疑逐条自行回应。</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只提问不给答案的质疑智能体，指令见下一页。</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典型工程体现何种智慧，由学生分析并组织成文。</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宣传海报的版式与配图排布。</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汇报内容的组织与取舍。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两端开放，中间收紧。沙盘一行是本项唯一的一手证据来源，不引入任何工具。</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中国水利工程的建造智慧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沙盘环节</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模拟探究不引入 AI。分水效果的差异必须由学生自己的试验得出，这是本项唯一的一手证据来源。</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6471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工程数据</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三峡、雅江等典型工程的参数与年代须逐项核对来源。AI 在工程数据上出错的形态是给出格式正确但并不存在的数值。</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质疑智能体</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只提问，不给答案，不作评价。学生对每一条质疑的回应须自己写，代写即失去本环节的评价证据。</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每一种坝形的试验拍照留存，含失败的那几次。智能体的质疑与学生的回应按条对照留档，两列并排。</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你是一个只提问的评审。学生会提交一份关于水坝形状对分水灌溉效果影响的实验结论。请针对结论中的每一条，提出一个指向证据是否充分的问题。只提问，不给答案，不作评价，不超过五个问题。</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认识人工智能</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围绕「如何正确使用人工智能」，针对生成式人工智能使用，结合学生学习和生活的具体问题，探索与生成式人工智能正确交流的方法与策略。通过完成本任务，初步形成主动辨别内容的意识，提高发现和定义问题的能力。</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提出问题：学生针对具体问题，采用不同提示词与生成式人工智能工具进行问答，比较生成结果。思考人工智能如何为学习服务、人工智能的回答为何会出现错误、怎样的提示词能让人工智能更懂提问者等。</a:t>
            </a:r>
            <a:endParaRPr lang="en-US" sz="1000" dirty="0"/>
          </a:p>
        </p:txBody>
      </p:sp>
      <p:sp>
        <p:nvSpPr>
          <p:cNvPr id="28" name="Text 26"/>
          <p:cNvSpPr/>
          <p:nvPr/>
        </p:nvSpPr>
        <p:spPr>
          <a:xfrm>
            <a:off x="1295400" y="4000500"/>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0005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活动探究：学生通过「问题墙」或「探究日志」记录与人工智能的交互过程，调整提示词后，分析生成结果的异同，帮助学生探究提示词设计的方法与策略。</a:t>
            </a:r>
            <a:endParaRPr lang="en-US" sz="1000" dirty="0"/>
          </a:p>
        </p:txBody>
      </p:sp>
      <p:sp>
        <p:nvSpPr>
          <p:cNvPr id="30" name="Text 28"/>
          <p:cNvSpPr/>
          <p:nvPr/>
        </p:nvSpPr>
        <p:spPr>
          <a:xfrm>
            <a:off x="1295400" y="4439412"/>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4394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研究讨论：结合活动实例，讨论「生成式人工智能生成的内容可以直接采用吗？应用生成式人工智能需要注意哪些问题？」，提高学生对生成式人工智能生成内容的辨别意识与能力。</a:t>
            </a:r>
            <a:endParaRPr lang="en-US" sz="1000" dirty="0"/>
          </a:p>
        </p:txBody>
      </p:sp>
      <p:sp>
        <p:nvSpPr>
          <p:cNvPr id="32" name="Text 30"/>
          <p:cNvSpPr/>
          <p:nvPr/>
        </p:nvSpPr>
        <p:spPr>
          <a:xfrm>
            <a:off x="1295400" y="4878324"/>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878324"/>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交流分享：将「使用生成式人工智能的讨论成果」做成演示文稿，与其他同学分享正确使用生成式人工智能的方法与策略。</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本项与前五项相反：使用 AI 是任务内容本身，不是捷径。收紧的对象随之改变。</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认识人工智能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要拿来比较的那个具体问题，由学生从自己的学习生活中选定。</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不介入选题。</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324612" cy="182880"/>
          </a:xfrm>
          <a:prstGeom prst="roundRect">
            <a:avLst>
              <a:gd name="adj" fmla="val 50000"/>
            </a:avLst>
          </a:prstGeom>
          <a:solidFill>
            <a:srgbClr val="7A2C10"/>
          </a:solidFill>
          <a:ln w="12700">
            <a:solidFill>
              <a:srgbClr val="7A2C10"/>
            </a:solidFill>
            <a:prstDash val="solid"/>
          </a:ln>
        </p:spPr>
      </p:sp>
      <p:sp>
        <p:nvSpPr>
          <p:cNvPr id="36" name="Text 34"/>
          <p:cNvSpPr/>
          <p:nvPr/>
        </p:nvSpPr>
        <p:spPr>
          <a:xfrm>
            <a:off x="1441704" y="3172968"/>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提示词的对照方案由学生自行设计：一次只改一处，其余不变。</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不介入。这一步是本项的变量控制。</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FFFFFF"/>
          </a:solidFill>
          <a:ln w="12700">
            <a:solidFill>
              <a:srgbClr val="D9E2EF"/>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逐次记录提示词原文、改动之处与生成结果要点。</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大量使用。交互过程本身就是本项唯一的一手数据。</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提示词与结果之间的规律，从自己的对照记录中归纳。</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不介入。不得索取「怎样写提示词」的现成答案。</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结论与实例由学生自己写，改进后的提示词须再验证一次。</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演示文稿的版式。</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7A2C10"/>
          </a:solidFill>
          <a:ln w="12700">
            <a:solidFill>
              <a:srgbClr val="7A2C1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班级公约或使用建议须由学生讨论产生，逐条表决。</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六行中有四行收紧。收紧的对象是让 AI 代替学生判断 AI，学生使用 AI 本身反倒是本项的任务内容。</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认识人工智能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收紧的对象</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本项与其他五项相反。学生使用 AI 是任务内容，须放开；收紧的是让 AI 替学生对 AI 作出判断这一步。</a:t>
            </a:r>
            <a:endParaRPr lang="en-US" sz="1100" dirty="0"/>
          </a:p>
        </p:txBody>
      </p:sp>
      <p:sp>
        <p:nvSpPr>
          <p:cNvPr id="22" name="Shape 20"/>
          <p:cNvSpPr/>
          <p:nvPr/>
        </p:nvSpPr>
        <p:spPr>
          <a:xfrm>
            <a:off x="1295400" y="28300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8757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现成答案</a:t>
            </a:r>
            <a:endParaRPr lang="en-US" sz="1150" dirty="0"/>
          </a:p>
        </p:txBody>
      </p:sp>
      <p:sp>
        <p:nvSpPr>
          <p:cNvPr id="25" name="Text 23"/>
          <p:cNvSpPr/>
          <p:nvPr/>
        </p:nvSpPr>
        <p:spPr>
          <a:xfrm>
            <a:off x="2813304" y="28300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不得向 AI 索取「如何写好提示词」的现成答案。规律须从学生自己的对照记录中归纳，索取即等于把本项的评价维度全部让渡出去。</a:t>
            </a:r>
            <a:endParaRPr lang="en-US" sz="1100" dirty="0"/>
          </a:p>
        </p:txBody>
      </p:sp>
      <p:sp>
        <p:nvSpPr>
          <p:cNvPr id="26" name="Shape 24"/>
          <p:cNvSpPr/>
          <p:nvPr/>
        </p:nvSpPr>
        <p:spPr>
          <a:xfrm>
            <a:off x="1295400" y="36530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6987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6530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输入内容</a:t>
            </a:r>
            <a:endParaRPr lang="en-US" sz="1150" dirty="0"/>
          </a:p>
        </p:txBody>
      </p:sp>
      <p:sp>
        <p:nvSpPr>
          <p:cNvPr id="29" name="Text 27"/>
          <p:cNvSpPr/>
          <p:nvPr/>
        </p:nvSpPr>
        <p:spPr>
          <a:xfrm>
            <a:off x="2813304" y="36530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输入的具体问题不得包含姓名、学校、班级、家庭住址与家长信息。选题定下后，教师逐组核对一次再开始。</a:t>
            </a:r>
            <a:endParaRPr lang="en-US" sz="1100" dirty="0"/>
          </a:p>
        </p:txBody>
      </p:sp>
      <p:sp>
        <p:nvSpPr>
          <p:cNvPr id="30" name="Text 28"/>
          <p:cNvSpPr/>
          <p:nvPr/>
        </p:nvSpPr>
        <p:spPr>
          <a:xfrm>
            <a:off x="1295400" y="42839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探究日志三列并排：提示词原文、生成结果要点、学生自己的判断。班级公约保留讨论过程中被否决的条目。</a:t>
            </a:r>
            <a:endParaRPr lang="en-US" sz="1100" dirty="0"/>
          </a:p>
        </p:txBody>
      </p:sp>
      <p:sp>
        <p:nvSpPr>
          <p:cNvPr id="31" name="Shape 29"/>
          <p:cNvSpPr/>
          <p:nvPr/>
        </p:nvSpPr>
        <p:spPr>
          <a:xfrm>
            <a:off x="1295400" y="46497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6954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7594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9971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我要给五年级一项认识人工智能的探究任务，学生通过改动提示词来比较生成结果。请设计一张探究日志表，包含提示词原文、改动了哪一处、生成结果的要点、学生自己的判断四列，并给出两条填写示例，示例统一用「如何保护视力」这一问题。</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2026-08-22T02:01:24Z</dcterms:created>
  <dcterms:modified xsi:type="dcterms:W3CDTF">2026-08-22T02:01:24Z</dcterms:modified>
</cp:coreProperties>
</file>