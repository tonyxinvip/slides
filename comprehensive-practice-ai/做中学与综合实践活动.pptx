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年纲要未作这一层约束。小学学段要求识别变量、制订简单的探究方案，初中学段要求应用控制变量方法、制订比较完整的探究方案。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本页是全场可信度的支点，不可省略，亦不可夸大。先陈述研究设计，再陈述结果，顺序不可颠倒。须主动说明样本为大学生，中小学不可直接套用其数值，但机制一致：生成式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相当一部分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听众要带走的第一项工具。三项判断的顺序不可调换：先确认能力，再判断替代关系，最后讨论补偿。多数人的顺序相反，先看工具功能再倒推是否使用，该顺序容易导致使用过度。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指南写明鼓励学生大胆尝试，包容失败，在面对具有不确定性的问题时，通过不断试错、反思、改进等，寻求问题解决方案，体验科学探索的曲折过程。本课程的教学资产即试错空间，而生成式 AI 的默认行为是消除试错空间。本页属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本页是听众要带走的工具。说明该表将随讲义发放，教师亦可自行绘制，格式不重要，三项判断是重点。下一段以生命健康的两项任务当场填写一遍。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补充说明：选题环节产生的评价证据是问题意识，而问题意识在四个评价维度中仅此一个来源，替代后无从补偿。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是否说错，这就是判断权留在教师手上的具体形态；其三，整个过程在教师侧完成，学生看到的是教师转述的问题，不接触工具。听众若只记住一页操作，即本页。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听众要带走的第二项工具，成本最低。三项提问指向过程而非结论，无法预先背诵。第三问答不出，说明学生未作验证，该成果为外部获得。若全场只记住一项内容，即这三项提问。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末页停留时间稍长，供拍照。三条说明均须宣读，尤其第三条。将专业判断与政策规定分开，此条不可省略。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在九十分钟内讲，供听众会后带走。若现场有时间，只需说明一件事：六份案例的收放配置各不相同，决定配置的是任务中哪一步属于学生应当经历的困难，不是学段，也不是主题。第六项与前五项相反，人工智能主题里使用 AI 本身就是任务内容，收紧的是让 AI 替学生判断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页。指令一条可直接照抄，替换学段与场地即可。本页不讲，供带走。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本项的评价维度写明了分类归纳与逻辑推理，而识别与推断正是学生要经历的困难，因此学生侧不开放。教师侧的开放度反而最高。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选这一项进附录，是因为它把风险摆到了明处：天体参数可检索，结论可生成，模型可照抄，唯一不可替代的是学生自己那条距离—光照—温度曲线。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与前两项相比，本项在搜集分析证据一行放得更开，原因是模拟实验的数据量大，整理耗时而无教学价值。本页不讲，供带走。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指令刻意要求不给具体数值，这样编造的数字就进不到学生的表里，查证这一步也留给了学生。本页不讲，供带走。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六项中唯一的长周期任务。周期长意味着一定会有缺测，缺测怎么处理是本项的关键，见第 57 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这条指令是六项里最值得照抄的一条，「不要插值，也不要平滑」两句把造假的口子从工具侧堵掉了。本页不讲，供带走。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得出结论一行的质疑智能体是本项特有的做法，学生的回应本身就是反思改进能力的评价证据，比结论更值得看。本页不讲，供带走。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这条指令与正文第 41 页的智能体说明是同一套写法，可对照阅读。本页不讲，供带走。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搜集分析证据一行是六项案例中唯一完全放开的一行，因为交互记录就是本项的实验数据。本页不讲，供带走。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F1B2D"/>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B6470"/>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295400" y="3346704"/>
            <a:ext cx="1481328" cy="384048"/>
          </a:xfrm>
          <a:prstGeom prst="roundRect">
            <a:avLst>
              <a:gd name="adj" fmla="val 16667"/>
            </a:avLst>
          </a:prstGeom>
          <a:solidFill>
            <a:srgbClr val="FFFFFF"/>
          </a:solidFill>
          <a:ln w="12700">
            <a:solidFill>
              <a:srgbClr val="E2E7F0"/>
            </a:solidFill>
            <a:prstDash val="solid"/>
          </a:ln>
        </p:spPr>
      </p:sp>
      <p:sp>
        <p:nvSpPr>
          <p:cNvPr id="19" name="Text 17"/>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提出问题和假设</a:t>
            </a:r>
            <a:endParaRPr lang="en-US" sz="1000" dirty="0"/>
          </a:p>
        </p:txBody>
      </p:sp>
      <p:sp>
        <p:nvSpPr>
          <p:cNvPr id="20" name="Shape 18"/>
          <p:cNvSpPr/>
          <p:nvPr/>
        </p:nvSpPr>
        <p:spPr>
          <a:xfrm>
            <a:off x="2776728" y="3538728"/>
            <a:ext cx="182880" cy="0"/>
          </a:xfrm>
          <a:prstGeom prst="line">
            <a:avLst/>
          </a:prstGeom>
          <a:noFill/>
          <a:ln w="12700">
            <a:solidFill>
              <a:srgbClr val="E2E7F0"/>
            </a:solidFill>
            <a:prstDash val="solid"/>
          </a:ln>
        </p:spPr>
      </p:sp>
      <p:sp>
        <p:nvSpPr>
          <p:cNvPr id="21" name="Shape 19"/>
          <p:cNvSpPr/>
          <p:nvPr/>
        </p:nvSpPr>
        <p:spPr>
          <a:xfrm>
            <a:off x="2959608" y="3346704"/>
            <a:ext cx="1481328" cy="384048"/>
          </a:xfrm>
          <a:prstGeom prst="roundRect">
            <a:avLst>
              <a:gd name="adj" fmla="val 16667"/>
            </a:avLst>
          </a:prstGeom>
          <a:solidFill>
            <a:srgbClr val="FFFFFF"/>
          </a:solidFill>
          <a:ln w="12700">
            <a:solidFill>
              <a:srgbClr val="E2E7F0"/>
            </a:solidFill>
            <a:prstDash val="solid"/>
          </a:ln>
        </p:spPr>
      </p:sp>
      <p:sp>
        <p:nvSpPr>
          <p:cNvPr id="22" name="Text 20"/>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设计方案</a:t>
            </a:r>
            <a:endParaRPr lang="en-US" sz="1000" dirty="0"/>
          </a:p>
        </p:txBody>
      </p:sp>
      <p:sp>
        <p:nvSpPr>
          <p:cNvPr id="23" name="Shape 21"/>
          <p:cNvSpPr/>
          <p:nvPr/>
        </p:nvSpPr>
        <p:spPr>
          <a:xfrm>
            <a:off x="4440936" y="3538728"/>
            <a:ext cx="182880" cy="0"/>
          </a:xfrm>
          <a:prstGeom prst="line">
            <a:avLst/>
          </a:prstGeom>
          <a:noFill/>
          <a:ln w="12700">
            <a:solidFill>
              <a:srgbClr val="E2E7F0"/>
            </a:solidFill>
            <a:prstDash val="solid"/>
          </a:ln>
        </p:spPr>
      </p:sp>
      <p:sp>
        <p:nvSpPr>
          <p:cNvPr id="24" name="Shape 22"/>
          <p:cNvSpPr/>
          <p:nvPr/>
        </p:nvSpPr>
        <p:spPr>
          <a:xfrm>
            <a:off x="4623816" y="3346704"/>
            <a:ext cx="1481328" cy="384048"/>
          </a:xfrm>
          <a:prstGeom prst="roundRect">
            <a:avLst>
              <a:gd name="adj" fmla="val 16667"/>
            </a:avLst>
          </a:prstGeom>
          <a:solidFill>
            <a:srgbClr val="FFFFFF"/>
          </a:solidFill>
          <a:ln w="12700">
            <a:solidFill>
              <a:srgbClr val="E2E7F0"/>
            </a:solidFill>
            <a:prstDash val="solid"/>
          </a:ln>
        </p:spPr>
      </p:sp>
      <p:sp>
        <p:nvSpPr>
          <p:cNvPr id="25" name="Text 23"/>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搜集分析证据</a:t>
            </a:r>
            <a:endParaRPr lang="en-US" sz="1000" dirty="0"/>
          </a:p>
        </p:txBody>
      </p:sp>
      <p:sp>
        <p:nvSpPr>
          <p:cNvPr id="26" name="Shape 24"/>
          <p:cNvSpPr/>
          <p:nvPr/>
        </p:nvSpPr>
        <p:spPr>
          <a:xfrm>
            <a:off x="6105144" y="3538728"/>
            <a:ext cx="182880" cy="0"/>
          </a:xfrm>
          <a:prstGeom prst="line">
            <a:avLst/>
          </a:prstGeom>
          <a:noFill/>
          <a:ln w="12700">
            <a:solidFill>
              <a:srgbClr val="E2E7F0"/>
            </a:solidFill>
            <a:prstDash val="solid"/>
          </a:ln>
        </p:spPr>
      </p:sp>
      <p:sp>
        <p:nvSpPr>
          <p:cNvPr id="27" name="Shape 25"/>
          <p:cNvSpPr/>
          <p:nvPr/>
        </p:nvSpPr>
        <p:spPr>
          <a:xfrm>
            <a:off x="6288024" y="3346704"/>
            <a:ext cx="1481328" cy="384048"/>
          </a:xfrm>
          <a:prstGeom prst="roundRect">
            <a:avLst>
              <a:gd name="adj" fmla="val 16667"/>
            </a:avLst>
          </a:prstGeom>
          <a:solidFill>
            <a:srgbClr val="FFFFFF"/>
          </a:solidFill>
          <a:ln w="12700">
            <a:solidFill>
              <a:srgbClr val="E2E7F0"/>
            </a:solidFill>
            <a:prstDash val="solid"/>
          </a:ln>
        </p:spPr>
      </p:sp>
      <p:sp>
        <p:nvSpPr>
          <p:cNvPr id="28" name="Text 26"/>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得出结论并解释</a:t>
            </a:r>
            <a:endParaRPr lang="en-US" sz="1000" dirty="0"/>
          </a:p>
        </p:txBody>
      </p:sp>
      <p:sp>
        <p:nvSpPr>
          <p:cNvPr id="29" name="Shape 27"/>
          <p:cNvSpPr/>
          <p:nvPr/>
        </p:nvSpPr>
        <p:spPr>
          <a:xfrm>
            <a:off x="7769352" y="3538728"/>
            <a:ext cx="182880" cy="0"/>
          </a:xfrm>
          <a:prstGeom prst="line">
            <a:avLst/>
          </a:prstGeom>
          <a:noFill/>
          <a:ln w="12700">
            <a:solidFill>
              <a:srgbClr val="E2E7F0"/>
            </a:solidFill>
            <a:prstDash val="solid"/>
          </a:ln>
        </p:spPr>
      </p:sp>
      <p:sp>
        <p:nvSpPr>
          <p:cNvPr id="30" name="Shape 28"/>
          <p:cNvSpPr/>
          <p:nvPr/>
        </p:nvSpPr>
        <p:spPr>
          <a:xfrm>
            <a:off x="7952232" y="3346704"/>
            <a:ext cx="1481328" cy="384048"/>
          </a:xfrm>
          <a:prstGeom prst="roundRect">
            <a:avLst>
              <a:gd name="adj" fmla="val 16667"/>
            </a:avLst>
          </a:prstGeom>
          <a:solidFill>
            <a:srgbClr val="FFFFFF"/>
          </a:solidFill>
          <a:ln w="12700">
            <a:solidFill>
              <a:srgbClr val="E2E7F0"/>
            </a:solidFill>
            <a:prstDash val="solid"/>
          </a:ln>
        </p:spPr>
      </p:sp>
      <p:sp>
        <p:nvSpPr>
          <p:cNvPr id="31" name="Text 29"/>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制作改进</a:t>
            </a:r>
            <a:endParaRPr lang="en-US" sz="1000" dirty="0"/>
          </a:p>
        </p:txBody>
      </p:sp>
      <p:sp>
        <p:nvSpPr>
          <p:cNvPr id="32" name="Shape 30"/>
          <p:cNvSpPr/>
          <p:nvPr/>
        </p:nvSpPr>
        <p:spPr>
          <a:xfrm>
            <a:off x="9433560" y="3538728"/>
            <a:ext cx="182880" cy="0"/>
          </a:xfrm>
          <a:prstGeom prst="line">
            <a:avLst/>
          </a:prstGeom>
          <a:noFill/>
          <a:ln w="12700">
            <a:solidFill>
              <a:srgbClr val="E2E7F0"/>
            </a:solidFill>
            <a:prstDash val="solid"/>
          </a:ln>
        </p:spPr>
      </p:sp>
      <p:sp>
        <p:nvSpPr>
          <p:cNvPr id="33" name="Shape 31"/>
          <p:cNvSpPr/>
          <p:nvPr/>
        </p:nvSpPr>
        <p:spPr>
          <a:xfrm>
            <a:off x="9616440" y="3346704"/>
            <a:ext cx="1481328" cy="384048"/>
          </a:xfrm>
          <a:prstGeom prst="roundRect">
            <a:avLst>
              <a:gd name="adj" fmla="val 16667"/>
            </a:avLst>
          </a:prstGeom>
          <a:solidFill>
            <a:srgbClr val="FFFFFF"/>
          </a:solidFill>
          <a:ln w="12700">
            <a:solidFill>
              <a:srgbClr val="E2E7F0"/>
            </a:solidFill>
            <a:prstDash val="solid"/>
          </a:ln>
        </p:spPr>
      </p:sp>
      <p:sp>
        <p:nvSpPr>
          <p:cNvPr id="34" name="Text 32"/>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33414F"/>
                </a:solidFill>
                <a:latin typeface="Microsoft YaHei" pitchFamily="34" charset="0"/>
                <a:ea typeface="Microsoft YaHei" pitchFamily="34" charset="-122"/>
                <a:cs typeface="Microsoft YaHei" pitchFamily="34" charset="-120"/>
              </a:rPr>
              <a:t>交流反思</a:t>
            </a:r>
            <a:endParaRPr lang="en-US" sz="1000" dirty="0"/>
          </a:p>
        </p:txBody>
      </p:sp>
      <p:sp>
        <p:nvSpPr>
          <p:cNvPr id="35" name="Text 33"/>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主讲</a:t>
            </a:r>
            <a:endParaRPr lang="en-US" sz="1100" dirty="0"/>
          </a:p>
        </p:txBody>
      </p:sp>
      <p:sp>
        <p:nvSpPr>
          <p:cNvPr id="36" name="Text 34"/>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a:t>
            </a:r>
            <a:endParaRPr lang="en-US" sz="1400" dirty="0"/>
          </a:p>
        </p:txBody>
      </p:sp>
      <p:sp>
        <p:nvSpPr>
          <p:cNvPr id="37" name="Text 35"/>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日期</a:t>
            </a:r>
            <a:endParaRPr lang="en-US" sz="1100" dirty="0"/>
          </a:p>
        </p:txBody>
      </p:sp>
      <p:sp>
        <p:nvSpPr>
          <p:cNvPr id="38" name="Text 36"/>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2026 年 8 月 21 日</a:t>
            </a:r>
            <a:endParaRPr lang="en-US" sz="1400" dirty="0"/>
          </a:p>
        </p:txBody>
      </p:sp>
      <p:sp>
        <p:nvSpPr>
          <p:cNvPr id="39" name="Text 37"/>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B6470"/>
                </a:solidFill>
                <a:latin typeface="Microsoft YaHei" pitchFamily="34" charset="0"/>
                <a:ea typeface="Microsoft YaHei" pitchFamily="34" charset="-122"/>
                <a:cs typeface="Microsoft YaHei" pitchFamily="34" charset="-120"/>
              </a:rPr>
              <a:t>时长</a:t>
            </a:r>
            <a:endParaRPr lang="en-US" sz="1100" dirty="0"/>
          </a:p>
        </p:txBody>
      </p:sp>
      <p:sp>
        <p:nvSpPr>
          <p:cNvPr id="40" name="Text 38"/>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F1B2D"/>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E2E7F0"/>
            </a:solidFill>
            <a:prstDash val="solid"/>
          </a:ln>
        </p:spPr>
      </p:sp>
      <p:sp>
        <p:nvSpPr>
          <p:cNvPr id="19" name="Shape 17"/>
          <p:cNvSpPr/>
          <p:nvPr/>
        </p:nvSpPr>
        <p:spPr>
          <a:xfrm>
            <a:off x="1359408" y="2487168"/>
            <a:ext cx="3034690" cy="38100"/>
          </a:xfrm>
          <a:prstGeom prst="rect">
            <a:avLst/>
          </a:prstGeom>
          <a:solidFill>
            <a:srgbClr val="33414F"/>
          </a:solidFill>
          <a:ln w="12700">
            <a:solidFill>
              <a:srgbClr val="33414F"/>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E2E7F0"/>
            </a:solidFill>
            <a:prstDash val="solid"/>
          </a:ln>
        </p:spPr>
      </p:sp>
      <p:sp>
        <p:nvSpPr>
          <p:cNvPr id="23" name="Shape 21"/>
          <p:cNvSpPr/>
          <p:nvPr/>
        </p:nvSpPr>
        <p:spPr>
          <a:xfrm>
            <a:off x="4769002" y="2487168"/>
            <a:ext cx="3034690" cy="38100"/>
          </a:xfrm>
          <a:prstGeom prst="rect">
            <a:avLst/>
          </a:prstGeom>
          <a:solidFill>
            <a:srgbClr val="33414F"/>
          </a:solidFill>
          <a:ln w="12700">
            <a:solidFill>
              <a:srgbClr val="33414F"/>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E2E7F0"/>
            </a:solidFill>
            <a:prstDash val="solid"/>
          </a:ln>
        </p:spPr>
      </p:sp>
      <p:sp>
        <p:nvSpPr>
          <p:cNvPr id="27" name="Shape 25"/>
          <p:cNvSpPr/>
          <p:nvPr/>
        </p:nvSpPr>
        <p:spPr>
          <a:xfrm>
            <a:off x="8178597" y="2487168"/>
            <a:ext cx="3034690" cy="38100"/>
          </a:xfrm>
          <a:prstGeom prst="rect">
            <a:avLst/>
          </a:prstGeom>
          <a:solidFill>
            <a:srgbClr val="33414F"/>
          </a:solidFill>
          <a:ln w="12700">
            <a:solidFill>
              <a:srgbClr val="33414F"/>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F1B2D"/>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66725" y="847725"/>
            <a:ext cx="133350" cy="133350"/>
          </a:xfrm>
          <a:prstGeom prst="ellipse">
            <a:avLst/>
          </a:prstGeom>
          <a:solidFill>
            <a:srgbClr val="B0472A"/>
          </a:solidFill>
          <a:ln w="25400">
            <a:solidFill>
              <a:srgbClr val="B0472A"/>
            </a:solidFill>
            <a:prstDash val="solid"/>
          </a:ln>
        </p:spPr>
      </p:sp>
      <p:sp>
        <p:nvSpPr>
          <p:cNvPr id="4" name="Shape 2"/>
          <p:cNvSpPr/>
          <p:nvPr/>
        </p:nvSpPr>
        <p:spPr>
          <a:xfrm>
            <a:off x="485775" y="1478756"/>
            <a:ext cx="95250" cy="95250"/>
          </a:xfrm>
          <a:prstGeom prst="ellipse">
            <a:avLst/>
          </a:prstGeom>
          <a:solidFill>
            <a:srgbClr val="FFFFFF"/>
          </a:solidFill>
          <a:ln w="25400">
            <a:solidFill>
              <a:srgbClr val="E2E7F0"/>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E2E7F0"/>
            </a:solidFill>
            <a:prstDash val="solid"/>
          </a:ln>
        </p:spPr>
      </p:sp>
      <p:sp>
        <p:nvSpPr>
          <p:cNvPr id="18" name="Shape 16"/>
          <p:cNvSpPr/>
          <p:nvPr/>
        </p:nvSpPr>
        <p:spPr>
          <a:xfrm>
            <a:off x="1295400" y="1915668"/>
            <a:ext cx="38100" cy="1188720"/>
          </a:xfrm>
          <a:prstGeom prst="rect">
            <a:avLst/>
          </a:prstGeom>
          <a:solidFill>
            <a:srgbClr val="33414F"/>
          </a:solidFill>
          <a:ln w="12700">
            <a:solidFill>
              <a:srgbClr val="33414F"/>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E2E7F0"/>
            </a:solidFill>
            <a:prstDash val="solid"/>
          </a:ln>
        </p:spPr>
      </p:sp>
      <p:sp>
        <p:nvSpPr>
          <p:cNvPr id="22" name="Shape 20"/>
          <p:cNvSpPr/>
          <p:nvPr/>
        </p:nvSpPr>
        <p:spPr>
          <a:xfrm>
            <a:off x="1359408" y="3913632"/>
            <a:ext cx="1421333" cy="38100"/>
          </a:xfrm>
          <a:prstGeom prst="rect">
            <a:avLst/>
          </a:prstGeom>
          <a:solidFill>
            <a:srgbClr val="33414F"/>
          </a:solidFill>
          <a:ln w="12700">
            <a:solidFill>
              <a:srgbClr val="33414F"/>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E2E7F0"/>
            </a:solidFill>
            <a:prstDash val="solid"/>
          </a:ln>
        </p:spPr>
      </p:sp>
      <p:sp>
        <p:nvSpPr>
          <p:cNvPr id="26" name="Shape 24"/>
          <p:cNvSpPr/>
          <p:nvPr/>
        </p:nvSpPr>
        <p:spPr>
          <a:xfrm>
            <a:off x="3045917" y="3913632"/>
            <a:ext cx="1421333" cy="38100"/>
          </a:xfrm>
          <a:prstGeom prst="rect">
            <a:avLst/>
          </a:prstGeom>
          <a:solidFill>
            <a:srgbClr val="33414F"/>
          </a:solidFill>
          <a:ln w="12700">
            <a:solidFill>
              <a:srgbClr val="33414F"/>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E2E7F0"/>
            </a:solidFill>
            <a:prstDash val="solid"/>
          </a:ln>
        </p:spPr>
      </p:sp>
      <p:sp>
        <p:nvSpPr>
          <p:cNvPr id="30" name="Shape 28"/>
          <p:cNvSpPr/>
          <p:nvPr/>
        </p:nvSpPr>
        <p:spPr>
          <a:xfrm>
            <a:off x="4732426" y="3913632"/>
            <a:ext cx="1421333" cy="38100"/>
          </a:xfrm>
          <a:prstGeom prst="rect">
            <a:avLst/>
          </a:prstGeom>
          <a:solidFill>
            <a:srgbClr val="33414F"/>
          </a:solidFill>
          <a:ln w="12700">
            <a:solidFill>
              <a:srgbClr val="33414F"/>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E2E7F0"/>
            </a:solidFill>
            <a:prstDash val="solid"/>
          </a:ln>
        </p:spPr>
      </p:sp>
      <p:sp>
        <p:nvSpPr>
          <p:cNvPr id="34" name="Shape 32"/>
          <p:cNvSpPr/>
          <p:nvPr/>
        </p:nvSpPr>
        <p:spPr>
          <a:xfrm>
            <a:off x="6418936" y="3913632"/>
            <a:ext cx="1421333" cy="38100"/>
          </a:xfrm>
          <a:prstGeom prst="rect">
            <a:avLst/>
          </a:prstGeom>
          <a:solidFill>
            <a:srgbClr val="33414F"/>
          </a:solidFill>
          <a:ln w="12700">
            <a:solidFill>
              <a:srgbClr val="33414F"/>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E2E7F0"/>
            </a:solidFill>
            <a:prstDash val="solid"/>
          </a:ln>
        </p:spPr>
      </p:sp>
      <p:sp>
        <p:nvSpPr>
          <p:cNvPr id="38" name="Shape 36"/>
          <p:cNvSpPr/>
          <p:nvPr/>
        </p:nvSpPr>
        <p:spPr>
          <a:xfrm>
            <a:off x="8105445" y="3913632"/>
            <a:ext cx="1421333" cy="38100"/>
          </a:xfrm>
          <a:prstGeom prst="rect">
            <a:avLst/>
          </a:prstGeom>
          <a:solidFill>
            <a:srgbClr val="33414F"/>
          </a:solidFill>
          <a:ln w="12700">
            <a:solidFill>
              <a:srgbClr val="33414F"/>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E2E7F0"/>
            </a:solidFill>
            <a:prstDash val="solid"/>
          </a:ln>
        </p:spPr>
      </p:sp>
      <p:sp>
        <p:nvSpPr>
          <p:cNvPr id="42" name="Shape 40"/>
          <p:cNvSpPr/>
          <p:nvPr/>
        </p:nvSpPr>
        <p:spPr>
          <a:xfrm>
            <a:off x="9791954" y="3913632"/>
            <a:ext cx="1421333" cy="38100"/>
          </a:xfrm>
          <a:prstGeom prst="rect">
            <a:avLst/>
          </a:prstGeom>
          <a:solidFill>
            <a:srgbClr val="33414F"/>
          </a:solidFill>
          <a:ln w="12700">
            <a:solidFill>
              <a:srgbClr val="33414F"/>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F1B2D"/>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E2E7F0"/>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E2E7F0"/>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E2E7F0"/>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E2E7F0"/>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E2E7F0"/>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E2E7F0"/>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E2E7F0"/>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E2E7F0"/>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E2E7F0"/>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E2E7F0"/>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E2E7F0"/>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66725" y="1459706"/>
            <a:ext cx="133350" cy="133350"/>
          </a:xfrm>
          <a:prstGeom prst="ellipse">
            <a:avLst/>
          </a:prstGeom>
          <a:solidFill>
            <a:srgbClr val="B0472A"/>
          </a:solidFill>
          <a:ln w="25400">
            <a:solidFill>
              <a:srgbClr val="B0472A"/>
            </a:solidFill>
            <a:prstDash val="solid"/>
          </a:ln>
        </p:spPr>
      </p:sp>
      <p:sp>
        <p:nvSpPr>
          <p:cNvPr id="5" name="Shape 3"/>
          <p:cNvSpPr/>
          <p:nvPr/>
        </p:nvSpPr>
        <p:spPr>
          <a:xfrm>
            <a:off x="485775" y="2090738"/>
            <a:ext cx="95250" cy="95250"/>
          </a:xfrm>
          <a:prstGeom prst="ellipse">
            <a:avLst/>
          </a:prstGeom>
          <a:solidFill>
            <a:srgbClr val="FFFFFF"/>
          </a:solidFill>
          <a:ln w="25400">
            <a:solidFill>
              <a:srgbClr val="E2E7F0"/>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本场主张</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7" name="Image 0" descr="/home/user/slides/comprehensive-practice-ai/figures/impact.png">    </p:cNvPr>
          <p:cNvPicPr>
            <a:picLocks noChangeAspect="1"/>
          </p:cNvPicPr>
          <p:nvPr/>
        </p:nvPicPr>
        <p:blipFill>
          <a:blip r:embed="rId1"/>
          <a:stretch>
            <a:fillRect/>
          </a:stretch>
        </p:blipFill>
        <p:spPr>
          <a:xfrm>
            <a:off x="1353966" y="2080260"/>
            <a:ext cx="9864762" cy="3200400"/>
          </a:xfrm>
          <a:prstGeom prst="rect">
            <a:avLst/>
          </a:prstGeom>
        </p:spPr>
      </p:pic>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7"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1A2029"/>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66725" y="2071688"/>
            <a:ext cx="133350" cy="133350"/>
          </a:xfrm>
          <a:prstGeom prst="ellipse">
            <a:avLst/>
          </a:prstGeom>
          <a:solidFill>
            <a:srgbClr val="B0472A"/>
          </a:solidFill>
          <a:ln w="25400">
            <a:solidFill>
              <a:srgbClr val="B0472A"/>
            </a:solidFill>
            <a:prstDash val="solid"/>
          </a:ln>
        </p:spPr>
      </p:sp>
      <p:sp>
        <p:nvSpPr>
          <p:cNvPr id="6" name="Shape 4"/>
          <p:cNvSpPr/>
          <p:nvPr/>
        </p:nvSpPr>
        <p:spPr>
          <a:xfrm>
            <a:off x="485775" y="2702719"/>
            <a:ext cx="95250" cy="95250"/>
          </a:xfrm>
          <a:prstGeom prst="ellipse">
            <a:avLst/>
          </a:prstGeom>
          <a:solidFill>
            <a:srgbClr val="FFFFFF"/>
          </a:solidFill>
          <a:ln w="25400">
            <a:solidFill>
              <a:srgbClr val="E2E7F0"/>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1A2029"/>
                </a:solidFill>
                <a:latin typeface="Microsoft YaHei" pitchFamily="34" charset="0"/>
                <a:ea typeface="Microsoft YaHei" pitchFamily="34" charset="-122"/>
                <a:cs typeface="Microsoft YaHei" pitchFamily="34" charset="-120"/>
              </a:rPr>
              <a:t>而耗时的环节正是本课程的教学内容。</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E2E7F0"/>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E2E7F0"/>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E2E7F0"/>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E2E7F0"/>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E2E7F0"/>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E2E7F0"/>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A9B3C0"/>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1A2029"/>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33414F"/>
          </a:solidFill>
          <a:ln w="12700">
            <a:solidFill>
              <a:srgbClr val="33414F"/>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E2E7F0"/>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E2E7F0"/>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E2E7F0"/>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E2E7F0"/>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E2E7F0"/>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99282" cy="3200400"/>
          </a:xfrm>
          <a:prstGeom prst="roundRect">
            <a:avLst>
              <a:gd name="adj" fmla="val 2572"/>
            </a:avLst>
          </a:prstGeom>
          <a:solidFill>
            <a:srgbClr val="FFFFFF"/>
          </a:solidFill>
          <a:ln w="12700">
            <a:solidFill>
              <a:srgbClr val="E2E7F0"/>
            </a:solidFill>
            <a:prstDash val="solid"/>
          </a:ln>
        </p:spPr>
      </p:sp>
      <p:sp>
        <p:nvSpPr>
          <p:cNvPr id="18" name="Shape 16"/>
          <p:cNvSpPr/>
          <p:nvPr/>
        </p:nvSpPr>
        <p:spPr>
          <a:xfrm>
            <a:off x="1359408" y="1860804"/>
            <a:ext cx="3071266" cy="38100"/>
          </a:xfrm>
          <a:prstGeom prst="rect">
            <a:avLst/>
          </a:prstGeom>
          <a:solidFill>
            <a:srgbClr val="B0472A"/>
          </a:solidFill>
          <a:ln w="12700">
            <a:solidFill>
              <a:srgbClr val="B0472A"/>
            </a:solidFill>
            <a:prstDash val="solid"/>
          </a:ln>
        </p:spPr>
      </p:sp>
      <p:sp>
        <p:nvSpPr>
          <p:cNvPr id="19" name="Text 17"/>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AI 会加剧</a:t>
            </a:r>
            <a:endParaRPr lang="en-US" sz="1600" dirty="0"/>
          </a:p>
        </p:txBody>
      </p:sp>
      <p:sp>
        <p:nvSpPr>
          <p:cNvPr id="20" name="Shape 18"/>
          <p:cNvSpPr/>
          <p:nvPr/>
        </p:nvSpPr>
        <p:spPr>
          <a:xfrm>
            <a:off x="1496568" y="2427732"/>
            <a:ext cx="2796946" cy="0"/>
          </a:xfrm>
          <a:prstGeom prst="line">
            <a:avLst/>
          </a:prstGeom>
          <a:noFill/>
          <a:ln w="25400">
            <a:solidFill>
              <a:srgbClr val="B0472A"/>
            </a:solidFill>
            <a:prstDash val="solid"/>
          </a:ln>
        </p:spPr>
      </p:sp>
      <p:sp>
        <p:nvSpPr>
          <p:cNvPr id="21" name="Text 19"/>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形式化、成果拼盘</a:t>
            </a:r>
            <a:endParaRPr lang="en-US" sz="1300" dirty="0"/>
          </a:p>
        </p:txBody>
      </p:sp>
      <p:sp>
        <p:nvSpPr>
          <p:cNvPr id="22" name="Shape 20"/>
          <p:cNvSpPr/>
          <p:nvPr/>
        </p:nvSpPr>
        <p:spPr>
          <a:xfrm>
            <a:off x="1496568" y="3031236"/>
            <a:ext cx="2796946" cy="0"/>
          </a:xfrm>
          <a:prstGeom prst="line">
            <a:avLst/>
          </a:prstGeom>
          <a:noFill/>
          <a:ln w="12700">
            <a:solidFill>
              <a:srgbClr val="E2E7F0"/>
            </a:solidFill>
            <a:prstDash val="solid"/>
          </a:ln>
        </p:spPr>
      </p:sp>
      <p:sp>
        <p:nvSpPr>
          <p:cNvPr id="23" name="Text 21"/>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496568" y="3634740"/>
            <a:ext cx="2796946" cy="0"/>
          </a:xfrm>
          <a:prstGeom prst="line">
            <a:avLst/>
          </a:prstGeom>
          <a:noFill/>
          <a:ln w="12700">
            <a:solidFill>
              <a:srgbClr val="E2E7F0"/>
            </a:solidFill>
            <a:prstDash val="solid"/>
          </a:ln>
        </p:spPr>
      </p:sp>
      <p:sp>
        <p:nvSpPr>
          <p:cNvPr id="25" name="Text 23"/>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选题雷同</a:t>
            </a:r>
            <a:endParaRPr lang="en-US" sz="1300" dirty="0"/>
          </a:p>
        </p:txBody>
      </p:sp>
      <p:sp>
        <p:nvSpPr>
          <p:cNvPr id="26" name="Shape 24"/>
          <p:cNvSpPr/>
          <p:nvPr/>
        </p:nvSpPr>
        <p:spPr>
          <a:xfrm>
            <a:off x="1496568" y="4238244"/>
            <a:ext cx="2796946" cy="0"/>
          </a:xfrm>
          <a:prstGeom prst="line">
            <a:avLst/>
          </a:prstGeom>
          <a:noFill/>
          <a:ln w="12700">
            <a:solidFill>
              <a:srgbClr val="E2E7F0"/>
            </a:solidFill>
            <a:prstDash val="solid"/>
          </a:ln>
        </p:spPr>
      </p:sp>
      <p:sp>
        <p:nvSpPr>
          <p:cNvPr id="27" name="Text 25"/>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研学只旅不学</a:t>
            </a:r>
            <a:endParaRPr lang="en-US" sz="1300" dirty="0"/>
          </a:p>
        </p:txBody>
      </p:sp>
      <p:sp>
        <p:nvSpPr>
          <p:cNvPr id="28" name="Shape 26"/>
          <p:cNvSpPr/>
          <p:nvPr/>
        </p:nvSpPr>
        <p:spPr>
          <a:xfrm>
            <a:off x="4686706" y="1860804"/>
            <a:ext cx="3199282" cy="3200400"/>
          </a:xfrm>
          <a:prstGeom prst="roundRect">
            <a:avLst>
              <a:gd name="adj" fmla="val 2572"/>
            </a:avLst>
          </a:prstGeom>
          <a:solidFill>
            <a:srgbClr val="FFFFFF"/>
          </a:solidFill>
          <a:ln w="12700">
            <a:solidFill>
              <a:srgbClr val="E2E7F0"/>
            </a:solidFill>
            <a:prstDash val="solid"/>
          </a:ln>
        </p:spPr>
      </p:sp>
      <p:sp>
        <p:nvSpPr>
          <p:cNvPr id="29" name="Shape 27"/>
          <p:cNvSpPr/>
          <p:nvPr/>
        </p:nvSpPr>
        <p:spPr>
          <a:xfrm>
            <a:off x="4750714" y="1860804"/>
            <a:ext cx="3071266" cy="38100"/>
          </a:xfrm>
          <a:prstGeom prst="rect">
            <a:avLst/>
          </a:prstGeom>
          <a:solidFill>
            <a:srgbClr val="33414F"/>
          </a:solidFill>
          <a:ln w="12700">
            <a:solidFill>
              <a:srgbClr val="33414F"/>
            </a:solidFill>
            <a:prstDash val="solid"/>
          </a:ln>
        </p:spPr>
      </p:sp>
      <p:sp>
        <p:nvSpPr>
          <p:cNvPr id="30" name="Text 28"/>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33414F"/>
                </a:solidFill>
                <a:latin typeface="Microsoft YaHei" pitchFamily="34" charset="0"/>
                <a:ea typeface="Microsoft YaHei" pitchFamily="34" charset="-122"/>
                <a:cs typeface="Microsoft YaHei" pitchFamily="34" charset="-120"/>
              </a:rPr>
              <a:t>AI 能减轻</a:t>
            </a:r>
            <a:endParaRPr lang="en-US" sz="1600" dirty="0"/>
          </a:p>
        </p:txBody>
      </p:sp>
      <p:sp>
        <p:nvSpPr>
          <p:cNvPr id="31" name="Shape 29"/>
          <p:cNvSpPr/>
          <p:nvPr/>
        </p:nvSpPr>
        <p:spPr>
          <a:xfrm>
            <a:off x="4887874" y="2427732"/>
            <a:ext cx="2796946" cy="0"/>
          </a:xfrm>
          <a:prstGeom prst="line">
            <a:avLst/>
          </a:prstGeom>
          <a:noFill/>
          <a:ln w="25400">
            <a:solidFill>
              <a:srgbClr val="33414F"/>
            </a:solidFill>
            <a:prstDash val="solid"/>
          </a:ln>
        </p:spPr>
      </p:sp>
      <p:sp>
        <p:nvSpPr>
          <p:cNvPr id="32" name="Text 30"/>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3" name="Shape 31"/>
          <p:cNvSpPr/>
          <p:nvPr/>
        </p:nvSpPr>
        <p:spPr>
          <a:xfrm>
            <a:off x="4887874" y="3031236"/>
            <a:ext cx="2796946" cy="0"/>
          </a:xfrm>
          <a:prstGeom prst="line">
            <a:avLst/>
          </a:prstGeom>
          <a:noFill/>
          <a:ln w="12700">
            <a:solidFill>
              <a:srgbClr val="E2E7F0"/>
            </a:solidFill>
            <a:prstDash val="solid"/>
          </a:ln>
        </p:spPr>
      </p:sp>
      <p:sp>
        <p:nvSpPr>
          <p:cNvPr id="34" name="Text 32"/>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5" name="Shape 33"/>
          <p:cNvSpPr/>
          <p:nvPr/>
        </p:nvSpPr>
        <p:spPr>
          <a:xfrm>
            <a:off x="4887874" y="3634740"/>
            <a:ext cx="2796946" cy="0"/>
          </a:xfrm>
          <a:prstGeom prst="line">
            <a:avLst/>
          </a:prstGeom>
          <a:noFill/>
          <a:ln w="12700">
            <a:solidFill>
              <a:srgbClr val="E2E7F0"/>
            </a:solidFill>
            <a:prstDash val="solid"/>
          </a:ln>
        </p:spPr>
      </p:sp>
      <p:sp>
        <p:nvSpPr>
          <p:cNvPr id="36" name="Text 34"/>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7" name="Shape 35"/>
          <p:cNvSpPr/>
          <p:nvPr/>
        </p:nvSpPr>
        <p:spPr>
          <a:xfrm>
            <a:off x="4887874" y="4238244"/>
            <a:ext cx="2796946" cy="0"/>
          </a:xfrm>
          <a:prstGeom prst="line">
            <a:avLst/>
          </a:prstGeom>
          <a:noFill/>
          <a:ln w="12700">
            <a:solidFill>
              <a:srgbClr val="E2E7F0"/>
            </a:solidFill>
            <a:prstDash val="solid"/>
          </a:ln>
        </p:spPr>
      </p:sp>
      <p:sp>
        <p:nvSpPr>
          <p:cNvPr id="38" name="Text 36"/>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1A2029"/>
                </a:solidFill>
                <a:latin typeface="Microsoft YaHei" pitchFamily="34" charset="0"/>
                <a:ea typeface="Microsoft YaHei" pitchFamily="34" charset="-122"/>
                <a:cs typeface="Microsoft YaHei" pitchFamily="34" charset="-120"/>
              </a:rPr>
              <a:t>排版与基础图表</a:t>
            </a:r>
            <a:endParaRPr lang="en-US" sz="1300" dirty="0"/>
          </a:p>
        </p:txBody>
      </p:sp>
      <p:sp>
        <p:nvSpPr>
          <p:cNvPr id="39" name="Shape 37"/>
          <p:cNvSpPr/>
          <p:nvPr/>
        </p:nvSpPr>
        <p:spPr>
          <a:xfrm>
            <a:off x="8078013" y="1860804"/>
            <a:ext cx="3199282" cy="3200400"/>
          </a:xfrm>
          <a:prstGeom prst="roundRect">
            <a:avLst>
              <a:gd name="adj" fmla="val 2572"/>
            </a:avLst>
          </a:prstGeom>
          <a:solidFill>
            <a:srgbClr val="FFFFFF"/>
          </a:solidFill>
          <a:ln w="12700">
            <a:solidFill>
              <a:srgbClr val="E2E7F0"/>
            </a:solidFill>
            <a:prstDash val="solid"/>
          </a:ln>
        </p:spPr>
      </p:sp>
      <p:sp>
        <p:nvSpPr>
          <p:cNvPr id="40" name="Shape 38"/>
          <p:cNvSpPr/>
          <p:nvPr/>
        </p:nvSpPr>
        <p:spPr>
          <a:xfrm>
            <a:off x="8142021" y="1860804"/>
            <a:ext cx="3071266" cy="38100"/>
          </a:xfrm>
          <a:prstGeom prst="rect">
            <a:avLst/>
          </a:prstGeom>
          <a:solidFill>
            <a:srgbClr val="E2E7F0"/>
          </a:solidFill>
          <a:ln w="12700">
            <a:solidFill>
              <a:srgbClr val="E2E7F0"/>
            </a:solidFill>
            <a:prstDash val="solid"/>
          </a:ln>
        </p:spPr>
      </p:sp>
      <p:sp>
        <p:nvSpPr>
          <p:cNvPr id="41" name="Text 39"/>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B6470"/>
                </a:solidFill>
                <a:latin typeface="Microsoft YaHei" pitchFamily="34" charset="0"/>
                <a:ea typeface="Microsoft YaHei" pitchFamily="34" charset="-122"/>
                <a:cs typeface="Microsoft YaHei" pitchFamily="34" charset="-120"/>
              </a:rPr>
              <a:t>AI 无关</a:t>
            </a:r>
            <a:endParaRPr lang="en-US" sz="1600" dirty="0"/>
          </a:p>
        </p:txBody>
      </p:sp>
      <p:sp>
        <p:nvSpPr>
          <p:cNvPr id="42" name="Shape 40"/>
          <p:cNvSpPr/>
          <p:nvPr/>
        </p:nvSpPr>
        <p:spPr>
          <a:xfrm>
            <a:off x="8279181" y="2427732"/>
            <a:ext cx="2796946" cy="0"/>
          </a:xfrm>
          <a:prstGeom prst="line">
            <a:avLst/>
          </a:prstGeom>
          <a:noFill/>
          <a:ln w="25400">
            <a:solidFill>
              <a:srgbClr val="5B6470"/>
            </a:solidFill>
            <a:prstDash val="solid"/>
          </a:ln>
        </p:spPr>
      </p:sp>
      <p:sp>
        <p:nvSpPr>
          <p:cNvPr id="43" name="Text 41"/>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课时被挤占</a:t>
            </a:r>
            <a:endParaRPr lang="en-US" sz="1300" dirty="0"/>
          </a:p>
        </p:txBody>
      </p:sp>
      <p:sp>
        <p:nvSpPr>
          <p:cNvPr id="44" name="Shape 42"/>
          <p:cNvSpPr/>
          <p:nvPr/>
        </p:nvSpPr>
        <p:spPr>
          <a:xfrm>
            <a:off x="8279181" y="3031236"/>
            <a:ext cx="2796946" cy="0"/>
          </a:xfrm>
          <a:prstGeom prst="line">
            <a:avLst/>
          </a:prstGeom>
          <a:noFill/>
          <a:ln w="12700">
            <a:solidFill>
              <a:srgbClr val="E2E7F0"/>
            </a:solidFill>
            <a:prstDash val="solid"/>
          </a:ln>
        </p:spPr>
      </p:sp>
      <p:sp>
        <p:nvSpPr>
          <p:cNvPr id="45" name="Text 43"/>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6" name="Shape 44"/>
          <p:cNvSpPr/>
          <p:nvPr/>
        </p:nvSpPr>
        <p:spPr>
          <a:xfrm>
            <a:off x="8279181" y="3634740"/>
            <a:ext cx="2796946" cy="0"/>
          </a:xfrm>
          <a:prstGeom prst="line">
            <a:avLst/>
          </a:prstGeom>
          <a:noFill/>
          <a:ln w="12700">
            <a:solidFill>
              <a:srgbClr val="E2E7F0"/>
            </a:solidFill>
            <a:prstDash val="solid"/>
          </a:ln>
        </p:spPr>
      </p:sp>
      <p:sp>
        <p:nvSpPr>
          <p:cNvPr id="47" name="Text 45"/>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校外基地质量</a:t>
            </a:r>
            <a:endParaRPr lang="en-US" sz="1300" dirty="0"/>
          </a:p>
        </p:txBody>
      </p:sp>
      <p:sp>
        <p:nvSpPr>
          <p:cNvPr id="48" name="Shape 46"/>
          <p:cNvSpPr/>
          <p:nvPr/>
        </p:nvSpPr>
        <p:spPr>
          <a:xfrm>
            <a:off x="8279181" y="4238244"/>
            <a:ext cx="2796946" cy="0"/>
          </a:xfrm>
          <a:prstGeom prst="line">
            <a:avLst/>
          </a:prstGeom>
          <a:noFill/>
          <a:ln w="12700">
            <a:solidFill>
              <a:srgbClr val="E2E7F0"/>
            </a:solidFill>
            <a:prstDash val="solid"/>
          </a:ln>
        </p:spPr>
      </p:sp>
      <p:sp>
        <p:nvSpPr>
          <p:cNvPr id="49" name="Text 47"/>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B6470"/>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E2E7F0"/>
            </a:solidFill>
            <a:prstDash val="solid"/>
          </a:ln>
        </p:spPr>
      </p:sp>
      <p:sp>
        <p:nvSpPr>
          <p:cNvPr id="18" name="Shape 16"/>
          <p:cNvSpPr/>
          <p:nvPr/>
        </p:nvSpPr>
        <p:spPr>
          <a:xfrm>
            <a:off x="1359408" y="2043684"/>
            <a:ext cx="3077362" cy="38100"/>
          </a:xfrm>
          <a:prstGeom prst="rect">
            <a:avLst/>
          </a:prstGeom>
          <a:solidFill>
            <a:srgbClr val="33414F"/>
          </a:solidFill>
          <a:ln w="12700">
            <a:solidFill>
              <a:srgbClr val="33414F"/>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E2E7F0"/>
            </a:solidFill>
            <a:prstDash val="solid"/>
          </a:ln>
        </p:spPr>
      </p:sp>
      <p:sp>
        <p:nvSpPr>
          <p:cNvPr id="22" name="Shape 20"/>
          <p:cNvSpPr/>
          <p:nvPr/>
        </p:nvSpPr>
        <p:spPr>
          <a:xfrm>
            <a:off x="4747666" y="2043684"/>
            <a:ext cx="3077362" cy="38100"/>
          </a:xfrm>
          <a:prstGeom prst="rect">
            <a:avLst/>
          </a:prstGeom>
          <a:solidFill>
            <a:srgbClr val="C9714C"/>
          </a:solidFill>
          <a:ln w="12700">
            <a:solidFill>
              <a:srgbClr val="C9714C"/>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E2E7F0"/>
            </a:solidFill>
            <a:prstDash val="solid"/>
          </a:ln>
        </p:spPr>
      </p:sp>
      <p:sp>
        <p:nvSpPr>
          <p:cNvPr id="26" name="Shape 24"/>
          <p:cNvSpPr/>
          <p:nvPr/>
        </p:nvSpPr>
        <p:spPr>
          <a:xfrm>
            <a:off x="8135925" y="2043684"/>
            <a:ext cx="3077362" cy="38100"/>
          </a:xfrm>
          <a:prstGeom prst="rect">
            <a:avLst/>
          </a:prstGeom>
          <a:solidFill>
            <a:srgbClr val="B0472A"/>
          </a:solidFill>
          <a:ln w="12700">
            <a:solidFill>
              <a:srgbClr val="B0472A"/>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30" name="Shape 28"/>
          <p:cNvSpPr/>
          <p:nvPr/>
        </p:nvSpPr>
        <p:spPr>
          <a:xfrm>
            <a:off x="1295400" y="5888736"/>
            <a:ext cx="9981895" cy="0"/>
          </a:xfrm>
          <a:prstGeom prst="line">
            <a:avLst/>
          </a:prstGeom>
          <a:noFill/>
          <a:ln w="12700">
            <a:solidFill>
              <a:srgbClr val="E2E7F0"/>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E2E7F0"/>
            </a:solidFill>
            <a:prstDash val="solid"/>
          </a:ln>
        </p:spPr>
      </p:sp>
      <p:sp>
        <p:nvSpPr>
          <p:cNvPr id="18" name="Shape 16"/>
          <p:cNvSpPr/>
          <p:nvPr/>
        </p:nvSpPr>
        <p:spPr>
          <a:xfrm>
            <a:off x="1359408" y="1860804"/>
            <a:ext cx="9853879" cy="38100"/>
          </a:xfrm>
          <a:prstGeom prst="rect">
            <a:avLst/>
          </a:prstGeom>
          <a:solidFill>
            <a:srgbClr val="B0472A"/>
          </a:solidFill>
          <a:ln w="12700">
            <a:solidFill>
              <a:srgbClr val="B0472A"/>
            </a:solidFill>
            <a:prstDash val="solid"/>
          </a:ln>
        </p:spPr>
      </p:sp>
      <p:sp>
        <p:nvSpPr>
          <p:cNvPr id="19" name="Shape 17"/>
          <p:cNvSpPr/>
          <p:nvPr/>
        </p:nvSpPr>
        <p:spPr>
          <a:xfrm>
            <a:off x="1551432" y="2080260"/>
            <a:ext cx="9469831" cy="0"/>
          </a:xfrm>
          <a:prstGeom prst="line">
            <a:avLst/>
          </a:prstGeom>
          <a:noFill/>
          <a:ln w="12700">
            <a:solidFill>
              <a:srgbClr val="E2E7F0"/>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E2E7F0"/>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E2E7F0"/>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E2E7F0"/>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B0472A"/>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E2E7F0"/>
            </a:solidFill>
            <a:prstDash val="solid"/>
          </a:ln>
        </p:spPr>
      </p:sp>
      <p:sp>
        <p:nvSpPr>
          <p:cNvPr id="19" name="Shape 17"/>
          <p:cNvSpPr/>
          <p:nvPr/>
        </p:nvSpPr>
        <p:spPr>
          <a:xfrm>
            <a:off x="1359408" y="2226564"/>
            <a:ext cx="4771492" cy="38100"/>
          </a:xfrm>
          <a:prstGeom prst="rect">
            <a:avLst/>
          </a:prstGeom>
          <a:solidFill>
            <a:srgbClr val="33414F"/>
          </a:solidFill>
          <a:ln w="12700">
            <a:solidFill>
              <a:srgbClr val="33414F"/>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E2E7F0"/>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E2E7F0"/>
            </a:solidFill>
            <a:prstDash val="solid"/>
          </a:ln>
        </p:spPr>
      </p:sp>
      <p:sp>
        <p:nvSpPr>
          <p:cNvPr id="25" name="Shape 23"/>
          <p:cNvSpPr/>
          <p:nvPr/>
        </p:nvSpPr>
        <p:spPr>
          <a:xfrm>
            <a:off x="6441796" y="2226564"/>
            <a:ext cx="4771492" cy="38100"/>
          </a:xfrm>
          <a:prstGeom prst="rect">
            <a:avLst/>
          </a:prstGeom>
          <a:solidFill>
            <a:srgbClr val="C9714C"/>
          </a:solidFill>
          <a:ln w="12700">
            <a:solidFill>
              <a:srgbClr val="C9714C"/>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E2E7F0"/>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E2E7F0"/>
            </a:solidFill>
            <a:prstDash val="solid"/>
          </a:ln>
        </p:spPr>
      </p:sp>
      <p:sp>
        <p:nvSpPr>
          <p:cNvPr id="31" name="Shape 29"/>
          <p:cNvSpPr/>
          <p:nvPr/>
        </p:nvSpPr>
        <p:spPr>
          <a:xfrm>
            <a:off x="1359408" y="3689604"/>
            <a:ext cx="4771492" cy="38100"/>
          </a:xfrm>
          <a:prstGeom prst="rect">
            <a:avLst/>
          </a:prstGeom>
          <a:solidFill>
            <a:srgbClr val="C9714C"/>
          </a:solidFill>
          <a:ln w="12700">
            <a:solidFill>
              <a:srgbClr val="C9714C"/>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E2E7F0"/>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E2E7F0"/>
            </a:solidFill>
            <a:prstDash val="solid"/>
          </a:ln>
        </p:spPr>
      </p:sp>
      <p:sp>
        <p:nvSpPr>
          <p:cNvPr id="37" name="Shape 35"/>
          <p:cNvSpPr/>
          <p:nvPr/>
        </p:nvSpPr>
        <p:spPr>
          <a:xfrm>
            <a:off x="6441796" y="3689604"/>
            <a:ext cx="4771492" cy="38100"/>
          </a:xfrm>
          <a:prstGeom prst="rect">
            <a:avLst/>
          </a:prstGeom>
          <a:solidFill>
            <a:srgbClr val="33414F"/>
          </a:solidFill>
          <a:ln w="12700">
            <a:solidFill>
              <a:srgbClr val="33414F"/>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1A2029"/>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E2E7F0"/>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产出　</a:t>
            </a:r>
            <a:pPr indent="0" marL="0">
              <a:buNone/>
            </a:pPr>
            <a:r>
              <a:rPr lang="en-US" sz="1000" dirty="0">
                <a:solidFill>
                  <a:srgbClr val="5B6470"/>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E2E7F0"/>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66725" y="2683669"/>
            <a:ext cx="133350" cy="133350"/>
          </a:xfrm>
          <a:prstGeom prst="ellipse">
            <a:avLst/>
          </a:prstGeom>
          <a:solidFill>
            <a:srgbClr val="B0472A"/>
          </a:solidFill>
          <a:ln w="25400">
            <a:solidFill>
              <a:srgbClr val="B0472A"/>
            </a:solidFill>
            <a:prstDash val="solid"/>
          </a:ln>
        </p:spPr>
      </p:sp>
      <p:sp>
        <p:nvSpPr>
          <p:cNvPr id="7" name="Shape 5"/>
          <p:cNvSpPr/>
          <p:nvPr/>
        </p:nvSpPr>
        <p:spPr>
          <a:xfrm>
            <a:off x="485775" y="3314700"/>
            <a:ext cx="95250" cy="95250"/>
          </a:xfrm>
          <a:prstGeom prst="ellipse">
            <a:avLst/>
          </a:prstGeom>
          <a:solidFill>
            <a:srgbClr val="FFFFFF"/>
          </a:solidFill>
          <a:ln w="25400">
            <a:solidFill>
              <a:srgbClr val="E2E7F0"/>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7" name="Text 15"/>
          <p:cNvSpPr/>
          <p:nvPr/>
        </p:nvSpPr>
        <p:spPr>
          <a:xfrm>
            <a:off x="1295400" y="1805940"/>
            <a:ext cx="9981895" cy="457200"/>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四项用途中前三项的指令原文，可直接照抄，也可按自己的任务改写。第四项数据作图只需交出数据并说明所需图型，无须另写。三条的共同点是把要求写死：留给工具自由发挥的余地越小，返回的初稿越可用。</a:t>
            </a:r>
            <a:endParaRPr lang="en-US" sz="1150" dirty="0"/>
          </a:p>
        </p:txBody>
      </p:sp>
      <p:sp>
        <p:nvSpPr>
          <p:cNvPr id="18" name="Shape 16"/>
          <p:cNvSpPr/>
          <p:nvPr/>
        </p:nvSpPr>
        <p:spPr>
          <a:xfrm>
            <a:off x="1295400" y="2427732"/>
            <a:ext cx="9981895" cy="822960"/>
          </a:xfrm>
          <a:prstGeom prst="roundRect">
            <a:avLst>
              <a:gd name="adj" fmla="val 8889"/>
            </a:avLst>
          </a:prstGeom>
          <a:solidFill>
            <a:srgbClr val="FFFFFF"/>
          </a:solidFill>
          <a:ln w="12700">
            <a:solidFill>
              <a:srgbClr val="E2E7F0"/>
            </a:solidFill>
            <a:prstDash val="solid"/>
          </a:ln>
        </p:spPr>
      </p:sp>
      <p:sp>
        <p:nvSpPr>
          <p:cNvPr id="19" name="Shape 17"/>
          <p:cNvSpPr/>
          <p:nvPr/>
        </p:nvSpPr>
        <p:spPr>
          <a:xfrm>
            <a:off x="1295400" y="2473452"/>
            <a:ext cx="38100" cy="731520"/>
          </a:xfrm>
          <a:prstGeom prst="rect">
            <a:avLst/>
          </a:prstGeom>
          <a:solidFill>
            <a:srgbClr val="B0472A"/>
          </a:solidFill>
          <a:ln w="12700">
            <a:solidFill>
              <a:srgbClr val="B0472A"/>
            </a:solidFill>
            <a:prstDash val="solid"/>
          </a:ln>
        </p:spPr>
      </p:sp>
      <p:sp>
        <p:nvSpPr>
          <p:cNvPr id="20" name="Text 18"/>
          <p:cNvSpPr/>
          <p:nvPr/>
        </p:nvSpPr>
        <p:spPr>
          <a:xfrm>
            <a:off x="1533144" y="2583180"/>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量规初稿</a:t>
            </a:r>
            <a:endParaRPr lang="en-US" sz="1150" dirty="0"/>
          </a:p>
        </p:txBody>
      </p:sp>
      <p:sp>
        <p:nvSpPr>
          <p:cNvPr id="21" name="Text 19"/>
          <p:cNvSpPr/>
          <p:nvPr/>
        </p:nvSpPr>
        <p:spPr>
          <a:xfrm>
            <a:off x="2795016" y="255574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请为这四个维度各写一张四级量规，每一级用学生做得出来的行为来描述，不要使用较好、优秀这类词。</a:t>
            </a:r>
            <a:endParaRPr lang="en-US" sz="1200" dirty="0"/>
          </a:p>
        </p:txBody>
      </p:sp>
      <p:sp>
        <p:nvSpPr>
          <p:cNvPr id="22" name="Shape 20"/>
          <p:cNvSpPr/>
          <p:nvPr/>
        </p:nvSpPr>
        <p:spPr>
          <a:xfrm>
            <a:off x="1295400" y="3378708"/>
            <a:ext cx="9981895" cy="822960"/>
          </a:xfrm>
          <a:prstGeom prst="roundRect">
            <a:avLst>
              <a:gd name="adj" fmla="val 8889"/>
            </a:avLst>
          </a:prstGeom>
          <a:solidFill>
            <a:srgbClr val="FFFFFF"/>
          </a:solidFill>
          <a:ln w="12700">
            <a:solidFill>
              <a:srgbClr val="E2E7F0"/>
            </a:solidFill>
            <a:prstDash val="solid"/>
          </a:ln>
        </p:spPr>
      </p:sp>
      <p:sp>
        <p:nvSpPr>
          <p:cNvPr id="23" name="Shape 21"/>
          <p:cNvSpPr/>
          <p:nvPr/>
        </p:nvSpPr>
        <p:spPr>
          <a:xfrm>
            <a:off x="1295400" y="3424428"/>
            <a:ext cx="38100" cy="731520"/>
          </a:xfrm>
          <a:prstGeom prst="rect">
            <a:avLst/>
          </a:prstGeom>
          <a:solidFill>
            <a:srgbClr val="B0472A"/>
          </a:solidFill>
          <a:ln w="12700">
            <a:solidFill>
              <a:srgbClr val="B0472A"/>
            </a:solidFill>
            <a:prstDash val="solid"/>
          </a:ln>
        </p:spPr>
      </p:sp>
      <p:sp>
        <p:nvSpPr>
          <p:cNvPr id="24" name="Text 22"/>
          <p:cNvSpPr/>
          <p:nvPr/>
        </p:nvSpPr>
        <p:spPr>
          <a:xfrm>
            <a:off x="1533144" y="3534156"/>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三档任务单</a:t>
            </a:r>
            <a:endParaRPr lang="en-US" sz="1150" dirty="0"/>
          </a:p>
        </p:txBody>
      </p:sp>
      <p:sp>
        <p:nvSpPr>
          <p:cNvPr id="25" name="Text 23"/>
          <p:cNvSpPr/>
          <p:nvPr/>
        </p:nvSpPr>
        <p:spPr>
          <a:xfrm>
            <a:off x="2795016" y="350672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同一项任务，请写三份任务单。基础档只要求完成规定步骤，常规档要求学生自主设计一个变量，拓展档要求增加一次测试与改进。每份不超过二百字。</a:t>
            </a:r>
            <a:endParaRPr lang="en-US" sz="1200" dirty="0"/>
          </a:p>
        </p:txBody>
      </p:sp>
      <p:sp>
        <p:nvSpPr>
          <p:cNvPr id="26" name="Shape 24"/>
          <p:cNvSpPr/>
          <p:nvPr/>
        </p:nvSpPr>
        <p:spPr>
          <a:xfrm>
            <a:off x="1295400" y="4329684"/>
            <a:ext cx="9981895" cy="822960"/>
          </a:xfrm>
          <a:prstGeom prst="roundRect">
            <a:avLst>
              <a:gd name="adj" fmla="val 8889"/>
            </a:avLst>
          </a:prstGeom>
          <a:solidFill>
            <a:srgbClr val="FFFFFF"/>
          </a:solidFill>
          <a:ln w="12700">
            <a:solidFill>
              <a:srgbClr val="E2E7F0"/>
            </a:solidFill>
            <a:prstDash val="solid"/>
          </a:ln>
        </p:spPr>
      </p:sp>
      <p:sp>
        <p:nvSpPr>
          <p:cNvPr id="27" name="Shape 25"/>
          <p:cNvSpPr/>
          <p:nvPr/>
        </p:nvSpPr>
        <p:spPr>
          <a:xfrm>
            <a:off x="1295400" y="4375404"/>
            <a:ext cx="38100" cy="731520"/>
          </a:xfrm>
          <a:prstGeom prst="rect">
            <a:avLst/>
          </a:prstGeom>
          <a:solidFill>
            <a:srgbClr val="B0472A"/>
          </a:solidFill>
          <a:ln w="12700">
            <a:solidFill>
              <a:srgbClr val="B0472A"/>
            </a:solidFill>
            <a:prstDash val="solid"/>
          </a:ln>
        </p:spPr>
      </p:sp>
      <p:sp>
        <p:nvSpPr>
          <p:cNvPr id="28" name="Text 26"/>
          <p:cNvSpPr/>
          <p:nvPr/>
        </p:nvSpPr>
        <p:spPr>
          <a:xfrm>
            <a:off x="1533144" y="4485132"/>
            <a:ext cx="1060704" cy="2560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写实记录整理</a:t>
            </a:r>
            <a:endParaRPr lang="en-US" sz="1150" dirty="0"/>
          </a:p>
        </p:txBody>
      </p:sp>
      <p:sp>
        <p:nvSpPr>
          <p:cNvPr id="29" name="Text 27"/>
          <p:cNvSpPr/>
          <p:nvPr/>
        </p:nvSpPr>
        <p:spPr>
          <a:xfrm>
            <a:off x="2795016" y="4457700"/>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以下是一名学生一学期的过程记录，该生以代号 A3 表示。请归并为综合素质评价写实记录的条目，每条包含时间、活动名称与该生的具体行为，不要出现评价性形容词。</a:t>
            </a:r>
            <a:endParaRPr lang="en-US" sz="1200" dirty="0"/>
          </a:p>
        </p:txBody>
      </p:sp>
      <p:sp>
        <p:nvSpPr>
          <p:cNvPr id="30" name="Shape 28"/>
          <p:cNvSpPr/>
          <p:nvPr/>
        </p:nvSpPr>
        <p:spPr>
          <a:xfrm>
            <a:off x="1295400" y="5888736"/>
            <a:ext cx="9981895" cy="0"/>
          </a:xfrm>
          <a:prstGeom prst="line">
            <a:avLst/>
          </a:prstGeom>
          <a:noFill/>
          <a:ln w="12700">
            <a:solidFill>
              <a:srgbClr val="E2E7F0"/>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第三条使用前须先把姓名与学号替换为代号。三条返回的都是初稿，教师修改后才能使用。</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判据</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A2029"/>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7"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1A2029"/>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B6470"/>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66725" y="3295650"/>
            <a:ext cx="133350" cy="133350"/>
          </a:xfrm>
          <a:prstGeom prst="ellipse">
            <a:avLst/>
          </a:prstGeom>
          <a:solidFill>
            <a:srgbClr val="B0472A"/>
          </a:solidFill>
          <a:ln w="25400">
            <a:solidFill>
              <a:srgbClr val="B0472A"/>
            </a:solidFill>
            <a:prstDash val="solid"/>
          </a:ln>
        </p:spPr>
      </p:sp>
      <p:sp>
        <p:nvSpPr>
          <p:cNvPr id="8" name="Shape 6"/>
          <p:cNvSpPr/>
          <p:nvPr/>
        </p:nvSpPr>
        <p:spPr>
          <a:xfrm>
            <a:off x="485775" y="3926681"/>
            <a:ext cx="95250" cy="95250"/>
          </a:xfrm>
          <a:prstGeom prst="ellipse">
            <a:avLst/>
          </a:prstGeom>
          <a:solidFill>
            <a:srgbClr val="FFFFFF"/>
          </a:solidFill>
          <a:ln w="25400">
            <a:solidFill>
              <a:srgbClr val="E2E7F0"/>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E2E7F0"/>
            </a:solidFill>
            <a:prstDash val="solid"/>
          </a:ln>
        </p:spPr>
      </p:sp>
      <p:sp>
        <p:nvSpPr>
          <p:cNvPr id="19" name="Shape 17"/>
          <p:cNvSpPr/>
          <p:nvPr/>
        </p:nvSpPr>
        <p:spPr>
          <a:xfrm>
            <a:off x="1359408" y="2281428"/>
            <a:ext cx="3077362" cy="38100"/>
          </a:xfrm>
          <a:prstGeom prst="rect">
            <a:avLst/>
          </a:prstGeom>
          <a:solidFill>
            <a:srgbClr val="33414F"/>
          </a:solidFill>
          <a:ln w="12700">
            <a:solidFill>
              <a:srgbClr val="33414F"/>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E2E7F0"/>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E2E7F0"/>
            </a:solidFill>
            <a:prstDash val="solid"/>
          </a:ln>
        </p:spPr>
      </p:sp>
      <p:sp>
        <p:nvSpPr>
          <p:cNvPr id="26" name="Shape 24"/>
          <p:cNvSpPr/>
          <p:nvPr/>
        </p:nvSpPr>
        <p:spPr>
          <a:xfrm>
            <a:off x="4747666" y="2281428"/>
            <a:ext cx="3077362" cy="38100"/>
          </a:xfrm>
          <a:prstGeom prst="rect">
            <a:avLst/>
          </a:prstGeom>
          <a:solidFill>
            <a:srgbClr val="33414F"/>
          </a:solidFill>
          <a:ln w="12700">
            <a:solidFill>
              <a:srgbClr val="33414F"/>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9" name="Shape 27"/>
          <p:cNvSpPr/>
          <p:nvPr/>
        </p:nvSpPr>
        <p:spPr>
          <a:xfrm>
            <a:off x="4866538" y="3616452"/>
            <a:ext cx="2839618" cy="0"/>
          </a:xfrm>
          <a:prstGeom prst="line">
            <a:avLst/>
          </a:prstGeom>
          <a:noFill/>
          <a:ln w="12700">
            <a:solidFill>
              <a:srgbClr val="E2E7F0"/>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E2E7F0"/>
            </a:solidFill>
            <a:prstDash val="solid"/>
          </a:ln>
        </p:spPr>
      </p:sp>
      <p:sp>
        <p:nvSpPr>
          <p:cNvPr id="33" name="Shape 31"/>
          <p:cNvSpPr/>
          <p:nvPr/>
        </p:nvSpPr>
        <p:spPr>
          <a:xfrm>
            <a:off x="8135925" y="2281428"/>
            <a:ext cx="3077362" cy="38100"/>
          </a:xfrm>
          <a:prstGeom prst="rect">
            <a:avLst/>
          </a:prstGeom>
          <a:solidFill>
            <a:srgbClr val="33414F"/>
          </a:solidFill>
          <a:ln w="12700">
            <a:solidFill>
              <a:srgbClr val="33414F"/>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F1B2D"/>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1A2029"/>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E2E7F0"/>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B0472A"/>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33414F"/>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B6470"/>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E2E7F0"/>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E2E7F0"/>
            </a:solidFill>
            <a:prstDash val="solid"/>
          </a:ln>
        </p:spPr>
      </p:sp>
      <p:sp>
        <p:nvSpPr>
          <p:cNvPr id="18" name="Shape 16"/>
          <p:cNvSpPr/>
          <p:nvPr/>
        </p:nvSpPr>
        <p:spPr>
          <a:xfrm>
            <a:off x="1359408" y="186080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E2E7F0"/>
            </a:solidFill>
            <a:prstDash val="solid"/>
          </a:ln>
        </p:spPr>
      </p:sp>
      <p:sp>
        <p:nvSpPr>
          <p:cNvPr id="24" name="Shape 22"/>
          <p:cNvSpPr/>
          <p:nvPr/>
        </p:nvSpPr>
        <p:spPr>
          <a:xfrm>
            <a:off x="6460084" y="186080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F1B2D"/>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B6470"/>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28" name="Shape 26"/>
          <p:cNvSpPr/>
          <p:nvPr/>
        </p:nvSpPr>
        <p:spPr>
          <a:xfrm>
            <a:off x="1295400" y="5376672"/>
            <a:ext cx="9981895" cy="0"/>
          </a:xfrm>
          <a:prstGeom prst="line">
            <a:avLst/>
          </a:prstGeom>
          <a:noFill/>
          <a:ln w="12700">
            <a:solidFill>
              <a:srgbClr val="E2E7F0"/>
            </a:solidFill>
            <a:prstDash val="solid"/>
          </a:ln>
        </p:spPr>
      </p:sp>
      <p:sp>
        <p:nvSpPr>
          <p:cNvPr id="29" name="Text 27"/>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配套动作</a:t>
            </a:r>
            <a:endParaRPr lang="en-US" sz="950" dirty="0"/>
          </a:p>
        </p:txBody>
      </p:sp>
      <p:sp>
        <p:nvSpPr>
          <p:cNvPr id="30" name="Text 28"/>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设置问题墙。学生一周内提交三个真实困扰，教师从中选取一个打磨为驱动性问题。本环节不使用 AI。</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28" name="Shape 26"/>
          <p:cNvSpPr/>
          <p:nvPr/>
        </p:nvSpPr>
        <p:spPr>
          <a:xfrm>
            <a:off x="1295400" y="5376672"/>
            <a:ext cx="9981895" cy="0"/>
          </a:xfrm>
          <a:prstGeom prst="line">
            <a:avLst/>
          </a:prstGeom>
          <a:noFill/>
          <a:ln w="12700">
            <a:solidFill>
              <a:srgbClr val="E2E7F0"/>
            </a:solidFill>
            <a:prstDash val="solid"/>
          </a:ln>
        </p:spPr>
      </p:sp>
      <p:sp>
        <p:nvSpPr>
          <p:cNvPr id="29" name="Text 27"/>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半收的依据</a:t>
            </a:r>
            <a:endParaRPr lang="en-US" sz="950" dirty="0"/>
          </a:p>
        </p:txBody>
      </p:sp>
      <p:sp>
        <p:nvSpPr>
          <p:cNvPr id="30" name="Text 28"/>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一次完整的交互</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E2E7F0"/>
            </a:solidFill>
            <a:prstDash val="solid"/>
          </a:ln>
        </p:spPr>
      </p:sp>
      <p:sp>
        <p:nvSpPr>
          <p:cNvPr id="19" name="Shape 17"/>
          <p:cNvSpPr/>
          <p:nvPr/>
        </p:nvSpPr>
        <p:spPr>
          <a:xfrm>
            <a:off x="1295400" y="2272284"/>
            <a:ext cx="38100" cy="694944"/>
          </a:xfrm>
          <a:prstGeom prst="rect">
            <a:avLst/>
          </a:prstGeom>
          <a:solidFill>
            <a:srgbClr val="33414F"/>
          </a:solidFill>
          <a:ln w="12700">
            <a:solidFill>
              <a:srgbClr val="33414F"/>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5F7FB"/>
          </a:solidFill>
          <a:ln w="12700">
            <a:solidFill>
              <a:srgbClr val="E2E7F0"/>
            </a:solidFill>
            <a:prstDash val="solid"/>
          </a:ln>
        </p:spPr>
      </p:sp>
      <p:sp>
        <p:nvSpPr>
          <p:cNvPr id="23" name="Shape 21"/>
          <p:cNvSpPr/>
          <p:nvPr/>
        </p:nvSpPr>
        <p:spPr>
          <a:xfrm>
            <a:off x="1295400" y="3186684"/>
            <a:ext cx="38100" cy="804672"/>
          </a:xfrm>
          <a:prstGeom prst="rect">
            <a:avLst/>
          </a:prstGeom>
          <a:solidFill>
            <a:srgbClr val="C9714C"/>
          </a:solidFill>
          <a:ln w="12700">
            <a:solidFill>
              <a:srgbClr val="C9714C"/>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9714C"/>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8409127" cy="676656"/>
          </a:xfrm>
          <a:prstGeom prst="rect">
            <a:avLst/>
          </a:prstGeom>
          <a:noFill/>
          <a:ln/>
        </p:spPr>
        <p:txBody>
          <a:bodyPr wrap="square" lIns="0" tIns="0" rIns="0" bIns="0" rtlCol="0" anchor="t"/>
          <a:lstStyle/>
          <a:p>
            <a:pPr indent="0" marL="0">
              <a:lnSpc>
                <a:spcPct val="145000"/>
              </a:lnSpc>
              <a:buNone/>
            </a:pPr>
            <a:r>
              <a:rPr lang="en-US" sz="1250" dirty="0">
                <a:solidFill>
                  <a:srgbClr val="5B6470"/>
                </a:solidFill>
                <a:latin typeface="Microsoft YaHei" pitchFamily="34" charset="0"/>
                <a:ea typeface="Microsoft YaHei" pitchFamily="34" charset="-122"/>
                <a:cs typeface="Microsoft YaHei" pitchFamily="34" charset="-120"/>
              </a:rPr>
              <a:t>一、未说明透镜与卡纸之间的距离是否固定。二、未说明使用哪一种透镜，不同度数的结果不同。三、未说明「清不清楚」由谁判断、按什么标准判断。</a:t>
            </a:r>
            <a:endParaRPr lang="en-US" sz="1250" dirty="0"/>
          </a:p>
        </p:txBody>
      </p:sp>
      <p:sp>
        <p:nvSpPr>
          <p:cNvPr id="26" name="Shape 24"/>
          <p:cNvSpPr/>
          <p:nvPr/>
        </p:nvSpPr>
        <p:spPr>
          <a:xfrm>
            <a:off x="1295400" y="4165092"/>
            <a:ext cx="9981895" cy="786384"/>
          </a:xfrm>
          <a:prstGeom prst="roundRect">
            <a:avLst>
              <a:gd name="adj" fmla="val 9302"/>
            </a:avLst>
          </a:prstGeom>
          <a:solidFill>
            <a:srgbClr val="FBF1EC"/>
          </a:solidFill>
          <a:ln w="12700">
            <a:solidFill>
              <a:srgbClr val="D9A98F"/>
            </a:solidFill>
            <a:prstDash val="solid"/>
          </a:ln>
        </p:spPr>
      </p:sp>
      <p:sp>
        <p:nvSpPr>
          <p:cNvPr id="27" name="Shape 25"/>
          <p:cNvSpPr/>
          <p:nvPr/>
        </p:nvSpPr>
        <p:spPr>
          <a:xfrm>
            <a:off x="1295400" y="4210812"/>
            <a:ext cx="38100" cy="694944"/>
          </a:xfrm>
          <a:prstGeom prst="rect">
            <a:avLst/>
          </a:prstGeom>
          <a:solidFill>
            <a:srgbClr val="B0472A"/>
          </a:solidFill>
          <a:ln w="12700">
            <a:solidFill>
              <a:srgbClr val="B0472A"/>
            </a:solidFill>
            <a:prstDash val="solid"/>
          </a:ln>
        </p:spPr>
      </p:sp>
      <p:sp>
        <p:nvSpPr>
          <p:cNvPr id="28" name="Text 26"/>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教师的判断</a:t>
            </a:r>
            <a:endParaRPr lang="en-US" sz="1000" dirty="0"/>
          </a:p>
        </p:txBody>
      </p:sp>
      <p:sp>
        <p:nvSpPr>
          <p:cNvPr id="29" name="Text 27"/>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1A2029"/>
                </a:solidFill>
                <a:latin typeface="Microsoft YaHei" pitchFamily="34" charset="0"/>
                <a:ea typeface="Microsoft YaHei" pitchFamily="34" charset="-122"/>
                <a:cs typeface="Microsoft YaHei" pitchFamily="34" charset="-120"/>
              </a:rPr>
              <a:t>第一条与第三条采纳，交给学生自己补充。第二条不采纳：五年级实验箱里只有一种透镜，提出来会把任务复杂化，超出该学段的方案要求。</a:t>
            </a:r>
            <a:endParaRPr lang="en-US" sz="1250" dirty="0"/>
          </a:p>
        </p:txBody>
      </p:sp>
      <p:sp>
        <p:nvSpPr>
          <p:cNvPr id="30" name="Shape 28"/>
          <p:cNvSpPr/>
          <p:nvPr/>
        </p:nvSpPr>
        <p:spPr>
          <a:xfrm>
            <a:off x="1295400" y="5888736"/>
            <a:ext cx="9981895" cy="0"/>
          </a:xfrm>
          <a:prstGeom prst="line">
            <a:avLst/>
          </a:prstGeom>
          <a:noFill/>
          <a:ln w="12700">
            <a:solidFill>
              <a:srgbClr val="E2E7F0"/>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956816" cy="329184"/>
          </a:xfrm>
          <a:prstGeom prst="roundRect">
            <a:avLst>
              <a:gd name="adj" fmla="val 50000"/>
            </a:avLst>
          </a:prstGeom>
          <a:solidFill>
            <a:srgbClr val="C9714C"/>
          </a:solidFill>
          <a:ln w="12700">
            <a:solidFill>
              <a:srgbClr val="C9714C"/>
            </a:solidFill>
            <a:prstDash val="solid"/>
          </a:ln>
        </p:spPr>
      </p:sp>
      <p:sp>
        <p:nvSpPr>
          <p:cNvPr id="18" name="Text 16"/>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原始数据须由学生自行测量或调查获得。数据整理、作图与异常值标注可借助 AI。</a:t>
            </a:r>
            <a:endParaRPr lang="en-US" sz="1800" dirty="0"/>
          </a:p>
        </p:txBody>
      </p:sp>
      <p:sp>
        <p:nvSpPr>
          <p:cNvPr id="28" name="Shape 26"/>
          <p:cNvSpPr/>
          <p:nvPr/>
        </p:nvSpPr>
        <p:spPr>
          <a:xfrm>
            <a:off x="1295400" y="5321808"/>
            <a:ext cx="9981895" cy="932688"/>
          </a:xfrm>
          <a:prstGeom prst="roundRect">
            <a:avLst>
              <a:gd name="adj" fmla="val 7843"/>
            </a:avLst>
          </a:prstGeom>
          <a:solidFill>
            <a:srgbClr val="FBF1EC"/>
          </a:solidFill>
          <a:ln w="12700">
            <a:solidFill>
              <a:srgbClr val="FBF1EC"/>
            </a:solidFill>
            <a:prstDash val="solid"/>
          </a:ln>
        </p:spPr>
      </p:sp>
      <p:sp>
        <p:nvSpPr>
          <p:cNvPr id="29" name="Text 27"/>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B0472A"/>
                </a:solidFill>
                <a:latin typeface="Microsoft YaHei" pitchFamily="34" charset="0"/>
                <a:ea typeface="Microsoft YaHei" pitchFamily="34" charset="-122"/>
                <a:cs typeface="Microsoft YaHei" pitchFamily="34" charset="-120"/>
              </a:rPr>
              <a:t>数据红线</a:t>
            </a:r>
            <a:endParaRPr lang="en-US" sz="950" dirty="0"/>
          </a:p>
        </p:txBody>
      </p:sp>
      <p:sp>
        <p:nvSpPr>
          <p:cNvPr id="30" name="Text 28"/>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oundRect">
            <a:avLst>
              <a:gd name="adj" fmla="val 50000"/>
            </a:avLst>
          </a:prstGeom>
          <a:solidFill>
            <a:srgbClr val="99341A"/>
          </a:solidFill>
          <a:ln w="12700">
            <a:solidFill>
              <a:srgbClr val="99341A"/>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28" name="Shape 26"/>
          <p:cNvSpPr/>
          <p:nvPr/>
        </p:nvSpPr>
        <p:spPr>
          <a:xfrm>
            <a:off x="1295400" y="5376672"/>
            <a:ext cx="9981895" cy="0"/>
          </a:xfrm>
          <a:prstGeom prst="line">
            <a:avLst/>
          </a:prstGeom>
          <a:noFill/>
          <a:ln w="12700">
            <a:solidFill>
              <a:srgbClr val="E2E7F0"/>
            </a:solidFill>
            <a:prstDash val="solid"/>
          </a:ln>
        </p:spPr>
      </p:sp>
      <p:sp>
        <p:nvSpPr>
          <p:cNvPr id="29" name="Text 27"/>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0" name="Text 28"/>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oundRect">
            <a:avLst>
              <a:gd name="adj" fmla="val 50000"/>
            </a:avLst>
          </a:prstGeom>
          <a:solidFill>
            <a:srgbClr val="EBC4B2"/>
          </a:solidFill>
          <a:ln w="12700">
            <a:solidFill>
              <a:srgbClr val="D9A98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1A2029"/>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28" name="Shape 26"/>
          <p:cNvSpPr/>
          <p:nvPr/>
        </p:nvSpPr>
        <p:spPr>
          <a:xfrm>
            <a:off x="1295400" y="5376672"/>
            <a:ext cx="9981895" cy="0"/>
          </a:xfrm>
          <a:prstGeom prst="line">
            <a:avLst/>
          </a:prstGeom>
          <a:noFill/>
          <a:ln w="12700">
            <a:solidFill>
              <a:srgbClr val="E2E7F0"/>
            </a:solidFill>
            <a:prstDash val="solid"/>
          </a:ln>
        </p:spPr>
      </p:sp>
      <p:sp>
        <p:nvSpPr>
          <p:cNvPr id="29" name="Text 27"/>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迭代要求</a:t>
            </a:r>
            <a:endParaRPr lang="en-US" sz="950" dirty="0"/>
          </a:p>
        </p:txBody>
      </p:sp>
      <p:sp>
        <p:nvSpPr>
          <p:cNvPr id="30" name="Text 28"/>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oundRect">
            <a:avLst>
              <a:gd name="adj" fmla="val 50000"/>
            </a:avLst>
          </a:prstGeom>
          <a:solidFill>
            <a:srgbClr val="FFFFFF"/>
          </a:solidFill>
          <a:ln w="12700">
            <a:solidFill>
              <a:srgbClr val="D9A98F"/>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B6470"/>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1295400" y="1920240"/>
            <a:ext cx="4881220" cy="932688"/>
          </a:xfrm>
          <a:prstGeom prst="roundRect">
            <a:avLst>
              <a:gd name="adj" fmla="val 7843"/>
            </a:avLst>
          </a:prstGeom>
          <a:solidFill>
            <a:srgbClr val="FFFFFF"/>
          </a:solidFill>
          <a:ln w="12700">
            <a:solidFill>
              <a:srgbClr val="E2E7F0"/>
            </a:solidFill>
            <a:prstDash val="solid"/>
          </a:ln>
        </p:spPr>
      </p:sp>
      <p:sp>
        <p:nvSpPr>
          <p:cNvPr id="20" name="Shape 18"/>
          <p:cNvSpPr/>
          <p:nvPr/>
        </p:nvSpPr>
        <p:spPr>
          <a:xfrm>
            <a:off x="1295400" y="1975104"/>
            <a:ext cx="38100" cy="822960"/>
          </a:xfrm>
          <a:prstGeom prst="rect">
            <a:avLst/>
          </a:prstGeom>
          <a:solidFill>
            <a:srgbClr val="33414F"/>
          </a:solidFill>
          <a:ln w="12700">
            <a:solidFill>
              <a:srgbClr val="33414F"/>
            </a:solidFill>
            <a:prstDash val="solid"/>
          </a:ln>
        </p:spPr>
      </p:sp>
      <p:sp>
        <p:nvSpPr>
          <p:cNvPr id="21" name="Text 19"/>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科学护眼</a:t>
            </a:r>
            <a:endParaRPr lang="en-US" sz="950" dirty="0"/>
          </a:p>
        </p:txBody>
      </p:sp>
      <p:sp>
        <p:nvSpPr>
          <p:cNvPr id="22" name="Text 20"/>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23" name="Shape 21"/>
          <p:cNvSpPr/>
          <p:nvPr/>
        </p:nvSpPr>
        <p:spPr>
          <a:xfrm>
            <a:off x="6396076" y="1920240"/>
            <a:ext cx="4881220" cy="932688"/>
          </a:xfrm>
          <a:prstGeom prst="roundRect">
            <a:avLst>
              <a:gd name="adj" fmla="val 7843"/>
            </a:avLst>
          </a:prstGeom>
          <a:solidFill>
            <a:srgbClr val="FFFFFF"/>
          </a:solidFill>
          <a:ln w="12700">
            <a:solidFill>
              <a:srgbClr val="E2E7F0"/>
            </a:solidFill>
            <a:prstDash val="solid"/>
          </a:ln>
        </p:spPr>
      </p:sp>
      <p:sp>
        <p:nvSpPr>
          <p:cNvPr id="24" name="Shape 22"/>
          <p:cNvSpPr/>
          <p:nvPr/>
        </p:nvSpPr>
        <p:spPr>
          <a:xfrm>
            <a:off x="6396076" y="1975104"/>
            <a:ext cx="38100" cy="822960"/>
          </a:xfrm>
          <a:prstGeom prst="rect">
            <a:avLst/>
          </a:prstGeom>
          <a:solidFill>
            <a:srgbClr val="C9714C"/>
          </a:solidFill>
          <a:ln w="12700">
            <a:solidFill>
              <a:srgbClr val="C9714C"/>
            </a:solidFill>
            <a:prstDash val="solid"/>
          </a:ln>
        </p:spPr>
      </p:sp>
      <p:sp>
        <p:nvSpPr>
          <p:cNvPr id="25" name="Text 23"/>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健康饮食</a:t>
            </a:r>
            <a:endParaRPr lang="en-US" sz="950" dirty="0"/>
          </a:p>
        </p:txBody>
      </p:sp>
      <p:sp>
        <p:nvSpPr>
          <p:cNvPr id="26" name="Text 24"/>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1A2029"/>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27" name="Text 25"/>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F1B2D"/>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28" name="Shape 26"/>
          <p:cNvSpPr/>
          <p:nvPr/>
        </p:nvSpPr>
        <p:spPr>
          <a:xfrm>
            <a:off x="1295400" y="5376672"/>
            <a:ext cx="9981895" cy="0"/>
          </a:xfrm>
          <a:prstGeom prst="line">
            <a:avLst/>
          </a:prstGeom>
          <a:noFill/>
          <a:ln w="12700">
            <a:solidFill>
              <a:srgbClr val="E2E7F0"/>
            </a:solidFill>
            <a:prstDash val="solid"/>
          </a:ln>
        </p:spPr>
      </p:sp>
      <p:sp>
        <p:nvSpPr>
          <p:cNvPr id="29" name="Text 27"/>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B6470"/>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30" name="Text 28"/>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1A2029"/>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E2E7F0"/>
            </a:solidFill>
            <a:prstDash val="solid"/>
          </a:ln>
        </p:spPr>
      </p:sp>
      <p:sp>
        <p:nvSpPr>
          <p:cNvPr id="18" name="Shape 16"/>
          <p:cNvSpPr/>
          <p:nvPr/>
        </p:nvSpPr>
        <p:spPr>
          <a:xfrm>
            <a:off x="1359408" y="2043684"/>
            <a:ext cx="4753204" cy="38100"/>
          </a:xfrm>
          <a:prstGeom prst="rect">
            <a:avLst/>
          </a:prstGeom>
          <a:solidFill>
            <a:srgbClr val="33414F"/>
          </a:solidFill>
          <a:ln w="12700">
            <a:solidFill>
              <a:srgbClr val="33414F"/>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E2E7F0"/>
            </a:solidFill>
            <a:prstDash val="solid"/>
          </a:ln>
        </p:spPr>
      </p:sp>
      <p:sp>
        <p:nvSpPr>
          <p:cNvPr id="24" name="Shape 22"/>
          <p:cNvSpPr/>
          <p:nvPr/>
        </p:nvSpPr>
        <p:spPr>
          <a:xfrm>
            <a:off x="6460084" y="2043684"/>
            <a:ext cx="4753204" cy="38100"/>
          </a:xfrm>
          <a:prstGeom prst="rect">
            <a:avLst/>
          </a:prstGeom>
          <a:solidFill>
            <a:srgbClr val="C9714C"/>
          </a:solidFill>
          <a:ln w="12700">
            <a:solidFill>
              <a:srgbClr val="C9714C"/>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1A2029"/>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E2E7F0"/>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66725" y="3907631"/>
            <a:ext cx="133350" cy="133350"/>
          </a:xfrm>
          <a:prstGeom prst="ellipse">
            <a:avLst/>
          </a:prstGeom>
          <a:solidFill>
            <a:srgbClr val="B0472A"/>
          </a:solidFill>
          <a:ln w="25400">
            <a:solidFill>
              <a:srgbClr val="B0472A"/>
            </a:solidFill>
            <a:prstDash val="solid"/>
          </a:ln>
        </p:spPr>
      </p:sp>
      <p:sp>
        <p:nvSpPr>
          <p:cNvPr id="9" name="Shape 7"/>
          <p:cNvSpPr/>
          <p:nvPr/>
        </p:nvSpPr>
        <p:spPr>
          <a:xfrm>
            <a:off x="485775" y="4538663"/>
            <a:ext cx="95250" cy="95250"/>
          </a:xfrm>
          <a:prstGeom prst="ellipse">
            <a:avLst/>
          </a:prstGeom>
          <a:solidFill>
            <a:srgbClr val="FFFFFF"/>
          </a:solidFill>
          <a:ln w="25400">
            <a:solidFill>
              <a:srgbClr val="E2E7F0"/>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F1B2D"/>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7" name="Text 15"/>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B6470"/>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1554480">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F1B2D"/>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3" name="Shape 21"/>
          <p:cNvSpPr/>
          <p:nvPr/>
        </p:nvSpPr>
        <p:spPr>
          <a:xfrm>
            <a:off x="1295400" y="5888736"/>
            <a:ext cx="9981895" cy="0"/>
          </a:xfrm>
          <a:prstGeom prst="line">
            <a:avLst/>
          </a:prstGeom>
          <a:noFill/>
          <a:ln w="12700">
            <a:solidFill>
              <a:srgbClr val="E2E7F0"/>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7"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1A2029"/>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7" name="Shape 15"/>
          <p:cNvSpPr/>
          <p:nvPr/>
        </p:nvSpPr>
        <p:spPr>
          <a:xfrm>
            <a:off x="1295400" y="1860804"/>
            <a:ext cx="9981895" cy="512064"/>
          </a:xfrm>
          <a:prstGeom prst="roundRect">
            <a:avLst>
              <a:gd name="adj" fmla="val 12500"/>
            </a:avLst>
          </a:prstGeom>
          <a:solidFill>
            <a:srgbClr val="FFFFFF"/>
          </a:solidFill>
          <a:ln w="12700">
            <a:solidFill>
              <a:srgbClr val="E2E7F0"/>
            </a:solidFill>
            <a:prstDash val="solid"/>
          </a:ln>
        </p:spPr>
      </p:sp>
      <p:sp>
        <p:nvSpPr>
          <p:cNvPr id="18" name="Shape 16"/>
          <p:cNvSpPr/>
          <p:nvPr/>
        </p:nvSpPr>
        <p:spPr>
          <a:xfrm>
            <a:off x="1295400" y="1906524"/>
            <a:ext cx="38100" cy="420624"/>
          </a:xfrm>
          <a:prstGeom prst="rect">
            <a:avLst/>
          </a:prstGeom>
          <a:solidFill>
            <a:srgbClr val="B0472A"/>
          </a:solidFill>
          <a:ln w="12700">
            <a:solidFill>
              <a:srgbClr val="B0472A"/>
            </a:solidFill>
            <a:prstDash val="solid"/>
          </a:ln>
        </p:spPr>
      </p:sp>
      <p:sp>
        <p:nvSpPr>
          <p:cNvPr id="19" name="Text 17"/>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小学阶段</a:t>
            </a:r>
            <a:endParaRPr lang="en-US" sz="1300" dirty="0"/>
          </a:p>
        </p:txBody>
      </p:sp>
      <p:sp>
        <p:nvSpPr>
          <p:cNvPr id="20" name="Text 18"/>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1" name="Shape 19"/>
          <p:cNvSpPr/>
          <p:nvPr/>
        </p:nvSpPr>
        <p:spPr>
          <a:xfrm>
            <a:off x="1295400" y="2464308"/>
            <a:ext cx="9981895" cy="512064"/>
          </a:xfrm>
          <a:prstGeom prst="roundRect">
            <a:avLst>
              <a:gd name="adj" fmla="val 12500"/>
            </a:avLst>
          </a:prstGeom>
          <a:solidFill>
            <a:srgbClr val="FFFFFF"/>
          </a:solidFill>
          <a:ln w="12700">
            <a:solidFill>
              <a:srgbClr val="E2E7F0"/>
            </a:solidFill>
            <a:prstDash val="solid"/>
          </a:ln>
        </p:spPr>
      </p:sp>
      <p:sp>
        <p:nvSpPr>
          <p:cNvPr id="22" name="Shape 20"/>
          <p:cNvSpPr/>
          <p:nvPr/>
        </p:nvSpPr>
        <p:spPr>
          <a:xfrm>
            <a:off x="1295400" y="2510028"/>
            <a:ext cx="38100" cy="420624"/>
          </a:xfrm>
          <a:prstGeom prst="rect">
            <a:avLst/>
          </a:prstGeom>
          <a:solidFill>
            <a:srgbClr val="B0472A"/>
          </a:solidFill>
          <a:ln w="12700">
            <a:solidFill>
              <a:srgbClr val="B0472A"/>
            </a:solidFill>
            <a:prstDash val="solid"/>
          </a:ln>
        </p:spPr>
      </p:sp>
      <p:sp>
        <p:nvSpPr>
          <p:cNvPr id="23" name="Text 21"/>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作业与考试</a:t>
            </a:r>
            <a:endParaRPr lang="en-US" sz="1300" dirty="0"/>
          </a:p>
        </p:txBody>
      </p:sp>
      <p:sp>
        <p:nvSpPr>
          <p:cNvPr id="24" name="Text 22"/>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5" name="Shape 23"/>
          <p:cNvSpPr/>
          <p:nvPr/>
        </p:nvSpPr>
        <p:spPr>
          <a:xfrm>
            <a:off x="1295400" y="3067812"/>
            <a:ext cx="9981895" cy="512064"/>
          </a:xfrm>
          <a:prstGeom prst="roundRect">
            <a:avLst>
              <a:gd name="adj" fmla="val 12500"/>
            </a:avLst>
          </a:prstGeom>
          <a:solidFill>
            <a:srgbClr val="FFFFFF"/>
          </a:solidFill>
          <a:ln w="12700">
            <a:solidFill>
              <a:srgbClr val="E2E7F0"/>
            </a:solidFill>
            <a:prstDash val="solid"/>
          </a:ln>
        </p:spPr>
      </p:sp>
      <p:sp>
        <p:nvSpPr>
          <p:cNvPr id="26" name="Shape 24"/>
          <p:cNvSpPr/>
          <p:nvPr/>
        </p:nvSpPr>
        <p:spPr>
          <a:xfrm>
            <a:off x="1295400" y="3113532"/>
            <a:ext cx="38100" cy="420624"/>
          </a:xfrm>
          <a:prstGeom prst="rect">
            <a:avLst/>
          </a:prstGeom>
          <a:solidFill>
            <a:srgbClr val="B0472A"/>
          </a:solidFill>
          <a:ln w="12700">
            <a:solidFill>
              <a:srgbClr val="B0472A"/>
            </a:solidFill>
            <a:prstDash val="solid"/>
          </a:ln>
        </p:spPr>
      </p:sp>
      <p:sp>
        <p:nvSpPr>
          <p:cNvPr id="27" name="Text 25"/>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数据</a:t>
            </a:r>
            <a:endParaRPr lang="en-US" sz="1300" dirty="0"/>
          </a:p>
        </p:txBody>
      </p:sp>
      <p:sp>
        <p:nvSpPr>
          <p:cNvPr id="28" name="Text 26"/>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9" name="Shape 27"/>
          <p:cNvSpPr/>
          <p:nvPr/>
        </p:nvSpPr>
        <p:spPr>
          <a:xfrm>
            <a:off x="1295400" y="3671316"/>
            <a:ext cx="9981895" cy="512064"/>
          </a:xfrm>
          <a:prstGeom prst="roundRect">
            <a:avLst>
              <a:gd name="adj" fmla="val 12500"/>
            </a:avLst>
          </a:prstGeom>
          <a:solidFill>
            <a:srgbClr val="FFFFFF"/>
          </a:solidFill>
          <a:ln w="12700">
            <a:solidFill>
              <a:srgbClr val="E2E7F0"/>
            </a:solidFill>
            <a:prstDash val="solid"/>
          </a:ln>
        </p:spPr>
      </p:sp>
      <p:sp>
        <p:nvSpPr>
          <p:cNvPr id="30" name="Shape 28"/>
          <p:cNvSpPr/>
          <p:nvPr/>
        </p:nvSpPr>
        <p:spPr>
          <a:xfrm>
            <a:off x="1295400" y="3717036"/>
            <a:ext cx="38100" cy="420624"/>
          </a:xfrm>
          <a:prstGeom prst="rect">
            <a:avLst/>
          </a:prstGeom>
          <a:solidFill>
            <a:srgbClr val="B0472A"/>
          </a:solidFill>
          <a:ln w="12700">
            <a:solidFill>
              <a:srgbClr val="B0472A"/>
            </a:solidFill>
            <a:prstDash val="solid"/>
          </a:ln>
        </p:spPr>
      </p:sp>
      <p:sp>
        <p:nvSpPr>
          <p:cNvPr id="31" name="Text 29"/>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B0472A"/>
                </a:solidFill>
                <a:latin typeface="Microsoft YaHei" pitchFamily="34" charset="0"/>
                <a:ea typeface="Microsoft YaHei" pitchFamily="34" charset="-122"/>
                <a:cs typeface="Microsoft YaHei" pitchFamily="34" charset="-120"/>
              </a:rPr>
              <a:t>标注</a:t>
            </a:r>
            <a:endParaRPr lang="en-US" sz="1300" dirty="0"/>
          </a:p>
        </p:txBody>
      </p:sp>
      <p:sp>
        <p:nvSpPr>
          <p:cNvPr id="32" name="Text 30"/>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1A2029"/>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3" name="Text 31"/>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1A2029"/>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4" name="Text 32"/>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66725" y="4519613"/>
            <a:ext cx="133350" cy="133350"/>
          </a:xfrm>
          <a:prstGeom prst="ellipse">
            <a:avLst/>
          </a:prstGeom>
          <a:solidFill>
            <a:srgbClr val="B0472A"/>
          </a:solidFill>
          <a:ln w="25400">
            <a:solidFill>
              <a:srgbClr val="B0472A"/>
            </a:solidFill>
            <a:prstDash val="solid"/>
          </a:ln>
        </p:spPr>
      </p:sp>
      <p:sp>
        <p:nvSpPr>
          <p:cNvPr id="10" name="Shape 8"/>
          <p:cNvSpPr/>
          <p:nvPr/>
        </p:nvSpPr>
        <p:spPr>
          <a:xfrm>
            <a:off x="485775" y="5150644"/>
            <a:ext cx="95250" cy="95250"/>
          </a:xfrm>
          <a:prstGeom prst="ellipse">
            <a:avLst/>
          </a:prstGeom>
          <a:solidFill>
            <a:srgbClr val="FFFFFF"/>
          </a:solidFill>
          <a:ln w="25400">
            <a:solidFill>
              <a:srgbClr val="E2E7F0"/>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Shape 15"/>
          <p:cNvSpPr/>
          <p:nvPr/>
        </p:nvSpPr>
        <p:spPr>
          <a:xfrm>
            <a:off x="1295400" y="2468880"/>
            <a:ext cx="896112" cy="530352"/>
          </a:xfrm>
          <a:prstGeom prst="roundRect">
            <a:avLst>
              <a:gd name="adj" fmla="val 15517"/>
            </a:avLst>
          </a:prstGeom>
          <a:solidFill>
            <a:srgbClr val="FFFFFF"/>
          </a:solidFill>
          <a:ln w="12700">
            <a:solidFill>
              <a:srgbClr val="E2E7F0"/>
            </a:solidFill>
            <a:prstDash val="solid"/>
          </a:ln>
        </p:spPr>
      </p:sp>
      <p:sp>
        <p:nvSpPr>
          <p:cNvPr id="18" name="Text 16"/>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教师</a:t>
            </a:r>
            <a:endParaRPr lang="en-US" sz="1500" dirty="0"/>
          </a:p>
        </p:txBody>
      </p:sp>
      <p:sp>
        <p:nvSpPr>
          <p:cNvPr id="19" name="Shape 17"/>
          <p:cNvSpPr/>
          <p:nvPr/>
        </p:nvSpPr>
        <p:spPr>
          <a:xfrm>
            <a:off x="2374392" y="2468880"/>
            <a:ext cx="896112" cy="530352"/>
          </a:xfrm>
          <a:prstGeom prst="roundRect">
            <a:avLst>
              <a:gd name="adj" fmla="val 15517"/>
            </a:avLst>
          </a:prstGeom>
          <a:solidFill>
            <a:srgbClr val="FFFFFF"/>
          </a:solidFill>
          <a:ln w="12700">
            <a:solidFill>
              <a:srgbClr val="E2E7F0"/>
            </a:solidFill>
            <a:prstDash val="solid"/>
          </a:ln>
        </p:spPr>
      </p:sp>
      <p:sp>
        <p:nvSpPr>
          <p:cNvPr id="20" name="Text 18"/>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学生</a:t>
            </a:r>
            <a:endParaRPr lang="en-US" sz="1500" dirty="0"/>
          </a:p>
        </p:txBody>
      </p:sp>
      <p:sp>
        <p:nvSpPr>
          <p:cNvPr id="21" name="Shape 19"/>
          <p:cNvSpPr/>
          <p:nvPr/>
        </p:nvSpPr>
        <p:spPr>
          <a:xfrm>
            <a:off x="3453384" y="2468880"/>
            <a:ext cx="896112" cy="530352"/>
          </a:xfrm>
          <a:prstGeom prst="roundRect">
            <a:avLst>
              <a:gd name="adj" fmla="val 15517"/>
            </a:avLst>
          </a:prstGeom>
          <a:solidFill>
            <a:srgbClr val="FFFFFF"/>
          </a:solidFill>
          <a:ln w="12700">
            <a:solidFill>
              <a:srgbClr val="E2E7F0"/>
            </a:solidFill>
            <a:prstDash val="solid"/>
          </a:ln>
        </p:spPr>
      </p:sp>
      <p:sp>
        <p:nvSpPr>
          <p:cNvPr id="22" name="Text 20"/>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同伴</a:t>
            </a:r>
            <a:endParaRPr lang="en-US" sz="1500" dirty="0"/>
          </a:p>
        </p:txBody>
      </p:sp>
      <p:sp>
        <p:nvSpPr>
          <p:cNvPr id="23" name="Shape 21"/>
          <p:cNvSpPr/>
          <p:nvPr/>
        </p:nvSpPr>
        <p:spPr>
          <a:xfrm>
            <a:off x="4532376" y="2468880"/>
            <a:ext cx="2871216" cy="530352"/>
          </a:xfrm>
          <a:prstGeom prst="roundRect">
            <a:avLst>
              <a:gd name="adj" fmla="val 15517"/>
            </a:avLst>
          </a:prstGeom>
          <a:solidFill>
            <a:srgbClr val="FFFFFF"/>
          </a:solidFill>
          <a:ln w="12700">
            <a:solidFill>
              <a:srgbClr val="E2E7F0"/>
            </a:solidFill>
            <a:prstDash val="solid"/>
          </a:ln>
        </p:spPr>
      </p:sp>
      <p:sp>
        <p:nvSpPr>
          <p:cNvPr id="24" name="Text 22"/>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F1B2D"/>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5" name="Text 23"/>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B0472A"/>
                </a:solidFill>
                <a:latin typeface="Microsoft YaHei" pitchFamily="34" charset="0"/>
                <a:ea typeface="Microsoft YaHei" pitchFamily="34" charset="-122"/>
                <a:cs typeface="Microsoft YaHei" pitchFamily="34" charset="-120"/>
              </a:rPr>
              <a:t>没有 AI</a:t>
            </a:r>
            <a:endParaRPr lang="en-US" sz="1500" dirty="0"/>
          </a:p>
        </p:txBody>
      </p:sp>
      <p:sp>
        <p:nvSpPr>
          <p:cNvPr id="26" name="Text 24"/>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7" name="Text 25"/>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提出、确认</a:t>
            </a:r>
            <a:endParaRPr lang="en-US" sz="2100" dirty="0"/>
          </a:p>
        </p:txBody>
      </p:sp>
      <p:sp>
        <p:nvSpPr>
          <p:cNvPr id="28" name="Text 26"/>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落在教师签名上</a:t>
            </a:r>
            <a:endParaRPr lang="en-US" sz="950" dirty="0"/>
          </a:p>
        </p:txBody>
      </p:sp>
      <p:sp>
        <p:nvSpPr>
          <p:cNvPr id="29" name="Text 27"/>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F1B2D"/>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智能体是什么</a:t>
            </a:r>
            <a:endParaRPr lang="en-US" sz="3200" dirty="0"/>
          </a:p>
        </p:txBody>
      </p:sp>
      <p:sp>
        <p:nvSpPr>
          <p:cNvPr id="17" name="Text 15"/>
          <p:cNvSpPr/>
          <p:nvPr/>
        </p:nvSpPr>
        <p:spPr>
          <a:xfrm>
            <a:off x="1295400" y="1842516"/>
            <a:ext cx="9981895" cy="548640"/>
          </a:xfrm>
          <a:prstGeom prst="rect">
            <a:avLst/>
          </a:prstGeom>
          <a:noFill/>
          <a:ln/>
        </p:spPr>
        <p:txBody>
          <a:bodyPr wrap="square" lIns="0" tIns="0" rIns="0" bIns="0" rtlCol="0" anchor="t"/>
          <a:lstStyle/>
          <a:p>
            <a:pPr indent="0" marL="0">
              <a:lnSpc>
                <a:spcPct val="145000"/>
              </a:lnSpc>
              <a:buNone/>
            </a:pPr>
            <a:r>
              <a:rPr lang="en-US" sz="1400" dirty="0">
                <a:solidFill>
                  <a:srgbClr val="5B6470"/>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400" dirty="0"/>
          </a:p>
        </p:txBody>
      </p:sp>
      <p:sp>
        <p:nvSpPr>
          <p:cNvPr id="18" name="Shape 16"/>
          <p:cNvSpPr/>
          <p:nvPr/>
        </p:nvSpPr>
        <p:spPr>
          <a:xfrm>
            <a:off x="1295400" y="2574036"/>
            <a:ext cx="9981895" cy="1417320"/>
          </a:xfrm>
          <a:prstGeom prst="roundRect">
            <a:avLst>
              <a:gd name="adj" fmla="val 5806"/>
            </a:avLst>
          </a:prstGeom>
          <a:solidFill>
            <a:srgbClr val="FFFFFF"/>
          </a:solidFill>
          <a:ln w="12700">
            <a:solidFill>
              <a:srgbClr val="E2E7F0"/>
            </a:solidFill>
            <a:prstDash val="solid"/>
          </a:ln>
        </p:spPr>
      </p:sp>
      <p:sp>
        <p:nvSpPr>
          <p:cNvPr id="19" name="Shape 17"/>
          <p:cNvSpPr/>
          <p:nvPr/>
        </p:nvSpPr>
        <p:spPr>
          <a:xfrm>
            <a:off x="1295400" y="2628900"/>
            <a:ext cx="38100" cy="1307592"/>
          </a:xfrm>
          <a:prstGeom prst="rect">
            <a:avLst/>
          </a:prstGeom>
          <a:solidFill>
            <a:srgbClr val="B0472A"/>
          </a:solidFill>
          <a:ln w="12700">
            <a:solidFill>
              <a:srgbClr val="B0472A"/>
            </a:solidFill>
            <a:prstDash val="solid"/>
          </a:ln>
        </p:spPr>
      </p:sp>
      <p:sp>
        <p:nvSpPr>
          <p:cNvPr id="20" name="Text 18"/>
          <p:cNvSpPr/>
          <p:nvPr/>
        </p:nvSpPr>
        <p:spPr>
          <a:xfrm>
            <a:off x="1569720" y="2738628"/>
            <a:ext cx="9433255" cy="201168"/>
          </a:xfrm>
          <a:prstGeom prst="rect">
            <a:avLst/>
          </a:prstGeom>
          <a:noFill/>
          <a:ln/>
        </p:spPr>
        <p:txBody>
          <a:bodyPr wrap="square" lIns="0" tIns="0" rIns="0" bIns="0" rtlCol="0" anchor="ctr"/>
          <a:lstStyle/>
          <a:p>
            <a:pPr indent="0" marL="0">
              <a:buNone/>
            </a:pPr>
            <a:r>
              <a:rPr lang="en-US" sz="1000" b="1" spc="120" kern="0" dirty="0">
                <a:solidFill>
                  <a:srgbClr val="B0472A"/>
                </a:solidFill>
                <a:latin typeface="Microsoft YaHei" pitchFamily="34" charset="0"/>
                <a:ea typeface="Microsoft YaHei" pitchFamily="34" charset="-122"/>
                <a:cs typeface="Microsoft YaHei" pitchFamily="34" charset="-120"/>
              </a:rPr>
              <a:t>可直接照抄的指令</a:t>
            </a:r>
            <a:endParaRPr lang="en-US" sz="1000" dirty="0"/>
          </a:p>
        </p:txBody>
      </p:sp>
      <p:sp>
        <p:nvSpPr>
          <p:cNvPr id="21" name="Text 19"/>
          <p:cNvSpPr/>
          <p:nvPr/>
        </p:nvSpPr>
        <p:spPr>
          <a:xfrm>
            <a:off x="1569720" y="3031236"/>
            <a:ext cx="9433255" cy="795528"/>
          </a:xfrm>
          <a:prstGeom prst="rect">
            <a:avLst/>
          </a:prstGeom>
          <a:noFill/>
          <a:ln/>
        </p:spPr>
        <p:txBody>
          <a:bodyPr wrap="square" lIns="0" tIns="0" rIns="0" bIns="0" rtlCol="0" anchor="t"/>
          <a:lstStyle/>
          <a:p>
            <a:pPr indent="0" marL="0">
              <a:lnSpc>
                <a:spcPct val="160000"/>
              </a:lnSpc>
              <a:buNone/>
            </a:pPr>
            <a:r>
              <a:rPr lang="en-US" sz="1500" dirty="0">
                <a:solidFill>
                  <a:srgbClr val="1A2029"/>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500" dirty="0"/>
          </a:p>
        </p:txBody>
      </p:sp>
      <p:sp>
        <p:nvSpPr>
          <p:cNvPr id="22" name="Text 20"/>
          <p:cNvSpPr/>
          <p:nvPr/>
        </p:nvSpPr>
        <p:spPr>
          <a:xfrm>
            <a:off x="1295400" y="4247388"/>
            <a:ext cx="9981895" cy="365760"/>
          </a:xfrm>
          <a:prstGeom prst="rect">
            <a:avLst/>
          </a:prstGeom>
          <a:noFill/>
          <a:ln/>
        </p:spPr>
        <p:txBody>
          <a:bodyPr wrap="square" lIns="0" tIns="0" rIns="0" bIns="0" rtlCol="0" anchor="t"/>
          <a:lstStyle/>
          <a:p>
            <a:pPr indent="0" marL="0">
              <a:lnSpc>
                <a:spcPct val="150000"/>
              </a:lnSpc>
              <a:buNone/>
            </a:pPr>
            <a:r>
              <a:rPr lang="en-US" sz="1350" dirty="0">
                <a:solidFill>
                  <a:srgbClr val="1A2029"/>
                </a:solidFill>
                <a:latin typeface="Microsoft YaHei" pitchFamily="34" charset="0"/>
                <a:ea typeface="Microsoft YaHei" pitchFamily="34" charset="-122"/>
                <a:cs typeface="Microsoft YaHei" pitchFamily="34" charset="-120"/>
              </a:rPr>
              <a:t>把上面这段话贴进任何一个对话框，它就是一个方案质疑员。要换用途，改写这段话即可。</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c>
                  <a:txBody>
                    <a:bodyPr/>
                    <a:lstStyle/>
                    <a:p>
                      <a:pPr indent="0" marL="0">
                        <a:buNone/>
                      </a:pPr>
                      <a:r>
                        <a:rPr lang="en-US" sz="950" dirty="0">
                          <a:solidFill>
                            <a:srgbClr val="5B6470"/>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5F7FB"/>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F1B2D"/>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1A2029"/>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c>
                  <a:txBody>
                    <a:bodyPr/>
                    <a:lstStyle/>
                    <a:p>
                      <a:pPr indent="0" marL="0">
                        <a:buNone/>
                      </a:pPr>
                      <a:r>
                        <a:rPr lang="en-US" sz="1200" dirty="0">
                          <a:solidFill>
                            <a:srgbClr val="B0472A"/>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E2E7F0"/>
                      </a:solidFill>
                      <a:prstDash val="solid"/>
                      <a:round/>
                      <a:headEnd type="none" w="med" len="med"/>
                      <a:tailEnd type="none" w="med" len="med"/>
                    </a:lnL>
                    <a:lnR w="12700" cap="flat" cmpd="sng" algn="ctr">
                      <a:solidFill>
                        <a:srgbClr val="E2E7F0"/>
                      </a:solidFill>
                      <a:prstDash val="solid"/>
                      <a:round/>
                      <a:headEnd type="none" w="med" len="med"/>
                      <a:tailEnd type="none" w="med" len="med"/>
                    </a:lnR>
                    <a:lnT w="12700" cap="flat" cmpd="sng" algn="ctr">
                      <a:solidFill>
                        <a:srgbClr val="E2E7F0"/>
                      </a:solidFill>
                      <a:prstDash val="solid"/>
                      <a:round/>
                      <a:headEnd type="none" w="med" len="med"/>
                      <a:tailEnd type="none" w="med" len="med"/>
                    </a:lnT>
                    <a:lnB w="12700" cap="flat" cmpd="sng" algn="ctr">
                      <a:solidFill>
                        <a:srgbClr val="E2E7F0"/>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E2E7F0"/>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三周的起步路径</a:t>
            </a:r>
            <a:endParaRPr lang="en-US" sz="3200" dirty="0"/>
          </a:p>
        </p:txBody>
      </p:sp>
      <p:sp>
        <p:nvSpPr>
          <p:cNvPr id="17" name="Text 15"/>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第一周</a:t>
            </a:r>
            <a:endParaRPr lang="en-US" sz="1600" dirty="0"/>
          </a:p>
        </p:txBody>
      </p:sp>
      <p:sp>
        <p:nvSpPr>
          <p:cNvPr id="18" name="Text 16"/>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设置问题墙</a:t>
            </a:r>
            <a:endParaRPr lang="en-US" sz="2000" dirty="0"/>
          </a:p>
        </p:txBody>
      </p:sp>
      <p:sp>
        <p:nvSpPr>
          <p:cNvPr id="19" name="Text 17"/>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20" name="Text 18"/>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第二周</a:t>
            </a:r>
            <a:endParaRPr lang="en-US" sz="1600" dirty="0"/>
          </a:p>
        </p:txBody>
      </p:sp>
      <p:sp>
        <p:nvSpPr>
          <p:cNvPr id="21" name="Text 19"/>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2" name="Text 20"/>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3" name="Text 21"/>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B0472A"/>
                </a:solidFill>
                <a:latin typeface="Microsoft YaHei" pitchFamily="34" charset="0"/>
                <a:ea typeface="Microsoft YaHei" pitchFamily="34" charset="-122"/>
                <a:cs typeface="Microsoft YaHei" pitchFamily="34" charset="-120"/>
              </a:rPr>
              <a:t>第三周</a:t>
            </a:r>
            <a:endParaRPr lang="en-US" sz="1600" dirty="0"/>
          </a:p>
        </p:txBody>
      </p:sp>
      <p:sp>
        <p:nvSpPr>
          <p:cNvPr id="24" name="Text 22"/>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F1B2D"/>
                </a:solidFill>
                <a:latin typeface="Microsoft YaHei" pitchFamily="34" charset="0"/>
                <a:ea typeface="Microsoft YaHei" pitchFamily="34" charset="-122"/>
                <a:cs typeface="Microsoft YaHei" pitchFamily="34" charset="-120"/>
              </a:rPr>
              <a:t>发出四栏留痕表</a:t>
            </a:r>
            <a:endParaRPr lang="en-US" sz="2000" dirty="0"/>
          </a:p>
        </p:txBody>
      </p:sp>
      <p:sp>
        <p:nvSpPr>
          <p:cNvPr id="25" name="Text 23"/>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B6470"/>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6" name="Shape 24"/>
          <p:cNvSpPr/>
          <p:nvPr/>
        </p:nvSpPr>
        <p:spPr>
          <a:xfrm>
            <a:off x="1295400" y="5888736"/>
            <a:ext cx="9981895" cy="0"/>
          </a:xfrm>
          <a:prstGeom prst="line">
            <a:avLst/>
          </a:prstGeom>
          <a:noFill/>
          <a:ln w="12700">
            <a:solidFill>
              <a:srgbClr val="E2E7F0"/>
            </a:solidFill>
            <a:prstDash val="solid"/>
          </a:ln>
        </p:spPr>
      </p:sp>
      <p:sp>
        <p:nvSpPr>
          <p:cNvPr id="27" name="Text 2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三周均不需要安装软件，能打开浏览器中的对话框即可。三项存在先后依赖，顺序不调换。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66725" y="5131594"/>
            <a:ext cx="133350" cy="133350"/>
          </a:xfrm>
          <a:prstGeom prst="ellipse">
            <a:avLst/>
          </a:prstGeom>
          <a:solidFill>
            <a:srgbClr val="B0472A"/>
          </a:solidFill>
          <a:ln w="25400">
            <a:solidFill>
              <a:srgbClr val="B0472A"/>
            </a:solidFill>
            <a:prstDash val="solid"/>
          </a:ln>
        </p:spPr>
      </p:sp>
      <p:sp>
        <p:nvSpPr>
          <p:cNvPr id="11" name="Shape 9"/>
          <p:cNvSpPr/>
          <p:nvPr/>
        </p:nvSpPr>
        <p:spPr>
          <a:xfrm>
            <a:off x="485775" y="5762625"/>
            <a:ext cx="95250" cy="95250"/>
          </a:xfrm>
          <a:prstGeom prst="ellipse">
            <a:avLst/>
          </a:prstGeom>
          <a:solidFill>
            <a:srgbClr val="FFFFFF"/>
          </a:solidFill>
          <a:ln w="25400">
            <a:solidFill>
              <a:srgbClr val="E2E7F0"/>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95681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350" dirty="0"/>
          </a:p>
        </p:txBody>
      </p:sp>
      <p:sp>
        <p:nvSpPr>
          <p:cNvPr id="16" name="Text 14"/>
          <p:cNvSpPr/>
          <p:nvPr/>
        </p:nvSpPr>
        <p:spPr>
          <a:xfrm>
            <a:off x="1295400" y="268833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350" dirty="0"/>
          </a:p>
        </p:txBody>
      </p:sp>
      <p:sp>
        <p:nvSpPr>
          <p:cNvPr id="17" name="Text 15"/>
          <p:cNvSpPr/>
          <p:nvPr/>
        </p:nvSpPr>
        <p:spPr>
          <a:xfrm>
            <a:off x="1295400" y="3419856"/>
            <a:ext cx="9067495" cy="640080"/>
          </a:xfrm>
          <a:prstGeom prst="rect">
            <a:avLst/>
          </a:prstGeom>
          <a:noFill/>
          <a:ln/>
        </p:spPr>
        <p:txBody>
          <a:bodyPr wrap="square" lIns="0" tIns="0" rIns="0" bIns="0" rtlCol="0" anchor="t"/>
          <a:lstStyle/>
          <a:p>
            <a:pPr indent="0" marL="0">
              <a:lnSpc>
                <a:spcPct val="155000"/>
              </a:lnSpc>
              <a:buNone/>
            </a:pPr>
            <a:r>
              <a:rPr lang="en-US" sz="1350" dirty="0">
                <a:solidFill>
                  <a:srgbClr val="5B6470"/>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350" dirty="0"/>
          </a:p>
        </p:txBody>
      </p:sp>
      <p:sp>
        <p:nvSpPr>
          <p:cNvPr id="18" name="Text 16"/>
          <p:cNvSpPr/>
          <p:nvPr/>
        </p:nvSpPr>
        <p:spPr>
          <a:xfrm>
            <a:off x="1295400" y="4572000"/>
            <a:ext cx="9981895" cy="292608"/>
          </a:xfrm>
          <a:prstGeom prst="rect">
            <a:avLst/>
          </a:prstGeom>
          <a:noFill/>
          <a:ln/>
        </p:spPr>
        <p:txBody>
          <a:bodyPr wrap="square" lIns="0" tIns="0" rIns="0" bIns="0" rtlCol="0" anchor="ctr"/>
          <a:lstStyle/>
          <a:p>
            <a:pPr indent="0" marL="0">
              <a:buNone/>
            </a:pPr>
            <a:r>
              <a:rPr lang="en-US" sz="1400" dirty="0">
                <a:solidFill>
                  <a:srgbClr val="0F1B2D"/>
                </a:solidFill>
                <a:latin typeface="Microsoft YaHei" pitchFamily="34" charset="0"/>
                <a:ea typeface="Microsoft YaHei" pitchFamily="34" charset="-122"/>
                <a:cs typeface="Microsoft YaHei" pitchFamily="34" charset="-120"/>
              </a:rPr>
              <a:t>辛海洋　2026 年 8 月 21 日　深圳</a:t>
            </a:r>
            <a:endParaRPr lang="en-US" sz="1400" dirty="0"/>
          </a:p>
        </p:txBody>
      </p:sp>
      <p:sp>
        <p:nvSpPr>
          <p:cNvPr id="19" name="Shape 17"/>
          <p:cNvSpPr/>
          <p:nvPr/>
        </p:nvSpPr>
        <p:spPr>
          <a:xfrm>
            <a:off x="1295400" y="4992624"/>
            <a:ext cx="2926080" cy="457200"/>
          </a:xfrm>
          <a:prstGeom prst="roundRect">
            <a:avLst>
              <a:gd name="adj" fmla="val 16000"/>
            </a:avLst>
          </a:prstGeom>
          <a:solidFill>
            <a:srgbClr val="F5F7FB"/>
          </a:solidFill>
          <a:ln w="12700">
            <a:solidFill>
              <a:srgbClr val="D9A98F"/>
            </a:solidFill>
            <a:prstDash val="dash"/>
          </a:ln>
        </p:spPr>
      </p:sp>
      <p:sp>
        <p:nvSpPr>
          <p:cNvPr id="20" name="Text 18"/>
          <p:cNvSpPr/>
          <p:nvPr/>
        </p:nvSpPr>
        <p:spPr>
          <a:xfrm>
            <a:off x="1295400" y="4992624"/>
            <a:ext cx="2926080" cy="457200"/>
          </a:xfrm>
          <a:prstGeom prst="rect">
            <a:avLst/>
          </a:prstGeom>
          <a:noFill/>
          <a:ln/>
        </p:spPr>
        <p:txBody>
          <a:bodyPr wrap="square" lIns="0" tIns="0" rIns="0" bIns="0" rtlCol="0" anchor="ctr"/>
          <a:lstStyle/>
          <a:p>
            <a:pPr algn="ctr" indent="0" marL="0">
              <a:buNone/>
            </a:pPr>
            <a:r>
              <a:rPr lang="en-US" sz="1150" dirty="0">
                <a:solidFill>
                  <a:srgbClr val="B0472A"/>
                </a:solidFill>
                <a:latin typeface="Microsoft YaHei" pitchFamily="34" charset="0"/>
                <a:ea typeface="Microsoft YaHei" pitchFamily="34" charset="-122"/>
                <a:cs typeface="Microsoft YaHei" pitchFamily="34" charset="-120"/>
              </a:rPr>
              <a:t>【占位】讲义与二维码</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F1B2D"/>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384048"/>
          </a:xfrm>
          <a:prstGeom prst="rect">
            <a:avLst/>
          </a:prstGeom>
          <a:noFill/>
          <a:ln/>
        </p:spPr>
        <p:txBody>
          <a:bodyPr wrap="square" lIns="0" tIns="0" rIns="0" bIns="0" rtlCol="0" anchor="t"/>
          <a:lstStyle/>
          <a:p>
            <a:pPr indent="0" marL="0">
              <a:lnSpc>
                <a:spcPct val="140000"/>
              </a:lnSpc>
              <a:buNone/>
            </a:pPr>
            <a:r>
              <a:rPr lang="en-US" sz="1150" dirty="0">
                <a:solidFill>
                  <a:srgbClr val="5B6470"/>
                </a:solidFill>
                <a:latin typeface="Microsoft YaHei" pitchFamily="34" charset="0"/>
                <a:ea typeface="Microsoft YaHei" pitchFamily="34" charset="-122"/>
                <a:cs typeface="Microsoft YaHei" pitchFamily="34" charset="-120"/>
              </a:rPr>
              <a:t>指南附件给出六个主题、二十四项任务示例。以下按主题各取一项，逐项写出任务原文、六个环节的 AI 收放配置、以及本任务特有的约束与留痕。每项三页。</a:t>
            </a:r>
            <a:endParaRPr lang="en-US" sz="1150" dirty="0"/>
          </a:p>
        </p:txBody>
      </p:sp>
      <p:sp>
        <p:nvSpPr>
          <p:cNvPr id="18" name="Shape 16"/>
          <p:cNvSpPr/>
          <p:nvPr/>
        </p:nvSpPr>
        <p:spPr>
          <a:xfrm>
            <a:off x="1295400" y="2318004"/>
            <a:ext cx="9981895" cy="384048"/>
          </a:xfrm>
          <a:prstGeom prst="roundRect">
            <a:avLst>
              <a:gd name="adj" fmla="val 14286"/>
            </a:avLst>
          </a:prstGeom>
          <a:solidFill>
            <a:srgbClr val="FFFFFF"/>
          </a:solidFill>
          <a:ln w="12700">
            <a:solidFill>
              <a:srgbClr val="E2E7F0"/>
            </a:solidFill>
            <a:prstDash val="solid"/>
          </a:ln>
        </p:spPr>
      </p:sp>
      <p:sp>
        <p:nvSpPr>
          <p:cNvPr id="19" name="Shape 17"/>
          <p:cNvSpPr/>
          <p:nvPr/>
        </p:nvSpPr>
        <p:spPr>
          <a:xfrm>
            <a:off x="1295400" y="2354580"/>
            <a:ext cx="38100" cy="310896"/>
          </a:xfrm>
          <a:prstGeom prst="rect">
            <a:avLst/>
          </a:prstGeom>
          <a:solidFill>
            <a:srgbClr val="33414F"/>
          </a:solidFill>
          <a:ln w="12700">
            <a:solidFill>
              <a:srgbClr val="33414F"/>
            </a:solidFill>
            <a:prstDash val="solid"/>
          </a:ln>
        </p:spPr>
      </p:sp>
      <p:sp>
        <p:nvSpPr>
          <p:cNvPr id="20" name="Text 18"/>
          <p:cNvSpPr/>
          <p:nvPr/>
        </p:nvSpPr>
        <p:spPr>
          <a:xfrm>
            <a:off x="1514856" y="2318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318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318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318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46—48</a:t>
            </a:r>
            <a:endParaRPr lang="en-US" sz="1000" dirty="0"/>
          </a:p>
        </p:txBody>
      </p:sp>
      <p:sp>
        <p:nvSpPr>
          <p:cNvPr id="24" name="Shape 22"/>
          <p:cNvSpPr/>
          <p:nvPr/>
        </p:nvSpPr>
        <p:spPr>
          <a:xfrm>
            <a:off x="1295400" y="2775204"/>
            <a:ext cx="9981895" cy="384048"/>
          </a:xfrm>
          <a:prstGeom prst="roundRect">
            <a:avLst>
              <a:gd name="adj" fmla="val 14286"/>
            </a:avLst>
          </a:prstGeom>
          <a:solidFill>
            <a:srgbClr val="FFFFFF"/>
          </a:solidFill>
          <a:ln w="12700">
            <a:solidFill>
              <a:srgbClr val="E2E7F0"/>
            </a:solidFill>
            <a:prstDash val="solid"/>
          </a:ln>
        </p:spPr>
      </p:sp>
      <p:sp>
        <p:nvSpPr>
          <p:cNvPr id="25" name="Shape 23"/>
          <p:cNvSpPr/>
          <p:nvPr/>
        </p:nvSpPr>
        <p:spPr>
          <a:xfrm>
            <a:off x="1295400" y="2811780"/>
            <a:ext cx="38100" cy="310896"/>
          </a:xfrm>
          <a:prstGeom prst="rect">
            <a:avLst/>
          </a:prstGeom>
          <a:solidFill>
            <a:srgbClr val="33414F"/>
          </a:solidFill>
          <a:ln w="12700">
            <a:solidFill>
              <a:srgbClr val="33414F"/>
            </a:solidFill>
            <a:prstDash val="solid"/>
          </a:ln>
        </p:spPr>
      </p:sp>
      <p:sp>
        <p:nvSpPr>
          <p:cNvPr id="26" name="Text 24"/>
          <p:cNvSpPr/>
          <p:nvPr/>
        </p:nvSpPr>
        <p:spPr>
          <a:xfrm>
            <a:off x="1514856" y="27752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7752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7752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7752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49—51</a:t>
            </a:r>
            <a:endParaRPr lang="en-US" sz="1000" dirty="0"/>
          </a:p>
        </p:txBody>
      </p:sp>
      <p:sp>
        <p:nvSpPr>
          <p:cNvPr id="30" name="Shape 28"/>
          <p:cNvSpPr/>
          <p:nvPr/>
        </p:nvSpPr>
        <p:spPr>
          <a:xfrm>
            <a:off x="1295400" y="3232404"/>
            <a:ext cx="9981895" cy="384048"/>
          </a:xfrm>
          <a:prstGeom prst="roundRect">
            <a:avLst>
              <a:gd name="adj" fmla="val 14286"/>
            </a:avLst>
          </a:prstGeom>
          <a:solidFill>
            <a:srgbClr val="FFFFFF"/>
          </a:solidFill>
          <a:ln w="12700">
            <a:solidFill>
              <a:srgbClr val="E2E7F0"/>
            </a:solidFill>
            <a:prstDash val="solid"/>
          </a:ln>
        </p:spPr>
      </p:sp>
      <p:sp>
        <p:nvSpPr>
          <p:cNvPr id="31" name="Shape 29"/>
          <p:cNvSpPr/>
          <p:nvPr/>
        </p:nvSpPr>
        <p:spPr>
          <a:xfrm>
            <a:off x="1295400" y="3268980"/>
            <a:ext cx="38100" cy="310896"/>
          </a:xfrm>
          <a:prstGeom prst="rect">
            <a:avLst/>
          </a:prstGeom>
          <a:solidFill>
            <a:srgbClr val="33414F"/>
          </a:solidFill>
          <a:ln w="12700">
            <a:solidFill>
              <a:srgbClr val="33414F"/>
            </a:solidFill>
            <a:prstDash val="solid"/>
          </a:ln>
        </p:spPr>
      </p:sp>
      <p:sp>
        <p:nvSpPr>
          <p:cNvPr id="32" name="Text 30"/>
          <p:cNvSpPr/>
          <p:nvPr/>
        </p:nvSpPr>
        <p:spPr>
          <a:xfrm>
            <a:off x="1514856" y="32324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2324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2324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2324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52—54</a:t>
            </a:r>
            <a:endParaRPr lang="en-US" sz="1000" dirty="0"/>
          </a:p>
        </p:txBody>
      </p:sp>
      <p:sp>
        <p:nvSpPr>
          <p:cNvPr id="36" name="Shape 34"/>
          <p:cNvSpPr/>
          <p:nvPr/>
        </p:nvSpPr>
        <p:spPr>
          <a:xfrm>
            <a:off x="1295400" y="3689604"/>
            <a:ext cx="9981895" cy="384048"/>
          </a:xfrm>
          <a:prstGeom prst="roundRect">
            <a:avLst>
              <a:gd name="adj" fmla="val 14286"/>
            </a:avLst>
          </a:prstGeom>
          <a:solidFill>
            <a:srgbClr val="FFFFFF"/>
          </a:solidFill>
          <a:ln w="12700">
            <a:solidFill>
              <a:srgbClr val="E2E7F0"/>
            </a:solidFill>
            <a:prstDash val="solid"/>
          </a:ln>
        </p:spPr>
      </p:sp>
      <p:sp>
        <p:nvSpPr>
          <p:cNvPr id="37" name="Shape 35"/>
          <p:cNvSpPr/>
          <p:nvPr/>
        </p:nvSpPr>
        <p:spPr>
          <a:xfrm>
            <a:off x="1295400" y="3726180"/>
            <a:ext cx="38100" cy="310896"/>
          </a:xfrm>
          <a:prstGeom prst="rect">
            <a:avLst/>
          </a:prstGeom>
          <a:solidFill>
            <a:srgbClr val="33414F"/>
          </a:solidFill>
          <a:ln w="12700">
            <a:solidFill>
              <a:srgbClr val="33414F"/>
            </a:solidFill>
            <a:prstDash val="solid"/>
          </a:ln>
        </p:spPr>
      </p:sp>
      <p:sp>
        <p:nvSpPr>
          <p:cNvPr id="38" name="Text 36"/>
          <p:cNvSpPr/>
          <p:nvPr/>
        </p:nvSpPr>
        <p:spPr>
          <a:xfrm>
            <a:off x="1514856" y="36896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6896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6896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6896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55—57</a:t>
            </a:r>
            <a:endParaRPr lang="en-US" sz="1000" dirty="0"/>
          </a:p>
        </p:txBody>
      </p:sp>
      <p:sp>
        <p:nvSpPr>
          <p:cNvPr id="42" name="Shape 40"/>
          <p:cNvSpPr/>
          <p:nvPr/>
        </p:nvSpPr>
        <p:spPr>
          <a:xfrm>
            <a:off x="1295400" y="4146804"/>
            <a:ext cx="9981895" cy="384048"/>
          </a:xfrm>
          <a:prstGeom prst="roundRect">
            <a:avLst>
              <a:gd name="adj" fmla="val 14286"/>
            </a:avLst>
          </a:prstGeom>
          <a:solidFill>
            <a:srgbClr val="FFFFFF"/>
          </a:solidFill>
          <a:ln w="12700">
            <a:solidFill>
              <a:srgbClr val="E2E7F0"/>
            </a:solidFill>
            <a:prstDash val="solid"/>
          </a:ln>
        </p:spPr>
      </p:sp>
      <p:sp>
        <p:nvSpPr>
          <p:cNvPr id="43" name="Shape 41"/>
          <p:cNvSpPr/>
          <p:nvPr/>
        </p:nvSpPr>
        <p:spPr>
          <a:xfrm>
            <a:off x="1295400" y="4183380"/>
            <a:ext cx="38100" cy="310896"/>
          </a:xfrm>
          <a:prstGeom prst="rect">
            <a:avLst/>
          </a:prstGeom>
          <a:solidFill>
            <a:srgbClr val="33414F"/>
          </a:solidFill>
          <a:ln w="12700">
            <a:solidFill>
              <a:srgbClr val="33414F"/>
            </a:solidFill>
            <a:prstDash val="solid"/>
          </a:ln>
        </p:spPr>
      </p:sp>
      <p:sp>
        <p:nvSpPr>
          <p:cNvPr id="44" name="Text 42"/>
          <p:cNvSpPr/>
          <p:nvPr/>
        </p:nvSpPr>
        <p:spPr>
          <a:xfrm>
            <a:off x="1514856" y="41468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1468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1468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1468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58—60</a:t>
            </a:r>
            <a:endParaRPr lang="en-US" sz="1000" dirty="0"/>
          </a:p>
        </p:txBody>
      </p:sp>
      <p:sp>
        <p:nvSpPr>
          <p:cNvPr id="48" name="Shape 46"/>
          <p:cNvSpPr/>
          <p:nvPr/>
        </p:nvSpPr>
        <p:spPr>
          <a:xfrm>
            <a:off x="1295400" y="4604004"/>
            <a:ext cx="9981895" cy="384048"/>
          </a:xfrm>
          <a:prstGeom prst="roundRect">
            <a:avLst>
              <a:gd name="adj" fmla="val 14286"/>
            </a:avLst>
          </a:prstGeom>
          <a:solidFill>
            <a:srgbClr val="FFFFFF"/>
          </a:solidFill>
          <a:ln w="12700">
            <a:solidFill>
              <a:srgbClr val="E2E7F0"/>
            </a:solidFill>
            <a:prstDash val="solid"/>
          </a:ln>
        </p:spPr>
      </p:sp>
      <p:sp>
        <p:nvSpPr>
          <p:cNvPr id="49" name="Shape 47"/>
          <p:cNvSpPr/>
          <p:nvPr/>
        </p:nvSpPr>
        <p:spPr>
          <a:xfrm>
            <a:off x="1295400" y="4640580"/>
            <a:ext cx="38100" cy="310896"/>
          </a:xfrm>
          <a:prstGeom prst="rect">
            <a:avLst/>
          </a:prstGeom>
          <a:solidFill>
            <a:srgbClr val="33414F"/>
          </a:solidFill>
          <a:ln w="12700">
            <a:solidFill>
              <a:srgbClr val="33414F"/>
            </a:solidFill>
            <a:prstDash val="solid"/>
          </a:ln>
        </p:spPr>
      </p:sp>
      <p:sp>
        <p:nvSpPr>
          <p:cNvPr id="50" name="Text 48"/>
          <p:cNvSpPr/>
          <p:nvPr/>
        </p:nvSpPr>
        <p:spPr>
          <a:xfrm>
            <a:off x="1514856" y="4604004"/>
            <a:ext cx="1207008" cy="384048"/>
          </a:xfrm>
          <a:prstGeom prst="rect">
            <a:avLst/>
          </a:prstGeom>
          <a:noFill/>
          <a:ln/>
        </p:spPr>
        <p:txBody>
          <a:bodyPr wrap="square" lIns="0" tIns="0" rIns="0" bIns="0" rtlCol="0" anchor="ctr"/>
          <a:lstStyle/>
          <a:p>
            <a:pPr indent="0" marL="0">
              <a:buNone/>
            </a:pPr>
            <a:r>
              <a:rPr lang="en-US" sz="1100" b="1" dirty="0">
                <a:solidFill>
                  <a:srgbClr val="33414F"/>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604004"/>
            <a:ext cx="5120640" cy="384048"/>
          </a:xfrm>
          <a:prstGeom prst="rect">
            <a:avLst/>
          </a:prstGeom>
          <a:noFill/>
          <a:ln/>
        </p:spPr>
        <p:txBody>
          <a:bodyPr wrap="square" lIns="0" tIns="0" rIns="0" bIns="0" rtlCol="0" anchor="ctr"/>
          <a:lstStyle/>
          <a:p>
            <a:pPr indent="0" marL="0">
              <a:buNone/>
            </a:pPr>
            <a:r>
              <a:rPr lang="en-US" sz="1350" b="1" dirty="0">
                <a:solidFill>
                  <a:srgbClr val="0F1B2D"/>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604004"/>
            <a:ext cx="1371600" cy="384048"/>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604004"/>
            <a:ext cx="822960" cy="384048"/>
          </a:xfrm>
          <a:prstGeom prst="rect">
            <a:avLst/>
          </a:prstGeom>
          <a:noFill/>
          <a:ln/>
        </p:spPr>
        <p:txBody>
          <a:bodyPr wrap="square" lIns="0" tIns="0" rIns="0" bIns="0" rtlCol="0" anchor="ctr"/>
          <a:lstStyle/>
          <a:p>
            <a:pPr algn="r" indent="0" marL="0">
              <a:buNone/>
            </a:pPr>
            <a:r>
              <a:rPr lang="en-US" sz="1000" dirty="0">
                <a:solidFill>
                  <a:srgbClr val="5B6470"/>
                </a:solidFill>
                <a:latin typeface="Microsoft YaHei" pitchFamily="34" charset="0"/>
                <a:ea typeface="Microsoft YaHei" pitchFamily="34" charset="-122"/>
                <a:cs typeface="Microsoft YaHei" pitchFamily="34" charset="-120"/>
              </a:rPr>
              <a:t>61—63</a:t>
            </a:r>
            <a:endParaRPr lang="en-US" sz="1000" dirty="0"/>
          </a:p>
        </p:txBody>
      </p:sp>
      <p:sp>
        <p:nvSpPr>
          <p:cNvPr id="54" name="Text 52"/>
          <p:cNvSpPr/>
          <p:nvPr/>
        </p:nvSpPr>
        <p:spPr>
          <a:xfrm>
            <a:off x="1295400" y="5152644"/>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E2E7F0"/>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任务名称、任务要求与实施建议为指南附件原文。收放配置、约束与留痕是依据评价维度做的专业判断，不是政策规定。</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收紧的三处是问题的提出、数据的采集、结论的得出，这三处正是四个评价维度的证据来源。</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6471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2415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2382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不使用识别类应用。本项的评价维度是分类归纳，识别过程本身就是学生要经历的困难，交给应用即全部落空。</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方案成形后核对单位换算与量级，只提问不改写。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整理三列数据、作图、标注异常值。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本项的天体参数属可核验的公开数据，须逐项自行核对来源。这一步不算学生的探究，但省不得。</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宜居带的范围须由学生从自己的实测曲线推出。直接采用 AI 给出的天文学结论，本项唯一的一手证据就作废了。</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以下是学生制作太阳系比例模型要用到的六项天体参数。请把每一项的权威来源名称与常见量级列成一张核对表，不要给出具体数值，只给来源与量级，供学生自行查证后填写。</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E2E7F0"/>
            </a:solidFill>
            <a:prstDash val="solid"/>
          </a:ln>
        </p:spPr>
      </p:sp>
      <p:sp>
        <p:nvSpPr>
          <p:cNvPr id="22" name="Shape 20"/>
          <p:cNvSpPr/>
          <p:nvPr/>
        </p:nvSpPr>
        <p:spPr>
          <a:xfrm>
            <a:off x="1295400" y="2345436"/>
            <a:ext cx="38100" cy="996696"/>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E2E7F0"/>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EBC4B2"/>
          </a:solidFill>
          <a:ln w="12700">
            <a:solidFill>
              <a:srgbClr val="D9A98F"/>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生长数据不得由 AI 补全。缺测的那一天写「未测」，不允许用推算值填上。本项周期长，缺测是常态，补全即是造假。</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E2E7F0"/>
            </a:solidFill>
            <a:prstDash val="solid"/>
          </a:ln>
        </p:spPr>
      </p:sp>
      <p:sp>
        <p:nvSpPr>
          <p:cNvPr id="23" name="Shape 21"/>
          <p:cNvSpPr/>
          <p:nvPr/>
        </p:nvSpPr>
        <p:spPr>
          <a:xfrm>
            <a:off x="1295400" y="2875788"/>
            <a:ext cx="38100" cy="3931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本项是六项中学生侧开放度最高的一项，另配一个只提问不给答案的智能体。</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E2E7F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9714C"/>
          </a:solidFill>
          <a:ln w="12700">
            <a:solidFill>
              <a:srgbClr val="C9714C"/>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99341A"/>
          </a:solidFill>
          <a:ln w="12700">
            <a:solidFill>
              <a:srgbClr val="99341A"/>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9714C"/>
          </a:solidFill>
          <a:ln w="12700">
            <a:solidFill>
              <a:srgbClr val="C9714C"/>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结论由学生先写出，对智能体的每一条质疑逐条自行回应。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只提问不给答案的质疑智能体，指令见下一页。</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E2E7F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两端开放，中间收紧。沙盘一行是本项唯一的一手证据来源，不引入任何工具。</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E2E7F0"/>
            </a:solidFill>
            <a:prstDash val="solid"/>
          </a:ln>
        </p:spPr>
      </p:sp>
      <p:sp>
        <p:nvSpPr>
          <p:cNvPr id="19" name="Shape 17"/>
          <p:cNvSpPr/>
          <p:nvPr/>
        </p:nvSpPr>
        <p:spPr>
          <a:xfrm>
            <a:off x="1295400" y="2052828"/>
            <a:ext cx="38100" cy="3931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模拟探究不引入 AI。分水效果的差异必须由学生自己的试验得出，这是本项唯一的一手证据来源。</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6471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4701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质疑智能体</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每一种坝形的试验拍照留存，含失败的那几次。智能体的质疑与学生的回应按条对照留档，两列并排。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4668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F1B2D"/>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学段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B6470"/>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33414F"/>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B6470"/>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E2E7F0"/>
            </a:solidFill>
            <a:prstDash val="solid"/>
          </a:ln>
        </p:spPr>
      </p:sp>
      <p:sp>
        <p:nvSpPr>
          <p:cNvPr id="22" name="Shape 20"/>
          <p:cNvSpPr/>
          <p:nvPr/>
        </p:nvSpPr>
        <p:spPr>
          <a:xfrm>
            <a:off x="1295400" y="2345436"/>
            <a:ext cx="38100" cy="786384"/>
          </a:xfrm>
          <a:prstGeom prst="rect">
            <a:avLst/>
          </a:prstGeom>
          <a:solidFill>
            <a:srgbClr val="33414F"/>
          </a:solidFill>
          <a:ln w="12700">
            <a:solidFill>
              <a:srgbClr val="33414F"/>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1A2029"/>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B0472A"/>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1A2029"/>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B6470"/>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E2E7F0"/>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E2E7F0"/>
            </a:solidFill>
            <a:prstDash val="solid"/>
          </a:ln>
        </p:spPr>
      </p:sp>
      <p:sp>
        <p:nvSpPr>
          <p:cNvPr id="19" name="Shape 17"/>
          <p:cNvSpPr/>
          <p:nvPr/>
        </p:nvSpPr>
        <p:spPr>
          <a:xfrm>
            <a:off x="1313688" y="2007108"/>
            <a:ext cx="9945319" cy="274320"/>
          </a:xfrm>
          <a:prstGeom prst="rect">
            <a:avLst/>
          </a:prstGeom>
          <a:solidFill>
            <a:srgbClr val="F5F7FB"/>
          </a:solidFill>
          <a:ln w="12700">
            <a:solidFill>
              <a:srgbClr val="F5F7FB"/>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B6470"/>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E2E7F0"/>
            </a:solidFill>
            <a:prstDash val="solid"/>
          </a:ln>
        </p:spPr>
      </p:sp>
      <p:sp>
        <p:nvSpPr>
          <p:cNvPr id="24" name="Shape 22"/>
          <p:cNvSpPr/>
          <p:nvPr/>
        </p:nvSpPr>
        <p:spPr>
          <a:xfrm>
            <a:off x="3288792" y="2281428"/>
            <a:ext cx="0" cy="562356"/>
          </a:xfrm>
          <a:prstGeom prst="line">
            <a:avLst/>
          </a:prstGeom>
          <a:noFill/>
          <a:ln w="12700">
            <a:solidFill>
              <a:srgbClr val="E2E7F0"/>
            </a:solidFill>
            <a:prstDash val="solid"/>
          </a:ln>
        </p:spPr>
      </p:sp>
      <p:sp>
        <p:nvSpPr>
          <p:cNvPr id="25" name="Shape 23"/>
          <p:cNvSpPr/>
          <p:nvPr/>
        </p:nvSpPr>
        <p:spPr>
          <a:xfrm>
            <a:off x="7312152" y="2281428"/>
            <a:ext cx="0" cy="562356"/>
          </a:xfrm>
          <a:prstGeom prst="line">
            <a:avLst/>
          </a:prstGeom>
          <a:noFill/>
          <a:ln w="12700">
            <a:solidFill>
              <a:srgbClr val="E2E7F0"/>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99341A"/>
          </a:solidFill>
          <a:ln w="12700">
            <a:solidFill>
              <a:srgbClr val="99341A"/>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E2E7F0"/>
            </a:solidFill>
            <a:prstDash val="solid"/>
          </a:ln>
        </p:spPr>
      </p:sp>
      <p:sp>
        <p:nvSpPr>
          <p:cNvPr id="32" name="Shape 30"/>
          <p:cNvSpPr/>
          <p:nvPr/>
        </p:nvSpPr>
        <p:spPr>
          <a:xfrm>
            <a:off x="3288792" y="2843784"/>
            <a:ext cx="0" cy="562356"/>
          </a:xfrm>
          <a:prstGeom prst="line">
            <a:avLst/>
          </a:prstGeom>
          <a:noFill/>
          <a:ln w="12700">
            <a:solidFill>
              <a:srgbClr val="E2E7F0"/>
            </a:solidFill>
            <a:prstDash val="solid"/>
          </a:ln>
        </p:spPr>
      </p:sp>
      <p:sp>
        <p:nvSpPr>
          <p:cNvPr id="33" name="Shape 31"/>
          <p:cNvSpPr/>
          <p:nvPr/>
        </p:nvSpPr>
        <p:spPr>
          <a:xfrm>
            <a:off x="7312152" y="2843784"/>
            <a:ext cx="0" cy="562356"/>
          </a:xfrm>
          <a:prstGeom prst="line">
            <a:avLst/>
          </a:prstGeom>
          <a:noFill/>
          <a:ln w="12700">
            <a:solidFill>
              <a:srgbClr val="E2E7F0"/>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99341A"/>
          </a:solidFill>
          <a:ln w="12700">
            <a:solidFill>
              <a:srgbClr val="99341A"/>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E2E7F0"/>
            </a:solidFill>
            <a:prstDash val="solid"/>
          </a:ln>
        </p:spPr>
      </p:sp>
      <p:sp>
        <p:nvSpPr>
          <p:cNvPr id="40" name="Shape 38"/>
          <p:cNvSpPr/>
          <p:nvPr/>
        </p:nvSpPr>
        <p:spPr>
          <a:xfrm>
            <a:off x="3288792" y="3406140"/>
            <a:ext cx="0" cy="562356"/>
          </a:xfrm>
          <a:prstGeom prst="line">
            <a:avLst/>
          </a:prstGeom>
          <a:noFill/>
          <a:ln w="12700">
            <a:solidFill>
              <a:srgbClr val="E2E7F0"/>
            </a:solidFill>
            <a:prstDash val="solid"/>
          </a:ln>
        </p:spPr>
      </p:sp>
      <p:sp>
        <p:nvSpPr>
          <p:cNvPr id="41" name="Shape 39"/>
          <p:cNvSpPr/>
          <p:nvPr/>
        </p:nvSpPr>
        <p:spPr>
          <a:xfrm>
            <a:off x="7312152" y="3406140"/>
            <a:ext cx="0" cy="562356"/>
          </a:xfrm>
          <a:prstGeom prst="line">
            <a:avLst/>
          </a:prstGeom>
          <a:noFill/>
          <a:ln w="12700">
            <a:solidFill>
              <a:srgbClr val="E2E7F0"/>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E2E7F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B6470"/>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大量使用。交互过程本身就是本项唯一的一手数据。</a:t>
            </a:r>
            <a:endParaRPr lang="en-US" sz="1050" dirty="0"/>
          </a:p>
        </p:txBody>
      </p:sp>
      <p:sp>
        <p:nvSpPr>
          <p:cNvPr id="47" name="Shape 45"/>
          <p:cNvSpPr/>
          <p:nvPr/>
        </p:nvSpPr>
        <p:spPr>
          <a:xfrm>
            <a:off x="1295400" y="3968496"/>
            <a:ext cx="9981895" cy="0"/>
          </a:xfrm>
          <a:prstGeom prst="line">
            <a:avLst/>
          </a:prstGeom>
          <a:noFill/>
          <a:ln w="12700">
            <a:solidFill>
              <a:srgbClr val="E2E7F0"/>
            </a:solidFill>
            <a:prstDash val="solid"/>
          </a:ln>
        </p:spPr>
      </p:sp>
      <p:sp>
        <p:nvSpPr>
          <p:cNvPr id="48" name="Shape 46"/>
          <p:cNvSpPr/>
          <p:nvPr/>
        </p:nvSpPr>
        <p:spPr>
          <a:xfrm>
            <a:off x="3288792" y="3968496"/>
            <a:ext cx="0" cy="562356"/>
          </a:xfrm>
          <a:prstGeom prst="line">
            <a:avLst/>
          </a:prstGeom>
          <a:noFill/>
          <a:ln w="12700">
            <a:solidFill>
              <a:srgbClr val="E2E7F0"/>
            </a:solidFill>
            <a:prstDash val="solid"/>
          </a:ln>
        </p:spPr>
      </p:sp>
      <p:sp>
        <p:nvSpPr>
          <p:cNvPr id="49" name="Shape 47"/>
          <p:cNvSpPr/>
          <p:nvPr/>
        </p:nvSpPr>
        <p:spPr>
          <a:xfrm>
            <a:off x="7312152" y="3968496"/>
            <a:ext cx="0" cy="562356"/>
          </a:xfrm>
          <a:prstGeom prst="line">
            <a:avLst/>
          </a:prstGeom>
          <a:noFill/>
          <a:ln w="12700">
            <a:solidFill>
              <a:srgbClr val="E2E7F0"/>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99341A"/>
          </a:solidFill>
          <a:ln w="12700">
            <a:solidFill>
              <a:srgbClr val="99341A"/>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E2E7F0"/>
            </a:solidFill>
            <a:prstDash val="solid"/>
          </a:ln>
        </p:spPr>
      </p:sp>
      <p:sp>
        <p:nvSpPr>
          <p:cNvPr id="56" name="Shape 54"/>
          <p:cNvSpPr/>
          <p:nvPr/>
        </p:nvSpPr>
        <p:spPr>
          <a:xfrm>
            <a:off x="3288792" y="4530852"/>
            <a:ext cx="0" cy="562356"/>
          </a:xfrm>
          <a:prstGeom prst="line">
            <a:avLst/>
          </a:prstGeom>
          <a:noFill/>
          <a:ln w="12700">
            <a:solidFill>
              <a:srgbClr val="E2E7F0"/>
            </a:solidFill>
            <a:prstDash val="solid"/>
          </a:ln>
        </p:spPr>
      </p:sp>
      <p:sp>
        <p:nvSpPr>
          <p:cNvPr id="57" name="Shape 55"/>
          <p:cNvSpPr/>
          <p:nvPr/>
        </p:nvSpPr>
        <p:spPr>
          <a:xfrm>
            <a:off x="7312152" y="4530852"/>
            <a:ext cx="0" cy="562356"/>
          </a:xfrm>
          <a:prstGeom prst="line">
            <a:avLst/>
          </a:prstGeom>
          <a:noFill/>
          <a:ln w="12700">
            <a:solidFill>
              <a:srgbClr val="E2E7F0"/>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EBC4B2"/>
          </a:solidFill>
          <a:ln w="12700">
            <a:solidFill>
              <a:srgbClr val="D9A98F"/>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1A2029"/>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E2E7F0"/>
            </a:solidFill>
            <a:prstDash val="solid"/>
          </a:ln>
        </p:spPr>
      </p:sp>
      <p:sp>
        <p:nvSpPr>
          <p:cNvPr id="64" name="Shape 62"/>
          <p:cNvSpPr/>
          <p:nvPr/>
        </p:nvSpPr>
        <p:spPr>
          <a:xfrm>
            <a:off x="3288792" y="5093208"/>
            <a:ext cx="0" cy="562356"/>
          </a:xfrm>
          <a:prstGeom prst="line">
            <a:avLst/>
          </a:prstGeom>
          <a:noFill/>
          <a:ln w="12700">
            <a:solidFill>
              <a:srgbClr val="E2E7F0"/>
            </a:solidFill>
            <a:prstDash val="solid"/>
          </a:ln>
        </p:spPr>
      </p:sp>
      <p:sp>
        <p:nvSpPr>
          <p:cNvPr id="65" name="Shape 63"/>
          <p:cNvSpPr/>
          <p:nvPr/>
        </p:nvSpPr>
        <p:spPr>
          <a:xfrm>
            <a:off x="7312152" y="5093208"/>
            <a:ext cx="0" cy="562356"/>
          </a:xfrm>
          <a:prstGeom prst="line">
            <a:avLst/>
          </a:prstGeom>
          <a:noFill/>
          <a:ln w="12700">
            <a:solidFill>
              <a:srgbClr val="E2E7F0"/>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F1B2D"/>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99341A"/>
          </a:solidFill>
          <a:ln w="12700">
            <a:solidFill>
              <a:srgbClr val="99341A"/>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1A2029"/>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B6470"/>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E2E7F0"/>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B6470"/>
                </a:solidFill>
                <a:latin typeface="Microsoft YaHei" pitchFamily="34" charset="0"/>
                <a:ea typeface="Microsoft YaHei" pitchFamily="34" charset="-122"/>
                <a:cs typeface="Microsoft YaHei" pitchFamily="34" charset="-120"/>
              </a:rPr>
              <a:t>六行中有四行收紧。收紧的对象是让 AI 代替学生判断 AI，学生使用 AI 本身反倒是本项的任务内容。</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B"/>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E2E7F0"/>
            </a:solidFill>
            <a:prstDash val="solid"/>
          </a:ln>
        </p:spPr>
      </p:sp>
      <p:sp>
        <p:nvSpPr>
          <p:cNvPr id="3" name="Shape 1"/>
          <p:cNvSpPr/>
          <p:nvPr/>
        </p:nvSpPr>
        <p:spPr>
          <a:xfrm>
            <a:off x="485775" y="866775"/>
            <a:ext cx="95250" cy="95250"/>
          </a:xfrm>
          <a:prstGeom prst="ellipse">
            <a:avLst/>
          </a:prstGeom>
          <a:solidFill>
            <a:srgbClr val="C2CBD8"/>
          </a:solidFill>
          <a:ln w="25400">
            <a:solidFill>
              <a:srgbClr val="C2CBD8"/>
            </a:solidFill>
            <a:prstDash val="solid"/>
          </a:ln>
        </p:spPr>
      </p:sp>
      <p:sp>
        <p:nvSpPr>
          <p:cNvPr id="4" name="Shape 2"/>
          <p:cNvSpPr/>
          <p:nvPr/>
        </p:nvSpPr>
        <p:spPr>
          <a:xfrm>
            <a:off x="485775" y="1478756"/>
            <a:ext cx="95250" cy="95250"/>
          </a:xfrm>
          <a:prstGeom prst="ellipse">
            <a:avLst/>
          </a:prstGeom>
          <a:solidFill>
            <a:srgbClr val="C2CBD8"/>
          </a:solidFill>
          <a:ln w="25400">
            <a:solidFill>
              <a:srgbClr val="C2CBD8"/>
            </a:solidFill>
            <a:prstDash val="solid"/>
          </a:ln>
        </p:spPr>
      </p:sp>
      <p:sp>
        <p:nvSpPr>
          <p:cNvPr id="5" name="Shape 3"/>
          <p:cNvSpPr/>
          <p:nvPr/>
        </p:nvSpPr>
        <p:spPr>
          <a:xfrm>
            <a:off x="485775" y="2090738"/>
            <a:ext cx="95250" cy="95250"/>
          </a:xfrm>
          <a:prstGeom prst="ellipse">
            <a:avLst/>
          </a:prstGeom>
          <a:solidFill>
            <a:srgbClr val="C2CBD8"/>
          </a:solidFill>
          <a:ln w="25400">
            <a:solidFill>
              <a:srgbClr val="C2CBD8"/>
            </a:solidFill>
            <a:prstDash val="solid"/>
          </a:ln>
        </p:spPr>
      </p:sp>
      <p:sp>
        <p:nvSpPr>
          <p:cNvPr id="6" name="Shape 4"/>
          <p:cNvSpPr/>
          <p:nvPr/>
        </p:nvSpPr>
        <p:spPr>
          <a:xfrm>
            <a:off x="485775" y="2702719"/>
            <a:ext cx="95250" cy="95250"/>
          </a:xfrm>
          <a:prstGeom prst="ellipse">
            <a:avLst/>
          </a:prstGeom>
          <a:solidFill>
            <a:srgbClr val="C2CBD8"/>
          </a:solidFill>
          <a:ln w="25400">
            <a:solidFill>
              <a:srgbClr val="C2CBD8"/>
            </a:solidFill>
            <a:prstDash val="solid"/>
          </a:ln>
        </p:spPr>
      </p:sp>
      <p:sp>
        <p:nvSpPr>
          <p:cNvPr id="7" name="Shape 5"/>
          <p:cNvSpPr/>
          <p:nvPr/>
        </p:nvSpPr>
        <p:spPr>
          <a:xfrm>
            <a:off x="485775" y="3314700"/>
            <a:ext cx="95250" cy="95250"/>
          </a:xfrm>
          <a:prstGeom prst="ellipse">
            <a:avLst/>
          </a:prstGeom>
          <a:solidFill>
            <a:srgbClr val="C2CBD8"/>
          </a:solidFill>
          <a:ln w="25400">
            <a:solidFill>
              <a:srgbClr val="C2CBD8"/>
            </a:solidFill>
            <a:prstDash val="solid"/>
          </a:ln>
        </p:spPr>
      </p:sp>
      <p:sp>
        <p:nvSpPr>
          <p:cNvPr id="8" name="Shape 6"/>
          <p:cNvSpPr/>
          <p:nvPr/>
        </p:nvSpPr>
        <p:spPr>
          <a:xfrm>
            <a:off x="485775" y="3926681"/>
            <a:ext cx="95250" cy="95250"/>
          </a:xfrm>
          <a:prstGeom prst="ellipse">
            <a:avLst/>
          </a:prstGeom>
          <a:solidFill>
            <a:srgbClr val="C2CBD8"/>
          </a:solidFill>
          <a:ln w="25400">
            <a:solidFill>
              <a:srgbClr val="C2CBD8"/>
            </a:solidFill>
            <a:prstDash val="solid"/>
          </a:ln>
        </p:spPr>
      </p:sp>
      <p:sp>
        <p:nvSpPr>
          <p:cNvPr id="9" name="Shape 7"/>
          <p:cNvSpPr/>
          <p:nvPr/>
        </p:nvSpPr>
        <p:spPr>
          <a:xfrm>
            <a:off x="485775" y="4538663"/>
            <a:ext cx="95250" cy="95250"/>
          </a:xfrm>
          <a:prstGeom prst="ellipse">
            <a:avLst/>
          </a:prstGeom>
          <a:solidFill>
            <a:srgbClr val="C2CBD8"/>
          </a:solidFill>
          <a:ln w="25400">
            <a:solidFill>
              <a:srgbClr val="C2CBD8"/>
            </a:solidFill>
            <a:prstDash val="solid"/>
          </a:ln>
        </p:spPr>
      </p:sp>
      <p:sp>
        <p:nvSpPr>
          <p:cNvPr id="10" name="Shape 8"/>
          <p:cNvSpPr/>
          <p:nvPr/>
        </p:nvSpPr>
        <p:spPr>
          <a:xfrm>
            <a:off x="485775" y="5150644"/>
            <a:ext cx="95250" cy="95250"/>
          </a:xfrm>
          <a:prstGeom prst="ellipse">
            <a:avLst/>
          </a:prstGeom>
          <a:solidFill>
            <a:srgbClr val="C2CBD8"/>
          </a:solidFill>
          <a:ln w="25400">
            <a:solidFill>
              <a:srgbClr val="C2CBD8"/>
            </a:solidFill>
            <a:prstDash val="solid"/>
          </a:ln>
        </p:spPr>
      </p:sp>
      <p:sp>
        <p:nvSpPr>
          <p:cNvPr id="11" name="Shape 9"/>
          <p:cNvSpPr/>
          <p:nvPr/>
        </p:nvSpPr>
        <p:spPr>
          <a:xfrm>
            <a:off x="466725" y="5743575"/>
            <a:ext cx="133350" cy="133350"/>
          </a:xfrm>
          <a:prstGeom prst="ellipse">
            <a:avLst/>
          </a:prstGeom>
          <a:solidFill>
            <a:srgbClr val="B0472A"/>
          </a:solidFill>
          <a:ln w="25400">
            <a:solidFill>
              <a:srgbClr val="B0472A"/>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B6470"/>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F1B2D"/>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B6470"/>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A9B3C0"/>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B0472A"/>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33414F"/>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F1B2D"/>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E2E7F0"/>
            </a:solidFill>
            <a:prstDash val="solid"/>
          </a:ln>
        </p:spPr>
      </p:sp>
      <p:sp>
        <p:nvSpPr>
          <p:cNvPr id="19" name="Shape 17"/>
          <p:cNvSpPr/>
          <p:nvPr/>
        </p:nvSpPr>
        <p:spPr>
          <a:xfrm>
            <a:off x="1295400" y="2052828"/>
            <a:ext cx="38100" cy="621792"/>
          </a:xfrm>
          <a:prstGeom prst="rect">
            <a:avLst/>
          </a:prstGeom>
          <a:solidFill>
            <a:srgbClr val="B0472A"/>
          </a:solidFill>
          <a:ln w="12700">
            <a:solidFill>
              <a:srgbClr val="B0472A"/>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E2E7F0"/>
            </a:solidFill>
            <a:prstDash val="solid"/>
          </a:ln>
        </p:spPr>
      </p:sp>
      <p:sp>
        <p:nvSpPr>
          <p:cNvPr id="23" name="Shape 21"/>
          <p:cNvSpPr/>
          <p:nvPr/>
        </p:nvSpPr>
        <p:spPr>
          <a:xfrm>
            <a:off x="1295400" y="2875788"/>
            <a:ext cx="38100" cy="621792"/>
          </a:xfrm>
          <a:prstGeom prst="rect">
            <a:avLst/>
          </a:prstGeom>
          <a:solidFill>
            <a:srgbClr val="B0472A"/>
          </a:solidFill>
          <a:ln w="12700">
            <a:solidFill>
              <a:srgbClr val="B0472A"/>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索取「如何写好提示词」的现成答案。规律须从学生自己的对照记录中归纳，索取即等于把本项的评价维度全部让渡出去。</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E2E7F0"/>
            </a:solidFill>
            <a:prstDash val="solid"/>
          </a:ln>
        </p:spPr>
      </p:sp>
      <p:sp>
        <p:nvSpPr>
          <p:cNvPr id="27" name="Shape 25"/>
          <p:cNvSpPr/>
          <p:nvPr/>
        </p:nvSpPr>
        <p:spPr>
          <a:xfrm>
            <a:off x="1295400" y="3698748"/>
            <a:ext cx="38100" cy="393192"/>
          </a:xfrm>
          <a:prstGeom prst="rect">
            <a:avLst/>
          </a:prstGeom>
          <a:solidFill>
            <a:srgbClr val="B0472A"/>
          </a:solidFill>
          <a:ln w="12700">
            <a:solidFill>
              <a:srgbClr val="B0472A"/>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B0472A"/>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1A2029"/>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33414F"/>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B6470"/>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E2E7F0"/>
            </a:solidFill>
            <a:prstDash val="solid"/>
          </a:ln>
        </p:spPr>
      </p:sp>
      <p:sp>
        <p:nvSpPr>
          <p:cNvPr id="32" name="Shape 30"/>
          <p:cNvSpPr/>
          <p:nvPr/>
        </p:nvSpPr>
        <p:spPr>
          <a:xfrm>
            <a:off x="1295400" y="4695444"/>
            <a:ext cx="38100" cy="859536"/>
          </a:xfrm>
          <a:prstGeom prst="rect">
            <a:avLst/>
          </a:prstGeom>
          <a:solidFill>
            <a:srgbClr val="B0472A"/>
          </a:solidFill>
          <a:ln w="12700">
            <a:solidFill>
              <a:srgbClr val="B0472A"/>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B0472A"/>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1A2029"/>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2026-08-21T15:44:43Z</dcterms:created>
  <dcterms:modified xsi:type="dcterms:W3CDTF">2026-08-21T15:44:43Z</dcterms:modified>
</cp:coreProperties>
</file>