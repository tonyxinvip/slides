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3f91526c40456e" /><Relationship Type="http://schemas.openxmlformats.org/officeDocument/2006/relationships/extended-properties" Target="/docProps/app.xml" Id="Rdacd452059e94c31" /><Relationship Type="http://schemas.openxmlformats.org/officeDocument/2006/relationships/officeDocument" Target="/ppt/presentation.xml" Id="R10277b9bf8c74b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d2a38db2824398"/>
  </p:sldMasterIdLst>
  <p:notesMasterIdLst>
    <p:notesMasterId xmlns:r="http://schemas.openxmlformats.org/officeDocument/2006/relationships" r:id="Rd654befaa31e4348"/>
  </p:notesMasterIdLst>
  <p:sldIdLst>
    <p:sldId xmlns:r="http://schemas.openxmlformats.org/officeDocument/2006/relationships" id="256" r:id="Rc6ced1e7d48342b1"/>
    <p:sldId xmlns:r="http://schemas.openxmlformats.org/officeDocument/2006/relationships" id="257" r:id="R5991206b325d453f"/>
    <p:sldId xmlns:r="http://schemas.openxmlformats.org/officeDocument/2006/relationships" id="258" r:id="R86bbd629b7a84cf8"/>
    <p:sldId xmlns:r="http://schemas.openxmlformats.org/officeDocument/2006/relationships" id="259" r:id="R2e96cc7d1ba84c83"/>
    <p:sldId xmlns:r="http://schemas.openxmlformats.org/officeDocument/2006/relationships" id="260" r:id="Rac1c5f4a625d4f89"/>
    <p:sldId xmlns:r="http://schemas.openxmlformats.org/officeDocument/2006/relationships" id="261" r:id="R17af994300a445d1"/>
    <p:sldId xmlns:r="http://schemas.openxmlformats.org/officeDocument/2006/relationships" id="262" r:id="R6c3bf1d6616d4bbe"/>
    <p:sldId xmlns:r="http://schemas.openxmlformats.org/officeDocument/2006/relationships" id="263" r:id="Rc0412d8c8844469f"/>
    <p:sldId xmlns:r="http://schemas.openxmlformats.org/officeDocument/2006/relationships" id="264" r:id="R6bb1d9d86955494a"/>
    <p:sldId xmlns:r="http://schemas.openxmlformats.org/officeDocument/2006/relationships" id="265" r:id="R96e5fc2c69184a19"/>
    <p:sldId xmlns:r="http://schemas.openxmlformats.org/officeDocument/2006/relationships" id="266" r:id="Rd0f07d6257b84c65"/>
    <p:sldId xmlns:r="http://schemas.openxmlformats.org/officeDocument/2006/relationships" id="267" r:id="Rb3951408fc774a85"/>
    <p:sldId xmlns:r="http://schemas.openxmlformats.org/officeDocument/2006/relationships" id="268" r:id="R5b363f8f99494b42"/>
    <p:sldId xmlns:r="http://schemas.openxmlformats.org/officeDocument/2006/relationships" id="269" r:id="Rd870505738e8457a"/>
    <p:sldId xmlns:r="http://schemas.openxmlformats.org/officeDocument/2006/relationships" id="270" r:id="Rdf58a7f1c785474a"/>
    <p:sldId xmlns:r="http://schemas.openxmlformats.org/officeDocument/2006/relationships" id="271" r:id="Rf1b675bb768e45ad"/>
    <p:sldId xmlns:r="http://schemas.openxmlformats.org/officeDocument/2006/relationships" id="272" r:id="R9e4154ad16744807"/>
    <p:sldId xmlns:r="http://schemas.openxmlformats.org/officeDocument/2006/relationships" id="273" r:id="Rad9bbe29d3414296"/>
    <p:sldId xmlns:r="http://schemas.openxmlformats.org/officeDocument/2006/relationships" id="274" r:id="R376fc2fc960644b7"/>
    <p:sldId xmlns:r="http://schemas.openxmlformats.org/officeDocument/2006/relationships" id="275" r:id="R33c7f2d927e64b53"/>
    <p:sldId xmlns:r="http://schemas.openxmlformats.org/officeDocument/2006/relationships" id="276" r:id="Rda4fd66278464687"/>
    <p:sldId xmlns:r="http://schemas.openxmlformats.org/officeDocument/2006/relationships" id="277" r:id="R164fe26847774cea"/>
    <p:sldId xmlns:r="http://schemas.openxmlformats.org/officeDocument/2006/relationships" id="278" r:id="R64d41db8c4a548d6"/>
    <p:sldId xmlns:r="http://schemas.openxmlformats.org/officeDocument/2006/relationships" id="279" r:id="Ra7c8400aa01349fe"/>
    <p:sldId xmlns:r="http://schemas.openxmlformats.org/officeDocument/2006/relationships" id="280" r:id="R8d38a3ee95dd4393"/>
    <p:sldId xmlns:r="http://schemas.openxmlformats.org/officeDocument/2006/relationships" id="281" r:id="R2cd8c6d3cc1e4fcb"/>
    <p:sldId xmlns:r="http://schemas.openxmlformats.org/officeDocument/2006/relationships" id="282" r:id="Ra61cbf1c52e24ca9"/>
    <p:sldId xmlns:r="http://schemas.openxmlformats.org/officeDocument/2006/relationships" id="283" r:id="Re21ab3c655ae4dfe"/>
    <p:sldId xmlns:r="http://schemas.openxmlformats.org/officeDocument/2006/relationships" id="284" r:id="R017468e9d6674a2e"/>
    <p:sldId xmlns:r="http://schemas.openxmlformats.org/officeDocument/2006/relationships" id="285" r:id="Rfff182c52ee843b4"/>
    <p:sldId xmlns:r="http://schemas.openxmlformats.org/officeDocument/2006/relationships" id="286" r:id="R7695b017aca948b2"/>
    <p:sldId xmlns:r="http://schemas.openxmlformats.org/officeDocument/2006/relationships" id="287" r:id="R6cd2eca9d72e47fb"/>
    <p:sldId xmlns:r="http://schemas.openxmlformats.org/officeDocument/2006/relationships" id="288" r:id="R9141f05e259b4b8b"/>
    <p:sldId xmlns:r="http://schemas.openxmlformats.org/officeDocument/2006/relationships" id="289" r:id="Ra47621a0361e4ad3"/>
    <p:sldId xmlns:r="http://schemas.openxmlformats.org/officeDocument/2006/relationships" id="290" r:id="R8cc73514f1cb4268"/>
    <p:sldId xmlns:r="http://schemas.openxmlformats.org/officeDocument/2006/relationships" id="291" r:id="R472a7a02c3884182"/>
    <p:sldId xmlns:r="http://schemas.openxmlformats.org/officeDocument/2006/relationships" id="292" r:id="Rbe4d3d47fa204161"/>
    <p:sldId xmlns:r="http://schemas.openxmlformats.org/officeDocument/2006/relationships" id="293" r:id="R9ef14defd5ae431f"/>
    <p:sldId xmlns:r="http://schemas.openxmlformats.org/officeDocument/2006/relationships" id="294" r:id="Rc08bb153f52a4360"/>
    <p:sldId xmlns:r="http://schemas.openxmlformats.org/officeDocument/2006/relationships" id="295" r:id="Rf44fc4b2a5da49ef"/>
    <p:sldId xmlns:r="http://schemas.openxmlformats.org/officeDocument/2006/relationships" id="296" r:id="Rfcd0975337e640aa"/>
    <p:sldId xmlns:r="http://schemas.openxmlformats.org/officeDocument/2006/relationships" id="297" r:id="R3be53776d4a84701"/>
    <p:sldId xmlns:r="http://schemas.openxmlformats.org/officeDocument/2006/relationships" id="298" r:id="R9e145cc364404b6e"/>
    <p:sldId xmlns:r="http://schemas.openxmlformats.org/officeDocument/2006/relationships" id="299" r:id="R94aa306fd5c0469e"/>
    <p:sldId xmlns:r="http://schemas.openxmlformats.org/officeDocument/2006/relationships" id="300" r:id="R9b7f68e1e721406a"/>
    <p:sldId xmlns:r="http://schemas.openxmlformats.org/officeDocument/2006/relationships" id="301" r:id="R894144a901db4b64"/>
    <p:sldId xmlns:r="http://schemas.openxmlformats.org/officeDocument/2006/relationships" id="302" r:id="R39f3fc4963ec424c"/>
    <p:sldId xmlns:r="http://schemas.openxmlformats.org/officeDocument/2006/relationships" id="303" r:id="R055dfb9bac3c4f89"/>
    <p:sldId xmlns:r="http://schemas.openxmlformats.org/officeDocument/2006/relationships" id="304" r:id="Ra280bb49e3da47b1"/>
    <p:sldId xmlns:r="http://schemas.openxmlformats.org/officeDocument/2006/relationships" id="305" r:id="R16a7b69a4dc64dea"/>
    <p:sldId xmlns:r="http://schemas.openxmlformats.org/officeDocument/2006/relationships" id="306" r:id="R6618f2e874c3449b"/>
    <p:sldId xmlns:r="http://schemas.openxmlformats.org/officeDocument/2006/relationships" id="307" r:id="R152b0a5ae00a4cab"/>
    <p:sldId xmlns:r="http://schemas.openxmlformats.org/officeDocument/2006/relationships" id="308" r:id="R01a4783ef42343e4"/>
    <p:sldId xmlns:r="http://schemas.openxmlformats.org/officeDocument/2006/relationships" id="309" r:id="R2a82489345ad4e5f"/>
    <p:sldId xmlns:r="http://schemas.openxmlformats.org/officeDocument/2006/relationships" id="310" r:id="R1df7b38c02e2457a"/>
    <p:sldId xmlns:r="http://schemas.openxmlformats.org/officeDocument/2006/relationships" id="311" r:id="Rf8fd68af54e64b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28c678d3504b21" /><Relationship Type="http://schemas.openxmlformats.org/officeDocument/2006/relationships/slideMaster" Target="/ppt/slideMasters/slideMaster1.xml" Id="R25d2a38db2824398" /><Relationship Type="http://schemas.openxmlformats.org/officeDocument/2006/relationships/notesMaster" Target="/ppt/notesMasters/notesMaster1.xml" Id="Rd654befaa31e4348" /><Relationship Type="http://schemas.openxmlformats.org/officeDocument/2006/relationships/presProps" Target="/ppt/presProps.xml" Id="R092dce0305374d8a" /><Relationship Type="http://schemas.openxmlformats.org/officeDocument/2006/relationships/tableStyles" Target="/ppt/tableStyles.xml" Id="R98da7390257b4698" /><Relationship Type="http://schemas.openxmlformats.org/officeDocument/2006/relationships/slide" Target="/ppt/slides/slide1.xml" Id="Rc6ced1e7d48342b1" /><Relationship Type="http://schemas.openxmlformats.org/officeDocument/2006/relationships/slide" Target="/ppt/slides/slide2.xml" Id="R5991206b325d453f" /><Relationship Type="http://schemas.openxmlformats.org/officeDocument/2006/relationships/slide" Target="/ppt/slides/slide3.xml" Id="R86bbd629b7a84cf8" /><Relationship Type="http://schemas.openxmlformats.org/officeDocument/2006/relationships/slide" Target="/ppt/slides/slide4.xml" Id="R2e96cc7d1ba84c83" /><Relationship Type="http://schemas.openxmlformats.org/officeDocument/2006/relationships/slide" Target="/ppt/slides/slide5.xml" Id="Rac1c5f4a625d4f89" /><Relationship Type="http://schemas.openxmlformats.org/officeDocument/2006/relationships/slide" Target="/ppt/slides/slide6.xml" Id="R17af994300a445d1" /><Relationship Type="http://schemas.openxmlformats.org/officeDocument/2006/relationships/slide" Target="/ppt/slides/slide7.xml" Id="R6c3bf1d6616d4bbe" /><Relationship Type="http://schemas.openxmlformats.org/officeDocument/2006/relationships/slide" Target="/ppt/slides/slide8.xml" Id="Rc0412d8c8844469f" /><Relationship Type="http://schemas.openxmlformats.org/officeDocument/2006/relationships/slide" Target="/ppt/slides/slide9.xml" Id="R6bb1d9d86955494a" /><Relationship Type="http://schemas.openxmlformats.org/officeDocument/2006/relationships/slide" Target="/ppt/slides/slide10.xml" Id="R96e5fc2c69184a19" /><Relationship Type="http://schemas.openxmlformats.org/officeDocument/2006/relationships/slide" Target="/ppt/slides/slide11.xml" Id="Rd0f07d6257b84c65" /><Relationship Type="http://schemas.openxmlformats.org/officeDocument/2006/relationships/slide" Target="/ppt/slides/slide12.xml" Id="Rb3951408fc774a85" /><Relationship Type="http://schemas.openxmlformats.org/officeDocument/2006/relationships/slide" Target="/ppt/slides/slide13.xml" Id="R5b363f8f99494b42" /><Relationship Type="http://schemas.openxmlformats.org/officeDocument/2006/relationships/slide" Target="/ppt/slides/slide14.xml" Id="Rd870505738e8457a" /><Relationship Type="http://schemas.openxmlformats.org/officeDocument/2006/relationships/slide" Target="/ppt/slides/slide15.xml" Id="Rdf58a7f1c785474a" /><Relationship Type="http://schemas.openxmlformats.org/officeDocument/2006/relationships/slide" Target="/ppt/slides/slide16.xml" Id="Rf1b675bb768e45ad" /><Relationship Type="http://schemas.openxmlformats.org/officeDocument/2006/relationships/slide" Target="/ppt/slides/slide17.xml" Id="R9e4154ad16744807" /><Relationship Type="http://schemas.openxmlformats.org/officeDocument/2006/relationships/slide" Target="/ppt/slides/slide18.xml" Id="Rad9bbe29d3414296" /><Relationship Type="http://schemas.openxmlformats.org/officeDocument/2006/relationships/slide" Target="/ppt/slides/slide19.xml" Id="R376fc2fc960644b7" /><Relationship Type="http://schemas.openxmlformats.org/officeDocument/2006/relationships/slide" Target="/ppt/slides/slide20.xml" Id="R33c7f2d927e64b53" /><Relationship Type="http://schemas.openxmlformats.org/officeDocument/2006/relationships/slide" Target="/ppt/slides/slide21.xml" Id="Rda4fd66278464687" /><Relationship Type="http://schemas.openxmlformats.org/officeDocument/2006/relationships/slide" Target="/ppt/slides/slide22.xml" Id="R164fe26847774cea" /><Relationship Type="http://schemas.openxmlformats.org/officeDocument/2006/relationships/slide" Target="/ppt/slides/slide23.xml" Id="R64d41db8c4a548d6" /><Relationship Type="http://schemas.openxmlformats.org/officeDocument/2006/relationships/slide" Target="/ppt/slides/slide24.xml" Id="Ra7c8400aa01349fe" /><Relationship Type="http://schemas.openxmlformats.org/officeDocument/2006/relationships/slide" Target="/ppt/slides/slide25.xml" Id="R8d38a3ee95dd4393" /><Relationship Type="http://schemas.openxmlformats.org/officeDocument/2006/relationships/slide" Target="/ppt/slides/slide26.xml" Id="R2cd8c6d3cc1e4fcb" /><Relationship Type="http://schemas.openxmlformats.org/officeDocument/2006/relationships/slide" Target="/ppt/slides/slide27.xml" Id="Ra61cbf1c52e24ca9" /><Relationship Type="http://schemas.openxmlformats.org/officeDocument/2006/relationships/slide" Target="/ppt/slides/slide28.xml" Id="Re21ab3c655ae4dfe" /><Relationship Type="http://schemas.openxmlformats.org/officeDocument/2006/relationships/slide" Target="/ppt/slides/slide29.xml" Id="R017468e9d6674a2e" /><Relationship Type="http://schemas.openxmlformats.org/officeDocument/2006/relationships/slide" Target="/ppt/slides/slide30.xml" Id="Rfff182c52ee843b4" /><Relationship Type="http://schemas.openxmlformats.org/officeDocument/2006/relationships/slide" Target="/ppt/slides/slide31.xml" Id="R7695b017aca948b2" /><Relationship Type="http://schemas.openxmlformats.org/officeDocument/2006/relationships/slide" Target="/ppt/slides/slide32.xml" Id="R6cd2eca9d72e47fb" /><Relationship Type="http://schemas.openxmlformats.org/officeDocument/2006/relationships/slide" Target="/ppt/slides/slide33.xml" Id="R9141f05e259b4b8b" /><Relationship Type="http://schemas.openxmlformats.org/officeDocument/2006/relationships/slide" Target="/ppt/slides/slide34.xml" Id="Ra47621a0361e4ad3" /><Relationship Type="http://schemas.openxmlformats.org/officeDocument/2006/relationships/slide" Target="/ppt/slides/slide35.xml" Id="R8cc73514f1cb4268" /><Relationship Type="http://schemas.openxmlformats.org/officeDocument/2006/relationships/slide" Target="/ppt/slides/slide36.xml" Id="R472a7a02c3884182" /><Relationship Type="http://schemas.openxmlformats.org/officeDocument/2006/relationships/slide" Target="/ppt/slides/slide37.xml" Id="Rbe4d3d47fa204161" /><Relationship Type="http://schemas.openxmlformats.org/officeDocument/2006/relationships/slide" Target="/ppt/slides/slide38.xml" Id="R9ef14defd5ae431f" /><Relationship Type="http://schemas.openxmlformats.org/officeDocument/2006/relationships/slide" Target="/ppt/slides/slide39.xml" Id="Rc08bb153f52a4360" /><Relationship Type="http://schemas.openxmlformats.org/officeDocument/2006/relationships/slide" Target="/ppt/slides/slide40.xml" Id="Rf44fc4b2a5da49ef" /><Relationship Type="http://schemas.openxmlformats.org/officeDocument/2006/relationships/slide" Target="/ppt/slides/slide41.xml" Id="Rfcd0975337e640aa" /><Relationship Type="http://schemas.openxmlformats.org/officeDocument/2006/relationships/slide" Target="/ppt/slides/slide42.xml" Id="R3be53776d4a84701" /><Relationship Type="http://schemas.openxmlformats.org/officeDocument/2006/relationships/slide" Target="/ppt/slides/slide43.xml" Id="R9e145cc364404b6e" /><Relationship Type="http://schemas.openxmlformats.org/officeDocument/2006/relationships/slide" Target="/ppt/slides/slide44.xml" Id="R94aa306fd5c0469e" /><Relationship Type="http://schemas.openxmlformats.org/officeDocument/2006/relationships/slide" Target="/ppt/slides/slide45.xml" Id="R9b7f68e1e721406a" /><Relationship Type="http://schemas.openxmlformats.org/officeDocument/2006/relationships/slide" Target="/ppt/slides/slide46.xml" Id="R894144a901db4b64" /><Relationship Type="http://schemas.openxmlformats.org/officeDocument/2006/relationships/slide" Target="/ppt/slides/slide47.xml" Id="R39f3fc4963ec424c" /><Relationship Type="http://schemas.openxmlformats.org/officeDocument/2006/relationships/slide" Target="/ppt/slides/slide48.xml" Id="R055dfb9bac3c4f89" /><Relationship Type="http://schemas.openxmlformats.org/officeDocument/2006/relationships/slide" Target="/ppt/slides/slide49.xml" Id="Ra280bb49e3da47b1" /><Relationship Type="http://schemas.openxmlformats.org/officeDocument/2006/relationships/slide" Target="/ppt/slides/slide50.xml" Id="R16a7b69a4dc64dea" /><Relationship Type="http://schemas.openxmlformats.org/officeDocument/2006/relationships/slide" Target="/ppt/slides/slide51.xml" Id="R6618f2e874c3449b" /><Relationship Type="http://schemas.openxmlformats.org/officeDocument/2006/relationships/slide" Target="/ppt/slides/slide52.xml" Id="R152b0a5ae00a4cab" /><Relationship Type="http://schemas.openxmlformats.org/officeDocument/2006/relationships/slide" Target="/ppt/slides/slide53.xml" Id="R01a4783ef42343e4" /><Relationship Type="http://schemas.openxmlformats.org/officeDocument/2006/relationships/slide" Target="/ppt/slides/slide54.xml" Id="R2a82489345ad4e5f" /><Relationship Type="http://schemas.openxmlformats.org/officeDocument/2006/relationships/slide" Target="/ppt/slides/slide55.xml" Id="R1df7b38c02e2457a" /><Relationship Type="http://schemas.openxmlformats.org/officeDocument/2006/relationships/slide" Target="/ppt/slides/slide56.xml" Id="Rf8fd68af54e64b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a9b6276c6f40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0c3d1636b948f6" /><Relationship Type="http://schemas.openxmlformats.org/officeDocument/2006/relationships/notesMaster" Target="/ppt/notesMasters/notesMaster1.xml" Id="R8ab7e5ce2fa840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e9aee167f34e0f" /><Relationship Type="http://schemas.openxmlformats.org/officeDocument/2006/relationships/notesMaster" Target="/ppt/notesMasters/notesMaster1.xml" Id="R41d5896999ca41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675543a8494ca7" /><Relationship Type="http://schemas.openxmlformats.org/officeDocument/2006/relationships/notesMaster" Target="/ppt/notesMasters/notesMaster1.xml" Id="R47fb49bcf8ef4f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30dd5d6ce24966" /><Relationship Type="http://schemas.openxmlformats.org/officeDocument/2006/relationships/notesMaster" Target="/ppt/notesMasters/notesMaster1.xml" Id="R3c8c12ae5b7145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dcfc33a8b44edc" /><Relationship Type="http://schemas.openxmlformats.org/officeDocument/2006/relationships/notesMaster" Target="/ppt/notesMasters/notesMaster1.xml" Id="Re9c8eb1a12fe48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84c13b8cca4a72" /><Relationship Type="http://schemas.openxmlformats.org/officeDocument/2006/relationships/notesMaster" Target="/ppt/notesMasters/notesMaster1.xml" Id="R4697810cff714c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06ec3cc9f14c03" /><Relationship Type="http://schemas.openxmlformats.org/officeDocument/2006/relationships/notesMaster" Target="/ppt/notesMasters/notesMaster1.xml" Id="R513edd078c6345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f2797358e04bdc" /><Relationship Type="http://schemas.openxmlformats.org/officeDocument/2006/relationships/notesMaster" Target="/ppt/notesMasters/notesMaster1.xml" Id="Rfeec508ef6bf45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c3b6ef2e3a4dee" /><Relationship Type="http://schemas.openxmlformats.org/officeDocument/2006/relationships/notesMaster" Target="/ppt/notesMasters/notesMaster1.xml" Id="R9bf626a9c03c44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26731fe3004e8b" /><Relationship Type="http://schemas.openxmlformats.org/officeDocument/2006/relationships/notesMaster" Target="/ppt/notesMasters/notesMaster1.xml" Id="R08ba5f9e5ca14c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0f45976f1e4804" /><Relationship Type="http://schemas.openxmlformats.org/officeDocument/2006/relationships/notesMaster" Target="/ppt/notesMasters/notesMaster1.xml" Id="R989e4c21cebd4b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a1ebd962b143e5" /><Relationship Type="http://schemas.openxmlformats.org/officeDocument/2006/relationships/notesMaster" Target="/ppt/notesMasters/notesMaster1.xml" Id="Rfa98e51969b540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0323a5cc6c4902" /><Relationship Type="http://schemas.openxmlformats.org/officeDocument/2006/relationships/notesMaster" Target="/ppt/notesMasters/notesMaster1.xml" Id="R72c2bf00a88d48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58eaa5ba7047c2" /><Relationship Type="http://schemas.openxmlformats.org/officeDocument/2006/relationships/notesMaster" Target="/ppt/notesMasters/notesMaster1.xml" Id="Rd1b629df84c44c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fb12929d0b4bec" /><Relationship Type="http://schemas.openxmlformats.org/officeDocument/2006/relationships/notesMaster" Target="/ppt/notesMasters/notesMaster1.xml" Id="R6848362bdb9d47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aa6d3edb234b80" /><Relationship Type="http://schemas.openxmlformats.org/officeDocument/2006/relationships/notesMaster" Target="/ppt/notesMasters/notesMaster1.xml" Id="R71b9c1c0879045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31ea642da14091" /><Relationship Type="http://schemas.openxmlformats.org/officeDocument/2006/relationships/notesMaster" Target="/ppt/notesMasters/notesMaster1.xml" Id="R38131acdd2ca4b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0f2d7505ef42f0" /><Relationship Type="http://schemas.openxmlformats.org/officeDocument/2006/relationships/notesMaster" Target="/ppt/notesMasters/notesMaster1.xml" Id="Rf6ad115db9a349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ef2dec5e3f48f8" /><Relationship Type="http://schemas.openxmlformats.org/officeDocument/2006/relationships/notesMaster" Target="/ppt/notesMasters/notesMaster1.xml" Id="R0223c26ced2740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7c4aca9f2241c1" /><Relationship Type="http://schemas.openxmlformats.org/officeDocument/2006/relationships/notesMaster" Target="/ppt/notesMasters/notesMaster1.xml" Id="R7fe0dc069ce94b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115e8f586f34701" /><Relationship Type="http://schemas.openxmlformats.org/officeDocument/2006/relationships/notesMaster" Target="/ppt/notesMasters/notesMaster1.xml" Id="R433dafbfe64541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573447bd644b95" /><Relationship Type="http://schemas.openxmlformats.org/officeDocument/2006/relationships/notesMaster" Target="/ppt/notesMasters/notesMaster1.xml" Id="R76de17983584402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f471064d37463b" /><Relationship Type="http://schemas.openxmlformats.org/officeDocument/2006/relationships/notesMaster" Target="/ppt/notesMasters/notesMaster1.xml" Id="R0a850aefe0894c0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f1cf866038d4d79" /><Relationship Type="http://schemas.openxmlformats.org/officeDocument/2006/relationships/notesMaster" Target="/ppt/notesMasters/notesMaster1.xml" Id="R82d0cfcd59ec473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644c511ff54b5b" /><Relationship Type="http://schemas.openxmlformats.org/officeDocument/2006/relationships/notesMaster" Target="/ppt/notesMasters/notesMaster1.xml" Id="R0dea33cb17be4c1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49af1a6d2a94776" /><Relationship Type="http://schemas.openxmlformats.org/officeDocument/2006/relationships/notesMaster" Target="/ppt/notesMasters/notesMaster1.xml" Id="Ra5ea430472954fa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8ef77203b7c477d" /><Relationship Type="http://schemas.openxmlformats.org/officeDocument/2006/relationships/notesMaster" Target="/ppt/notesMasters/notesMaster1.xml" Id="R29e3198338864f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97d001f01084dfd" /><Relationship Type="http://schemas.openxmlformats.org/officeDocument/2006/relationships/notesMaster" Target="/ppt/notesMasters/notesMaster1.xml" Id="Rab1603e154b8414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bcb557a87894e4e" /><Relationship Type="http://schemas.openxmlformats.org/officeDocument/2006/relationships/notesMaster" Target="/ppt/notesMasters/notesMaster1.xml" Id="Rb07bfebb818a46a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1908d4c04594fc8" /><Relationship Type="http://schemas.openxmlformats.org/officeDocument/2006/relationships/notesMaster" Target="/ppt/notesMasters/notesMaster1.xml" Id="R171dd8aad5d84ca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56de1d3929c4267" /><Relationship Type="http://schemas.openxmlformats.org/officeDocument/2006/relationships/notesMaster" Target="/ppt/notesMasters/notesMaster1.xml" Id="R450d96b6f7284a0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aab01c17c284833" /><Relationship Type="http://schemas.openxmlformats.org/officeDocument/2006/relationships/notesMaster" Target="/ppt/notesMasters/notesMaster1.xml" Id="Re343bbd103ff441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ed67a5fe6f6489c" /><Relationship Type="http://schemas.openxmlformats.org/officeDocument/2006/relationships/notesMaster" Target="/ppt/notesMasters/notesMaster1.xml" Id="Rbf29aee2f41a4f6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d12ff94125f4de6" /><Relationship Type="http://schemas.openxmlformats.org/officeDocument/2006/relationships/notesMaster" Target="/ppt/notesMasters/notesMaster1.xml" Id="R97d57bd0f1154de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5f384086864415e" /><Relationship Type="http://schemas.openxmlformats.org/officeDocument/2006/relationships/notesMaster" Target="/ppt/notesMasters/notesMaster1.xml" Id="Re2e2b485c203410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9259795f3bf4dfa" /><Relationship Type="http://schemas.openxmlformats.org/officeDocument/2006/relationships/notesMaster" Target="/ppt/notesMasters/notesMaster1.xml" Id="R629669c0845b4b3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7da3275ca824916" /><Relationship Type="http://schemas.openxmlformats.org/officeDocument/2006/relationships/notesMaster" Target="/ppt/notesMasters/notesMaster1.xml" Id="R66a795d61765462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4ae3edb0e564eae" /><Relationship Type="http://schemas.openxmlformats.org/officeDocument/2006/relationships/notesMaster" Target="/ppt/notesMasters/notesMaster1.xml" Id="Rc2412cdfd451424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0be43d5baa0478e" /><Relationship Type="http://schemas.openxmlformats.org/officeDocument/2006/relationships/notesMaster" Target="/ppt/notesMasters/notesMaster1.xml" Id="R2e9bb52eeab249a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5edf4f0ed254a96" /><Relationship Type="http://schemas.openxmlformats.org/officeDocument/2006/relationships/notesMaster" Target="/ppt/notesMasters/notesMaster1.xml" Id="R4bda3c20f0d244f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9012775bd6f44cb" /><Relationship Type="http://schemas.openxmlformats.org/officeDocument/2006/relationships/notesMaster" Target="/ppt/notesMasters/notesMaster1.xml" Id="Rde10ea1561d64c0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7dae743879c4379" /><Relationship Type="http://schemas.openxmlformats.org/officeDocument/2006/relationships/notesMaster" Target="/ppt/notesMasters/notesMaster1.xml" Id="Rd6f63e4b510544d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088825cbc994eff" /><Relationship Type="http://schemas.openxmlformats.org/officeDocument/2006/relationships/notesMaster" Target="/ppt/notesMasters/notesMaster1.xml" Id="R8f4357894dc240f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184fd9228834699" /><Relationship Type="http://schemas.openxmlformats.org/officeDocument/2006/relationships/notesMaster" Target="/ppt/notesMasters/notesMaster1.xml" Id="R0425df32fed947e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5c48257b0624b32" /><Relationship Type="http://schemas.openxmlformats.org/officeDocument/2006/relationships/notesMaster" Target="/ppt/notesMasters/notesMaster1.xml" Id="Re49f2d21bbb548e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948b117dee84408" /><Relationship Type="http://schemas.openxmlformats.org/officeDocument/2006/relationships/notesMaster" Target="/ppt/notesMasters/notesMaster1.xml" Id="Rbe7a4b508455463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58e1844dfea45f6" /><Relationship Type="http://schemas.openxmlformats.org/officeDocument/2006/relationships/notesMaster" Target="/ppt/notesMasters/notesMaster1.xml" Id="R15ae175f6d85463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9057fe99c9848e6" /><Relationship Type="http://schemas.openxmlformats.org/officeDocument/2006/relationships/notesMaster" Target="/ppt/notesMasters/notesMaster1.xml" Id="Ra42896416b8c419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9efc75ceccd4572" /><Relationship Type="http://schemas.openxmlformats.org/officeDocument/2006/relationships/notesMaster" Target="/ppt/notesMasters/notesMaster1.xml" Id="Recb73c1de78546c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9ac3d10c111488a" /><Relationship Type="http://schemas.openxmlformats.org/officeDocument/2006/relationships/notesMaster" Target="/ppt/notesMasters/notesMaster1.xml" Id="R9f8b006e6396430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d467bd239b84f2c" /><Relationship Type="http://schemas.openxmlformats.org/officeDocument/2006/relationships/notesMaster" Target="/ppt/notesMasters/notesMaster1.xml" Id="Rde4704174543414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672570312384ba4" /><Relationship Type="http://schemas.openxmlformats.org/officeDocument/2006/relationships/notesMaster" Target="/ppt/notesMasters/notesMaster1.xml" Id="R92b861977684477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74edf6535b54996" /><Relationship Type="http://schemas.openxmlformats.org/officeDocument/2006/relationships/notesMaster" Target="/ppt/notesMasters/notesMaster1.xml" Id="R26dabf1c89d444d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020cbcff7b140fc" /><Relationship Type="http://schemas.openxmlformats.org/officeDocument/2006/relationships/notesMaster" Target="/ppt/notesMasters/notesMaster1.xml" Id="R367f320aea0c4b3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35221d976e248b7" /><Relationship Type="http://schemas.openxmlformats.org/officeDocument/2006/relationships/notesMaster" Target="/ppt/notesMasters/notesMaster1.xml" Id="R3dcfaf9eb87f4f9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53427f5debd4cfa" /><Relationship Type="http://schemas.openxmlformats.org/officeDocument/2006/relationships/notesMaster" Target="/ppt/notesMasters/notesMaster1.xml" Id="Ref73212330354e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本次培训面向博汇集团及华一学校、智理技工学校管理层，讨论两件相关但不同的事：学生与教职员工如何适应新的工作系统，以及教育集团如何把个体使用 AI 的经验转化为可管理、可验证、可复用的工作流。后半段使用 WorkBuddy 完成受控任务。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四部分按同一条逻辑展开：个人实践说明能力结构发生变化；组织机制说明为什么个体效率不会自动成为组织效率；任务实践把判断落实为可执行方法；最后以小范围试点收束。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培训不以熟悉全部功能为目标。可带回的成果是共同判断框架、一次可复现的任务执行，以及一张能够进入部门讨论的试点卡。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以举手调查了解参与者经验。这里不评价熟练度，只区分一次生成和完整任务：后者还涉及材料、权限、状态、证据、检查和责任。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本部分使用三组本人直接参与的实践作为观察，不将个人经验外推为普遍规律。它们共同支持一个判断：一般性生成变得更容易以后，稀缺能力更多集中在完整任务的前后两端。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三次实践来自不同场景，但都出现同一变化：做出一个看起来完整的东西更快了，判断它是否应该做、能否进入现场、是否真的有效仍然困难。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家庭原型说明技术实现门槛降低，但培养目标、适龄性、内容边界和学习效果仍需要教育判断。对企业而言，同样需要区分做出原型和验证价值。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这不是人与系统的固定分工表，而是责任边界：系统可参与生成和执行；人员必须确定目标、审查边界，并使用真实结果评价是否有效。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该实践的重点不是把现成工具交给教师，而是让专业人员带着真实问题进入智能体设计，再用现场证据修订。邀请对应交流安排，不代表项目认证。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UNESCO Digital Learning Week 2026 Provisional Programme, p.8.</a:t>
            </a:r>
          </a:p>
          <a:p xmlns:a="http://schemas.openxmlformats.org/drawingml/2006/main">
            <a:r>
              <a:t>- Formal invitation dated 2026-07-21.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这个循环可迁移到企业工作流：现场专业人员不是需求提供者之后退出，而是持续参与规则、证据和修订。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本人企业实践的体会是，AI 系统扩大了个人参与相邻环节的范围，也减少了部分交接；但它没有自动产生用户采用、业务结果和稳定运行。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由三组实践进入人才判断。这里的未来人才包括管理者和专业人员，不把讨论限定在学校教育或某一岗位。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这里的商品化是分析性判断，不意味着生成能力没有价值。它意味着当多数人都能生成文本、图像和初步方案时，问题选择和结果验证的相对稀缺性上升。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 形结构用于避免另一种误解：AI 不会让每个人变成无边界的通才。纵向专业深度与横向任务能力需要同时存在。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https://tonyxinvip.github.io/slides/vocational-ai-literacy-2026/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Prototyper、Builder、Sweeper、Grower、Maintainer 在原始演讲中用于描述工作类型。这里改为中文并强调，它们不是固定职位或严格阶段。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ainative-2 refinement, commit 74439e0.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跨域能力的目标是减少转述损失和等待，不是让每个人成为全能者。专业资格、独立审查和最终责任必须保留。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ainative-2 refinement, commit 74439e0.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这是未来人才讨论的边界。系统可以帮助个人跨入相邻环节，但不能把高影响判断的资格和责任转交给系统。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两所学校不能使用完全相同的 AI 素养任务。华一需要保护认知责任、适龄性和未成年人数据；智理需要强调职业标准、实训安全和岗位任务质量。共同部分是完整任务与责任。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organizational context,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AIBP 文章补足了组织入口；ainative-2 补足了运行机制。两者合并后，管理对象从孤立 AI 项目转向工作流组合。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生成成本下降以后，形式完整更容易产生完成错觉。管理层需要把最终判断放在采用、结果和可持续运行上。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这页把人才判断转成组织判断。一般生成仍是重要环节，但它的价值需要被上游问题定义和下游运行验证包围。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四象限是本次材料的分析框架。它说明 AIBP 或现场伙伴解决业务嵌入，运行平台解决状态、权限、证据与复用，两者缺一不可。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集团层面适合共享治理、工具、模型路由、权限、评估与经过验证的通用 Workflow 资产；学校层面仍需对教育目标、学生数据和专业结果负责。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organizational context,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Steward 是工作流的经营与采用角色，不是一个无所不能的新职位。具体名称可以由博汇集团决定，职责边界比 title 更重要。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四类责任可以由集团或学校人员承担，但不能被系统默认合并。跨校工作流还需要明确集团与学校的决定边界；Workflow Steward 不应同时给自己的改造结果完成独立专业审查。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Portfolio 让候选、试点、运行和退役成为可管理状态。它也允许管理层主动停止长期停留在 Demo 状态的项目。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最小合同把一条模糊的 AI 想法转化为可评价的工作流候选。释放出来的时间如何重新配置，可以在正式试点时增加为第七项。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 10 和 1 是示意，不是博汇集团的当前数据。要表达的是在制品上限：减少同时启动但缺乏主人和证据的试点。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AIBP 是人的控制平面，系统运行机制是系统的控制平面。这里不使用具体平台名，强调的是任务状态、证据、权限和决定必须可追溯。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 Engineering 决定系统知道什么；Harness Engineering 定义工具、权限、运行和约束；Loop Engineering 把执行结果和反馈带回评价与复用。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ainative-2 strategy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K12 与职业教育都涉及未成年人或学生数据、高影响评价和专业责任。首次试点应从不含真实个体数据的管理任务开始。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organizational context and course safety design,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这些指标不是一次试点必须全部建立的清单，而是组合管理的方向。员工在线时长和调用次数无法证明业务价值，容易把管理注意力引向行为监督。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时间节省不能自动等同于价值。试点需要说明释放的时间去了哪里，否则可能只是把手工劳动转移、延后或隐藏。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Asset 把人、规则、状态、证据和失败条件放在一起。只有经过真实运行和修订的部分，才适合进入组织复用。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结果飞轮解释业务扩张，能力飞轮解释交付成本如何下降。两者都依赖真实失败、人工修订和运行证据，而不是仅依赖成功案例。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 天不是全面 AI 化的期限。它用于验证一条真实工作流是否拥有业务主人、运行证据、接管机制和明确的下一步决定。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AIBP and ainative-2 synthesis,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后半段将前面的组织判断落到一次具体任务。所有人使用模拟材料，先保留宽泛委托，再用任务合同完成第二轮。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product guide: https://www.workbuddy.cn/docs/workbuddy/From-Beginner-to-Expert-Guide/Product-Guide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本次只使用任务、文件、成果和检查相关功能。Skills、连接器和自动化放入开放题，不作为现场能力承诺。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product guide: https://www.workbuddy.cn/docs/workbuddy/From-Beginner-to-Expert-Guide/Product-Guide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界面名称可能随版本变化，培训前需复核。安全规则不依赖界面名称：只读、先计划、可写入三类功能目标仍然成立。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permission modes: https://www.workbuddy.cn/docs/workbuddy/From-Beginner-to-Expert-Guide/Function-Description/Permission-Modes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角色分离用于体验生产与审查的差异。人数不足时，操作员与记录员可以合并，但业务负责人和审查员尽量分开。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甜点任务先建立确定的小成功。若读取或写入失败，立即检查工作空间和模式；三分钟仍无进展则打开示例产物继续审查。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product guide: https://www.workbuddy.cn/docs/workbuddy/From-Beginner-to-Expert-Guide/Product-Guide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共同任务刻意提供部分事实和大量缺失信息，用于观察系统是否补造负责人、日期、预算和基线。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第一轮不是错误示范，而是观察任务表达和系统默认处理。记录系统补充了什么、忽略了什么，以及哪些内容看起来合理但材料没有提供。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独立审查需要指向具体句子和材料位置，不以泛化的“AI 可能出错”代替核查。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任务合同用于一次执行，Workflow Contract 用于持续运行。前者是后者的基础，但不能替代生命周期管理。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第二轮增加 Workflow Portfolio 观点，但仍限制为一份决策简报。不要让系统直接创建自动化或连接真实业务系统。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独立审查与 Workflow Portfolio 生命周期连接：结果不仅要被修改，还需要进入接受、修正、回退或停止的明确状态。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这四项认识与前半段对应：问题定义、证据、责任和运行机制。它们比记住某个按钮或提示词更具有迁移性。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任务库覆盖文档、审查、数据、多文件综合、政策、文件盘点、PPT、Skill 和自动化。现场不要求全部完成。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official practices index: https://www.workbuddy.cn/docs/workbuddy/From-Beginner-to-Expert-Guide/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PPT 中只呈现任务导航，完整指令、完成检查和失败转场进入手册。这样保持演讲节奏，同时保留任务覆盖面。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T01 更适合第一次任务交付；T03 更能对应前半段的 Workflow Contract 与四类责任。现场根据参与者状态选择其中一项。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T04 的备用路径是只输出数据质量检查和文字摘要；T06 默认只使用 3 份格式相近的模拟周报，不要求系统自行裁决冲突。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data practice: https://www.workbuddy.cn/docs/workbuddy/From-Beginner-to-Expert-Guide/Practice-Cases/Practice-Three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这两项强调来源和权限。政策任务不依赖现场网页检索，文件任务不把默认权限等同于自动安全。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permission modes: https://www.workbuddy.cn/docs/workbuddy/From-Beginner-to-Expert-Guide/Function-Description/Permission-Modes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开放题用于保留任务广度，同时降低现场演示风险。正式创建 Skill 或自动化之前，需要固定输入、负责人、测试样例和暂停机制。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WorkBuddy Skills guide: https://www.workbuddy.cn/docs/workbuddy/From-Beginner-to-Expert-Guide/Function-Description/Skills-Market</a:t>
            </a:r>
          </a:p>
          <a:p xmlns:a="http://schemas.openxmlformats.org/drawingml/2006/main">
            <a:r>
              <a:t>- WorkBuddy automation guide: https://www.workbuddy.cn/docs/workbuddy/From-Beginner-to-Expert-Guide/Function-Description/Automation-Guide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作业不要求另写心得。每个小组选择一条低风险真实工作流，使用脱敏副本完成两轮运行，保留任务、结果、人工修改和最终决定。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结尾回到开场问题：华一与智理的人才培养目标不同，但都需要专业深度、完整任务和责任；博汇集团的 AI-native 组织需要同时具备业务嵌入和系统运行。下一步不是增加更多 Demo，而是选择一条真实工作流完成可验证的两轮运行。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brief and AIBP/Workflow Portfolio analysis,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7d0bf0d4546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568d4432fe4977" /><Relationship Type="http://schemas.openxmlformats.org/officeDocument/2006/relationships/slideLayout" Target="/ppt/slideLayouts/slideLayout1.xml" Id="Ra622d4915c2646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22d4915c2646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aae3457ff49f0" /><Relationship Type="http://schemas.openxmlformats.org/officeDocument/2006/relationships/notesSlide" Target="/ppt/notesSlides/notesSlide1.xml" Id="R8b92a066412b48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71012535648d4" /><Relationship Type="http://schemas.openxmlformats.org/officeDocument/2006/relationships/notesSlide" Target="/ppt/notesSlides/notesSlide2.xml" Id="R73052e844ceb4e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b1cf91301431a" /><Relationship Type="http://schemas.openxmlformats.org/officeDocument/2006/relationships/notesSlide" Target="/ppt/notesSlides/notesSlide3.xml" Id="Rd2b9f68082044f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14053b36c4bd4" /><Relationship Type="http://schemas.openxmlformats.org/officeDocument/2006/relationships/notesSlide" Target="/ppt/notesSlides/notesSlide4.xml" Id="R3659d5cf971846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9e9c9dd1649be" /><Relationship Type="http://schemas.openxmlformats.org/officeDocument/2006/relationships/notesSlide" Target="/ppt/notesSlides/notesSlide5.xml" Id="R40af66c1a31549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62f0a5efa4127" /><Relationship Type="http://schemas.openxmlformats.org/officeDocument/2006/relationships/notesSlide" Target="/ppt/notesSlides/notesSlide6.xml" Id="Re7e4eadc294a46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b6a47c9ac4c30" /><Relationship Type="http://schemas.openxmlformats.org/officeDocument/2006/relationships/image" Target="/ppt/media/image.png" Id="R881530d537bd44a6" /><Relationship Type="http://schemas.openxmlformats.org/officeDocument/2006/relationships/notesSlide" Target="/ppt/notesSlides/notesSlide7.xml" Id="Rf0672e04b2044f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b7cee4d434766" /><Relationship Type="http://schemas.openxmlformats.org/officeDocument/2006/relationships/notesSlide" Target="/ppt/notesSlides/notesSlide8.xml" Id="R279145e1123648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75849879b434b" /><Relationship Type="http://schemas.openxmlformats.org/officeDocument/2006/relationships/image" Target="/ppt/media/image.jpeg" Id="R523161360f044d4b" /><Relationship Type="http://schemas.openxmlformats.org/officeDocument/2006/relationships/notesSlide" Target="/ppt/notesSlides/notesSlide9.xml" Id="R42510f13802947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8ad69da954ed9" /><Relationship Type="http://schemas.openxmlformats.org/officeDocument/2006/relationships/notesSlide" Target="/ppt/notesSlides/notesSlide10.xml" Id="R7285436f741541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3fda2c7e64d85" /><Relationship Type="http://schemas.openxmlformats.org/officeDocument/2006/relationships/notesSlide" Target="/ppt/notesSlides/notesSlide11.xml" Id="R21080eb1fee74c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70d27c0764772" /><Relationship Type="http://schemas.openxmlformats.org/officeDocument/2006/relationships/notesSlide" Target="/ppt/notesSlides/notesSlide12.xml" Id="R256ebc57be6f4b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4e76cfa2b4792" /><Relationship Type="http://schemas.openxmlformats.org/officeDocument/2006/relationships/notesSlide" Target="/ppt/notesSlides/notesSlide13.xml" Id="R797653f8189646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a67abdaae4130" /><Relationship Type="http://schemas.openxmlformats.org/officeDocument/2006/relationships/notesSlide" Target="/ppt/notesSlides/notesSlide14.xml" Id="R27ec5dac1ffc42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436667cc94a49" /><Relationship Type="http://schemas.openxmlformats.org/officeDocument/2006/relationships/notesSlide" Target="/ppt/notesSlides/notesSlide15.xml" Id="Rba81beb5d7934d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baff5b95042d2" /><Relationship Type="http://schemas.openxmlformats.org/officeDocument/2006/relationships/notesSlide" Target="/ppt/notesSlides/notesSlide16.xml" Id="R16ca844b636440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0acef32d14ea5" /><Relationship Type="http://schemas.openxmlformats.org/officeDocument/2006/relationships/notesSlide" Target="/ppt/notesSlides/notesSlide17.xml" Id="R1c15104e713445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cac0d1e2c42ad" /><Relationship Type="http://schemas.openxmlformats.org/officeDocument/2006/relationships/notesSlide" Target="/ppt/notesSlides/notesSlide18.xml" Id="R9f2c67b0c68a45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ccef9df5a449c" /><Relationship Type="http://schemas.openxmlformats.org/officeDocument/2006/relationships/notesSlide" Target="/ppt/notesSlides/notesSlide19.xml" Id="R4e6e4d7fe0034d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d3f70b2d04cdf" /><Relationship Type="http://schemas.openxmlformats.org/officeDocument/2006/relationships/notesSlide" Target="/ppt/notesSlides/notesSlide20.xml" Id="Re024f9dd94d04d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47950df90427c" /><Relationship Type="http://schemas.openxmlformats.org/officeDocument/2006/relationships/notesSlide" Target="/ppt/notesSlides/notesSlide21.xml" Id="R4011e41e24474b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99d59480449b8" /><Relationship Type="http://schemas.openxmlformats.org/officeDocument/2006/relationships/notesSlide" Target="/ppt/notesSlides/notesSlide22.xml" Id="R9db81640100149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9723f9d5941e7" /><Relationship Type="http://schemas.openxmlformats.org/officeDocument/2006/relationships/notesSlide" Target="/ppt/notesSlides/notesSlide23.xml" Id="Re540d23aea5f4d3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6c17f34e548f6" /><Relationship Type="http://schemas.openxmlformats.org/officeDocument/2006/relationships/notesSlide" Target="/ppt/notesSlides/notesSlide24.xml" Id="R41616cbc279548f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acd388d184c3d" /><Relationship Type="http://schemas.openxmlformats.org/officeDocument/2006/relationships/notesSlide" Target="/ppt/notesSlides/notesSlide25.xml" Id="R86aebd6eae0f4e2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eac3eac224ad6" /><Relationship Type="http://schemas.openxmlformats.org/officeDocument/2006/relationships/notesSlide" Target="/ppt/notesSlides/notesSlide26.xml" Id="Rf759ceb9b29040c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0f8c967614775" /><Relationship Type="http://schemas.openxmlformats.org/officeDocument/2006/relationships/notesSlide" Target="/ppt/notesSlides/notesSlide27.xml" Id="R3cb0ad406eb34b2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d2a0d3602461c" /><Relationship Type="http://schemas.openxmlformats.org/officeDocument/2006/relationships/notesSlide" Target="/ppt/notesSlides/notesSlide28.xml" Id="Ra01a36239abe43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80388ade2459b" /><Relationship Type="http://schemas.openxmlformats.org/officeDocument/2006/relationships/notesSlide" Target="/ppt/notesSlides/notesSlide29.xml" Id="Rebd4c424bd8c44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b38ef4cac42e7" /><Relationship Type="http://schemas.openxmlformats.org/officeDocument/2006/relationships/notesSlide" Target="/ppt/notesSlides/notesSlide30.xml" Id="R455b82978b6047f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52c7e340043d5" /><Relationship Type="http://schemas.openxmlformats.org/officeDocument/2006/relationships/notesSlide" Target="/ppt/notesSlides/notesSlide31.xml" Id="R521a916f33ac43e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e39471bd24ab1" /><Relationship Type="http://schemas.openxmlformats.org/officeDocument/2006/relationships/notesSlide" Target="/ppt/notesSlides/notesSlide32.xml" Id="R8cf8c7c7d2d044a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206e2b3cb46f1" /><Relationship Type="http://schemas.openxmlformats.org/officeDocument/2006/relationships/notesSlide" Target="/ppt/notesSlides/notesSlide33.xml" Id="R6b82763885204d0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0a44a44814100" /><Relationship Type="http://schemas.openxmlformats.org/officeDocument/2006/relationships/notesSlide" Target="/ppt/notesSlides/notesSlide34.xml" Id="R69c38c86f3e64ac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2f74c3b4641d0" /><Relationship Type="http://schemas.openxmlformats.org/officeDocument/2006/relationships/notesSlide" Target="/ppt/notesSlides/notesSlide35.xml" Id="Rd8ddf6ac06cf40f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416c0f5db499d" /><Relationship Type="http://schemas.openxmlformats.org/officeDocument/2006/relationships/notesSlide" Target="/ppt/notesSlides/notesSlide36.xml" Id="R79856ad65b9b49c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57385396942ce" /><Relationship Type="http://schemas.openxmlformats.org/officeDocument/2006/relationships/notesSlide" Target="/ppt/notesSlides/notesSlide37.xml" Id="Red0be80e30db487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15517e37748bd" /><Relationship Type="http://schemas.openxmlformats.org/officeDocument/2006/relationships/notesSlide" Target="/ppt/notesSlides/notesSlide38.xml" Id="R8a491a8a4a964da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1f771a4274bef" /><Relationship Type="http://schemas.openxmlformats.org/officeDocument/2006/relationships/notesSlide" Target="/ppt/notesSlides/notesSlide39.xml" Id="Rdbeaa544025c41e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6bb90034a40fa" /><Relationship Type="http://schemas.openxmlformats.org/officeDocument/2006/relationships/notesSlide" Target="/ppt/notesSlides/notesSlide40.xml" Id="R17af0a1b4f1543f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b2d7424d94a89" /><Relationship Type="http://schemas.openxmlformats.org/officeDocument/2006/relationships/notesSlide" Target="/ppt/notesSlides/notesSlide41.xml" Id="R1d30b2e7f47d46a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4ae47bc664433" /><Relationship Type="http://schemas.openxmlformats.org/officeDocument/2006/relationships/notesSlide" Target="/ppt/notesSlides/notesSlide42.xml" Id="R3c0677292f1344f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0eb4998d84411" /><Relationship Type="http://schemas.openxmlformats.org/officeDocument/2006/relationships/notesSlide" Target="/ppt/notesSlides/notesSlide43.xml" Id="Rad8b7e8768194c6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d5112b24e4119" /><Relationship Type="http://schemas.openxmlformats.org/officeDocument/2006/relationships/notesSlide" Target="/ppt/notesSlides/notesSlide44.xml" Id="Rc935960f95c04f8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d864db47a492f" /><Relationship Type="http://schemas.openxmlformats.org/officeDocument/2006/relationships/notesSlide" Target="/ppt/notesSlides/notesSlide45.xml" Id="R4240e15a39234ee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9f5a403ed41bb" /><Relationship Type="http://schemas.openxmlformats.org/officeDocument/2006/relationships/notesSlide" Target="/ppt/notesSlides/notesSlide46.xml" Id="R78ad6293a2bc445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7e5efb91b4bb4" /><Relationship Type="http://schemas.openxmlformats.org/officeDocument/2006/relationships/notesSlide" Target="/ppt/notesSlides/notesSlide47.xml" Id="R72c3510bd66246f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9fcde3a8548a7" /><Relationship Type="http://schemas.openxmlformats.org/officeDocument/2006/relationships/notesSlide" Target="/ppt/notesSlides/notesSlide48.xml" Id="R193a72c1685046a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43ca8cdd2470d" /><Relationship Type="http://schemas.openxmlformats.org/officeDocument/2006/relationships/notesSlide" Target="/ppt/notesSlides/notesSlide49.xml" Id="R0458a51faf20418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9019c6698414a" /><Relationship Type="http://schemas.openxmlformats.org/officeDocument/2006/relationships/notesSlide" Target="/ppt/notesSlides/notesSlide50.xml" Id="R42d4e028103a4b7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e302fb5424c98" /><Relationship Type="http://schemas.openxmlformats.org/officeDocument/2006/relationships/notesSlide" Target="/ppt/notesSlides/notesSlide51.xml" Id="R17c0aa52a0a34be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a0f4b1ac740b3" /><Relationship Type="http://schemas.openxmlformats.org/officeDocument/2006/relationships/notesSlide" Target="/ppt/notesSlides/notesSlide52.xml" Id="R0f3afca1cda54f2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0a0b61a3d4a06" /><Relationship Type="http://schemas.openxmlformats.org/officeDocument/2006/relationships/notesSlide" Target="/ppt/notesSlides/notesSlide53.xml" Id="Re22974c5fab14d9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c62d8303543a9" /><Relationship Type="http://schemas.openxmlformats.org/officeDocument/2006/relationships/notesSlide" Target="/ppt/notesSlides/notesSlide54.xml" Id="Ra314fe9016ed429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9662c38c64053" /><Relationship Type="http://schemas.openxmlformats.org/officeDocument/2006/relationships/notesSlide" Target="/ppt/notesSlides/notesSlide55.xml" Id="R631b6c855efc498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3fd54dd0c4571" /><Relationship Type="http://schemas.openxmlformats.org/officeDocument/2006/relationships/notesSlide" Target="/ppt/notesSlides/notesSlide56.xml" Id="Rcf8d2432bb4a4a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62217-FE49-48A0-B637-1D0563E8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博汇集团 · 管理层培训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36BD7-234A-4B02-936F-E078ED7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AI时代，教育集团如何培养人、组织工作？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2D11E-0AD5-4C03-ABA1-F6EF05C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从未来人才需求到教育集团 Workflow Portfolio 与 Agentic AI实践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31E30-0026-46E5-89B7-66D8709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9FF50-A5BA-4500-ADCC-9507C493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14:30—15:45｜个人实践、人才标准与组织机制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15:55—17:30｜WorkBuddy 任务实践与 90 天试点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C0F92-5ACF-426B-9A2C-CC23F797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293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作者｜辛海洋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C0AF5-7218-48FB-A654-8E9C43C8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1817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2026年8月26日</a:t>
            </a:r>
          </a:p>
        </p:txBody>
      </p:sp>
    </p:spTree>
    <p:extLst>
      <p:ext uri="{BB962C8B-B14F-4D97-AF65-F5344CB8AC3E}">
        <p14:creationId xmlns:p14="http://schemas.microsoft.com/office/powerpoint/2010/main" val="1128265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70115-F6EC-4FCC-91C9-39DD90F4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博汇集团管理层 AI 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5B162-208F-4E5B-93B5-301287E0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00676-AD16-48AF-9D6B-BC9859C9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培训内容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DA08A-919B-4C53-B587-AAA361F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EE8FA-4A25-4EC5-AF1D-956412C2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实践与人才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E5E07-A619-43BA-8B3A-AE7C6B0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02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三组个人实践 · K12 与职教人才 · 专业责任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DFBFC-D4F8-477D-BBBC-5C824EC4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669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36136-8FAA-487B-86A5-E0BB85D0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48C24-F0F6-4669-BC9D-83048A07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0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组织与运行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30C5A-2B28-4433-A881-88E366F0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母公司与两校 · Workflow Steward · Portfolio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2805D-2A11-47A3-99E5-7ECA9D16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EB4D8-EA91-4412-B90C-9305A36E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B36B2-91FE-4DE2-87AD-73C11C73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任务实践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D9F52-FFD8-41F4-9266-4E552528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两轮执行 · 独立审查 · 证据与边界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A1C6D-AF59-42F9-B61E-D1BC5B1F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23606-1659-4D3C-8BD1-88E0F230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BEFD8-76AF-4662-97C1-072104B8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试点与作业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107E6-B190-4BC2-B2F0-5E79061A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006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任务库 · 90 天标准 · 扩大或停止</a:t>
            </a:r>
          </a:p>
        </p:txBody>
      </p:sp>
    </p:spTree>
    <p:extLst>
      <p:ext uri="{BB962C8B-B14F-4D97-AF65-F5344CB8AC3E}">
        <p14:creationId xmlns:p14="http://schemas.microsoft.com/office/powerpoint/2010/main" val="728157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95860-F0CD-4B72-B8F5-1D8A940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博汇集团管理层 AI 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17D12-805C-459B-BFEA-C5FD3AE5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AFF32-4E48-4BFB-8C91-DBF34ABD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三小时培训形成三项可带回的成果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10336-1E2A-49DD-852E-94D3ABC3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52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90683-1136-46FF-903E-5D73E637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E92B1-42DA-449A-9355-F080976A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共同语言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24956-3114-42EB-9821-1556887D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933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理解 AI-native 转型中人才、业务嵌入与系统运行的关系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3DC02-1FAD-4479-823D-F5D8CEE5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09750"/>
            <a:ext cx="3352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DD824-BD2D-44C9-B26D-3400339D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EB382-EE1F-40BF-9038-EF1AA824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一次实践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1EB80-14FB-403E-88A9-F462C9CF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67050"/>
            <a:ext cx="2933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使用同一材料完成两轮任务，并独立审查结果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76D90-E9A2-4F6C-9E72-7992B7F9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571BA-A93F-466C-95E5-21DB92C4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9B3E3-A2F6-47B6-BA7F-BFBA6266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一张试点卡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E8A30-FEED-4B38-A106-A29B3716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2933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选择一条低风险工作流，明确负责人、证据和停止条件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C7E76-6064-41D1-B70A-41925CF9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14:30—15:45 理念与案例　｜　15:45—15:55 休息　｜　15:55—17:05 任务实践　｜　17:05—17:15 休息　｜　17:15—17:30 作业</a:t>
            </a:r>
          </a:p>
        </p:txBody>
      </p:sp>
    </p:spTree>
    <p:extLst>
      <p:ext uri="{BB962C8B-B14F-4D97-AF65-F5344CB8AC3E}">
        <p14:creationId xmlns:p14="http://schemas.microsoft.com/office/powerpoint/2010/main" val="35600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2A50F-0730-4519-BFD8-769CCCB2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博汇集团管理层 AI 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FA4F1-D4A9-4CC5-9CEA-FA37B150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D6078-AC23-4BC8-ADAF-64766C8D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多数 AI 使用仍停留在一次问答或单份材料生成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C39B6-3D38-4E03-AA81-1ED05233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24050"/>
            <a:ext cx="11430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E3D8A-0AFB-490A-B8D4-BD974DE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使用 AI 写材料、查资料或制作 PPT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6DDCE-6D02-41B4-BAFE-7BCA512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11430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DD1E6-E2B1-4B53-8269-E4686A3C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委托过一项完整工作，并依据标准核查结果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A2718-6DC7-41D8-BB30-599A4423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两者需要不同的任务说明、责任结构和运行机制。</a:t>
            </a:r>
          </a:p>
        </p:txBody>
      </p:sp>
    </p:spTree>
    <p:extLst>
      <p:ext uri="{BB962C8B-B14F-4D97-AF65-F5344CB8AC3E}">
        <p14:creationId xmlns:p14="http://schemas.microsoft.com/office/powerpoint/2010/main" val="306882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2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F3B23-E56F-4D85-9132-2E88F63E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第一部分 · 实践与人才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B2619-2B24-4B5F-A9E5-BCD25528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三组实践重新定义了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人才的稀缺能力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21538-B50F-42C5-991B-6CBAD9AF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914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实现速度提高以后，问题选择、专业判断、真实采用与结果验证的权重随之上升。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7765F-2076-4A6E-9A8D-651253A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4576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9F4A3-8FB0-4033-9199-71CD1A1F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三组个人实践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E3A2B-5905-41CC-8192-E8596344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3E50A-3E77-4FFC-83C2-35D59550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三次实践分别暴露了技术、专业判断与组织运行的边界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AB16C-F2EB-4427-BF8C-888F1389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528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A7C63-A155-4EBB-A1B8-D5CA2FBD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227E5-14CA-4E0A-AB83-500E2E47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家庭学习原型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E1911-FEEF-4CBF-ACEF-6A4D646B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9337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实现门槛下降，教育判断没有被替代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ED714-CAD6-4647-9418-317F54E8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09750"/>
            <a:ext cx="33528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9A57D-A536-4D54-B9E4-62BFBF10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1ED41-3ACA-4949-B8AE-D77F57A9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教师智能体共创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9C1FC-5A46-494B-9BA8-2901A2F1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67050"/>
            <a:ext cx="29337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专业判断需要进入设计、使用和修订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734D7-5EF1-4970-B027-2D1591E6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3C7A3-9290-44E2-A784-F750E914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6637D-226C-4158-B45F-2A67957C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企业团队协作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CC90F-F7ED-4615-9229-0941BC7D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29337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原型速度提升，价值仍取决于采用与验证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DDCE5-F47C-40E1-B1C9-0E1FB7D4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技术减少了部分制作成本，却把更多管理注意力推向问题定义和结果责任。</a:t>
            </a:r>
          </a:p>
        </p:txBody>
      </p:sp>
    </p:spTree>
    <p:extLst>
      <p:ext uri="{BB962C8B-B14F-4D97-AF65-F5344CB8AC3E}">
        <p14:creationId xmlns:p14="http://schemas.microsoft.com/office/powerpoint/2010/main" val="972916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590A7-C603-4924-8EF8-59259B0A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家庭学习原型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19AB2-3F4A-414D-8FB2-688191D7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39290-CDEA-437B-818E-4C454881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家庭学习原型把教育设想转化为可使用产品的时间显著缩短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580EF-234A-4D69-A577-5E987673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476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530d537bd44a6"/>
          <a:stretch xmlns:a="http://schemas.openxmlformats.org/drawingml/2006/main"/>
        </p:blipFill>
        <p:spPr>
          <a:xfrm xmlns:a="http://schemas.openxmlformats.org/drawingml/2006/main">
            <a:off x="1274663" y="1676400"/>
            <a:ext cx="2841825" cy="3790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201D2-E32A-4A29-B008-46E7F093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95450"/>
            <a:ext cx="600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我依据女儿的兴趣设计英语活动，并把自己看重的品格融入内容与互动。几天之内，一个想法变成了可以使用的学习原型。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9EFDC-0C81-4557-A7EF-057D5D4B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29000"/>
            <a:ext cx="600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2878FF"/>
            </a:solidFill>
            <a:prstDash val="solid"/>
          </a:ln>
        </p:spPr>
        <p:txBody>
          <a:bodyPr xmlns:a="http://schemas.openxmlformats.org/drawingml/2006/main" wrap="square" lIns="209550" tIns="209550" rIns="209550" bIns="209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技术把“做出来”变快了，却没有回答“为什么做、怎样算有效”。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21878-AC5A-46F1-8DAF-5F629E27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家庭实践 · 2026</a:t>
            </a:r>
          </a:p>
        </p:txBody>
      </p:sp>
    </p:spTree>
    <p:extLst>
      <p:ext uri="{BB962C8B-B14F-4D97-AF65-F5344CB8AC3E}">
        <p14:creationId xmlns:p14="http://schemas.microsoft.com/office/powerpoint/2010/main" val="1572098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BC692-8E09-428B-B742-2C4FB122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家庭学习原型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4CE15-1211-465E-A8FA-D7BEF33B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984AD-D308-46A2-9500-32A56242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原型完成以后，目标、边界和效果验证才成为主要问题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576A2-55BA-4F4D-BDB4-86F7D002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DE558-F180-4BB2-8FEC-F2E09B2B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 系统可辅助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61AD4-17FC-451C-8522-EC74F58B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83E05-DCFE-4E87-BA7D-28346919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内容、界面与互动的初步生成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CA204-A9B0-4AB8-8F82-2447E4F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ED08B-138B-42F4-AA7D-A8CDE39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语音、练习与多版本快速修改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18E56-F947-4E68-88A7-A54C993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21C80-1A93-4B9E-BD2C-6927E61B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依据明确规则完成低风险执行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C989E-2666-4B3C-BB81-C077346D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06D58-896B-4FD2-8287-4139E363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人员必须判断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33FA0-E63E-44E9-A72C-FBA9ADAB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EC939-655C-41F0-8E0F-B572E1B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目标是否值得实现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04C3C-B991-4670-B87A-CB371798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8B815-DEE2-43C9-89E3-5E7C6B2F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边界是否适合真实使用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C203D-B613-4F6E-8345-B1CB025C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04050-5428-428A-9C59-5A56E21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结果是否形成预期变化</a:t>
            </a:r>
          </a:p>
        </p:txBody>
      </p:sp>
    </p:spTree>
    <p:extLst>
      <p:ext uri="{BB962C8B-B14F-4D97-AF65-F5344CB8AC3E}">
        <p14:creationId xmlns:p14="http://schemas.microsoft.com/office/powerpoint/2010/main" val="17952791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B9ABD-83D9-47DC-9D52-00456CBF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教师智能体共创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DAD24-EE40-4E99-8D94-DB3FE348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9E7C9-252A-4452-A5BF-177281F1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教师智能体共创进入 UNESCO Digital Learning Week 2026 交流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D7F06-CF91-4345-95F9-CD46C5B4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95750" cy="42672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161360f044d4b"/>
          <a:stretch xmlns:a="http://schemas.openxmlformats.org/drawingml/2006/main"/>
        </p:blipFill>
        <p:spPr>
          <a:xfrm xmlns:a="http://schemas.openxmlformats.org/drawingml/2006/main">
            <a:off x="1238529" y="1676400"/>
            <a:ext cx="2533093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9770A-6586-4456-B210-01C21E74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UNESCO 官方邀请函原件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29888-4B32-4140-8E77-3B45AE5A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14500"/>
            <a:ext cx="6343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交流主题聚焦教师如何从工具使用走向智能体共同设计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17725-FD3F-4C1C-A428-231E4427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6343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2878FF"/>
            </a:solidFill>
            <a:prstDash val="solid"/>
          </a:ln>
        </p:spPr>
        <p:txBody>
          <a:bodyPr xmlns:a="http://schemas.openxmlformats.org/drawingml/2006/main" wrap="square" lIns="209550" tIns="209550" rIns="209550" bIns="209550" anchor="ctr">
            <a:normAutofit fontScale="80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From AI tool users 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AI agent creators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5BEDC-18EC-4812-B5CF-D209505C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29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巴黎 UNESCO 总部 · 2026 年 9 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01CDF-526E-4EB1-AD00-A894AEFE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19700"/>
            <a:ext cx="634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邀请确认交流安排，不延伸解读为项目认证。</a:t>
            </a:r>
          </a:p>
        </p:txBody>
      </p:sp>
    </p:spTree>
    <p:extLst>
      <p:ext uri="{BB962C8B-B14F-4D97-AF65-F5344CB8AC3E}">
        <p14:creationId xmlns:p14="http://schemas.microsoft.com/office/powerpoint/2010/main" val="13856629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57107-FCF2-4083-ABE4-F01B12D2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教师智能体共创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C8E28-9656-4294-B16C-CD48C89B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846A9-C68A-4756-ADDB-671FF977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专业人员需要进入问题定义、规则设计、现场使用与持续修订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59E8F-7F32-4AB0-8CF1-8D977AA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A180B-8F01-4F99-9935-469992CA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真实问题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EA5C8-43C7-46E5-9DA4-34006E5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界定可观察、可核查的现场问题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F8BF8-36C6-430F-AE8D-EEFC1589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669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7A299-E3B6-46F6-8111-49A62959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62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57ED3-1488-475B-81B0-4C7ADAD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共同设计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66786-8B1F-4345-A43B-9D6F74E1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71825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把专业判断转化为可执行规则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FA7B5-B4B8-450E-9E7E-F4CB5116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669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21AF8-1BE5-4D9C-816E-EA127C58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62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FB86E-06EB-4CF0-942E-E0CD7C8B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进入使用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C4B4E-DD6B-4D7C-BF76-88397C1C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71825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记录系统输出、人工接管和失败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5B2BC-B5EC-4596-A437-ACD712CD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669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ADC82-FA60-465D-A712-E49690B1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62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F5221-CB9F-4317-A84B-CF484D7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依据证据修订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9966A-CC4C-4D3D-A431-D7062F1C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71825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保留有效部分，修改或停止</a:t>
            </a:r>
          </a:p>
        </p:txBody>
      </p:sp>
    </p:spTree>
    <p:extLst>
      <p:ext uri="{BB962C8B-B14F-4D97-AF65-F5344CB8AC3E}">
        <p14:creationId xmlns:p14="http://schemas.microsoft.com/office/powerpoint/2010/main" val="132483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E42E1-5D3B-4345-AABA-EFB8AF8B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企业团队协作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8FAFF-E3D9-477C-809E-A54B075C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A8E0A-E362-4121-862A-4312D734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企业原型实践减少了部分串行交接，但价值仍要经过采用与运行验证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9DAEA-141F-439F-BA03-5B6DE0EE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2D00B-8F34-416C-9C77-6065A9C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传统串行交接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D665B-5760-4AFC-B115-9C224C2C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BC841-FFCC-42B4-8D0B-561CC465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想法在岗位之间反复转述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4D87D-2D33-455F-A594-825B47BF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45F89-2432-4B80-BC13-72759F1A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问题常在后期才被发现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EE925-FD56-4B6C-A715-F957D720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A7400-D7F5-4E91-9484-19986D8B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交付完成后才讨论真实采用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AB2A8-A0F7-4717-A275-3181A064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B61C3-3F14-4322-901D-D89964B5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共同验证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60DC4-5A68-444A-9585-6DEACA18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153DD-1060-4D5E-9184-AB370592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提出者更早参与原型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31945-49AA-4149-A347-1C9C4030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C9885-5062-4314-8951-0B6ACDC1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专业人员在关键节点独立审查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F7618-F024-4BDB-939B-EAD75F21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0817E-B6BE-4B74-B5ED-9CF856FF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用户采用和运行证据决定下一轮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C65A6-C27A-48DB-9224-2DA246C2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原型速度是条件，不是业务结果。</a:t>
            </a:r>
          </a:p>
        </p:txBody>
      </p:sp>
    </p:spTree>
    <p:extLst>
      <p:ext uri="{BB962C8B-B14F-4D97-AF65-F5344CB8AC3E}">
        <p14:creationId xmlns:p14="http://schemas.microsoft.com/office/powerpoint/2010/main" val="134327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2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BA438-DCF4-4B27-BD51-62EB77B4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F6FED-9DE0-4D7F-AA77-F41C4FBC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工作单位改变以后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人才标准随之改变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8B1D5-1C6E-42C5-AFAC-BC4CC7C3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914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未来人才不只是更会使用工具，而是能够贯穿完整任务、验证结果并承担责任。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58ECF-2A32-4C99-B28D-9F7D2158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628678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20179-BCC1-4AF7-A10E-EC1213F0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C3B29-E2D9-4CC5-8A8A-027AD80B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B4E3F-9A5B-4190-A4E0-F2309C9F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一般性生成逐渐商品化，稀缺能力向任务前端和运行后端移动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12793-CEC1-4647-B73C-85D8AE13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任务前端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2A09E-4ED8-4BDB-BCD9-FEE1B17D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问题选择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目标定义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业务语义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优先级判断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234EC-7B38-478E-A0FF-E56CA428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一般生成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AAC09-A516-482F-B7C1-A4F0D651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28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运行后端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24D05-74B6-460C-AC60-59443C8F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真实采用</a:t>
            </a:r>
          </a:p>
          <a:p xmlns:a="http://schemas.openxmlformats.org/drawingml/2006/main">
            <a:pPr algn="r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结果验证</a:t>
            </a:r>
          </a:p>
          <a:p xmlns:a="http://schemas.openxmlformats.org/drawingml/2006/main">
            <a:pPr algn="r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异常接管</a:t>
            </a:r>
          </a:p>
          <a:p xmlns:a="http://schemas.openxmlformats.org/drawingml/2006/main">
            <a:pPr algn="r">
              <a:lnSpc>
                <a:spcPct val="108000"/>
              </a:lnSpc>
              <a:buNone/>
              <a:def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持续改进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0E7B4-02AC-4927-BF3D-0CED9C0B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制作能力仍然重要，但不再足以单独构成差异。</a:t>
            </a:r>
          </a:p>
        </p:txBody>
      </p:sp>
    </p:spTree>
    <p:extLst>
      <p:ext uri="{BB962C8B-B14F-4D97-AF65-F5344CB8AC3E}">
        <p14:creationId xmlns:p14="http://schemas.microsoft.com/office/powerpoint/2010/main" val="9701386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B4932-CFD0-43D9-A690-DC889187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BDF16-AFEE-49CF-A4D1-A0A2F263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C9D39-562F-4C72-ABCF-59B338C1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专业深度之外，人才还需要贯穿完整任务的横向能力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8AB47-7A6A-4E19-9782-73077AE8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ACBBA-F5B7-47DE-8E16-DCE039A8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3E8B9-840D-492C-B180-523FBBEA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执行组织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B182D-8564-4552-ADA9-0CC02279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3A2C8-DB19-4AD5-B281-335A9925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责任说明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98E52-BAC0-4323-9F08-B4E3D04D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3048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677F1-810A-46EE-8671-C1F5FD2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专业深度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68A39-CCAD-4952-8C69-9BC4FB5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知识 · 标准 · 现场经验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03753-2B46-4C2D-A0F1-D07F308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横向能力不替代专业，而是让专业能够进入完整工作流。</a:t>
            </a:r>
          </a:p>
        </p:txBody>
      </p:sp>
    </p:spTree>
    <p:extLst>
      <p:ext uri="{BB962C8B-B14F-4D97-AF65-F5344CB8AC3E}">
        <p14:creationId xmlns:p14="http://schemas.microsoft.com/office/powerpoint/2010/main" val="10056267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7408C-7051-4CCE-AD51-FAA76EA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10F9E-D70E-4083-930B-5E8DDA34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2EB94-2F47-463E-95FC-5A647113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数字化成果进入真实现场通常包含五类工作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C9BC7-8EEE-4A69-AA72-F19E5032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506CC-EFD1-48AF-8B69-2DBD7E2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CF964-FE8E-4BF1-BE17-D0CA45BC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验证问题与可行性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BA23A-3B9B-46A0-AB3B-57FEEE0E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24100"/>
            <a:ext cx="56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4F380-1139-46A2-B9EF-9D96869F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619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FA46B-4061-4522-98D8-AFAD07D5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1907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建设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B894C-C6D5-45EE-A55D-175C7755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形成可运行系统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D4755-AD31-49C3-9836-832AA3B4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24100"/>
            <a:ext cx="56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49E2D-A75E-4C42-9095-DA340A74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B8F89-69DF-4C7A-AA0F-3B0F52A1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审查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8CDDB-B878-4F3E-A724-29A85E8B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发现风险与缺口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85783-20AD-4699-9B25-0CCD37AD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56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44482-2562-4092-95E1-4F6FBE50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619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A8280-AFAC-4C9B-B1C1-5C16A608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907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采用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BD6B4-ABCC-4798-B5B6-9AC5699E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进入业务并支持改变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11853-430C-4D06-A2B7-3419B528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24100"/>
            <a:ext cx="56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695B71-C8FB-419E-9A50-7F40F237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19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F78796-5CAC-4EEC-9965-8E2D80AD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907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维护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F6A17-70AB-46A9-B48D-8B7F392F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保持稳定并持续改进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27D50-F314-4D05-B322-2033F291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这些是生命周期工作类型，不是固定岗位，也不要求一人包办。</a:t>
            </a:r>
          </a:p>
        </p:txBody>
      </p:sp>
    </p:spTree>
    <p:extLst>
      <p:ext uri="{BB962C8B-B14F-4D97-AF65-F5344CB8AC3E}">
        <p14:creationId xmlns:p14="http://schemas.microsoft.com/office/powerpoint/2010/main" val="19350571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67631-C9A8-4611-9987-D5211708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948DF-F3ED-4B64-B2EB-8479134E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FA55B-F957-47E7-A1A0-418207B4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相邻技能的适度重叠可以减少交接中的信息损失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CB026-5171-42FD-8CD8-BB78CC74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9993C-6093-4090-A03A-4A6499AD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问题与结果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98302-6661-46FC-ACC4-495531D1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理解数据和验收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32D4D-6328-4197-80F9-6CC1CC56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57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4655D-F1B1-4FCD-B9EB-C22F7AE1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EBAFF-AA16-4D8D-B859-317B683F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任务与流程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BCFB2-D3BD-4C23-BC09-D20255C6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理解实现和采用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1EC33-22FD-4A5D-8720-DB7352AF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3646F-E0A7-4FC0-A145-9E5AA2DF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FFA17-BAE4-47F0-BFC9-9AF025F1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系统与约束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3585E-C615-40A2-A6EB-96B49A58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理解业务和风险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A7AC2-E07C-4000-9ED6-239CBA17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9A8DF-7C72-4670-ABB5-12630A05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7A493-CD76-4D08-B95B-91B1AEAC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051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运行与反馈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85BBB-F74E-493B-A1CF-037EE8A9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理解标准和证据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34283-E8AC-4761-8143-D6363E0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共同理解不等于取消专业分工；高影响结果仍需相应专业人员复核。</a:t>
            </a:r>
          </a:p>
        </p:txBody>
      </p:sp>
    </p:spTree>
    <p:extLst>
      <p:ext uri="{BB962C8B-B14F-4D97-AF65-F5344CB8AC3E}">
        <p14:creationId xmlns:p14="http://schemas.microsoft.com/office/powerpoint/2010/main" val="1943111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7CCE0-4029-46DE-8930-A5D4A917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未来人才需求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BF66E-A758-4C14-AF04-F62DCEA4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17E9C-7A6E-4775-A06C-CCEF731E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 系统扩大了个人参与范围，但不会自动转移专业资格与最终责任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D32C4-84DC-4368-ABF9-3AB92D73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C12B5-B29B-4216-AAAE-C02FD98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可以扩大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2BDAE-C1D0-4455-BACB-9A1FCCB5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86BEE-C2E9-4D34-881F-662EC86E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接触相邻环节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2B547-67C9-484F-A91E-DBFED53D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7AE64-7898-4881-9338-3063A1CA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快速形成初步产物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9E1ED-CDB7-43A7-B53D-8118B6B4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2AA56-5B9B-4FF1-8216-B8D39AB7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并行比较多个方案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DF9B6-AFFD-44F2-92E7-3B9FE16F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B642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23DC4-7365-422F-803C-24D0B79A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不能替代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C6D3B-3CB5-453D-84A6-2D035DA7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27953-47A4-43D8-8AF1-916AA3A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专业资格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B9557-2E57-4418-A41B-C8AC33E5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AC4B0-C178-4D35-8154-88F29459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独立审查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AC165-D031-4F5D-A51C-D5930963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21848-2024-43FB-A9E1-82FFA571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结果所有权</a:t>
            </a:r>
          </a:p>
        </p:txBody>
      </p:sp>
    </p:spTree>
    <p:extLst>
      <p:ext uri="{BB962C8B-B14F-4D97-AF65-F5344CB8AC3E}">
        <p14:creationId xmlns:p14="http://schemas.microsoft.com/office/powerpoint/2010/main" val="6733834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1E69B-389B-4F77-A3E2-EDF7C7A6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第一部分 · 博汇教育情境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DADC0-69DC-4A50-9A4B-FE291CA0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8D0F1-A78A-4619-A12A-D5CCBED7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K12 与职业教育共享完整任务能力，但培养目标和验证方式不同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C81C7-3810-4043-8C2C-F1AA3B08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77148-FC1E-47CC-8EAB-98700BF6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华一学校｜K12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C7FF7-9756-4CF0-B864-96ED79D6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A2BA6-A58A-431E-9771-D70218A5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学科基础与认知发展优先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5BE6C-D396-4452-8AC1-8A2E8FF1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06B78-4C73-42D7-8B34-24FDAD7A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在适龄任务中学习问题定义与证据判断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EAC8D-4B41-4A3C-B239-FDC0B82F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EFC8F-0AD1-4014-908E-EE2742CB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以撤除支架后的独立表现检验学习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A0FFA-D2E8-4E19-8D24-B88CD61A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C7616-D9A8-4D69-9291-7EDE49C6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智理技工学校｜职业教育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94AFA-BCA9-4E20-888F-B5E7D2BE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A1B74-366E-4A00-9E39-8DA38702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工作标准、现场规范与岗位任务优先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90355-6B45-4482-99E8-0ADB09B3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8C884-D150-490F-AACA-63DA5D2C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在真实或仿真任务中完成交付与协作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C526E-4961-46D4-AD40-B2F51210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90A66-33C6-4A54-9911-6DF57CF8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以质量、过程证据和责任履行为主要检验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E8382-F1C5-4927-A92F-DBE4A188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共同底座：专业深度、完整任务、结果验证、责任边界和持续改进。</a:t>
            </a:r>
          </a:p>
        </p:txBody>
      </p:sp>
    </p:spTree>
    <p:extLst>
      <p:ext uri="{BB962C8B-B14F-4D97-AF65-F5344CB8AC3E}">
        <p14:creationId xmlns:p14="http://schemas.microsoft.com/office/powerpoint/2010/main" val="2857887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2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3196F-246A-49C3-9DE3-F0CB7FD9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第二部分 · 组织与运行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57B75-F307-4AC4-9F2D-60F771E0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教育集团 AI-native 转型的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管理对象是一组真实工作流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28C22-8C72-4F57-A942-E65AE209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914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母公司承担组合治理与共享底座，两所学校保留教育目标、专业判断与结果责任。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F959B-9888-4AAA-A61B-3B966851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702320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EEB99A-9917-446D-BE76-308E62F2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AI-native 管理判断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84E40-646F-492D-A34B-ECAE1C89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BC597-5634-4A00-A433-315D12EB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文件生成完成不等于业务任务已经完成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7F329-404B-45D1-A127-540B78DE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114DC-9A97-4388-9178-D4B9B130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可见产物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802B2-8E33-4559-8870-2E38E67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CDAF5-164E-4A59-AF9B-C4EC67EE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报告、方案和汇报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D08E9-45DB-4C69-9916-CAF9C891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E20A1-B4E6-417B-A8AF-6957984B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表格、摘要和邮件草案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E3ABF-41FC-457F-86E2-DF4A1E6F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181BB-1D7D-423C-99C8-B0CF424A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看起来完整的流程图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67085-6B4C-4F67-B7F8-4D8ED8BE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842A0-4DA7-4928-AD26-E10CE7A2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可验证结果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E59DF-1725-4007-9420-7230D695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C4BA2-E366-4296-9383-E5428170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进入真实使用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AC141-40E8-401D-A767-736BB25A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E4401-3153-4E46-8CC6-2F27931D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减少周期、返工或交接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ACD21-76C0-469A-8678-3C99F66F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AE833-5D1D-4E9B-94E8-4800AFF0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结果可核查并能够稳定重复</a:t>
            </a:r>
          </a:p>
        </p:txBody>
      </p:sp>
    </p:spTree>
    <p:extLst>
      <p:ext uri="{BB962C8B-B14F-4D97-AF65-F5344CB8AC3E}">
        <p14:creationId xmlns:p14="http://schemas.microsoft.com/office/powerpoint/2010/main" val="1192946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5A95F-7959-42D8-AF24-43B860FA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AI-native 管理判断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FFBEE-ACBA-4F4E-BD84-E834D38D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F927A-B79B-42EF-8AB2-E52F5B21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价值更多集中在上游问题定义与下游运行验证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EABB4-A671-412D-B900-E66B0727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857500" cy="2952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9AB52-A9AD-4ACF-9297-5FAA39C6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上游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FC320-6B79-4BF9-94CE-E4824897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324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发现问题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定义结果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确定边界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选择优先级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AC7BA-5F3C-4527-99CC-C70F215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32385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生成与执行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C5CC1-D710-4320-A513-181D69A2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2857500" cy="2952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19050">
            <a:solidFill>
              <a:srgbClr val="1A8F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DC687-8E54-4235-BD27-1EFB0875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145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下游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96E0F-2240-4E89-B745-225B9E5A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24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进入采用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验证结果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处理异常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沉淀能力</a:t>
            </a:r>
          </a:p>
        </p:txBody>
      </p:sp>
    </p:spTree>
    <p:extLst>
      <p:ext uri="{BB962C8B-B14F-4D97-AF65-F5344CB8AC3E}">
        <p14:creationId xmlns:p14="http://schemas.microsoft.com/office/powerpoint/2010/main" val="6820454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09B1B-CD91-4832-BDF6-5A684846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组织位置与系统机制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4EE75-7E05-46D1-8B0D-25800831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312E8-0114-470B-AAA4-951A3F8B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业务嵌入与系统能力共同决定 AI 转型能否持续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1B8C2-58F5-45C8-BEB6-FD62F88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业务嵌入弱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18482-D10D-4C28-BEA8-DEA2123F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43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业务嵌入强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9D2EE-59FC-4BC8-B8B7-0F2B597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39821-A7B2-4177-A977-1D686F9A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培训、Demo、AI 表演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96A3A-01BA-4888-824B-02043B2C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生成可见，业务结果不清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8FA0F-B1EB-4AF9-96ED-6A67CF31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BB8F8-FA28-4220-A7BD-5CE4C07F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288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依赖能人或咨询项目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BE18E-6506-46AB-BEFE-13C28BA7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03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进入现场，但经验难以复制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81678-3CFB-4A8C-8157-02C0B8EB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9530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87D20-A8E1-4D7B-9568-7663026D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功能完整但无人采用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16A1F-A30D-4EFA-BB5D-6958E842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系统能力存在，业务主人缺位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2DBFE-3B85-4B63-8EDE-8E8EA398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9530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19050">
            <a:solidFill>
              <a:srgbClr val="1A8F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85547-1B53-45ED-8926-6DF14793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338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AI-native 组织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06BAA-0011-4370-8D57-517D39E7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053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真实问题、受管运行与持续沉淀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BE3AA-D704-47D7-B8D9-0DC0974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381250"/>
            <a:ext cx="47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系统能力弱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326BE-8355-4D90-9BA6-C9B4D1DB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267200"/>
            <a:ext cx="47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系统能力强</a:t>
            </a:r>
          </a:p>
        </p:txBody>
      </p:sp>
    </p:spTree>
    <p:extLst>
      <p:ext uri="{BB962C8B-B14F-4D97-AF65-F5344CB8AC3E}">
        <p14:creationId xmlns:p14="http://schemas.microsoft.com/office/powerpoint/2010/main" val="14875486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9F73C-BC07-47E4-84A5-647D6B75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博汇教育集团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0644C-676B-481E-A3C7-F7E311BC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12587-A77B-44AC-A37A-F44ED4E6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母公司建设共享底座，两所学校拥有具体工作流与专业决定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BA3D5-490D-49C5-BCA3-B0E730B6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31BF1-13B3-4DE6-8810-1B4F52F4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博汇集团｜组合优先级 · 共同规则 · 账号与模型 · 权限审计 · Workflow/Skill 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5F428-B4AE-42AC-9369-AFB91EA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7D992-FD48-4754-89CD-1B59E00D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华一学校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E41E2-A689-4EAE-8B4A-1C0728A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课程与学段判断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未成年人数据与家校边界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K12 工作流主人和最终确认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6B490-A1CD-49E3-8D08-43388876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19050">
            <a:solidFill>
              <a:srgbClr val="1A8F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53C52-BE56-4DA2-B8B7-8D4DD1E0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385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智理技工学校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AF6A9-795C-43A5-AAB5-F1915CE5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专业与实训标准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学生管理、就业与合作企业边界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职教工作流主人和最终确认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85A96-9613-4C87-B358-F8C74042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共享不等于集中所有判断；复用必须经过学校确认、数据隔离和适用性验证。</a:t>
            </a:r>
          </a:p>
        </p:txBody>
      </p:sp>
    </p:spTree>
    <p:extLst>
      <p:ext uri="{BB962C8B-B14F-4D97-AF65-F5344CB8AC3E}">
        <p14:creationId xmlns:p14="http://schemas.microsoft.com/office/powerpoint/2010/main" val="19074972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0ABBF-3B26-47D5-95DF-7DBF0A21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组织角色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09B4E-1C6A-4B4C-BE8D-276A53E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F285D-3990-40EC-9D57-3A140ACB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AIBP 更适合被定义为 Workflow Steward，而不是万能 AI 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E93CE-E3D8-456B-A2B9-DDEA7DE8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Workflow Steward / AIBP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8117E-A1E3-402D-90D1-0FD27E03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负责流程发现、基线、改造、采用、证据与交接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F3CBF-53B1-4CCF-9758-34DF933B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不替业务主管承担最终经营责任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不替专业负责人完成独立审查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不把所有 AI 工作集中到一个新部门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7997B-6FBE-49F8-A069-A9CE9274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4476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96CC2-513D-4F61-BAFB-5B201103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955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现场职责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B554D-F69A-41DE-8928-4C8CCD8A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1. 找到值得改造的工作流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D8B31-331F-4D4D-BCA4-2014E43C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2. 取得必要材料与人员时间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3C066-FA90-4463-932C-BABCF8E6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386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3. 组织两轮真实运行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EDC8E-2CF9-4BF7-9E98-F69CDFB1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2915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4. 形成证据并推动交接</a:t>
            </a:r>
          </a:p>
        </p:txBody>
      </p:sp>
    </p:spTree>
    <p:extLst>
      <p:ext uri="{BB962C8B-B14F-4D97-AF65-F5344CB8AC3E}">
        <p14:creationId xmlns:p14="http://schemas.microsoft.com/office/powerpoint/2010/main" val="1334306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3CF4F-F96F-481A-B6FF-075CAA3E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责任结构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EBEB5-FC49-49C0-81FD-6D797EC0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54F29-2CF8-4EB2-8841-16A31F3C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一条工作流至少需要四类责任，且责任必须匹配相应权力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64FA7-4F0E-4623-867F-D6D2C754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A9E63-47A2-4BC6-97E7-C2C2B02E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55435-0963-475E-BA13-A0192A59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集团/校级负责人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EEE99-DE1F-4549-98F5-39DDF24F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对教育或经营结果、资源、人员时间和优先级负责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95B60-48B4-4B92-988B-67780404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4D031-0B8F-494D-BA5E-FC654402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46FD4-83DB-4028-8487-BAC39067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Workflow Steward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D1D03-4FAD-4038-AF4B-E09FB630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对流程发现、基线、采用、证据和交接负责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3C19B-EC7F-455A-A45E-613A23C8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71875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9F61B-8320-4392-A683-CF2FD7ED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DF047-6870-493D-9B1F-968846EF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系统负责人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84237-DCDC-419D-939F-CD599C63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对可靠性、权限、成本、状态恢复负责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CA037-B85D-4934-9BB2-6027F60A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6EB66-4857-40F6-BAA7-F7D68958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4332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EBC92-FA47-4A34-A2DB-8C95712E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24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专业标准负责人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C0C14-500A-4D16-BD5F-85F6E405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291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对教育、职业、安全和隐私标准负责并保留独立否决权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02F61-D939-43C4-B177-FBDA19A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无数据访问、人员时间和暂停权的“负责人”，仍然只是一个新 title。</a:t>
            </a:r>
          </a:p>
        </p:txBody>
      </p:sp>
    </p:spTree>
    <p:extLst>
      <p:ext uri="{BB962C8B-B14F-4D97-AF65-F5344CB8AC3E}">
        <p14:creationId xmlns:p14="http://schemas.microsoft.com/office/powerpoint/2010/main" val="20729940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50EFA2-DDDF-47AD-8BE7-E4414CD9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Workflow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DFEAE-DCB5-4A72-91F0-2B3D3F80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99D22-3E5C-4840-9FC6-BE77466B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管理对象应从 AI 项目数量转向工作流组合的生命周期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4007B-D4B0-418B-8EB1-95CAD30D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0CEC6-7555-4E79-8A33-AC76DF86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36FF0-E81D-412A-A6CB-45CC8DE9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识别高频问题和隐性手工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A5AEC-5BB2-4F12-B264-FDBCE0FD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24100"/>
            <a:ext cx="56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1C4B9-7E93-4E75-872E-F2712815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619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462CE-403D-4A53-BD05-C5FCAD84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1907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候选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6E4C7-C304-41AF-A717-FDCB26FD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确认主人、基线和风险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839ED-5E16-48C8-B6F7-68C0A63B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24100"/>
            <a:ext cx="56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CDAA1-C589-4E37-82FB-046F49BB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693D8-5CC6-41AA-8A55-7C785DEF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试点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4961E-9DDC-4C9B-A34C-4FE5E4C9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完成两轮真实运行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1BA40-4129-469F-8C91-AA57478F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56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90BB7-F907-46A8-94CD-C47FF10F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619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63813-0CA1-45E8-A8E5-0EC92768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907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受管运行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67FEF-6004-4DA8-8E19-31C34C18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持续监测、接管和复盘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C88A3-4861-4385-9CD8-7075CE77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24100"/>
            <a:ext cx="56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FAD3D-5E52-4143-997D-AB951915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19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3194F-6929-4FC4-8079-BA84628F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907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复用或退役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65A625-077C-4B1E-8D96-7AB12E85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28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扩大、修改或停止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310A2-166F-423D-ADF3-E0FF0C10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管理层需要知道每条工作流处于什么状态，而不仅是做了几个 Agent。</a:t>
            </a:r>
          </a:p>
        </p:txBody>
      </p:sp>
    </p:spTree>
    <p:extLst>
      <p:ext uri="{BB962C8B-B14F-4D97-AF65-F5344CB8AC3E}">
        <p14:creationId xmlns:p14="http://schemas.microsoft.com/office/powerpoint/2010/main" val="6011478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0F509-2011-45DF-BC33-C8630C14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Workflow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0966C-51DD-4FB4-893C-4DC327CD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420F6-8E16-4039-B6AE-E6CF3D32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每条候选工作流都需要一份最小运行合同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67CC0-8B42-4648-9ABC-D8BF3282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EC6FE-701F-4489-B501-A1A00414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811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现状基线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2158F-95E0-43E3-A0AB-1014C609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周期、返工、交接与质量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CE322-E16E-4808-98D6-299F86CE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D176B-98AF-4C38-9E80-45A80A3D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811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业务主人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F8262-D39E-4AC2-8DD4-54B414EE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结果、预算与优先级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C8650-4CCB-4204-B50E-B616A921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5AC5A-C99D-4D2B-91A5-34735E3D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811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材料与权限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6A3E0-7C53-47F1-9506-4BD5A1D6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可读取、可写入与禁止范围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73951-BBE0-4920-B69F-0F3FE9C2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528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5F82B-8CAF-4430-9979-2BAED186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37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交付与标准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9B87F-6710-4F9C-9AA0-AC9E3340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什么结果才算合格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B9F41-9EEB-499A-96A7-1837B282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528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328AB-1EC5-45E1-8D6E-EC6D7D20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337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人工回退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E3042-612C-4F4A-9055-8A0F8972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433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异常时由谁接管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E2A96-A14E-4E16-AE39-E3A67478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528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DDC2E-B81A-4388-BA80-4A280073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337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扩大与停止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DAC88-C7C8-435F-B7CC-8610ADBC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433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什么条件决定下一步</a:t>
            </a:r>
          </a:p>
        </p:txBody>
      </p:sp>
    </p:spTree>
    <p:extLst>
      <p:ext uri="{BB962C8B-B14F-4D97-AF65-F5344CB8AC3E}">
        <p14:creationId xmlns:p14="http://schemas.microsoft.com/office/powerpoint/2010/main" val="16577516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FC478-1934-4FDD-BF19-B46B088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Workflow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04400-19B8-4A18-B506-0D39F4E6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CB009-9E7A-4031-A765-6ABAC8DA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工作流组合需要在制品上限，避免十个部门各自保留一个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FD2B4-6BCC-410A-A27B-1544BC47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900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6900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2054C-7A7F-44B4-98C0-1990A293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分散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89662-3FBA-426C-BD12-2724FE2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0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0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E69C0-A75C-47E8-9EE5-F11D6998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9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69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F233E-3162-4011-843D-99FB688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稳定运行的工作流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42AA9-5ED4-4A87-8960-0347501B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优先把一条工作流带到可独立运行、可接管、可复盘，再扩大组合。</a:t>
            </a:r>
          </a:p>
        </p:txBody>
      </p:sp>
    </p:spTree>
    <p:extLst>
      <p:ext uri="{BB962C8B-B14F-4D97-AF65-F5344CB8AC3E}">
        <p14:creationId xmlns:p14="http://schemas.microsoft.com/office/powerpoint/2010/main" val="4739299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6F760-9058-4E12-BC37-488214D9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系统运行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B7BE9-856A-425E-BB5C-68E1AAD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AB0EF-92BE-46FA-B756-B2B297A5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工作流必须保留状态、证据与决定，才能形成组织记忆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8B3FE-372A-4612-8B74-3C58B03B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D430D-BBE0-4275-A904-BCB4E00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61A2D-5202-4E38-A30E-DDB35407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23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目标、材料、边界和负责人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A1432-9F48-4561-A13C-D85C642D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66975"/>
            <a:ext cx="62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2FDD9-5B78-4ECF-A746-5B4A42A1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1762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09D5C-3477-40BF-82C2-8EC86A57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2333625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5134D-FD28-4565-8B6F-1952A0F2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3171825"/>
            <a:ext cx="223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计划、工具调用和中间状态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D59BD-026E-4927-B224-E6D4C42A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850" y="2466975"/>
            <a:ext cx="62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B73BC-12DE-4187-9BD6-C628B69D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1762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3C111-47E7-4C73-B348-B8613F65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2333625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0DF3A-354E-4BE4-AD31-729A4B03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3171825"/>
            <a:ext cx="223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来源、产物、错误和人工修改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840D8-34E0-4772-9497-61CD6394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525" y="2466975"/>
            <a:ext cx="62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F94A6-6CBB-4777-8C60-5E49C47F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7621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6FCE5-1AB3-4355-8922-5A075FF2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33625"/>
            <a:ext cx="223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决定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D78CF-6BEE-44AB-BBD4-EBCF4B46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71825"/>
            <a:ext cx="2238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接受、修正、回退或停止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A6974-76FE-4D1D-8150-D03A57D1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没有状态和证据，成功只能留在某个能人的个人经验里。</a:t>
            </a:r>
          </a:p>
        </p:txBody>
      </p:sp>
    </p:spTree>
    <p:extLst>
      <p:ext uri="{BB962C8B-B14F-4D97-AF65-F5344CB8AC3E}">
        <p14:creationId xmlns:p14="http://schemas.microsoft.com/office/powerpoint/2010/main" val="6481852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5F21B-FD0D-4FCD-92A8-FAF86651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系统运行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5E36F-C56A-4356-8F50-7530E61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3299C-16F8-45D3-9A76-588448BD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可靠运行依赖 Context、Harness 与 Loop 三类系统能力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7784F-81F2-433B-A4ED-920DA447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FF8F0-947E-44E1-98C7-669C35A7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64EB9-DFBC-40BD-8E31-66E114D3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系统知道什么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F0A1E-10A6-44B6-A291-628BD7A7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业务语义、历史决定、规则、当前状态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59181-AAD0-4979-8EE6-5CAE15D1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0975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D6C16-7D43-4A82-B84E-36979CE2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29E06-52C4-4A13-A450-1843EF95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系统可以做什么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3505C-9B65-41B5-8A3B-98B44E74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67050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工具、权限、运行环境、测试与约束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58264-129A-4524-B00A-EACBDA8B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C6BC4-AD3E-4D2D-A206-D77162A0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A982E-C2D8-47A1-9AD1-37D31A28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系统如何持续改进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5A30C-C746-4769-BCEF-AD3501FE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293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执行、评价、反馈、Skill 复用与版本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2841C-4315-45D5-8F80-C24FECB4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单次提示词无法替代这三类运行条件。</a:t>
            </a:r>
          </a:p>
        </p:txBody>
      </p:sp>
    </p:spTree>
    <p:extLst>
      <p:ext uri="{BB962C8B-B14F-4D97-AF65-F5344CB8AC3E}">
        <p14:creationId xmlns:p14="http://schemas.microsoft.com/office/powerpoint/2010/main" val="2185585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D1ECD-1F8B-465B-B019-BE412098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教育治理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3FC0C-0C57-4391-9CA5-CBD3F500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E2FD6-AE69-4A1A-B9FF-9EA4D9E3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教育场景需要比一般办公任务更严格的数据与责任边界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16EB4-D0B8-4A60-B7F7-899CB563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华一学校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215F3-3A61-420F-9BEB-C67FFF82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真实学生与家长信息、学习记录、评价结论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18FFE-8E88-470D-91B5-AACE4F3A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默认不进入首次试点；必须脱敏、最小化并经学校授权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B93DC-5F60-469D-87D6-DDE07B6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7C726-F4CD-4919-A96D-510D62D7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智理技工学校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32CFB-D956-4CF0-BD0E-F89618D1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1465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学生档案、实训安全、就业与合作企业信息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77E58-5682-4257-A99A-43FC6AC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按专业和合作边界审查；高影响判断保留人工审批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5E082-5225-4BB7-A684-15C0058C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C2681-3C39-4D34-A4FC-47540A85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集团共享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B8B03-512D-42B4-AA46-298BBBF6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跨校汇总、通用模板、Workflow/Skill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FD187-3D38-48BF-8A19-914CABE4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只共享经批准的最小必要信息，不共享可识别个体数据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4546E-FB8E-44AB-BE5B-9D114044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首次培训只使用模拟材料，不连接学生系统、家校沟通、就业系统或对外发布渠道。</a:t>
            </a:r>
          </a:p>
        </p:txBody>
      </p:sp>
    </p:spTree>
    <p:extLst>
      <p:ext uri="{BB962C8B-B14F-4D97-AF65-F5344CB8AC3E}">
        <p14:creationId xmlns:p14="http://schemas.microsoft.com/office/powerpoint/2010/main" val="17333472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2AE8D-BD79-453C-AAC0-2128FCBA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组合指标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EEFAB-68BE-46E7-BC0A-1F891E15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ED8A1-306E-41C8-B667-A74A2526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Dashboard 应支持工作流组合决策，而不是监督员工在线时长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9DE69-9A0E-4A5E-854B-7BF12138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3AA9D-6149-413D-A5CC-D2177A12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859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业务结果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27ACB-82D5-4A4D-A120-E0BCDBEE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8590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周期、成本、返工、交付质量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B9314-8962-47D5-BC4B-64371508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6B16D-7DD3-472F-89E4-D75E796E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真实采用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F307B-F46F-4F18-BF1B-4953F16E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持续使用、独立完成、放弃、人工接管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FB935-8FA0-4DC7-BE11-BC65AE18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F23C0-C172-4764-9411-8DF34BC1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系统运行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3038D-6493-464A-8185-3B7FB6ED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单位合格结果成本、故障恢复、漂移、回滚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81A7A-DA1E-4260-B798-07E61C1B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2264D-D1C6-403E-928E-DCF6C0CD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能力沉淀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DF83A-430F-4B65-A51D-40ED26F3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Workflow/Skill 复用、修正周期、退役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91737-0860-4FD2-9C3C-F150C2EC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42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E2641-CFCA-426C-BA7C-ED0830B1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387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反指标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0D661-6821-4B08-A7F5-9AE4AAA4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隐性手工、负担转移、专业自主性下降</a:t>
            </a:r>
          </a:p>
        </p:txBody>
      </p:sp>
    </p:spTree>
    <p:extLst>
      <p:ext uri="{BB962C8B-B14F-4D97-AF65-F5344CB8AC3E}">
        <p14:creationId xmlns:p14="http://schemas.microsoft.com/office/powerpoint/2010/main" val="7098195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742E9-ACA0-4E01-857F-68CF7C6F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组合指标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F0993-E71E-40AC-8FA8-C183A2FB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AA3AF-ABBA-4AF4-BF93-ABAA3D8E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节省的时间只有被重新配置，才可能转化为经营价值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2171A-FB62-44CD-95D8-5D68BC51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节省小时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971EE-0DDE-41AB-A6C8-30C5DC9E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0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228E9-01C9-48B0-A351-088B883D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重新配置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B2EEC-806A-4866-B7B8-727DA91D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84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0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1C2F6-09E6-42F4-BCDE-8F3019F5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可能的价值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DACC3-15D8-4787-B66F-0DF512E3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用于更重要的判断、客户工作、能力建设或减少过载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F1F91-1809-452A-BF82-0A062B93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若只是把负担转移给下一个人或增加隐性手工，效率并未真正改善。</a:t>
            </a:r>
          </a:p>
        </p:txBody>
      </p:sp>
    </p:spTree>
    <p:extLst>
      <p:ext uri="{BB962C8B-B14F-4D97-AF65-F5344CB8AC3E}">
        <p14:creationId xmlns:p14="http://schemas.microsoft.com/office/powerpoint/2010/main" val="70669844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DE528-AF8F-44F5-9E09-68D55FB8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Workflow Asset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8ABCE-1C37-489D-A0DC-731D8455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EEB0E-55E0-47DA-8140-67F181DA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成熟工作流是一项组织资产，而不只是一次自动化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42AD3-4464-43D9-84A3-75E46877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业务语义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F089A-D0D9-46DA-BE62-8B9F0EA6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D88E1-6C35-43A9-A43A-E4CFDFF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Skill 与工具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B9967-310F-43A6-B882-331004C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62125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状态模型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BDB79-0628-4B8B-96F6-1B3FFF40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权限与人工节点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822DB-A788-4A0F-A5A8-926600BD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评估集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B0FC6-D6E3-4CBA-A4DF-336E0CFB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运行证据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616B1-0803-4E87-B71A-3D67B157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适用边界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7DB5A-3D54-4375-AC82-635E180A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资产价值来自可迁移、可审计、可回滚与可持续修订。</a:t>
            </a:r>
          </a:p>
        </p:txBody>
      </p:sp>
    </p:spTree>
    <p:extLst>
      <p:ext uri="{BB962C8B-B14F-4D97-AF65-F5344CB8AC3E}">
        <p14:creationId xmlns:p14="http://schemas.microsoft.com/office/powerpoint/2010/main" val="210020351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2F493-2A8A-48CD-A5A7-DDF38EB6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组织学习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93C1A-0512-4AC7-9334-21C55696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E84EC-756B-48BC-92A9-B36155B6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结果飞轮与能力飞轮通过同一证据层连接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0D1F0-7EF0-48F3-938E-64E3F91B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042FA-9981-45D1-BA5B-6CB50295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结果飞轮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A0580-5048-4587-B8F7-DD1A2B10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真实问题 → 运行 → 证据 → 扩大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619EB-8D31-4207-B007-F64BFC53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验证客户或内部业务结果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6C59A-2432-4633-BC2C-C73AD7C3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19050">
            <a:solidFill>
              <a:srgbClr val="1A8F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E1C6D-3F52-4B8C-83D3-5F932A10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能力飞轮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2CAE3-118E-46E9-8A6B-F75FEA5C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失败与经验 → Skill/Workflow → 评估 → 更快交付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114FE-7A36-4E15-AE82-63D0A5C3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24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缩短 time-to-owned-workflow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F2860-9BE6-40C5-82A1-91119CC5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证据层连接两条飞轮，但必须保持权限、租户和专业边界。</a:t>
            </a:r>
          </a:p>
        </p:txBody>
      </p:sp>
    </p:spTree>
    <p:extLst>
      <p:ext uri="{BB962C8B-B14F-4D97-AF65-F5344CB8AC3E}">
        <p14:creationId xmlns:p14="http://schemas.microsoft.com/office/powerpoint/2010/main" val="205007548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FD393-5621-41F2-BE7D-9A7A9D68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第二部分 · 90 天试点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D47FF-59C3-49C6-9B17-4EFAE53C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10777-57E3-4E23-BA03-8ADD55F8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90 天的目标是一条有主人、有证据、可独立运行的工作流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9695D-BDC1-405A-B799-91ADACB7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FB130-1CE1-433A-B0B1-491BCCD7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859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有一个具备相应权力的业务负责人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45C71-1A2B-4028-AD2B-C6F0D339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E7034-B020-4452-9161-83C6222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859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完成至少两轮真实运行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1595F-E140-4DD1-85CE-5FF8312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FC232-DB69-49D2-ACAA-40AA6FD2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建设者不在场时至少独立完成一次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9D856-7646-4FBE-9BB8-971E2CF4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872E0-3879-45E0-9730-0572FDA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相对于基线产生可验证变化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579A4-289D-4BBD-A30C-8C23B9F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F88DA-6D2E-4FF3-9CCC-E3FED837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失败可以接管和回退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78406-0F85-47DD-AE7F-BA85C632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347A1-9CD1-4DE7-9CE1-AB742595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814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明确扩大、修改或停止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966F6-F387-41F9-BC6F-C4778EA8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8A33A-6649-4FFD-9D97-C49892B3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已验证部分进入版本化 Workflow/Skill</a:t>
            </a:r>
          </a:p>
        </p:txBody>
      </p:sp>
    </p:spTree>
    <p:extLst>
      <p:ext uri="{BB962C8B-B14F-4D97-AF65-F5344CB8AC3E}">
        <p14:creationId xmlns:p14="http://schemas.microsoft.com/office/powerpoint/2010/main" val="6966646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D2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B3AEE-FEC3-4C3F-A4B4-AB75626B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第三部分 · WorkBuddy 任务实践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942E4-9881-40F4-8962-E1EFFC2C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以同一材料完成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两轮执行与一次审查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A17B4-E776-4F6A-9781-B041BA05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914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实践重点是任务说明、材料依据、人工责任和结果检查，而不是功能数量。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73BF3-6317-40B1-9DD3-EAE7A5A3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5963230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3E02A-DD6E-4843-A365-A0EC1D25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入门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1A142-CF94-40D9-B1EC-5C565BCC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B44BF-223F-4B95-8157-1A6314D5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WorkBuddy 用于承接有材料、有交付要求的完整任务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B1999-D048-4FE6-8B3F-937B66ED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2FFCD-1BF4-4FC7-8EF6-153B82F5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一次问答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7F2C1-461A-473D-99DF-A2C27843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A8C91-6FF4-422F-8FA5-7102A24F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输入一个问题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355E9-4E6C-4538-9E2A-CA9E28CC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C8BC5-3318-4D54-BBFD-7BB18A52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得到一段回答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A60D2-9937-4CD2-A957-031F897B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BBA5C-FF7A-4E74-A032-13488385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结果主要停留在对话中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13E77-34E1-4E4A-B396-C2590816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BC8E1-75D5-4EF3-AF96-6C156DC8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任务运行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48EAA-14A7-4866-B53B-93EE5F8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19BAD-B3AA-485E-B93D-4F5854A0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读取授权材料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8D5EA-87C4-4355-9053-6ABD9217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22525-B801-4DEB-B435-C90106C9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规划并执行多步骤工作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8865A-6C6D-443A-A852-884C6FF5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BB0C2-83CE-4762-B26B-C811C1AD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生成产物并接受检查</a:t>
            </a:r>
          </a:p>
        </p:txBody>
      </p:sp>
    </p:spTree>
    <p:extLst>
      <p:ext uri="{BB962C8B-B14F-4D97-AF65-F5344CB8AC3E}">
        <p14:creationId xmlns:p14="http://schemas.microsoft.com/office/powerpoint/2010/main" val="144959614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995CE-F4BB-4BBE-9533-87D78AB2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入门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364FE-B643-4AF5-BC6A-80D1B502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42259-01E2-4F94-931C-6C2FDF0E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模式与权限用于控制读取、计划和写入范围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371DD-4184-463D-9B0A-9476256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3528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8A555-E20D-4D15-8ADB-0F9166D0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1A642-5384-4F3B-8987-B5EB8DF2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只读理解材料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99DCC-3F23-4F19-8516-AC3A1B1E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2933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不创建或修改文件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5F0D2-5467-4195-9450-3CF0F08D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76400"/>
            <a:ext cx="33528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C9B81-65B5-4E3C-B8EB-1D8BB35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478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EDBF7-44A4-41BA-A35A-FFB41D0A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288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先检查步骤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19FEA-1B10-4F68-8475-64845ED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33700"/>
            <a:ext cx="2933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确认后再执行多步骤任务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52A26-054F-46EF-9B97-F854D590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3528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16AE4-3711-4A8B-97DD-E0B96D1B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Craft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16311-C2C6-4A26-A2A2-B1F9E17F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生成工作产物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D6E91-0839-4FCD-A7D9-25B77641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33700"/>
            <a:ext cx="2933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只在授权工作空间中写入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E6FC7-9CA3-4240-97D1-19E28879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71450" rIns="171450" bIns="171450" anchor="ctr">
            <a:normAutofit fontScale="793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现场只使用模拟材料与默认权限；学生/家长/教师真实数据、发送、发布、删除、覆盖、批量移动和真实系统连接必须停止并人工确认。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3507557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52EC0-A6AB-42D2-9042-63D3CFF4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任务教学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C2BEA-C56C-4EDC-A495-CFE8EBEF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4C85C-2DE9-4E01-93A9-9461DE2A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每组分别承担执行、业务判断、独立审查与记录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FA48D-1A76-4C3E-AC88-AE61E552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30747-42A2-402F-9D1D-9B8EAA92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DB1DD-AB43-4540-A3BE-13D03C9D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操作员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BF7AC-D73F-4CF0-B18A-55768CB1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输入任务并保存产物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D22BB-39BB-4F02-8275-7043FD1E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4D2CD-83B1-4D02-822E-13057D77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0C2F7-F2F0-4D2B-B0FD-C01795C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业务负责人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E6703-91E8-466F-8F9B-9788FAF3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判断结果是否可用于决策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CE139-8B78-4FB6-A644-13251061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71875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BC2B6-0BF1-4B16-A1C6-0D971902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B8E28-24BD-469A-989E-18F7379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审查员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1EA8A-DFD4-466B-A65E-006E9133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寻找无依据、遗漏与越权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E2802-F3A5-4EDF-A1C7-63FE0D8F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82F25-4AC8-4887-95B3-3E5C3A7C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4332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6D3AE-CC44-465D-A86C-FC6820A5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24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记录员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1EF6C-0CA2-418F-BFA7-EF81D6AE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291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记录两轮差异与人工决定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1DE0C-5483-443F-B385-8365DAAF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审查员不参与第一轮生成，以保留相对独立的判断。</a:t>
            </a:r>
          </a:p>
        </p:txBody>
      </p:sp>
    </p:spTree>
    <p:extLst>
      <p:ext uri="{BB962C8B-B14F-4D97-AF65-F5344CB8AC3E}">
        <p14:creationId xmlns:p14="http://schemas.microsoft.com/office/powerpoint/2010/main" val="21453715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1D8BB-4D03-4BC2-B31F-A5DA62CE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WorkBuddy 入门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513B8-D516-4592-BC78-8B59AC70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994EB-D6B3-494D-989E-3C76C675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两个低门槛任务用于熟悉工作空间与运行模式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F13A3-7704-4D11-8874-4FE8CF21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甜点任务 A · Ask · 3 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8739C-B851-4C63-9529-816A9E5E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5143500" cy="1600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228600" rIns="228600" bIns="228600" anchor="ctr">
            <a:normAutofit fontScale="976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只读取“共同任务材料.txt”，列出 3 条明确事实和 3 项材料未提供的信息。不要创建或修改文件。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18124-D8C7-4BF2-9F60-3BA96537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甜点任务 B · Craft · 5 分钟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12EF1-AA22-40E7-9900-2A56AC08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5143500" cy="1600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228600" rIns="228600" bIns="2286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把上述结果保存为“00_材料检查卡.md”，分为明确事实、缺失信息、使用边界三部分。不得新增材料之外的事实。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38148-68EB-4218-A6FC-F2B9BF1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完成标准：能读取指定文件、区分只读与写入，并在工作空间找到产物。</a:t>
            </a:r>
          </a:p>
        </p:txBody>
      </p:sp>
    </p:spTree>
    <p:extLst>
      <p:ext uri="{BB962C8B-B14F-4D97-AF65-F5344CB8AC3E}">
        <p14:creationId xmlns:p14="http://schemas.microsoft.com/office/powerpoint/2010/main" val="70954432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78CB0-2589-41D7-A6AE-E3826F5B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共同任务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7342C-3821-46BA-843D-EDC2CF46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D2941-155A-4D02-A0E6-171EE115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共同任务：形成集团 AI 工作流试点决策简报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BBFE9-B815-462C-881B-0B70C165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848F5-A9E0-4321-B130-86F12941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共同任务材料.txt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51430-4565-4FF8-A445-D497C538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901FD-EA84-4022-837A-CFB3123C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供集团与两校管理层讨论首条低风险工作流试点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BBC8E-8F7A-43EE-83B7-E5EC768F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5334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FA602-F19A-4749-8B68-248DE429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材料包含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0BD1A-20C0-4C1C-921D-B3AB446C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1. 管理会议摘要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2932F-F759-40DB-920F-879DC49D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2. 模拟匿名问卷摘要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CF55D-D437-426F-8D17-EA6BEACE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3. 集团试点约束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2B93A-8CB8-4B5B-A412-EB226421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4. 明确列出的缺失信息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752EE-ED6A-4BE7-911D-BF4E2D94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所有材料均为模拟，不代表博汇集团真实情况。</a:t>
            </a:r>
          </a:p>
        </p:txBody>
      </p:sp>
    </p:spTree>
    <p:extLst>
      <p:ext uri="{BB962C8B-B14F-4D97-AF65-F5344CB8AC3E}">
        <p14:creationId xmlns:p14="http://schemas.microsoft.com/office/powerpoint/2010/main" val="2448570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F185A-C8CB-415D-96A1-19DE135D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第一轮任务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B8834-EC31-4CD5-9E64-B5EA3D2A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CB181-8397-48D3-BCA0-78C79E85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第一轮保留宽泛委托，观察系统的默认解释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84FA5-CD9C-4E71-9521-8C4FA045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  <p:txBody>
          <a:bodyPr xmlns:a="http://schemas.openxmlformats.org/drawingml/2006/main" wrap="square" lIns="285750" tIns="285750" rIns="285750" bIns="2857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请读取工作空间中的“共同任务材料.txt”，形成一份博汇集团及两校 AI 应用推进方案，供管理层讨论，并保存为“第一轮_行动简报.md”。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B3D8A-FA29-4BE6-B19A-9DD58258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Craft 模式 · 8—10 分钟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FF73A-61B8-4385-AF4F-9F8F4D29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第一轮不统一纠正，以保留可比较的差异。</a:t>
            </a:r>
          </a:p>
        </p:txBody>
      </p:sp>
    </p:spTree>
    <p:extLst>
      <p:ext uri="{BB962C8B-B14F-4D97-AF65-F5344CB8AC3E}">
        <p14:creationId xmlns:p14="http://schemas.microsoft.com/office/powerpoint/2010/main" val="195163331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EE29B-FB2D-4414-8902-9A0D1FAA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第一轮检查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68D68-F75F-40B7-8B8C-1981A21C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D6427-F906-4519-9461-908F730F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第一轮结果按六项标准进行材料核查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B15C3-DD71-4548-818E-2CFB05B8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5F094-DDFD-420D-828F-2960D223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859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供谁使用、支持什么决定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69E38-E404-4BF9-BC3F-96BB515D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B9A87-0D74-49B1-8EF9-BC64ADF4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859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重要判断能否回到材料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8A86C-26F3-4513-93BB-2BAE2894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63398-E489-4701-A46F-52B77C0C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事实、推断与建议是否分开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0FDAD-7BCA-4448-807B-DDE71D9F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缺失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648BA-013E-48B3-A93D-589155C1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材料未提供的信息是否标记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BA738-D0B1-48C5-A991-351FA3F7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行动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C4330-0C11-4C16-80A4-4D2342F9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负责人和日期是否被擅自补充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80820-0226-4470-BFD3-A8DB35C8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责任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15B13-358D-49C4-9E37-CF244134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哪些事项必须人工决定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7AFEE-AC51-4475-BFB0-961F28ED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至少标出两处“表达完整但尚不能确认”的内容。</a:t>
            </a:r>
          </a:p>
        </p:txBody>
      </p:sp>
    </p:spTree>
    <p:extLst>
      <p:ext uri="{BB962C8B-B14F-4D97-AF65-F5344CB8AC3E}">
        <p14:creationId xmlns:p14="http://schemas.microsoft.com/office/powerpoint/2010/main" val="199043944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D3F89-D6FF-4FF4-AFA6-3C2CA33D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第二轮方法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8339E-9619-4A35-9347-8D9CD25F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389CA-27E3-4BB9-9FC8-BA3C79A3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高质量任务说明需要同时约束材料、目标、交付、证据、边界与责任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8A8BA-98BE-4D15-9A53-5B48C742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C8A86-0184-48C4-8DD1-6E17A521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90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材料范围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F920B-25D8-434A-B622-533C92E7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E7BE8-817D-4F9F-A3E9-E0D6E9E7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90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业务目标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CC7D2-6603-42DE-BA4A-CCDA42D8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B8AA9-2191-4ACD-A394-B317988C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90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交付格式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32168-0FA4-4489-AA7F-E6F55224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3AEBD-555A-424C-A37E-3F2889E3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证据要求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8D985-2985-4AAC-961C-006ECB63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E3288-DF28-4D53-A2D7-A697EF60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禁止边界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97E69-7C69-4FFB-BCDF-D27FDD46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EEB39-A714-4C30-813F-E517710D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004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人工责任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73E0A-A7BA-4C12-9AFF-E2DAFC4F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这六项是一次任务的最小合同；正式工作流还要增加基线、运行状态和扩大/停止条件。</a:t>
            </a:r>
          </a:p>
        </p:txBody>
      </p:sp>
    </p:spTree>
    <p:extLst>
      <p:ext uri="{BB962C8B-B14F-4D97-AF65-F5344CB8AC3E}">
        <p14:creationId xmlns:p14="http://schemas.microsoft.com/office/powerpoint/2010/main" val="9833089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71012-81C5-48B3-A853-96AC34A6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第二轮任务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77662-8EDF-44E0-93E3-48F51428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20866-00AE-4490-B758-16D6E5D8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第二轮把工作流合同的关键要求写进任务说明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1C795-7E74-40D3-BDA5-AC728BB7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2878FF"/>
            </a:solidFill>
            <a:prstDash val="solid"/>
          </a:ln>
        </p:spPr>
        <p:txBody>
          <a:bodyPr xmlns:a="http://schemas.openxmlformats.org/drawingml/2006/main" wrap="square" lIns="247650" tIns="247650" rIns="247650" bIns="2476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只读取“共同任务材料.txt”。形成供集团与两校管理层决策的试点简报：①300字摘要；②建议优先验证的一条工作流及理由；③现状基线、业务负责人和Workflow Steward的待确认项；④材料依据；⑤集团与学校责任边界；⑥人工回退、扩大与停止条件。事实、推断和建议分开。材料没有的信息写“待确认”，不得补造。先显示计划，确认后保存为“第二轮_试点决策简报.md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53A3C-F9AF-47D2-B986-B1D468B7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Plan 模式 · 10—12 分钟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F4CDD-C453-434A-8FFF-447753F9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检查计划是否触碰材料之外的目录、真实系统或发布动作。</a:t>
            </a:r>
          </a:p>
        </p:txBody>
      </p:sp>
    </p:spTree>
    <p:extLst>
      <p:ext uri="{BB962C8B-B14F-4D97-AF65-F5344CB8AC3E}">
        <p14:creationId xmlns:p14="http://schemas.microsoft.com/office/powerpoint/2010/main" val="169223172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BCBD8-78CE-4ED8-986B-4C25D8CE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第二轮检查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6FB7D-9989-46DE-BCA1-43AAA6C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6916A-0706-497D-BC6A-B977EF0B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独立审查决定结果是接受、修正、回退还是停止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04806-F8A7-475F-B253-22CDF9FC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0802C-2C76-4371-B2F1-36C3698A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3BC92-D9B8-4484-A835-CE6ECB8C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接受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DFA78-A8E7-4EDA-806F-7A5E7123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依据充分，边界与责任明确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72AD2-FB01-47C7-90FE-1C8AA834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F4E58-119E-46A0-9FC1-DC0D72E3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C6A70-4CF7-4C39-843D-4BE6051F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1B8F6-EB5E-49E1-9407-2193CBC7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局部内容或任务要求需要补充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56313-629B-4BA4-B2E9-88A5D4C5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71875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10B43-84D3-4214-A027-FCAEBC7F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3E295-44C0-485E-B233-5892F872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回退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1F101-CEE3-43FB-B25D-7F70B4D1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系统未能稳定完成，转人工处理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CFAEB-A85C-4A56-A8C0-1638E1E8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5F7B1-CD87-4DA2-844A-47283668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4332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1E9D7-2CBC-485B-87C2-A7592650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24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停止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4B2ABC-6E94-4AE7-8303-781DA43C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291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风险、权限或业务价值不支持继续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10089-70D7-4298-BDDA-F2AA99A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审查不是给结果打分，而是形成下一步运行决定。</a:t>
            </a:r>
          </a:p>
        </p:txBody>
      </p:sp>
    </p:spTree>
    <p:extLst>
      <p:ext uri="{BB962C8B-B14F-4D97-AF65-F5344CB8AC3E}">
        <p14:creationId xmlns:p14="http://schemas.microsoft.com/office/powerpoint/2010/main" val="5563539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178FD-1A8B-4F60-991F-C8B656D6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第三部分 · 体验复盘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2EEEF-19B0-41A7-9A65-705BC278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668CD-C43B-4BDC-86D3-0CFF1FE3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两轮实践应形成四项可迁移的管理认识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0EED6-7BFB-4D6B-8B46-B8D7D5A2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73CAA-290B-4A84-8BEB-DCF920EC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CC118-E469-489D-AEC6-1AA65973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任务说明影响结果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3BF43-60D7-44A1-A9C1-F4ABA1E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系统默认理解不能替代业务定义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94511-E7B2-49DD-85FB-298243D2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BCD8B-C1B9-4E46-82D3-A76DBC36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F48BB-24F2-476F-9C6D-99579AEE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依据比流畅重要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4E48F-089B-4FCA-BCAD-F04F8977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完整表达必须回到材料核查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64C8A-D1BD-4D35-949A-079FECE6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71875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37B87-75B0-406E-B68C-99059402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52E97-916B-4442-9AA4-394F17DA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审查需要独立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CB98F-F992-4ABA-8DF3-E8B230BC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生产者不能独占专业判断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1C0D3-FDBF-4E97-9F26-E5704B2A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48780-4A2E-46F6-BF18-CDB85CFC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4332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7D34B-4610-4A42-AB40-0FAFB330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24325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失败必须可处理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4CD97-A63D-475A-86A0-3B64F8E8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29175"/>
            <a:ext cx="491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接管、回退和停止是运行能力</a:t>
            </a:r>
          </a:p>
        </p:txBody>
      </p:sp>
    </p:spTree>
    <p:extLst>
      <p:ext uri="{BB962C8B-B14F-4D97-AF65-F5344CB8AC3E}">
        <p14:creationId xmlns:p14="http://schemas.microsoft.com/office/powerpoint/2010/main" val="184014184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D2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1A2F6-FD43-4963-9A7B-3F86EC67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第四部分 · 任务库与试点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CCA77-DCE1-4780-826F-F30BCAF6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任务从易到难排列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未完成部分直接转为作业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BEEF2-7643-4F35-B496-BE949096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914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现场只承诺经过预检的任务；Skill、PPT 生成和自动化保留为开放题。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0CC8B-7311-480A-AB23-A9BE7186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84911232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CE0F0-B200-4CC7-A6FB-F772FFE1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第四部分 · 任务库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BF470-E2C4-4B25-994B-36D2508D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37C18-1903-4435-948F-4478994E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任务库按采用成熟度分为现场稳妥、会后作业与开放探索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085AA-6E88-4895-A4E6-AA0E1184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352800" cy="3810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E4302-8B48-44AF-9EA4-1F24510E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现场稳妥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3A78D-DBCC-4F48-8A59-A323C635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共同任务后只选 1 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715B2-BD02-4155-90A6-DE566F95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T01 跨校会议行动表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T03 两校试点风险审查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T04 问卷分析（预检通过）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5CE3D-DAB3-49C4-B544-763BC347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352800" cy="3810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0D24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877CA-563F-4D7D-96EB-2CD9B9A1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24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会后作业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3F703-963C-424F-97AD-30DA0F0E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使用模拟或脱敏材料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E3B5C-DB43-483C-BBD2-42BB4360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T06 集团与两校周报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T02 教育政策影响矩阵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T10 文件只读盘点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C9C66-35DF-4776-B6C9-723D4FB6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352800" cy="3810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1A8F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5896E-7E36-4443-841F-95B7E901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开放探索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8A6AD-B3B4-4FF8-BC13-D28846CB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验证后再决定是否试点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4F9A2-5F62-4166-B87F-7C30078C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T07 PPT 生成边界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T11 Skill 草案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T12 自动化方案</a:t>
            </a:r>
          </a:p>
        </p:txBody>
      </p:sp>
    </p:spTree>
    <p:extLst>
      <p:ext uri="{BB962C8B-B14F-4D97-AF65-F5344CB8AC3E}">
        <p14:creationId xmlns:p14="http://schemas.microsoft.com/office/powerpoint/2010/main" val="16239336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10EFB-5145-436F-9A59-A7AE0435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第四部分 · 现场选做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85A8-C12C-4D6A-8E13-CA78D89B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A25A5-61A9-48B7-A1F6-3E80C0BD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T01 与 T03 分别训练跨校交付和独立风险审查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C63BB-5FF6-426E-A0F8-D8F67DD4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FA554-D213-4599-89D8-FC880C20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T01｜跨校会议记录 → 行动表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F0F85-FD71-48B5-BEE6-ABD1B779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BFE25-E4E5-4678-8731-C77E67F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区分决定、建议与未决问题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E725C-A74F-40D1-A657-937549D2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DA9E8-4676-446C-B789-757A5E8B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区分集团、华一和智理责任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6612E-9D48-495F-97E2-4B5B2C15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E87C1-86AE-43A0-86A9-8CC6A5B4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不补造负责人和日期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1DDC5-C27F-42C7-A024-69FD1F56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A6135-6520-4F38-99A7-76511D3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T03｜两校试点方案 → 风险清单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281D4-67CD-4EE0-8003-0B9FE59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9FCD4-77C6-4996-ADA6-7F3DAB66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不继续润色原方案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EF8A8-C3EE-4928-9830-327BB078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79309-FD55-485C-9730-FED5D37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检查 K12 与职教差异、权限和回退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16877-DF75-463B-AFA8-CB321815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AC8C9-BDFA-4278-AF08-833092A6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指出必须由集团或学校决定的事项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DE89F-04A3-41C2-8AEB-E8749F58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两项都使用材料包中的模拟文件，建议用时 10—15 分钟。</a:t>
            </a:r>
          </a:p>
        </p:txBody>
      </p:sp>
    </p:spTree>
    <p:extLst>
      <p:ext uri="{BB962C8B-B14F-4D97-AF65-F5344CB8AC3E}">
        <p14:creationId xmlns:p14="http://schemas.microsoft.com/office/powerpoint/2010/main" val="92253097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52A74-1D14-4907-B3DB-45EB285E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第四部分 · 会后作业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94859-09DB-4B1B-860D-A7125D0C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9E1D4-50D7-4A57-9AB4-DB09BA6E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T04 与 T06 将任务扩展到两校数据和多文件综合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08683-9520-4E2D-9394-CDE0BEBC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80634-8D52-41E3-BFD6-C84AA5F4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T04｜匿名教职员工问卷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B0AED-5062-470E-84D3-A654FFDB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A2E03-3A94-4EA2-A976-14D5C7A4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先检查字段、缺失值和样本量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307BA-75B4-4173-BBC5-BDA529FF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A08FD-1110-4E3A-8592-5AF01508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比较集团、华一和智理时保留样本局限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A49EF-9845-4F0C-B16D-00002467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49088-11B1-46DB-BADE-0D0F5B53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最多 2 张图，事实与解释分开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E8B2D-B433-4D69-8354-4CB23843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14115-A866-491D-9386-D27F78C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T06｜集团与两校周报简报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9F1DE-26DA-49E7-9111-FCF13FAE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B4E96-BB2A-4FCF-9A1C-429E0295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合并重复事项但保留来源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7971B-64AE-4D98-BC29-825A0FDA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6367A-CBD7-4346-AC94-FC72AF81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并列呈现两校口径冲突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92707-8789-4B41-A517-3229EAFE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C13D5-E080-435C-9E7B-4265D1E6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单列跨校依赖和待决策问题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3FF31-788C-4A3C-931A-165D6930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T04 只有在同一账号、模型和 CSV 课前预检通过时进入现场。</a:t>
            </a:r>
          </a:p>
        </p:txBody>
      </p:sp>
    </p:spTree>
    <p:extLst>
      <p:ext uri="{BB962C8B-B14F-4D97-AF65-F5344CB8AC3E}">
        <p14:creationId xmlns:p14="http://schemas.microsoft.com/office/powerpoint/2010/main" val="155643207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8C6AB-257C-4D0E-8885-FE344CC2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第四部分 · 会后作业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15043-4F57-4A8C-9D47-D1B47DFC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71702-8A41-4BCC-B32D-1E851136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T02 与 T10 训练政策研判和文件边界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5593B-6E84-4712-8FB4-74626E6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5347A-C20E-400E-8FCC-7BA5902D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T02｜教育政策影响矩阵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69F58-FBA6-40ED-AD4E-38A1A6A5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B805D-451D-4AC6-AE7A-B8880714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使用预下载并核验的 K12 或职教政策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EC42A-4EA1-462B-8781-18CE7573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542C6-692C-4CC9-874B-8E69890B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区分原文、集团共性与学校差异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2714E-07E4-40C6-8D36-0E3737AC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E4524-1DB6-4AF2-8D28-24801BA7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每项要求标注出处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285B3-AE81-48B2-91B6-63498CF4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448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287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C4F63-36E6-4D2E-AD9C-365DBA70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T10｜文件只读盘点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A5864-81C4-4BDB-AF57-0AB613F9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59AEE-0BDE-4FEA-A274-8F0686E7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只使用副本组成的演练目录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A7D44-F297-4D54-8F26-B5EFB68B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450D1-14F4-4061-B852-118E321A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按集团、华一、智理提出分类预览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8E3C1-A0AA-4696-9B4E-61F494C5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479A3-A842-4CA7-8CC8-B06414EB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不移动、重命名、覆盖或删除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0286A-1588-4D86-ABB2-3D6E33B8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64242"/>
                </a:solidFill>
                <a:latin typeface="PingFang SC"/>
                <a:ea typeface="PingFang SC"/>
                <a:cs typeface="PingFang SC"/>
              </a:rPr>
              <a:t>第一次文件整理只生成改动预览；人工批准后才可能在副本上执行。</a:t>
            </a:r>
          </a:p>
        </p:txBody>
      </p:sp>
    </p:spTree>
    <p:extLst>
      <p:ext uri="{BB962C8B-B14F-4D97-AF65-F5344CB8AC3E}">
        <p14:creationId xmlns:p14="http://schemas.microsoft.com/office/powerpoint/2010/main" val="3195951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3F3AE2-5879-43C8-8A73-A85DA61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第四部分 · 开放题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88906-3600-4D7C-9232-3A12C310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AE94D-B895-445B-A5B1-56233CEF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PPT、Skill 与自动化属于开放探索，不作为现场能力承诺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24C03-837B-4278-B15C-794C6DA8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52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58F48-EAF2-40AB-BD64-8DAFCF68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T07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7AAC6-A2EA-46E2-B4F1-99725A6C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PPT 生成边界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96B88-DC3E-43C3-98A6-7F374DD0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9337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检查可编辑性、信息失真、版式和人工修订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31463-302D-4D68-AA62-59ED7B17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09750"/>
            <a:ext cx="3352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0AEFC-4624-4BEE-82D1-E3BB3ABC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T11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00763-9B65-44FA-A733-E1ED8FD4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Skill 草案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4ACF7-A174-4D83-8FCB-2D99F1C8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67050"/>
            <a:ext cx="29337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至少两轮人工跑通后提炼输入、步骤、检查和停止条件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79D46-3A49-4419-8F05-3327A8FB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CC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212E0-47E5-4584-8732-C05EEE78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A8F6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A8F64"/>
                </a:solidFill>
                <a:latin typeface="PingFang SC"/>
                <a:ea typeface="PingFang SC"/>
                <a:cs typeface="PingFang SC"/>
              </a:rPr>
              <a:t>T12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1657B-279A-4801-8092-7AB84503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自动化方案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58651-EBAF-4514-BD6C-C6B5EDFB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29337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470"/>
                </a:solidFill>
                <a:latin typeface="PingFang SC"/>
                <a:ea typeface="PingFang SC"/>
                <a:cs typeface="PingFang SC"/>
              </a:rPr>
              <a:t>先形成配置草案，不在首次培训中启用无人值守运行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2A2A8-CABD-4A16-874D-E552BA2D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先验证成功条件、失败方式和人工接管，再讨论是否进入试点。</a:t>
            </a:r>
          </a:p>
        </p:txBody>
      </p:sp>
    </p:spTree>
    <p:extLst>
      <p:ext uri="{BB962C8B-B14F-4D97-AF65-F5344CB8AC3E}">
        <p14:creationId xmlns:p14="http://schemas.microsoft.com/office/powerpoint/2010/main" val="12666283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35788-6E5A-4101-AC81-7BD5B02C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第四部分 · 任务作业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4E6F-E6C0-45A3-B224-88720659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8A929D"/>
                </a:solidFill>
                <a:latin typeface="PingFang SC"/>
                <a:ea typeface="PingFang SC"/>
                <a:cs typeface="PingFang SC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AFED4-5D04-4E79-AB75-9D08ABF0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任务作业是一张可进入 90 天试点讨论的工作流卡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2EA16-9CF0-4006-9DB4-9804064D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5E047-ECBE-4002-8890-BBDDA13B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0495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选择了什么真实工作流？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58371-1A5F-4D10-BDE2-4BAD59AD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CB8EC-9658-4F9E-A5AA-00BE478E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0495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它属于集团共性、华一、智理还是跨校？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A1EC3-12F1-4386-AE1C-D70F576B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76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6BFB-4EF3-47A3-8562-B32ED6C0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现状基线、业务负责人和 Steward 是谁？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AE024-FDDD-4643-811F-4B789C32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41053-1E4C-4B95-9436-9946719A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材料、权限、交付和检查标准是什么？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61526-906A-4107-9990-A73C5684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8D2B5-EB0C-4908-B50E-FCE55361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人工何时接管，怎样回退？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926C1-9CA2-4DCB-B64B-1ED701B0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78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0BF6D-9888-41C9-BDD1-099D716A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什么条件决定扩大、修改或停止？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76B6F-B548-41BC-84E7-81B3CFA7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245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D2442"/>
                </a:solidFill>
                <a:latin typeface="PingFang SC"/>
                <a:ea typeface="PingFang SC"/>
                <a:cs typeface="PingFang SC"/>
              </a:rPr>
              <a:t>会后先完成两轮受控运行，再决定是否进入 90 天正式试点。</a:t>
            </a:r>
          </a:p>
        </p:txBody>
      </p:sp>
    </p:spTree>
    <p:extLst>
      <p:ext uri="{BB962C8B-B14F-4D97-AF65-F5344CB8AC3E}">
        <p14:creationId xmlns:p14="http://schemas.microsoft.com/office/powerpoint/2010/main" val="83173566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D2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15AC5-C1D5-4549-AD52-0AA1EC3D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BFD7F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BFD7FA"/>
                </a:solidFill>
                <a:latin typeface="PingFang SC"/>
                <a:ea typeface="PingFang SC"/>
                <a:cs typeface="PingFang SC"/>
              </a:rPr>
              <a:t>培训结束后的行动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C69E1-A281-4372-8213-F37F8224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选择一条真实工作流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完成两轮运行、独立审查与一次明确决定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01F7D-62ED-47D0-BD4A-0AD7BD4F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BEF2F-D8CB-4DE2-896A-5EE230E1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704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集团负责组合治理与共享底座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D7E5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7E5F7"/>
                </a:solidFill>
                <a:latin typeface="PingFang SC"/>
                <a:ea typeface="PingFang SC"/>
                <a:cs typeface="PingFang SC"/>
              </a:rPr>
              <a:t>两校负责教育目标、专业判断与结果责任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77C92-E2FF-48D8-8F11-1DDEAEA5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FC4FF"/>
                </a:solidFill>
                <a:latin typeface="PingFang SC"/>
                <a:ea typeface="PingFang SC"/>
                <a:cs typeface="PingFang SC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234157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2026-08-26T04:43:42.5030000Z</dcterms:created>
  <dcterms:modified xsi:type="dcterms:W3CDTF">2026-08-26T04:43:42.5030000Z</dcterms:modified>
</coreProperties>
</file>