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cfd06f981e477e" /><Relationship Type="http://schemas.openxmlformats.org/officeDocument/2006/relationships/extended-properties" Target="/docProps/app.xml" Id="R710e1be108264f10" /><Relationship Type="http://schemas.openxmlformats.org/officeDocument/2006/relationships/officeDocument" Target="/ppt/presentation.xml" Id="R6f8ae5b8d33948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30ca7bfd404260"/>
  </p:sldMasterIdLst>
  <p:notesMasterIdLst>
    <p:notesMasterId xmlns:r="http://schemas.openxmlformats.org/officeDocument/2006/relationships" r:id="Rd9d6b9cca2f44c69"/>
  </p:notesMasterIdLst>
  <p:sldIdLst>
    <p:sldId xmlns:r="http://schemas.openxmlformats.org/officeDocument/2006/relationships" id="256" r:id="R4e1ca3755d124f73"/>
    <p:sldId xmlns:r="http://schemas.openxmlformats.org/officeDocument/2006/relationships" id="257" r:id="R7acf8b67a55e442b"/>
    <p:sldId xmlns:r="http://schemas.openxmlformats.org/officeDocument/2006/relationships" id="258" r:id="Rd347ce1d43124ced"/>
    <p:sldId xmlns:r="http://schemas.openxmlformats.org/officeDocument/2006/relationships" id="259" r:id="R8c5bb4762f7f4131"/>
    <p:sldId xmlns:r="http://schemas.openxmlformats.org/officeDocument/2006/relationships" id="260" r:id="R6927c6bb577842ae"/>
    <p:sldId xmlns:r="http://schemas.openxmlformats.org/officeDocument/2006/relationships" id="261" r:id="R43bdb5327c6c442f"/>
    <p:sldId xmlns:r="http://schemas.openxmlformats.org/officeDocument/2006/relationships" id="262" r:id="R322a444849014578"/>
    <p:sldId xmlns:r="http://schemas.openxmlformats.org/officeDocument/2006/relationships" id="263" r:id="R36d2414bbbf6456c"/>
    <p:sldId xmlns:r="http://schemas.openxmlformats.org/officeDocument/2006/relationships" id="264" r:id="Rf8d0d16ef690491e"/>
    <p:sldId xmlns:r="http://schemas.openxmlformats.org/officeDocument/2006/relationships" id="265" r:id="Raadd561143984f87"/>
    <p:sldId xmlns:r="http://schemas.openxmlformats.org/officeDocument/2006/relationships" id="266" r:id="Rda10f7ede29640b4"/>
    <p:sldId xmlns:r="http://schemas.openxmlformats.org/officeDocument/2006/relationships" id="267" r:id="R0dd78dcc27814301"/>
    <p:sldId xmlns:r="http://schemas.openxmlformats.org/officeDocument/2006/relationships" id="268" r:id="Rd7c500b36e7c49d9"/>
    <p:sldId xmlns:r="http://schemas.openxmlformats.org/officeDocument/2006/relationships" id="269" r:id="R73bb06dab51647cc"/>
    <p:sldId xmlns:r="http://schemas.openxmlformats.org/officeDocument/2006/relationships" id="270" r:id="R7e4a9a073bc942ed"/>
    <p:sldId xmlns:r="http://schemas.openxmlformats.org/officeDocument/2006/relationships" id="271" r:id="R610e73cf25074de5"/>
    <p:sldId xmlns:r="http://schemas.openxmlformats.org/officeDocument/2006/relationships" id="272" r:id="Rb606164c5ab04ad4"/>
    <p:sldId xmlns:r="http://schemas.openxmlformats.org/officeDocument/2006/relationships" id="273" r:id="Rf4afdc2b0b1b450a"/>
    <p:sldId xmlns:r="http://schemas.openxmlformats.org/officeDocument/2006/relationships" id="274" r:id="Rb63e84ed7ed64388"/>
    <p:sldId xmlns:r="http://schemas.openxmlformats.org/officeDocument/2006/relationships" id="275" r:id="R40643f34642f44ee"/>
    <p:sldId xmlns:r="http://schemas.openxmlformats.org/officeDocument/2006/relationships" id="276" r:id="Rcfb74df8403d42af"/>
    <p:sldId xmlns:r="http://schemas.openxmlformats.org/officeDocument/2006/relationships" id="277" r:id="R603b59f726034a7a"/>
    <p:sldId xmlns:r="http://schemas.openxmlformats.org/officeDocument/2006/relationships" id="278" r:id="R8c2cab5aa4f349b6"/>
    <p:sldId xmlns:r="http://schemas.openxmlformats.org/officeDocument/2006/relationships" id="279" r:id="Ra95445e196e74ad7"/>
    <p:sldId xmlns:r="http://schemas.openxmlformats.org/officeDocument/2006/relationships" id="280" r:id="R8a001a874de240de"/>
    <p:sldId xmlns:r="http://schemas.openxmlformats.org/officeDocument/2006/relationships" id="281" r:id="R2541b364c64f4a7e"/>
    <p:sldId xmlns:r="http://schemas.openxmlformats.org/officeDocument/2006/relationships" id="282" r:id="R0000ae7ed8834a0b"/>
    <p:sldId xmlns:r="http://schemas.openxmlformats.org/officeDocument/2006/relationships" id="283" r:id="R9485760431444a0d"/>
    <p:sldId xmlns:r="http://schemas.openxmlformats.org/officeDocument/2006/relationships" id="284" r:id="Rc5e07e9d702c4ee2"/>
    <p:sldId xmlns:r="http://schemas.openxmlformats.org/officeDocument/2006/relationships" id="285" r:id="Rd68d569e932a446d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a2492b20124869" /><Relationship Type="http://schemas.openxmlformats.org/officeDocument/2006/relationships/slideMaster" Target="/ppt/slideMasters/slideMaster1.xml" Id="Rf830ca7bfd404260" /><Relationship Type="http://schemas.openxmlformats.org/officeDocument/2006/relationships/notesMaster" Target="/ppt/notesMasters/notesMaster1.xml" Id="Rd9d6b9cca2f44c69" /><Relationship Type="http://schemas.openxmlformats.org/officeDocument/2006/relationships/presProps" Target="/ppt/presProps.xml" Id="Rac0e12dd48f64020" /><Relationship Type="http://schemas.openxmlformats.org/officeDocument/2006/relationships/tableStyles" Target="/ppt/tableStyles.xml" Id="R6089e9182e60489c" /><Relationship Type="http://schemas.openxmlformats.org/officeDocument/2006/relationships/slide" Target="/ppt/slides/slide1.xml" Id="R4e1ca3755d124f73" /><Relationship Type="http://schemas.openxmlformats.org/officeDocument/2006/relationships/slide" Target="/ppt/slides/slide2.xml" Id="R7acf8b67a55e442b" /><Relationship Type="http://schemas.openxmlformats.org/officeDocument/2006/relationships/slide" Target="/ppt/slides/slide3.xml" Id="Rd347ce1d43124ced" /><Relationship Type="http://schemas.openxmlformats.org/officeDocument/2006/relationships/slide" Target="/ppt/slides/slide4.xml" Id="R8c5bb4762f7f4131" /><Relationship Type="http://schemas.openxmlformats.org/officeDocument/2006/relationships/slide" Target="/ppt/slides/slide5.xml" Id="R6927c6bb577842ae" /><Relationship Type="http://schemas.openxmlformats.org/officeDocument/2006/relationships/slide" Target="/ppt/slides/slide6.xml" Id="R43bdb5327c6c442f" /><Relationship Type="http://schemas.openxmlformats.org/officeDocument/2006/relationships/slide" Target="/ppt/slides/slide7.xml" Id="R322a444849014578" /><Relationship Type="http://schemas.openxmlformats.org/officeDocument/2006/relationships/slide" Target="/ppt/slides/slide8.xml" Id="R36d2414bbbf6456c" /><Relationship Type="http://schemas.openxmlformats.org/officeDocument/2006/relationships/slide" Target="/ppt/slides/slide9.xml" Id="Rf8d0d16ef690491e" /><Relationship Type="http://schemas.openxmlformats.org/officeDocument/2006/relationships/slide" Target="/ppt/slides/slide10.xml" Id="Raadd561143984f87" /><Relationship Type="http://schemas.openxmlformats.org/officeDocument/2006/relationships/slide" Target="/ppt/slides/slide11.xml" Id="Rda10f7ede29640b4" /><Relationship Type="http://schemas.openxmlformats.org/officeDocument/2006/relationships/slide" Target="/ppt/slides/slide12.xml" Id="R0dd78dcc27814301" /><Relationship Type="http://schemas.openxmlformats.org/officeDocument/2006/relationships/slide" Target="/ppt/slides/slide13.xml" Id="Rd7c500b36e7c49d9" /><Relationship Type="http://schemas.openxmlformats.org/officeDocument/2006/relationships/slide" Target="/ppt/slides/slide14.xml" Id="R73bb06dab51647cc" /><Relationship Type="http://schemas.openxmlformats.org/officeDocument/2006/relationships/slide" Target="/ppt/slides/slide15.xml" Id="R7e4a9a073bc942ed" /><Relationship Type="http://schemas.openxmlformats.org/officeDocument/2006/relationships/slide" Target="/ppt/slides/slide16.xml" Id="R610e73cf25074de5" /><Relationship Type="http://schemas.openxmlformats.org/officeDocument/2006/relationships/slide" Target="/ppt/slides/slide17.xml" Id="Rb606164c5ab04ad4" /><Relationship Type="http://schemas.openxmlformats.org/officeDocument/2006/relationships/slide" Target="/ppt/slides/slide18.xml" Id="Rf4afdc2b0b1b450a" /><Relationship Type="http://schemas.openxmlformats.org/officeDocument/2006/relationships/slide" Target="/ppt/slides/slide19.xml" Id="Rb63e84ed7ed64388" /><Relationship Type="http://schemas.openxmlformats.org/officeDocument/2006/relationships/slide" Target="/ppt/slides/slide20.xml" Id="R40643f34642f44ee" /><Relationship Type="http://schemas.openxmlformats.org/officeDocument/2006/relationships/slide" Target="/ppt/slides/slide21.xml" Id="Rcfb74df8403d42af" /><Relationship Type="http://schemas.openxmlformats.org/officeDocument/2006/relationships/slide" Target="/ppt/slides/slide22.xml" Id="R603b59f726034a7a" /><Relationship Type="http://schemas.openxmlformats.org/officeDocument/2006/relationships/slide" Target="/ppt/slides/slide23.xml" Id="R8c2cab5aa4f349b6" /><Relationship Type="http://schemas.openxmlformats.org/officeDocument/2006/relationships/slide" Target="/ppt/slides/slide24.xml" Id="Ra95445e196e74ad7" /><Relationship Type="http://schemas.openxmlformats.org/officeDocument/2006/relationships/slide" Target="/ppt/slides/slide25.xml" Id="R8a001a874de240de" /><Relationship Type="http://schemas.openxmlformats.org/officeDocument/2006/relationships/slide" Target="/ppt/slides/slide26.xml" Id="R2541b364c64f4a7e" /><Relationship Type="http://schemas.openxmlformats.org/officeDocument/2006/relationships/slide" Target="/ppt/slides/slide27.xml" Id="R0000ae7ed8834a0b" /><Relationship Type="http://schemas.openxmlformats.org/officeDocument/2006/relationships/slide" Target="/ppt/slides/slide28.xml" Id="R9485760431444a0d" /><Relationship Type="http://schemas.openxmlformats.org/officeDocument/2006/relationships/slide" Target="/ppt/slides/slide29.xml" Id="Rc5e07e9d702c4ee2" /><Relationship Type="http://schemas.openxmlformats.org/officeDocument/2006/relationships/slide" Target="/ppt/slides/slide30.xml" Id="Rd68d569e932a44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f2ad90f91145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2ce5a3e39f4d56" /><Relationship Type="http://schemas.openxmlformats.org/officeDocument/2006/relationships/notesMaster" Target="/ppt/notesMasters/notesMaster1.xml" Id="Ra3d1ab8b168546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4077fe43914e40" /><Relationship Type="http://schemas.openxmlformats.org/officeDocument/2006/relationships/notesMaster" Target="/ppt/notesMasters/notesMaster1.xml" Id="R6b35a9f5554945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5cb728333040ef" /><Relationship Type="http://schemas.openxmlformats.org/officeDocument/2006/relationships/notesMaster" Target="/ppt/notesMasters/notesMaster1.xml" Id="Rc9940f9e415a47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2f671aefd24286" /><Relationship Type="http://schemas.openxmlformats.org/officeDocument/2006/relationships/notesMaster" Target="/ppt/notesMasters/notesMaster1.xml" Id="R25024def4deb4b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aaa8b30f914a3e" /><Relationship Type="http://schemas.openxmlformats.org/officeDocument/2006/relationships/notesMaster" Target="/ppt/notesMasters/notesMaster1.xml" Id="Ra4f64f4a25c84b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5269e3d13149e6" /><Relationship Type="http://schemas.openxmlformats.org/officeDocument/2006/relationships/notesMaster" Target="/ppt/notesMasters/notesMaster1.xml" Id="R566c42c4ebe047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c09f87fa604aa3" /><Relationship Type="http://schemas.openxmlformats.org/officeDocument/2006/relationships/notesMaster" Target="/ppt/notesMasters/notesMaster1.xml" Id="Rf14d1b688e7e4e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9d731090964429" /><Relationship Type="http://schemas.openxmlformats.org/officeDocument/2006/relationships/notesMaster" Target="/ppt/notesMasters/notesMaster1.xml" Id="R451fb7143de941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e52d17277e4876" /><Relationship Type="http://schemas.openxmlformats.org/officeDocument/2006/relationships/notesMaster" Target="/ppt/notesMasters/notesMaster1.xml" Id="R0194421a05f34f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cf70a4f1894c9b" /><Relationship Type="http://schemas.openxmlformats.org/officeDocument/2006/relationships/notesMaster" Target="/ppt/notesMasters/notesMaster1.xml" Id="R003b6d1fa90f42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e19d1824224450" /><Relationship Type="http://schemas.openxmlformats.org/officeDocument/2006/relationships/notesMaster" Target="/ppt/notesMasters/notesMaster1.xml" Id="Rfbb78e54001742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d7c14d82dc4a21" /><Relationship Type="http://schemas.openxmlformats.org/officeDocument/2006/relationships/notesMaster" Target="/ppt/notesMasters/notesMaster1.xml" Id="Rb7c0189c97eb4c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c35cd3421a44ae" /><Relationship Type="http://schemas.openxmlformats.org/officeDocument/2006/relationships/notesMaster" Target="/ppt/notesMasters/notesMaster1.xml" Id="Rb6acd364693f47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073b1b712b48c9" /><Relationship Type="http://schemas.openxmlformats.org/officeDocument/2006/relationships/notesMaster" Target="/ppt/notesMasters/notesMaster1.xml" Id="Rfbdafdb54f9046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328ef3b63c45f8" /><Relationship Type="http://schemas.openxmlformats.org/officeDocument/2006/relationships/notesMaster" Target="/ppt/notesMasters/notesMaster1.xml" Id="R457b2648a2864a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b48ccb66e746ea" /><Relationship Type="http://schemas.openxmlformats.org/officeDocument/2006/relationships/notesMaster" Target="/ppt/notesMasters/notesMaster1.xml" Id="Ra179cd53ab0f4d1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fba79ff526744de" /><Relationship Type="http://schemas.openxmlformats.org/officeDocument/2006/relationships/notesMaster" Target="/ppt/notesMasters/notesMaster1.xml" Id="Rdea7caad04864fc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d5a9984ad90481a" /><Relationship Type="http://schemas.openxmlformats.org/officeDocument/2006/relationships/notesMaster" Target="/ppt/notesMasters/notesMaster1.xml" Id="R63834021bf9647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cc363095c7a4972" /><Relationship Type="http://schemas.openxmlformats.org/officeDocument/2006/relationships/notesMaster" Target="/ppt/notesMasters/notesMaster1.xml" Id="R01036fd53d7a471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34b1bb7c6d459d" /><Relationship Type="http://schemas.openxmlformats.org/officeDocument/2006/relationships/notesMaster" Target="/ppt/notesMasters/notesMaster1.xml" Id="R6d0b32b796204b6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1e5336e89ef4e24" /><Relationship Type="http://schemas.openxmlformats.org/officeDocument/2006/relationships/notesMaster" Target="/ppt/notesMasters/notesMaster1.xml" Id="Re6f5b5cd4c9c4ea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36d002aaf0449d3" /><Relationship Type="http://schemas.openxmlformats.org/officeDocument/2006/relationships/notesMaster" Target="/ppt/notesMasters/notesMaster1.xml" Id="R6dfdee98095b4e8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bf82aa2841c4a32" /><Relationship Type="http://schemas.openxmlformats.org/officeDocument/2006/relationships/notesMaster" Target="/ppt/notesMasters/notesMaster1.xml" Id="Rb54b5265d02b440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7a4572cd3284789" /><Relationship Type="http://schemas.openxmlformats.org/officeDocument/2006/relationships/notesMaster" Target="/ppt/notesMasters/notesMaster1.xml" Id="R64603562f3a34e9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a121708c3bc4525" /><Relationship Type="http://schemas.openxmlformats.org/officeDocument/2006/relationships/notesMaster" Target="/ppt/notesMasters/notesMaster1.xml" Id="R875c50076b44454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a6d976d2fd0444b" /><Relationship Type="http://schemas.openxmlformats.org/officeDocument/2006/relationships/notesMaster" Target="/ppt/notesMasters/notesMaster1.xml" Id="Ref63e2d1fd964b8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9d3cd22a1224eef" /><Relationship Type="http://schemas.openxmlformats.org/officeDocument/2006/relationships/notesMaster" Target="/ppt/notesMasters/notesMaster1.xml" Id="R96fb0c2e3e23475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d9f7ad8ed104637" /><Relationship Type="http://schemas.openxmlformats.org/officeDocument/2006/relationships/notesMaster" Target="/ppt/notesMasters/notesMaster1.xml" Id="R9489c0f49e6d4ab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dbbf5d36bb946d3" /><Relationship Type="http://schemas.openxmlformats.org/officeDocument/2006/relationships/notesMaster" Target="/ppt/notesMasters/notesMaster1.xml" Id="Rcf739e9c42c54ea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c5ca6aa1ddd4216" /><Relationship Type="http://schemas.openxmlformats.org/officeDocument/2006/relationships/notesMaster" Target="/ppt/notesMasters/notesMaster1.xml" Id="R557479a003de4f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講座面向跨學科本科一、二年級學生。題目中的成本降低，主要指文字起草、改寫和部分方案試做的門檻下降，不代表理解他人、取得可靠證據或協調合作的成本已經消失。以一次產品評審進入問題，沿著一份課前導讀的委託討論中文傳意與人才成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來源：講者分析與建議，承接 AI Native Field Notes 1–4：https://tonyxinvip.github.io/slides/ 。人才判斷未經標準化甄選研究驗證，不代表勞動市場預測。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月20日的產品評審，討論由界面調整轉向教師如何開始工作。講者從語文教師的視角追問學科與教材的選擇、資源生成及補充資料的位置。這些是根據轉錄整理的問題，並非逐字引述。此處不判定同事的能力，也不宣稱改動帶來了效果。片段揭示的是一種評審方法：沿使用者的工作次序，檢查一句需求省略了哪些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來源：講者產品評審紀錄，2026-09-20，01:42–03:31。匿名轉述，非逐字引述。轉錄中不確定的詞語未作引用，亦不據此宣稱產品效果。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名稱可以很簡短，但使用者的工作包含先後條件。教師先確定學科和教材，再補充教學目的與材料，取得候選資源後還需要檢查和修改。本頁把評審問題整理為工作示意，不是現有產品的實測操作路徑。中文傳意在這裏參與需求定義：不同的描述會讓團隊製作出不同的東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來源：講者產品評審紀錄，2026-09-20，01:42–03:31。匿名轉述，非逐字引述。轉錄中不確定的詞語未作引用，亦不據此宣稱產品效果。 講者分析與建議，承接 AI Native Field Notes 1–4：https://tonyxinvip.github.io/slides/ 。人才判斷未經標準化甄選研究驗證，不代表勞動市場預測。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以一位語文教師的備課任務，檢查 AI 能接到怎樣的委託。 本節沿用同一構擬案例，後續判斷不代表已經完成實際試用。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情境與材料均為講座構擬，不延伸冒充開場的真實項目。假設一位教師需要一份小學三年級課前導讀。最初一句話沒有說明學生已讀過甚麼、課前可用多久，以及這份材料是給教師備課還是直接交給學生。補充條件後，應能檢查材料是否符合這次任務，而不只憑文字是否流暢判斷品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的機會首先在於擴大可以嘗試的工作。學生可以把課堂構想做成可討論的材料或原型，更早獲得回饋。生成、檢索及工具執行可以由同一系統組合，但支援程度與可靠性依工具、資料和任務而變。檢索結果仍需核對，對外發送與修改共享資料需另行授權。這不是要求學生先成為管理者，而是鼓勵他們在可控範圍完成較完整的項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來源：講者分析與建議，承接 AI Native Field Notes 1–4：https://tonyxinvip.github.io/slides/ 。人才判斷未經標準化甄選研究驗證，不代表勞動市場預測。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委託不只是一句要求，也需要說明可用材料、預期產物以及不可改動的內容。這些資訊讓人與AI有共同的檢查依據。初學者不必寫複雜的技術規格，只要讓另一位同學能夠指出哪裏符合要求、哪裏仍待確認。條件也可以在試做後更新，但要說明改動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使用本講座準備的示例短文「窗邊的樹」。先給模型只有「做一份語文課前導讀」的要求，再保留同一短文，增加年級、十分鐘、辨認描寫變化語句、不能新增情節及教師說明等條件。觀察兩次輸出對提問和用途的安排，不能預先保證哪次一定更好。展示下一頁離線示例時，明確說明是事先準備的對照稿，不是現場模型輸出。完整材料與可複製提示見演示材料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側提問沒有指定文本依據，也未對應這次辨認景物變化的閱讀目的。右側把辨認語句和推論區分開來，讓學生可以回到短文說明理由。這一對照用來解釋委託品質與可檢查性的關係，不是對兩個模型的比較，也不是已證明有效的教學設計。學生可以不同意提問本身，教師仍需根據課程和學生程度調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講者對投入次序的建議，而非已經完成的實驗。AI降低試做門檻後，可以探索更多方案，但用戶回饋、注意力和維護能力仍然有限。先選一位需求明確、願意提供回饋的教師，觀察一次具體備課，了解哪些步驟仍需協助。單次試用只能暴露問題和生成假設，不能證明整體市場需求或教學效果。人才的判斷也包含控制承諾，決定下一步需要甚麼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來源：講者分析與建議，承接 AI Native Field Notes 1–4：https://tonyxinvip.github.io/slides/ 。人才判斷未經標準化甄選研究驗證，不代表勞動市場預測。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導讀完成之後，介紹它的語言會影響他人對效果的期待。 本節沿用同一構擬案例，後續判斷不代表已經完成實際試用。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所有試用資訊都是構擬材料，不是公司已有成果。先呈現「教師覺得整理材料較方便」的回饋，再加入未收集學生作答、未設比較組或後續追蹤的限制。請模型檢查「這份導讀能提升學生的閱讀理解」這個待審主張，重寫給教師的介紹並說明下一步需要的證據。演示要觀察模型是否實際修訂主句，而不是只在結尾加免責聲明。新資料只有在影響依據時才要求改變結論，不是每一條新增資訊都必須令結論轉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師的便利感是與備課相關的主觀回饋，學生閱讀理解則是另一個需要觀察的對象。不能把前者直接當作後者的證據。修訂後的介紹仍可以說明用途，但不承諾已獲證實的成效。後續若要判斷學生理解，需根據學習目標設計評量，並考慮原有程度、教學過程與其他可能影響。這裏不提出統一的教育實驗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證據邊界常常落在普通中文詞語中。「教師認為」交代意見來源，「目前」限定時間，「尚未評估」說明未知。它們有時會降低句子的宣傳力度，卻會提高讀者判斷的精度。簡潔應刪去重複，而不是刪去會影響決定的條件。這不要求每份文字都列出所有限制，要優先保留會改變讀者理解、行動或承諾的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判斷力需要知識支撐。教育背景使人留意便利感與學習表現的區別，其他專業也有自己的證據標準。這裏僅作跨學科類比，不提供法律或醫學建議。AI可以協助列出可能的問題，但學生需要逐漸理解為甚麼某些差異重要，才能對答案作出有根據的取捨。學科訓練因此仍是形成專業判斷的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來源：講者分析與建議，承接 AI Native Field Notes 1–4：https://tonyxinvip.github.io/slides/ 。人才判斷未經標準化甄選研究驗證，不代表勞動市場預測。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份導讀材料，教師需要知道它適用於甚麼課堂，協作同學需要知道具體要做甚麼，負責人則要知道目前可以承諾到哪裏。三種表達共享同一事實，不得因對象不同就改變成熟度或效果承諾。中文傳意在此既是轉譯，也是協調：把角色關心的內容補足，使對方能夠完成相應判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材料送到教師手上之後，還需要處理使用、修訂與取捨。 本節沿用同一構擬案例，後續判斷不代表已經完成實際試用。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份文件生成完畢，只回答了是否有產物。教師能否打開和修改，是可用性問題。是否在備課或課堂中使用，是採用問題。對學習有甚麼影響，則需要另外的證據。這四層並非所有項目都必須同時完成，關鍵是公開說明當前驗收到哪一層。既不低估有用的初稿，也不把初稿描述為已證明有效的解決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設教師反映部分學生抄出原句，卻無法說明理由。這是構擬的後續情境，並未在真實課堂中觀察到。提問可能只要求找句，也可能是學生尚不理解如何比較變化或區分原文與推測。先檢查任務，再觀察學生如何說明，不能把問題直接歸咎於學生。這也說明企業需要接觸實際使用過程，不能只接收一句滿意或不滿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業家視角的核心是有限資源下的取捨。任務值得做，不表示每個功能都值得投入。若使用者需要明確且問題可修正，可以繼續。如果只在某一類教材適用，可以縮小範圍。如果沒有清楚用途或持續維護的代價超出可接受範圍，可以暫停。這些是決策條件的示例，不是機械的評分規則，也不意味著一次負面回饋就要停止整個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來源：講者分析與建議，承接 AI Native Field Notes 1–4：https://tonyxinvip.github.io/slides/ 。人才判斷未經標準化甄選研究驗證，不代表勞動市場預測。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新人承擔結果，必須與其知識、授權及可用資源相稱。企業不能以AI提高效率為理由，讓沒有權限的人承擔所有後果。對初學者，應提供範圍清楚的小任務、可求助的同事和及時回饋。隨著可觀察能力增加，再逐步擴大委託。合理試錯不等於不負責任，關鍵是錯誤可發現、影響可控制，而且能形成下一步的學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來源：講者分析與建議，承接 AI Native Field Notes 1–4：https://tonyxinvip.github.io/slides/ 。人才判斷未經標準化甄選研究驗證，不代表勞動市場預測。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項目結束後，方法如何被理解、更新，並用於新任務。 本節沿用同一構擬案例，後續判斷不代表已經完成實際試用。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這裏把AI Native 3中的組織記憶轉成小組項目的記錄方式。事實記憶包括材料、對象、版本及已知限制。互動與推理記憶保存不同意見、取捨理由及被拒絕的方案。行動記憶記錄做了哪些修改、得到甚麼觀察，以及接下來何時重查。它們不是三個必須購買的系統，而是讓下一位協作者能理解工作的內容。記錄需符合授權與私隱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來源：講者分析與建議，承接 AI Native Field Notes 1–4：https://tonyxinvip.github.io/slides/ 。人才判斷未經標準化甄選研究驗證，不代表勞動市場預測。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近期對團隊工具的討論提示一個重要區別：內容被保存、同步或召回，仍未證明它正確和適用。某個導讀方案在一類教材中有用，不表示能直接套到另一類文體。組織記憶需要來源、適用條件和重查理由，否則只會更快傳播過時的結論。此頁不評價任何工具的最新產品能力，而是給出內容治理上的一般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來源：講者分析與建議，承接 AI Native Field Notes 1–4：https://tonyxinvip.github.io/slides/ 。人才判斷未經標準化甄選研究驗證，不代表勞動市場預測。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能只憑一份高品質輸出判斷學生已掌握相關能力，也不能用完全禁用AI概括所有評量。若目標是理解，可以要求學生不依賴即時代答，解釋語句選擇和證據依據。若目標是人機協作，則應允許工具，改變受眾、材料或限制，檢查能否修訂方法。兩種觀察回答不同問題，應由課程目標決定採用方式。這是評量設計建議，不是學習效果的實驗結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講者建議用於作品討論的追問，不是實際招聘效果研究或標準化量表。對本科低年級學生，重點是觀察成長潛力，而不是要求每個人已能獨立承擔大型項目。一次作品可以展示如何界定問題、哪些依據改變判斷，以及如何應對新條件。最終評價仍需考慮職位專業、完成工作的支援程度與公平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來源：講者分析與建議，承接 AI Native Field Notes 1–4：https://tonyxinvip.github.io/slides/ 。人才判斷未經標準化甄選研究驗證，不代表勞動市場預測。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在案例之後才引入概念，避免學生先記住框架再尋找意義。判斷力使人能定義問題和檢查證據。協作能力使人能向不同對象說明任務，安排人與工具的分工。學習能力使人能根據回饋修訂，並在新的條件下重新作出判斷。責任貫穿這些工作，不另外包裝成要求個人無限承擔的能力。專業知識是各環節的基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來源：講者分析與建議，承接 AI Native Field Notes 1–4：https://tonyxinvip.github.io/slides/ 。人才判斷未經標準化甄選研究驗證，不代表勞動市場預測。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學生不必等待實習才開始實踐。可以選一份學科短文的公眾說明、一次社團活動的報名介紹，或為同學製作學習材料。選有真實受眾、風險較低且能取得回饋的任務，遵守課程的AI使用規定。作品集不必保存所有聊天記錄，保留一頁問題說明、關鍵來源、一次重要修改及其理由，通常比堆積產出更便於討論。不得展示未獲授權的同學或使用者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來源：講者分析與建議，承接 AI Native Field Notes 1–4：https://tonyxinvip.github.io/slides/ 。人才判斷未經標準化甄選研究驗證，不代表勞動市場預測。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真實評審的起點：教師需要完成一次備課。中間的課前導讀故事是構擬推演，並不證明該產品已達成效果。整場講座建立的判斷是，文字把需求、證據和承諾連在一起。當起草變得容易，仍需要有人理解對方要完成甚麼，說清楚目前知道多少，並在結果偏離時修訂。這是中文傳意與人才能力之間的聯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來源：講者產品評審紀錄，2026-09-20，01:42–03:31。匿名轉述，非逐字引述。轉錄中不確定的詞語未作引用，亦不據此宣稱產品效果。 講者分析與建議，承接 AI Native Field Notes 1–4：https://tonyxinvip.github.io/slides/ 。人才判斷未經標準化甄選研究驗證，不代表勞動市場預測。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語不要求學生記住所有框架。AI可以幫助他們擴大可嘗試的工作，專業訓練與實際協作則讓他們逐步學會判斷。表達的責任包括理解對象、交代依據和在情況改變時修訂。保留十五分鐘討論，重點可放在專業學習與AI協作的關係、如何選擇第一個小項目，以及何時需要尋求教師或同事的協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來源：講者分析與建議，承接 AI Native Field Notes 1–4：https://tonyxinvip.github.io/slides/ 。人才判斷未經標準化甄選研究驗證，不代表勞動市場預測。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540101dd244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dcb1083d384a62" /><Relationship Type="http://schemas.openxmlformats.org/officeDocument/2006/relationships/slideLayout" Target="/ppt/slideLayouts/slideLayout1.xml" Id="Rc0b6797d0bd049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b6797d0bd049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67f776e584e19" /><Relationship Type="http://schemas.openxmlformats.org/officeDocument/2006/relationships/notesSlide" Target="/ppt/notesSlides/notesSlide1.xml" Id="Ra4ca4a4fb65b4a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ac69a49d74539" /><Relationship Type="http://schemas.openxmlformats.org/officeDocument/2006/relationships/notesSlide" Target="/ppt/notesSlides/notesSlide2.xml" Id="R70cda46830d846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9a4f1a0fb44cb" /><Relationship Type="http://schemas.openxmlformats.org/officeDocument/2006/relationships/notesSlide" Target="/ppt/notesSlides/notesSlide3.xml" Id="R038ba4405ee746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b40c3594e4ab5" /><Relationship Type="http://schemas.openxmlformats.org/officeDocument/2006/relationships/notesSlide" Target="/ppt/notesSlides/notesSlide4.xml" Id="R76c57b0ce7a740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d243f0b064fe4" /><Relationship Type="http://schemas.openxmlformats.org/officeDocument/2006/relationships/notesSlide" Target="/ppt/notesSlides/notesSlide5.xml" Id="R10ca95f6777b40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318e2d5d744fa" /><Relationship Type="http://schemas.openxmlformats.org/officeDocument/2006/relationships/notesSlide" Target="/ppt/notesSlides/notesSlide6.xml" Id="R39b063f1730a4a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6167f13af4044" /><Relationship Type="http://schemas.openxmlformats.org/officeDocument/2006/relationships/notesSlide" Target="/ppt/notesSlides/notesSlide7.xml" Id="R2fc5204d7f034d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335dc18c544fe" /><Relationship Type="http://schemas.openxmlformats.org/officeDocument/2006/relationships/notesSlide" Target="/ppt/notesSlides/notesSlide8.xml" Id="Rd2beddf4dd4447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2c14f227342bf" /><Relationship Type="http://schemas.openxmlformats.org/officeDocument/2006/relationships/notesSlide" Target="/ppt/notesSlides/notesSlide9.xml" Id="R14e09480d5ee4f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335c241214bbb" /><Relationship Type="http://schemas.openxmlformats.org/officeDocument/2006/relationships/notesSlide" Target="/ppt/notesSlides/notesSlide10.xml" Id="Rd26f6d32edb84b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4252b6b154bd5" /><Relationship Type="http://schemas.openxmlformats.org/officeDocument/2006/relationships/notesSlide" Target="/ppt/notesSlides/notesSlide11.xml" Id="R19d3c76b15094b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d08d4ea0c4b2d" /><Relationship Type="http://schemas.openxmlformats.org/officeDocument/2006/relationships/notesSlide" Target="/ppt/notesSlides/notesSlide12.xml" Id="Re0a774db267440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41b2474ae4c13" /><Relationship Type="http://schemas.openxmlformats.org/officeDocument/2006/relationships/notesSlide" Target="/ppt/notesSlides/notesSlide13.xml" Id="Rc9e5b17963d94b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e551648c742c4" /><Relationship Type="http://schemas.openxmlformats.org/officeDocument/2006/relationships/notesSlide" Target="/ppt/notesSlides/notesSlide14.xml" Id="Rfd93a51bbb8e46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9f48058f944ac" /><Relationship Type="http://schemas.openxmlformats.org/officeDocument/2006/relationships/notesSlide" Target="/ppt/notesSlides/notesSlide15.xml" Id="R616e478432564b0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4aadeef284352" /><Relationship Type="http://schemas.openxmlformats.org/officeDocument/2006/relationships/notesSlide" Target="/ppt/notesSlides/notesSlide16.xml" Id="Rd9b3da79f2104a4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0c67fed4943da" /><Relationship Type="http://schemas.openxmlformats.org/officeDocument/2006/relationships/notesSlide" Target="/ppt/notesSlides/notesSlide17.xml" Id="Rc488de9b74f34b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3ce3a35754331" /><Relationship Type="http://schemas.openxmlformats.org/officeDocument/2006/relationships/notesSlide" Target="/ppt/notesSlides/notesSlide18.xml" Id="R5ee3be1376314ac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62892c2ff4f77" /><Relationship Type="http://schemas.openxmlformats.org/officeDocument/2006/relationships/notesSlide" Target="/ppt/notesSlides/notesSlide19.xml" Id="R2ae16ef1c15742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b7af7e01b409d" /><Relationship Type="http://schemas.openxmlformats.org/officeDocument/2006/relationships/notesSlide" Target="/ppt/notesSlides/notesSlide20.xml" Id="R1c2c2a860a3f47f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f7141566441e6" /><Relationship Type="http://schemas.openxmlformats.org/officeDocument/2006/relationships/notesSlide" Target="/ppt/notesSlides/notesSlide21.xml" Id="R6b3599d5fba84a3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136aaed294767" /><Relationship Type="http://schemas.openxmlformats.org/officeDocument/2006/relationships/notesSlide" Target="/ppt/notesSlides/notesSlide22.xml" Id="R90a6d146215042b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7d3986e364686" /><Relationship Type="http://schemas.openxmlformats.org/officeDocument/2006/relationships/notesSlide" Target="/ppt/notesSlides/notesSlide23.xml" Id="R9486d61c62174da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e5b857f834139" /><Relationship Type="http://schemas.openxmlformats.org/officeDocument/2006/relationships/notesSlide" Target="/ppt/notesSlides/notesSlide24.xml" Id="Rec64a55e7930436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63ad3bbad45d8" /><Relationship Type="http://schemas.openxmlformats.org/officeDocument/2006/relationships/notesSlide" Target="/ppt/notesSlides/notesSlide25.xml" Id="R96ca00c72cdd423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cd203e84648c7" /><Relationship Type="http://schemas.openxmlformats.org/officeDocument/2006/relationships/notesSlide" Target="/ppt/notesSlides/notesSlide26.xml" Id="R70b4be632eaf477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8664cd1b34f6d" /><Relationship Type="http://schemas.openxmlformats.org/officeDocument/2006/relationships/notesSlide" Target="/ppt/notesSlides/notesSlide27.xml" Id="R8c9421d7e83f448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952f3b33245cc" /><Relationship Type="http://schemas.openxmlformats.org/officeDocument/2006/relationships/notesSlide" Target="/ppt/notesSlides/notesSlide28.xml" Id="Rdcb73e1710af4fb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cfb5573da4e9b" /><Relationship Type="http://schemas.openxmlformats.org/officeDocument/2006/relationships/notesSlide" Target="/ppt/notesSlides/notesSlide29.xml" Id="Raec59a735ef84a0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4ee333a4e4b32" /><Relationship Type="http://schemas.openxmlformats.org/officeDocument/2006/relationships/notesSlide" Target="/ppt/notesSlides/notesSlide30.xml" Id="R6e2fa70c813c46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1-text-1">
            <a:extLst xmlns:a="http://schemas.openxmlformats.org/drawingml/2006/main">
              <a:ext uri="{FF2B5EF4-FFF2-40B4-BE49-F238E27FC236}">
                <a16:creationId xmlns:a16="http://schemas.microsoft.com/office/drawing/2014/main" id="{AA7C9D27-EC7D-4117-A2CF-7601FED6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香港中文大學</a:t>
            </a:r>
          </a:p>
        </p:txBody>
      </p:sp>
      <p:sp>
        <p:nvSpPr>
          <p:cNvPr id="2" name="slide-1-line-2">
            <a:extLst xmlns:a="http://schemas.openxmlformats.org/drawingml/2006/main">
              <a:ext uri="{FF2B5EF4-FFF2-40B4-BE49-F238E27FC236}">
                <a16:creationId xmlns:a16="http://schemas.microsoft.com/office/drawing/2014/main" id="{F346C840-BC15-4699-8A14-E3833E48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1-text-3">
            <a:extLst xmlns:a="http://schemas.openxmlformats.org/drawingml/2006/main">
              <a:ext uri="{FF2B5EF4-FFF2-40B4-BE49-F238E27FC236}">
                <a16:creationId xmlns:a16="http://schemas.microsoft.com/office/drawing/2014/main" id="{E0F542D2-E9B6-4EEB-BCB0-CC8529D1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4" name="slide-1-text-4">
            <a:extLst xmlns:a="http://schemas.openxmlformats.org/drawingml/2006/main">
              <a:ext uri="{FF2B5EF4-FFF2-40B4-BE49-F238E27FC236}">
                <a16:creationId xmlns:a16="http://schemas.microsoft.com/office/drawing/2014/main" id="{2B81EB9E-596C-41D5-AE70-E1010A0D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01 / 30</a:t>
            </a:r>
          </a:p>
        </p:txBody>
      </p:sp>
      <p:sp>
        <p:nvSpPr>
          <p:cNvPr id="5" name="slide-1-text-5">
            <a:extLst xmlns:a="http://schemas.openxmlformats.org/drawingml/2006/main">
              <a:ext uri="{FF2B5EF4-FFF2-40B4-BE49-F238E27FC236}">
                <a16:creationId xmlns:a16="http://schemas.microsoft.com/office/drawing/2014/main" id="{4E0D93CD-DB91-4D4F-A386-851991AB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11430000" cy="1347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7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當表達成本</a:t>
            </a:r>
          </a:p>
        </p:txBody>
      </p:sp>
      <p:sp>
        <p:nvSpPr>
          <p:cNvPr id="6" name="slide-1-text-6">
            <a:extLst xmlns:a="http://schemas.openxmlformats.org/drawingml/2006/main">
              <a:ext uri="{FF2B5EF4-FFF2-40B4-BE49-F238E27FC236}">
                <a16:creationId xmlns:a16="http://schemas.microsoft.com/office/drawing/2014/main" id="{A1D89EF1-8110-448D-85F2-4360EDFE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9420"/>
            <a:ext cx="11430000" cy="1347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7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降低後</a:t>
            </a:r>
          </a:p>
        </p:txBody>
      </p:sp>
      <p:sp>
        <p:nvSpPr>
          <p:cNvPr id="7" name="slide-1-text-7">
            <a:extLst xmlns:a="http://schemas.openxmlformats.org/drawingml/2006/main">
              <a:ext uri="{FF2B5EF4-FFF2-40B4-BE49-F238E27FC236}">
                <a16:creationId xmlns:a16="http://schemas.microsoft.com/office/drawing/2014/main" id="{EB19D525-CC1D-4699-83B3-213EDB80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33925"/>
            <a:ext cx="114300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0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AI 時代的中文傳意與未來人才</a:t>
            </a:r>
          </a:p>
        </p:txBody>
      </p:sp>
      <p:sp>
        <p:nvSpPr>
          <p:cNvPr id="8" name="slide-1-text-8">
            <a:extLst xmlns:a="http://schemas.openxmlformats.org/drawingml/2006/main">
              <a:ext uri="{FF2B5EF4-FFF2-40B4-BE49-F238E27FC236}">
                <a16:creationId xmlns:a16="http://schemas.microsoft.com/office/drawing/2014/main" id="{041A88FA-B957-4D0E-BE33-B29138B4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95975"/>
            <a:ext cx="106680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</p:spTree>
    <p:extLst>
      <p:ext uri="{BB962C8B-B14F-4D97-AF65-F5344CB8AC3E}">
        <p14:creationId xmlns:p14="http://schemas.microsoft.com/office/powerpoint/2010/main" val="1128611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ext-1">
            <a:extLst xmlns:a="http://schemas.openxmlformats.org/drawingml/2006/main">
              <a:ext uri="{FF2B5EF4-FFF2-40B4-BE49-F238E27FC236}">
                <a16:creationId xmlns:a16="http://schemas.microsoft.com/office/drawing/2014/main" id="{4A4D96D2-4238-4899-9614-4BE13D02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開場   真實工作片段</a:t>
            </a:r>
          </a:p>
        </p:txBody>
      </p:sp>
      <p:sp>
        <p:nvSpPr>
          <p:cNvPr id="2" name="slide-2-text-2">
            <a:extLst xmlns:a="http://schemas.openxmlformats.org/drawingml/2006/main">
              <a:ext uri="{FF2B5EF4-FFF2-40B4-BE49-F238E27FC236}">
                <a16:creationId xmlns:a16="http://schemas.microsoft.com/office/drawing/2014/main" id="{D15581F2-0BFD-46AB-87AD-633D971B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一次產品評審，從教師的入口談起</a:t>
            </a:r>
          </a:p>
        </p:txBody>
      </p:sp>
      <p:sp>
        <p:nvSpPr>
          <p:cNvPr id="3" name="slide-2-line-3">
            <a:extLst xmlns:a="http://schemas.openxmlformats.org/drawingml/2006/main">
              <a:ext uri="{FF2B5EF4-FFF2-40B4-BE49-F238E27FC236}">
                <a16:creationId xmlns:a16="http://schemas.microsoft.com/office/drawing/2014/main" id="{4297978D-E3B3-422F-B99B-5BF04C80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2-text-4">
            <a:extLst xmlns:a="http://schemas.openxmlformats.org/drawingml/2006/main">
              <a:ext uri="{FF2B5EF4-FFF2-40B4-BE49-F238E27FC236}">
                <a16:creationId xmlns:a16="http://schemas.microsoft.com/office/drawing/2014/main" id="{042441F5-DB1A-4CC5-8FEF-E4C10117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-text-5">
            <a:extLst xmlns:a="http://schemas.openxmlformats.org/drawingml/2006/main">
              <a:ext uri="{FF2B5EF4-FFF2-40B4-BE49-F238E27FC236}">
                <a16:creationId xmlns:a16="http://schemas.microsoft.com/office/drawing/2014/main" id="{A5A42145-E735-42CB-99B5-0DD2AE30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02 / 30</a:t>
            </a:r>
          </a:p>
        </p:txBody>
      </p:sp>
      <p:sp>
        <p:nvSpPr>
          <p:cNvPr id="6" name="slide-2-text-6">
            <a:extLst xmlns:a="http://schemas.openxmlformats.org/drawingml/2006/main">
              <a:ext uri="{FF2B5EF4-FFF2-40B4-BE49-F238E27FC236}">
                <a16:creationId xmlns:a16="http://schemas.microsoft.com/office/drawing/2014/main" id="{30D74A77-1421-4FBE-8AB8-6E23AB58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5238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2026 年 9 月 20 日</a:t>
            </a:r>
          </a:p>
        </p:txBody>
      </p:sp>
      <p:sp>
        <p:nvSpPr>
          <p:cNvPr id="7" name="slide-2-text-7">
            <a:extLst xmlns:a="http://schemas.openxmlformats.org/drawingml/2006/main">
              <a:ext uri="{FF2B5EF4-FFF2-40B4-BE49-F238E27FC236}">
                <a16:creationId xmlns:a16="http://schemas.microsoft.com/office/drawing/2014/main" id="{D42F6D54-4C7C-4EA1-91BF-DFC68CBD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8477250" cy="557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教師從哪裏進入？</a:t>
            </a:r>
          </a:p>
        </p:txBody>
      </p:sp>
      <p:sp>
        <p:nvSpPr>
          <p:cNvPr id="8" name="slide-2-text-8">
            <a:extLst xmlns:a="http://schemas.openxmlformats.org/drawingml/2006/main">
              <a:ext uri="{FF2B5EF4-FFF2-40B4-BE49-F238E27FC236}">
                <a16:creationId xmlns:a16="http://schemas.microsoft.com/office/drawing/2014/main" id="{D96118F5-23EE-47FE-B578-C03150C0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49516"/>
            <a:ext cx="8477250" cy="557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如何選學科與教材？</a:t>
            </a:r>
          </a:p>
        </p:txBody>
      </p:sp>
      <p:sp>
        <p:nvSpPr>
          <p:cNvPr id="9" name="slide-2-text-9">
            <a:extLst xmlns:a="http://schemas.openxmlformats.org/drawingml/2006/main">
              <a:ext uri="{FF2B5EF4-FFF2-40B4-BE49-F238E27FC236}">
                <a16:creationId xmlns:a16="http://schemas.microsoft.com/office/drawing/2014/main" id="{7E983D67-DD96-492D-8C1F-B5C09D7C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4358"/>
            <a:ext cx="8477250" cy="557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自己的資料放在哪裏？</a:t>
            </a:r>
          </a:p>
        </p:txBody>
      </p:sp>
      <p:sp>
        <p:nvSpPr>
          <p:cNvPr id="10" name="slide-2-line-10">
            <a:extLst xmlns:a="http://schemas.openxmlformats.org/drawingml/2006/main">
              <a:ext uri="{FF2B5EF4-FFF2-40B4-BE49-F238E27FC236}">
                <a16:creationId xmlns:a16="http://schemas.microsoft.com/office/drawing/2014/main" id="{F83081AA-7BE5-4230-AE0D-C39A8690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28925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15CF5"/>
            </a:solidFill>
            <a:prstDash val="solid"/>
          </a:ln>
        </p:spPr>
      </p:sp>
      <p:sp>
        <p:nvSpPr>
          <p:cNvPr id="11" name="slide-2-text-11">
            <a:extLst xmlns:a="http://schemas.openxmlformats.org/drawingml/2006/main">
              <a:ext uri="{FF2B5EF4-FFF2-40B4-BE49-F238E27FC236}">
                <a16:creationId xmlns:a16="http://schemas.microsoft.com/office/drawing/2014/main" id="{F672729C-F348-421A-A189-377CE964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95625"/>
            <a:ext cx="23812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討論焦點</a:t>
            </a:r>
          </a:p>
        </p:txBody>
      </p:sp>
      <p:sp>
        <p:nvSpPr>
          <p:cNvPr id="12" name="slide-2-text-12">
            <a:extLst xmlns:a="http://schemas.openxmlformats.org/drawingml/2006/main">
              <a:ext uri="{FF2B5EF4-FFF2-40B4-BE49-F238E27FC236}">
                <a16:creationId xmlns:a16="http://schemas.microsoft.com/office/drawing/2014/main" id="{C788F6AD-67E0-458F-B1F9-A8366814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87865"/>
            <a:ext cx="23812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由界面的樣子</a:t>
            </a:r>
          </a:p>
        </p:txBody>
      </p:sp>
      <p:sp>
        <p:nvSpPr>
          <p:cNvPr id="13" name="slide-2-text-13">
            <a:extLst xmlns:a="http://schemas.openxmlformats.org/drawingml/2006/main">
              <a:ext uri="{FF2B5EF4-FFF2-40B4-BE49-F238E27FC236}">
                <a16:creationId xmlns:a16="http://schemas.microsoft.com/office/drawing/2014/main" id="{CE545196-0C2A-496A-AB04-8A370679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80104"/>
            <a:ext cx="23812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轉到教師怎樣</a:t>
            </a:r>
          </a:p>
        </p:txBody>
      </p:sp>
      <p:sp>
        <p:nvSpPr>
          <p:cNvPr id="14" name="slide-2-text-14">
            <a:extLst xmlns:a="http://schemas.openxmlformats.org/drawingml/2006/main">
              <a:ext uri="{FF2B5EF4-FFF2-40B4-BE49-F238E27FC236}">
                <a16:creationId xmlns:a16="http://schemas.microsoft.com/office/drawing/2014/main" id="{C46775C3-7922-4EA9-AE21-56A37CBE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72344"/>
            <a:ext cx="23812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完成一次備課</a:t>
            </a:r>
          </a:p>
        </p:txBody>
      </p:sp>
      <p:sp>
        <p:nvSpPr>
          <p:cNvPr id="15" name="slide-2-text-15">
            <a:extLst xmlns:a="http://schemas.openxmlformats.org/drawingml/2006/main">
              <a:ext uri="{FF2B5EF4-FFF2-40B4-BE49-F238E27FC236}">
                <a16:creationId xmlns:a16="http://schemas.microsoft.com/office/drawing/2014/main" id="{5724EDC6-543F-467D-8910-FDAD5E8F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根據講者產品評審紀錄匿名轉述，非逐字引述。</a:t>
            </a:r>
          </a:p>
        </p:txBody>
      </p:sp>
    </p:spTree>
    <p:extLst>
      <p:ext uri="{BB962C8B-B14F-4D97-AF65-F5344CB8AC3E}">
        <p14:creationId xmlns:p14="http://schemas.microsoft.com/office/powerpoint/2010/main" val="6052840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3-text-1">
            <a:extLst xmlns:a="http://schemas.openxmlformats.org/drawingml/2006/main">
              <a:ext uri="{FF2B5EF4-FFF2-40B4-BE49-F238E27FC236}">
                <a16:creationId xmlns:a16="http://schemas.microsoft.com/office/drawing/2014/main" id="{649E16C8-9CD3-440E-A172-BED947C9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開場   需求中的省略</a:t>
            </a:r>
          </a:p>
        </p:txBody>
      </p:sp>
      <p:sp>
        <p:nvSpPr>
          <p:cNvPr id="2" name="slide-3-text-2">
            <a:extLst xmlns:a="http://schemas.openxmlformats.org/drawingml/2006/main">
              <a:ext uri="{FF2B5EF4-FFF2-40B4-BE49-F238E27FC236}">
                <a16:creationId xmlns:a16="http://schemas.microsoft.com/office/drawing/2014/main" id="{83ADEA96-9724-41D9-A9BB-35D83484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「生成資源」省略了一段工作</a:t>
            </a:r>
          </a:p>
        </p:txBody>
      </p:sp>
      <p:sp>
        <p:nvSpPr>
          <p:cNvPr id="3" name="slide-3-line-3">
            <a:extLst xmlns:a="http://schemas.openxmlformats.org/drawingml/2006/main">
              <a:ext uri="{FF2B5EF4-FFF2-40B4-BE49-F238E27FC236}">
                <a16:creationId xmlns:a16="http://schemas.microsoft.com/office/drawing/2014/main" id="{49E23D48-B574-42C8-AD18-7BFD9611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3-text-4">
            <a:extLst xmlns:a="http://schemas.openxmlformats.org/drawingml/2006/main">
              <a:ext uri="{FF2B5EF4-FFF2-40B4-BE49-F238E27FC236}">
                <a16:creationId xmlns:a16="http://schemas.microsoft.com/office/drawing/2014/main" id="{47F1A933-136D-4BEA-B552-B09159F7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3-text-5">
            <a:extLst xmlns:a="http://schemas.openxmlformats.org/drawingml/2006/main">
              <a:ext uri="{FF2B5EF4-FFF2-40B4-BE49-F238E27FC236}">
                <a16:creationId xmlns:a16="http://schemas.microsoft.com/office/drawing/2014/main" id="{00F28F8B-A963-4A69-8123-597157E0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03 / 30</a:t>
            </a:r>
          </a:p>
        </p:txBody>
      </p:sp>
      <p:sp>
        <p:nvSpPr>
          <p:cNvPr id="6" name="slide-3-line-6">
            <a:extLst xmlns:a="http://schemas.openxmlformats.org/drawingml/2006/main">
              <a:ext uri="{FF2B5EF4-FFF2-40B4-BE49-F238E27FC236}">
                <a16:creationId xmlns:a16="http://schemas.microsoft.com/office/drawing/2014/main" id="{E1ECC5B1-B03E-4519-B6F1-10060213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909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3-ellipse-7">
            <a:extLst xmlns:a="http://schemas.openxmlformats.org/drawingml/2006/main">
              <a:ext uri="{FF2B5EF4-FFF2-40B4-BE49-F238E27FC236}">
                <a16:creationId xmlns:a16="http://schemas.microsoft.com/office/drawing/2014/main" id="{A2025126-7A5C-4F5D-9469-4256A0F0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861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lide-3-text-8">
            <a:extLst xmlns:a="http://schemas.openxmlformats.org/drawingml/2006/main">
              <a:ext uri="{FF2B5EF4-FFF2-40B4-BE49-F238E27FC236}">
                <a16:creationId xmlns:a16="http://schemas.microsoft.com/office/drawing/2014/main" id="{A3D65846-C507-4143-B1D2-839ABC99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81400"/>
            <a:ext cx="6096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slide-3-text-9">
            <a:extLst xmlns:a="http://schemas.openxmlformats.org/drawingml/2006/main">
              <a:ext uri="{FF2B5EF4-FFF2-40B4-BE49-F238E27FC236}">
                <a16:creationId xmlns:a16="http://schemas.microsoft.com/office/drawing/2014/main" id="{7664963D-BC05-4123-BE49-9BDBC691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2857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選擇教材</a:t>
            </a:r>
          </a:p>
        </p:txBody>
      </p:sp>
      <p:sp>
        <p:nvSpPr>
          <p:cNvPr id="10" name="slide-3-ellipse-10">
            <a:extLst xmlns:a="http://schemas.openxmlformats.org/drawingml/2006/main">
              <a:ext uri="{FF2B5EF4-FFF2-40B4-BE49-F238E27FC236}">
                <a16:creationId xmlns:a16="http://schemas.microsoft.com/office/drawing/2014/main" id="{721E1708-4066-4A3E-955B-C2D2CA6E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861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lide-3-text-11">
            <a:extLst xmlns:a="http://schemas.openxmlformats.org/drawingml/2006/main">
              <a:ext uri="{FF2B5EF4-FFF2-40B4-BE49-F238E27FC236}">
                <a16:creationId xmlns:a16="http://schemas.microsoft.com/office/drawing/2014/main" id="{272103BA-14F8-4CB7-88AF-D0CD2931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81400"/>
            <a:ext cx="6096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2" name="slide-3-text-12">
            <a:extLst xmlns:a="http://schemas.openxmlformats.org/drawingml/2006/main">
              <a:ext uri="{FF2B5EF4-FFF2-40B4-BE49-F238E27FC236}">
                <a16:creationId xmlns:a16="http://schemas.microsoft.com/office/drawing/2014/main" id="{24A48F7E-7364-4CBC-8E72-589CA2E0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43400"/>
            <a:ext cx="2857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補充情境</a:t>
            </a:r>
          </a:p>
        </p:txBody>
      </p:sp>
      <p:sp>
        <p:nvSpPr>
          <p:cNvPr id="13" name="slide-3-ellipse-13">
            <a:extLst xmlns:a="http://schemas.openxmlformats.org/drawingml/2006/main">
              <a:ext uri="{FF2B5EF4-FFF2-40B4-BE49-F238E27FC236}">
                <a16:creationId xmlns:a16="http://schemas.microsoft.com/office/drawing/2014/main" id="{B42D5160-846F-44A5-B654-B2FD66EC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861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lide-3-text-14">
            <a:extLst xmlns:a="http://schemas.openxmlformats.org/drawingml/2006/main">
              <a:ext uri="{FF2B5EF4-FFF2-40B4-BE49-F238E27FC236}">
                <a16:creationId xmlns:a16="http://schemas.microsoft.com/office/drawing/2014/main" id="{B68FB848-712E-4E99-944A-FED89D29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6096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5" name="slide-3-text-15">
            <a:extLst xmlns:a="http://schemas.openxmlformats.org/drawingml/2006/main">
              <a:ext uri="{FF2B5EF4-FFF2-40B4-BE49-F238E27FC236}">
                <a16:creationId xmlns:a16="http://schemas.microsoft.com/office/drawing/2014/main" id="{295DBD5E-6246-49CD-A826-10823DBB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43400"/>
            <a:ext cx="2857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生成初稿</a:t>
            </a:r>
          </a:p>
        </p:txBody>
      </p:sp>
      <p:sp>
        <p:nvSpPr>
          <p:cNvPr id="16" name="slide-3-ellipse-16">
            <a:extLst xmlns:a="http://schemas.openxmlformats.org/drawingml/2006/main">
              <a:ext uri="{FF2B5EF4-FFF2-40B4-BE49-F238E27FC236}">
                <a16:creationId xmlns:a16="http://schemas.microsoft.com/office/drawing/2014/main" id="{46E841D5-09C1-4302-940B-335F8D2B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861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lide-3-text-17">
            <a:extLst xmlns:a="http://schemas.openxmlformats.org/drawingml/2006/main">
              <a:ext uri="{FF2B5EF4-FFF2-40B4-BE49-F238E27FC236}">
                <a16:creationId xmlns:a16="http://schemas.microsoft.com/office/drawing/2014/main" id="{0CAAFE3A-004D-4D39-BD36-31A0E275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581400"/>
            <a:ext cx="6096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18" name="slide-3-text-18">
            <a:extLst xmlns:a="http://schemas.openxmlformats.org/drawingml/2006/main">
              <a:ext uri="{FF2B5EF4-FFF2-40B4-BE49-F238E27FC236}">
                <a16:creationId xmlns:a16="http://schemas.microsoft.com/office/drawing/2014/main" id="{6A3D12DF-A825-4812-B144-FEDE4284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343400"/>
            <a:ext cx="2857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教師修訂</a:t>
            </a:r>
          </a:p>
        </p:txBody>
      </p:sp>
      <p:sp>
        <p:nvSpPr>
          <p:cNvPr id="19" name="slide-3-text-19">
            <a:extLst xmlns:a="http://schemas.openxmlformats.org/drawingml/2006/main">
              <a:ext uri="{FF2B5EF4-FFF2-40B4-BE49-F238E27FC236}">
                <a16:creationId xmlns:a16="http://schemas.microsoft.com/office/drawing/2014/main" id="{E6BCA546-82EC-4A1E-9C4B-A6E95FA2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118110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每個步驟都可能改變下一步需要的資訊。</a:t>
            </a:r>
          </a:p>
        </p:txBody>
      </p:sp>
      <p:sp>
        <p:nvSpPr>
          <p:cNvPr id="20" name="slide-3-text-20">
            <a:extLst xmlns:a="http://schemas.openxmlformats.org/drawingml/2006/main">
              <a:ext uri="{FF2B5EF4-FFF2-40B4-BE49-F238E27FC236}">
                <a16:creationId xmlns:a16="http://schemas.microsoft.com/office/drawing/2014/main" id="{A86E27DF-AED6-4B41-B997-EB8C2902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91416"/>
            <a:ext cx="118110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需求寫得完整，團隊才有機會理解同一件工作。</a:t>
            </a:r>
          </a:p>
        </p:txBody>
      </p:sp>
    </p:spTree>
    <p:extLst>
      <p:ext uri="{BB962C8B-B14F-4D97-AF65-F5344CB8AC3E}">
        <p14:creationId xmlns:p14="http://schemas.microsoft.com/office/powerpoint/2010/main" val="1277801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4-text-1">
            <a:extLst xmlns:a="http://schemas.openxmlformats.org/drawingml/2006/main">
              <a:ext uri="{FF2B5EF4-FFF2-40B4-BE49-F238E27FC236}">
                <a16:creationId xmlns:a16="http://schemas.microsoft.com/office/drawing/2014/main" id="{F0B1E447-4AD8-456F-A32F-E4B2C1A9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01   問題與情境</a:t>
            </a:r>
          </a:p>
        </p:txBody>
      </p:sp>
      <p:sp>
        <p:nvSpPr>
          <p:cNvPr id="2" name="slide-4-line-2">
            <a:extLst xmlns:a="http://schemas.openxmlformats.org/drawingml/2006/main">
              <a:ext uri="{FF2B5EF4-FFF2-40B4-BE49-F238E27FC236}">
                <a16:creationId xmlns:a16="http://schemas.microsoft.com/office/drawing/2014/main" id="{C0BB103F-6ED4-4F5A-B139-6145659E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4-text-3">
            <a:extLst xmlns:a="http://schemas.openxmlformats.org/drawingml/2006/main">
              <a:ext uri="{FF2B5EF4-FFF2-40B4-BE49-F238E27FC236}">
                <a16:creationId xmlns:a16="http://schemas.microsoft.com/office/drawing/2014/main" id="{C3AD8367-3B48-4BF7-8638-D3890A82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4" name="slide-4-text-4">
            <a:extLst xmlns:a="http://schemas.openxmlformats.org/drawingml/2006/main">
              <a:ext uri="{FF2B5EF4-FFF2-40B4-BE49-F238E27FC236}">
                <a16:creationId xmlns:a16="http://schemas.microsoft.com/office/drawing/2014/main" id="{F9A94410-914A-434A-97B7-F13387A7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04 / 30</a:t>
            </a:r>
          </a:p>
        </p:txBody>
      </p:sp>
      <p:sp>
        <p:nvSpPr>
          <p:cNvPr id="5" name="slide-4-text-5">
            <a:extLst xmlns:a="http://schemas.openxmlformats.org/drawingml/2006/main">
              <a:ext uri="{FF2B5EF4-FFF2-40B4-BE49-F238E27FC236}">
                <a16:creationId xmlns:a16="http://schemas.microsoft.com/office/drawing/2014/main" id="{75E807CE-27B2-4B2E-A5DE-675904FF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3143250" cy="1813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0" b="1">
                <a:solidFill>
                  <a:srgbClr val="B8C8FF"/>
                </a:solidFill>
                <a:latin typeface="PingFang TC"/>
                <a:ea typeface="PingFang TC"/>
                <a:cs typeface="PingFang TC"/>
              </a:defRPr>
            </a:pPr>
            <a:r>
              <a:rPr sz="10500" b="1">
                <a:solidFill>
                  <a:srgbClr val="B8C8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4-text-6">
            <a:extLst xmlns:a="http://schemas.openxmlformats.org/drawingml/2006/main">
              <a:ext uri="{FF2B5EF4-FFF2-40B4-BE49-F238E27FC236}">
                <a16:creationId xmlns:a16="http://schemas.microsoft.com/office/drawing/2014/main" id="{A569AC50-516B-4F2F-8DE9-A943FA7F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809625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一份課前導讀的委託</a:t>
            </a:r>
          </a:p>
        </p:txBody>
      </p:sp>
      <p:sp>
        <p:nvSpPr>
          <p:cNvPr id="7" name="slide-4-text-7">
            <a:extLst xmlns:a="http://schemas.openxmlformats.org/drawingml/2006/main">
              <a:ext uri="{FF2B5EF4-FFF2-40B4-BE49-F238E27FC236}">
                <a16:creationId xmlns:a16="http://schemas.microsoft.com/office/drawing/2014/main" id="{B77366A8-3E1F-4C72-88A6-40299B15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14850"/>
            <a:ext cx="742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E1E8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E1E8FF"/>
                </a:solidFill>
                <a:latin typeface="PingFang TC"/>
                <a:ea typeface="PingFang TC"/>
                <a:cs typeface="PingFang TC"/>
              </a:rPr>
              <a:t>以一位語文教師的備課任務，檢查 AI 能接到怎樣的委託。</a:t>
            </a:r>
          </a:p>
        </p:txBody>
      </p:sp>
    </p:spTree>
    <p:extLst>
      <p:ext uri="{BB962C8B-B14F-4D97-AF65-F5344CB8AC3E}">
        <p14:creationId xmlns:p14="http://schemas.microsoft.com/office/powerpoint/2010/main" val="10374593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5-text-1">
            <a:extLst xmlns:a="http://schemas.openxmlformats.org/drawingml/2006/main">
              <a:ext uri="{FF2B5EF4-FFF2-40B4-BE49-F238E27FC236}">
                <a16:creationId xmlns:a16="http://schemas.microsoft.com/office/drawing/2014/main" id="{40DD7601-AFB4-48AC-A542-005638DC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同一案例   委託開始</a:t>
            </a:r>
          </a:p>
        </p:txBody>
      </p:sp>
      <p:sp>
        <p:nvSpPr>
          <p:cNvPr id="2" name="slide-5-text-2">
            <a:extLst xmlns:a="http://schemas.openxmlformats.org/drawingml/2006/main">
              <a:ext uri="{FF2B5EF4-FFF2-40B4-BE49-F238E27FC236}">
                <a16:creationId xmlns:a16="http://schemas.microsoft.com/office/drawing/2014/main" id="{2888D8A5-D951-4BDA-B2A0-2CC4A7C4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任務條件，決定初稿是否適用</a:t>
            </a:r>
          </a:p>
        </p:txBody>
      </p:sp>
      <p:sp>
        <p:nvSpPr>
          <p:cNvPr id="3" name="slide-5-line-3">
            <a:extLst xmlns:a="http://schemas.openxmlformats.org/drawingml/2006/main">
              <a:ext uri="{FF2B5EF4-FFF2-40B4-BE49-F238E27FC236}">
                <a16:creationId xmlns:a16="http://schemas.microsoft.com/office/drawing/2014/main" id="{71ABF274-5110-4B44-8CE6-BE95994D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5-text-4">
            <a:extLst xmlns:a="http://schemas.openxmlformats.org/drawingml/2006/main">
              <a:ext uri="{FF2B5EF4-FFF2-40B4-BE49-F238E27FC236}">
                <a16:creationId xmlns:a16="http://schemas.microsoft.com/office/drawing/2014/main" id="{A7C462D9-8588-40E1-A39D-3E6DD8CA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5-text-5">
            <a:extLst xmlns:a="http://schemas.openxmlformats.org/drawingml/2006/main">
              <a:ext uri="{FF2B5EF4-FFF2-40B4-BE49-F238E27FC236}">
                <a16:creationId xmlns:a16="http://schemas.microsoft.com/office/drawing/2014/main" id="{A02DE6FB-156E-421B-87F1-BBEABE10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05 / 30</a:t>
            </a:r>
          </a:p>
        </p:txBody>
      </p:sp>
      <p:sp>
        <p:nvSpPr>
          <p:cNvPr id="6" name="slide-5-line-6">
            <a:extLst xmlns:a="http://schemas.openxmlformats.org/drawingml/2006/main">
              <a:ext uri="{FF2B5EF4-FFF2-40B4-BE49-F238E27FC236}">
                <a16:creationId xmlns:a16="http://schemas.microsoft.com/office/drawing/2014/main" id="{44145B15-D743-4FDF-961D-7B53CEC0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7" name="slide-5-text-7">
            <a:extLst xmlns:a="http://schemas.openxmlformats.org/drawingml/2006/main">
              <a:ext uri="{FF2B5EF4-FFF2-40B4-BE49-F238E27FC236}">
                <a16:creationId xmlns:a16="http://schemas.microsoft.com/office/drawing/2014/main" id="{496D3B1D-6D38-4287-9515-CF4854D9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5334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原始委託</a:t>
            </a:r>
          </a:p>
        </p:txBody>
      </p:sp>
      <p:sp>
        <p:nvSpPr>
          <p:cNvPr id="8" name="slide-5-text-8">
            <a:extLst xmlns:a="http://schemas.openxmlformats.org/drawingml/2006/main">
              <a:ext uri="{FF2B5EF4-FFF2-40B4-BE49-F238E27FC236}">
                <a16:creationId xmlns:a16="http://schemas.microsoft.com/office/drawing/2014/main" id="{37432569-A29A-4E00-B893-6B6F278B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51435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做一份語文</a:t>
            </a:r>
          </a:p>
        </p:txBody>
      </p:sp>
      <p:sp>
        <p:nvSpPr>
          <p:cNvPr id="9" name="slide-5-text-9">
            <a:extLst xmlns:a="http://schemas.openxmlformats.org/drawingml/2006/main">
              <a:ext uri="{FF2B5EF4-FFF2-40B4-BE49-F238E27FC236}">
                <a16:creationId xmlns:a16="http://schemas.microsoft.com/office/drawing/2014/main" id="{AD8F7E8C-5122-411C-B025-235CDF44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8293"/>
            <a:ext cx="51435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課前導讀</a:t>
            </a:r>
          </a:p>
        </p:txBody>
      </p:sp>
      <p:sp>
        <p:nvSpPr>
          <p:cNvPr id="10" name="slide-5-text-10">
            <a:extLst xmlns:a="http://schemas.openxmlformats.org/drawingml/2006/main">
              <a:ext uri="{FF2B5EF4-FFF2-40B4-BE49-F238E27FC236}">
                <a16:creationId xmlns:a16="http://schemas.microsoft.com/office/drawing/2014/main" id="{E423551A-7B1C-46FE-998F-E74EBBD4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51435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對象、用途、時間與驗收方式</a:t>
            </a:r>
          </a:p>
        </p:txBody>
      </p:sp>
      <p:sp>
        <p:nvSpPr>
          <p:cNvPr id="11" name="slide-5-text-11">
            <a:extLst xmlns:a="http://schemas.openxmlformats.org/drawingml/2006/main">
              <a:ext uri="{FF2B5EF4-FFF2-40B4-BE49-F238E27FC236}">
                <a16:creationId xmlns:a16="http://schemas.microsoft.com/office/drawing/2014/main" id="{B9B4F1A4-80C0-449A-AAEF-39C220FA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7463"/>
            <a:ext cx="51435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仍未確定。</a:t>
            </a:r>
          </a:p>
        </p:txBody>
      </p:sp>
      <p:sp>
        <p:nvSpPr>
          <p:cNvPr id="12" name="slide-5-text-12">
            <a:extLst xmlns:a="http://schemas.openxmlformats.org/drawingml/2006/main">
              <a:ext uri="{FF2B5EF4-FFF2-40B4-BE49-F238E27FC236}">
                <a16:creationId xmlns:a16="http://schemas.microsoft.com/office/drawing/2014/main" id="{6F553684-490F-4B39-B25A-C3E43BEF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55245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補充情境</a:t>
            </a:r>
          </a:p>
        </p:txBody>
      </p:sp>
      <p:sp>
        <p:nvSpPr>
          <p:cNvPr id="13" name="slide-5-text-13">
            <a:extLst xmlns:a="http://schemas.openxmlformats.org/drawingml/2006/main">
              <a:ext uri="{FF2B5EF4-FFF2-40B4-BE49-F238E27FC236}">
                <a16:creationId xmlns:a16="http://schemas.microsoft.com/office/drawing/2014/main" id="{87D2CC9F-17D1-4E35-B497-224F1F25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54102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小學三年級學生</a:t>
            </a:r>
          </a:p>
        </p:txBody>
      </p:sp>
      <p:sp>
        <p:nvSpPr>
          <p:cNvPr id="14" name="slide-5-text-14">
            <a:extLst xmlns:a="http://schemas.openxmlformats.org/drawingml/2006/main">
              <a:ext uri="{FF2B5EF4-FFF2-40B4-BE49-F238E27FC236}">
                <a16:creationId xmlns:a16="http://schemas.microsoft.com/office/drawing/2014/main" id="{BDB4BC28-10E1-4CA2-9AE3-69A9639E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68293"/>
            <a:ext cx="54102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課前閱讀十分鐘</a:t>
            </a:r>
          </a:p>
        </p:txBody>
      </p:sp>
      <p:sp>
        <p:nvSpPr>
          <p:cNvPr id="15" name="slide-5-text-15">
            <a:extLst xmlns:a="http://schemas.openxmlformats.org/drawingml/2006/main">
              <a:ext uri="{FF2B5EF4-FFF2-40B4-BE49-F238E27FC236}">
                <a16:creationId xmlns:a16="http://schemas.microsoft.com/office/drawing/2014/main" id="{C9177FA6-7011-4359-903B-B107DAE7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95800"/>
            <a:ext cx="54102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目標是辨認描寫變化的語句。</a:t>
            </a:r>
          </a:p>
        </p:txBody>
      </p:sp>
      <p:sp>
        <p:nvSpPr>
          <p:cNvPr id="16" name="slide-5-text-16">
            <a:extLst xmlns:a="http://schemas.openxmlformats.org/drawingml/2006/main">
              <a:ext uri="{FF2B5EF4-FFF2-40B4-BE49-F238E27FC236}">
                <a16:creationId xmlns:a16="http://schemas.microsoft.com/office/drawing/2014/main" id="{EE9FCF7A-F3A7-4D5A-A482-1CFE0B2B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47463"/>
            <a:ext cx="54102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只依據指定短文，不加入新情節。</a:t>
            </a:r>
          </a:p>
        </p:txBody>
      </p:sp>
      <p:sp>
        <p:nvSpPr>
          <p:cNvPr id="17" name="slide-5-text-17">
            <a:extLst xmlns:a="http://schemas.openxmlformats.org/drawingml/2006/main">
              <a:ext uri="{FF2B5EF4-FFF2-40B4-BE49-F238E27FC236}">
                <a16:creationId xmlns:a16="http://schemas.microsoft.com/office/drawing/2014/main" id="{F2FE44EC-B81D-4219-A594-1F5D4726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構擬任務。十分鐘是設計條件，不是測得的教學效果。</a:t>
            </a:r>
          </a:p>
        </p:txBody>
      </p:sp>
    </p:spTree>
    <p:extLst>
      <p:ext uri="{BB962C8B-B14F-4D97-AF65-F5344CB8AC3E}">
        <p14:creationId xmlns:p14="http://schemas.microsoft.com/office/powerpoint/2010/main" val="16313295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6-text-1">
            <a:extLst xmlns:a="http://schemas.openxmlformats.org/drawingml/2006/main">
              <a:ext uri="{FF2B5EF4-FFF2-40B4-BE49-F238E27FC236}">
                <a16:creationId xmlns:a16="http://schemas.microsoft.com/office/drawing/2014/main" id="{5A0287A2-3172-42E1-910F-34837A4D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同一案例   擴大探索</a:t>
            </a:r>
          </a:p>
        </p:txBody>
      </p:sp>
      <p:sp>
        <p:nvSpPr>
          <p:cNvPr id="2" name="slide-6-text-2">
            <a:extLst xmlns:a="http://schemas.openxmlformats.org/drawingml/2006/main">
              <a:ext uri="{FF2B5EF4-FFF2-40B4-BE49-F238E27FC236}">
                <a16:creationId xmlns:a16="http://schemas.microsoft.com/office/drawing/2014/main" id="{7BD2C8DD-BA5A-48A6-BB5A-6FEFE76A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AI 讓學生提早試做完整方案</a:t>
            </a:r>
          </a:p>
        </p:txBody>
      </p:sp>
      <p:sp>
        <p:nvSpPr>
          <p:cNvPr id="3" name="slide-6-line-3">
            <a:extLst xmlns:a="http://schemas.openxmlformats.org/drawingml/2006/main">
              <a:ext uri="{FF2B5EF4-FFF2-40B4-BE49-F238E27FC236}">
                <a16:creationId xmlns:a16="http://schemas.microsoft.com/office/drawing/2014/main" id="{18317539-EA24-4B70-B668-CBE03FA1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6-text-4">
            <a:extLst xmlns:a="http://schemas.openxmlformats.org/drawingml/2006/main">
              <a:ext uri="{FF2B5EF4-FFF2-40B4-BE49-F238E27FC236}">
                <a16:creationId xmlns:a16="http://schemas.microsoft.com/office/drawing/2014/main" id="{A6B9E389-13A1-4FE9-9279-CC6B78D8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6-text-5">
            <a:extLst xmlns:a="http://schemas.openxmlformats.org/drawingml/2006/main">
              <a:ext uri="{FF2B5EF4-FFF2-40B4-BE49-F238E27FC236}">
                <a16:creationId xmlns:a16="http://schemas.microsoft.com/office/drawing/2014/main" id="{1DD146DC-3075-4E67-ADF8-7ECE9E76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06 / 30</a:t>
            </a:r>
          </a:p>
        </p:txBody>
      </p:sp>
      <p:sp>
        <p:nvSpPr>
          <p:cNvPr id="6" name="slide-6-text-6">
            <a:extLst xmlns:a="http://schemas.openxmlformats.org/drawingml/2006/main">
              <a:ext uri="{FF2B5EF4-FFF2-40B4-BE49-F238E27FC236}">
                <a16:creationId xmlns:a16="http://schemas.microsoft.com/office/drawing/2014/main" id="{0D1CAC61-1C7E-4E4F-BE81-BE177BFA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起草與改寫</a:t>
            </a:r>
          </a:p>
        </p:txBody>
      </p:sp>
      <p:sp>
        <p:nvSpPr>
          <p:cNvPr id="7" name="slide-6-line-7">
            <a:extLst xmlns:a="http://schemas.openxmlformats.org/drawingml/2006/main">
              <a:ext uri="{FF2B5EF4-FFF2-40B4-BE49-F238E27FC236}">
                <a16:creationId xmlns:a16="http://schemas.microsoft.com/office/drawing/2014/main" id="{1DBB9181-FC07-42A2-A442-6AA09566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8" name="slide-6-text-8">
            <a:extLst xmlns:a="http://schemas.openxmlformats.org/drawingml/2006/main">
              <a:ext uri="{FF2B5EF4-FFF2-40B4-BE49-F238E27FC236}">
                <a16:creationId xmlns:a16="http://schemas.microsoft.com/office/drawing/2014/main" id="{76BBA990-313F-453F-9928-251EDBF4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比較多種表達</a:t>
            </a:r>
          </a:p>
        </p:txBody>
      </p:sp>
      <p:sp>
        <p:nvSpPr>
          <p:cNvPr id="9" name="slide-6-text-9">
            <a:extLst xmlns:a="http://schemas.openxmlformats.org/drawingml/2006/main">
              <a:ext uri="{FF2B5EF4-FFF2-40B4-BE49-F238E27FC236}">
                <a16:creationId xmlns:a16="http://schemas.microsoft.com/office/drawing/2014/main" id="{9BB21C88-E77E-4EBD-87F5-5908C686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導讀、提問、口頭介紹</a:t>
            </a:r>
          </a:p>
        </p:txBody>
      </p:sp>
      <p:sp>
        <p:nvSpPr>
          <p:cNvPr id="10" name="slide-6-text-10">
            <a:extLst xmlns:a="http://schemas.openxmlformats.org/drawingml/2006/main">
              <a:ext uri="{FF2B5EF4-FFF2-40B4-BE49-F238E27FC236}">
                <a16:creationId xmlns:a16="http://schemas.microsoft.com/office/drawing/2014/main" id="{5C3ED739-BDDC-456F-A268-4DB7EE4F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都可以先做出候選稿。</a:t>
            </a:r>
          </a:p>
        </p:txBody>
      </p:sp>
      <p:sp>
        <p:nvSpPr>
          <p:cNvPr id="11" name="slide-6-text-11">
            <a:extLst xmlns:a="http://schemas.openxmlformats.org/drawingml/2006/main">
              <a:ext uri="{FF2B5EF4-FFF2-40B4-BE49-F238E27FC236}">
                <a16:creationId xmlns:a16="http://schemas.microsoft.com/office/drawing/2014/main" id="{55C3C76F-1BBA-4794-BB9B-F7E9D284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檢索與核對</a:t>
            </a:r>
          </a:p>
        </p:txBody>
      </p:sp>
      <p:sp>
        <p:nvSpPr>
          <p:cNvPr id="12" name="slide-6-line-12">
            <a:extLst xmlns:a="http://schemas.openxmlformats.org/drawingml/2006/main">
              <a:ext uri="{FF2B5EF4-FFF2-40B4-BE49-F238E27FC236}">
                <a16:creationId xmlns:a16="http://schemas.microsoft.com/office/drawing/2014/main" id="{2BBC101F-7212-4CA0-9F10-C4B6EA27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13" name="slide-6-text-13">
            <a:extLst xmlns:a="http://schemas.openxmlformats.org/drawingml/2006/main">
              <a:ext uri="{FF2B5EF4-FFF2-40B4-BE49-F238E27FC236}">
                <a16:creationId xmlns:a16="http://schemas.microsoft.com/office/drawing/2014/main" id="{1A0D9F38-5B66-45E6-A6A5-4AA49C8C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查清依據與差異</a:t>
            </a:r>
          </a:p>
        </p:txBody>
      </p:sp>
      <p:sp>
        <p:nvSpPr>
          <p:cNvPr id="14" name="slide-6-text-14">
            <a:extLst xmlns:a="http://schemas.openxmlformats.org/drawingml/2006/main">
              <a:ext uri="{FF2B5EF4-FFF2-40B4-BE49-F238E27FC236}">
                <a16:creationId xmlns:a16="http://schemas.microsoft.com/office/drawing/2014/main" id="{2D7A9D37-5C1B-4307-9C7E-C88C45E6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有檢索能力的系統可定位來源，</a:t>
            </a:r>
          </a:p>
        </p:txBody>
      </p:sp>
      <p:sp>
        <p:nvSpPr>
          <p:cNvPr id="15" name="slide-6-text-15">
            <a:extLst xmlns:a="http://schemas.openxmlformats.org/drawingml/2006/main">
              <a:ext uri="{FF2B5EF4-FFF2-40B4-BE49-F238E27FC236}">
                <a16:creationId xmlns:a16="http://schemas.microsoft.com/office/drawing/2014/main" id="{8A16B1F3-E921-4128-BEC4-18F17CAD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引用仍需回到原文確認。</a:t>
            </a:r>
          </a:p>
        </p:txBody>
      </p:sp>
      <p:sp>
        <p:nvSpPr>
          <p:cNvPr id="16" name="slide-6-text-16">
            <a:extLst xmlns:a="http://schemas.openxmlformats.org/drawingml/2006/main">
              <a:ext uri="{FF2B5EF4-FFF2-40B4-BE49-F238E27FC236}">
                <a16:creationId xmlns:a16="http://schemas.microsoft.com/office/drawing/2014/main" id="{D7A812A9-37B7-48C0-B59E-6E1AEE4A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工具與執行</a:t>
            </a:r>
          </a:p>
        </p:txBody>
      </p:sp>
      <p:sp>
        <p:nvSpPr>
          <p:cNvPr id="17" name="slide-6-line-17">
            <a:extLst xmlns:a="http://schemas.openxmlformats.org/drawingml/2006/main">
              <a:ext uri="{FF2B5EF4-FFF2-40B4-BE49-F238E27FC236}">
                <a16:creationId xmlns:a16="http://schemas.microsoft.com/office/drawing/2014/main" id="{2A08559F-3138-4E4F-B4C2-55F2D6FB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18" name="slide-6-text-18">
            <a:extLst xmlns:a="http://schemas.openxmlformats.org/drawingml/2006/main">
              <a:ext uri="{FF2B5EF4-FFF2-40B4-BE49-F238E27FC236}">
                <a16:creationId xmlns:a16="http://schemas.microsoft.com/office/drawing/2014/main" id="{EEB28990-69EC-4499-98B4-7C52F7D9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試做可用的原型</a:t>
            </a:r>
          </a:p>
        </p:txBody>
      </p:sp>
      <p:sp>
        <p:nvSpPr>
          <p:cNvPr id="19" name="slide-6-text-19">
            <a:extLst xmlns:a="http://schemas.openxmlformats.org/drawingml/2006/main">
              <a:ext uri="{FF2B5EF4-FFF2-40B4-BE49-F238E27FC236}">
                <a16:creationId xmlns:a16="http://schemas.microsoft.com/office/drawing/2014/main" id="{F6125D1E-F29E-4E33-96E8-EFDF27E5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具工具權限的系統可協助製作，</a:t>
            </a:r>
          </a:p>
        </p:txBody>
      </p:sp>
      <p:sp>
        <p:nvSpPr>
          <p:cNvPr id="20" name="slide-6-text-20">
            <a:extLst xmlns:a="http://schemas.openxmlformats.org/drawingml/2006/main">
              <a:ext uri="{FF2B5EF4-FFF2-40B4-BE49-F238E27FC236}">
                <a16:creationId xmlns:a16="http://schemas.microsoft.com/office/drawing/2014/main" id="{D69B39DA-20BF-42A6-A992-DFC1C26E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對外操作保留人工確認。</a:t>
            </a:r>
          </a:p>
        </p:txBody>
      </p:sp>
      <p:sp>
        <p:nvSpPr>
          <p:cNvPr id="21" name="slide-6-text-21">
            <a:extLst xmlns:a="http://schemas.openxmlformats.org/drawingml/2006/main">
              <a:ext uri="{FF2B5EF4-FFF2-40B4-BE49-F238E27FC236}">
                <a16:creationId xmlns:a16="http://schemas.microsoft.com/office/drawing/2014/main" id="{893048BE-A9EC-49C2-BC6A-CEAA6A76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能力依工具與任務而異。原型提供討論材料，效果仍需觀察。</a:t>
            </a:r>
          </a:p>
        </p:txBody>
      </p:sp>
    </p:spTree>
    <p:extLst>
      <p:ext uri="{BB962C8B-B14F-4D97-AF65-F5344CB8AC3E}">
        <p14:creationId xmlns:p14="http://schemas.microsoft.com/office/powerpoint/2010/main" val="2145898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7-text-1">
            <a:extLst xmlns:a="http://schemas.openxmlformats.org/drawingml/2006/main">
              <a:ext uri="{FF2B5EF4-FFF2-40B4-BE49-F238E27FC236}">
                <a16:creationId xmlns:a16="http://schemas.microsoft.com/office/drawing/2014/main" id="{83061B02-1034-4637-9232-561728E5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同一案例   說明工作</a:t>
            </a:r>
          </a:p>
        </p:txBody>
      </p:sp>
      <p:sp>
        <p:nvSpPr>
          <p:cNvPr id="2" name="slide-7-text-2">
            <a:extLst xmlns:a="http://schemas.openxmlformats.org/drawingml/2006/main">
              <a:ext uri="{FF2B5EF4-FFF2-40B4-BE49-F238E27FC236}">
                <a16:creationId xmlns:a16="http://schemas.microsoft.com/office/drawing/2014/main" id="{359BBEE0-B293-4BCA-813C-4205EF0A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委託需要可供檢查的條件</a:t>
            </a:r>
          </a:p>
        </p:txBody>
      </p:sp>
      <p:sp>
        <p:nvSpPr>
          <p:cNvPr id="3" name="slide-7-line-3">
            <a:extLst xmlns:a="http://schemas.openxmlformats.org/drawingml/2006/main">
              <a:ext uri="{FF2B5EF4-FFF2-40B4-BE49-F238E27FC236}">
                <a16:creationId xmlns:a16="http://schemas.microsoft.com/office/drawing/2014/main" id="{BF86E9D5-3E11-40A0-8FD3-36439A51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7-text-4">
            <a:extLst xmlns:a="http://schemas.openxmlformats.org/drawingml/2006/main">
              <a:ext uri="{FF2B5EF4-FFF2-40B4-BE49-F238E27FC236}">
                <a16:creationId xmlns:a16="http://schemas.microsoft.com/office/drawing/2014/main" id="{7AA4F3AE-C305-44DC-86DE-9C7FE6F1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7-text-5">
            <a:extLst xmlns:a="http://schemas.openxmlformats.org/drawingml/2006/main">
              <a:ext uri="{FF2B5EF4-FFF2-40B4-BE49-F238E27FC236}">
                <a16:creationId xmlns:a16="http://schemas.microsoft.com/office/drawing/2014/main" id="{4BB79740-1761-4624-A050-4D89B6B8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07 / 30</a:t>
            </a:r>
          </a:p>
        </p:txBody>
      </p:sp>
      <p:sp>
        <p:nvSpPr>
          <p:cNvPr id="6" name="slide-7-text-6">
            <a:extLst xmlns:a="http://schemas.openxmlformats.org/drawingml/2006/main">
              <a:ext uri="{FF2B5EF4-FFF2-40B4-BE49-F238E27FC236}">
                <a16:creationId xmlns:a16="http://schemas.microsoft.com/office/drawing/2014/main" id="{0D67682C-41F9-4758-9A8F-75A27913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905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輸入</a:t>
            </a:r>
          </a:p>
        </p:txBody>
      </p:sp>
      <p:sp>
        <p:nvSpPr>
          <p:cNvPr id="7" name="slide-7-text-7">
            <a:extLst xmlns:a="http://schemas.openxmlformats.org/drawingml/2006/main">
              <a:ext uri="{FF2B5EF4-FFF2-40B4-BE49-F238E27FC236}">
                <a16:creationId xmlns:a16="http://schemas.microsoft.com/office/drawing/2014/main" id="{377AF0F3-42D7-4BC8-A82E-52C86D10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67000"/>
            <a:ext cx="95250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指定短文、年級、閱讀目的</a:t>
            </a:r>
          </a:p>
        </p:txBody>
      </p:sp>
      <p:sp>
        <p:nvSpPr>
          <p:cNvPr id="8" name="slide-7-line-8">
            <a:extLst xmlns:a="http://schemas.openxmlformats.org/drawingml/2006/main">
              <a:ext uri="{FF2B5EF4-FFF2-40B4-BE49-F238E27FC236}">
                <a16:creationId xmlns:a16="http://schemas.microsoft.com/office/drawing/2014/main" id="{26955009-4D4A-463A-99AD-50576AF1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9" name="slide-7-text-9">
            <a:extLst xmlns:a="http://schemas.openxmlformats.org/drawingml/2006/main">
              <a:ext uri="{FF2B5EF4-FFF2-40B4-BE49-F238E27FC236}">
                <a16:creationId xmlns:a16="http://schemas.microsoft.com/office/drawing/2014/main" id="{6A4410C9-8826-45C2-81FF-04C2146C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14725"/>
            <a:ext cx="1905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產出</a:t>
            </a:r>
          </a:p>
        </p:txBody>
      </p:sp>
      <p:sp>
        <p:nvSpPr>
          <p:cNvPr id="10" name="slide-7-text-10">
            <a:extLst xmlns:a="http://schemas.openxmlformats.org/drawingml/2006/main">
              <a:ext uri="{FF2B5EF4-FFF2-40B4-BE49-F238E27FC236}">
                <a16:creationId xmlns:a16="http://schemas.microsoft.com/office/drawing/2014/main" id="{607760BF-6735-431C-ABC0-B351EE03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14725"/>
            <a:ext cx="95250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三個提問及一段教師說明</a:t>
            </a:r>
          </a:p>
        </p:txBody>
      </p:sp>
      <p:sp>
        <p:nvSpPr>
          <p:cNvPr id="11" name="slide-7-line-11">
            <a:extLst xmlns:a="http://schemas.openxmlformats.org/drawingml/2006/main">
              <a:ext uri="{FF2B5EF4-FFF2-40B4-BE49-F238E27FC236}">
                <a16:creationId xmlns:a16="http://schemas.microsoft.com/office/drawing/2014/main" id="{40F1E3F1-CD4D-4CC3-B2AF-FEFB5D0D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2" name="slide-7-text-12">
            <a:extLst xmlns:a="http://schemas.openxmlformats.org/drawingml/2006/main">
              <a:ext uri="{FF2B5EF4-FFF2-40B4-BE49-F238E27FC236}">
                <a16:creationId xmlns:a16="http://schemas.microsoft.com/office/drawing/2014/main" id="{DB244D7C-A5D3-4F08-B5C1-75239668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905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檢查</a:t>
            </a:r>
          </a:p>
        </p:txBody>
      </p:sp>
      <p:sp>
        <p:nvSpPr>
          <p:cNvPr id="13" name="slide-7-text-13">
            <a:extLst xmlns:a="http://schemas.openxmlformats.org/drawingml/2006/main">
              <a:ext uri="{FF2B5EF4-FFF2-40B4-BE49-F238E27FC236}">
                <a16:creationId xmlns:a16="http://schemas.microsoft.com/office/drawing/2014/main" id="{5BC9DB28-7D1C-4426-A279-A4222E15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62450"/>
            <a:ext cx="95250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每個提問都能回到原文找到依據</a:t>
            </a:r>
          </a:p>
        </p:txBody>
      </p:sp>
      <p:sp>
        <p:nvSpPr>
          <p:cNvPr id="14" name="slide-7-line-14">
            <a:extLst xmlns:a="http://schemas.openxmlformats.org/drawingml/2006/main">
              <a:ext uri="{FF2B5EF4-FFF2-40B4-BE49-F238E27FC236}">
                <a16:creationId xmlns:a16="http://schemas.microsoft.com/office/drawing/2014/main" id="{537F6AC3-350D-43FD-8FC1-DA69B0AE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5" name="slide-7-text-15">
            <a:extLst xmlns:a="http://schemas.openxmlformats.org/drawingml/2006/main">
              <a:ext uri="{FF2B5EF4-FFF2-40B4-BE49-F238E27FC236}">
                <a16:creationId xmlns:a16="http://schemas.microsoft.com/office/drawing/2014/main" id="{284BDAE4-F187-41DF-9995-61A4C1C7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0175"/>
            <a:ext cx="1905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邊界</a:t>
            </a:r>
          </a:p>
        </p:txBody>
      </p:sp>
      <p:sp>
        <p:nvSpPr>
          <p:cNvPr id="16" name="slide-7-text-16">
            <a:extLst xmlns:a="http://schemas.openxmlformats.org/drawingml/2006/main">
              <a:ext uri="{FF2B5EF4-FFF2-40B4-BE49-F238E27FC236}">
                <a16:creationId xmlns:a16="http://schemas.microsoft.com/office/drawing/2014/main" id="{DAAC6A46-BEF7-47D2-A594-265513CC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10175"/>
            <a:ext cx="95250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不補寫故事，不預先提供標準答案</a:t>
            </a:r>
          </a:p>
        </p:txBody>
      </p:sp>
      <p:sp>
        <p:nvSpPr>
          <p:cNvPr id="17" name="slide-7-line-17">
            <a:extLst xmlns:a="http://schemas.openxmlformats.org/drawingml/2006/main">
              <a:ext uri="{FF2B5EF4-FFF2-40B4-BE49-F238E27FC236}">
                <a16:creationId xmlns:a16="http://schemas.microsoft.com/office/drawing/2014/main" id="{381E8FFF-4BE4-4F90-B336-E906AC90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007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26459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8-text-1">
            <a:extLst xmlns:a="http://schemas.openxmlformats.org/drawingml/2006/main">
              <a:ext uri="{FF2B5EF4-FFF2-40B4-BE49-F238E27FC236}">
                <a16:creationId xmlns:a16="http://schemas.microsoft.com/office/drawing/2014/main" id="{C0AE9E32-4538-4FD7-B17E-A8D0A655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現場示範   對象與用途</a:t>
            </a:r>
          </a:p>
        </p:txBody>
      </p:sp>
      <p:sp>
        <p:nvSpPr>
          <p:cNvPr id="2" name="slide-8-text-2">
            <a:extLst xmlns:a="http://schemas.openxmlformats.org/drawingml/2006/main">
              <a:ext uri="{FF2B5EF4-FFF2-40B4-BE49-F238E27FC236}">
                <a16:creationId xmlns:a16="http://schemas.microsoft.com/office/drawing/2014/main" id="{9D09128D-6CD4-4D73-A53B-C93743EB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示範一：同一短文，不同委託</a:t>
            </a:r>
          </a:p>
        </p:txBody>
      </p:sp>
      <p:sp>
        <p:nvSpPr>
          <p:cNvPr id="3" name="slide-8-line-3">
            <a:extLst xmlns:a="http://schemas.openxmlformats.org/drawingml/2006/main">
              <a:ext uri="{FF2B5EF4-FFF2-40B4-BE49-F238E27FC236}">
                <a16:creationId xmlns:a16="http://schemas.microsoft.com/office/drawing/2014/main" id="{C579A03D-1798-4B27-874E-DD123DC2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8-text-4">
            <a:extLst xmlns:a="http://schemas.openxmlformats.org/drawingml/2006/main">
              <a:ext uri="{FF2B5EF4-FFF2-40B4-BE49-F238E27FC236}">
                <a16:creationId xmlns:a16="http://schemas.microsoft.com/office/drawing/2014/main" id="{6E2F8A41-5A3E-4E76-AEEC-3765A885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8-text-5">
            <a:extLst xmlns:a="http://schemas.openxmlformats.org/drawingml/2006/main">
              <a:ext uri="{FF2B5EF4-FFF2-40B4-BE49-F238E27FC236}">
                <a16:creationId xmlns:a16="http://schemas.microsoft.com/office/drawing/2014/main" id="{0D0FFAEB-B782-416E-898F-3BF78BEC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08 / 30</a:t>
            </a:r>
          </a:p>
        </p:txBody>
      </p:sp>
      <p:sp>
        <p:nvSpPr>
          <p:cNvPr id="6" name="slide-8-text-6">
            <a:extLst xmlns:a="http://schemas.openxmlformats.org/drawingml/2006/main">
              <a:ext uri="{FF2B5EF4-FFF2-40B4-BE49-F238E27FC236}">
                <a16:creationId xmlns:a16="http://schemas.microsoft.com/office/drawing/2014/main" id="{FD2F18A3-35D4-4A33-A031-6F53E383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5238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原創示例短文《窗邊的樹》</a:t>
            </a:r>
          </a:p>
        </p:txBody>
      </p:sp>
      <p:sp>
        <p:nvSpPr>
          <p:cNvPr id="7" name="slide-8-text-7">
            <a:extLst xmlns:a="http://schemas.openxmlformats.org/drawingml/2006/main">
              <a:ext uri="{FF2B5EF4-FFF2-40B4-BE49-F238E27FC236}">
                <a16:creationId xmlns:a16="http://schemas.microsoft.com/office/drawing/2014/main" id="{AC2D723A-6012-436D-B7D8-B5574721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19062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早晨，小晴推開窗，看見樹葉上停着幾滴雨水。</a:t>
            </a:r>
          </a:p>
        </p:txBody>
      </p:sp>
      <p:sp>
        <p:nvSpPr>
          <p:cNvPr id="8" name="slide-8-text-8">
            <a:extLst xmlns:a="http://schemas.openxmlformats.org/drawingml/2006/main">
              <a:ext uri="{FF2B5EF4-FFF2-40B4-BE49-F238E27FC236}">
                <a16:creationId xmlns:a16="http://schemas.microsoft.com/office/drawing/2014/main" id="{8B9F6508-0D48-4144-82E5-6F5E45C7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9961"/>
            <a:ext cx="119062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風一吹，雨水落在窗台。午後，陽光照進來，</a:t>
            </a:r>
          </a:p>
        </p:txBody>
      </p:sp>
      <p:sp>
        <p:nvSpPr>
          <p:cNvPr id="9" name="slide-8-text-9">
            <a:extLst xmlns:a="http://schemas.openxmlformats.org/drawingml/2006/main">
              <a:ext uri="{FF2B5EF4-FFF2-40B4-BE49-F238E27FC236}">
                <a16:creationId xmlns:a16="http://schemas.microsoft.com/office/drawing/2014/main" id="{C520B7DF-54A1-44CB-A118-0AAD1499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8598"/>
            <a:ext cx="119062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窗台乾了，樹影慢慢移到書桌旁。</a:t>
            </a:r>
          </a:p>
        </p:txBody>
      </p:sp>
      <p:sp>
        <p:nvSpPr>
          <p:cNvPr id="10" name="slide-8-text-10">
            <a:extLst xmlns:a="http://schemas.openxmlformats.org/drawingml/2006/main">
              <a:ext uri="{FF2B5EF4-FFF2-40B4-BE49-F238E27FC236}">
                <a16:creationId xmlns:a16="http://schemas.microsoft.com/office/drawing/2014/main" id="{DE84ACA7-D5AE-4A0A-961C-ECBDC8E6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7234"/>
            <a:ext cx="119062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她把椅子挪近窗邊，繼續讀那本沒有讀完的書。</a:t>
            </a:r>
          </a:p>
        </p:txBody>
      </p:sp>
      <p:sp>
        <p:nvSpPr>
          <p:cNvPr id="11" name="slide-8-line-11">
            <a:extLst xmlns:a="http://schemas.openxmlformats.org/drawingml/2006/main">
              <a:ext uri="{FF2B5EF4-FFF2-40B4-BE49-F238E27FC236}">
                <a16:creationId xmlns:a16="http://schemas.microsoft.com/office/drawing/2014/main" id="{F16A0D91-9727-4F37-8F6C-BA211D6A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07296"/>
            </a:solidFill>
            <a:prstDash val="solid"/>
          </a:ln>
        </p:spPr>
      </p:sp>
      <p:sp>
        <p:nvSpPr>
          <p:cNvPr id="12" name="slide-8-text-12">
            <a:extLst xmlns:a="http://schemas.openxmlformats.org/drawingml/2006/main">
              <a:ext uri="{FF2B5EF4-FFF2-40B4-BE49-F238E27FC236}">
                <a16:creationId xmlns:a16="http://schemas.microsoft.com/office/drawing/2014/main" id="{782DBB14-56E2-427D-80A1-E8837A59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190625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兩次都使用相同短文。第二次補充對象、用途與不可改變的事實。</a:t>
            </a:r>
          </a:p>
        </p:txBody>
      </p:sp>
      <p:sp>
        <p:nvSpPr>
          <p:cNvPr id="13" name="slide-8-text-13">
            <a:extLst xmlns:a="http://schemas.openxmlformats.org/drawingml/2006/main">
              <a:ext uri="{FF2B5EF4-FFF2-40B4-BE49-F238E27FC236}">
                <a16:creationId xmlns:a16="http://schemas.microsoft.com/office/drawing/2014/main" id="{33E41384-9D8C-49AD-BD6B-1488C3FF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短文與離線對照稿均為講座示例，不代表實際模型效果。</a:t>
            </a:r>
          </a:p>
        </p:txBody>
      </p:sp>
    </p:spTree>
    <p:extLst>
      <p:ext uri="{BB962C8B-B14F-4D97-AF65-F5344CB8AC3E}">
        <p14:creationId xmlns:p14="http://schemas.microsoft.com/office/powerpoint/2010/main" val="11376174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9-text-1">
            <a:extLst xmlns:a="http://schemas.openxmlformats.org/drawingml/2006/main">
              <a:ext uri="{FF2B5EF4-FFF2-40B4-BE49-F238E27FC236}">
                <a16:creationId xmlns:a16="http://schemas.microsoft.com/office/drawing/2014/main" id="{5A380EA5-95D9-488D-B170-5F5A3C3A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示範一   離線對照稿</a:t>
            </a:r>
          </a:p>
        </p:txBody>
      </p:sp>
      <p:sp>
        <p:nvSpPr>
          <p:cNvPr id="2" name="slide-9-text-2">
            <a:extLst xmlns:a="http://schemas.openxmlformats.org/drawingml/2006/main">
              <a:ext uri="{FF2B5EF4-FFF2-40B4-BE49-F238E27FC236}">
                <a16:creationId xmlns:a16="http://schemas.microsoft.com/office/drawing/2014/main" id="{398D43F9-32AD-46F8-83FA-1A293FFC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情境改變了提問的具體程度</a:t>
            </a:r>
          </a:p>
        </p:txBody>
      </p:sp>
      <p:sp>
        <p:nvSpPr>
          <p:cNvPr id="3" name="slide-9-line-3">
            <a:extLst xmlns:a="http://schemas.openxmlformats.org/drawingml/2006/main">
              <a:ext uri="{FF2B5EF4-FFF2-40B4-BE49-F238E27FC236}">
                <a16:creationId xmlns:a16="http://schemas.microsoft.com/office/drawing/2014/main" id="{4C6CE3FC-DAC0-4542-86F9-015C92AC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9-text-4">
            <a:extLst xmlns:a="http://schemas.openxmlformats.org/drawingml/2006/main">
              <a:ext uri="{FF2B5EF4-FFF2-40B4-BE49-F238E27FC236}">
                <a16:creationId xmlns:a16="http://schemas.microsoft.com/office/drawing/2014/main" id="{1161368D-3983-49B4-A46E-4F6C3C5C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9-text-5">
            <a:extLst xmlns:a="http://schemas.openxmlformats.org/drawingml/2006/main">
              <a:ext uri="{FF2B5EF4-FFF2-40B4-BE49-F238E27FC236}">
                <a16:creationId xmlns:a16="http://schemas.microsoft.com/office/drawing/2014/main" id="{7CE4517A-3ED4-4B4A-B94F-0BF25CCD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09 / 30</a:t>
            </a:r>
          </a:p>
        </p:txBody>
      </p:sp>
      <p:sp>
        <p:nvSpPr>
          <p:cNvPr id="6" name="slide-9-line-6">
            <a:extLst xmlns:a="http://schemas.openxmlformats.org/drawingml/2006/main">
              <a:ext uri="{FF2B5EF4-FFF2-40B4-BE49-F238E27FC236}">
                <a16:creationId xmlns:a16="http://schemas.microsoft.com/office/drawing/2014/main" id="{02AB84C2-D42A-4AA6-BDF2-DD366DDE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7" name="slide-9-text-7">
            <a:extLst xmlns:a="http://schemas.openxmlformats.org/drawingml/2006/main">
              <a:ext uri="{FF2B5EF4-FFF2-40B4-BE49-F238E27FC236}">
                <a16:creationId xmlns:a16="http://schemas.microsoft.com/office/drawing/2014/main" id="{2C8CF19D-01D3-4422-810A-8B099D70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5334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條件不足的示例</a:t>
            </a:r>
          </a:p>
        </p:txBody>
      </p:sp>
      <p:sp>
        <p:nvSpPr>
          <p:cNvPr id="8" name="slide-9-text-8">
            <a:extLst xmlns:a="http://schemas.openxmlformats.org/drawingml/2006/main">
              <a:ext uri="{FF2B5EF4-FFF2-40B4-BE49-F238E27FC236}">
                <a16:creationId xmlns:a16="http://schemas.microsoft.com/office/drawing/2014/main" id="{1DD449BB-205E-42A7-8930-09EE6F94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51435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談談這篇文章</a:t>
            </a:r>
          </a:p>
        </p:txBody>
      </p:sp>
      <p:sp>
        <p:nvSpPr>
          <p:cNvPr id="9" name="slide-9-text-9">
            <a:extLst xmlns:a="http://schemas.openxmlformats.org/drawingml/2006/main">
              <a:ext uri="{FF2B5EF4-FFF2-40B4-BE49-F238E27FC236}">
                <a16:creationId xmlns:a16="http://schemas.microsoft.com/office/drawing/2014/main" id="{C4AC9496-0571-48F0-A3EF-A01069DD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8293"/>
            <a:ext cx="51435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帶來的人生啟示</a:t>
            </a:r>
          </a:p>
        </p:txBody>
      </p:sp>
      <p:sp>
        <p:nvSpPr>
          <p:cNvPr id="10" name="slide-9-text-10">
            <a:extLst xmlns:a="http://schemas.openxmlformats.org/drawingml/2006/main">
              <a:ext uri="{FF2B5EF4-FFF2-40B4-BE49-F238E27FC236}">
                <a16:creationId xmlns:a16="http://schemas.microsoft.com/office/drawing/2014/main" id="{6F6E5E6E-096C-49EB-A975-303EE5C2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51435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問題沒有指定文本依據，</a:t>
            </a:r>
          </a:p>
        </p:txBody>
      </p:sp>
      <p:sp>
        <p:nvSpPr>
          <p:cNvPr id="11" name="slide-9-text-11">
            <a:extLst xmlns:a="http://schemas.openxmlformats.org/drawingml/2006/main">
              <a:ext uri="{FF2B5EF4-FFF2-40B4-BE49-F238E27FC236}">
                <a16:creationId xmlns:a16="http://schemas.microsoft.com/office/drawing/2014/main" id="{96D5193C-48D7-4261-8A93-8FFB4464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7463"/>
            <a:ext cx="51435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也未對應本次閱讀目的。</a:t>
            </a:r>
          </a:p>
        </p:txBody>
      </p:sp>
      <p:sp>
        <p:nvSpPr>
          <p:cNvPr id="12" name="slide-9-text-12">
            <a:extLst xmlns:a="http://schemas.openxmlformats.org/drawingml/2006/main">
              <a:ext uri="{FF2B5EF4-FFF2-40B4-BE49-F238E27FC236}">
                <a16:creationId xmlns:a16="http://schemas.microsoft.com/office/drawing/2014/main" id="{5B32F916-8C5F-40D9-B410-8B6E7682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55245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依委託修訂的示例</a:t>
            </a:r>
          </a:p>
        </p:txBody>
      </p:sp>
      <p:sp>
        <p:nvSpPr>
          <p:cNvPr id="13" name="slide-9-text-13">
            <a:extLst xmlns:a="http://schemas.openxmlformats.org/drawingml/2006/main">
              <a:ext uri="{FF2B5EF4-FFF2-40B4-BE49-F238E27FC236}">
                <a16:creationId xmlns:a16="http://schemas.microsoft.com/office/drawing/2014/main" id="{FE48CBA4-73D2-4697-A6AA-50DDACBE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54102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找出早晨與午後</a:t>
            </a:r>
          </a:p>
        </p:txBody>
      </p:sp>
      <p:sp>
        <p:nvSpPr>
          <p:cNvPr id="14" name="slide-9-text-14">
            <a:extLst xmlns:a="http://schemas.openxmlformats.org/drawingml/2006/main">
              <a:ext uri="{FF2B5EF4-FFF2-40B4-BE49-F238E27FC236}">
                <a16:creationId xmlns:a16="http://schemas.microsoft.com/office/drawing/2014/main" id="{76AB8666-F09F-4403-A438-59EB38EE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68293"/>
            <a:ext cx="54102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景物改變的語句</a:t>
            </a:r>
          </a:p>
        </p:txBody>
      </p:sp>
      <p:sp>
        <p:nvSpPr>
          <p:cNvPr id="15" name="slide-9-text-15">
            <a:extLst xmlns:a="http://schemas.openxmlformats.org/drawingml/2006/main">
              <a:ext uri="{FF2B5EF4-FFF2-40B4-BE49-F238E27FC236}">
                <a16:creationId xmlns:a16="http://schemas.microsoft.com/office/drawing/2014/main" id="{7EA1BA77-5757-4F50-A8F3-7911116F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95800"/>
            <a:ext cx="54102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哪些變化由原文直接說明？</a:t>
            </a:r>
          </a:p>
        </p:txBody>
      </p:sp>
      <p:sp>
        <p:nvSpPr>
          <p:cNvPr id="16" name="slide-9-text-16">
            <a:extLst xmlns:a="http://schemas.openxmlformats.org/drawingml/2006/main">
              <a:ext uri="{FF2B5EF4-FFF2-40B4-BE49-F238E27FC236}">
                <a16:creationId xmlns:a16="http://schemas.microsoft.com/office/drawing/2014/main" id="{7B920F20-A8F0-42D0-96DD-C44BABFF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47463"/>
            <a:ext cx="54102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哪些只是讀者的推測？</a:t>
            </a:r>
          </a:p>
        </p:txBody>
      </p:sp>
      <p:sp>
        <p:nvSpPr>
          <p:cNvPr id="17" name="slide-9-text-17">
            <a:extLst xmlns:a="http://schemas.openxmlformats.org/drawingml/2006/main">
              <a:ext uri="{FF2B5EF4-FFF2-40B4-BE49-F238E27FC236}">
                <a16:creationId xmlns:a16="http://schemas.microsoft.com/office/drawing/2014/main" id="{7137C744-C3C9-49F8-B10A-D9FB4492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本講座預先準備的對照稿，非模型實測輸出。</a:t>
            </a:r>
          </a:p>
        </p:txBody>
      </p:sp>
    </p:spTree>
    <p:extLst>
      <p:ext uri="{BB962C8B-B14F-4D97-AF65-F5344CB8AC3E}">
        <p14:creationId xmlns:p14="http://schemas.microsoft.com/office/powerpoint/2010/main" val="14365636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10-text-1">
            <a:extLst xmlns:a="http://schemas.openxmlformats.org/drawingml/2006/main">
              <a:ext uri="{FF2B5EF4-FFF2-40B4-BE49-F238E27FC236}">
                <a16:creationId xmlns:a16="http://schemas.microsoft.com/office/drawing/2014/main" id="{12A50440-CFD8-42A6-808F-64EF4C07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企業家的取捨   投入深度</a:t>
            </a:r>
          </a:p>
        </p:txBody>
      </p:sp>
      <p:sp>
        <p:nvSpPr>
          <p:cNvPr id="2" name="slide-10-text-2">
            <a:extLst xmlns:a="http://schemas.openxmlformats.org/drawingml/2006/main">
              <a:ext uri="{FF2B5EF4-FFF2-40B4-BE49-F238E27FC236}">
                <a16:creationId xmlns:a16="http://schemas.microsoft.com/office/drawing/2014/main" id="{58193994-F9C9-49FD-8669-14E8856E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我會先驗證一次具體的備課</a:t>
            </a:r>
          </a:p>
        </p:txBody>
      </p:sp>
      <p:sp>
        <p:nvSpPr>
          <p:cNvPr id="3" name="slide-10-line-3">
            <a:extLst xmlns:a="http://schemas.openxmlformats.org/drawingml/2006/main">
              <a:ext uri="{FF2B5EF4-FFF2-40B4-BE49-F238E27FC236}">
                <a16:creationId xmlns:a16="http://schemas.microsoft.com/office/drawing/2014/main" id="{D644C6C9-7DAE-47D8-A3ED-8AD59BE1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10-text-4">
            <a:extLst xmlns:a="http://schemas.openxmlformats.org/drawingml/2006/main">
              <a:ext uri="{FF2B5EF4-FFF2-40B4-BE49-F238E27FC236}">
                <a16:creationId xmlns:a16="http://schemas.microsoft.com/office/drawing/2014/main" id="{E67431A6-5E16-4E6C-B3B1-41F750C5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10-text-5">
            <a:extLst xmlns:a="http://schemas.openxmlformats.org/drawingml/2006/main">
              <a:ext uri="{FF2B5EF4-FFF2-40B4-BE49-F238E27FC236}">
                <a16:creationId xmlns:a16="http://schemas.microsoft.com/office/drawing/2014/main" id="{B90C3F4A-5ED5-4113-BCF6-C81E054F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10 / 30</a:t>
            </a:r>
          </a:p>
        </p:txBody>
      </p:sp>
      <p:sp>
        <p:nvSpPr>
          <p:cNvPr id="6" name="slide-10-text-6">
            <a:extLst xmlns:a="http://schemas.openxmlformats.org/drawingml/2006/main">
              <a:ext uri="{FF2B5EF4-FFF2-40B4-BE49-F238E27FC236}">
                <a16:creationId xmlns:a16="http://schemas.microsoft.com/office/drawing/2014/main" id="{E25CB3E6-5BD1-4DAB-A94A-7E3A19D3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9525000" cy="113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66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6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一次備課</a:t>
            </a:r>
          </a:p>
        </p:txBody>
      </p:sp>
      <p:sp>
        <p:nvSpPr>
          <p:cNvPr id="7" name="slide-10-text-7">
            <a:extLst xmlns:a="http://schemas.openxmlformats.org/drawingml/2006/main">
              <a:ext uri="{FF2B5EF4-FFF2-40B4-BE49-F238E27FC236}">
                <a16:creationId xmlns:a16="http://schemas.microsoft.com/office/drawing/2014/main" id="{53955CE2-8965-476C-A4C0-7CF38C60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190625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觀察教師如何選材料、修改提問、決定是否採用。</a:t>
            </a:r>
          </a:p>
        </p:txBody>
      </p:sp>
      <p:sp>
        <p:nvSpPr>
          <p:cNvPr id="8" name="slide-10-text-8">
            <a:extLst xmlns:a="http://schemas.openxmlformats.org/drawingml/2006/main">
              <a:ext uri="{FF2B5EF4-FFF2-40B4-BE49-F238E27FC236}">
                <a16:creationId xmlns:a16="http://schemas.microsoft.com/office/drawing/2014/main" id="{2D6A63DF-0E83-4306-BB34-CCEA2B85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19062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先取得能支持下一步投入的資訊，</a:t>
            </a:r>
          </a:p>
        </p:txBody>
      </p:sp>
      <p:sp>
        <p:nvSpPr>
          <p:cNvPr id="9" name="slide-10-text-9">
            <a:extLst xmlns:a="http://schemas.openxmlformats.org/drawingml/2006/main">
              <a:ext uri="{FF2B5EF4-FFF2-40B4-BE49-F238E27FC236}">
                <a16:creationId xmlns:a16="http://schemas.microsoft.com/office/drawing/2014/main" id="{7C9CAF3C-E6CF-46F2-A6BD-493FFD64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92115"/>
            <a:ext cx="119062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再決定是否擴展到更多教材與使用者。</a:t>
            </a:r>
          </a:p>
        </p:txBody>
      </p:sp>
      <p:sp>
        <p:nvSpPr>
          <p:cNvPr id="10" name="slide-10-text-10">
            <a:extLst xmlns:a="http://schemas.openxmlformats.org/drawingml/2006/main">
              <a:ext uri="{FF2B5EF4-FFF2-40B4-BE49-F238E27FC236}">
                <a16:creationId xmlns:a16="http://schemas.microsoft.com/office/drawing/2014/main" id="{7445288D-7237-4A9A-A148-A798B576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試用可以發現問題。單次正面回饋仍不足以證明普遍效果。</a:t>
            </a:r>
          </a:p>
        </p:txBody>
      </p:sp>
    </p:spTree>
    <p:extLst>
      <p:ext uri="{BB962C8B-B14F-4D97-AF65-F5344CB8AC3E}">
        <p14:creationId xmlns:p14="http://schemas.microsoft.com/office/powerpoint/2010/main" val="1575168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11-text-1">
            <a:extLst xmlns:a="http://schemas.openxmlformats.org/drawingml/2006/main">
              <a:ext uri="{FF2B5EF4-FFF2-40B4-BE49-F238E27FC236}">
                <a16:creationId xmlns:a16="http://schemas.microsoft.com/office/drawing/2014/main" id="{D8187671-EE61-4D20-9717-2EE17C75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02   證據與中文傳意</a:t>
            </a:r>
          </a:p>
        </p:txBody>
      </p:sp>
      <p:sp>
        <p:nvSpPr>
          <p:cNvPr id="2" name="slide-11-line-2">
            <a:extLst xmlns:a="http://schemas.openxmlformats.org/drawingml/2006/main">
              <a:ext uri="{FF2B5EF4-FFF2-40B4-BE49-F238E27FC236}">
                <a16:creationId xmlns:a16="http://schemas.microsoft.com/office/drawing/2014/main" id="{F8AFDC33-F2C9-49F0-8612-BFBA6BB8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11-text-3">
            <a:extLst xmlns:a="http://schemas.openxmlformats.org/drawingml/2006/main">
              <a:ext uri="{FF2B5EF4-FFF2-40B4-BE49-F238E27FC236}">
                <a16:creationId xmlns:a16="http://schemas.microsoft.com/office/drawing/2014/main" id="{B33FDA8E-DEB7-4868-9188-728AEBFE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4" name="slide-11-text-4">
            <a:extLst xmlns:a="http://schemas.openxmlformats.org/drawingml/2006/main">
              <a:ext uri="{FF2B5EF4-FFF2-40B4-BE49-F238E27FC236}">
                <a16:creationId xmlns:a16="http://schemas.microsoft.com/office/drawing/2014/main" id="{442AC879-A3A9-4C0F-86C3-3F881135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11 / 30</a:t>
            </a:r>
          </a:p>
        </p:txBody>
      </p:sp>
      <p:sp>
        <p:nvSpPr>
          <p:cNvPr id="5" name="slide-11-text-5">
            <a:extLst xmlns:a="http://schemas.openxmlformats.org/drawingml/2006/main">
              <a:ext uri="{FF2B5EF4-FFF2-40B4-BE49-F238E27FC236}">
                <a16:creationId xmlns:a16="http://schemas.microsoft.com/office/drawing/2014/main" id="{A4B7A361-C053-40D9-BAD3-D4CA7C6F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3143250" cy="1813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0" b="1">
                <a:solidFill>
                  <a:srgbClr val="B8C8FF"/>
                </a:solidFill>
                <a:latin typeface="PingFang TC"/>
                <a:ea typeface="PingFang TC"/>
                <a:cs typeface="PingFang TC"/>
              </a:defRPr>
            </a:pPr>
            <a:r>
              <a:rPr sz="10500" b="1">
                <a:solidFill>
                  <a:srgbClr val="B8C8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6" name="slide-11-text-6">
            <a:extLst xmlns:a="http://schemas.openxmlformats.org/drawingml/2006/main">
              <a:ext uri="{FF2B5EF4-FFF2-40B4-BE49-F238E27FC236}">
                <a16:creationId xmlns:a16="http://schemas.microsoft.com/office/drawing/2014/main" id="{547301B1-FD3E-471A-A4F6-A5557512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809625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一句話的承諾</a:t>
            </a:r>
          </a:p>
        </p:txBody>
      </p:sp>
      <p:sp>
        <p:nvSpPr>
          <p:cNvPr id="7" name="slide-11-text-7">
            <a:extLst xmlns:a="http://schemas.openxmlformats.org/drawingml/2006/main">
              <a:ext uri="{FF2B5EF4-FFF2-40B4-BE49-F238E27FC236}">
                <a16:creationId xmlns:a16="http://schemas.microsoft.com/office/drawing/2014/main" id="{DF073C28-F97B-4F71-9590-672005B4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14850"/>
            <a:ext cx="742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E1E8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E1E8FF"/>
                </a:solidFill>
                <a:latin typeface="PingFang TC"/>
                <a:ea typeface="PingFang TC"/>
                <a:cs typeface="PingFang TC"/>
              </a:rPr>
              <a:t>導讀完成之後，介紹它的語言會影響他人對效果的期待。</a:t>
            </a:r>
          </a:p>
        </p:txBody>
      </p:sp>
    </p:spTree>
    <p:extLst>
      <p:ext uri="{BB962C8B-B14F-4D97-AF65-F5344CB8AC3E}">
        <p14:creationId xmlns:p14="http://schemas.microsoft.com/office/powerpoint/2010/main" val="3588371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12-text-1">
            <a:extLst xmlns:a="http://schemas.openxmlformats.org/drawingml/2006/main">
              <a:ext uri="{FF2B5EF4-FFF2-40B4-BE49-F238E27FC236}">
                <a16:creationId xmlns:a16="http://schemas.microsoft.com/office/drawing/2014/main" id="{A49EB1C0-A8BF-4C49-940D-11B23C92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現場示範   證據與承諾</a:t>
            </a:r>
          </a:p>
        </p:txBody>
      </p:sp>
      <p:sp>
        <p:nvSpPr>
          <p:cNvPr id="2" name="slide-12-text-2">
            <a:extLst xmlns:a="http://schemas.openxmlformats.org/drawingml/2006/main">
              <a:ext uri="{FF2B5EF4-FFF2-40B4-BE49-F238E27FC236}">
                <a16:creationId xmlns:a16="http://schemas.microsoft.com/office/drawing/2014/main" id="{37F27987-1D21-4545-8F53-32E9230B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示範二：新資料要求重新判斷</a:t>
            </a:r>
          </a:p>
        </p:txBody>
      </p:sp>
      <p:sp>
        <p:nvSpPr>
          <p:cNvPr id="3" name="slide-12-line-3">
            <a:extLst xmlns:a="http://schemas.openxmlformats.org/drawingml/2006/main">
              <a:ext uri="{FF2B5EF4-FFF2-40B4-BE49-F238E27FC236}">
                <a16:creationId xmlns:a16="http://schemas.microsoft.com/office/drawing/2014/main" id="{9347EF9F-335E-423D-BBA8-BD24F9DC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12-text-4">
            <a:extLst xmlns:a="http://schemas.openxmlformats.org/drawingml/2006/main">
              <a:ext uri="{FF2B5EF4-FFF2-40B4-BE49-F238E27FC236}">
                <a16:creationId xmlns:a16="http://schemas.microsoft.com/office/drawing/2014/main" id="{16CF94D0-B6FC-421F-A1CE-E64696C1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12-text-5">
            <a:extLst xmlns:a="http://schemas.openxmlformats.org/drawingml/2006/main">
              <a:ext uri="{FF2B5EF4-FFF2-40B4-BE49-F238E27FC236}">
                <a16:creationId xmlns:a16="http://schemas.microsoft.com/office/drawing/2014/main" id="{663AB02B-9D88-4A6C-9919-28CD8AAD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12 / 30</a:t>
            </a:r>
          </a:p>
        </p:txBody>
      </p:sp>
      <p:sp>
        <p:nvSpPr>
          <p:cNvPr id="6" name="slide-12-text-6">
            <a:extLst xmlns:a="http://schemas.openxmlformats.org/drawingml/2006/main">
              <a:ext uri="{FF2B5EF4-FFF2-40B4-BE49-F238E27FC236}">
                <a16:creationId xmlns:a16="http://schemas.microsoft.com/office/drawing/2014/main" id="{D2D92718-8082-4ED5-9621-BE9F50C5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5238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待審主張</a:t>
            </a:r>
          </a:p>
        </p:txBody>
      </p:sp>
      <p:sp>
        <p:nvSpPr>
          <p:cNvPr id="7" name="slide-12-text-7">
            <a:extLst xmlns:a="http://schemas.openxmlformats.org/drawingml/2006/main">
              <a:ext uri="{FF2B5EF4-FFF2-40B4-BE49-F238E27FC236}">
                <a16:creationId xmlns:a16="http://schemas.microsoft.com/office/drawing/2014/main" id="{399E3937-4847-4EE7-A53E-A245E28C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7477125" cy="751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這份導讀能提升</a:t>
            </a:r>
          </a:p>
        </p:txBody>
      </p:sp>
      <p:sp>
        <p:nvSpPr>
          <p:cNvPr id="8" name="slide-12-text-8">
            <a:extLst xmlns:a="http://schemas.openxmlformats.org/drawingml/2006/main">
              <a:ext uri="{FF2B5EF4-FFF2-40B4-BE49-F238E27FC236}">
                <a16:creationId xmlns:a16="http://schemas.microsoft.com/office/drawing/2014/main" id="{F5EE1013-CEAD-4798-B881-11D0B895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9629"/>
            <a:ext cx="7477125" cy="751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學生的閱讀理解</a:t>
            </a:r>
          </a:p>
        </p:txBody>
      </p:sp>
      <p:sp>
        <p:nvSpPr>
          <p:cNvPr id="9" name="slide-12-line-9">
            <a:extLst xmlns:a="http://schemas.openxmlformats.org/drawingml/2006/main">
              <a:ext uri="{FF2B5EF4-FFF2-40B4-BE49-F238E27FC236}">
                <a16:creationId xmlns:a16="http://schemas.microsoft.com/office/drawing/2014/main" id="{38524EE4-E023-4D51-A61B-FA87789A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81275"/>
            <a:ext cx="0" cy="3076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10" name="slide-12-text-10">
            <a:extLst xmlns:a="http://schemas.openxmlformats.org/drawingml/2006/main">
              <a:ext uri="{FF2B5EF4-FFF2-40B4-BE49-F238E27FC236}">
                <a16:creationId xmlns:a16="http://schemas.microsoft.com/office/drawing/2014/main" id="{8E9ECD99-029C-4B6D-AC45-C0B638D8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38425"/>
            <a:ext cx="3333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構擬資料</a:t>
            </a:r>
          </a:p>
        </p:txBody>
      </p:sp>
      <p:sp>
        <p:nvSpPr>
          <p:cNvPr id="11" name="slide-12-text-11">
            <a:extLst xmlns:a="http://schemas.openxmlformats.org/drawingml/2006/main">
              <a:ext uri="{FF2B5EF4-FFF2-40B4-BE49-F238E27FC236}">
                <a16:creationId xmlns:a16="http://schemas.microsoft.com/office/drawing/2014/main" id="{B94DA93A-BA83-4123-B814-FE3C4957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71825"/>
            <a:ext cx="33337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教師認為整理較方便。</a:t>
            </a:r>
          </a:p>
        </p:txBody>
      </p:sp>
      <p:sp>
        <p:nvSpPr>
          <p:cNvPr id="12" name="slide-12-text-12">
            <a:extLst xmlns:a="http://schemas.openxmlformats.org/drawingml/2006/main">
              <a:ext uri="{FF2B5EF4-FFF2-40B4-BE49-F238E27FC236}">
                <a16:creationId xmlns:a16="http://schemas.microsoft.com/office/drawing/2014/main" id="{5A63ADBF-945C-4BAE-A799-BCEA9F49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64065"/>
            <a:ext cx="33337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尚未收集學生作答。</a:t>
            </a:r>
          </a:p>
        </p:txBody>
      </p:sp>
      <p:sp>
        <p:nvSpPr>
          <p:cNvPr id="13" name="slide-12-text-13">
            <a:extLst xmlns:a="http://schemas.openxmlformats.org/drawingml/2006/main">
              <a:ext uri="{FF2B5EF4-FFF2-40B4-BE49-F238E27FC236}">
                <a16:creationId xmlns:a16="http://schemas.microsoft.com/office/drawing/2014/main" id="{4ADA291A-7128-49C1-A68A-BAB69D8F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56304"/>
            <a:ext cx="33337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未作比較或後續追蹤。</a:t>
            </a:r>
          </a:p>
        </p:txBody>
      </p:sp>
      <p:sp>
        <p:nvSpPr>
          <p:cNvPr id="14" name="slide-12-text-14">
            <a:extLst xmlns:a="http://schemas.openxmlformats.org/drawingml/2006/main">
              <a:ext uri="{FF2B5EF4-FFF2-40B4-BE49-F238E27FC236}">
                <a16:creationId xmlns:a16="http://schemas.microsoft.com/office/drawing/2014/main" id="{BC5DC5EF-960D-4D76-97ED-92F64811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構擬回饋與待審主張。演示檢查推論，不展示教學成效。</a:t>
            </a:r>
          </a:p>
        </p:txBody>
      </p:sp>
    </p:spTree>
    <p:extLst>
      <p:ext uri="{BB962C8B-B14F-4D97-AF65-F5344CB8AC3E}">
        <p14:creationId xmlns:p14="http://schemas.microsoft.com/office/powerpoint/2010/main" val="4986393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13-text-1">
            <a:extLst xmlns:a="http://schemas.openxmlformats.org/drawingml/2006/main">
              <a:ext uri="{FF2B5EF4-FFF2-40B4-BE49-F238E27FC236}">
                <a16:creationId xmlns:a16="http://schemas.microsoft.com/office/drawing/2014/main" id="{6FC567DC-88B8-40A9-B076-EDFE3E9E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示範二   離線修訂稿</a:t>
            </a:r>
          </a:p>
        </p:txBody>
      </p:sp>
      <p:sp>
        <p:nvSpPr>
          <p:cNvPr id="2" name="slide-13-text-2">
            <a:extLst xmlns:a="http://schemas.openxmlformats.org/drawingml/2006/main">
              <a:ext uri="{FF2B5EF4-FFF2-40B4-BE49-F238E27FC236}">
                <a16:creationId xmlns:a16="http://schemas.microsoft.com/office/drawing/2014/main" id="{D33CCF21-9AFD-4659-9D60-1D82CFA8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方便備課，尚不能推出學習提升</a:t>
            </a:r>
          </a:p>
        </p:txBody>
      </p:sp>
      <p:sp>
        <p:nvSpPr>
          <p:cNvPr id="3" name="slide-13-line-3">
            <a:extLst xmlns:a="http://schemas.openxmlformats.org/drawingml/2006/main">
              <a:ext uri="{FF2B5EF4-FFF2-40B4-BE49-F238E27FC236}">
                <a16:creationId xmlns:a16="http://schemas.microsoft.com/office/drawing/2014/main" id="{2BB272E3-6A76-4000-888D-B97F785C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13-text-4">
            <a:extLst xmlns:a="http://schemas.openxmlformats.org/drawingml/2006/main">
              <a:ext uri="{FF2B5EF4-FFF2-40B4-BE49-F238E27FC236}">
                <a16:creationId xmlns:a16="http://schemas.microsoft.com/office/drawing/2014/main" id="{D38312EB-DFB4-4157-9D2E-FA9AB3EA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13-text-5">
            <a:extLst xmlns:a="http://schemas.openxmlformats.org/drawingml/2006/main">
              <a:ext uri="{FF2B5EF4-FFF2-40B4-BE49-F238E27FC236}">
                <a16:creationId xmlns:a16="http://schemas.microsoft.com/office/drawing/2014/main" id="{A08BDF53-8283-4EE9-96AA-BC675EFC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13 / 30</a:t>
            </a:r>
          </a:p>
        </p:txBody>
      </p:sp>
      <p:sp>
        <p:nvSpPr>
          <p:cNvPr id="6" name="slide-13-text-6">
            <a:extLst xmlns:a="http://schemas.openxmlformats.org/drawingml/2006/main">
              <a:ext uri="{FF2B5EF4-FFF2-40B4-BE49-F238E27FC236}">
                <a16:creationId xmlns:a16="http://schemas.microsoft.com/office/drawing/2014/main" id="{FA819B5A-F3C2-40CB-9343-5840A4A2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5238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根據現有資料可以說明</a:t>
            </a:r>
          </a:p>
        </p:txBody>
      </p:sp>
      <p:sp>
        <p:nvSpPr>
          <p:cNvPr id="7" name="slide-13-text-7">
            <a:extLst xmlns:a="http://schemas.openxmlformats.org/drawingml/2006/main">
              <a:ext uri="{FF2B5EF4-FFF2-40B4-BE49-F238E27FC236}">
                <a16:creationId xmlns:a16="http://schemas.microsoft.com/office/drawing/2014/main" id="{E7257FA1-C6A2-4DDA-825F-4A6D5576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20015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這份導讀可供教師備課時參考。</a:t>
            </a:r>
          </a:p>
        </p:txBody>
      </p:sp>
      <p:sp>
        <p:nvSpPr>
          <p:cNvPr id="8" name="slide-13-text-8">
            <a:extLst xmlns:a="http://schemas.openxmlformats.org/drawingml/2006/main">
              <a:ext uri="{FF2B5EF4-FFF2-40B4-BE49-F238E27FC236}">
                <a16:creationId xmlns:a16="http://schemas.microsoft.com/office/drawing/2014/main" id="{CAA7BEB7-009B-46B0-A1E5-F71B8680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169"/>
            <a:ext cx="120015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構擬試用回饋提到整理材料較方便。</a:t>
            </a:r>
          </a:p>
        </p:txBody>
      </p:sp>
      <p:sp>
        <p:nvSpPr>
          <p:cNvPr id="9" name="slide-13-text-9">
            <a:extLst xmlns:a="http://schemas.openxmlformats.org/drawingml/2006/main">
              <a:ext uri="{FF2B5EF4-FFF2-40B4-BE49-F238E27FC236}">
                <a16:creationId xmlns:a16="http://schemas.microsoft.com/office/drawing/2014/main" id="{A52AD7D8-7A58-4B19-ABFF-C502273A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5238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仍待檢驗</a:t>
            </a:r>
          </a:p>
        </p:txBody>
      </p:sp>
      <p:sp>
        <p:nvSpPr>
          <p:cNvPr id="10" name="slide-13-text-10">
            <a:extLst xmlns:a="http://schemas.openxmlformats.org/drawingml/2006/main">
              <a:ext uri="{FF2B5EF4-FFF2-40B4-BE49-F238E27FC236}">
                <a16:creationId xmlns:a16="http://schemas.microsoft.com/office/drawing/2014/main" id="{2DBF517D-E183-40CC-9D46-BDE5EACF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12001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對學生閱讀理解的影響尚未評估。</a:t>
            </a:r>
          </a:p>
        </p:txBody>
      </p:sp>
      <p:sp>
        <p:nvSpPr>
          <p:cNvPr id="11" name="slide-13-text-11">
            <a:extLst xmlns:a="http://schemas.openxmlformats.org/drawingml/2006/main">
              <a:ext uri="{FF2B5EF4-FFF2-40B4-BE49-F238E27FC236}">
                <a16:creationId xmlns:a16="http://schemas.microsoft.com/office/drawing/2014/main" id="{078D8024-D301-4305-8FAB-80A16B66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966"/>
            <a:ext cx="12001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下一步需要觀察學生能否依據短文解釋自己的回答。</a:t>
            </a:r>
          </a:p>
        </p:txBody>
      </p:sp>
      <p:sp>
        <p:nvSpPr>
          <p:cNvPr id="12" name="slide-13-text-12">
            <a:extLst xmlns:a="http://schemas.openxmlformats.org/drawingml/2006/main">
              <a:ext uri="{FF2B5EF4-FFF2-40B4-BE49-F238E27FC236}">
                <a16:creationId xmlns:a16="http://schemas.microsoft.com/office/drawing/2014/main" id="{A5917F05-5915-4333-8CF2-C5E59E06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本講座預先準備的修訂示例，非研究發現或真實產品宣傳。</a:t>
            </a:r>
          </a:p>
        </p:txBody>
      </p:sp>
    </p:spTree>
    <p:extLst>
      <p:ext uri="{BB962C8B-B14F-4D97-AF65-F5344CB8AC3E}">
        <p14:creationId xmlns:p14="http://schemas.microsoft.com/office/powerpoint/2010/main" val="16566184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14-text-1">
            <a:extLst xmlns:a="http://schemas.openxmlformats.org/drawingml/2006/main">
              <a:ext uri="{FF2B5EF4-FFF2-40B4-BE49-F238E27FC236}">
                <a16:creationId xmlns:a16="http://schemas.microsoft.com/office/drawing/2014/main" id="{1C84F953-8851-4746-8902-FAB8F6FB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同一案例   表達中的判斷</a:t>
            </a:r>
          </a:p>
        </p:txBody>
      </p:sp>
      <p:sp>
        <p:nvSpPr>
          <p:cNvPr id="2" name="slide-14-text-2">
            <a:extLst xmlns:a="http://schemas.openxmlformats.org/drawingml/2006/main">
              <a:ext uri="{FF2B5EF4-FFF2-40B4-BE49-F238E27FC236}">
                <a16:creationId xmlns:a16="http://schemas.microsoft.com/office/drawing/2014/main" id="{29EE75A1-E437-4040-8FCB-F38DA6E4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幾個中文詞語，界定了證據的範圍</a:t>
            </a:r>
          </a:p>
        </p:txBody>
      </p:sp>
      <p:sp>
        <p:nvSpPr>
          <p:cNvPr id="3" name="slide-14-line-3">
            <a:extLst xmlns:a="http://schemas.openxmlformats.org/drawingml/2006/main">
              <a:ext uri="{FF2B5EF4-FFF2-40B4-BE49-F238E27FC236}">
                <a16:creationId xmlns:a16="http://schemas.microsoft.com/office/drawing/2014/main" id="{387779F4-CA57-4D25-A292-4159F005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14-text-4">
            <a:extLst xmlns:a="http://schemas.openxmlformats.org/drawingml/2006/main">
              <a:ext uri="{FF2B5EF4-FFF2-40B4-BE49-F238E27FC236}">
                <a16:creationId xmlns:a16="http://schemas.microsoft.com/office/drawing/2014/main" id="{8E1B0D4E-AAAF-4F21-B979-90F6F5E3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14-text-5">
            <a:extLst xmlns:a="http://schemas.openxmlformats.org/drawingml/2006/main">
              <a:ext uri="{FF2B5EF4-FFF2-40B4-BE49-F238E27FC236}">
                <a16:creationId xmlns:a16="http://schemas.microsoft.com/office/drawing/2014/main" id="{29A66916-D855-4B4B-A9B4-574C96D8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14 / 30</a:t>
            </a:r>
          </a:p>
        </p:txBody>
      </p:sp>
      <p:sp>
        <p:nvSpPr>
          <p:cNvPr id="6" name="slide-14-text-6">
            <a:extLst xmlns:a="http://schemas.openxmlformats.org/drawingml/2006/main">
              <a:ext uri="{FF2B5EF4-FFF2-40B4-BE49-F238E27FC236}">
                <a16:creationId xmlns:a16="http://schemas.microsoft.com/office/drawing/2014/main" id="{D3552512-8034-4CD4-9D41-34474565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047875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誰的觀察</a:t>
            </a:r>
          </a:p>
        </p:txBody>
      </p:sp>
      <p:sp>
        <p:nvSpPr>
          <p:cNvPr id="7" name="slide-14-text-7">
            <a:extLst xmlns:a="http://schemas.openxmlformats.org/drawingml/2006/main">
              <a:ext uri="{FF2B5EF4-FFF2-40B4-BE49-F238E27FC236}">
                <a16:creationId xmlns:a16="http://schemas.microsoft.com/office/drawing/2014/main" id="{E50ECDF4-E121-435D-80A4-6B3719AA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67000"/>
            <a:ext cx="5572125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教師認為</a:t>
            </a:r>
          </a:p>
        </p:txBody>
      </p:sp>
      <p:sp>
        <p:nvSpPr>
          <p:cNvPr id="8" name="slide-14-text-8">
            <a:extLst xmlns:a="http://schemas.openxmlformats.org/drawingml/2006/main">
              <a:ext uri="{FF2B5EF4-FFF2-40B4-BE49-F238E27FC236}">
                <a16:creationId xmlns:a16="http://schemas.microsoft.com/office/drawing/2014/main" id="{CA370F73-9EFD-4540-A146-603D7E8A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43200"/>
            <a:ext cx="34290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主觀回饋的來源</a:t>
            </a:r>
          </a:p>
        </p:txBody>
      </p:sp>
      <p:sp>
        <p:nvSpPr>
          <p:cNvPr id="9" name="slide-14-line-9">
            <a:extLst xmlns:a="http://schemas.openxmlformats.org/drawingml/2006/main">
              <a:ext uri="{FF2B5EF4-FFF2-40B4-BE49-F238E27FC236}">
                <a16:creationId xmlns:a16="http://schemas.microsoft.com/office/drawing/2014/main" id="{4BD727A6-31F0-42B1-AE6A-C78B3E44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0" name="slide-14-text-10">
            <a:extLst xmlns:a="http://schemas.openxmlformats.org/drawingml/2006/main">
              <a:ext uri="{FF2B5EF4-FFF2-40B4-BE49-F238E27FC236}">
                <a16:creationId xmlns:a16="http://schemas.microsoft.com/office/drawing/2014/main" id="{7D80E1BD-9E4D-451F-BDE0-FDFB1317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2047875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在哪個範圍</a:t>
            </a:r>
          </a:p>
        </p:txBody>
      </p:sp>
      <p:sp>
        <p:nvSpPr>
          <p:cNvPr id="11" name="slide-14-text-11">
            <a:extLst xmlns:a="http://schemas.openxmlformats.org/drawingml/2006/main">
              <a:ext uri="{FF2B5EF4-FFF2-40B4-BE49-F238E27FC236}">
                <a16:creationId xmlns:a16="http://schemas.microsoft.com/office/drawing/2014/main" id="{3811015B-6FF5-4C5E-A1FE-65840AB2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00475"/>
            <a:ext cx="5572125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整理材料較方便</a:t>
            </a:r>
          </a:p>
        </p:txBody>
      </p:sp>
      <p:sp>
        <p:nvSpPr>
          <p:cNvPr id="12" name="slide-14-text-12">
            <a:extLst xmlns:a="http://schemas.openxmlformats.org/drawingml/2006/main">
              <a:ext uri="{FF2B5EF4-FFF2-40B4-BE49-F238E27FC236}">
                <a16:creationId xmlns:a16="http://schemas.microsoft.com/office/drawing/2014/main" id="{82844FD8-717D-4C8A-981E-FFCFE39D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76675"/>
            <a:ext cx="34290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指向備課工作</a:t>
            </a:r>
          </a:p>
        </p:txBody>
      </p:sp>
      <p:sp>
        <p:nvSpPr>
          <p:cNvPr id="13" name="slide-14-line-13">
            <a:extLst xmlns:a="http://schemas.openxmlformats.org/drawingml/2006/main">
              <a:ext uri="{FF2B5EF4-FFF2-40B4-BE49-F238E27FC236}">
                <a16:creationId xmlns:a16="http://schemas.microsoft.com/office/drawing/2014/main" id="{200EA7D0-FE38-42C7-986E-4C98D3CE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4" name="slide-14-text-14">
            <a:extLst xmlns:a="http://schemas.openxmlformats.org/drawingml/2006/main">
              <a:ext uri="{FF2B5EF4-FFF2-40B4-BE49-F238E27FC236}">
                <a16:creationId xmlns:a16="http://schemas.microsoft.com/office/drawing/2014/main" id="{575C843E-BEA3-4AD4-8A5A-7ECB5A72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2047875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哪些仍未知</a:t>
            </a:r>
          </a:p>
        </p:txBody>
      </p:sp>
      <p:sp>
        <p:nvSpPr>
          <p:cNvPr id="15" name="slide-14-text-15">
            <a:extLst xmlns:a="http://schemas.openxmlformats.org/drawingml/2006/main">
              <a:ext uri="{FF2B5EF4-FFF2-40B4-BE49-F238E27FC236}">
                <a16:creationId xmlns:a16="http://schemas.microsoft.com/office/drawing/2014/main" id="{A1A41540-0B4B-4C38-B77A-DF05878E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33950"/>
            <a:ext cx="5572125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尚未評估</a:t>
            </a:r>
          </a:p>
        </p:txBody>
      </p:sp>
      <p:sp>
        <p:nvSpPr>
          <p:cNvPr id="16" name="slide-14-text-16">
            <a:extLst xmlns:a="http://schemas.openxmlformats.org/drawingml/2006/main">
              <a:ext uri="{FF2B5EF4-FFF2-40B4-BE49-F238E27FC236}">
                <a16:creationId xmlns:a16="http://schemas.microsoft.com/office/drawing/2014/main" id="{CCF59C1B-99DC-4FB6-BA9A-7ADEEFE2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10150"/>
            <a:ext cx="34290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不能宣稱學習提升</a:t>
            </a:r>
          </a:p>
        </p:txBody>
      </p:sp>
      <p:sp>
        <p:nvSpPr>
          <p:cNvPr id="17" name="slide-14-line-17">
            <a:extLst xmlns:a="http://schemas.openxmlformats.org/drawingml/2006/main">
              <a:ext uri="{FF2B5EF4-FFF2-40B4-BE49-F238E27FC236}">
                <a16:creationId xmlns:a16="http://schemas.microsoft.com/office/drawing/2014/main" id="{E4A87F06-819D-4B3D-B09F-A180FB3A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181729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15-text-1">
            <a:extLst xmlns:a="http://schemas.openxmlformats.org/drawingml/2006/main">
              <a:ext uri="{FF2B5EF4-FFF2-40B4-BE49-F238E27FC236}">
                <a16:creationId xmlns:a16="http://schemas.microsoft.com/office/drawing/2014/main" id="{FBA6EC3C-4DF6-44C6-B709-1A4611E7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同一案例   判斷的基礎</a:t>
            </a:r>
          </a:p>
        </p:txBody>
      </p:sp>
      <p:sp>
        <p:nvSpPr>
          <p:cNvPr id="2" name="slide-15-text-2">
            <a:extLst xmlns:a="http://schemas.openxmlformats.org/drawingml/2006/main">
              <a:ext uri="{FF2B5EF4-FFF2-40B4-BE49-F238E27FC236}">
                <a16:creationId xmlns:a16="http://schemas.microsoft.com/office/drawing/2014/main" id="{1116B0D5-8FE1-4CC4-B4DF-09421359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專業知識決定該追問甚麼</a:t>
            </a:r>
          </a:p>
        </p:txBody>
      </p:sp>
      <p:sp>
        <p:nvSpPr>
          <p:cNvPr id="3" name="slide-15-line-3">
            <a:extLst xmlns:a="http://schemas.openxmlformats.org/drawingml/2006/main">
              <a:ext uri="{FF2B5EF4-FFF2-40B4-BE49-F238E27FC236}">
                <a16:creationId xmlns:a16="http://schemas.microsoft.com/office/drawing/2014/main" id="{60584904-52F8-47D3-8F5F-939FF37C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15-text-4">
            <a:extLst xmlns:a="http://schemas.openxmlformats.org/drawingml/2006/main">
              <a:ext uri="{FF2B5EF4-FFF2-40B4-BE49-F238E27FC236}">
                <a16:creationId xmlns:a16="http://schemas.microsoft.com/office/drawing/2014/main" id="{24B1684D-70B6-40ED-9E6A-BEF833DC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15-text-5">
            <a:extLst xmlns:a="http://schemas.openxmlformats.org/drawingml/2006/main">
              <a:ext uri="{FF2B5EF4-FFF2-40B4-BE49-F238E27FC236}">
                <a16:creationId xmlns:a16="http://schemas.microsoft.com/office/drawing/2014/main" id="{980C8C66-59A2-4F63-96CC-9186D234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15 / 30</a:t>
            </a:r>
          </a:p>
        </p:txBody>
      </p:sp>
      <p:sp>
        <p:nvSpPr>
          <p:cNvPr id="6" name="slide-15-text-6">
            <a:extLst xmlns:a="http://schemas.openxmlformats.org/drawingml/2006/main">
              <a:ext uri="{FF2B5EF4-FFF2-40B4-BE49-F238E27FC236}">
                <a16:creationId xmlns:a16="http://schemas.microsoft.com/office/drawing/2014/main" id="{47817117-0040-4FD0-A544-0AF1F7DA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1190625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「效果」指的是甚麼？</a:t>
            </a:r>
          </a:p>
        </p:txBody>
      </p:sp>
      <p:sp>
        <p:nvSpPr>
          <p:cNvPr id="7" name="slide-15-text-7">
            <a:extLst xmlns:a="http://schemas.openxmlformats.org/drawingml/2006/main">
              <a:ext uri="{FF2B5EF4-FFF2-40B4-BE49-F238E27FC236}">
                <a16:creationId xmlns:a16="http://schemas.microsoft.com/office/drawing/2014/main" id="{7011A802-0A02-4497-9A6F-42673B0E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119062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教育：方便備課，與學生理解是不同結果。</a:t>
            </a:r>
          </a:p>
        </p:txBody>
      </p:sp>
      <p:sp>
        <p:nvSpPr>
          <p:cNvPr id="8" name="slide-15-text-8">
            <a:extLst xmlns:a="http://schemas.openxmlformats.org/drawingml/2006/main">
              <a:ext uri="{FF2B5EF4-FFF2-40B4-BE49-F238E27FC236}">
                <a16:creationId xmlns:a16="http://schemas.microsoft.com/office/drawing/2014/main" id="{533CAF03-A310-49DF-A7BE-BE744955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0466"/>
            <a:ext cx="119062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商業：表示喜歡，與願意持續使用是不同證據。</a:t>
            </a:r>
          </a:p>
        </p:txBody>
      </p:sp>
      <p:sp>
        <p:nvSpPr>
          <p:cNvPr id="9" name="slide-15-text-9">
            <a:extLst xmlns:a="http://schemas.openxmlformats.org/drawingml/2006/main">
              <a:ext uri="{FF2B5EF4-FFF2-40B4-BE49-F238E27FC236}">
                <a16:creationId xmlns:a16="http://schemas.microsoft.com/office/drawing/2014/main" id="{AF7EC303-FDAD-43F5-A3EA-DC3E04EC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23282"/>
            <a:ext cx="119062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科學：同時出現的變化，仍需檢查因果解釋。</a:t>
            </a:r>
          </a:p>
        </p:txBody>
      </p:sp>
      <p:sp>
        <p:nvSpPr>
          <p:cNvPr id="10" name="slide-15-text-10">
            <a:extLst xmlns:a="http://schemas.openxmlformats.org/drawingml/2006/main">
              <a:ext uri="{FF2B5EF4-FFF2-40B4-BE49-F238E27FC236}">
                <a16:creationId xmlns:a16="http://schemas.microsoft.com/office/drawing/2014/main" id="{4F8F73F6-60BD-400B-9E13-DBDA284F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跨學科類比。各領域需依其專業標準判斷。</a:t>
            </a:r>
          </a:p>
        </p:txBody>
      </p:sp>
    </p:spTree>
    <p:extLst>
      <p:ext uri="{BB962C8B-B14F-4D97-AF65-F5344CB8AC3E}">
        <p14:creationId xmlns:p14="http://schemas.microsoft.com/office/powerpoint/2010/main" val="10926376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16-text-1">
            <a:extLst xmlns:a="http://schemas.openxmlformats.org/drawingml/2006/main">
              <a:ext uri="{FF2B5EF4-FFF2-40B4-BE49-F238E27FC236}">
                <a16:creationId xmlns:a16="http://schemas.microsoft.com/office/drawing/2014/main" id="{447CBC6F-BCD0-4117-B362-1E9E8F9E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同一案例   協調共同理解</a:t>
            </a:r>
          </a:p>
        </p:txBody>
      </p:sp>
      <p:sp>
        <p:nvSpPr>
          <p:cNvPr id="2" name="slide-16-text-2">
            <a:extLst xmlns:a="http://schemas.openxmlformats.org/drawingml/2006/main">
              <a:ext uri="{FF2B5EF4-FFF2-40B4-BE49-F238E27FC236}">
                <a16:creationId xmlns:a16="http://schemas.microsoft.com/office/drawing/2014/main" id="{5051867C-02F0-48F5-A128-1C6EF827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不同角色，需要不同的說明</a:t>
            </a:r>
          </a:p>
        </p:txBody>
      </p:sp>
      <p:sp>
        <p:nvSpPr>
          <p:cNvPr id="3" name="slide-16-line-3">
            <a:extLst xmlns:a="http://schemas.openxmlformats.org/drawingml/2006/main">
              <a:ext uri="{FF2B5EF4-FFF2-40B4-BE49-F238E27FC236}">
                <a16:creationId xmlns:a16="http://schemas.microsoft.com/office/drawing/2014/main" id="{E970B432-86A4-4198-A80A-3D35A910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16-text-4">
            <a:extLst xmlns:a="http://schemas.openxmlformats.org/drawingml/2006/main">
              <a:ext uri="{FF2B5EF4-FFF2-40B4-BE49-F238E27FC236}">
                <a16:creationId xmlns:a16="http://schemas.microsoft.com/office/drawing/2014/main" id="{38ECCCE9-60EA-4B98-B660-BC2C9352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16-text-5">
            <a:extLst xmlns:a="http://schemas.openxmlformats.org/drawingml/2006/main">
              <a:ext uri="{FF2B5EF4-FFF2-40B4-BE49-F238E27FC236}">
                <a16:creationId xmlns:a16="http://schemas.microsoft.com/office/drawing/2014/main" id="{C651FE32-C0F6-4EED-BA1E-F4C1B889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16 / 30</a:t>
            </a:r>
          </a:p>
        </p:txBody>
      </p:sp>
      <p:sp>
        <p:nvSpPr>
          <p:cNvPr id="6" name="slide-16-text-6">
            <a:extLst xmlns:a="http://schemas.openxmlformats.org/drawingml/2006/main">
              <a:ext uri="{FF2B5EF4-FFF2-40B4-BE49-F238E27FC236}">
                <a16:creationId xmlns:a16="http://schemas.microsoft.com/office/drawing/2014/main" id="{8C79A672-DB4D-440B-B0D7-471C5D70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對教師</a:t>
            </a:r>
          </a:p>
        </p:txBody>
      </p:sp>
      <p:sp>
        <p:nvSpPr>
          <p:cNvPr id="7" name="slide-16-line-7">
            <a:extLst xmlns:a="http://schemas.openxmlformats.org/drawingml/2006/main">
              <a:ext uri="{FF2B5EF4-FFF2-40B4-BE49-F238E27FC236}">
                <a16:creationId xmlns:a16="http://schemas.microsoft.com/office/drawing/2014/main" id="{0C9D2D68-24EB-47F6-961D-C2B94CC4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8" name="slide-16-text-8">
            <a:extLst xmlns:a="http://schemas.openxmlformats.org/drawingml/2006/main">
              <a:ext uri="{FF2B5EF4-FFF2-40B4-BE49-F238E27FC236}">
                <a16:creationId xmlns:a16="http://schemas.microsoft.com/office/drawing/2014/main" id="{BC9476D2-1CB1-48A0-A895-C14AE61B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說明如何使用</a:t>
            </a:r>
          </a:p>
        </p:txBody>
      </p:sp>
      <p:sp>
        <p:nvSpPr>
          <p:cNvPr id="9" name="slide-16-text-9">
            <a:extLst xmlns:a="http://schemas.openxmlformats.org/drawingml/2006/main">
              <a:ext uri="{FF2B5EF4-FFF2-40B4-BE49-F238E27FC236}">
                <a16:creationId xmlns:a16="http://schemas.microsoft.com/office/drawing/2014/main" id="{7B89DEEB-7BF9-46C6-874B-41F18296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適用的學生與課文。</a:t>
            </a:r>
          </a:p>
        </p:txBody>
      </p:sp>
      <p:sp>
        <p:nvSpPr>
          <p:cNvPr id="10" name="slide-16-text-10">
            <a:extLst xmlns:a="http://schemas.openxmlformats.org/drawingml/2006/main">
              <a:ext uri="{FF2B5EF4-FFF2-40B4-BE49-F238E27FC236}">
                <a16:creationId xmlns:a16="http://schemas.microsoft.com/office/drawing/2014/main" id="{10EDDB76-E58F-488F-BA28-6C72D1DA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需要教師再作哪些調整。</a:t>
            </a:r>
          </a:p>
        </p:txBody>
      </p:sp>
      <p:sp>
        <p:nvSpPr>
          <p:cNvPr id="11" name="slide-16-text-11">
            <a:extLst xmlns:a="http://schemas.openxmlformats.org/drawingml/2006/main">
              <a:ext uri="{FF2B5EF4-FFF2-40B4-BE49-F238E27FC236}">
                <a16:creationId xmlns:a16="http://schemas.microsoft.com/office/drawing/2014/main" id="{8D80594C-75E9-4DD3-A359-53E498C6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對協作者</a:t>
            </a:r>
          </a:p>
        </p:txBody>
      </p:sp>
      <p:sp>
        <p:nvSpPr>
          <p:cNvPr id="12" name="slide-16-line-12">
            <a:extLst xmlns:a="http://schemas.openxmlformats.org/drawingml/2006/main">
              <a:ext uri="{FF2B5EF4-FFF2-40B4-BE49-F238E27FC236}">
                <a16:creationId xmlns:a16="http://schemas.microsoft.com/office/drawing/2014/main" id="{24B4F362-E9A3-4D2D-B0B9-979D6ED7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3" name="slide-16-text-13">
            <a:extLst xmlns:a="http://schemas.openxmlformats.org/drawingml/2006/main">
              <a:ext uri="{FF2B5EF4-FFF2-40B4-BE49-F238E27FC236}">
                <a16:creationId xmlns:a16="http://schemas.microsoft.com/office/drawing/2014/main" id="{6A9A9FB9-E137-4617-858C-AFBD47ED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說明如何製作</a:t>
            </a:r>
          </a:p>
        </p:txBody>
      </p:sp>
      <p:sp>
        <p:nvSpPr>
          <p:cNvPr id="14" name="slide-16-text-14">
            <a:extLst xmlns:a="http://schemas.openxmlformats.org/drawingml/2006/main">
              <a:ext uri="{FF2B5EF4-FFF2-40B4-BE49-F238E27FC236}">
                <a16:creationId xmlns:a16="http://schemas.microsoft.com/office/drawing/2014/main" id="{AD4F9757-368C-4B58-861E-28A17EE2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輸入材料、產出形式。</a:t>
            </a:r>
          </a:p>
        </p:txBody>
      </p:sp>
      <p:sp>
        <p:nvSpPr>
          <p:cNvPr id="15" name="slide-16-text-15">
            <a:extLst xmlns:a="http://schemas.openxmlformats.org/drawingml/2006/main">
              <a:ext uri="{FF2B5EF4-FFF2-40B4-BE49-F238E27FC236}">
                <a16:creationId xmlns:a16="http://schemas.microsoft.com/office/drawing/2014/main" id="{2CCCD2FB-F45C-4D4D-970B-676F9B6E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檢查依據與需要確認的地方。</a:t>
            </a:r>
          </a:p>
        </p:txBody>
      </p:sp>
      <p:sp>
        <p:nvSpPr>
          <p:cNvPr id="16" name="slide-16-text-16">
            <a:extLst xmlns:a="http://schemas.openxmlformats.org/drawingml/2006/main">
              <a:ext uri="{FF2B5EF4-FFF2-40B4-BE49-F238E27FC236}">
                <a16:creationId xmlns:a16="http://schemas.microsoft.com/office/drawing/2014/main" id="{70E49528-8BF4-4409-BFE3-5184B4D4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對負責人</a:t>
            </a:r>
          </a:p>
        </p:txBody>
      </p:sp>
      <p:sp>
        <p:nvSpPr>
          <p:cNvPr id="17" name="slide-16-line-17">
            <a:extLst xmlns:a="http://schemas.openxmlformats.org/drawingml/2006/main">
              <a:ext uri="{FF2B5EF4-FFF2-40B4-BE49-F238E27FC236}">
                <a16:creationId xmlns:a16="http://schemas.microsoft.com/office/drawing/2014/main" id="{F6CA493E-9A64-40AC-BDB8-950CD07E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8" name="slide-16-text-18">
            <a:extLst xmlns:a="http://schemas.openxmlformats.org/drawingml/2006/main">
              <a:ext uri="{FF2B5EF4-FFF2-40B4-BE49-F238E27FC236}">
                <a16:creationId xmlns:a16="http://schemas.microsoft.com/office/drawing/2014/main" id="{AAD0993E-7A07-41AE-AAB6-1C9E8958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說明承諾到哪裏</a:t>
            </a:r>
          </a:p>
        </p:txBody>
      </p:sp>
      <p:sp>
        <p:nvSpPr>
          <p:cNvPr id="19" name="slide-16-text-19">
            <a:extLst xmlns:a="http://schemas.openxmlformats.org/drawingml/2006/main">
              <a:ext uri="{FF2B5EF4-FFF2-40B4-BE49-F238E27FC236}">
                <a16:creationId xmlns:a16="http://schemas.microsoft.com/office/drawing/2014/main" id="{6FB6E5AF-95CE-4B13-8DF4-70A3F427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已完成的工作。</a:t>
            </a:r>
          </a:p>
        </p:txBody>
      </p:sp>
      <p:sp>
        <p:nvSpPr>
          <p:cNvPr id="20" name="slide-16-text-20">
            <a:extLst xmlns:a="http://schemas.openxmlformats.org/drawingml/2006/main">
              <a:ext uri="{FF2B5EF4-FFF2-40B4-BE49-F238E27FC236}">
                <a16:creationId xmlns:a16="http://schemas.microsoft.com/office/drawing/2014/main" id="{EF6D93DA-3028-455E-BB69-A4980812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未知、風險及下一步驗證。</a:t>
            </a:r>
          </a:p>
        </p:txBody>
      </p:sp>
      <p:sp>
        <p:nvSpPr>
          <p:cNvPr id="21" name="slide-16-text-21">
            <a:extLst xmlns:a="http://schemas.openxmlformats.org/drawingml/2006/main">
              <a:ext uri="{FF2B5EF4-FFF2-40B4-BE49-F238E27FC236}">
                <a16:creationId xmlns:a16="http://schemas.microsoft.com/office/drawing/2014/main" id="{DA72A523-0435-43C3-AF4F-7F2DC5F7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受眾改變，可以調整解釋方式。核心事實與承諾保持一致。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20817003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17-text-1">
            <a:extLst xmlns:a="http://schemas.openxmlformats.org/drawingml/2006/main">
              <a:ext uri="{FF2B5EF4-FFF2-40B4-BE49-F238E27FC236}">
                <a16:creationId xmlns:a16="http://schemas.microsoft.com/office/drawing/2014/main" id="{1EBDC733-C24B-46E2-8BCE-214B81D5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03   使用與責任</a:t>
            </a:r>
          </a:p>
        </p:txBody>
      </p:sp>
      <p:sp>
        <p:nvSpPr>
          <p:cNvPr id="2" name="slide-17-line-2">
            <a:extLst xmlns:a="http://schemas.openxmlformats.org/drawingml/2006/main">
              <a:ext uri="{FF2B5EF4-FFF2-40B4-BE49-F238E27FC236}">
                <a16:creationId xmlns:a16="http://schemas.microsoft.com/office/drawing/2014/main" id="{41F81857-C65A-42CB-9F87-34FD1C2F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17-text-3">
            <a:extLst xmlns:a="http://schemas.openxmlformats.org/drawingml/2006/main">
              <a:ext uri="{FF2B5EF4-FFF2-40B4-BE49-F238E27FC236}">
                <a16:creationId xmlns:a16="http://schemas.microsoft.com/office/drawing/2014/main" id="{5CFE7479-3A0E-4EC6-A369-9D5B4DF5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4" name="slide-17-text-4">
            <a:extLst xmlns:a="http://schemas.openxmlformats.org/drawingml/2006/main">
              <a:ext uri="{FF2B5EF4-FFF2-40B4-BE49-F238E27FC236}">
                <a16:creationId xmlns:a16="http://schemas.microsoft.com/office/drawing/2014/main" id="{63DFF1E0-BE1B-481F-B60E-EE098EB1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17 / 30</a:t>
            </a:r>
          </a:p>
        </p:txBody>
      </p:sp>
      <p:sp>
        <p:nvSpPr>
          <p:cNvPr id="5" name="slide-17-text-5">
            <a:extLst xmlns:a="http://schemas.openxmlformats.org/drawingml/2006/main">
              <a:ext uri="{FF2B5EF4-FFF2-40B4-BE49-F238E27FC236}">
                <a16:creationId xmlns:a16="http://schemas.microsoft.com/office/drawing/2014/main" id="{201AF715-8A92-4E8D-9EFF-4E9019E8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3143250" cy="1813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0" b="1">
                <a:solidFill>
                  <a:srgbClr val="B8C8FF"/>
                </a:solidFill>
                <a:latin typeface="PingFang TC"/>
                <a:ea typeface="PingFang TC"/>
                <a:cs typeface="PingFang TC"/>
              </a:defRPr>
            </a:pPr>
            <a:r>
              <a:rPr sz="10500" b="1">
                <a:solidFill>
                  <a:srgbClr val="B8C8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6" name="slide-17-text-6">
            <a:extLst xmlns:a="http://schemas.openxmlformats.org/drawingml/2006/main">
              <a:ext uri="{FF2B5EF4-FFF2-40B4-BE49-F238E27FC236}">
                <a16:creationId xmlns:a16="http://schemas.microsoft.com/office/drawing/2014/main" id="{13A8E7EC-95F0-4CAB-B454-FE2BAE4A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809625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交付後的工作</a:t>
            </a:r>
          </a:p>
        </p:txBody>
      </p:sp>
      <p:sp>
        <p:nvSpPr>
          <p:cNvPr id="7" name="slide-17-text-7">
            <a:extLst xmlns:a="http://schemas.openxmlformats.org/drawingml/2006/main">
              <a:ext uri="{FF2B5EF4-FFF2-40B4-BE49-F238E27FC236}">
                <a16:creationId xmlns:a16="http://schemas.microsoft.com/office/drawing/2014/main" id="{DBAD1FF9-4326-4F22-8551-36E34490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14850"/>
            <a:ext cx="742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E1E8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E1E8FF"/>
                </a:solidFill>
                <a:latin typeface="PingFang TC"/>
                <a:ea typeface="PingFang TC"/>
                <a:cs typeface="PingFang TC"/>
              </a:rPr>
              <a:t>材料送到教師手上之後，還需要處理使用、修訂與取捨。</a:t>
            </a:r>
          </a:p>
        </p:txBody>
      </p:sp>
    </p:spTree>
    <p:extLst>
      <p:ext uri="{BB962C8B-B14F-4D97-AF65-F5344CB8AC3E}">
        <p14:creationId xmlns:p14="http://schemas.microsoft.com/office/powerpoint/2010/main" val="3984005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18-text-1">
            <a:extLst xmlns:a="http://schemas.openxmlformats.org/drawingml/2006/main">
              <a:ext uri="{FF2B5EF4-FFF2-40B4-BE49-F238E27FC236}">
                <a16:creationId xmlns:a16="http://schemas.microsoft.com/office/drawing/2014/main" id="{69490A98-D5C5-46A3-B429-3045ED34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同一案例   驗收的對象</a:t>
            </a:r>
          </a:p>
        </p:txBody>
      </p:sp>
      <p:sp>
        <p:nvSpPr>
          <p:cNvPr id="2" name="slide-18-text-2">
            <a:extLst xmlns:a="http://schemas.openxmlformats.org/drawingml/2006/main">
              <a:ext uri="{FF2B5EF4-FFF2-40B4-BE49-F238E27FC236}">
                <a16:creationId xmlns:a16="http://schemas.microsoft.com/office/drawing/2014/main" id="{BB8DFB3A-A4EA-4F75-A401-77D0F8EB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完成、採用與效果，需要分別觀察</a:t>
            </a:r>
          </a:p>
        </p:txBody>
      </p:sp>
      <p:sp>
        <p:nvSpPr>
          <p:cNvPr id="3" name="slide-18-line-3">
            <a:extLst xmlns:a="http://schemas.openxmlformats.org/drawingml/2006/main">
              <a:ext uri="{FF2B5EF4-FFF2-40B4-BE49-F238E27FC236}">
                <a16:creationId xmlns:a16="http://schemas.microsoft.com/office/drawing/2014/main" id="{A41F9EE8-A03C-4FBC-82A1-9C5812C3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18-text-4">
            <a:extLst xmlns:a="http://schemas.openxmlformats.org/drawingml/2006/main">
              <a:ext uri="{FF2B5EF4-FFF2-40B4-BE49-F238E27FC236}">
                <a16:creationId xmlns:a16="http://schemas.microsoft.com/office/drawing/2014/main" id="{4CC88F56-33F9-452E-8AF5-970C3704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18-text-5">
            <a:extLst xmlns:a="http://schemas.openxmlformats.org/drawingml/2006/main">
              <a:ext uri="{FF2B5EF4-FFF2-40B4-BE49-F238E27FC236}">
                <a16:creationId xmlns:a16="http://schemas.microsoft.com/office/drawing/2014/main" id="{456CEF64-1CA6-4717-B0B5-087CC531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18 / 30</a:t>
            </a:r>
          </a:p>
        </p:txBody>
      </p:sp>
      <p:sp>
        <p:nvSpPr>
          <p:cNvPr id="6" name="slide-18-rect-6">
            <a:extLst xmlns:a="http://schemas.openxmlformats.org/drawingml/2006/main">
              <a:ext uri="{FF2B5EF4-FFF2-40B4-BE49-F238E27FC236}">
                <a16:creationId xmlns:a16="http://schemas.microsoft.com/office/drawing/2014/main" id="{F5949F7D-4DDB-4962-9BE1-5488F9C7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lide-18-text-7">
            <a:extLst xmlns:a="http://schemas.openxmlformats.org/drawingml/2006/main">
              <a:ext uri="{FF2B5EF4-FFF2-40B4-BE49-F238E27FC236}">
                <a16:creationId xmlns:a16="http://schemas.microsoft.com/office/drawing/2014/main" id="{4181DA9D-EC6F-411E-A962-08A87084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57475"/>
            <a:ext cx="2571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8" name="slide-18-text-8">
            <a:extLst xmlns:a="http://schemas.openxmlformats.org/drawingml/2006/main">
              <a:ext uri="{FF2B5EF4-FFF2-40B4-BE49-F238E27FC236}">
                <a16:creationId xmlns:a16="http://schemas.microsoft.com/office/drawing/2014/main" id="{EFB232E5-4D85-4934-95D7-465BBEC6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2619375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9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產物</a:t>
            </a:r>
          </a:p>
        </p:txBody>
      </p:sp>
      <p:sp>
        <p:nvSpPr>
          <p:cNvPr id="9" name="slide-18-text-9">
            <a:extLst xmlns:a="http://schemas.openxmlformats.org/drawingml/2006/main">
              <a:ext uri="{FF2B5EF4-FFF2-40B4-BE49-F238E27FC236}">
                <a16:creationId xmlns:a16="http://schemas.microsoft.com/office/drawing/2014/main" id="{17F5206E-6287-48E2-A94E-B9557345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2667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文件完整</a:t>
            </a:r>
          </a:p>
        </p:txBody>
      </p:sp>
      <p:sp>
        <p:nvSpPr>
          <p:cNvPr id="10" name="slide-18-rect-10">
            <a:extLst xmlns:a="http://schemas.openxmlformats.org/drawingml/2006/main">
              <a:ext uri="{FF2B5EF4-FFF2-40B4-BE49-F238E27FC236}">
                <a16:creationId xmlns:a16="http://schemas.microsoft.com/office/drawing/2014/main" id="{31938DB7-474C-461E-903F-7B7069B0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00050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lide-18-text-11">
            <a:extLst xmlns:a="http://schemas.openxmlformats.org/drawingml/2006/main">
              <a:ext uri="{FF2B5EF4-FFF2-40B4-BE49-F238E27FC236}">
                <a16:creationId xmlns:a16="http://schemas.microsoft.com/office/drawing/2014/main" id="{1AD31F04-7CFA-402B-BD20-F9585FAA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657475"/>
            <a:ext cx="2571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18-text-12">
            <a:extLst xmlns:a="http://schemas.openxmlformats.org/drawingml/2006/main">
              <a:ext uri="{FF2B5EF4-FFF2-40B4-BE49-F238E27FC236}">
                <a16:creationId xmlns:a16="http://schemas.microsoft.com/office/drawing/2014/main" id="{C85E99F5-2585-492E-A6EC-AA763B67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200400"/>
            <a:ext cx="2619375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9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可用</a:t>
            </a:r>
          </a:p>
        </p:txBody>
      </p:sp>
      <p:sp>
        <p:nvSpPr>
          <p:cNvPr id="13" name="slide-18-text-13">
            <a:extLst xmlns:a="http://schemas.openxmlformats.org/drawingml/2006/main">
              <a:ext uri="{FF2B5EF4-FFF2-40B4-BE49-F238E27FC236}">
                <a16:creationId xmlns:a16="http://schemas.microsoft.com/office/drawing/2014/main" id="{48168F43-7F82-478E-BDCE-AD69FF41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76750"/>
            <a:ext cx="2667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能讀取與修改</a:t>
            </a:r>
          </a:p>
        </p:txBody>
      </p:sp>
      <p:sp>
        <p:nvSpPr>
          <p:cNvPr id="14" name="slide-18-rect-14">
            <a:extLst xmlns:a="http://schemas.openxmlformats.org/drawingml/2006/main">
              <a:ext uri="{FF2B5EF4-FFF2-40B4-BE49-F238E27FC236}">
                <a16:creationId xmlns:a16="http://schemas.microsoft.com/office/drawing/2014/main" id="{5B4C80C9-8BC4-455D-AA56-D9C209BD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lide-18-text-15">
            <a:extLst xmlns:a="http://schemas.openxmlformats.org/drawingml/2006/main">
              <a:ext uri="{FF2B5EF4-FFF2-40B4-BE49-F238E27FC236}">
                <a16:creationId xmlns:a16="http://schemas.microsoft.com/office/drawing/2014/main" id="{AEF88161-78ED-4E35-A8CC-FE5F8CCE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57475"/>
            <a:ext cx="2571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6" name="slide-18-text-16">
            <a:extLst xmlns:a="http://schemas.openxmlformats.org/drawingml/2006/main">
              <a:ext uri="{FF2B5EF4-FFF2-40B4-BE49-F238E27FC236}">
                <a16:creationId xmlns:a16="http://schemas.microsoft.com/office/drawing/2014/main" id="{E0E2FCE8-7B35-4D6C-8E7C-1193A41A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00400"/>
            <a:ext cx="2619375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9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採用</a:t>
            </a:r>
          </a:p>
        </p:txBody>
      </p:sp>
      <p:sp>
        <p:nvSpPr>
          <p:cNvPr id="17" name="slide-18-text-17">
            <a:extLst xmlns:a="http://schemas.openxmlformats.org/drawingml/2006/main">
              <a:ext uri="{FF2B5EF4-FFF2-40B4-BE49-F238E27FC236}">
                <a16:creationId xmlns:a16="http://schemas.microsoft.com/office/drawing/2014/main" id="{5C615463-C96D-4F88-BAF0-1180209F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76750"/>
            <a:ext cx="2667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進入實際工作</a:t>
            </a:r>
          </a:p>
        </p:txBody>
      </p:sp>
      <p:sp>
        <p:nvSpPr>
          <p:cNvPr id="18" name="slide-18-rect-18">
            <a:extLst xmlns:a="http://schemas.openxmlformats.org/drawingml/2006/main">
              <a:ext uri="{FF2B5EF4-FFF2-40B4-BE49-F238E27FC236}">
                <a16:creationId xmlns:a16="http://schemas.microsoft.com/office/drawing/2014/main" id="{2F2F29D4-661A-49C6-9E56-578FF350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00050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lide-18-text-19">
            <a:extLst xmlns:a="http://schemas.openxmlformats.org/drawingml/2006/main">
              <a:ext uri="{FF2B5EF4-FFF2-40B4-BE49-F238E27FC236}">
                <a16:creationId xmlns:a16="http://schemas.microsoft.com/office/drawing/2014/main" id="{8B9CE2DC-A850-46FF-BAC2-90113EB4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657475"/>
            <a:ext cx="2571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0" name="slide-18-text-20">
            <a:extLst xmlns:a="http://schemas.openxmlformats.org/drawingml/2006/main">
              <a:ext uri="{FF2B5EF4-FFF2-40B4-BE49-F238E27FC236}">
                <a16:creationId xmlns:a16="http://schemas.microsoft.com/office/drawing/2014/main" id="{60AD0D70-F397-4A2B-8324-F32FE00F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200400"/>
            <a:ext cx="2619375" cy="505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9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效果</a:t>
            </a:r>
          </a:p>
        </p:txBody>
      </p:sp>
      <p:sp>
        <p:nvSpPr>
          <p:cNvPr id="21" name="slide-18-text-21">
            <a:extLst xmlns:a="http://schemas.openxmlformats.org/drawingml/2006/main">
              <a:ext uri="{FF2B5EF4-FFF2-40B4-BE49-F238E27FC236}">
                <a16:creationId xmlns:a16="http://schemas.microsoft.com/office/drawing/2014/main" id="{1E1AE593-4521-4624-A15C-91F67373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476750"/>
            <a:ext cx="2667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所需結果有證據</a:t>
            </a:r>
          </a:p>
        </p:txBody>
      </p:sp>
      <p:sp>
        <p:nvSpPr>
          <p:cNvPr id="22" name="slide-18-text-22">
            <a:extLst xmlns:a="http://schemas.openxmlformats.org/drawingml/2006/main">
              <a:ext uri="{FF2B5EF4-FFF2-40B4-BE49-F238E27FC236}">
                <a16:creationId xmlns:a16="http://schemas.microsoft.com/office/drawing/2014/main" id="{4368A3EA-6FF5-4116-A3A9-324B2F66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1190625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已確認的工作與結果，分別說明。</a:t>
            </a:r>
          </a:p>
        </p:txBody>
      </p:sp>
      <p:sp>
        <p:nvSpPr>
          <p:cNvPr id="23" name="slide-18-text-23">
            <a:extLst xmlns:a="http://schemas.openxmlformats.org/drawingml/2006/main">
              <a:ext uri="{FF2B5EF4-FFF2-40B4-BE49-F238E27FC236}">
                <a16:creationId xmlns:a16="http://schemas.microsoft.com/office/drawing/2014/main" id="{3F4489D2-6366-4C4B-9880-F65C52A1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641"/>
            <a:ext cx="1190625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其餘標示為待驗證。</a:t>
            </a:r>
          </a:p>
        </p:txBody>
      </p:sp>
      <p:sp>
        <p:nvSpPr>
          <p:cNvPr id="24" name="slide-18-text-24">
            <a:extLst xmlns:a="http://schemas.openxmlformats.org/drawingml/2006/main">
              <a:ext uri="{FF2B5EF4-FFF2-40B4-BE49-F238E27FC236}">
                <a16:creationId xmlns:a16="http://schemas.microsoft.com/office/drawing/2014/main" id="{DDFE7A12-1887-40B2-99D3-89028A6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概念示意，非實際轉換率或效果數據。</a:t>
            </a:r>
          </a:p>
        </p:txBody>
      </p:sp>
    </p:spTree>
    <p:extLst>
      <p:ext uri="{BB962C8B-B14F-4D97-AF65-F5344CB8AC3E}">
        <p14:creationId xmlns:p14="http://schemas.microsoft.com/office/powerpoint/2010/main" val="10262770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19-text-1">
            <a:extLst xmlns:a="http://schemas.openxmlformats.org/drawingml/2006/main">
              <a:ext uri="{FF2B5EF4-FFF2-40B4-BE49-F238E27FC236}">
                <a16:creationId xmlns:a16="http://schemas.microsoft.com/office/drawing/2014/main" id="{A8FC7F48-65BB-4085-A321-E86122DC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同一案例   構擬使用情境</a:t>
            </a:r>
          </a:p>
        </p:txBody>
      </p:sp>
      <p:sp>
        <p:nvSpPr>
          <p:cNvPr id="2" name="slide-19-text-2">
            <a:extLst xmlns:a="http://schemas.openxmlformats.org/drawingml/2006/main">
              <a:ext uri="{FF2B5EF4-FFF2-40B4-BE49-F238E27FC236}">
                <a16:creationId xmlns:a16="http://schemas.microsoft.com/office/drawing/2014/main" id="{D0BD8269-B7FA-4D01-AD3E-E5160C32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使用中的偏差，需要先查明原因</a:t>
            </a:r>
          </a:p>
        </p:txBody>
      </p:sp>
      <p:sp>
        <p:nvSpPr>
          <p:cNvPr id="3" name="slide-19-line-3">
            <a:extLst xmlns:a="http://schemas.openxmlformats.org/drawingml/2006/main">
              <a:ext uri="{FF2B5EF4-FFF2-40B4-BE49-F238E27FC236}">
                <a16:creationId xmlns:a16="http://schemas.microsoft.com/office/drawing/2014/main" id="{0493E9EF-BF58-4E41-A2B3-8816D2BD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19-text-4">
            <a:extLst xmlns:a="http://schemas.openxmlformats.org/drawingml/2006/main">
              <a:ext uri="{FF2B5EF4-FFF2-40B4-BE49-F238E27FC236}">
                <a16:creationId xmlns:a16="http://schemas.microsoft.com/office/drawing/2014/main" id="{ABD3DCB4-D71E-4A66-878D-142C4C35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19-text-5">
            <a:extLst xmlns:a="http://schemas.openxmlformats.org/drawingml/2006/main">
              <a:ext uri="{FF2B5EF4-FFF2-40B4-BE49-F238E27FC236}">
                <a16:creationId xmlns:a16="http://schemas.microsoft.com/office/drawing/2014/main" id="{0D362F3B-8598-45E1-83B9-716E7FAA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19 / 30</a:t>
            </a:r>
          </a:p>
        </p:txBody>
      </p:sp>
      <p:sp>
        <p:nvSpPr>
          <p:cNvPr id="6" name="slide-19-text-6">
            <a:extLst xmlns:a="http://schemas.openxmlformats.org/drawingml/2006/main">
              <a:ext uri="{FF2B5EF4-FFF2-40B4-BE49-F238E27FC236}">
                <a16:creationId xmlns:a16="http://schemas.microsoft.com/office/drawing/2014/main" id="{D7119557-D446-4B47-B2DE-06E5B9A8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1811000" cy="557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假設學生抄出原句，卻無法說明理由</a:t>
            </a:r>
          </a:p>
        </p:txBody>
      </p:sp>
      <p:sp>
        <p:nvSpPr>
          <p:cNvPr id="7" name="slide-19-line-7">
            <a:extLst xmlns:a="http://schemas.openxmlformats.org/drawingml/2006/main">
              <a:ext uri="{FF2B5EF4-FFF2-40B4-BE49-F238E27FC236}">
                <a16:creationId xmlns:a16="http://schemas.microsoft.com/office/drawing/2014/main" id="{5E229D1B-F6C5-4077-A321-A4412F78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004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8" name="slide-19-line-8">
            <a:extLst xmlns:a="http://schemas.openxmlformats.org/drawingml/2006/main">
              <a:ext uri="{FF2B5EF4-FFF2-40B4-BE49-F238E27FC236}">
                <a16:creationId xmlns:a16="http://schemas.microsoft.com/office/drawing/2014/main" id="{A6E7B038-ADD9-429D-B77A-69760C42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004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9" name="slide-19-line-9">
            <a:extLst xmlns:a="http://schemas.openxmlformats.org/drawingml/2006/main">
              <a:ext uri="{FF2B5EF4-FFF2-40B4-BE49-F238E27FC236}">
                <a16:creationId xmlns:a16="http://schemas.microsoft.com/office/drawing/2014/main" id="{43CAD0E2-6156-4B76-BAC0-4E7BDB88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004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0" name="slide-19-text-10">
            <a:extLst xmlns:a="http://schemas.openxmlformats.org/drawingml/2006/main">
              <a:ext uri="{FF2B5EF4-FFF2-40B4-BE49-F238E27FC236}">
                <a16:creationId xmlns:a16="http://schemas.microsoft.com/office/drawing/2014/main" id="{B316E47F-9A94-4551-9E15-8DFDDEEA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5238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先檢查任務</a:t>
            </a:r>
          </a:p>
        </p:txBody>
      </p:sp>
      <p:sp>
        <p:nvSpPr>
          <p:cNvPr id="11" name="slide-19-text-11">
            <a:extLst xmlns:a="http://schemas.openxmlformats.org/drawingml/2006/main">
              <a:ext uri="{FF2B5EF4-FFF2-40B4-BE49-F238E27FC236}">
                <a16:creationId xmlns:a16="http://schemas.microsoft.com/office/drawing/2014/main" id="{D2B522D9-4A1A-4E63-86DB-E491704D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5143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提問是否只要求找出語句？</a:t>
            </a:r>
          </a:p>
        </p:txBody>
      </p:sp>
      <p:sp>
        <p:nvSpPr>
          <p:cNvPr id="12" name="slide-19-text-12">
            <a:extLst xmlns:a="http://schemas.openxmlformats.org/drawingml/2006/main">
              <a:ext uri="{FF2B5EF4-FFF2-40B4-BE49-F238E27FC236}">
                <a16:creationId xmlns:a16="http://schemas.microsoft.com/office/drawing/2014/main" id="{F9559736-83DA-4327-BE4B-4D79C98C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991"/>
            <a:ext cx="5143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是否需要比較前後的變化？</a:t>
            </a:r>
          </a:p>
        </p:txBody>
      </p:sp>
      <p:sp>
        <p:nvSpPr>
          <p:cNvPr id="13" name="slide-19-text-13">
            <a:extLst xmlns:a="http://schemas.openxmlformats.org/drawingml/2006/main">
              <a:ext uri="{FF2B5EF4-FFF2-40B4-BE49-F238E27FC236}">
                <a16:creationId xmlns:a16="http://schemas.microsoft.com/office/drawing/2014/main" id="{BF6E1DDA-8836-4A85-BF4A-D8882962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05300"/>
            <a:ext cx="5238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再觀察理解</a:t>
            </a:r>
          </a:p>
        </p:txBody>
      </p:sp>
      <p:sp>
        <p:nvSpPr>
          <p:cNvPr id="14" name="slide-19-text-14">
            <a:extLst xmlns:a="http://schemas.openxmlformats.org/drawingml/2006/main">
              <a:ext uri="{FF2B5EF4-FFF2-40B4-BE49-F238E27FC236}">
                <a16:creationId xmlns:a16="http://schemas.microsoft.com/office/drawing/2014/main" id="{9ED0762D-C4CC-415D-A006-85F9FA89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38700"/>
            <a:ext cx="5143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學生能否說明哪裏發生變化？</a:t>
            </a:r>
          </a:p>
        </p:txBody>
      </p:sp>
      <p:sp>
        <p:nvSpPr>
          <p:cNvPr id="15" name="slide-19-text-15">
            <a:extLst xmlns:a="http://schemas.openxmlformats.org/drawingml/2006/main">
              <a:ext uri="{FF2B5EF4-FFF2-40B4-BE49-F238E27FC236}">
                <a16:creationId xmlns:a16="http://schemas.microsoft.com/office/drawing/2014/main" id="{FE4E2E3F-5E11-43A1-91C2-662D4D6E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57991"/>
            <a:ext cx="5143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能否區分原文與自己的推測？</a:t>
            </a:r>
          </a:p>
        </p:txBody>
      </p:sp>
      <p:sp>
        <p:nvSpPr>
          <p:cNvPr id="16" name="slide-19-text-16">
            <a:extLst xmlns:a="http://schemas.openxmlformats.org/drawingml/2006/main">
              <a:ext uri="{FF2B5EF4-FFF2-40B4-BE49-F238E27FC236}">
                <a16:creationId xmlns:a16="http://schemas.microsoft.com/office/drawing/2014/main" id="{2B8E7FC0-2BFC-431D-874D-2FED0F63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構擬情境。原因尚未確定，不將偏差直接歸咎於學生。</a:t>
            </a:r>
          </a:p>
        </p:txBody>
      </p:sp>
    </p:spTree>
    <p:extLst>
      <p:ext uri="{BB962C8B-B14F-4D97-AF65-F5344CB8AC3E}">
        <p14:creationId xmlns:p14="http://schemas.microsoft.com/office/powerpoint/2010/main" val="10274465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20-text-1">
            <a:extLst xmlns:a="http://schemas.openxmlformats.org/drawingml/2006/main">
              <a:ext uri="{FF2B5EF4-FFF2-40B4-BE49-F238E27FC236}">
                <a16:creationId xmlns:a16="http://schemas.microsoft.com/office/drawing/2014/main" id="{DDAC7AFD-1B0E-4B84-8590-1D0368AD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企業家的取捨   證據與成本</a:t>
            </a:r>
          </a:p>
        </p:txBody>
      </p:sp>
      <p:sp>
        <p:nvSpPr>
          <p:cNvPr id="2" name="slide-20-text-2">
            <a:extLst xmlns:a="http://schemas.openxmlformats.org/drawingml/2006/main">
              <a:ext uri="{FF2B5EF4-FFF2-40B4-BE49-F238E27FC236}">
                <a16:creationId xmlns:a16="http://schemas.microsoft.com/office/drawing/2014/main" id="{3A7AFC5A-0E20-44C5-8991-62495843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繼續、縮小或停止，都需要理由</a:t>
            </a:r>
          </a:p>
        </p:txBody>
      </p:sp>
      <p:sp>
        <p:nvSpPr>
          <p:cNvPr id="3" name="slide-20-line-3">
            <a:extLst xmlns:a="http://schemas.openxmlformats.org/drawingml/2006/main">
              <a:ext uri="{FF2B5EF4-FFF2-40B4-BE49-F238E27FC236}">
                <a16:creationId xmlns:a16="http://schemas.microsoft.com/office/drawing/2014/main" id="{221E3E5D-C9ED-44AB-BC0E-FCB83253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20-text-4">
            <a:extLst xmlns:a="http://schemas.openxmlformats.org/drawingml/2006/main">
              <a:ext uri="{FF2B5EF4-FFF2-40B4-BE49-F238E27FC236}">
                <a16:creationId xmlns:a16="http://schemas.microsoft.com/office/drawing/2014/main" id="{A8F76DCF-3043-462D-9610-22A89CDC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0-text-5">
            <a:extLst xmlns:a="http://schemas.openxmlformats.org/drawingml/2006/main">
              <a:ext uri="{FF2B5EF4-FFF2-40B4-BE49-F238E27FC236}">
                <a16:creationId xmlns:a16="http://schemas.microsoft.com/office/drawing/2014/main" id="{63359670-663A-40B7-8D31-FF76515C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20 / 30</a:t>
            </a:r>
          </a:p>
        </p:txBody>
      </p:sp>
      <p:sp>
        <p:nvSpPr>
          <p:cNvPr id="6" name="slide-20-text-6">
            <a:extLst xmlns:a="http://schemas.openxmlformats.org/drawingml/2006/main">
              <a:ext uri="{FF2B5EF4-FFF2-40B4-BE49-F238E27FC236}">
                <a16:creationId xmlns:a16="http://schemas.microsoft.com/office/drawing/2014/main" id="{8EEBDF06-7EB4-45BD-BCB4-12A8B5BE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381250" cy="544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繼續</a:t>
            </a:r>
          </a:p>
        </p:txBody>
      </p:sp>
      <p:sp>
        <p:nvSpPr>
          <p:cNvPr id="7" name="slide-20-text-7">
            <a:extLst xmlns:a="http://schemas.openxmlformats.org/drawingml/2006/main">
              <a:ext uri="{FF2B5EF4-FFF2-40B4-BE49-F238E27FC236}">
                <a16:creationId xmlns:a16="http://schemas.microsoft.com/office/drawing/2014/main" id="{E9080F40-82CF-4ADA-A9D8-0552F789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47975"/>
            <a:ext cx="88582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需求清楚，主要問題可修正</a:t>
            </a:r>
          </a:p>
        </p:txBody>
      </p:sp>
      <p:sp>
        <p:nvSpPr>
          <p:cNvPr id="8" name="slide-20-line-8">
            <a:extLst xmlns:a="http://schemas.openxmlformats.org/drawingml/2006/main">
              <a:ext uri="{FF2B5EF4-FFF2-40B4-BE49-F238E27FC236}">
                <a16:creationId xmlns:a16="http://schemas.microsoft.com/office/drawing/2014/main" id="{621C4419-CB6C-4FB1-A3B3-1E3E60DF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9" name="slide-20-text-9">
            <a:extLst xmlns:a="http://schemas.openxmlformats.org/drawingml/2006/main">
              <a:ext uri="{FF2B5EF4-FFF2-40B4-BE49-F238E27FC236}">
                <a16:creationId xmlns:a16="http://schemas.microsoft.com/office/drawing/2014/main" id="{2B6E907E-2B2E-44AF-874E-722E5A03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2381250" cy="544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縮小</a:t>
            </a:r>
          </a:p>
        </p:txBody>
      </p:sp>
      <p:sp>
        <p:nvSpPr>
          <p:cNvPr id="10" name="slide-20-text-10">
            <a:extLst xmlns:a="http://schemas.openxmlformats.org/drawingml/2006/main">
              <a:ext uri="{FF2B5EF4-FFF2-40B4-BE49-F238E27FC236}">
                <a16:creationId xmlns:a16="http://schemas.microsoft.com/office/drawing/2014/main" id="{596BBCE1-761D-4199-8D7B-7EF6EC5A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10025"/>
            <a:ext cx="88582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只在某一類教材或任務適用</a:t>
            </a:r>
          </a:p>
        </p:txBody>
      </p:sp>
      <p:sp>
        <p:nvSpPr>
          <p:cNvPr id="11" name="slide-20-line-11">
            <a:extLst xmlns:a="http://schemas.openxmlformats.org/drawingml/2006/main">
              <a:ext uri="{FF2B5EF4-FFF2-40B4-BE49-F238E27FC236}">
                <a16:creationId xmlns:a16="http://schemas.microsoft.com/office/drawing/2014/main" id="{3FD47D81-2F25-4C7B-9315-BA90CF49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2" name="slide-20-text-12">
            <a:extLst xmlns:a="http://schemas.openxmlformats.org/drawingml/2006/main">
              <a:ext uri="{FF2B5EF4-FFF2-40B4-BE49-F238E27FC236}">
                <a16:creationId xmlns:a16="http://schemas.microsoft.com/office/drawing/2014/main" id="{11B3AC07-A93D-4D03-A25D-AFEFC389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2381250" cy="544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DF674E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DF674E"/>
                </a:solidFill>
                <a:latin typeface="PingFang TC"/>
                <a:ea typeface="PingFang TC"/>
                <a:cs typeface="PingFang TC"/>
              </a:rPr>
              <a:t>暫停</a:t>
            </a:r>
          </a:p>
        </p:txBody>
      </p:sp>
      <p:sp>
        <p:nvSpPr>
          <p:cNvPr id="13" name="slide-20-text-13">
            <a:extLst xmlns:a="http://schemas.openxmlformats.org/drawingml/2006/main">
              <a:ext uri="{FF2B5EF4-FFF2-40B4-BE49-F238E27FC236}">
                <a16:creationId xmlns:a16="http://schemas.microsoft.com/office/drawing/2014/main" id="{7E749EDD-1F2E-4B46-A98C-EEE581D0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72075"/>
            <a:ext cx="88582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用途不明，或維護成本難以承擔</a:t>
            </a:r>
          </a:p>
        </p:txBody>
      </p:sp>
      <p:sp>
        <p:nvSpPr>
          <p:cNvPr id="14" name="slide-20-line-14">
            <a:extLst xmlns:a="http://schemas.openxmlformats.org/drawingml/2006/main">
              <a:ext uri="{FF2B5EF4-FFF2-40B4-BE49-F238E27FC236}">
                <a16:creationId xmlns:a16="http://schemas.microsoft.com/office/drawing/2014/main" id="{A50BD786-3709-4E57-8E43-80156449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24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44070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21-text-1">
            <a:extLst xmlns:a="http://schemas.openxmlformats.org/drawingml/2006/main">
              <a:ext uri="{FF2B5EF4-FFF2-40B4-BE49-F238E27FC236}">
                <a16:creationId xmlns:a16="http://schemas.microsoft.com/office/drawing/2014/main" id="{C245F184-5647-4BA8-84EA-D7F9E3BF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企業家的責任   任務與培養</a:t>
            </a:r>
          </a:p>
        </p:txBody>
      </p:sp>
      <p:sp>
        <p:nvSpPr>
          <p:cNvPr id="2" name="slide-21-text-2">
            <a:extLst xmlns:a="http://schemas.openxmlformats.org/drawingml/2006/main">
              <a:ext uri="{FF2B5EF4-FFF2-40B4-BE49-F238E27FC236}">
                <a16:creationId xmlns:a16="http://schemas.microsoft.com/office/drawing/2014/main" id="{6CA3083F-9981-415A-B389-793A3DDC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企業也要為新人的成長提供條件</a:t>
            </a:r>
          </a:p>
        </p:txBody>
      </p:sp>
      <p:sp>
        <p:nvSpPr>
          <p:cNvPr id="3" name="slide-21-line-3">
            <a:extLst xmlns:a="http://schemas.openxmlformats.org/drawingml/2006/main">
              <a:ext uri="{FF2B5EF4-FFF2-40B4-BE49-F238E27FC236}">
                <a16:creationId xmlns:a16="http://schemas.microsoft.com/office/drawing/2014/main" id="{67294B64-9D7C-4997-AD12-4AE7F31B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21-text-4">
            <a:extLst xmlns:a="http://schemas.openxmlformats.org/drawingml/2006/main">
              <a:ext uri="{FF2B5EF4-FFF2-40B4-BE49-F238E27FC236}">
                <a16:creationId xmlns:a16="http://schemas.microsoft.com/office/drawing/2014/main" id="{BF19A067-BB3F-4F80-9EE3-899CA397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1-text-5">
            <a:extLst xmlns:a="http://schemas.openxmlformats.org/drawingml/2006/main">
              <a:ext uri="{FF2B5EF4-FFF2-40B4-BE49-F238E27FC236}">
                <a16:creationId xmlns:a16="http://schemas.microsoft.com/office/drawing/2014/main" id="{553FC905-A9E9-43EC-812B-91BA59B0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21 / 30</a:t>
            </a:r>
          </a:p>
        </p:txBody>
      </p:sp>
      <p:sp>
        <p:nvSpPr>
          <p:cNvPr id="6" name="slide-21-text-6">
            <a:extLst xmlns:a="http://schemas.openxmlformats.org/drawingml/2006/main">
              <a:ext uri="{FF2B5EF4-FFF2-40B4-BE49-F238E27FC236}">
                <a16:creationId xmlns:a16="http://schemas.microsoft.com/office/drawing/2014/main" id="{68B8FAB5-7D37-4214-AFE7-0A034CDC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1162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責任與授權、資源</a:t>
            </a:r>
          </a:p>
        </p:txBody>
      </p:sp>
      <p:sp>
        <p:nvSpPr>
          <p:cNvPr id="7" name="slide-21-text-7">
            <a:extLst xmlns:a="http://schemas.openxmlformats.org/drawingml/2006/main">
              <a:ext uri="{FF2B5EF4-FFF2-40B4-BE49-F238E27FC236}">
                <a16:creationId xmlns:a16="http://schemas.microsoft.com/office/drawing/2014/main" id="{D63C743A-49AD-4820-9CBF-00D32F46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8159"/>
            <a:ext cx="1162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一起調整</a:t>
            </a:r>
          </a:p>
        </p:txBody>
      </p:sp>
      <p:sp>
        <p:nvSpPr>
          <p:cNvPr id="8" name="slide-21-text-8">
            <a:extLst xmlns:a="http://schemas.openxmlformats.org/drawingml/2006/main">
              <a:ext uri="{FF2B5EF4-FFF2-40B4-BE49-F238E27FC236}">
                <a16:creationId xmlns:a16="http://schemas.microsoft.com/office/drawing/2014/main" id="{223291ED-08A7-4D44-8F29-97D2B2AC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29175"/>
            <a:ext cx="12001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新人需要範圍清楚的任務、及時回饋與求助途徑。</a:t>
            </a:r>
          </a:p>
        </p:txBody>
      </p:sp>
      <p:sp>
        <p:nvSpPr>
          <p:cNvPr id="9" name="slide-21-text-9">
            <a:extLst xmlns:a="http://schemas.openxmlformats.org/drawingml/2006/main">
              <a:ext uri="{FF2B5EF4-FFF2-40B4-BE49-F238E27FC236}">
                <a16:creationId xmlns:a16="http://schemas.microsoft.com/office/drawing/2014/main" id="{1CD9592B-87DC-4830-893E-9C5FB240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1991"/>
            <a:ext cx="12001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企業應保留能讓人練習判斷的工作。</a:t>
            </a:r>
          </a:p>
        </p:txBody>
      </p:sp>
      <p:sp>
        <p:nvSpPr>
          <p:cNvPr id="10" name="slide-21-text-10">
            <a:extLst xmlns:a="http://schemas.openxmlformats.org/drawingml/2006/main">
              <a:ext uri="{FF2B5EF4-FFF2-40B4-BE49-F238E27FC236}">
                <a16:creationId xmlns:a16="http://schemas.microsoft.com/office/drawing/2014/main" id="{823D4A46-E109-47ED-831F-8294A741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講者的人才培養主張，不把系統性後果全部轉交個人。</a:t>
            </a:r>
          </a:p>
        </p:txBody>
      </p:sp>
    </p:spTree>
    <p:extLst>
      <p:ext uri="{BB962C8B-B14F-4D97-AF65-F5344CB8AC3E}">
        <p14:creationId xmlns:p14="http://schemas.microsoft.com/office/powerpoint/2010/main" val="54368248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22-text-1">
            <a:extLst xmlns:a="http://schemas.openxmlformats.org/drawingml/2006/main">
              <a:ext uri="{FF2B5EF4-FFF2-40B4-BE49-F238E27FC236}">
                <a16:creationId xmlns:a16="http://schemas.microsoft.com/office/drawing/2014/main" id="{FE7371C8-6D8B-42DF-BEB7-B9040665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04   學習與積累</a:t>
            </a:r>
          </a:p>
        </p:txBody>
      </p:sp>
      <p:sp>
        <p:nvSpPr>
          <p:cNvPr id="2" name="slide-22-line-2">
            <a:extLst xmlns:a="http://schemas.openxmlformats.org/drawingml/2006/main">
              <a:ext uri="{FF2B5EF4-FFF2-40B4-BE49-F238E27FC236}">
                <a16:creationId xmlns:a16="http://schemas.microsoft.com/office/drawing/2014/main" id="{CC8D9F4C-EE12-443D-8788-159CE643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22-text-3">
            <a:extLst xmlns:a="http://schemas.openxmlformats.org/drawingml/2006/main">
              <a:ext uri="{FF2B5EF4-FFF2-40B4-BE49-F238E27FC236}">
                <a16:creationId xmlns:a16="http://schemas.microsoft.com/office/drawing/2014/main" id="{24CB90A9-81D5-4F8B-924C-9F92E31E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4" name="slide-22-text-4">
            <a:extLst xmlns:a="http://schemas.openxmlformats.org/drawingml/2006/main">
              <a:ext uri="{FF2B5EF4-FFF2-40B4-BE49-F238E27FC236}">
                <a16:creationId xmlns:a16="http://schemas.microsoft.com/office/drawing/2014/main" id="{FE79E90A-D704-4224-9828-FE0FADA9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22 / 30</a:t>
            </a:r>
          </a:p>
        </p:txBody>
      </p:sp>
      <p:sp>
        <p:nvSpPr>
          <p:cNvPr id="5" name="slide-22-text-5">
            <a:extLst xmlns:a="http://schemas.openxmlformats.org/drawingml/2006/main">
              <a:ext uri="{FF2B5EF4-FFF2-40B4-BE49-F238E27FC236}">
                <a16:creationId xmlns:a16="http://schemas.microsoft.com/office/drawing/2014/main" id="{62EA05AA-0C21-42AA-8EC3-1FFE6810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3143250" cy="1813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0" b="1">
                <a:solidFill>
                  <a:srgbClr val="B8C8FF"/>
                </a:solidFill>
                <a:latin typeface="PingFang TC"/>
                <a:ea typeface="PingFang TC"/>
                <a:cs typeface="PingFang TC"/>
              </a:defRPr>
            </a:pPr>
            <a:r>
              <a:rPr sz="10500" b="1">
                <a:solidFill>
                  <a:srgbClr val="B8C8FF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6" name="slide-22-text-6">
            <a:extLst xmlns:a="http://schemas.openxmlformats.org/drawingml/2006/main">
              <a:ext uri="{FF2B5EF4-FFF2-40B4-BE49-F238E27FC236}">
                <a16:creationId xmlns:a16="http://schemas.microsoft.com/office/drawing/2014/main" id="{9E9B8E86-868E-4D43-AE16-A9CCC42B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809625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下一次的能力</a:t>
            </a:r>
          </a:p>
        </p:txBody>
      </p:sp>
      <p:sp>
        <p:nvSpPr>
          <p:cNvPr id="7" name="slide-22-text-7">
            <a:extLst xmlns:a="http://schemas.openxmlformats.org/drawingml/2006/main">
              <a:ext uri="{FF2B5EF4-FFF2-40B4-BE49-F238E27FC236}">
                <a16:creationId xmlns:a16="http://schemas.microsoft.com/office/drawing/2014/main" id="{564C4F74-AD09-46F1-AE1B-295262DA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14850"/>
            <a:ext cx="742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E1E8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E1E8FF"/>
                </a:solidFill>
                <a:latin typeface="PingFang TC"/>
                <a:ea typeface="PingFang TC"/>
                <a:cs typeface="PingFang TC"/>
              </a:rPr>
              <a:t>項目結束後，方法如何被理解、更新，並用於新任務。</a:t>
            </a:r>
          </a:p>
        </p:txBody>
      </p:sp>
    </p:spTree>
    <p:extLst>
      <p:ext uri="{BB962C8B-B14F-4D97-AF65-F5344CB8AC3E}">
        <p14:creationId xmlns:p14="http://schemas.microsoft.com/office/powerpoint/2010/main" val="18001016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23-text-1">
            <a:extLst xmlns:a="http://schemas.openxmlformats.org/drawingml/2006/main">
              <a:ext uri="{FF2B5EF4-FFF2-40B4-BE49-F238E27FC236}">
                <a16:creationId xmlns:a16="http://schemas.microsoft.com/office/drawing/2014/main" id="{5CDE626F-12E9-4901-9471-B962B035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同一案例   可更新的經驗</a:t>
            </a:r>
          </a:p>
        </p:txBody>
      </p:sp>
      <p:sp>
        <p:nvSpPr>
          <p:cNvPr id="2" name="slide-23-text-2">
            <a:extLst xmlns:a="http://schemas.openxmlformats.org/drawingml/2006/main">
              <a:ext uri="{FF2B5EF4-FFF2-40B4-BE49-F238E27FC236}">
                <a16:creationId xmlns:a16="http://schemas.microsoft.com/office/drawing/2014/main" id="{8B61A31E-7AED-45F7-B9F3-900D3A30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一次工作，可以留下三種記錄</a:t>
            </a:r>
          </a:p>
        </p:txBody>
      </p:sp>
      <p:sp>
        <p:nvSpPr>
          <p:cNvPr id="3" name="slide-23-line-3">
            <a:extLst xmlns:a="http://schemas.openxmlformats.org/drawingml/2006/main">
              <a:ext uri="{FF2B5EF4-FFF2-40B4-BE49-F238E27FC236}">
                <a16:creationId xmlns:a16="http://schemas.microsoft.com/office/drawing/2014/main" id="{04D4D171-EF41-41FD-AF64-B8099BBE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23-text-4">
            <a:extLst xmlns:a="http://schemas.openxmlformats.org/drawingml/2006/main">
              <a:ext uri="{FF2B5EF4-FFF2-40B4-BE49-F238E27FC236}">
                <a16:creationId xmlns:a16="http://schemas.microsoft.com/office/drawing/2014/main" id="{F30558C4-9DA3-40EA-8777-C4600AA9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3-text-5">
            <a:extLst xmlns:a="http://schemas.openxmlformats.org/drawingml/2006/main">
              <a:ext uri="{FF2B5EF4-FFF2-40B4-BE49-F238E27FC236}">
                <a16:creationId xmlns:a16="http://schemas.microsoft.com/office/drawing/2014/main" id="{C57B07AE-41BC-4C2C-A021-8380D2E8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23 / 30</a:t>
            </a:r>
          </a:p>
        </p:txBody>
      </p:sp>
      <p:sp>
        <p:nvSpPr>
          <p:cNvPr id="6" name="slide-23-text-6">
            <a:extLst xmlns:a="http://schemas.openxmlformats.org/drawingml/2006/main">
              <a:ext uri="{FF2B5EF4-FFF2-40B4-BE49-F238E27FC236}">
                <a16:creationId xmlns:a16="http://schemas.microsoft.com/office/drawing/2014/main" id="{C7EAF413-5EF4-4FB5-8D94-D69E1C3B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事實記憶</a:t>
            </a:r>
          </a:p>
        </p:txBody>
      </p:sp>
      <p:sp>
        <p:nvSpPr>
          <p:cNvPr id="7" name="slide-23-line-7">
            <a:extLst xmlns:a="http://schemas.openxmlformats.org/drawingml/2006/main">
              <a:ext uri="{FF2B5EF4-FFF2-40B4-BE49-F238E27FC236}">
                <a16:creationId xmlns:a16="http://schemas.microsoft.com/office/drawing/2014/main" id="{BBDF888A-AF8C-49B4-A555-F3B47C4E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8" name="slide-23-text-8">
            <a:extLst xmlns:a="http://schemas.openxmlformats.org/drawingml/2006/main">
              <a:ext uri="{FF2B5EF4-FFF2-40B4-BE49-F238E27FC236}">
                <a16:creationId xmlns:a16="http://schemas.microsoft.com/office/drawing/2014/main" id="{EC06E687-D6D5-4ED1-97C6-94B12A66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當時知道甚麼</a:t>
            </a:r>
          </a:p>
        </p:txBody>
      </p:sp>
      <p:sp>
        <p:nvSpPr>
          <p:cNvPr id="9" name="slide-23-text-9">
            <a:extLst xmlns:a="http://schemas.openxmlformats.org/drawingml/2006/main">
              <a:ext uri="{FF2B5EF4-FFF2-40B4-BE49-F238E27FC236}">
                <a16:creationId xmlns:a16="http://schemas.microsoft.com/office/drawing/2014/main" id="{6E49A269-0892-407E-8A3A-DDE91759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短文、對象、版本。</a:t>
            </a:r>
          </a:p>
        </p:txBody>
      </p:sp>
      <p:sp>
        <p:nvSpPr>
          <p:cNvPr id="10" name="slide-23-text-10">
            <a:extLst xmlns:a="http://schemas.openxmlformats.org/drawingml/2006/main">
              <a:ext uri="{FF2B5EF4-FFF2-40B4-BE49-F238E27FC236}">
                <a16:creationId xmlns:a16="http://schemas.microsoft.com/office/drawing/2014/main" id="{09B0179F-2CAC-40C0-A96C-DCA767B3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資料來源與已知限制。</a:t>
            </a:r>
          </a:p>
        </p:txBody>
      </p:sp>
      <p:sp>
        <p:nvSpPr>
          <p:cNvPr id="11" name="slide-23-text-11">
            <a:extLst xmlns:a="http://schemas.openxmlformats.org/drawingml/2006/main">
              <a:ext uri="{FF2B5EF4-FFF2-40B4-BE49-F238E27FC236}">
                <a16:creationId xmlns:a16="http://schemas.microsoft.com/office/drawing/2014/main" id="{F0A2C5ED-083C-4A62-8179-7DEBC6F9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互動與推理記憶</a:t>
            </a:r>
          </a:p>
        </p:txBody>
      </p:sp>
      <p:sp>
        <p:nvSpPr>
          <p:cNvPr id="12" name="slide-23-line-12">
            <a:extLst xmlns:a="http://schemas.openxmlformats.org/drawingml/2006/main">
              <a:ext uri="{FF2B5EF4-FFF2-40B4-BE49-F238E27FC236}">
                <a16:creationId xmlns:a16="http://schemas.microsoft.com/office/drawing/2014/main" id="{3E731BDD-C35C-40D6-8CD6-99F26447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3" name="slide-23-text-13">
            <a:extLst xmlns:a="http://schemas.openxmlformats.org/drawingml/2006/main">
              <a:ext uri="{FF2B5EF4-FFF2-40B4-BE49-F238E27FC236}">
                <a16:creationId xmlns:a16="http://schemas.microsoft.com/office/drawing/2014/main" id="{BCEB80EC-55B6-4584-9E88-3AA0C78E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為何作出選擇</a:t>
            </a:r>
          </a:p>
        </p:txBody>
      </p:sp>
      <p:sp>
        <p:nvSpPr>
          <p:cNvPr id="14" name="slide-23-text-14">
            <a:extLst xmlns:a="http://schemas.openxmlformats.org/drawingml/2006/main">
              <a:ext uri="{FF2B5EF4-FFF2-40B4-BE49-F238E27FC236}">
                <a16:creationId xmlns:a16="http://schemas.microsoft.com/office/drawing/2014/main" id="{A97832A6-9040-4C4F-97EF-AECA050A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教師提出的問題。</a:t>
            </a:r>
          </a:p>
        </p:txBody>
      </p:sp>
      <p:sp>
        <p:nvSpPr>
          <p:cNvPr id="15" name="slide-23-text-15">
            <a:extLst xmlns:a="http://schemas.openxmlformats.org/drawingml/2006/main">
              <a:ext uri="{FF2B5EF4-FFF2-40B4-BE49-F238E27FC236}">
                <a16:creationId xmlns:a16="http://schemas.microsoft.com/office/drawing/2014/main" id="{3B4EA4BA-C06D-4A46-9BD9-C408563E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取捨理由與被拒方案。</a:t>
            </a:r>
          </a:p>
        </p:txBody>
      </p:sp>
      <p:sp>
        <p:nvSpPr>
          <p:cNvPr id="16" name="slide-23-text-16">
            <a:extLst xmlns:a="http://schemas.openxmlformats.org/drawingml/2006/main">
              <a:ext uri="{FF2B5EF4-FFF2-40B4-BE49-F238E27FC236}">
                <a16:creationId xmlns:a16="http://schemas.microsoft.com/office/drawing/2014/main" id="{A2CBDF9E-E544-4EE2-BF90-FCABBAAC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行動記憶</a:t>
            </a:r>
          </a:p>
        </p:txBody>
      </p:sp>
      <p:sp>
        <p:nvSpPr>
          <p:cNvPr id="17" name="slide-23-line-17">
            <a:extLst xmlns:a="http://schemas.openxmlformats.org/drawingml/2006/main">
              <a:ext uri="{FF2B5EF4-FFF2-40B4-BE49-F238E27FC236}">
                <a16:creationId xmlns:a16="http://schemas.microsoft.com/office/drawing/2014/main" id="{7C19FAFA-29B6-448D-ADD0-31C219E7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8" name="slide-23-text-18">
            <a:extLst xmlns:a="http://schemas.openxmlformats.org/drawingml/2006/main">
              <a:ext uri="{FF2B5EF4-FFF2-40B4-BE49-F238E27FC236}">
                <a16:creationId xmlns:a16="http://schemas.microsoft.com/office/drawing/2014/main" id="{A3648026-A1AF-46D4-A320-DF08598B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做過甚麼修改</a:t>
            </a:r>
          </a:p>
        </p:txBody>
      </p:sp>
      <p:sp>
        <p:nvSpPr>
          <p:cNvPr id="19" name="slide-23-text-19">
            <a:extLst xmlns:a="http://schemas.openxmlformats.org/drawingml/2006/main">
              <a:ext uri="{FF2B5EF4-FFF2-40B4-BE49-F238E27FC236}">
                <a16:creationId xmlns:a16="http://schemas.microsoft.com/office/drawing/2014/main" id="{DC5D24B1-33E5-49B1-BA0F-225E6BCC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改動及觀察結果。</a:t>
            </a:r>
          </a:p>
        </p:txBody>
      </p:sp>
      <p:sp>
        <p:nvSpPr>
          <p:cNvPr id="20" name="slide-23-text-20">
            <a:extLst xmlns:a="http://schemas.openxmlformats.org/drawingml/2006/main">
              <a:ext uri="{FF2B5EF4-FFF2-40B4-BE49-F238E27FC236}">
                <a16:creationId xmlns:a16="http://schemas.microsoft.com/office/drawing/2014/main" id="{C1A848B3-9C34-46A9-A4DA-0FFFFE37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下一次重查的條件。</a:t>
            </a:r>
          </a:p>
        </p:txBody>
      </p:sp>
      <p:sp>
        <p:nvSpPr>
          <p:cNvPr id="21" name="slide-23-text-21">
            <a:extLst xmlns:a="http://schemas.openxmlformats.org/drawingml/2006/main">
              <a:ext uri="{FF2B5EF4-FFF2-40B4-BE49-F238E27FC236}">
                <a16:creationId xmlns:a16="http://schemas.microsoft.com/office/drawing/2014/main" id="{972AE1D0-2D98-4EDD-9FF9-EFE8502C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記錄敏感資料前，需確認授權及保存範圍。</a:t>
            </a:r>
          </a:p>
        </p:txBody>
      </p:sp>
    </p:spTree>
    <p:extLst>
      <p:ext uri="{BB962C8B-B14F-4D97-AF65-F5344CB8AC3E}">
        <p14:creationId xmlns:p14="http://schemas.microsoft.com/office/powerpoint/2010/main" val="17101824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4-text-1">
            <a:extLst xmlns:a="http://schemas.openxmlformats.org/drawingml/2006/main">
              <a:ext uri="{FF2B5EF4-FFF2-40B4-BE49-F238E27FC236}">
                <a16:creationId xmlns:a16="http://schemas.microsoft.com/office/drawing/2014/main" id="{8199C09D-C54E-40D3-8BB4-7D5A4D91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同一案例   記憶的更新</a:t>
            </a:r>
          </a:p>
        </p:txBody>
      </p:sp>
      <p:sp>
        <p:nvSpPr>
          <p:cNvPr id="2" name="slide-24-text-2">
            <a:extLst xmlns:a="http://schemas.openxmlformats.org/drawingml/2006/main">
              <a:ext uri="{FF2B5EF4-FFF2-40B4-BE49-F238E27FC236}">
                <a16:creationId xmlns:a16="http://schemas.microsoft.com/office/drawing/2014/main" id="{84A5B646-EEE6-4BB4-B370-3933B110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被保存的經驗，也可能需要作廢</a:t>
            </a:r>
          </a:p>
        </p:txBody>
      </p:sp>
      <p:sp>
        <p:nvSpPr>
          <p:cNvPr id="3" name="slide-24-line-3">
            <a:extLst xmlns:a="http://schemas.openxmlformats.org/drawingml/2006/main">
              <a:ext uri="{FF2B5EF4-FFF2-40B4-BE49-F238E27FC236}">
                <a16:creationId xmlns:a16="http://schemas.microsoft.com/office/drawing/2014/main" id="{1DD3B325-821D-4357-AAD6-70E70D9B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24-text-4">
            <a:extLst xmlns:a="http://schemas.openxmlformats.org/drawingml/2006/main">
              <a:ext uri="{FF2B5EF4-FFF2-40B4-BE49-F238E27FC236}">
                <a16:creationId xmlns:a16="http://schemas.microsoft.com/office/drawing/2014/main" id="{25E83C57-D04A-4F68-A0E7-F809131C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4-text-5">
            <a:extLst xmlns:a="http://schemas.openxmlformats.org/drawingml/2006/main">
              <a:ext uri="{FF2B5EF4-FFF2-40B4-BE49-F238E27FC236}">
                <a16:creationId xmlns:a16="http://schemas.microsoft.com/office/drawing/2014/main" id="{9F89BBEC-73BC-4E43-BBA8-4F76C9FB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24 / 30</a:t>
            </a:r>
          </a:p>
        </p:txBody>
      </p:sp>
      <p:sp>
        <p:nvSpPr>
          <p:cNvPr id="6" name="slide-24-line-6">
            <a:extLst xmlns:a="http://schemas.openxmlformats.org/drawingml/2006/main">
              <a:ext uri="{FF2B5EF4-FFF2-40B4-BE49-F238E27FC236}">
                <a16:creationId xmlns:a16="http://schemas.microsoft.com/office/drawing/2014/main" id="{91693C66-3F47-4991-97FD-C193B553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7" name="slide-24-text-7">
            <a:extLst xmlns:a="http://schemas.openxmlformats.org/drawingml/2006/main">
              <a:ext uri="{FF2B5EF4-FFF2-40B4-BE49-F238E27FC236}">
                <a16:creationId xmlns:a16="http://schemas.microsoft.com/office/drawing/2014/main" id="{66522BCF-DFFB-45C0-AF0A-3B83E593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5334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過度概括的記錄</a:t>
            </a:r>
          </a:p>
        </p:txBody>
      </p:sp>
      <p:sp>
        <p:nvSpPr>
          <p:cNvPr id="8" name="slide-24-text-8">
            <a:extLst xmlns:a="http://schemas.openxmlformats.org/drawingml/2006/main">
              <a:ext uri="{FF2B5EF4-FFF2-40B4-BE49-F238E27FC236}">
                <a16:creationId xmlns:a16="http://schemas.microsoft.com/office/drawing/2014/main" id="{900FD13C-5D96-4859-97F8-204ABBF0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51435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這套導讀模板有效</a:t>
            </a:r>
          </a:p>
        </p:txBody>
      </p:sp>
      <p:sp>
        <p:nvSpPr>
          <p:cNvPr id="9" name="slide-24-text-9">
            <a:extLst xmlns:a="http://schemas.openxmlformats.org/drawingml/2006/main">
              <a:ext uri="{FF2B5EF4-FFF2-40B4-BE49-F238E27FC236}">
                <a16:creationId xmlns:a16="http://schemas.microsoft.com/office/drawing/2014/main" id="{E552D11A-CBB0-4132-98E2-DFA68A78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51435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沒有交代教材、對象或評量。</a:t>
            </a:r>
          </a:p>
        </p:txBody>
      </p:sp>
      <p:sp>
        <p:nvSpPr>
          <p:cNvPr id="10" name="slide-24-text-10">
            <a:extLst xmlns:a="http://schemas.openxmlformats.org/drawingml/2006/main">
              <a:ext uri="{FF2B5EF4-FFF2-40B4-BE49-F238E27FC236}">
                <a16:creationId xmlns:a16="http://schemas.microsoft.com/office/drawing/2014/main" id="{6270D797-264A-4DFE-B3D3-0564EEC5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7463"/>
            <a:ext cx="51435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下一組人無法判斷能否沿用。</a:t>
            </a:r>
          </a:p>
        </p:txBody>
      </p:sp>
      <p:sp>
        <p:nvSpPr>
          <p:cNvPr id="11" name="slide-24-text-11">
            <a:extLst xmlns:a="http://schemas.openxmlformats.org/drawingml/2006/main">
              <a:ext uri="{FF2B5EF4-FFF2-40B4-BE49-F238E27FC236}">
                <a16:creationId xmlns:a16="http://schemas.microsoft.com/office/drawing/2014/main" id="{7E61AFB6-ADB9-4C6B-A27D-2F9D8931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55245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可以重查的記錄</a:t>
            </a:r>
          </a:p>
        </p:txBody>
      </p:sp>
      <p:sp>
        <p:nvSpPr>
          <p:cNvPr id="12" name="slide-24-text-12">
            <a:extLst xmlns:a="http://schemas.openxmlformats.org/drawingml/2006/main">
              <a:ext uri="{FF2B5EF4-FFF2-40B4-BE49-F238E27FC236}">
                <a16:creationId xmlns:a16="http://schemas.microsoft.com/office/drawing/2014/main" id="{A38B6BEF-4452-4E62-99DC-57947850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54102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適用條件仍有限</a:t>
            </a:r>
          </a:p>
        </p:txBody>
      </p:sp>
      <p:sp>
        <p:nvSpPr>
          <p:cNvPr id="13" name="slide-24-text-13">
            <a:extLst xmlns:a="http://schemas.openxmlformats.org/drawingml/2006/main">
              <a:ext uri="{FF2B5EF4-FFF2-40B4-BE49-F238E27FC236}">
                <a16:creationId xmlns:a16="http://schemas.microsoft.com/office/drawing/2014/main" id="{452F77DF-30AD-456E-932B-A9C76CD8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95800"/>
            <a:ext cx="54102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保留材料、修改理由及觀察。</a:t>
            </a:r>
          </a:p>
        </p:txBody>
      </p:sp>
      <p:sp>
        <p:nvSpPr>
          <p:cNvPr id="14" name="slide-24-text-14">
            <a:extLst xmlns:a="http://schemas.openxmlformats.org/drawingml/2006/main">
              <a:ext uri="{FF2B5EF4-FFF2-40B4-BE49-F238E27FC236}">
                <a16:creationId xmlns:a16="http://schemas.microsoft.com/office/drawing/2014/main" id="{A821AC8E-81AC-4513-98AE-03D406B4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47463"/>
            <a:ext cx="54102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換文體或學習目標時重新驗證。</a:t>
            </a:r>
          </a:p>
        </p:txBody>
      </p:sp>
      <p:sp>
        <p:nvSpPr>
          <p:cNvPr id="15" name="slide-24-text-15">
            <a:extLst xmlns:a="http://schemas.openxmlformats.org/drawingml/2006/main">
              <a:ext uri="{FF2B5EF4-FFF2-40B4-BE49-F238E27FC236}">
                <a16:creationId xmlns:a16="http://schemas.microsoft.com/office/drawing/2014/main" id="{D90133F5-945F-4FB9-88F8-5A0A7FB5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保存與召回有助於協作，正確性及適用性仍需檢查。</a:t>
            </a:r>
          </a:p>
        </p:txBody>
      </p:sp>
    </p:spTree>
    <p:extLst>
      <p:ext uri="{BB962C8B-B14F-4D97-AF65-F5344CB8AC3E}">
        <p14:creationId xmlns:p14="http://schemas.microsoft.com/office/powerpoint/2010/main" val="71126714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5-text-1">
            <a:extLst xmlns:a="http://schemas.openxmlformats.org/drawingml/2006/main">
              <a:ext uri="{FF2B5EF4-FFF2-40B4-BE49-F238E27FC236}">
                <a16:creationId xmlns:a16="http://schemas.microsoft.com/office/drawing/2014/main" id="{95B463A9-A0F2-468B-9353-97EE63C5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同一案例   理解與遷移</a:t>
            </a:r>
          </a:p>
        </p:txBody>
      </p:sp>
      <p:sp>
        <p:nvSpPr>
          <p:cNvPr id="2" name="slide-25-text-2">
            <a:extLst xmlns:a="http://schemas.openxmlformats.org/drawingml/2006/main">
              <a:ext uri="{FF2B5EF4-FFF2-40B4-BE49-F238E27FC236}">
                <a16:creationId xmlns:a16="http://schemas.microsoft.com/office/drawing/2014/main" id="{E547AD01-F401-42B2-B0EC-59F2A14A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能力需要在不同條件下檢驗</a:t>
            </a:r>
          </a:p>
        </p:txBody>
      </p:sp>
      <p:sp>
        <p:nvSpPr>
          <p:cNvPr id="3" name="slide-25-line-3">
            <a:extLst xmlns:a="http://schemas.openxmlformats.org/drawingml/2006/main">
              <a:ext uri="{FF2B5EF4-FFF2-40B4-BE49-F238E27FC236}">
                <a16:creationId xmlns:a16="http://schemas.microsoft.com/office/drawing/2014/main" id="{AB6EB180-51F6-4859-9803-A3532711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25-text-4">
            <a:extLst xmlns:a="http://schemas.openxmlformats.org/drawingml/2006/main">
              <a:ext uri="{FF2B5EF4-FFF2-40B4-BE49-F238E27FC236}">
                <a16:creationId xmlns:a16="http://schemas.microsoft.com/office/drawing/2014/main" id="{8EF1AAAC-A626-4869-828A-2DEEA8D9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5-text-5">
            <a:extLst xmlns:a="http://schemas.openxmlformats.org/drawingml/2006/main">
              <a:ext uri="{FF2B5EF4-FFF2-40B4-BE49-F238E27FC236}">
                <a16:creationId xmlns:a16="http://schemas.microsoft.com/office/drawing/2014/main" id="{FC8F02FA-BC02-492A-B795-8CBC0599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25 / 30</a:t>
            </a:r>
          </a:p>
        </p:txBody>
      </p:sp>
      <p:sp>
        <p:nvSpPr>
          <p:cNvPr id="6" name="slide-25-line-6">
            <a:extLst xmlns:a="http://schemas.openxmlformats.org/drawingml/2006/main">
              <a:ext uri="{FF2B5EF4-FFF2-40B4-BE49-F238E27FC236}">
                <a16:creationId xmlns:a16="http://schemas.microsoft.com/office/drawing/2014/main" id="{D68F612D-017E-4D22-AD4B-8B118307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7" name="slide-25-text-7">
            <a:extLst xmlns:a="http://schemas.openxmlformats.org/drawingml/2006/main">
              <a:ext uri="{FF2B5EF4-FFF2-40B4-BE49-F238E27FC236}">
                <a16:creationId xmlns:a16="http://schemas.microsoft.com/office/drawing/2014/main" id="{EBB1B619-A52D-4CD0-97D2-7FDF077F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5334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理解檢查</a:t>
            </a:r>
          </a:p>
        </p:txBody>
      </p:sp>
      <p:sp>
        <p:nvSpPr>
          <p:cNvPr id="8" name="slide-25-text-8">
            <a:extLst xmlns:a="http://schemas.openxmlformats.org/drawingml/2006/main">
              <a:ext uri="{FF2B5EF4-FFF2-40B4-BE49-F238E27FC236}">
                <a16:creationId xmlns:a16="http://schemas.microsoft.com/office/drawing/2014/main" id="{9F4B1D55-5161-4DA6-A805-EF616897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51435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能否自己說明理由</a:t>
            </a:r>
          </a:p>
        </p:txBody>
      </p:sp>
      <p:sp>
        <p:nvSpPr>
          <p:cNvPr id="9" name="slide-25-text-9">
            <a:extLst xmlns:a="http://schemas.openxmlformats.org/drawingml/2006/main">
              <a:ext uri="{FF2B5EF4-FFF2-40B4-BE49-F238E27FC236}">
                <a16:creationId xmlns:a16="http://schemas.microsoft.com/office/drawing/2014/main" id="{31E2B222-D8C2-4324-BAC3-0A5D96B3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51435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暫停即時代答，解釋關鍵判斷。</a:t>
            </a:r>
          </a:p>
        </p:txBody>
      </p:sp>
      <p:sp>
        <p:nvSpPr>
          <p:cNvPr id="10" name="slide-25-text-10">
            <a:extLst xmlns:a="http://schemas.openxmlformats.org/drawingml/2006/main">
              <a:ext uri="{FF2B5EF4-FFF2-40B4-BE49-F238E27FC236}">
                <a16:creationId xmlns:a16="http://schemas.microsoft.com/office/drawing/2014/main" id="{18772DE7-BD48-4544-95C8-7FE18CC2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7463"/>
            <a:ext cx="51435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指出哪些證據仍然不足。</a:t>
            </a:r>
          </a:p>
        </p:txBody>
      </p:sp>
      <p:sp>
        <p:nvSpPr>
          <p:cNvPr id="11" name="slide-25-text-11">
            <a:extLst xmlns:a="http://schemas.openxmlformats.org/drawingml/2006/main">
              <a:ext uri="{FF2B5EF4-FFF2-40B4-BE49-F238E27FC236}">
                <a16:creationId xmlns:a16="http://schemas.microsoft.com/office/drawing/2014/main" id="{62B2A522-73FB-44F6-8A59-01EF02DD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55245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遷移檢查</a:t>
            </a:r>
          </a:p>
        </p:txBody>
      </p:sp>
      <p:sp>
        <p:nvSpPr>
          <p:cNvPr id="12" name="slide-25-text-12">
            <a:extLst xmlns:a="http://schemas.openxmlformats.org/drawingml/2006/main">
              <a:ext uri="{FF2B5EF4-FFF2-40B4-BE49-F238E27FC236}">
                <a16:creationId xmlns:a16="http://schemas.microsoft.com/office/drawing/2014/main" id="{860F25E8-5C1C-4D24-A235-EFEDB5B6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54102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能否處理新的條件</a:t>
            </a:r>
          </a:p>
        </p:txBody>
      </p:sp>
      <p:sp>
        <p:nvSpPr>
          <p:cNvPr id="13" name="slide-25-text-13">
            <a:extLst xmlns:a="http://schemas.openxmlformats.org/drawingml/2006/main">
              <a:ext uri="{FF2B5EF4-FFF2-40B4-BE49-F238E27FC236}">
                <a16:creationId xmlns:a16="http://schemas.microsoft.com/office/drawing/2014/main" id="{BC442B12-B665-4E2D-9A9E-3DF73217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95800"/>
            <a:ext cx="54102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保留 AI，改換教材或受眾。</a:t>
            </a:r>
          </a:p>
        </p:txBody>
      </p:sp>
      <p:sp>
        <p:nvSpPr>
          <p:cNvPr id="14" name="slide-25-text-14">
            <a:extLst xmlns:a="http://schemas.openxmlformats.org/drawingml/2006/main">
              <a:ext uri="{FF2B5EF4-FFF2-40B4-BE49-F238E27FC236}">
                <a16:creationId xmlns:a16="http://schemas.microsoft.com/office/drawing/2014/main" id="{68D9142B-EE02-4A61-B9CB-2BAE7A47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47463"/>
            <a:ext cx="54102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觀察方法和結論如何調整。</a:t>
            </a:r>
          </a:p>
        </p:txBody>
      </p:sp>
      <p:sp>
        <p:nvSpPr>
          <p:cNvPr id="15" name="slide-25-text-15">
            <a:extLst xmlns:a="http://schemas.openxmlformats.org/drawingml/2006/main">
              <a:ext uri="{FF2B5EF4-FFF2-40B4-BE49-F238E27FC236}">
                <a16:creationId xmlns:a16="http://schemas.microsoft.com/office/drawing/2014/main" id="{0F1EDB09-47C1-400C-8E2A-0A2EA080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獨立理解與工具協作都值得觀察。評量方式依課程目標而定。</a:t>
            </a:r>
          </a:p>
        </p:txBody>
      </p:sp>
    </p:spTree>
    <p:extLst>
      <p:ext uri="{BB962C8B-B14F-4D97-AF65-F5344CB8AC3E}">
        <p14:creationId xmlns:p14="http://schemas.microsoft.com/office/powerpoint/2010/main" val="21190447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26-text-1">
            <a:extLst xmlns:a="http://schemas.openxmlformats.org/drawingml/2006/main">
              <a:ext uri="{FF2B5EF4-FFF2-40B4-BE49-F238E27FC236}">
                <a16:creationId xmlns:a16="http://schemas.microsoft.com/office/drawing/2014/main" id="{5A1EE018-C973-49A6-990F-09E0616B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企業家的視角   招聘與成長</a:t>
            </a:r>
          </a:p>
        </p:txBody>
      </p:sp>
      <p:sp>
        <p:nvSpPr>
          <p:cNvPr id="2" name="slide-26-text-2">
            <a:extLst xmlns:a="http://schemas.openxmlformats.org/drawingml/2006/main">
              <a:ext uri="{FF2B5EF4-FFF2-40B4-BE49-F238E27FC236}">
                <a16:creationId xmlns:a16="http://schemas.microsoft.com/office/drawing/2014/main" id="{61766103-C644-43BC-85D4-A520F997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我會從作品中的選擇判斷人才</a:t>
            </a:r>
          </a:p>
        </p:txBody>
      </p:sp>
      <p:sp>
        <p:nvSpPr>
          <p:cNvPr id="3" name="slide-26-line-3">
            <a:extLst xmlns:a="http://schemas.openxmlformats.org/drawingml/2006/main">
              <a:ext uri="{FF2B5EF4-FFF2-40B4-BE49-F238E27FC236}">
                <a16:creationId xmlns:a16="http://schemas.microsoft.com/office/drawing/2014/main" id="{47B19CF9-4935-4004-B68A-3153E9D0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26-text-4">
            <a:extLst xmlns:a="http://schemas.openxmlformats.org/drawingml/2006/main">
              <a:ext uri="{FF2B5EF4-FFF2-40B4-BE49-F238E27FC236}">
                <a16:creationId xmlns:a16="http://schemas.microsoft.com/office/drawing/2014/main" id="{1619E592-5B5F-4396-A4A1-423B43AB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6-text-5">
            <a:extLst xmlns:a="http://schemas.openxmlformats.org/drawingml/2006/main">
              <a:ext uri="{FF2B5EF4-FFF2-40B4-BE49-F238E27FC236}">
                <a16:creationId xmlns:a16="http://schemas.microsoft.com/office/drawing/2014/main" id="{84E01B82-20B8-45AB-A532-8EC3E8C7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26 / 30</a:t>
            </a:r>
          </a:p>
        </p:txBody>
      </p:sp>
      <p:sp>
        <p:nvSpPr>
          <p:cNvPr id="6" name="slide-26-text-6">
            <a:extLst xmlns:a="http://schemas.openxmlformats.org/drawingml/2006/main">
              <a:ext uri="{FF2B5EF4-FFF2-40B4-BE49-F238E27FC236}">
                <a16:creationId xmlns:a16="http://schemas.microsoft.com/office/drawing/2014/main" id="{918C86D5-57A7-4025-A5DE-EE63B9AC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2571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問題選擇</a:t>
            </a:r>
          </a:p>
        </p:txBody>
      </p:sp>
      <p:sp>
        <p:nvSpPr>
          <p:cNvPr id="7" name="slide-26-text-7">
            <a:extLst xmlns:a="http://schemas.openxmlformats.org/drawingml/2006/main">
              <a:ext uri="{FF2B5EF4-FFF2-40B4-BE49-F238E27FC236}">
                <a16:creationId xmlns:a16="http://schemas.microsoft.com/office/drawing/2014/main" id="{273E9339-DB72-4913-B5BB-CC00F4AC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52725"/>
            <a:ext cx="866775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為甚麼值得做這件事？</a:t>
            </a:r>
          </a:p>
        </p:txBody>
      </p:sp>
      <p:sp>
        <p:nvSpPr>
          <p:cNvPr id="8" name="slide-26-line-8">
            <a:extLst xmlns:a="http://schemas.openxmlformats.org/drawingml/2006/main">
              <a:ext uri="{FF2B5EF4-FFF2-40B4-BE49-F238E27FC236}">
                <a16:creationId xmlns:a16="http://schemas.microsoft.com/office/drawing/2014/main" id="{5624EDA3-0128-453B-A955-6C218104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9" name="slide-26-text-9">
            <a:extLst xmlns:a="http://schemas.openxmlformats.org/drawingml/2006/main">
              <a:ext uri="{FF2B5EF4-FFF2-40B4-BE49-F238E27FC236}">
                <a16:creationId xmlns:a16="http://schemas.microsoft.com/office/drawing/2014/main" id="{F503ACDC-2964-4AA2-A031-ED87325B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14775"/>
            <a:ext cx="2571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判斷修訂</a:t>
            </a:r>
          </a:p>
        </p:txBody>
      </p:sp>
      <p:sp>
        <p:nvSpPr>
          <p:cNvPr id="10" name="slide-26-text-10">
            <a:extLst xmlns:a="http://schemas.openxmlformats.org/drawingml/2006/main">
              <a:ext uri="{FF2B5EF4-FFF2-40B4-BE49-F238E27FC236}">
                <a16:creationId xmlns:a16="http://schemas.microsoft.com/office/drawing/2014/main" id="{9620E17A-F51D-42A7-96F8-02AD46AE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76675"/>
            <a:ext cx="866775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哪一條資料改變了你的方案？</a:t>
            </a:r>
          </a:p>
        </p:txBody>
      </p:sp>
      <p:sp>
        <p:nvSpPr>
          <p:cNvPr id="11" name="slide-26-line-11">
            <a:extLst xmlns:a="http://schemas.openxmlformats.org/drawingml/2006/main">
              <a:ext uri="{FF2B5EF4-FFF2-40B4-BE49-F238E27FC236}">
                <a16:creationId xmlns:a16="http://schemas.microsoft.com/office/drawing/2014/main" id="{5F7160BA-5D12-4CDB-A0DF-7D438291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2" name="slide-26-text-12">
            <a:extLst xmlns:a="http://schemas.openxmlformats.org/drawingml/2006/main">
              <a:ext uri="{FF2B5EF4-FFF2-40B4-BE49-F238E27FC236}">
                <a16:creationId xmlns:a16="http://schemas.microsoft.com/office/drawing/2014/main" id="{B58C1F48-2794-4EE8-9B31-B8C24B9E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2571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下一次工作</a:t>
            </a:r>
          </a:p>
        </p:txBody>
      </p:sp>
      <p:sp>
        <p:nvSpPr>
          <p:cNvPr id="13" name="slide-26-text-13">
            <a:extLst xmlns:a="http://schemas.openxmlformats.org/drawingml/2006/main">
              <a:ext uri="{FF2B5EF4-FFF2-40B4-BE49-F238E27FC236}">
                <a16:creationId xmlns:a16="http://schemas.microsoft.com/office/drawing/2014/main" id="{07245F76-366C-47E7-A93F-DB104A43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00625"/>
            <a:ext cx="866775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換一種情境，哪些方法要改？</a:t>
            </a:r>
          </a:p>
        </p:txBody>
      </p:sp>
      <p:sp>
        <p:nvSpPr>
          <p:cNvPr id="14" name="slide-26-line-14">
            <a:extLst xmlns:a="http://schemas.openxmlformats.org/drawingml/2006/main">
              <a:ext uri="{FF2B5EF4-FFF2-40B4-BE49-F238E27FC236}">
                <a16:creationId xmlns:a16="http://schemas.microsoft.com/office/drawing/2014/main" id="{95939546-E298-44A5-9922-B24B7E49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97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702120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27-text-1">
            <a:extLst xmlns:a="http://schemas.openxmlformats.org/drawingml/2006/main">
              <a:ext uri="{FF2B5EF4-FFF2-40B4-BE49-F238E27FC236}">
                <a16:creationId xmlns:a16="http://schemas.microsoft.com/office/drawing/2014/main" id="{CF4A4A5F-40B1-4A3D-998A-B2D0B2B4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總結   從故事歸納</a:t>
            </a:r>
          </a:p>
        </p:txBody>
      </p:sp>
      <p:sp>
        <p:nvSpPr>
          <p:cNvPr id="2" name="slide-27-text-2">
            <a:extLst xmlns:a="http://schemas.openxmlformats.org/drawingml/2006/main">
              <a:ext uri="{FF2B5EF4-FFF2-40B4-BE49-F238E27FC236}">
                <a16:creationId xmlns:a16="http://schemas.microsoft.com/office/drawing/2014/main" id="{9A8DAE6A-15FD-45AB-9740-ED8B275A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人才能力，體現在工作的不同環節</a:t>
            </a:r>
          </a:p>
        </p:txBody>
      </p:sp>
      <p:sp>
        <p:nvSpPr>
          <p:cNvPr id="3" name="slide-27-line-3">
            <a:extLst xmlns:a="http://schemas.openxmlformats.org/drawingml/2006/main">
              <a:ext uri="{FF2B5EF4-FFF2-40B4-BE49-F238E27FC236}">
                <a16:creationId xmlns:a16="http://schemas.microsoft.com/office/drawing/2014/main" id="{0934041B-54B0-4C27-A1D6-E0323E26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27-text-4">
            <a:extLst xmlns:a="http://schemas.openxmlformats.org/drawingml/2006/main">
              <a:ext uri="{FF2B5EF4-FFF2-40B4-BE49-F238E27FC236}">
                <a16:creationId xmlns:a16="http://schemas.microsoft.com/office/drawing/2014/main" id="{82B28098-0D4B-4732-8EDB-060DA2C3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7-text-5">
            <a:extLst xmlns:a="http://schemas.openxmlformats.org/drawingml/2006/main">
              <a:ext uri="{FF2B5EF4-FFF2-40B4-BE49-F238E27FC236}">
                <a16:creationId xmlns:a16="http://schemas.microsoft.com/office/drawing/2014/main" id="{5FE707D2-97DA-4679-A437-392029CF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27 / 30</a:t>
            </a:r>
          </a:p>
        </p:txBody>
      </p:sp>
      <p:sp>
        <p:nvSpPr>
          <p:cNvPr id="6" name="slide-27-text-6">
            <a:extLst xmlns:a="http://schemas.openxmlformats.org/drawingml/2006/main">
              <a:ext uri="{FF2B5EF4-FFF2-40B4-BE49-F238E27FC236}">
                <a16:creationId xmlns:a16="http://schemas.microsoft.com/office/drawing/2014/main" id="{36D6E987-B2F3-41FB-A919-A9284EF3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判斷</a:t>
            </a:r>
          </a:p>
        </p:txBody>
      </p:sp>
      <p:sp>
        <p:nvSpPr>
          <p:cNvPr id="7" name="slide-27-line-7">
            <a:extLst xmlns:a="http://schemas.openxmlformats.org/drawingml/2006/main">
              <a:ext uri="{FF2B5EF4-FFF2-40B4-BE49-F238E27FC236}">
                <a16:creationId xmlns:a16="http://schemas.microsoft.com/office/drawing/2014/main" id="{B74DA568-C58C-46E1-B86C-BEF97C13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8" name="slide-27-text-8">
            <a:extLst xmlns:a="http://schemas.openxmlformats.org/drawingml/2006/main">
              <a:ext uri="{FF2B5EF4-FFF2-40B4-BE49-F238E27FC236}">
                <a16:creationId xmlns:a16="http://schemas.microsoft.com/office/drawing/2014/main" id="{369EAC25-1179-451E-8852-ACE3377D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問題與證據</a:t>
            </a:r>
          </a:p>
        </p:txBody>
      </p:sp>
      <p:sp>
        <p:nvSpPr>
          <p:cNvPr id="9" name="slide-27-text-9">
            <a:extLst xmlns:a="http://schemas.openxmlformats.org/drawingml/2006/main">
              <a:ext uri="{FF2B5EF4-FFF2-40B4-BE49-F238E27FC236}">
                <a16:creationId xmlns:a16="http://schemas.microsoft.com/office/drawing/2014/main" id="{1ED09D4E-72D1-421B-A714-AB09D96E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辨認值得投入的問題。</a:t>
            </a:r>
          </a:p>
        </p:txBody>
      </p:sp>
      <p:sp>
        <p:nvSpPr>
          <p:cNvPr id="10" name="slide-27-text-10">
            <a:extLst xmlns:a="http://schemas.openxmlformats.org/drawingml/2006/main">
              <a:ext uri="{FF2B5EF4-FFF2-40B4-BE49-F238E27FC236}">
                <a16:creationId xmlns:a16="http://schemas.microsoft.com/office/drawing/2014/main" id="{99A98C0C-C0BD-47F0-BB90-F0F62B84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依證據調整承諾。</a:t>
            </a:r>
          </a:p>
        </p:txBody>
      </p:sp>
      <p:sp>
        <p:nvSpPr>
          <p:cNvPr id="11" name="slide-27-text-11">
            <a:extLst xmlns:a="http://schemas.openxmlformats.org/drawingml/2006/main">
              <a:ext uri="{FF2B5EF4-FFF2-40B4-BE49-F238E27FC236}">
                <a16:creationId xmlns:a16="http://schemas.microsoft.com/office/drawing/2014/main" id="{3B22BC43-4418-422C-81EF-0FB35B8C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協作</a:t>
            </a:r>
          </a:p>
        </p:txBody>
      </p:sp>
      <p:sp>
        <p:nvSpPr>
          <p:cNvPr id="12" name="slide-27-line-12">
            <a:extLst xmlns:a="http://schemas.openxmlformats.org/drawingml/2006/main">
              <a:ext uri="{FF2B5EF4-FFF2-40B4-BE49-F238E27FC236}">
                <a16:creationId xmlns:a16="http://schemas.microsoft.com/office/drawing/2014/main" id="{7C777FAE-A621-40C0-8429-91FD6D0A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3" name="slide-27-text-13">
            <a:extLst xmlns:a="http://schemas.openxmlformats.org/drawingml/2006/main">
              <a:ext uri="{FF2B5EF4-FFF2-40B4-BE49-F238E27FC236}">
                <a16:creationId xmlns:a16="http://schemas.microsoft.com/office/drawing/2014/main" id="{DCE31663-248F-445A-9D5E-9329143B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委託與交接</a:t>
            </a:r>
          </a:p>
        </p:txBody>
      </p:sp>
      <p:sp>
        <p:nvSpPr>
          <p:cNvPr id="14" name="slide-27-text-14">
            <a:extLst xmlns:a="http://schemas.openxmlformats.org/drawingml/2006/main">
              <a:ext uri="{FF2B5EF4-FFF2-40B4-BE49-F238E27FC236}">
                <a16:creationId xmlns:a16="http://schemas.microsoft.com/office/drawing/2014/main" id="{8760A80F-EB69-408F-B190-0DFDFDC7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讓不同角色理解任務。</a:t>
            </a:r>
          </a:p>
        </p:txBody>
      </p:sp>
      <p:sp>
        <p:nvSpPr>
          <p:cNvPr id="15" name="slide-27-text-15">
            <a:extLst xmlns:a="http://schemas.openxmlformats.org/drawingml/2006/main">
              <a:ext uri="{FF2B5EF4-FFF2-40B4-BE49-F238E27FC236}">
                <a16:creationId xmlns:a16="http://schemas.microsoft.com/office/drawing/2014/main" id="{88F97B00-F41D-425C-BAE0-7C7DCD5A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說明分工與需要確認之處。</a:t>
            </a:r>
          </a:p>
        </p:txBody>
      </p:sp>
      <p:sp>
        <p:nvSpPr>
          <p:cNvPr id="16" name="slide-27-text-16">
            <a:extLst xmlns:a="http://schemas.openxmlformats.org/drawingml/2006/main">
              <a:ext uri="{FF2B5EF4-FFF2-40B4-BE49-F238E27FC236}">
                <a16:creationId xmlns:a16="http://schemas.microsoft.com/office/drawing/2014/main" id="{20EA70B3-B826-4293-80D8-15A2BB97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學習</a:t>
            </a:r>
          </a:p>
        </p:txBody>
      </p:sp>
      <p:sp>
        <p:nvSpPr>
          <p:cNvPr id="17" name="slide-27-line-17">
            <a:extLst xmlns:a="http://schemas.openxmlformats.org/drawingml/2006/main">
              <a:ext uri="{FF2B5EF4-FFF2-40B4-BE49-F238E27FC236}">
                <a16:creationId xmlns:a16="http://schemas.microsoft.com/office/drawing/2014/main" id="{571C84E3-71F6-41F9-80FB-15912701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8" name="slide-27-text-18">
            <a:extLst xmlns:a="http://schemas.openxmlformats.org/drawingml/2006/main">
              <a:ext uri="{FF2B5EF4-FFF2-40B4-BE49-F238E27FC236}">
                <a16:creationId xmlns:a16="http://schemas.microsoft.com/office/drawing/2014/main" id="{C3037800-7138-4DFA-B456-95A217E0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修訂與遷移</a:t>
            </a:r>
          </a:p>
        </p:txBody>
      </p:sp>
      <p:sp>
        <p:nvSpPr>
          <p:cNvPr id="19" name="slide-27-text-19">
            <a:extLst xmlns:a="http://schemas.openxmlformats.org/drawingml/2006/main">
              <a:ext uri="{FF2B5EF4-FFF2-40B4-BE49-F238E27FC236}">
                <a16:creationId xmlns:a16="http://schemas.microsoft.com/office/drawing/2014/main" id="{91F5207A-BF82-4AB6-B7CD-BA3C55B6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解釋修改的理由。</a:t>
            </a:r>
          </a:p>
        </p:txBody>
      </p:sp>
      <p:sp>
        <p:nvSpPr>
          <p:cNvPr id="20" name="slide-27-text-20">
            <a:extLst xmlns:a="http://schemas.openxmlformats.org/drawingml/2006/main">
              <a:ext uri="{FF2B5EF4-FFF2-40B4-BE49-F238E27FC236}">
                <a16:creationId xmlns:a16="http://schemas.microsoft.com/office/drawing/2014/main" id="{4EA1E036-7CF0-4DB8-B7B9-29BF2E7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在新條件下檢查原有方法。</a:t>
            </a:r>
          </a:p>
        </p:txBody>
      </p:sp>
      <p:sp>
        <p:nvSpPr>
          <p:cNvPr id="21" name="slide-27-text-21">
            <a:extLst xmlns:a="http://schemas.openxmlformats.org/drawingml/2006/main">
              <a:ext uri="{FF2B5EF4-FFF2-40B4-BE49-F238E27FC236}">
                <a16:creationId xmlns:a16="http://schemas.microsoft.com/office/drawing/2014/main" id="{D04F6854-32A0-42CA-AE2E-DE503FF2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專業知識是基礎。責任與任務、授權及支援條件相稱。</a:t>
            </a:r>
          </a:p>
        </p:txBody>
      </p:sp>
    </p:spTree>
    <p:extLst>
      <p:ext uri="{BB962C8B-B14F-4D97-AF65-F5344CB8AC3E}">
        <p14:creationId xmlns:p14="http://schemas.microsoft.com/office/powerpoint/2010/main" val="87674884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28-text-1">
            <a:extLst xmlns:a="http://schemas.openxmlformats.org/drawingml/2006/main">
              <a:ext uri="{FF2B5EF4-FFF2-40B4-BE49-F238E27FC236}">
                <a16:creationId xmlns:a16="http://schemas.microsoft.com/office/drawing/2014/main" id="{E450A28C-208F-4C78-9149-C13B92C5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學生可以開始的實踐</a:t>
            </a:r>
          </a:p>
        </p:txBody>
      </p:sp>
      <p:sp>
        <p:nvSpPr>
          <p:cNvPr id="2" name="slide-28-text-2">
            <a:extLst xmlns:a="http://schemas.openxmlformats.org/drawingml/2006/main">
              <a:ext uri="{FF2B5EF4-FFF2-40B4-BE49-F238E27FC236}">
                <a16:creationId xmlns:a16="http://schemas.microsoft.com/office/drawing/2014/main" id="{CF9C3DFC-1C09-48EF-804B-B428399D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大學中的小項目，也能留下工作證據</a:t>
            </a:r>
          </a:p>
        </p:txBody>
      </p:sp>
      <p:sp>
        <p:nvSpPr>
          <p:cNvPr id="3" name="slide-28-line-3">
            <a:extLst xmlns:a="http://schemas.openxmlformats.org/drawingml/2006/main">
              <a:ext uri="{FF2B5EF4-FFF2-40B4-BE49-F238E27FC236}">
                <a16:creationId xmlns:a16="http://schemas.microsoft.com/office/drawing/2014/main" id="{63A8EDCE-6591-4B0B-A310-A1AA6092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28-text-4">
            <a:extLst xmlns:a="http://schemas.openxmlformats.org/drawingml/2006/main">
              <a:ext uri="{FF2B5EF4-FFF2-40B4-BE49-F238E27FC236}">
                <a16:creationId xmlns:a16="http://schemas.microsoft.com/office/drawing/2014/main" id="{6470F34B-05C2-4463-BDCB-10A6FADB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8-text-5">
            <a:extLst xmlns:a="http://schemas.openxmlformats.org/drawingml/2006/main">
              <a:ext uri="{FF2B5EF4-FFF2-40B4-BE49-F238E27FC236}">
                <a16:creationId xmlns:a16="http://schemas.microsoft.com/office/drawing/2014/main" id="{EE35EB77-6002-4391-97F4-F5C42F15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28 / 30</a:t>
            </a:r>
          </a:p>
        </p:txBody>
      </p:sp>
      <p:sp>
        <p:nvSpPr>
          <p:cNvPr id="6" name="slide-28-text-6">
            <a:extLst xmlns:a="http://schemas.openxmlformats.org/drawingml/2006/main">
              <a:ext uri="{FF2B5EF4-FFF2-40B4-BE49-F238E27FC236}">
                <a16:creationId xmlns:a16="http://schemas.microsoft.com/office/drawing/2014/main" id="{F3E1B5E9-A43A-450D-8C1B-E5BD15C5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16205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5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5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一個真實對象</a:t>
            </a:r>
          </a:p>
        </p:txBody>
      </p:sp>
      <p:sp>
        <p:nvSpPr>
          <p:cNvPr id="7" name="slide-28-text-7">
            <a:extLst xmlns:a="http://schemas.openxmlformats.org/drawingml/2006/main">
              <a:ext uri="{FF2B5EF4-FFF2-40B4-BE49-F238E27FC236}">
                <a16:creationId xmlns:a16="http://schemas.microsoft.com/office/drawing/2014/main" id="{A41B590B-A9E7-4F06-BFE9-3A969892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7580"/>
            <a:ext cx="116205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5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5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一項範圍清楚的任務</a:t>
            </a:r>
          </a:p>
        </p:txBody>
      </p:sp>
      <p:sp>
        <p:nvSpPr>
          <p:cNvPr id="8" name="slide-28-text-8">
            <a:extLst xmlns:a="http://schemas.openxmlformats.org/drawingml/2006/main">
              <a:ext uri="{FF2B5EF4-FFF2-40B4-BE49-F238E27FC236}">
                <a16:creationId xmlns:a16="http://schemas.microsoft.com/office/drawing/2014/main" id="{9D003D0C-F6ED-4A57-9629-DEEC5B84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2001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例如：把一篇學科文章，解釋給不同專業的同學。</a:t>
            </a:r>
          </a:p>
        </p:txBody>
      </p:sp>
      <p:sp>
        <p:nvSpPr>
          <p:cNvPr id="9" name="slide-28-text-9">
            <a:extLst xmlns:a="http://schemas.openxmlformats.org/drawingml/2006/main">
              <a:ext uri="{FF2B5EF4-FFF2-40B4-BE49-F238E27FC236}">
                <a16:creationId xmlns:a16="http://schemas.microsoft.com/office/drawing/2014/main" id="{94F420F5-4B33-45E4-A470-C33CB761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7216"/>
            <a:ext cx="12001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保存關鍵來源，以及一次根據回饋作出的修訂。</a:t>
            </a:r>
          </a:p>
        </p:txBody>
      </p:sp>
      <p:sp>
        <p:nvSpPr>
          <p:cNvPr id="10" name="slide-28-text-10">
            <a:extLst xmlns:a="http://schemas.openxmlformats.org/drawingml/2006/main">
              <a:ext uri="{FF2B5EF4-FFF2-40B4-BE49-F238E27FC236}">
                <a16:creationId xmlns:a16="http://schemas.microsoft.com/office/drawing/2014/main" id="{1333AEBD-97F9-4482-B9A8-8DF59196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遵守課程 AI 規定，取得材料與回饋的使用授權。</a:t>
            </a:r>
          </a:p>
        </p:txBody>
      </p:sp>
    </p:spTree>
    <p:extLst>
      <p:ext uri="{BB962C8B-B14F-4D97-AF65-F5344CB8AC3E}">
        <p14:creationId xmlns:p14="http://schemas.microsoft.com/office/powerpoint/2010/main" val="82279953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29-text-1">
            <a:extLst xmlns:a="http://schemas.openxmlformats.org/drawingml/2006/main">
              <a:ext uri="{FF2B5EF4-FFF2-40B4-BE49-F238E27FC236}">
                <a16:creationId xmlns:a16="http://schemas.microsoft.com/office/drawing/2014/main" id="{1C99B96D-A91C-4EEC-9D92-D4537239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總結   回應開場</a:t>
            </a:r>
          </a:p>
        </p:txBody>
      </p:sp>
      <p:sp>
        <p:nvSpPr>
          <p:cNvPr id="2" name="slide-29-text-2">
            <a:extLst xmlns:a="http://schemas.openxmlformats.org/drawingml/2006/main">
              <a:ext uri="{FF2B5EF4-FFF2-40B4-BE49-F238E27FC236}">
                <a16:creationId xmlns:a16="http://schemas.microsoft.com/office/drawing/2014/main" id="{3F495AAF-B73A-46AB-8978-1E9410AE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回到那位準備課堂的教師</a:t>
            </a:r>
          </a:p>
        </p:txBody>
      </p:sp>
      <p:sp>
        <p:nvSpPr>
          <p:cNvPr id="3" name="slide-29-line-3">
            <a:extLst xmlns:a="http://schemas.openxmlformats.org/drawingml/2006/main">
              <a:ext uri="{FF2B5EF4-FFF2-40B4-BE49-F238E27FC236}">
                <a16:creationId xmlns:a16="http://schemas.microsoft.com/office/drawing/2014/main" id="{B1909F5E-5E9A-48BA-90EB-4F0BECF7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29-text-4">
            <a:extLst xmlns:a="http://schemas.openxmlformats.org/drawingml/2006/main">
              <a:ext uri="{FF2B5EF4-FFF2-40B4-BE49-F238E27FC236}">
                <a16:creationId xmlns:a16="http://schemas.microsoft.com/office/drawing/2014/main" id="{BBA1600A-1059-495D-8E1B-0C21902B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9-text-5">
            <a:extLst xmlns:a="http://schemas.openxmlformats.org/drawingml/2006/main">
              <a:ext uri="{FF2B5EF4-FFF2-40B4-BE49-F238E27FC236}">
                <a16:creationId xmlns:a16="http://schemas.microsoft.com/office/drawing/2014/main" id="{FFAF1184-1A32-403F-8F0A-A1EE1142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29 / 30</a:t>
            </a:r>
          </a:p>
        </p:txBody>
      </p:sp>
      <p:sp>
        <p:nvSpPr>
          <p:cNvPr id="6" name="slide-29-text-6">
            <a:extLst xmlns:a="http://schemas.openxmlformats.org/drawingml/2006/main">
              <a:ext uri="{FF2B5EF4-FFF2-40B4-BE49-F238E27FC236}">
                <a16:creationId xmlns:a16="http://schemas.microsoft.com/office/drawing/2014/main" id="{11DFA670-570E-40D4-9EDD-F51B94ED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1190625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教師需要完成一次備課</a:t>
            </a:r>
          </a:p>
        </p:txBody>
      </p:sp>
      <p:sp>
        <p:nvSpPr>
          <p:cNvPr id="7" name="slide-29-text-7">
            <a:extLst xmlns:a="http://schemas.openxmlformats.org/drawingml/2006/main">
              <a:ext uri="{FF2B5EF4-FFF2-40B4-BE49-F238E27FC236}">
                <a16:creationId xmlns:a16="http://schemas.microsoft.com/office/drawing/2014/main" id="{20150A8D-772C-476D-8645-C1E975E4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120015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清楚的委託，讓團隊知道要做甚麼。</a:t>
            </a:r>
          </a:p>
        </p:txBody>
      </p:sp>
      <p:sp>
        <p:nvSpPr>
          <p:cNvPr id="8" name="slide-29-text-8">
            <a:extLst xmlns:a="http://schemas.openxmlformats.org/drawingml/2006/main">
              <a:ext uri="{FF2B5EF4-FFF2-40B4-BE49-F238E27FC236}">
                <a16:creationId xmlns:a16="http://schemas.microsoft.com/office/drawing/2014/main" id="{7AA9AA14-CB71-46D5-B1A0-666CB722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7517"/>
            <a:ext cx="120015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準確的說明，讓教師知道可以相信到哪裏。</a:t>
            </a:r>
          </a:p>
        </p:txBody>
      </p:sp>
      <p:sp>
        <p:nvSpPr>
          <p:cNvPr id="9" name="slide-29-text-9">
            <a:extLst xmlns:a="http://schemas.openxmlformats.org/drawingml/2006/main">
              <a:ext uri="{FF2B5EF4-FFF2-40B4-BE49-F238E27FC236}">
                <a16:creationId xmlns:a16="http://schemas.microsoft.com/office/drawing/2014/main" id="{16BB3756-C680-4B6F-867A-EEAE7427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7384"/>
            <a:ext cx="120015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實際的回饋，讓下一版有修改的依據。</a:t>
            </a:r>
          </a:p>
        </p:txBody>
      </p:sp>
      <p:sp>
        <p:nvSpPr>
          <p:cNvPr id="10" name="slide-29-text-10">
            <a:extLst xmlns:a="http://schemas.openxmlformats.org/drawingml/2006/main">
              <a:ext uri="{FF2B5EF4-FFF2-40B4-BE49-F238E27FC236}">
                <a16:creationId xmlns:a16="http://schemas.microsoft.com/office/drawing/2014/main" id="{B4D46B2E-CF6D-4D23-99C2-AFE79C6A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真實評審片段引出問題，構擬案例用於分析，不宣稱成效。</a:t>
            </a:r>
          </a:p>
        </p:txBody>
      </p:sp>
    </p:spTree>
    <p:extLst>
      <p:ext uri="{BB962C8B-B14F-4D97-AF65-F5344CB8AC3E}">
        <p14:creationId xmlns:p14="http://schemas.microsoft.com/office/powerpoint/2010/main" val="174138003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30-text-1">
            <a:extLst xmlns:a="http://schemas.openxmlformats.org/drawingml/2006/main">
              <a:ext uri="{FF2B5EF4-FFF2-40B4-BE49-F238E27FC236}">
                <a16:creationId xmlns:a16="http://schemas.microsoft.com/office/drawing/2014/main" id="{2CB032F3-CF1A-4E18-984B-57C49CC6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結語與討論</a:t>
            </a:r>
          </a:p>
        </p:txBody>
      </p:sp>
      <p:sp>
        <p:nvSpPr>
          <p:cNvPr id="2" name="slide-30-text-2">
            <a:extLst xmlns:a="http://schemas.openxmlformats.org/drawingml/2006/main">
              <a:ext uri="{FF2B5EF4-FFF2-40B4-BE49-F238E27FC236}">
                <a16:creationId xmlns:a16="http://schemas.microsoft.com/office/drawing/2014/main" id="{F6BB8113-54E7-4B85-96CF-2137A613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中文傳意與未來人才</a:t>
            </a:r>
          </a:p>
        </p:txBody>
      </p:sp>
      <p:sp>
        <p:nvSpPr>
          <p:cNvPr id="3" name="slide-30-line-3">
            <a:extLst xmlns:a="http://schemas.openxmlformats.org/drawingml/2006/main">
              <a:ext uri="{FF2B5EF4-FFF2-40B4-BE49-F238E27FC236}">
                <a16:creationId xmlns:a16="http://schemas.microsoft.com/office/drawing/2014/main" id="{8DB845C0-421B-404A-8305-0F008DAB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30-text-4">
            <a:extLst xmlns:a="http://schemas.openxmlformats.org/drawingml/2006/main">
              <a:ext uri="{FF2B5EF4-FFF2-40B4-BE49-F238E27FC236}">
                <a16:creationId xmlns:a16="http://schemas.microsoft.com/office/drawing/2014/main" id="{AEB90C82-A614-49F1-9D5E-C093AB62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30-text-5">
            <a:extLst xmlns:a="http://schemas.openxmlformats.org/drawingml/2006/main">
              <a:ext uri="{FF2B5EF4-FFF2-40B4-BE49-F238E27FC236}">
                <a16:creationId xmlns:a16="http://schemas.microsoft.com/office/drawing/2014/main" id="{2B77DEC5-5B68-4104-8449-9B7AFB56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30 / 30</a:t>
            </a:r>
          </a:p>
        </p:txBody>
      </p:sp>
      <p:sp>
        <p:nvSpPr>
          <p:cNvPr id="6" name="slide-30-text-6">
            <a:extLst xmlns:a="http://schemas.openxmlformats.org/drawingml/2006/main">
              <a:ext uri="{FF2B5EF4-FFF2-40B4-BE49-F238E27FC236}">
                <a16:creationId xmlns:a16="http://schemas.microsoft.com/office/drawing/2014/main" id="{82302841-0275-438B-8B99-6B477D35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209675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8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8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AI 擴大可以嘗試的工作</a:t>
            </a:r>
          </a:p>
        </p:txBody>
      </p:sp>
      <p:sp>
        <p:nvSpPr>
          <p:cNvPr id="7" name="slide-30-text-7">
            <a:extLst xmlns:a="http://schemas.openxmlformats.org/drawingml/2006/main">
              <a:ext uri="{FF2B5EF4-FFF2-40B4-BE49-F238E27FC236}">
                <a16:creationId xmlns:a16="http://schemas.microsoft.com/office/drawing/2014/main" id="{77EF36BB-F3AF-4C22-B4B4-10B24A17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11906250" cy="479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7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專業判斷讓我們知道如何選擇、承諾到哪裏，</a:t>
            </a:r>
          </a:p>
        </p:txBody>
      </p:sp>
      <p:sp>
        <p:nvSpPr>
          <p:cNvPr id="8" name="slide-30-text-8">
            <a:extLst xmlns:a="http://schemas.openxmlformats.org/drawingml/2006/main">
              <a:ext uri="{FF2B5EF4-FFF2-40B4-BE49-F238E27FC236}">
                <a16:creationId xmlns:a16="http://schemas.microsoft.com/office/drawing/2014/main" id="{CC65DACD-87CC-4B72-955F-BD718376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9994"/>
            <a:ext cx="11906250" cy="479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7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以及何時需要修訂。</a:t>
            </a:r>
          </a:p>
        </p:txBody>
      </p:sp>
      <p:sp>
        <p:nvSpPr>
          <p:cNvPr id="9" name="slide-30-text-9">
            <a:extLst xmlns:a="http://schemas.openxmlformats.org/drawingml/2006/main">
              <a:ext uri="{FF2B5EF4-FFF2-40B4-BE49-F238E27FC236}">
                <a16:creationId xmlns:a16="http://schemas.microsoft.com/office/drawing/2014/main" id="{899DECAD-6E43-4AB9-AD8E-1008618E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48325"/>
            <a:ext cx="5238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討論</a:t>
            </a:r>
          </a:p>
        </p:txBody>
      </p:sp>
      <p:sp>
        <p:nvSpPr>
          <p:cNvPr id="10" name="slide-30-text-10">
            <a:extLst xmlns:a="http://schemas.openxmlformats.org/drawingml/2006/main">
              <a:ext uri="{FF2B5EF4-FFF2-40B4-BE49-F238E27FC236}">
                <a16:creationId xmlns:a16="http://schemas.microsoft.com/office/drawing/2014/main" id="{87736290-A009-4717-81A9-05CB8DDB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48325"/>
            <a:ext cx="105727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在你的專業裏，哪些判斷需要親自練習？</a:t>
            </a:r>
          </a:p>
        </p:txBody>
      </p:sp>
    </p:spTree>
    <p:extLst>
      <p:ext uri="{BB962C8B-B14F-4D97-AF65-F5344CB8AC3E}">
        <p14:creationId xmlns:p14="http://schemas.microsoft.com/office/powerpoint/2010/main" val="806524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2026-09-21T15:22:09.5260000Z</dcterms:created>
  <dcterms:modified xsi:type="dcterms:W3CDTF">2026-09-21T15:22:09.5260000Z</dcterms:modified>
</coreProperties>
</file>