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43b4b9870d45be" /><Relationship Type="http://schemas.openxmlformats.org/officeDocument/2006/relationships/extended-properties" Target="/docProps/app.xml" Id="R35fedab2e22345bb" /><Relationship Type="http://schemas.openxmlformats.org/officeDocument/2006/relationships/officeDocument" Target="/ppt/presentation.xml" Id="Re090e2f5832e4c2a" /></Relationships>
</file>

<file path=ppt/presentation.xml><?xml version="1.0" encoding="utf-8"?>
<p:presentation xmlns:p="http://schemas.openxmlformats.org/presentationml/2006/main">
  <p:sldMasterIdLst>
    <p:sldMasterId xmlns:r="http://schemas.openxmlformats.org/officeDocument/2006/relationships" id="2147483648" r:id="R31c47143c90c4b27"/>
  </p:sldMasterIdLst>
  <p:notesMasterIdLst>
    <p:notesMasterId xmlns:r="http://schemas.openxmlformats.org/officeDocument/2006/relationships" r:id="Rbbaf16a0fb314c06"/>
  </p:notesMasterIdLst>
  <p:sldIdLst>
    <p:sldId xmlns:r="http://schemas.openxmlformats.org/officeDocument/2006/relationships" id="256" r:id="Re65d7835aa454fb0"/>
    <p:sldId xmlns:r="http://schemas.openxmlformats.org/officeDocument/2006/relationships" id="257" r:id="R78c9ca22cd9746bf"/>
    <p:sldId xmlns:r="http://schemas.openxmlformats.org/officeDocument/2006/relationships" id="258" r:id="R6f2be0dc71d84f95"/>
    <p:sldId xmlns:r="http://schemas.openxmlformats.org/officeDocument/2006/relationships" id="259" r:id="R7725075250fe4baf"/>
    <p:sldId xmlns:r="http://schemas.openxmlformats.org/officeDocument/2006/relationships" id="260" r:id="R60c4b5d8d8ab4f7b"/>
    <p:sldId xmlns:r="http://schemas.openxmlformats.org/officeDocument/2006/relationships" id="261" r:id="R2f8286dfebe24efe"/>
    <p:sldId xmlns:r="http://schemas.openxmlformats.org/officeDocument/2006/relationships" id="262" r:id="R5488d1aecf81460c"/>
    <p:sldId xmlns:r="http://schemas.openxmlformats.org/officeDocument/2006/relationships" id="263" r:id="Re8d587e880a24ef6"/>
    <p:sldId xmlns:r="http://schemas.openxmlformats.org/officeDocument/2006/relationships" id="264" r:id="R3f0890464dae42ba"/>
    <p:sldId xmlns:r="http://schemas.openxmlformats.org/officeDocument/2006/relationships" id="265" r:id="R78148363c03946f9"/>
    <p:sldId xmlns:r="http://schemas.openxmlformats.org/officeDocument/2006/relationships" id="266" r:id="Ra9327c95fe734e6c"/>
    <p:sldId xmlns:r="http://schemas.openxmlformats.org/officeDocument/2006/relationships" id="267" r:id="R86d329673ef04858"/>
    <p:sldId xmlns:r="http://schemas.openxmlformats.org/officeDocument/2006/relationships" id="268" r:id="R9abeb5dae2514156"/>
    <p:sldId xmlns:r="http://schemas.openxmlformats.org/officeDocument/2006/relationships" id="269" r:id="Rd7a1c5818d3d4f18"/>
    <p:sldId xmlns:r="http://schemas.openxmlformats.org/officeDocument/2006/relationships" id="270" r:id="R3f2c64deefd5454f"/>
    <p:sldId xmlns:r="http://schemas.openxmlformats.org/officeDocument/2006/relationships" id="271" r:id="R0ece0fe4e0f14859"/>
    <p:sldId xmlns:r="http://schemas.openxmlformats.org/officeDocument/2006/relationships" id="272" r:id="R128f0c62451841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777a6c932248b9" /><Relationship Type="http://schemas.openxmlformats.org/officeDocument/2006/relationships/slideMaster" Target="/ppt/slideMasters/slideMaster1.xml" Id="R31c47143c90c4b27" /><Relationship Type="http://schemas.openxmlformats.org/officeDocument/2006/relationships/notesMaster" Target="/ppt/notesMasters/notesMaster1.xml" Id="Rbbaf16a0fb314c06" /><Relationship Type="http://schemas.openxmlformats.org/officeDocument/2006/relationships/presProps" Target="/ppt/presProps.xml" Id="R2d141d96b36245f5" /><Relationship Type="http://schemas.openxmlformats.org/officeDocument/2006/relationships/tableStyles" Target="/ppt/tableStyles.xml" Id="R7f29bb155bbf4ecb" /><Relationship Type="http://schemas.openxmlformats.org/officeDocument/2006/relationships/slide" Target="/ppt/slides/slide1.xml" Id="Re65d7835aa454fb0" /><Relationship Type="http://schemas.openxmlformats.org/officeDocument/2006/relationships/slide" Target="/ppt/slides/slide2.xml" Id="R78c9ca22cd9746bf" /><Relationship Type="http://schemas.openxmlformats.org/officeDocument/2006/relationships/slide" Target="/ppt/slides/slide3.xml" Id="R6f2be0dc71d84f95" /><Relationship Type="http://schemas.openxmlformats.org/officeDocument/2006/relationships/slide" Target="/ppt/slides/slide4.xml" Id="R7725075250fe4baf" /><Relationship Type="http://schemas.openxmlformats.org/officeDocument/2006/relationships/slide" Target="/ppt/slides/slide5.xml" Id="R60c4b5d8d8ab4f7b" /><Relationship Type="http://schemas.openxmlformats.org/officeDocument/2006/relationships/slide" Target="/ppt/slides/slide6.xml" Id="R2f8286dfebe24efe" /><Relationship Type="http://schemas.openxmlformats.org/officeDocument/2006/relationships/slide" Target="/ppt/slides/slide7.xml" Id="R5488d1aecf81460c" /><Relationship Type="http://schemas.openxmlformats.org/officeDocument/2006/relationships/slide" Target="/ppt/slides/slide8.xml" Id="Re8d587e880a24ef6" /><Relationship Type="http://schemas.openxmlformats.org/officeDocument/2006/relationships/slide" Target="/ppt/slides/slide9.xml" Id="R3f0890464dae42ba" /><Relationship Type="http://schemas.openxmlformats.org/officeDocument/2006/relationships/slide" Target="/ppt/slides/slide10.xml" Id="R78148363c03946f9" /><Relationship Type="http://schemas.openxmlformats.org/officeDocument/2006/relationships/slide" Target="/ppt/slides/slide11.xml" Id="Ra9327c95fe734e6c" /><Relationship Type="http://schemas.openxmlformats.org/officeDocument/2006/relationships/slide" Target="/ppt/slides/slide12.xml" Id="R86d329673ef04858" /><Relationship Type="http://schemas.openxmlformats.org/officeDocument/2006/relationships/slide" Target="/ppt/slides/slide13.xml" Id="R9abeb5dae2514156" /><Relationship Type="http://schemas.openxmlformats.org/officeDocument/2006/relationships/slide" Target="/ppt/slides/slide14.xml" Id="Rd7a1c5818d3d4f18" /><Relationship Type="http://schemas.openxmlformats.org/officeDocument/2006/relationships/slide" Target="/ppt/slides/slide15.xml" Id="R3f2c64deefd5454f" /><Relationship Type="http://schemas.openxmlformats.org/officeDocument/2006/relationships/slide" Target="/ppt/slides/slide16.xml" Id="R0ece0fe4e0f14859" /><Relationship Type="http://schemas.openxmlformats.org/officeDocument/2006/relationships/slide" Target="/ppt/slides/slide17.xml" Id="R128f0c62451841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9ac319b4f447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coRobo conferen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64D2C4"/>
      </a:hlink>
      <a:folHlink>
        <a:srgbClr val="64D2C4"/>
      </a:folHlink>
    </a:clrScheme>
    <a:fontScheme name="Office">
      <a:majorFont>
        <a:latin typeface="Calibri Light"/>
        <a:ea typeface="Calibri Light"/>
        <a:cs typeface="Calibri Light"/>
      </a:majorFont>
      <a:minorFont>
        <a:latin typeface="Calibri"/>
        <a:ea typeface="Calibri"/>
        <a:cs typeface="Calibri"/>
      </a:minorFont>
    </a:fontScheme>
    <a:fmtScheme name="CocoRobo con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9bb4494c434a74" /><Relationship Type="http://schemas.openxmlformats.org/officeDocument/2006/relationships/notesMaster" Target="/ppt/notesMasters/notesMaster1.xml" Id="Rfacb81a2098448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dcd1003d894bcf" /><Relationship Type="http://schemas.openxmlformats.org/officeDocument/2006/relationships/notesMaster" Target="/ppt/notesMasters/notesMaster1.xml" Id="Rc1106322157343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dfa58c4a4b4ded" /><Relationship Type="http://schemas.openxmlformats.org/officeDocument/2006/relationships/notesMaster" Target="/ppt/notesMasters/notesMaster1.xml" Id="R257cac8ac99841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b474826bc14967" /><Relationship Type="http://schemas.openxmlformats.org/officeDocument/2006/relationships/notesMaster" Target="/ppt/notesMasters/notesMaster1.xml" Id="R71f32d2c7e7941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0e3672cadf492b" /><Relationship Type="http://schemas.openxmlformats.org/officeDocument/2006/relationships/notesMaster" Target="/ppt/notesMasters/notesMaster1.xml" Id="Rf23a1d4376034b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3291ee71724afc" /><Relationship Type="http://schemas.openxmlformats.org/officeDocument/2006/relationships/notesMaster" Target="/ppt/notesMasters/notesMaster1.xml" Id="Rbd7a94227d6c4e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49235d506d415a" /><Relationship Type="http://schemas.openxmlformats.org/officeDocument/2006/relationships/notesMaster" Target="/ppt/notesMasters/notesMaster1.xml" Id="Rb2ea3b1231724c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80a2926d0744a3" /><Relationship Type="http://schemas.openxmlformats.org/officeDocument/2006/relationships/notesMaster" Target="/ppt/notesMasters/notesMaster1.xml" Id="R376c8a39a3984e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a65fc0251f466a" /><Relationship Type="http://schemas.openxmlformats.org/officeDocument/2006/relationships/notesMaster" Target="/ppt/notesMasters/notesMaster1.xml" Id="Re32e06c8189541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196e5d208646fd" /><Relationship Type="http://schemas.openxmlformats.org/officeDocument/2006/relationships/notesMaster" Target="/ppt/notesMasters/notesMaster1.xml" Id="R6bc95dcbbe8e45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a09ff42344440c" /><Relationship Type="http://schemas.openxmlformats.org/officeDocument/2006/relationships/notesMaster" Target="/ppt/notesMasters/notesMaster1.xml" Id="R488af6a309c04a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c8355a62c649df" /><Relationship Type="http://schemas.openxmlformats.org/officeDocument/2006/relationships/notesMaster" Target="/ppt/notesMasters/notesMaster1.xml" Id="R3be168705a864b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713c7d59e14c5d" /><Relationship Type="http://schemas.openxmlformats.org/officeDocument/2006/relationships/notesMaster" Target="/ppt/notesMasters/notesMaster1.xml" Id="Rd76b078ecd7346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caf2e36e8f4428" /><Relationship Type="http://schemas.openxmlformats.org/officeDocument/2006/relationships/notesMaster" Target="/ppt/notesMasters/notesMaster1.xml" Id="R613d8aff867c46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7b12af353040d4" /><Relationship Type="http://schemas.openxmlformats.org/officeDocument/2006/relationships/notesMaster" Target="/ppt/notesMasters/notesMaster1.xml" Id="R1e7584645a2c44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05012ba1f542b9" /><Relationship Type="http://schemas.openxmlformats.org/officeDocument/2006/relationships/notesMaster" Target="/ppt/notesMasters/notesMaster1.xml" Id="Rdc4d640b034f4c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77572f1bab4a9d" /><Relationship Type="http://schemas.openxmlformats.org/officeDocument/2006/relationships/notesMaster" Target="/ppt/notesMasters/notesMaster1.xml" Id="Re6a2231c753a4a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 20 seconds</a:t>
            </a:r>
          </a:p>
          <a:p xmlns:a="http://schemas.openxmlformats.org/drawingml/2006/main">
            <a:r>
              <a:t/>
            </a:r>
          </a:p>
          <a:p xmlns:a="http://schemas.openxmlformats.org/drawingml/2006/main">
            <a:r>
              <a:t>Good morning. I’m Haiyang Xin from CocoRobo. We work with teachers to build AI support for learning. Today, I will share our practice, our research, and the partnership that connects them.</a:t>
            </a:r>
          </a:p>
          <a:p xmlns:a="http://schemas.openxmlformats.org/drawingml/2006/main">
            <a:r>
              <a:t/>
            </a:r>
          </a:p>
          <a:p xmlns:a="http://schemas.openxmlformats.org/drawingml/2006/main">
            <a:r>
              <a:t>[Sources]</a:t>
            </a:r>
          </a:p>
          <a:p xmlns:a="http://schemas.openxmlformats.org/drawingml/2006/main">
            <a:r>
              <a:t>Original 18-slide presentation, slide(s) 1.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Cover photo: user-supplied IMG_3940.gif, a teacher workshop discussion in Pingshan. A still frame is used; no people or scene elements were 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00:20–01:05 | 45 seconds</a:t>
            </a:r>
          </a:p>
          <a:p xmlns:a="http://schemas.openxmlformats.org/drawingml/2006/main">
            <a:r>
              <a:t/>
            </a:r>
          </a:p>
          <a:p xmlns:a="http://schemas.openxmlformats.org/drawingml/2006/main">
            <a:r>
              <a:t>First, what is a pedagogical AI agent? It is an AI helper with a clear teaching or learning goal. A teacher sets its role, materials, steps and limits. For example, it can guide English practice and give feedback. Why use one? It turns a teaching plan into support we can test, use again and improve. The purpose comes from the teacher.</a:t>
            </a:r>
          </a:p>
          <a:p xmlns:a="http://schemas.openxmlformats.org/drawingml/2006/main">
            <a:r>
              <a:t/>
            </a:r>
          </a:p>
          <a:p xmlns:a="http://schemas.openxmlformats.org/drawingml/2006/main">
            <a:r>
              <a:t>[Sources]</a:t>
            </a:r>
          </a:p>
          <a:p xmlns:a="http://schemas.openxmlformats.org/drawingml/2006/main">
            <a:r>
              <a:t>Working definition used in this talk, based on the presenter’s teacher-designed agent programme. This is an operational definition, not a claim that all pedagogical agents have the same architecture or are fully autonomous.</a:t>
            </a:r>
          </a:p>
          <a:p xmlns:a="http://schemas.openxmlformats.org/drawingml/2006/main">
            <a:r>
              <a:t>Photo and English-class example: Pingshan Education Bureau, AI-Empowered Education source deck, slide 1 (district-s1-img2.jpeg). Reuse and revision are design affordances, not claims of proven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01:05–01:35 | 30 seconds</a:t>
            </a:r>
          </a:p>
          <a:p xmlns:a="http://schemas.openxmlformats.org/drawingml/2006/main">
            <a:r>
              <a:t/>
            </a:r>
          </a:p>
          <a:p xmlns:a="http://schemas.openxmlformats.org/drawingml/2006/main">
            <a:r>
              <a:t>Our goal is teacher agency: the ability and room to make teaching choices. First, I will share practice, from policy to classroom design. Then, I will share research on teacher learning. Our wider programme reached over one thousand teachers.</a:t>
            </a:r>
          </a:p>
          <a:p xmlns:a="http://schemas.openxmlformats.org/drawingml/2006/main">
            <a:r>
              <a:t/>
            </a:r>
          </a:p>
          <a:p xmlns:a="http://schemas.openxmlformats.org/drawingml/2006/main">
            <a:r>
              <a:t>[Sources]</a:t>
            </a:r>
          </a:p>
          <a:p xmlns:a="http://schemas.openxmlformats.org/drawingml/2006/main">
            <a:r>
              <a:t>Original 18-slide presentation, slide(s) 2–3.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Original 18-slide presentation, slide(s) 4–6.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01:35–02:15 | 40 seconds</a:t>
            </a:r>
          </a:p>
          <a:p xmlns:a="http://schemas.openxmlformats.org/drawingml/2006/main">
            <a:r>
              <a:t/>
            </a:r>
          </a:p>
          <a:p xmlns:a="http://schemas.openxmlformats.org/drawingml/2006/main">
            <a:r>
              <a:t>Let us start with Guangdong province. In April twenty twenty-five, it issued two AI literacy frameworks and one curriculum outline. One framework guides teachers. One sets goals for students. The outline connects those goals with courses across school stages. This gives local work a shared direction. The lesson is to connect teacher learning, student goals and the curriculum.</a:t>
            </a:r>
          </a:p>
          <a:p xmlns:a="http://schemas.openxmlformats.org/drawingml/2006/main">
            <a:r>
              <a:t/>
            </a:r>
          </a:p>
          <a:p xmlns:a="http://schemas.openxmlformats.org/drawingml/2006/main">
            <a:r>
              <a:t>[Sources]</a:t>
            </a:r>
          </a:p>
          <a:p xmlns:a="http://schemas.openxmlformats.org/drawingml/2006/main">
            <a:r>
              <a:t>Official Guangdong Department of Education notice, dated 9 April 2025, republished by Xinhui Education Bureau on 11 April 2025: https://www.xinhui.gov.cn/gzjg/qzfgzbm/jmsxhqjyj/zcwj/content/post_3281407.html .</a:t>
            </a:r>
          </a:p>
          <a:p xmlns:a="http://schemas.openxmlformats.org/drawingml/2006/main">
            <a:r>
              <a:t>Exact titles: 广东省中小学教师人工智能素养框架（试行）; 广东省中小学学生人工智能素养框架（试行）; 广东省中小学人工智能课程指导纲要（试行）. The notice has a fourth attachment on integrating the national platform; this slide focuses on the requested 2+1 package. The third provincial document is a curriculum outline, not the separately issued national AI general-education guide.</a:t>
            </a:r>
          </a:p>
          <a:p xmlns:a="http://schemas.openxmlformats.org/drawingml/2006/main">
            <a:r>
              <a:t>Official PDFs: https://www.xinhui.gov.cn/attachment/0/336/336265/3281407.pdf ; https://www.xinhui.gov.cn/attachment/0/336/336266/3281407.pdf ; https://www.xinhui.gov.cn/attachment/0/336/336267/3281407.pdf .</a:t>
            </a:r>
          </a:p>
          <a:p xmlns:a="http://schemas.openxmlformats.org/drawingml/2006/main">
            <a:r>
              <a:t>Primary drafting-team account: South China Normal University, 1 May 2025, https://news.scnu.edu.cn/71155/469 . English labels are concise translations. Notice image: user-supplied 42030.png, an authentic screenshot of the Guangdong Department of Education website. The crop shows the department header, complete notice title and website publication date (10 April 2025). The signed document was issued on 9 April 2025. The original full screenshot is preserved in the online assets. Policy is context, not a claim that Guangdong formally joined this particular research partnership or caused the earlier Shenzhen platform. The takeaway is our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02:15–02:45 | 30 seconds</a:t>
            </a:r>
          </a:p>
          <a:p xmlns:a="http://schemas.openxmlformats.org/drawingml/2006/main">
            <a:r>
              <a:t/>
            </a:r>
          </a:p>
          <a:p xmlns:a="http://schemas.openxmlformats.org/drawingml/2006/main">
            <a:r>
              <a:t>At the city level, Shenzhen provides a shared platform called Shenjiao AI. It brings together ten approved learning platforms. Three contests also drew over two thousand teachers to create applications. The city connects access with chances to build. This is how local support can help teachers act.</a:t>
            </a:r>
          </a:p>
          <a:p xmlns:a="http://schemas.openxmlformats.org/drawingml/2006/main">
            <a:r>
              <a:t/>
            </a:r>
          </a:p>
          <a:p xmlns:a="http://schemas.openxmlformats.org/drawingml/2006/main">
            <a:r>
              <a:t>[Sources]</a:t>
            </a:r>
          </a:p>
          <a:p xmlns:a="http://schemas.openxmlformats.org/drawingml/2006/main">
            <a:r>
              <a:t>素材2.pptx, slides 1–2. Institutional source supplied by the presenter as the Shenzhen Municipal Education Bureau material.</a:t>
            </a:r>
          </a:p>
          <a:p xmlns:a="http://schemas.openxmlformats.org/drawingml/2006/main">
            <a:r>
              <a:t/>
            </a:r>
          </a:p>
          <a:p xmlns:a="http://schemas.openxmlformats.org/drawingml/2006/main">
            <a:r>
              <a:t>Evidence and interpretation:</a:t>
            </a:r>
          </a:p>
          <a:p xmlns:a="http://schemas.openxmlformats.org/drawingml/2006/main">
            <a:r>
              <a:t>Slide 1 reports launch in August 2023, access for 1,191 primary and secondary schools, 10 approved learning platforms, and 依效付费. It does not define the payment metric. Slide 2 reports three teacher cloud-application contests from 2024, over 2,000 participating teachers and 93 selected works. Reach and selected works are implementation outputs, not estimates of learning effects.</a:t>
            </a:r>
          </a:p>
          <a:p xmlns:a="http://schemas.openxmlformats.org/drawingml/2006/main">
            <a:r>
              <a:t>The “Lesson to share” is our interpretation of the documented approach, not a measured causal finding.</a:t>
            </a:r>
          </a:p>
          <a:p xmlns:a="http://schemas.openxmlformats.org/drawingml/2006/main">
            <a:r>
              <a:t>Images: Shenzhen Education Bureau source deck, slide 1 (city-s1-img1.png) and slide 2 (city-s2-img4.jpeg).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 35 seconds</a:t>
            </a:r>
          </a:p>
          <a:p xmlns:a="http://schemas.openxmlformats.org/drawingml/2006/main">
            <a:r>
              <a:t/>
            </a:r>
          </a:p>
          <a:p xmlns:a="http://schemas.openxmlformats.org/drawingml/2006/main">
            <a:r>
              <a:t>Access is a start. Teachers also need ways to learn. In Pingshan, three groups moved from prompts to teaching agents. They shared designs and improved them. In the English class shown earlier, AI gives feedback. Teachers set the standards. The lesson is to help teachers both build AI support and decide how to use it.</a:t>
            </a:r>
          </a:p>
          <a:p xmlns:a="http://schemas.openxmlformats.org/drawingml/2006/main">
            <a:r>
              <a:t/>
            </a:r>
          </a:p>
          <a:p xmlns:a="http://schemas.openxmlformats.org/drawingml/2006/main">
            <a:r>
              <a:t>[Sources]</a:t>
            </a:r>
          </a:p>
          <a:p xmlns:a="http://schemas.openxmlformats.org/drawingml/2006/main">
            <a:r>
              <a:t>AI-Empowered_Education（英文168）.pptx, slide 1. Supplied as the Pingshan District Education Bureau case. The existing programme timeline is documented in the original deck, slides 4–7.</a:t>
            </a:r>
          </a:p>
          <a:p xmlns:a="http://schemas.openxmlformats.org/drawingml/2006/main">
            <a:r>
              <a:t/>
            </a:r>
          </a:p>
          <a:p xmlns:a="http://schemas.openxmlformats.org/drawingml/2006/main">
            <a:r>
              <a:t>Evidence and interpretation:</a:t>
            </a:r>
          </a:p>
          <a:p xmlns:a="http://schemas.openxmlformats.org/drawingml/2006/main">
            <a:r>
              <a:t>The supplied slide describes three training cohorts, a progression from prompts to teacher-created agents, and a primary English speaking class with instant AI feedback and teacher-set standards. Its 1,000+ training figure is not used as a research sample or added to other reach figures. Awards and claims of national ranking are omitted. The slide mentions a 66-second field case; this talk uses the supplied still image and does not budget a video.</a:t>
            </a:r>
          </a:p>
          <a:p xmlns:a="http://schemas.openxmlformats.org/drawingml/2006/main">
            <a:r>
              <a:t>The “Lesson to share” is our interpretation of the documented approach, not a measured causal finding.</a:t>
            </a:r>
          </a:p>
          <a:p xmlns:a="http://schemas.openxmlformats.org/drawingml/2006/main">
            <a:r>
              <a:t>Photo: IMG_3939.png supplied by the presenter in this conversation, showing the group at the second Pingshan primary and secondary school AI pioneer teacher professional-learning programme. The on-site banner identifies the Pingshan programme. The photo illustrates participation in practice; it does not establish the size of the research sample or identify a particular research cohort. Used as pingshan-teacher-group.webp. The classroom image on slide 2 remains the supplied Pingshan English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03:20–03:55 | 35 seconds</a:t>
            </a:r>
          </a:p>
          <a:p xmlns:a="http://schemas.openxmlformats.org/drawingml/2006/main">
            <a:r>
              <a:t/>
            </a:r>
          </a:p>
          <a:p xmlns:a="http://schemas.openxmlformats.org/drawingml/2006/main">
            <a:r>
              <a:t>Skills matter. Shared standards matter too. At Liyuan Education Group, experts drafted classroom criteria. Teachers rated them. The team agreed on the final set. These criteria became an AI classroom-observation tool. The team tried it in lessons and revised it with teacher feedback. Teachers helped shape the standards that guide AI.</a:t>
            </a:r>
          </a:p>
          <a:p xmlns:a="http://schemas.openxmlformats.org/drawingml/2006/main">
            <a:r>
              <a:t/>
            </a:r>
          </a:p>
          <a:p xmlns:a="http://schemas.openxmlformats.org/drawingml/2006/main">
            <a:r>
              <a:t>[Sources]</a:t>
            </a:r>
          </a:p>
          <a:p xmlns:a="http://schemas.openxmlformats.org/drawingml/2006/main">
            <a:r>
              <a:t>集团AI成果展示(1).zip → 荔园教育集团AI教育成果展示-英文版.pptx, slide 3; Chinese version, slide 3 embedded process graphic. Teacher support described in slide 2 and PPT稿件中英文版.docx.</a:t>
            </a:r>
          </a:p>
          <a:p xmlns:a="http://schemas.openxmlformats.org/drawingml/2006/main">
            <a:r>
              <a:t/>
            </a:r>
          </a:p>
          <a:p xmlns:a="http://schemas.openxmlformats.org/drawingml/2006/main">
            <a:r>
              <a:t>Evidence and interpretation:</a:t>
            </a:r>
          </a:p>
          <a:p xmlns:a="http://schemas.openxmlformats.org/drawingml/2006/main">
            <a:r>
              <a:t>The five-stage process describes expert drafting of a four-level indicator system, scoring by about 50 teachers, finalization by a nine-person research group, AI model and tool development, and classroom testing with revision using teacher feedback. Do not present the design and trial process as established measurement validity. The support system also includes self-study micro-courses, group training, visiting coaching and technical Q&amp;A. International recognition and pilot-school claims are not needed for this takeaway.</a:t>
            </a:r>
          </a:p>
          <a:p xmlns:a="http://schemas.openxmlformats.org/drawingml/2006/main">
            <a:r>
              <a:t>The “Lesson to share” is our interpretation of the documented approach, not a measured causal finding.</a:t>
            </a:r>
          </a:p>
          <a:p xmlns:a="http://schemas.openxmlformats.org/drawingml/2006/main">
            <a:r>
              <a:t>Photo: Liyuan Education Group source deck, slide 2 (group-s2-img3.jpeg, teacher collaboration). The five-stage process is documented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03:55–04:30 | 35 seconds</a:t>
            </a:r>
          </a:p>
          <a:p xmlns:a="http://schemas.openxmlformats.org/drawingml/2006/main">
            <a:r>
              <a:t/>
            </a:r>
          </a:p>
          <a:p xmlns:a="http://schemas.openxmlformats.org/drawingml/2006/main">
            <a:r>
              <a:t>Now consider a real teaching task. In Bao’an, Ms Luo developed an English speaking method called TASK. Four agents have clear jobs. T helps design tasks. A supports practice and assessment. S checks the standards. K gives feedback from learning data. The teaching method comes first. Then we decide where AI can help.</a:t>
            </a:r>
          </a:p>
          <a:p xmlns:a="http://schemas.openxmlformats.org/drawingml/2006/main">
            <a:r>
              <a:t/>
            </a:r>
          </a:p>
          <a:p xmlns:a="http://schemas.openxmlformats.org/drawingml/2006/main">
            <a:r>
              <a:t>[Sources]</a:t>
            </a:r>
          </a:p>
          <a:p xmlns:a="http://schemas.openxmlformats.org/drawingml/2006/main">
            <a:r>
              <a:t>案例PPT（罗老师）.pptx, slides 1–2. User identifies this as the Bao’an English subject case. The workflow screenshot credits 罗敏 (Luo Min), 宝安小学（集团）红树林外国语小学.</a:t>
            </a:r>
          </a:p>
          <a:p xmlns:a="http://schemas.openxmlformats.org/drawingml/2006/main">
            <a:r>
              <a:t/>
            </a:r>
          </a:p>
          <a:p xmlns:a="http://schemas.openxmlformats.org/drawingml/2006/main">
            <a:r>
              <a:t>Evidence and interpretation:</a:t>
            </a:r>
          </a:p>
          <a:p xmlns:a="http://schemas.openxmlformats.org/drawingml/2006/main">
            <a:r>
              <a:t>TASK means Tasksheets, Assessments, Standards and Key competences. The material describes an oral-assessment model and a CocoRobo workflow with four agents: T supports task design; A combines oral practice and assessment; S matches activities to standards; K provides feedback using data analysis. The figure documents four roles, not a verified linear routing sequence. The talk describes intended functions, not measured assessment accuracy, fairness or student gains.</a:t>
            </a:r>
          </a:p>
          <a:p xmlns:a="http://schemas.openxmlformats.org/drawingml/2006/main">
            <a:r>
              <a:t>The “Lesson to share” is our interpretation of the documented approach, not a measured causal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04:30–05:15 | 45 seconds</a:t>
            </a:r>
          </a:p>
          <a:p xmlns:a="http://schemas.openxmlformats.org/drawingml/2006/main">
            <a:r>
              <a:t/>
            </a:r>
          </a:p>
          <a:p xmlns:a="http://schemas.openxmlformats.org/drawingml/2006/main">
            <a:r>
              <a:t>These cases show what we can build. But a working example cannot tell us everything. In this biology lesson, teachers still need to decide how much help AI should give. We need research to understand how teachers learn that judgment. What helps them keep creating? What must change in another school? Evidence helps us improve the tools and training, and share lessons others can use.</a:t>
            </a:r>
          </a:p>
          <a:p xmlns:a="http://schemas.openxmlformats.org/drawingml/2006/main">
            <a:r>
              <a:t/>
            </a:r>
          </a:p>
          <a:p xmlns:a="http://schemas.openxmlformats.org/drawingml/2006/main">
            <a:r>
              <a:t>[Sources]</a:t>
            </a:r>
          </a:p>
          <a:p xmlns:a="http://schemas.openxmlformats.org/drawingml/2006/main">
            <a:r>
              <a:t>Original 18-slide presentation, slide(s) 8.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This transition motivates systematic inquiry; transfer is a research purpose, not an established finding. RPP rationale: https://rpp.wtgrantfoundation.org/about/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05:15–06:00 | 45 seconds</a:t>
            </a:r>
          </a:p>
          <a:p xmlns:a="http://schemas.openxmlformats.org/drawingml/2006/main">
            <a:r>
              <a:t/>
            </a:r>
          </a:p>
          <a:p xmlns:a="http://schemas.openxmlformats.org/drawingml/2006/main">
            <a:r>
              <a:t>Our research follows three teacher groups in Pingshan over twelve months. It began with prompts and first agents. It grew into subject groups and workflows. We then deepened the study of teacher learning. We used designs, revisions, platform use, surveys and interviews. Four conference papers were accepted: two at AERA and two at ISLS. Our Boundary Learning journal paper is still in progress. Each round helps improve the next.</a:t>
            </a:r>
          </a:p>
          <a:p xmlns:a="http://schemas.openxmlformats.org/drawingml/2006/main">
            <a:r>
              <a:t/>
            </a:r>
          </a:p>
          <a:p xmlns:a="http://schemas.openxmlformats.org/drawingml/2006/main">
            <a:r>
              <a:t>[Sources]</a:t>
            </a:r>
          </a:p>
          <a:p xmlns:a="http://schemas.openxmlformats.org/drawingml/2006/main">
            <a:r>
              <a:t>Original 18-slide presentation, slide(s) 4, 9–10, 17.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The four practice cases are not four research cohorts. As reported in the original deck, the research programme includes four accepted conference papers and an ongoing Boundary Learning synthesis. Related preprints: https://arxiv.org/abs/2605.13906 and https://arxiv.org/abs/2605.12934 .</a:t>
            </a:r>
          </a:p>
          <a:p xmlns:a="http://schemas.openxmlformats.org/drawingml/2006/main">
            <a:r>
              <a:t>Image: it-training.jpeg from the original presentation. It illustrates the programme setting, not a chart or additional research result.</a:t>
            </a:r>
          </a:p>
          <a:p xmlns:a="http://schemas.openxmlformats.org/drawingml/2006/main">
            <a:r>
              <a:t>Verified against supporting page sections A Sustained Programme and Research Outputs: https://cocorobo.hk/unesco2026/teacher/ (checked 8 September 2026). Timeline dates describe programme rounds; they are not paper acceptance dates. Paper acceptance status is reported in the presenter’s submission materials.</a:t>
            </a:r>
          </a:p>
          <a:p xmlns:a="http://schemas.openxmlformats.org/drawingml/2006/main">
            <a:r>
              <a:t>AERA 2026: Teachers’ Behavior in Building Agents Based on Hierarchical Clustering and Thematic Analysis (roundtable); Empowering Teachers as Creators of Pedagogical Agents: An Integrated Perspective of Constructionism, ICAP, and TPACK (poster).</a:t>
            </a:r>
          </a:p>
          <a:p xmlns:a="http://schemas.openxmlformats.org/drawingml/2006/main">
            <a:r>
              <a:t>ISLS 2026: An Activity-Theoretical Approach to Teacher Professional Development in Pedagogical AI Agent Design (long paper, https://arxiv.org/abs/2605.12934); Modeling AI-TPACK in Practice: Insights from Teachers’ Multi-Agent Workflow Design (short paper, https://arxiv.org/abs/2605.13906). Boundary Learning is ongoing, not an accepted fifth paper. This slide does not claim every paper used all three cohorts or that acceptance dates followed the final round. Teacher evidence does not establish causal student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06:00–06:30 | 30 seconds</a:t>
            </a:r>
          </a:p>
          <a:p xmlns:a="http://schemas.openxmlformats.org/drawingml/2006/main">
            <a:r>
              <a:t/>
            </a:r>
          </a:p>
          <a:p xmlns:a="http://schemas.openxmlformats.org/drawingml/2006/main">
            <a:r>
              <a:t>The first finding is about learning by making. Building an agent makes teaching choices visible. What should AI do? What should students do? Teachers can test those choices and change the design. We can then study how their ideas develop. This gives us more than a survey of how confident they feel.</a:t>
            </a:r>
          </a:p>
          <a:p xmlns:a="http://schemas.openxmlformats.org/drawingml/2006/main">
            <a:r>
              <a:t/>
            </a:r>
          </a:p>
          <a:p xmlns:a="http://schemas.openxmlformats.org/drawingml/2006/main">
            <a:r>
              <a:t>[Sources]</a:t>
            </a:r>
          </a:p>
          <a:p xmlns:a="http://schemas.openxmlformats.org/drawingml/2006/main">
            <a:r>
              <a:t>Original 18-slide presentation, slide(s) 11, 13.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Image: Shenzhen Education Bureau source deck, slide 2 (city-s2-img5.png). This teacher-made application is an illustration of a design artifact; it is not presented as part of the Pingshan research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06:30–07:00 | 30 seconds</a:t>
            </a:r>
          </a:p>
          <a:p xmlns:a="http://schemas.openxmlformats.org/drawingml/2006/main">
            <a:r>
              <a:t/>
            </a:r>
          </a:p>
          <a:p xmlns:a="http://schemas.openxmlformats.org/drawingml/2006/main">
            <a:r>
              <a:t>The second finding is about continued creation. Some teachers kept building. Others explored, or took little part. Training alone did not make everyone an active creator. Teachers need choice, skills, trusted peers and school support. These findings help us redesign professional learning, with time and help beyond the workshop.</a:t>
            </a:r>
          </a:p>
          <a:p xmlns:a="http://schemas.openxmlformats.org/drawingml/2006/main">
            <a:r>
              <a:t/>
            </a:r>
          </a:p>
          <a:p xmlns:a="http://schemas.openxmlformats.org/drawingml/2006/main">
            <a:r>
              <a:t>[Sources]</a:t>
            </a:r>
          </a:p>
          <a:p xmlns:a="http://schemas.openxmlformats.org/drawingml/2006/main">
            <a:r>
              <a:t>Original 18-slide presentation, slide(s) 12–13.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Photo: english-assessment.webp from the original presentation, slide 9 classroom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07:00–07:40 | 40 seconds</a:t>
            </a:r>
          </a:p>
          <a:p xmlns:a="http://schemas.openxmlformats.org/drawingml/2006/main">
            <a:r>
              <a:t/>
            </a:r>
          </a:p>
          <a:p xmlns:a="http://schemas.openxmlformats.org/drawingml/2006/main">
            <a:r>
              <a:t>Together, these studies lead to a working idea called Boundary Learning. Teachers learn where AI belongs. Is the task right for AI? Can it do it well? Who should decide? What roles and limits should we set? If AI answers too soon, for example, ask students to try first. This framework is still developing. It helps keep student thinking at the centre.</a:t>
            </a:r>
          </a:p>
          <a:p xmlns:a="http://schemas.openxmlformats.org/drawingml/2006/main">
            <a:r>
              <a:t/>
            </a:r>
          </a:p>
          <a:p xmlns:a="http://schemas.openxmlformats.org/drawingml/2006/main">
            <a:r>
              <a:t>[Sources]</a:t>
            </a:r>
          </a:p>
          <a:p xmlns:a="http://schemas.openxmlformats.org/drawingml/2006/main">
            <a:r>
              <a:t>Original 18-slide presentation, slide(s) 3, 14.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Original 18-slide presentation, slide(s) 15.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07:40–08:35 | 55 seconds</a:t>
            </a:r>
          </a:p>
          <a:p xmlns:a="http://schemas.openxmlformats.org/drawingml/2006/main">
            <a:r>
              <a:t/>
            </a:r>
          </a:p>
          <a:p xmlns:a="http://schemas.openxmlformats.org/drawingml/2006/main">
            <a:r>
              <a:t>Where did these results come from? They grew through a research-practice partnership, or RPP. We work on shared problems over time. CocoRobo leads the programme, builds and improves the tools, and supports teachers. University teams bring research methods and analysis. Government partners organize local support. Schools and teachers bring real needs, trials and teaching judgment. Together, we can connect these strengths in ways each partner would struggle to sustain alone. The company turns classroom needs and research ideas into tools people can use. Feedback then guides the next design.</a:t>
            </a:r>
          </a:p>
          <a:p xmlns:a="http://schemas.openxmlformats.org/drawingml/2006/main">
            <a:r>
              <a:t/>
            </a:r>
          </a:p>
          <a:p xmlns:a="http://schemas.openxmlformats.org/drawingml/2006/main">
            <a:r>
              <a:t>[Sources]</a:t>
            </a:r>
          </a:p>
          <a:p xmlns:a="http://schemas.openxmlformats.org/drawingml/2006/main">
            <a:r>
              <a:t>Programme partnership and roles: https://cocorobo.hk/unesco2026/teacher/ , sections An RPP-informed Model and Collaboration note; presenter confirmation in this conversation. Partners include university research teams from CUHK, HKU and EdUHK, district education partners, schools and teachers; do not imply each university coauthored every paper or the provincial government is a formal partner in the specific research programme. CocoRobo’s documented role includes programme leadership, technical implementation, platform iteration, teacher training and PD redesign.</a:t>
            </a:r>
          </a:p>
          <a:p xmlns:a="http://schemas.openxmlformats.org/drawingml/2006/main">
            <a:r>
              <a:t>RPP conceptual grounding: William T. Grant Foundation, About RPPs, https://rpp.wtgrantfoundation.org/about/ , drawing on Coburn, Penuel and Geil (2013): sustained collaboration, jointly defined problems, mutual benefit, research production and use. This deck interprets the documented programme through an RPP lens; four stakeholder types alone do not define an RPP.</a:t>
            </a:r>
          </a:p>
          <a:p xmlns:a="http://schemas.openxmlformats.org/drawingml/2006/main">
            <a:r>
              <a:t>Complementarity and the value of enterprise participation are the presenter’s analysis of the mode of work, not a controlled comparison, a historical first or measured superiority over single-sector projects. Research independence, consent and teachers’ pedagogical judgment remain important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08:35–09:10 | 35 seconds</a:t>
            </a:r>
          </a:p>
          <a:p xmlns:a="http://schemas.openxmlformats.org/drawingml/2006/main">
            <a:r>
              <a:t/>
            </a:r>
          </a:p>
          <a:p xmlns:a="http://schemas.openxmlformats.org/drawingml/2006/main">
            <a:r>
              <a:t>So what can others take away from this model? Start with a shared teaching problem. Let teachers help define it. Connect creation, evidence and redesign. Support the work between meetings, including technical help and teacher time. Papers matter. So do better tools and teaching choices. This is how partnership can turn local practice into useful knowledge.</a:t>
            </a:r>
          </a:p>
          <a:p xmlns:a="http://schemas.openxmlformats.org/drawingml/2006/main">
            <a:r>
              <a:t/>
            </a:r>
          </a:p>
          <a:p xmlns:a="http://schemas.openxmlformats.org/drawingml/2006/main">
            <a:r>
              <a:t>[Sources]</a:t>
            </a:r>
          </a:p>
          <a:p xmlns:a="http://schemas.openxmlformats.org/drawingml/2006/main">
            <a:r>
              <a:t>Original 18-slide presentation, slide(s) 16.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The three recommendations synthesize the four supplied practice cases and the reported teacher-learning studies. They are recommendations, not additional measured outcomes.</a:t>
            </a:r>
          </a:p>
          <a:p xmlns:a="http://schemas.openxmlformats.org/drawingml/2006/main">
            <a:r>
              <a:t>Partnership recommendations also draw on https://rpp.wtgrantfoundation.org/about/ . They are recommendations based on this programme and RPP principles, not measured partnership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09:10–09:40 | 30 seconds</a:t>
            </a:r>
          </a:p>
          <a:p xmlns:a="http://schemas.openxmlformats.org/drawingml/2006/main">
            <a:r>
              <a:t/>
            </a:r>
          </a:p>
          <a:p xmlns:a="http://schemas.openxmlformats.org/drawingml/2006/main">
            <a:r>
              <a:t>I would like to invite you to see this partnership in Shenzhen. This year, the city hosts the APEC leaders’ meeting on November eighteenth and nineteenth. Visit our schools. Meet the teachers and see their work in real lessons. Please contact me to explore a visit. We would love to learn from you too.</a:t>
            </a:r>
          </a:p>
          <a:p xmlns:a="http://schemas.openxmlformats.org/drawingml/2006/main">
            <a:r>
              <a:t/>
            </a:r>
          </a:p>
          <a:p xmlns:a="http://schemas.openxmlformats.org/drawingml/2006/main">
            <a:r>
              <a:t>[Sources]</a:t>
            </a:r>
          </a:p>
          <a:p xmlns:a="http://schemas.openxmlformats.org/drawingml/2006/main">
            <a:r>
              <a:t>APEC dates and host city: Shenzhen Municipal Foreign Affairs Office, 12 August 2026, https://fao.sz.gov.cn/xxgk/zyxw/content/post_1961390.html (checked 8 September 2026). Also APEC Secretariat, 12 December 2025: https://www.apec.org/press/news-releases/2025/china-unveils-apec-2026-theme-and-priorities-in-shenzhen . The slide identifies the announced city, not an unconfirmed building or official school-visit programme.</a:t>
            </a:r>
          </a:p>
          <a:p xmlns:a="http://schemas.openxmlformats.org/drawingml/2006/main">
            <a:r>
              <a:t>Official APEC China 2026 emblem: Xinhua, 12 December 2025, https://www.xinhuanet.com/20251212/1d1dad261ca34e259c55c672e8497cfe/c.html . Image: https://www.xinhuanet.com/20251212/1d1dad261ca34e259c55c672e8497cfe/202512121d1dad261ca34e259c55c672e8497cfe_912aa6ef9651489b8acd6054075d0fbb.jpg . Identity cross-checked against the official host-year website https://www.apec2026.cn/ and Shenzhen government announcement https://www.sz.gov.cn/en_szgov/news/latest/content/post_12546149.html (checked 8 September 2026). Emblem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09:40–09:55 | 15 seconds</a:t>
            </a:r>
          </a:p>
          <a:p xmlns:a="http://schemas.openxmlformats.org/drawingml/2006/main">
            <a:r>
              <a:t/>
            </a:r>
          </a:p>
          <a:p xmlns:a="http://schemas.openxmlformats.org/drawingml/2006/main">
            <a:r>
              <a:t>These two codes link to this presentation and our submission materials. My email is on the screen. Please stay in touch, and come to Shenzhen. Thank you.</a:t>
            </a:r>
          </a:p>
          <a:p xmlns:a="http://schemas.openxmlformats.org/drawingml/2006/main">
            <a:r>
              <a:t/>
            </a:r>
          </a:p>
          <a:p xmlns:a="http://schemas.openxmlformats.org/drawingml/2006/main">
            <a:r>
              <a:t>[Sources]</a:t>
            </a:r>
          </a:p>
          <a:p xmlns:a="http://schemas.openxmlformats.org/drawingml/2006/main">
            <a:r>
              <a:t>Presenter-supplied contact: tony@cocorobo.cc. QR destinations: https://tonyxinvip.github.io/slides/teacher-agent-creators-10min/ and https://cocorobo.hk/unesco2026/teacher/. QR codes encode these exact URLs; they are not third-party tracking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0da8e976ca42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8a94e160e4872" /><Relationship Type="http://schemas.openxmlformats.org/officeDocument/2006/relationships/slideLayout" Target="/ppt/slideLayouts/slideLayout1.xml" Id="R2e40f724ad4a4e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40f724ad4a4e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00ffdc9ad64035" /><Relationship Type="http://schemas.openxmlformats.org/officeDocument/2006/relationships/image" Target="/ppt/media/image.jpeg" Id="R829f88f4753a4e86" /><Relationship Type="http://schemas.openxmlformats.org/officeDocument/2006/relationships/image" Target="/ppt/media/image.png" Id="R6ffeeb1306a34988" /><Relationship Type="http://schemas.openxmlformats.org/officeDocument/2006/relationships/notesSlide" Target="/ppt/notesSlides/notesSlide1.xml" Id="R5c1f438a618b46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b6fd3fa8664f97" /><Relationship Type="http://schemas.openxmlformats.org/officeDocument/2006/relationships/image" Target="/ppt/media/image2.jpeg" Id="R5b786d68b2074caf" /><Relationship Type="http://schemas.openxmlformats.org/officeDocument/2006/relationships/image" Target="/ppt/media/image2.png" Id="R825805f21bed426a" /><Relationship Type="http://schemas.openxmlformats.org/officeDocument/2006/relationships/notesSlide" Target="/ppt/notesSlides/notesSlide2.xml" Id="R414ab91ddc6845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3cfea5a769461b" /><Relationship Type="http://schemas.openxmlformats.org/officeDocument/2006/relationships/image" Target="/ppt/media/image3.png" Id="Rd7565f86ee274eb0" /><Relationship Type="http://schemas.openxmlformats.org/officeDocument/2006/relationships/notesSlide" Target="/ppt/notesSlides/notesSlide3.xml" Id="R271f27476c48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06653fb1c64f46" /><Relationship Type="http://schemas.openxmlformats.org/officeDocument/2006/relationships/hyperlink" Target="https://www.xinhui.gov.cn/gzjg/qzfgzbm/jmsxhqjyj/zcwj/content/post_3281407.html" TargetMode="External" Id="Ra355dacc9ce84cbb" /><Relationship Type="http://schemas.openxmlformats.org/officeDocument/2006/relationships/hyperlink" Target="https://www.xinhui.gov.cn/gzjg/qzfgzbm/jmsxhqjyj/zcwj/content/post_3281407.html" TargetMode="External" Id="Reebf396394684cf4" /><Relationship Type="http://schemas.openxmlformats.org/officeDocument/2006/relationships/image" Target="/ppt/media/image4.png" Id="R8ab79aa702db4de4" /><Relationship Type="http://schemas.openxmlformats.org/officeDocument/2006/relationships/image" Target="/ppt/media/image5.png" Id="R3d81a5bb6c434c76" /><Relationship Type="http://schemas.openxmlformats.org/officeDocument/2006/relationships/notesSlide" Target="/ppt/notesSlides/notesSlide4.xml" Id="Ree8e47b1477044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b7a7fb02244077" /><Relationship Type="http://schemas.openxmlformats.org/officeDocument/2006/relationships/image" Target="/ppt/media/image6.png" Id="Rd53c3ae54bcc415a" /><Relationship Type="http://schemas.openxmlformats.org/officeDocument/2006/relationships/image" Target="/ppt/media/image3.jpeg" Id="R3fec63ef6b8b4775" /><Relationship Type="http://schemas.openxmlformats.org/officeDocument/2006/relationships/image" Target="/ppt/media/image7.png" Id="R0c63f230e1064e77" /><Relationship Type="http://schemas.openxmlformats.org/officeDocument/2006/relationships/notesSlide" Target="/ppt/notesSlides/notesSlide5.xml" Id="R3a6052079c964b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3fc45d701a45e4" /><Relationship Type="http://schemas.openxmlformats.org/officeDocument/2006/relationships/image" Target="/ppt/media/image4.jpeg" Id="R5f772bcc4649421f" /><Relationship Type="http://schemas.openxmlformats.org/officeDocument/2006/relationships/image" Target="/ppt/media/image8.png" Id="R8939c08f73ba4625" /><Relationship Type="http://schemas.openxmlformats.org/officeDocument/2006/relationships/notesSlide" Target="/ppt/notesSlides/notesSlide6.xml" Id="Rdd7299296f3c4c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f22ac4af064635" /><Relationship Type="http://schemas.openxmlformats.org/officeDocument/2006/relationships/image" Target="/ppt/media/image5.jpeg" Id="Rf1bfd9626b16448d" /><Relationship Type="http://schemas.openxmlformats.org/officeDocument/2006/relationships/image" Target="/ppt/media/image9.png" Id="R34e583cffe6c4e0c" /><Relationship Type="http://schemas.openxmlformats.org/officeDocument/2006/relationships/notesSlide" Target="/ppt/notesSlides/notesSlide7.xml" Id="Rf8c5cc4b8ede40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4c7bfa61754cfa" /><Relationship Type="http://schemas.openxmlformats.org/officeDocument/2006/relationships/image" Target="/ppt/media/image6.jpeg" Id="R785335dcf5804677" /><Relationship Type="http://schemas.openxmlformats.org/officeDocument/2006/relationships/image" Target="/ppt/media/image10.png" Id="R3c1a94d1780b4cde" /><Relationship Type="http://schemas.openxmlformats.org/officeDocument/2006/relationships/notesSlide" Target="/ppt/notesSlides/notesSlide8.xml" Id="R66cd2aad2d724c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0d80deeb2444b0" /><Relationship Type="http://schemas.openxmlformats.org/officeDocument/2006/relationships/image" Target="/ppt/media/image7.jpeg" Id="R683fc1262f884234" /><Relationship Type="http://schemas.openxmlformats.org/officeDocument/2006/relationships/image" Target="/ppt/media/image11.png" Id="R31e4bcbb28cd446b" /><Relationship Type="http://schemas.openxmlformats.org/officeDocument/2006/relationships/notesSlide" Target="/ppt/notesSlides/notesSlide9.xml" Id="R5965e5b61a254d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c8869088a24c43" /><Relationship Type="http://schemas.openxmlformats.org/officeDocument/2006/relationships/image" Target="/ppt/media/image12.png" Id="Rd5943ee789ac456a" /><Relationship Type="http://schemas.openxmlformats.org/officeDocument/2006/relationships/notesSlide" Target="/ppt/notesSlides/notesSlide10.xml" Id="Redf1db5457e34f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4e5c6c42a04c12" /><Relationship Type="http://schemas.openxmlformats.org/officeDocument/2006/relationships/image" Target="/ppt/media/image13.png" Id="R9e976775dd1941ec" /><Relationship Type="http://schemas.openxmlformats.org/officeDocument/2006/relationships/image" Target="/ppt/media/image14.png" Id="Rdb7720f546cd4d2f" /><Relationship Type="http://schemas.openxmlformats.org/officeDocument/2006/relationships/notesSlide" Target="/ppt/notesSlides/notesSlide11.xml" Id="Rf34f0ff59c1946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028da166a648b2" /><Relationship Type="http://schemas.openxmlformats.org/officeDocument/2006/relationships/image" Target="/ppt/media/image8.jpeg" Id="R488cca34385c45c0" /><Relationship Type="http://schemas.openxmlformats.org/officeDocument/2006/relationships/image" Target="/ppt/media/image15.png" Id="R766e7ab690a746e7" /><Relationship Type="http://schemas.openxmlformats.org/officeDocument/2006/relationships/notesSlide" Target="/ppt/notesSlides/notesSlide12.xml" Id="R69b3bf34b1234a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d2ff10d04e4e93" /><Relationship Type="http://schemas.openxmlformats.org/officeDocument/2006/relationships/image" Target="/ppt/media/image16.png" Id="R3f323e56a0f44332" /><Relationship Type="http://schemas.openxmlformats.org/officeDocument/2006/relationships/notesSlide" Target="/ppt/notesSlides/notesSlide13.xml" Id="R3daa228311ff47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003f647bbf4346" /><Relationship Type="http://schemas.openxmlformats.org/officeDocument/2006/relationships/image" Target="/ppt/media/image17.png" Id="Rc201bbffc52e4b77" /><Relationship Type="http://schemas.openxmlformats.org/officeDocument/2006/relationships/notesSlide" Target="/ppt/notesSlides/notesSlide14.xml" Id="Rfd79f122dce442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d20f6db03b48ec" /><Relationship Type="http://schemas.openxmlformats.org/officeDocument/2006/relationships/image" Target="/ppt/media/image18.png" Id="Rd314cb4672384797" /><Relationship Type="http://schemas.openxmlformats.org/officeDocument/2006/relationships/notesSlide" Target="/ppt/notesSlides/notesSlide15.xml" Id="Rab0c9be36bbe46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a0fdbb899949d8" /><Relationship Type="http://schemas.openxmlformats.org/officeDocument/2006/relationships/image" Target="/ppt/media/image9.jpeg" Id="Rad63a4a9f7f545aa" /><Relationship Type="http://schemas.openxmlformats.org/officeDocument/2006/relationships/image" Target="/ppt/media/image19.png" Id="Rc6079849eb164038" /><Relationship Type="http://schemas.openxmlformats.org/officeDocument/2006/relationships/notesSlide" Target="/ppt/notesSlides/notesSlide16.xml" Id="R59267d4c280c4e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d4c4fa461a48ae" /><Relationship Type="http://schemas.openxmlformats.org/officeDocument/2006/relationships/image" Target="/ppt/media/image20.png" Id="Rfb299285b68e46d5" /><Relationship Type="http://schemas.openxmlformats.org/officeDocument/2006/relationships/hyperlink" Target="https://tonyxinvip.github.io/slides/teacher-agent-creators-10min/" TargetMode="External" Id="Rd058010612294182" /><Relationship Type="http://schemas.openxmlformats.org/officeDocument/2006/relationships/hyperlink" Target="https://tonyxinvip.github.io/slides/teacher-agent-creators-10min/" TargetMode="External" Id="R643af09dd7c14d1b" /><Relationship Type="http://schemas.openxmlformats.org/officeDocument/2006/relationships/image" Target="/ppt/media/image21.png" Id="R93e81eda734d4e8f" /><Relationship Type="http://schemas.openxmlformats.org/officeDocument/2006/relationships/hyperlink" Target="https://cocorobo.hk/unesco2026/teacher/" TargetMode="External" Id="R7dd6633eb9eb498b" /><Relationship Type="http://schemas.openxmlformats.org/officeDocument/2006/relationships/hyperlink" Target="https://cocorobo.hk/unesco2026/teacher/" TargetMode="External" Id="R996d582141234ebf" /><Relationship Type="http://schemas.openxmlformats.org/officeDocument/2006/relationships/hyperlink" Target="mailto:tony@cocorobo.cc" TargetMode="External" Id="R2e12bcf3351346cf" /><Relationship Type="http://schemas.openxmlformats.org/officeDocument/2006/relationships/image" Target="/ppt/media/image22.png" Id="R97edb7b07dc742e0" /><Relationship Type="http://schemas.openxmlformats.org/officeDocument/2006/relationships/notesSlide" Target="/ppt/notesSlides/notesSlide17.xml" Id="R7b8fdc4da2cf4e04" /></Relationships>
</file>

<file path=ppt/slides/slide1.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9f88f4753a4e86"/>
          <a:srcRect xmlns:a="http://schemas.openxmlformats.org/drawingml/2006/main" l="0" t="0" r="0" b="0"/>
          <a:stretch xmlns:a="http://schemas.openxmlformats.org/drawingml/2006/main">
            <a:fillRect l="0" t="0" r="0" b="0"/>
          </a:stretch>
        </p:blipFill>
        <p:spPr>
          <a:xfrm xmlns:a="http://schemas.openxmlformats.org/drawingml/2006/main">
            <a:off x="5943600" y="0"/>
            <a:ext cx="6248400" cy="6858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feeb1306a34988"/>
          <a:stretch xmlns:a="http://schemas.openxmlformats.org/drawingml/2006/main"/>
        </p:blipFill>
        <p:spPr>
          <a:xfrm xmlns:a="http://schemas.openxmlformats.org/drawingml/2006/main">
            <a:off x="533400" y="876300"/>
            <a:ext cx="2362200" cy="542925"/>
          </a:xfrm>
          <a:prstGeom xmlns:a="http://schemas.openxmlformats.org/drawingml/2006/main" prst="rect">
            <a:avLst/>
          </a:prstGeom>
        </p:spPr>
      </p:pic>
      <p:sp>
        <p:nvSpPr>
          <p:cNvPr id="3" name="s1-subheading-3">
            <a:extLst xmlns:a="http://schemas.openxmlformats.org/drawingml/2006/main">
              <a:ext uri="{FF2B5EF4-FFF2-40B4-BE49-F238E27FC236}">
                <a16:creationId xmlns:a16="http://schemas.microsoft.com/office/drawing/2014/main" id="{0CA5B977-6B85-49C7-BCE7-1ABEFFC9E3E0}"/>
              </a:ext>
            </a:extLst>
          </p:cNvPr>
          <p:cNvSpPr>
            <a:spLocks xmlns:a="http://schemas.openxmlformats.org/drawingml/2006/main" noGrp="1"/>
          </p:cNvSpPr>
          <p:nvPr/>
        </p:nvSpPr>
        <p:spPr>
          <a:xfrm xmlns:a="http://schemas.openxmlformats.org/drawingml/2006/main">
            <a:off x="5715000" y="0"/>
            <a:ext cx="6477000" cy="6858000"/>
          </a:xfrm>
          <a:prstGeom xmlns:a="http://schemas.openxmlformats.org/drawingml/2006/main" prst="rect">
            <a:avLst/>
          </a:prstGeom>
          <a:gradFill xmlns:a="http://schemas.openxmlformats.org/drawingml/2006/main">
            <a:gsLst>
              <a:gs pos="0">
                <a:srgbClr val="071428"/>
              </a:gs>
              <a:gs pos="22000">
                <a:srgbClr val="071428">
                  <a:alpha val="88000"/>
                </a:srgbClr>
              </a:gs>
              <a:gs pos="100000">
                <a:srgbClr val="071428">
                  <a:alpha val="38000"/>
                </a:srgbClr>
              </a:gs>
            </a:gsLst>
            <a:lin ang="0"/>
          </a:gradFill>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75" b="1">
                <a:solidFill>
                  <a:srgbClr val="FFFFFF"/>
                </a:solidFill>
                <a:latin typeface="Arial"/>
                <a:ea typeface="Arial"/>
                <a:cs typeface="Arial"/>
              </a:defRPr>
            </a:pPr>
            <a:r>
              <a:rPr sz="2175" b="1">
                <a:solidFill>
                  <a:srgbClr val="FFFFFF"/>
                </a:solidFill>
                <a:latin typeface="Arial"/>
                <a:ea typeface="Arial"/>
                <a:cs typeface="Arial"/>
              </a:rPr>
              <a:t/>
            </a:r>
          </a:p>
        </p:txBody>
      </p:sp>
      <p:sp>
        <p:nvSpPr>
          <p:cNvPr id="4" name="s1-kicker-4">
            <a:extLst xmlns:a="http://schemas.openxmlformats.org/drawingml/2006/main">
              <a:ext uri="{FF2B5EF4-FFF2-40B4-BE49-F238E27FC236}">
                <a16:creationId xmlns:a16="http://schemas.microsoft.com/office/drawing/2014/main" id="{6E908733-AF79-42B1-8CC9-F079C796AC4A}"/>
              </a:ext>
            </a:extLst>
          </p:cNvPr>
          <p:cNvSpPr>
            <a:spLocks xmlns:a="http://schemas.openxmlformats.org/drawingml/2006/main" noGrp="1"/>
          </p:cNvSpPr>
          <p:nvPr/>
        </p:nvSpPr>
        <p:spPr>
          <a:xfrm xmlns:a="http://schemas.openxmlformats.org/drawingml/2006/main">
            <a:off x="9029700" y="895350"/>
            <a:ext cx="2628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1">
                <a:solidFill>
                  <a:srgbClr val="BED0DD"/>
                </a:solidFill>
                <a:latin typeface="Arial"/>
                <a:ea typeface="Arial"/>
                <a:cs typeface="Arial"/>
              </a:defRPr>
            </a:pPr>
            <a:r>
              <a:rPr sz="900" b="1">
                <a:solidFill>
                  <a:srgbClr val="BED0DD"/>
                </a:solidFill>
                <a:latin typeface="Arial"/>
                <a:ea typeface="Arial"/>
                <a:cs typeface="Arial"/>
              </a:rPr>
              <a:t>PREPARED FOR</a:t>
            </a:r>
          </a:p>
        </p:txBody>
      </p:sp>
      <p:sp>
        <p:nvSpPr>
          <p:cNvPr id="5" name="s1-subheading-5">
            <a:extLst xmlns:a="http://schemas.openxmlformats.org/drawingml/2006/main">
              <a:ext uri="{FF2B5EF4-FFF2-40B4-BE49-F238E27FC236}">
                <a16:creationId xmlns:a16="http://schemas.microsoft.com/office/drawing/2014/main" id="{D7956C00-6378-4E92-8C2B-3EA4AFC9AE82}"/>
              </a:ext>
            </a:extLst>
          </p:cNvPr>
          <p:cNvSpPr>
            <a:spLocks xmlns:a="http://schemas.openxmlformats.org/drawingml/2006/main" noGrp="1"/>
          </p:cNvSpPr>
          <p:nvPr/>
        </p:nvSpPr>
        <p:spPr>
          <a:xfrm xmlns:a="http://schemas.openxmlformats.org/drawingml/2006/main">
            <a:off x="9029700" y="1123950"/>
            <a:ext cx="2628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1">
                <a:solidFill>
                  <a:srgbClr val="FFFFFF"/>
                </a:solidFill>
                <a:latin typeface="Arial"/>
                <a:ea typeface="Arial"/>
                <a:cs typeface="Arial"/>
              </a:defRPr>
            </a:pPr>
            <a:r>
              <a:rPr sz="2250" b="1">
                <a:solidFill>
                  <a:srgbClr val="FFFFFF"/>
                </a:solidFill>
                <a:latin typeface="Arial"/>
                <a:ea typeface="Arial"/>
                <a:cs typeface="Arial"/>
              </a:rPr>
              <a:t>UNESCO</a:t>
            </a:r>
          </a:p>
        </p:txBody>
      </p:sp>
      <p:sp>
        <p:nvSpPr>
          <p:cNvPr id="6" name="s1-kicker-6">
            <a:extLst xmlns:a="http://schemas.openxmlformats.org/drawingml/2006/main">
              <a:ext uri="{FF2B5EF4-FFF2-40B4-BE49-F238E27FC236}">
                <a16:creationId xmlns:a16="http://schemas.microsoft.com/office/drawing/2014/main" id="{AF2D5AC2-571D-4BC0-9D7F-3CEBE52EDF55}"/>
              </a:ext>
            </a:extLst>
          </p:cNvPr>
          <p:cNvSpPr>
            <a:spLocks xmlns:a="http://schemas.openxmlformats.org/drawingml/2006/main" noGrp="1"/>
          </p:cNvSpPr>
          <p:nvPr/>
        </p:nvSpPr>
        <p:spPr>
          <a:xfrm xmlns:a="http://schemas.openxmlformats.org/drawingml/2006/main">
            <a:off x="9029700" y="1495425"/>
            <a:ext cx="2628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75" b="1">
                <a:solidFill>
                  <a:srgbClr val="BED0DD"/>
                </a:solidFill>
                <a:latin typeface="Arial"/>
                <a:ea typeface="Arial"/>
                <a:cs typeface="Arial"/>
              </a:defRPr>
            </a:pPr>
            <a:r>
              <a:rPr sz="975" b="1">
                <a:solidFill>
                  <a:srgbClr val="BED0DD"/>
                </a:solidFill>
                <a:latin typeface="Arial"/>
                <a:ea typeface="Arial"/>
                <a:cs typeface="Arial"/>
              </a:rPr>
              <a:t>DIGITAL LEARNING WEEK 2026</a:t>
            </a:r>
          </a:p>
        </p:txBody>
      </p:sp>
      <p:sp>
        <p:nvSpPr>
          <p:cNvPr id="7" name="s1-kicker-7">
            <a:extLst xmlns:a="http://schemas.openxmlformats.org/drawingml/2006/main">
              <a:ext uri="{FF2B5EF4-FFF2-40B4-BE49-F238E27FC236}">
                <a16:creationId xmlns:a16="http://schemas.microsoft.com/office/drawing/2014/main" id="{F452D0AB-293F-4E5A-B3A7-59D4F79817C2}"/>
              </a:ext>
            </a:extLst>
          </p:cNvPr>
          <p:cNvSpPr>
            <a:spLocks xmlns:a="http://schemas.openxmlformats.org/drawingml/2006/main" noGrp="1"/>
          </p:cNvSpPr>
          <p:nvPr/>
        </p:nvSpPr>
        <p:spPr>
          <a:xfrm xmlns:a="http://schemas.openxmlformats.org/drawingml/2006/main">
            <a:off x="533400" y="26384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1">
                <a:solidFill>
                  <a:srgbClr val="64D2C4"/>
                </a:solidFill>
                <a:latin typeface="Arial"/>
                <a:ea typeface="Arial"/>
                <a:cs typeface="Arial"/>
              </a:defRPr>
            </a:pPr>
            <a:r>
              <a:rPr sz="1200" b="1">
                <a:solidFill>
                  <a:srgbClr val="64D2C4"/>
                </a:solidFill>
                <a:latin typeface="Arial"/>
                <a:ea typeface="Arial"/>
                <a:cs typeface="Arial"/>
              </a:rPr>
              <a:t>TEACHER AGENCY · PRACTICE &amp; RESEARCH</a:t>
            </a:r>
          </a:p>
        </p:txBody>
      </p:sp>
      <p:sp>
        <p:nvSpPr>
          <p:cNvPr id="8" name="s1-title-8">
            <a:extLst xmlns:a="http://schemas.openxmlformats.org/drawingml/2006/main">
              <a:ext uri="{FF2B5EF4-FFF2-40B4-BE49-F238E27FC236}">
                <a16:creationId xmlns:a16="http://schemas.microsoft.com/office/drawing/2014/main" id="{BFADBDC1-4F23-4661-93FA-AC825E0EC945}"/>
              </a:ext>
            </a:extLst>
          </p:cNvPr>
          <p:cNvSpPr>
            <a:spLocks xmlns:a="http://schemas.openxmlformats.org/drawingml/2006/main" noGrp="1"/>
          </p:cNvSpPr>
          <p:nvPr/>
        </p:nvSpPr>
        <p:spPr>
          <a:xfrm xmlns:a="http://schemas.openxmlformats.org/drawingml/2006/main">
            <a:off x="533400" y="3009900"/>
            <a:ext cx="111252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950" b="1">
                <a:solidFill>
                  <a:srgbClr val="FFFFFF"/>
                </a:solidFill>
                <a:latin typeface="Arial"/>
                <a:ea typeface="Arial"/>
                <a:cs typeface="Arial"/>
              </a:defRPr>
            </a:pPr>
            <a:r>
              <a:rPr sz="4950" b="1">
                <a:solidFill>
                  <a:srgbClr val="FFFFFF"/>
                </a:solidFill>
                <a:latin typeface="Arial"/>
                <a:ea typeface="Arial"/>
                <a:cs typeface="Arial"/>
              </a:rPr>
              <a:t>From AI Tool Users</a:t>
            </a:r>
          </a:p>
          <a:p xmlns:a="http://schemas.openxmlformats.org/drawingml/2006/main">
            <a:pPr algn="l">
              <a:lnSpc>
                <a:spcPct val="106000"/>
              </a:lnSpc>
              <a:buNone/>
              <a:defRPr sz="4950" b="1">
                <a:solidFill>
                  <a:srgbClr val="FFFFFF"/>
                </a:solidFill>
                <a:latin typeface="Arial"/>
                <a:ea typeface="Arial"/>
                <a:cs typeface="Arial"/>
              </a:defRPr>
            </a:pPr>
            <a:r>
              <a:rPr sz="4950" b="1">
                <a:solidFill>
                  <a:srgbClr val="FFFFFF"/>
                </a:solidFill>
                <a:latin typeface="Arial"/>
                <a:ea typeface="Arial"/>
                <a:cs typeface="Arial"/>
              </a:rPr>
              <a:t>to </a:t>
            </a:r>
            <a:r>
              <a:rPr sz="4950" b="1">
                <a:solidFill>
                  <a:srgbClr val="64D2C4"/>
                </a:solidFill>
                <a:latin typeface="Arial"/>
                <a:ea typeface="Arial"/>
                <a:cs typeface="Arial"/>
              </a:rPr>
              <a:t>AI Agent Creators</a:t>
            </a:r>
          </a:p>
        </p:txBody>
      </p:sp>
      <p:sp>
        <p:nvSpPr>
          <p:cNvPr id="9" name="s1-body-9">
            <a:extLst xmlns:a="http://schemas.openxmlformats.org/drawingml/2006/main">
              <a:ext uri="{FF2B5EF4-FFF2-40B4-BE49-F238E27FC236}">
                <a16:creationId xmlns:a16="http://schemas.microsoft.com/office/drawing/2014/main" id="{564A07CD-9856-4D11-AD90-9670358840C4}"/>
              </a:ext>
            </a:extLst>
          </p:cNvPr>
          <p:cNvSpPr>
            <a:spLocks xmlns:a="http://schemas.openxmlformats.org/drawingml/2006/main" noGrp="1"/>
          </p:cNvSpPr>
          <p:nvPr/>
        </p:nvSpPr>
        <p:spPr>
          <a:xfrm xmlns:a="http://schemas.openxmlformats.org/drawingml/2006/main">
            <a:off x="533400" y="4762500"/>
            <a:ext cx="10839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950" b="0">
                <a:solidFill>
                  <a:srgbClr val="BED0DD"/>
                </a:solidFill>
                <a:latin typeface="Arial"/>
                <a:ea typeface="Arial"/>
                <a:cs typeface="Arial"/>
              </a:defRPr>
            </a:pPr>
            <a:r>
              <a:rPr sz="1950" b="0">
                <a:solidFill>
                  <a:srgbClr val="BED0DD"/>
                </a:solidFill>
                <a:latin typeface="Arial"/>
                <a:ea typeface="Arial"/>
                <a:cs typeface="Arial"/>
              </a:rPr>
              <a:t>Helping teachers shape AI support for learning.</a:t>
            </a:r>
          </a:p>
        </p:txBody>
      </p:sp>
      <p:sp>
        <p:nvSpPr>
          <p:cNvPr id="10" name="s1-body-10">
            <a:extLst xmlns:a="http://schemas.openxmlformats.org/drawingml/2006/main">
              <a:ext uri="{FF2B5EF4-FFF2-40B4-BE49-F238E27FC236}">
                <a16:creationId xmlns:a16="http://schemas.microsoft.com/office/drawing/2014/main" id="{595FF1DF-ACE7-44A4-9210-81D9594B4731}"/>
              </a:ext>
            </a:extLst>
          </p:cNvPr>
          <p:cNvSpPr>
            <a:spLocks xmlns:a="http://schemas.openxmlformats.org/drawingml/2006/main" noGrp="1"/>
          </p:cNvSpPr>
          <p:nvPr/>
        </p:nvSpPr>
        <p:spPr>
          <a:xfrm xmlns:a="http://schemas.openxmlformats.org/drawingml/2006/main">
            <a:off x="533400" y="6200775"/>
            <a:ext cx="723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BED0DD"/>
                </a:solidFill>
                <a:latin typeface="Arial"/>
                <a:ea typeface="Arial"/>
                <a:cs typeface="Arial"/>
              </a:defRPr>
            </a:pPr>
            <a:r>
              <a:rPr sz="1200" b="0">
                <a:solidFill>
                  <a:srgbClr val="BED0DD"/>
                </a:solidFill>
                <a:latin typeface="Arial"/>
                <a:ea typeface="Arial"/>
                <a:cs typeface="Arial"/>
              </a:rPr>
              <a:t>Haiyang Xin · CocoRobo Ltd.</a:t>
            </a:r>
          </a:p>
        </p:txBody>
      </p:sp>
      <p:sp>
        <p:nvSpPr>
          <p:cNvPr id="11" name="s1-body-11">
            <a:extLst xmlns:a="http://schemas.openxmlformats.org/drawingml/2006/main">
              <a:ext uri="{FF2B5EF4-FFF2-40B4-BE49-F238E27FC236}">
                <a16:creationId xmlns:a16="http://schemas.microsoft.com/office/drawing/2014/main" id="{6E509953-537B-4275-A609-B554ECD0CF57}"/>
              </a:ext>
            </a:extLst>
          </p:cNvPr>
          <p:cNvSpPr>
            <a:spLocks xmlns:a="http://schemas.openxmlformats.org/drawingml/2006/main" noGrp="1"/>
          </p:cNvSpPr>
          <p:nvPr/>
        </p:nvSpPr>
        <p:spPr>
          <a:xfrm xmlns:a="http://schemas.openxmlformats.org/drawingml/2006/main">
            <a:off x="9906000" y="6200775"/>
            <a:ext cx="1752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1200" b="0">
                <a:solidFill>
                  <a:srgbClr val="BED0DD"/>
                </a:solidFill>
                <a:latin typeface="Arial"/>
                <a:ea typeface="Arial"/>
                <a:cs typeface="Arial"/>
              </a:defRPr>
            </a:pPr>
            <a:r>
              <a:rPr sz="1200" b="0">
                <a:solidFill>
                  <a:srgbClr val="BED0DD"/>
                </a:solidFill>
                <a:latin typeface="Arial"/>
                <a:ea typeface="Arial"/>
                <a:cs typeface="Arial"/>
              </a:rPr>
              <a:t>Paris · 2026</a:t>
            </a:r>
          </a:p>
        </p:txBody>
      </p:sp>
    </p:spTree>
    <p:extLst>
      <p:ext uri="{BB962C8B-B14F-4D97-AF65-F5344CB8AC3E}">
        <p14:creationId xmlns:p14="http://schemas.microsoft.com/office/powerpoint/2010/main" val="451173708"/>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s2-kicker-1">
            <a:extLst xmlns:a="http://schemas.openxmlformats.org/drawingml/2006/main">
              <a:ext uri="{FF2B5EF4-FFF2-40B4-BE49-F238E27FC236}">
                <a16:creationId xmlns:a16="http://schemas.microsoft.com/office/drawing/2014/main" id="{1C17EC2D-B1DC-4FFB-BD63-A4E57072359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A SHARED STARTING POINT</a:t>
            </a:r>
          </a:p>
        </p:txBody>
      </p:sp>
      <p:sp>
        <p:nvSpPr>
          <p:cNvPr id="2" name="s2-title-2">
            <a:extLst xmlns:a="http://schemas.openxmlformats.org/drawingml/2006/main">
              <a:ext uri="{FF2B5EF4-FFF2-40B4-BE49-F238E27FC236}">
                <a16:creationId xmlns:a16="http://schemas.microsoft.com/office/drawing/2014/main" id="{B28E4333-4EE1-49D7-8ED0-5D1EC8655ABA}"/>
              </a:ext>
            </a:extLst>
          </p:cNvPr>
          <p:cNvSpPr>
            <a:spLocks xmlns:a="http://schemas.openxmlformats.org/drawingml/2006/main" noGrp="1"/>
          </p:cNvSpPr>
          <p:nvPr/>
        </p:nvSpPr>
        <p:spPr>
          <a:xfrm xmlns:a="http://schemas.openxmlformats.org/drawingml/2006/main">
            <a:off x="723900" y="904875"/>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What is a pedagogical AI agent?</a:t>
            </a:r>
          </a:p>
        </p:txBody>
      </p:sp>
      <p:sp>
        <p:nvSpPr>
          <p:cNvPr id="3" name="s2-body-3">
            <a:extLst xmlns:a="http://schemas.openxmlformats.org/drawingml/2006/main">
              <a:ext uri="{FF2B5EF4-FFF2-40B4-BE49-F238E27FC236}">
                <a16:creationId xmlns:a16="http://schemas.microsoft.com/office/drawing/2014/main" id="{CF28A2CC-2A49-4AE6-AA2E-3C4A11DA2D36}"/>
              </a:ext>
            </a:extLst>
          </p:cNvPr>
          <p:cNvSpPr>
            <a:spLocks xmlns:a="http://schemas.openxmlformats.org/drawingml/2006/main" noGrp="1"/>
          </p:cNvSpPr>
          <p:nvPr/>
        </p:nvSpPr>
        <p:spPr>
          <a:xfrm xmlns:a="http://schemas.openxmlformats.org/drawingml/2006/main">
            <a:off x="723900" y="17240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160" b="1">
                <a:solidFill>
                  <a:srgbClr val="142D43"/>
                </a:solidFill>
                <a:latin typeface="Arial"/>
                <a:ea typeface="Arial"/>
                <a:cs typeface="Arial"/>
              </a:defRPr>
            </a:pPr>
            <a:r>
              <a:rPr sz="2160" b="1">
                <a:solidFill>
                  <a:srgbClr val="142D43"/>
                </a:solidFill>
                <a:latin typeface="Arial"/>
                <a:ea typeface="Arial"/>
                <a:cs typeface="Arial"/>
              </a:rPr>
              <a:t>An AI helper set up for a clear teaching or learning goal.</a:t>
            </a:r>
          </a:p>
        </p:txBody>
      </p:sp>
      <p:sp>
        <p:nvSpPr>
          <p:cNvPr id="4" name="s2-body-4">
            <a:extLst xmlns:a="http://schemas.openxmlformats.org/drawingml/2006/main">
              <a:ext uri="{FF2B5EF4-FFF2-40B4-BE49-F238E27FC236}">
                <a16:creationId xmlns:a16="http://schemas.microsoft.com/office/drawing/2014/main" id="{EFD3276E-507B-4F3F-91CA-684842E03825}"/>
              </a:ext>
            </a:extLst>
          </p:cNvPr>
          <p:cNvSpPr>
            <a:spLocks xmlns:a="http://schemas.openxmlformats.org/drawingml/2006/main" noGrp="1"/>
          </p:cNvSpPr>
          <p:nvPr/>
        </p:nvSpPr>
        <p:spPr>
          <a:xfrm xmlns:a="http://schemas.openxmlformats.org/drawingml/2006/main">
            <a:off x="723900" y="2333625"/>
            <a:ext cx="1057865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566C7E"/>
                </a:solidFill>
                <a:latin typeface="Arial"/>
                <a:ea typeface="Arial"/>
                <a:cs typeface="Arial"/>
              </a:defRPr>
            </a:pPr>
            <a:r>
              <a:rPr sz="1575" b="0">
                <a:solidFill>
                  <a:srgbClr val="566C7E"/>
                </a:solidFill>
                <a:latin typeface="Arial"/>
                <a:ea typeface="Arial"/>
                <a:cs typeface="Arial"/>
              </a:rPr>
              <a:t>In our work, “pedagogical” means for teaching and learning.</a:t>
            </a:r>
          </a:p>
        </p:txBody>
      </p:sp>
      <p:sp>
        <p:nvSpPr>
          <p:cNvPr id="5" name="s2-body-5">
            <a:extLst xmlns:a="http://schemas.openxmlformats.org/drawingml/2006/main">
              <a:ext uri="{FF2B5EF4-FFF2-40B4-BE49-F238E27FC236}">
                <a16:creationId xmlns:a16="http://schemas.microsoft.com/office/drawing/2014/main" id="{ADA85D3F-341D-4055-8FA5-5858F41AE9E5}"/>
              </a:ext>
            </a:extLst>
          </p:cNvPr>
          <p:cNvSpPr>
            <a:spLocks xmlns:a="http://schemas.openxmlformats.org/drawingml/2006/main" noGrp="1"/>
          </p:cNvSpPr>
          <p:nvPr/>
        </p:nvSpPr>
        <p:spPr>
          <a:xfrm xmlns:a="http://schemas.openxmlformats.org/drawingml/2006/main">
            <a:off x="723900" y="2876550"/>
            <a:ext cx="528008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Teachers shape it</a:t>
            </a:r>
          </a:p>
        </p:txBody>
      </p:sp>
      <p:sp>
        <p:nvSpPr>
          <p:cNvPr id="6" name="s2-body-6">
            <a:extLst xmlns:a="http://schemas.openxmlformats.org/drawingml/2006/main">
              <a:ext uri="{FF2B5EF4-FFF2-40B4-BE49-F238E27FC236}">
                <a16:creationId xmlns:a16="http://schemas.microsoft.com/office/drawing/2014/main" id="{264BD2BB-CF23-402C-A732-ADB433F3A61C}"/>
              </a:ext>
            </a:extLst>
          </p:cNvPr>
          <p:cNvSpPr>
            <a:spLocks xmlns:a="http://schemas.openxmlformats.org/drawingml/2006/main" noGrp="1"/>
          </p:cNvSpPr>
          <p:nvPr/>
        </p:nvSpPr>
        <p:spPr>
          <a:xfrm xmlns:a="http://schemas.openxmlformats.org/drawingml/2006/main">
            <a:off x="723900" y="3228975"/>
            <a:ext cx="5280089"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20" b="0">
                <a:solidFill>
                  <a:srgbClr val="566C7E"/>
                </a:solidFill>
                <a:latin typeface="Arial"/>
                <a:ea typeface="Arial"/>
                <a:cs typeface="Arial"/>
              </a:defRPr>
            </a:pPr>
            <a:r>
              <a:rPr sz="1620" b="0">
                <a:solidFill>
                  <a:srgbClr val="566C7E"/>
                </a:solidFill>
                <a:latin typeface="Arial"/>
                <a:ea typeface="Arial"/>
                <a:cs typeface="Arial"/>
              </a:rPr>
              <a:t>They set its role, materials, steps and limits.</a:t>
            </a:r>
          </a:p>
        </p:txBody>
      </p:sp>
      <p:sp>
        <p:nvSpPr>
          <p:cNvPr id="7" name="s2-body-7">
            <a:extLst xmlns:a="http://schemas.openxmlformats.org/drawingml/2006/main">
              <a:ext uri="{FF2B5EF4-FFF2-40B4-BE49-F238E27FC236}">
                <a16:creationId xmlns:a16="http://schemas.microsoft.com/office/drawing/2014/main" id="{83F3629F-EC13-416A-AF88-2906A74721B0}"/>
              </a:ext>
            </a:extLst>
          </p:cNvPr>
          <p:cNvSpPr>
            <a:spLocks xmlns:a="http://schemas.openxmlformats.org/drawingml/2006/main" noGrp="1"/>
          </p:cNvSpPr>
          <p:nvPr/>
        </p:nvSpPr>
        <p:spPr>
          <a:xfrm xmlns:a="http://schemas.openxmlformats.org/drawingml/2006/main">
            <a:off x="723900" y="3829050"/>
            <a:ext cx="528008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It supports learning</a:t>
            </a:r>
          </a:p>
        </p:txBody>
      </p:sp>
      <p:sp>
        <p:nvSpPr>
          <p:cNvPr id="8" name="s2-body-8">
            <a:extLst xmlns:a="http://schemas.openxmlformats.org/drawingml/2006/main">
              <a:ext uri="{FF2B5EF4-FFF2-40B4-BE49-F238E27FC236}">
                <a16:creationId xmlns:a16="http://schemas.microsoft.com/office/drawing/2014/main" id="{4192EFF6-A54E-464F-80C6-417D36C04DDF}"/>
              </a:ext>
            </a:extLst>
          </p:cNvPr>
          <p:cNvSpPr>
            <a:spLocks xmlns:a="http://schemas.openxmlformats.org/drawingml/2006/main" noGrp="1"/>
          </p:cNvSpPr>
          <p:nvPr/>
        </p:nvSpPr>
        <p:spPr>
          <a:xfrm xmlns:a="http://schemas.openxmlformats.org/drawingml/2006/main">
            <a:off x="723900" y="4181475"/>
            <a:ext cx="5280089"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20" b="0">
                <a:solidFill>
                  <a:srgbClr val="566C7E"/>
                </a:solidFill>
                <a:latin typeface="Arial"/>
                <a:ea typeface="Arial"/>
                <a:cs typeface="Arial"/>
              </a:defRPr>
            </a:pPr>
            <a:r>
              <a:rPr sz="1620" b="0">
                <a:solidFill>
                  <a:srgbClr val="566C7E"/>
                </a:solidFill>
                <a:latin typeface="Arial"/>
                <a:ea typeface="Arial"/>
                <a:cs typeface="Arial"/>
              </a:rPr>
              <a:t>It asks questions, guides practice and gives feedback.</a:t>
            </a:r>
          </a:p>
        </p:txBody>
      </p:sp>
      <p:sp>
        <p:nvSpPr>
          <p:cNvPr id="9" name="s2-body-9">
            <a:extLst xmlns:a="http://schemas.openxmlformats.org/drawingml/2006/main">
              <a:ext uri="{FF2B5EF4-FFF2-40B4-BE49-F238E27FC236}">
                <a16:creationId xmlns:a16="http://schemas.microsoft.com/office/drawing/2014/main" id="{F005EABB-8A1C-442E-801C-2993BAA78E52}"/>
              </a:ext>
            </a:extLst>
          </p:cNvPr>
          <p:cNvSpPr>
            <a:spLocks xmlns:a="http://schemas.openxmlformats.org/drawingml/2006/main" noGrp="1"/>
          </p:cNvSpPr>
          <p:nvPr/>
        </p:nvSpPr>
        <p:spPr>
          <a:xfrm xmlns:a="http://schemas.openxmlformats.org/drawingml/2006/main">
            <a:off x="723900" y="4867275"/>
            <a:ext cx="528008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Why use one?</a:t>
            </a:r>
          </a:p>
        </p:txBody>
      </p:sp>
      <p:sp>
        <p:nvSpPr>
          <p:cNvPr id="10" name="s2-body-10">
            <a:extLst xmlns:a="http://schemas.openxmlformats.org/drawingml/2006/main">
              <a:ext uri="{FF2B5EF4-FFF2-40B4-BE49-F238E27FC236}">
                <a16:creationId xmlns:a16="http://schemas.microsoft.com/office/drawing/2014/main" id="{13EFE8CA-F84A-4674-9206-FC1C1A302A18}"/>
              </a:ext>
            </a:extLst>
          </p:cNvPr>
          <p:cNvSpPr>
            <a:spLocks xmlns:a="http://schemas.openxmlformats.org/drawingml/2006/main" noGrp="1"/>
          </p:cNvSpPr>
          <p:nvPr/>
        </p:nvSpPr>
        <p:spPr>
          <a:xfrm xmlns:a="http://schemas.openxmlformats.org/drawingml/2006/main">
            <a:off x="723900" y="5219700"/>
            <a:ext cx="5280089"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20" b="0">
                <a:solidFill>
                  <a:srgbClr val="566C7E"/>
                </a:solidFill>
                <a:latin typeface="Arial"/>
                <a:ea typeface="Arial"/>
                <a:cs typeface="Arial"/>
              </a:defRPr>
            </a:pPr>
            <a:r>
              <a:rPr sz="1620" b="0">
                <a:solidFill>
                  <a:srgbClr val="566C7E"/>
                </a:solidFill>
                <a:latin typeface="Arial"/>
                <a:ea typeface="Arial"/>
                <a:cs typeface="Arial"/>
              </a:rPr>
              <a:t>Turn a teaching plan into support that can be tested, reused and revised.</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b786d68b2074caf"/>
          <a:srcRect xmlns:a="http://schemas.openxmlformats.org/drawingml/2006/main" l="0" t="2370" r="0" b="2370"/>
          <a:stretch xmlns:a="http://schemas.openxmlformats.org/drawingml/2006/main"/>
        </p:blipFill>
        <p:spPr>
          <a:xfrm xmlns:a="http://schemas.openxmlformats.org/drawingml/2006/main">
            <a:off x="6651117" y="2924175"/>
            <a:ext cx="4816983" cy="2569654"/>
          </a:xfrm>
          <a:prstGeom xmlns:a="http://schemas.openxmlformats.org/drawingml/2006/main" prst="rect">
            <a:avLst/>
          </a:prstGeom>
        </p:spPr>
      </p:pic>
      <p:sp>
        <p:nvSpPr>
          <p:cNvPr id="12" name="s2-caption-12">
            <a:extLst xmlns:a="http://schemas.openxmlformats.org/drawingml/2006/main">
              <a:ext uri="{FF2B5EF4-FFF2-40B4-BE49-F238E27FC236}">
                <a16:creationId xmlns:a16="http://schemas.microsoft.com/office/drawing/2014/main" id="{1815A0EF-81E8-4E97-A591-608A2B0DAEA5}"/>
              </a:ext>
            </a:extLst>
          </p:cNvPr>
          <p:cNvSpPr>
            <a:spLocks xmlns:a="http://schemas.openxmlformats.org/drawingml/2006/main" noGrp="1"/>
          </p:cNvSpPr>
          <p:nvPr/>
        </p:nvSpPr>
        <p:spPr>
          <a:xfrm xmlns:a="http://schemas.openxmlformats.org/drawingml/2006/main">
            <a:off x="6651117" y="5608130"/>
            <a:ext cx="49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English speaking practice · Pingshan</a:t>
            </a:r>
          </a:p>
        </p:txBody>
      </p:sp>
      <p:sp>
        <p:nvSpPr>
          <p:cNvPr id="13" name="s2-rect-13">
            <a:extLst xmlns:a="http://schemas.openxmlformats.org/drawingml/2006/main">
              <a:ext uri="{FF2B5EF4-FFF2-40B4-BE49-F238E27FC236}">
                <a16:creationId xmlns:a16="http://schemas.microsoft.com/office/drawing/2014/main" id="{51A7FB91-5FA5-4CA3-A7A6-F4D9CCC6A011}"/>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4" name="s2-takeaway-14">
            <a:extLst xmlns:a="http://schemas.openxmlformats.org/drawingml/2006/main">
              <a:ext uri="{FF2B5EF4-FFF2-40B4-BE49-F238E27FC236}">
                <a16:creationId xmlns:a16="http://schemas.microsoft.com/office/drawing/2014/main" id="{3232BCB1-862F-4C30-8752-9326C8AC345E}"/>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The teacher sets the purpose. The agent provides the agreed support.</a:t>
            </a:r>
          </a:p>
        </p:txBody>
      </p:sp>
      <p:sp>
        <p:nvSpPr>
          <p:cNvPr id="15" name="s2-offline-meta-15">
            <a:extLst xmlns:a="http://schemas.openxmlformats.org/drawingml/2006/main">
              <a:ext uri="{FF2B5EF4-FFF2-40B4-BE49-F238E27FC236}">
                <a16:creationId xmlns:a16="http://schemas.microsoft.com/office/drawing/2014/main" id="{8EDB59BB-9784-4D2A-9E3F-111E626A1AEB}"/>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6" name="s2-offline-meta-16">
            <a:extLst xmlns:a="http://schemas.openxmlformats.org/drawingml/2006/main">
              <a:ext uri="{FF2B5EF4-FFF2-40B4-BE49-F238E27FC236}">
                <a16:creationId xmlns:a16="http://schemas.microsoft.com/office/drawing/2014/main" id="{5E38E534-5AB1-4C25-9BCE-2620C2684BEB}"/>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02 / 17</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25805f21bed426a"/>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642435455"/>
      </p:ext>
    </p:extLst>
  </p:cSld>
</p:sld>
</file>

<file path=ppt/slides/slide3.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5" name="s3-kicker-1">
            <a:extLst xmlns:a="http://schemas.openxmlformats.org/drawingml/2006/main">
              <a:ext uri="{FF2B5EF4-FFF2-40B4-BE49-F238E27FC236}">
                <a16:creationId xmlns:a16="http://schemas.microsoft.com/office/drawing/2014/main" id="{5978F51E-E0C3-4210-AF02-7EF0F366161D}"/>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TEACHERS SHAPE AI’S ROLE</a:t>
            </a:r>
          </a:p>
        </p:txBody>
      </p:sp>
      <p:sp>
        <p:nvSpPr>
          <p:cNvPr id="2" name="s3-title-2">
            <a:extLst xmlns:a="http://schemas.openxmlformats.org/drawingml/2006/main">
              <a:ext uri="{FF2B5EF4-FFF2-40B4-BE49-F238E27FC236}">
                <a16:creationId xmlns:a16="http://schemas.microsoft.com/office/drawing/2014/main" id="{80197881-3677-4B7B-8412-3E7AB2722CBB}"/>
              </a:ext>
            </a:extLst>
          </p:cNvPr>
          <p:cNvSpPr>
            <a:spLocks xmlns:a="http://schemas.openxmlformats.org/drawingml/2006/main" noGrp="1"/>
          </p:cNvSpPr>
          <p:nvPr/>
        </p:nvSpPr>
        <p:spPr>
          <a:xfrm xmlns:a="http://schemas.openxmlformats.org/drawingml/2006/main">
            <a:off x="723900" y="904875"/>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140" b="1">
                <a:solidFill>
                  <a:srgbClr val="FFFFFF"/>
                </a:solidFill>
                <a:latin typeface="Arial"/>
                <a:ea typeface="Arial"/>
                <a:cs typeface="Arial"/>
              </a:defRPr>
            </a:pPr>
            <a:r>
              <a:rPr sz="4140" b="1">
                <a:solidFill>
                  <a:srgbClr val="FFFFFF"/>
                </a:solidFill>
                <a:latin typeface="Arial"/>
                <a:ea typeface="Arial"/>
                <a:cs typeface="Arial"/>
              </a:rPr>
              <a:t>One goal. Two views.</a:t>
            </a:r>
          </a:p>
        </p:txBody>
      </p:sp>
      <p:sp>
        <p:nvSpPr>
          <p:cNvPr id="3" name="s3-body-3">
            <a:extLst xmlns:a="http://schemas.openxmlformats.org/drawingml/2006/main">
              <a:ext uri="{FF2B5EF4-FFF2-40B4-BE49-F238E27FC236}">
                <a16:creationId xmlns:a16="http://schemas.microsoft.com/office/drawing/2014/main" id="{12C7BD94-75A4-49D6-9704-CD13EA863C4E}"/>
              </a:ext>
            </a:extLst>
          </p:cNvPr>
          <p:cNvSpPr>
            <a:spLocks xmlns:a="http://schemas.openxmlformats.org/drawingml/2006/main" noGrp="1"/>
          </p:cNvSpPr>
          <p:nvPr/>
        </p:nvSpPr>
        <p:spPr>
          <a:xfrm xmlns:a="http://schemas.openxmlformats.org/drawingml/2006/main">
            <a:off x="723900" y="1743075"/>
            <a:ext cx="10302621"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0">
                <a:solidFill>
                  <a:srgbClr val="BED0DD"/>
                </a:solidFill>
                <a:latin typeface="Arial"/>
                <a:ea typeface="Arial"/>
                <a:cs typeface="Arial"/>
              </a:defRPr>
            </a:pPr>
            <a:r>
              <a:rPr sz="2093" b="0">
                <a:solidFill>
                  <a:srgbClr val="BED0DD"/>
                </a:solidFill>
                <a:latin typeface="Arial"/>
                <a:ea typeface="Arial"/>
                <a:cs typeface="Arial"/>
              </a:rPr>
              <a:t>Teacher agency means having the ability and room to make teaching choices.</a:t>
            </a:r>
          </a:p>
        </p:txBody>
      </p:sp>
      <p:sp>
        <p:nvSpPr>
          <p:cNvPr id="4" name="s3-rect-4">
            <a:extLst xmlns:a="http://schemas.openxmlformats.org/drawingml/2006/main">
              <a:ext uri="{FF2B5EF4-FFF2-40B4-BE49-F238E27FC236}">
                <a16:creationId xmlns:a16="http://schemas.microsoft.com/office/drawing/2014/main" id="{DF9212CA-AB59-46CA-8FEC-CF0914B4B8CD}"/>
              </a:ext>
            </a:extLst>
          </p:cNvPr>
          <p:cNvSpPr>
            <a:spLocks xmlns:a="http://schemas.openxmlformats.org/drawingml/2006/main" noGrp="1"/>
          </p:cNvSpPr>
          <p:nvPr/>
        </p:nvSpPr>
        <p:spPr>
          <a:xfrm xmlns:a="http://schemas.openxmlformats.org/drawingml/2006/main">
            <a:off x="723900" y="2819400"/>
            <a:ext cx="5040916" cy="28575"/>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5" name="s3-body-5">
            <a:extLst xmlns:a="http://schemas.openxmlformats.org/drawingml/2006/main">
              <a:ext uri="{FF2B5EF4-FFF2-40B4-BE49-F238E27FC236}">
                <a16:creationId xmlns:a16="http://schemas.microsoft.com/office/drawing/2014/main" id="{BC673A48-12D0-4300-97C6-DC286A520949}"/>
              </a:ext>
            </a:extLst>
          </p:cNvPr>
          <p:cNvSpPr>
            <a:spLocks xmlns:a="http://schemas.openxmlformats.org/drawingml/2006/main" noGrp="1"/>
          </p:cNvSpPr>
          <p:nvPr/>
        </p:nvSpPr>
        <p:spPr>
          <a:xfrm xmlns:a="http://schemas.openxmlformats.org/drawingml/2006/main">
            <a:off x="723900" y="3048000"/>
            <a:ext cx="4930521"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700" b="1">
                <a:solidFill>
                  <a:srgbClr val="FFFFFF"/>
                </a:solidFill>
                <a:latin typeface="Arial"/>
                <a:ea typeface="Arial"/>
                <a:cs typeface="Arial"/>
              </a:defRPr>
            </a:pPr>
            <a:r>
              <a:rPr sz="2700" b="1">
                <a:solidFill>
                  <a:srgbClr val="FFFFFF"/>
                </a:solidFill>
                <a:latin typeface="Arial"/>
                <a:ea typeface="Arial"/>
                <a:cs typeface="Arial"/>
              </a:rPr>
              <a:t>1 · Practice</a:t>
            </a:r>
          </a:p>
        </p:txBody>
      </p:sp>
      <p:sp>
        <p:nvSpPr>
          <p:cNvPr id="6" name="s3-body-6">
            <a:extLst xmlns:a="http://schemas.openxmlformats.org/drawingml/2006/main">
              <a:ext uri="{FF2B5EF4-FFF2-40B4-BE49-F238E27FC236}">
                <a16:creationId xmlns:a16="http://schemas.microsoft.com/office/drawing/2014/main" id="{82BB8BBA-39A1-4174-9DF6-36DE3A220233}"/>
              </a:ext>
            </a:extLst>
          </p:cNvPr>
          <p:cNvSpPr>
            <a:spLocks xmlns:a="http://schemas.openxmlformats.org/drawingml/2006/main" noGrp="1"/>
          </p:cNvSpPr>
          <p:nvPr/>
        </p:nvSpPr>
        <p:spPr>
          <a:xfrm xmlns:a="http://schemas.openxmlformats.org/drawingml/2006/main">
            <a:off x="723900" y="3638550"/>
            <a:ext cx="4930521"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0">
                <a:solidFill>
                  <a:srgbClr val="BED0DD"/>
                </a:solidFill>
                <a:latin typeface="Arial"/>
                <a:ea typeface="Arial"/>
                <a:cs typeface="Arial"/>
              </a:defRPr>
            </a:pPr>
            <a:r>
              <a:rPr sz="1958" b="0">
                <a:solidFill>
                  <a:srgbClr val="BED0DD"/>
                </a:solidFill>
                <a:latin typeface="Arial"/>
                <a:ea typeface="Arial"/>
                <a:cs typeface="Arial"/>
              </a:rPr>
              <a:t>How do policy, local support and teacher design work together?</a:t>
            </a:r>
          </a:p>
        </p:txBody>
      </p:sp>
      <p:sp>
        <p:nvSpPr>
          <p:cNvPr id="7" name="s3-rect-7">
            <a:extLst xmlns:a="http://schemas.openxmlformats.org/drawingml/2006/main">
              <a:ext uri="{FF2B5EF4-FFF2-40B4-BE49-F238E27FC236}">
                <a16:creationId xmlns:a16="http://schemas.microsoft.com/office/drawing/2014/main" id="{FBD7BB01-E629-4D64-A15E-DFE0E494024E}"/>
              </a:ext>
            </a:extLst>
          </p:cNvPr>
          <p:cNvSpPr>
            <a:spLocks xmlns:a="http://schemas.openxmlformats.org/drawingml/2006/main" noGrp="1"/>
          </p:cNvSpPr>
          <p:nvPr/>
        </p:nvSpPr>
        <p:spPr>
          <a:xfrm xmlns:a="http://schemas.openxmlformats.org/drawingml/2006/main">
            <a:off x="6289167" y="2819400"/>
            <a:ext cx="5040916" cy="28575"/>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8" name="s3-body-8">
            <a:extLst xmlns:a="http://schemas.openxmlformats.org/drawingml/2006/main">
              <a:ext uri="{FF2B5EF4-FFF2-40B4-BE49-F238E27FC236}">
                <a16:creationId xmlns:a16="http://schemas.microsoft.com/office/drawing/2014/main" id="{BC595F9E-FC66-411B-B238-9F2BB89A86D7}"/>
              </a:ext>
            </a:extLst>
          </p:cNvPr>
          <p:cNvSpPr>
            <a:spLocks xmlns:a="http://schemas.openxmlformats.org/drawingml/2006/main" noGrp="1"/>
          </p:cNvSpPr>
          <p:nvPr/>
        </p:nvSpPr>
        <p:spPr>
          <a:xfrm xmlns:a="http://schemas.openxmlformats.org/drawingml/2006/main">
            <a:off x="6289167" y="3048000"/>
            <a:ext cx="4930521"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700" b="1">
                <a:solidFill>
                  <a:srgbClr val="FFFFFF"/>
                </a:solidFill>
                <a:latin typeface="Arial"/>
                <a:ea typeface="Arial"/>
                <a:cs typeface="Arial"/>
              </a:defRPr>
            </a:pPr>
            <a:r>
              <a:rPr sz="2700" b="1">
                <a:solidFill>
                  <a:srgbClr val="FFFFFF"/>
                </a:solidFill>
                <a:latin typeface="Arial"/>
                <a:ea typeface="Arial"/>
                <a:cs typeface="Arial"/>
              </a:rPr>
              <a:t>2 · Research</a:t>
            </a:r>
          </a:p>
        </p:txBody>
      </p:sp>
      <p:sp>
        <p:nvSpPr>
          <p:cNvPr id="9" name="s3-body-9">
            <a:extLst xmlns:a="http://schemas.openxmlformats.org/drawingml/2006/main">
              <a:ext uri="{FF2B5EF4-FFF2-40B4-BE49-F238E27FC236}">
                <a16:creationId xmlns:a16="http://schemas.microsoft.com/office/drawing/2014/main" id="{BFD31C1E-1672-419D-972B-B28DFFF30590}"/>
              </a:ext>
            </a:extLst>
          </p:cNvPr>
          <p:cNvSpPr>
            <a:spLocks xmlns:a="http://schemas.openxmlformats.org/drawingml/2006/main" noGrp="1"/>
          </p:cNvSpPr>
          <p:nvPr/>
        </p:nvSpPr>
        <p:spPr>
          <a:xfrm xmlns:a="http://schemas.openxmlformats.org/drawingml/2006/main">
            <a:off x="6289167" y="3638550"/>
            <a:ext cx="4930521"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0">
                <a:solidFill>
                  <a:srgbClr val="BED0DD"/>
                </a:solidFill>
                <a:latin typeface="Arial"/>
                <a:ea typeface="Arial"/>
                <a:cs typeface="Arial"/>
              </a:defRPr>
            </a:pPr>
            <a:r>
              <a:rPr sz="1958" b="0">
                <a:solidFill>
                  <a:srgbClr val="BED0DD"/>
                </a:solidFill>
                <a:latin typeface="Arial"/>
                <a:ea typeface="Arial"/>
                <a:cs typeface="Arial"/>
              </a:rPr>
              <a:t>What do teachers learn as they build agents? What helps them keep creating?</a:t>
            </a:r>
          </a:p>
        </p:txBody>
      </p:sp>
      <p:sp>
        <p:nvSpPr>
          <p:cNvPr id="10" name="s3-metric-10">
            <a:extLst xmlns:a="http://schemas.openxmlformats.org/drawingml/2006/main">
              <a:ext uri="{FF2B5EF4-FFF2-40B4-BE49-F238E27FC236}">
                <a16:creationId xmlns:a16="http://schemas.microsoft.com/office/drawing/2014/main" id="{94FB3C23-F0E4-423B-B278-BB90B100F945}"/>
              </a:ext>
            </a:extLst>
          </p:cNvPr>
          <p:cNvSpPr>
            <a:spLocks xmlns:a="http://schemas.openxmlformats.org/drawingml/2006/main" noGrp="1"/>
          </p:cNvSpPr>
          <p:nvPr/>
        </p:nvSpPr>
        <p:spPr>
          <a:xfrm xmlns:a="http://schemas.openxmlformats.org/drawingml/2006/main">
            <a:off x="723900" y="4914900"/>
            <a:ext cx="2814828"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6143" b="1">
                <a:solidFill>
                  <a:srgbClr val="64D2C4"/>
                </a:solidFill>
                <a:latin typeface="Arial"/>
                <a:ea typeface="Arial"/>
                <a:cs typeface="Arial"/>
              </a:defRPr>
            </a:pPr>
            <a:r>
              <a:rPr sz="6143" b="1">
                <a:solidFill>
                  <a:srgbClr val="64D2C4"/>
                </a:solidFill>
                <a:latin typeface="Arial"/>
                <a:ea typeface="Arial"/>
                <a:cs typeface="Arial"/>
              </a:rPr>
              <a:t>1,000+</a:t>
            </a:r>
          </a:p>
        </p:txBody>
      </p:sp>
      <p:sp>
        <p:nvSpPr>
          <p:cNvPr id="11" name="s3-body-11">
            <a:extLst xmlns:a="http://schemas.openxmlformats.org/drawingml/2006/main">
              <a:ext uri="{FF2B5EF4-FFF2-40B4-BE49-F238E27FC236}">
                <a16:creationId xmlns:a16="http://schemas.microsoft.com/office/drawing/2014/main" id="{E075E482-B1A4-42D1-A147-978503C0BD05}"/>
              </a:ext>
            </a:extLst>
          </p:cNvPr>
          <p:cNvSpPr>
            <a:spLocks xmlns:a="http://schemas.openxmlformats.org/drawingml/2006/main" noGrp="1"/>
          </p:cNvSpPr>
          <p:nvPr/>
        </p:nvSpPr>
        <p:spPr>
          <a:xfrm xmlns:a="http://schemas.openxmlformats.org/drawingml/2006/main">
            <a:off x="3814667" y="5219700"/>
            <a:ext cx="7313009"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0">
                <a:solidFill>
                  <a:srgbClr val="FFFFFF"/>
                </a:solidFill>
                <a:latin typeface="Arial"/>
                <a:ea typeface="Arial"/>
                <a:cs typeface="Arial"/>
              </a:defRPr>
            </a:pPr>
            <a:r>
              <a:rPr sz="1890" b="0">
                <a:solidFill>
                  <a:srgbClr val="FFFFFF"/>
                </a:solidFill>
                <a:latin typeface="Arial"/>
                <a:ea typeface="Arial"/>
                <a:cs typeface="Arial"/>
              </a:rPr>
              <a:t>teachers reached across four Shenzhen districts</a:t>
            </a:r>
          </a:p>
          <a:p xmlns:a="http://schemas.openxmlformats.org/drawingml/2006/main">
            <a:pPr algn="l">
              <a:lnSpc>
                <a:spcPct val="126000"/>
              </a:lnSpc>
              <a:buNone/>
              <a:defRPr sz="1890" b="0">
                <a:solidFill>
                  <a:srgbClr val="FFFFFF"/>
                </a:solidFill>
                <a:latin typeface="Arial"/>
                <a:ea typeface="Arial"/>
                <a:cs typeface="Arial"/>
              </a:defRPr>
            </a:pPr>
            <a:r>
              <a:rPr sz="1890" b="0">
                <a:solidFill>
                  <a:srgbClr val="FFFFFF"/>
                </a:solidFill>
                <a:latin typeface="Arial"/>
                <a:ea typeface="Arial"/>
                <a:cs typeface="Arial"/>
              </a:rPr>
              <a:t>and partner schools</a:t>
            </a:r>
          </a:p>
        </p:txBody>
      </p:sp>
      <p:sp>
        <p:nvSpPr>
          <p:cNvPr id="12" name="s3-caption-12">
            <a:extLst xmlns:a="http://schemas.openxmlformats.org/drawingml/2006/main">
              <a:ext uri="{FF2B5EF4-FFF2-40B4-BE49-F238E27FC236}">
                <a16:creationId xmlns:a16="http://schemas.microsoft.com/office/drawing/2014/main" id="{D865554A-0F4C-4FF2-A58D-E5720E96A5CF}"/>
              </a:ext>
            </a:extLst>
          </p:cNvPr>
          <p:cNvSpPr>
            <a:spLocks xmlns:a="http://schemas.openxmlformats.org/drawingml/2006/main" noGrp="1"/>
          </p:cNvSpPr>
          <p:nvPr/>
        </p:nvSpPr>
        <p:spPr>
          <a:xfrm xmlns:a="http://schemas.openxmlformats.org/drawingml/2006/main">
            <a:off x="723900" y="60769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BED0DD"/>
                </a:solidFill>
                <a:latin typeface="Arial"/>
                <a:ea typeface="Arial"/>
                <a:cs typeface="Arial"/>
              </a:defRPr>
            </a:pPr>
            <a:r>
              <a:rPr sz="1575" b="0">
                <a:solidFill>
                  <a:srgbClr val="BED0DD"/>
                </a:solidFill>
                <a:latin typeface="Arial"/>
                <a:ea typeface="Arial"/>
                <a:cs typeface="Arial"/>
              </a:rPr>
              <a:t>Our teacher development work: April 2025–April 2026</a:t>
            </a:r>
          </a:p>
        </p:txBody>
      </p:sp>
      <p:sp>
        <p:nvSpPr>
          <p:cNvPr id="13" name="s3-offline-meta-13">
            <a:extLst xmlns:a="http://schemas.openxmlformats.org/drawingml/2006/main">
              <a:ext uri="{FF2B5EF4-FFF2-40B4-BE49-F238E27FC236}">
                <a16:creationId xmlns:a16="http://schemas.microsoft.com/office/drawing/2014/main" id="{EC64B63F-6DD4-4CC1-A9D6-4E54E59EBB68}"/>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14" name="s3-offline-meta-14">
            <a:extLst xmlns:a="http://schemas.openxmlformats.org/drawingml/2006/main">
              <a:ext uri="{FF2B5EF4-FFF2-40B4-BE49-F238E27FC236}">
                <a16:creationId xmlns:a16="http://schemas.microsoft.com/office/drawing/2014/main" id="{E9F80408-3D1B-4EAD-BF71-A4F33A9B7CAF}"/>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03 / 17</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7565f86ee274eb0"/>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81152642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s4-kicker-1">
            <a:extLst xmlns:a="http://schemas.openxmlformats.org/drawingml/2006/main">
              <a:ext uri="{FF2B5EF4-FFF2-40B4-BE49-F238E27FC236}">
                <a16:creationId xmlns:a16="http://schemas.microsoft.com/office/drawing/2014/main" id="{5DD1E829-5C6A-49A5-A448-258B7C3413BC}"/>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1 · PRACTICE / PROVINCIAL POLICY</a:t>
            </a:r>
          </a:p>
        </p:txBody>
      </p:sp>
      <p:sp>
        <p:nvSpPr>
          <p:cNvPr id="2" name="s4-title-2">
            <a:extLst xmlns:a="http://schemas.openxmlformats.org/drawingml/2006/main">
              <a:ext uri="{FF2B5EF4-FFF2-40B4-BE49-F238E27FC236}">
                <a16:creationId xmlns:a16="http://schemas.microsoft.com/office/drawing/2014/main" id="{568C78A1-2CA3-4715-AD5F-22499F523345}"/>
              </a:ext>
            </a:extLst>
          </p:cNvPr>
          <p:cNvSpPr>
            <a:spLocks xmlns:a="http://schemas.openxmlformats.org/drawingml/2006/main" noGrp="1"/>
          </p:cNvSpPr>
          <p:nvPr/>
        </p:nvSpPr>
        <p:spPr>
          <a:xfrm xmlns:a="http://schemas.openxmlformats.org/drawingml/2006/main">
            <a:off x="723900" y="904875"/>
            <a:ext cx="10394633"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Guangdong: shared goals</a:t>
            </a:r>
          </a:p>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for AI education</a:t>
            </a:r>
          </a:p>
        </p:txBody>
      </p:sp>
      <p:sp>
        <p:nvSpPr>
          <p:cNvPr id="3" name="s4-body-3">
            <a:extLst xmlns:a="http://schemas.openxmlformats.org/drawingml/2006/main">
              <a:ext uri="{FF2B5EF4-FFF2-40B4-BE49-F238E27FC236}">
                <a16:creationId xmlns:a16="http://schemas.microsoft.com/office/drawing/2014/main" id="{4DF186F1-9C93-4E8A-A4D7-D4E57E3592AD}"/>
              </a:ext>
            </a:extLst>
          </p:cNvPr>
          <p:cNvSpPr>
            <a:spLocks xmlns:a="http://schemas.openxmlformats.org/drawingml/2006/main" noGrp="1"/>
          </p:cNvSpPr>
          <p:nvPr/>
        </p:nvSpPr>
        <p:spPr>
          <a:xfrm xmlns:a="http://schemas.openxmlformats.org/drawingml/2006/main">
            <a:off x="723900" y="2114550"/>
            <a:ext cx="1057865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75DA8"/>
                </a:solidFill>
                <a:latin typeface="Arial"/>
                <a:ea typeface="Arial"/>
                <a:cs typeface="Arial"/>
              </a:defRPr>
            </a:pPr>
            <a:r>
              <a:rPr sz="2025" b="1">
                <a:solidFill>
                  <a:srgbClr val="175DA8"/>
                </a:solidFill>
                <a:latin typeface="Arial"/>
                <a:ea typeface="Arial"/>
                <a:cs typeface="Arial"/>
              </a:rPr>
              <a:t>Two literacy frameworks + one curriculum outline</a:t>
            </a:r>
          </a:p>
        </p:txBody>
      </p:sp>
      <p:sp>
        <p:nvSpPr>
          <p:cNvPr id="4" name="s4-metric-4">
            <a:extLst xmlns:a="http://schemas.openxmlformats.org/drawingml/2006/main">
              <a:ext uri="{FF2B5EF4-FFF2-40B4-BE49-F238E27FC236}">
                <a16:creationId xmlns:a16="http://schemas.microsoft.com/office/drawing/2014/main" id="{41F06883-8C32-4D71-A482-E2AC2D339ACA}"/>
              </a:ext>
            </a:extLst>
          </p:cNvPr>
          <p:cNvSpPr>
            <a:spLocks xmlns:a="http://schemas.openxmlformats.org/drawingml/2006/main" noGrp="1"/>
          </p:cNvSpPr>
          <p:nvPr/>
        </p:nvSpPr>
        <p:spPr>
          <a:xfrm xmlns:a="http://schemas.openxmlformats.org/drawingml/2006/main">
            <a:off x="723900" y="2590800"/>
            <a:ext cx="3679508"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3000" b="1">
                <a:solidFill>
                  <a:srgbClr val="175DA8"/>
                </a:solidFill>
                <a:latin typeface="Arial"/>
                <a:ea typeface="Arial"/>
                <a:cs typeface="Arial"/>
              </a:defRPr>
            </a:pPr>
            <a:r>
              <a:rPr sz="3000" b="1">
                <a:solidFill>
                  <a:srgbClr val="175DA8"/>
                </a:solidFill>
                <a:latin typeface="Arial"/>
                <a:ea typeface="Arial"/>
                <a:cs typeface="Arial"/>
              </a:rPr>
              <a:t>2 + 1</a:t>
            </a:r>
          </a:p>
        </p:txBody>
      </p:sp>
      <p:sp>
        <p:nvSpPr>
          <p:cNvPr id="5" name="s4-caption-5">
            <a:extLst xmlns:a="http://schemas.openxmlformats.org/drawingml/2006/main">
              <a:ext uri="{FF2B5EF4-FFF2-40B4-BE49-F238E27FC236}">
                <a16:creationId xmlns:a16="http://schemas.microsoft.com/office/drawing/2014/main" id="{DA877B64-C492-4E38-908B-73F65E59696D}"/>
              </a:ext>
            </a:extLst>
          </p:cNvPr>
          <p:cNvSpPr>
            <a:spLocks xmlns:a="http://schemas.openxmlformats.org/drawingml/2006/main" noGrp="1"/>
          </p:cNvSpPr>
          <p:nvPr/>
        </p:nvSpPr>
        <p:spPr>
          <a:xfrm xmlns:a="http://schemas.openxmlformats.org/drawingml/2006/main">
            <a:off x="723900" y="5447062"/>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566C7E"/>
                </a:solidFill>
                <a:latin typeface="Arial"/>
                <a:ea typeface="Arial"/>
                <a:cs typeface="Arial"/>
              </a:defRPr>
            </a:pPr>
            <a:r>
              <a:rPr sz="1350" b="0">
                <a:solidFill>
                  <a:srgbClr val="566C7E"/>
                </a:solidFill>
                <a:latin typeface="Arial"/>
                <a:ea typeface="Arial"/>
                <a:cs typeface="Arial"/>
                <a:hlinkClick xmlns:r="http://schemas.openxmlformats.org/officeDocument/2006/relationships" r:id="Ra355dacc9ce84cbb"/>
              </a:rPr>
              <a:t>Guangdong Department of Education</a:t>
            </a:r>
          </a:p>
          <a:p xmlns:a="http://schemas.openxmlformats.org/drawingml/2006/main">
            <a:pPr algn="l">
              <a:lnSpc>
                <a:spcPct val="120000"/>
              </a:lnSpc>
              <a:buNone/>
              <a:defRPr sz="1350" b="0">
                <a:solidFill>
                  <a:srgbClr val="566C7E"/>
                </a:solidFill>
                <a:latin typeface="Arial"/>
                <a:ea typeface="Arial"/>
                <a:cs typeface="Arial"/>
              </a:defRPr>
            </a:pPr>
            <a:r>
              <a:rPr sz="1350" b="0">
                <a:solidFill>
                  <a:srgbClr val="566C7E"/>
                </a:solidFill>
                <a:latin typeface="Arial"/>
                <a:ea typeface="Arial"/>
                <a:cs typeface="Arial"/>
                <a:hlinkClick xmlns:r="http://schemas.openxmlformats.org/officeDocument/2006/relationships" r:id="Reebf396394684cf4"/>
              </a:rPr>
              <a:t>9 April 2025 · Trial documents</a:t>
            </a:r>
          </a:p>
        </p:txBody>
      </p:sp>
      <p:sp>
        <p:nvSpPr>
          <p:cNvPr id="6" name="s4-body-6">
            <a:extLst xmlns:a="http://schemas.openxmlformats.org/drawingml/2006/main">
              <a:ext uri="{FF2B5EF4-FFF2-40B4-BE49-F238E27FC236}">
                <a16:creationId xmlns:a16="http://schemas.microsoft.com/office/drawing/2014/main" id="{91788859-BECD-40B9-97C9-E5CED96AC5FC}"/>
              </a:ext>
            </a:extLst>
          </p:cNvPr>
          <p:cNvSpPr>
            <a:spLocks xmlns:a="http://schemas.openxmlformats.org/drawingml/2006/main" noGrp="1"/>
          </p:cNvSpPr>
          <p:nvPr/>
        </p:nvSpPr>
        <p:spPr>
          <a:xfrm xmlns:a="http://schemas.openxmlformats.org/drawingml/2006/main">
            <a:off x="6197156" y="2724150"/>
            <a:ext cx="527094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142D43"/>
                </a:solidFill>
                <a:latin typeface="Arial"/>
                <a:ea typeface="Arial"/>
                <a:cs typeface="Arial"/>
              </a:defRPr>
            </a:pPr>
            <a:r>
              <a:rPr sz="1958" b="1">
                <a:solidFill>
                  <a:srgbClr val="142D43"/>
                </a:solidFill>
                <a:latin typeface="Arial"/>
                <a:ea typeface="Arial"/>
                <a:cs typeface="Arial"/>
              </a:rPr>
              <a:t>Teacher AI literacy</a:t>
            </a:r>
          </a:p>
        </p:txBody>
      </p:sp>
      <p:sp>
        <p:nvSpPr>
          <p:cNvPr id="7" name="s4-body-7">
            <a:extLst xmlns:a="http://schemas.openxmlformats.org/drawingml/2006/main">
              <a:ext uri="{FF2B5EF4-FFF2-40B4-BE49-F238E27FC236}">
                <a16:creationId xmlns:a16="http://schemas.microsoft.com/office/drawing/2014/main" id="{7001B6F6-4B33-48C5-B9F0-06A7E01A95ED}"/>
              </a:ext>
            </a:extLst>
          </p:cNvPr>
          <p:cNvSpPr>
            <a:spLocks xmlns:a="http://schemas.openxmlformats.org/drawingml/2006/main" noGrp="1"/>
          </p:cNvSpPr>
          <p:nvPr/>
        </p:nvSpPr>
        <p:spPr>
          <a:xfrm xmlns:a="http://schemas.openxmlformats.org/drawingml/2006/main">
            <a:off x="6197156" y="3105150"/>
            <a:ext cx="527094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Teachers’ knowledge, skills and responsibilities.</a:t>
            </a:r>
          </a:p>
        </p:txBody>
      </p:sp>
      <p:sp>
        <p:nvSpPr>
          <p:cNvPr id="8" name="s4-body-8">
            <a:extLst xmlns:a="http://schemas.openxmlformats.org/drawingml/2006/main">
              <a:ext uri="{FF2B5EF4-FFF2-40B4-BE49-F238E27FC236}">
                <a16:creationId xmlns:a16="http://schemas.microsoft.com/office/drawing/2014/main" id="{EC2CAD9E-823A-45A8-8135-4F86C01216B9}"/>
              </a:ext>
            </a:extLst>
          </p:cNvPr>
          <p:cNvSpPr>
            <a:spLocks xmlns:a="http://schemas.openxmlformats.org/drawingml/2006/main" noGrp="1"/>
          </p:cNvSpPr>
          <p:nvPr/>
        </p:nvSpPr>
        <p:spPr>
          <a:xfrm xmlns:a="http://schemas.openxmlformats.org/drawingml/2006/main">
            <a:off x="6197156" y="3781425"/>
            <a:ext cx="527094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142D43"/>
                </a:solidFill>
                <a:latin typeface="Arial"/>
                <a:ea typeface="Arial"/>
                <a:cs typeface="Arial"/>
              </a:defRPr>
            </a:pPr>
            <a:r>
              <a:rPr sz="1958" b="1">
                <a:solidFill>
                  <a:srgbClr val="142D43"/>
                </a:solidFill>
                <a:latin typeface="Arial"/>
                <a:ea typeface="Arial"/>
                <a:cs typeface="Arial"/>
              </a:rPr>
              <a:t>Student AI literacy</a:t>
            </a:r>
          </a:p>
        </p:txBody>
      </p:sp>
      <p:sp>
        <p:nvSpPr>
          <p:cNvPr id="9" name="s4-body-9">
            <a:extLst xmlns:a="http://schemas.openxmlformats.org/drawingml/2006/main">
              <a:ext uri="{FF2B5EF4-FFF2-40B4-BE49-F238E27FC236}">
                <a16:creationId xmlns:a16="http://schemas.microsoft.com/office/drawing/2014/main" id="{215148AF-8AA2-4A1A-A5C9-7A3298ED5C76}"/>
              </a:ext>
            </a:extLst>
          </p:cNvPr>
          <p:cNvSpPr>
            <a:spLocks xmlns:a="http://schemas.openxmlformats.org/drawingml/2006/main" noGrp="1"/>
          </p:cNvSpPr>
          <p:nvPr/>
        </p:nvSpPr>
        <p:spPr>
          <a:xfrm xmlns:a="http://schemas.openxmlformats.org/drawingml/2006/main">
            <a:off x="6197156" y="4162425"/>
            <a:ext cx="527094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Understand and use AI with care and good judgment.</a:t>
            </a:r>
          </a:p>
        </p:txBody>
      </p:sp>
      <p:sp>
        <p:nvSpPr>
          <p:cNvPr id="10" name="s4-body-10">
            <a:extLst xmlns:a="http://schemas.openxmlformats.org/drawingml/2006/main">
              <a:ext uri="{FF2B5EF4-FFF2-40B4-BE49-F238E27FC236}">
                <a16:creationId xmlns:a16="http://schemas.microsoft.com/office/drawing/2014/main" id="{49A1E8AB-12E2-4985-8157-0286CE2545B5}"/>
              </a:ext>
            </a:extLst>
          </p:cNvPr>
          <p:cNvSpPr>
            <a:spLocks xmlns:a="http://schemas.openxmlformats.org/drawingml/2006/main" noGrp="1"/>
          </p:cNvSpPr>
          <p:nvPr/>
        </p:nvSpPr>
        <p:spPr>
          <a:xfrm xmlns:a="http://schemas.openxmlformats.org/drawingml/2006/main">
            <a:off x="6197156" y="4838700"/>
            <a:ext cx="527094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142D43"/>
                </a:solidFill>
                <a:latin typeface="Arial"/>
                <a:ea typeface="Arial"/>
                <a:cs typeface="Arial"/>
              </a:defRPr>
            </a:pPr>
            <a:r>
              <a:rPr sz="1958" b="1">
                <a:solidFill>
                  <a:srgbClr val="142D43"/>
                </a:solidFill>
                <a:latin typeface="Arial"/>
                <a:ea typeface="Arial"/>
                <a:cs typeface="Arial"/>
              </a:rPr>
              <a:t>AI curriculum outline</a:t>
            </a:r>
          </a:p>
        </p:txBody>
      </p:sp>
      <p:sp>
        <p:nvSpPr>
          <p:cNvPr id="11" name="s4-body-11">
            <a:extLst xmlns:a="http://schemas.openxmlformats.org/drawingml/2006/main">
              <a:ext uri="{FF2B5EF4-FFF2-40B4-BE49-F238E27FC236}">
                <a16:creationId xmlns:a16="http://schemas.microsoft.com/office/drawing/2014/main" id="{ACC930EE-E319-474E-98BF-CAE35B5E303F}"/>
              </a:ext>
            </a:extLst>
          </p:cNvPr>
          <p:cNvSpPr>
            <a:spLocks xmlns:a="http://schemas.openxmlformats.org/drawingml/2006/main" noGrp="1"/>
          </p:cNvSpPr>
          <p:nvPr/>
        </p:nvSpPr>
        <p:spPr>
          <a:xfrm xmlns:a="http://schemas.openxmlformats.org/drawingml/2006/main">
            <a:off x="6197156" y="5219700"/>
            <a:ext cx="527094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Goals, content and teaching across school stages.</a:t>
            </a:r>
          </a:p>
        </p:txBody>
      </p:sp>
      <p:sp>
        <p:nvSpPr>
          <p:cNvPr id="12" name="s4-rect-12">
            <a:extLst xmlns:a="http://schemas.openxmlformats.org/drawingml/2006/main">
              <a:ext uri="{FF2B5EF4-FFF2-40B4-BE49-F238E27FC236}">
                <a16:creationId xmlns:a16="http://schemas.microsoft.com/office/drawing/2014/main" id="{A11BB507-DBCE-4786-89E1-CDB7AC79052F}"/>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3" name="s4-takeaway-13">
            <a:extLst xmlns:a="http://schemas.openxmlformats.org/drawingml/2006/main">
              <a:ext uri="{FF2B5EF4-FFF2-40B4-BE49-F238E27FC236}">
                <a16:creationId xmlns:a16="http://schemas.microsoft.com/office/drawing/2014/main" id="{D5EB7C18-81B9-438B-8E3C-E51D7469A9EE}"/>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Connect teacher learning, student goals and the curriculum.</a:t>
            </a:r>
          </a:p>
        </p:txBody>
      </p:sp>
      <p:sp>
        <p:nvSpPr>
          <p:cNvPr id="14" name="s4-offline-meta-14">
            <a:extLst xmlns:a="http://schemas.openxmlformats.org/drawingml/2006/main">
              <a:ext uri="{FF2B5EF4-FFF2-40B4-BE49-F238E27FC236}">
                <a16:creationId xmlns:a16="http://schemas.microsoft.com/office/drawing/2014/main" id="{9FFD94D4-A3E2-47C7-8FD5-3B8A91F0069E}"/>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5" name="s4-offline-meta-15">
            <a:extLst xmlns:a="http://schemas.openxmlformats.org/drawingml/2006/main">
              <a:ext uri="{FF2B5EF4-FFF2-40B4-BE49-F238E27FC236}">
                <a16:creationId xmlns:a16="http://schemas.microsoft.com/office/drawing/2014/main" id="{9AFCF312-DACE-4591-8A4D-C534C1EE5001}"/>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04 / 17</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ab79aa702db4de4"/>
          <a:stretch xmlns:a="http://schemas.openxmlformats.org/drawingml/2006/main"/>
        </p:blipFill>
        <p:spPr>
          <a:xfrm xmlns:a="http://schemas.openxmlformats.org/drawingml/2006/main">
            <a:off x="723900" y="3228975"/>
            <a:ext cx="4906518" cy="2084737"/>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d81a5bb6c434c76"/>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834194165"/>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s5-kicker-1">
            <a:extLst xmlns:a="http://schemas.openxmlformats.org/drawingml/2006/main">
              <a:ext uri="{FF2B5EF4-FFF2-40B4-BE49-F238E27FC236}">
                <a16:creationId xmlns:a16="http://schemas.microsoft.com/office/drawing/2014/main" id="{FD14D3D0-6E24-4F2B-B37A-99A59DBF54D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1 · PRACTICE / SHENZHEN MUNICIPAL EDUCATION BUREAU</a:t>
            </a:r>
          </a:p>
        </p:txBody>
      </p:sp>
      <p:sp>
        <p:nvSpPr>
          <p:cNvPr id="2" name="s5-title-2">
            <a:extLst xmlns:a="http://schemas.openxmlformats.org/drawingml/2006/main">
              <a:ext uri="{FF2B5EF4-FFF2-40B4-BE49-F238E27FC236}">
                <a16:creationId xmlns:a16="http://schemas.microsoft.com/office/drawing/2014/main" id="{57C4CEC2-6E38-4660-A5F1-A9EACB8C11E2}"/>
              </a:ext>
            </a:extLst>
          </p:cNvPr>
          <p:cNvSpPr>
            <a:spLocks xmlns:a="http://schemas.openxmlformats.org/drawingml/2006/main" noGrp="1"/>
          </p:cNvSpPr>
          <p:nvPr/>
        </p:nvSpPr>
        <p:spPr>
          <a:xfrm xmlns:a="http://schemas.openxmlformats.org/drawingml/2006/main">
            <a:off x="723900" y="904875"/>
            <a:ext cx="542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338" b="1">
                <a:solidFill>
                  <a:srgbClr val="142D43"/>
                </a:solidFill>
                <a:latin typeface="Arial"/>
                <a:ea typeface="Arial"/>
                <a:cs typeface="Arial"/>
              </a:defRPr>
            </a:pPr>
            <a:r>
              <a:rPr sz="3338" b="1">
                <a:solidFill>
                  <a:srgbClr val="142D43"/>
                </a:solidFill>
                <a:latin typeface="Arial"/>
                <a:ea typeface="Arial"/>
                <a:cs typeface="Arial"/>
              </a:rPr>
              <a:t>Shenzhen: access</a:t>
            </a:r>
          </a:p>
          <a:p xmlns:a="http://schemas.openxmlformats.org/drawingml/2006/main">
            <a:pPr algn="l">
              <a:lnSpc>
                <a:spcPct val="106000"/>
              </a:lnSpc>
              <a:buNone/>
              <a:defRPr sz="3338" b="1">
                <a:solidFill>
                  <a:srgbClr val="142D43"/>
                </a:solidFill>
                <a:latin typeface="Arial"/>
                <a:ea typeface="Arial"/>
                <a:cs typeface="Arial"/>
              </a:defRPr>
            </a:pPr>
            <a:r>
              <a:rPr sz="3338" b="1">
                <a:solidFill>
                  <a:srgbClr val="142D43"/>
                </a:solidFill>
                <a:latin typeface="Arial"/>
                <a:ea typeface="Arial"/>
                <a:cs typeface="Arial"/>
              </a:rPr>
              <a:t>and chances to create</a:t>
            </a:r>
          </a:p>
        </p:txBody>
      </p:sp>
      <p:sp>
        <p:nvSpPr>
          <p:cNvPr id="3" name="s5-subheading-3">
            <a:extLst xmlns:a="http://schemas.openxmlformats.org/drawingml/2006/main">
              <a:ext uri="{FF2B5EF4-FFF2-40B4-BE49-F238E27FC236}">
                <a16:creationId xmlns:a16="http://schemas.microsoft.com/office/drawing/2014/main" id="{97583FBB-C9FC-4758-9453-4A311182C094}"/>
              </a:ext>
            </a:extLst>
          </p:cNvPr>
          <p:cNvSpPr>
            <a:spLocks xmlns:a="http://schemas.openxmlformats.org/drawingml/2006/main" noGrp="1"/>
          </p:cNvSpPr>
          <p:nvPr/>
        </p:nvSpPr>
        <p:spPr>
          <a:xfrm xmlns:a="http://schemas.openxmlformats.org/drawingml/2006/main">
            <a:off x="723900" y="2705100"/>
            <a:ext cx="506853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A shared starting point</a:t>
            </a:r>
          </a:p>
        </p:txBody>
      </p:sp>
      <p:sp>
        <p:nvSpPr>
          <p:cNvPr id="4" name="s5-body-4">
            <a:extLst xmlns:a="http://schemas.openxmlformats.org/drawingml/2006/main">
              <a:ext uri="{FF2B5EF4-FFF2-40B4-BE49-F238E27FC236}">
                <a16:creationId xmlns:a16="http://schemas.microsoft.com/office/drawing/2014/main" id="{CB56CADB-947A-43AE-9B72-0D59D7CB0A49}"/>
              </a:ext>
            </a:extLst>
          </p:cNvPr>
          <p:cNvSpPr>
            <a:spLocks xmlns:a="http://schemas.openxmlformats.org/drawingml/2006/main" noGrp="1"/>
          </p:cNvSpPr>
          <p:nvPr/>
        </p:nvSpPr>
        <p:spPr>
          <a:xfrm xmlns:a="http://schemas.openxmlformats.org/drawingml/2006/main">
            <a:off x="723900" y="3162300"/>
            <a:ext cx="5068538"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Shenjiao AI brings together 10 approved learning platforms.</a:t>
            </a:r>
          </a:p>
        </p:txBody>
      </p:sp>
      <p:sp>
        <p:nvSpPr>
          <p:cNvPr id="5" name="s5-subheading-5">
            <a:extLst xmlns:a="http://schemas.openxmlformats.org/drawingml/2006/main">
              <a:ext uri="{FF2B5EF4-FFF2-40B4-BE49-F238E27FC236}">
                <a16:creationId xmlns:a16="http://schemas.microsoft.com/office/drawing/2014/main" id="{86854792-2307-4628-8FA1-D5578BFE55D0}"/>
              </a:ext>
            </a:extLst>
          </p:cNvPr>
          <p:cNvSpPr>
            <a:spLocks xmlns:a="http://schemas.openxmlformats.org/drawingml/2006/main" noGrp="1"/>
          </p:cNvSpPr>
          <p:nvPr/>
        </p:nvSpPr>
        <p:spPr>
          <a:xfrm xmlns:a="http://schemas.openxmlformats.org/drawingml/2006/main">
            <a:off x="723900" y="4333875"/>
            <a:ext cx="506853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Teachers create applications</a:t>
            </a:r>
          </a:p>
        </p:txBody>
      </p:sp>
      <p:sp>
        <p:nvSpPr>
          <p:cNvPr id="6" name="s5-body-6">
            <a:extLst xmlns:a="http://schemas.openxmlformats.org/drawingml/2006/main">
              <a:ext uri="{FF2B5EF4-FFF2-40B4-BE49-F238E27FC236}">
                <a16:creationId xmlns:a16="http://schemas.microsoft.com/office/drawing/2014/main" id="{F30A70F0-462D-429A-877F-EB718C312977}"/>
              </a:ext>
            </a:extLst>
          </p:cNvPr>
          <p:cNvSpPr>
            <a:spLocks xmlns:a="http://schemas.openxmlformats.org/drawingml/2006/main" noGrp="1"/>
          </p:cNvSpPr>
          <p:nvPr/>
        </p:nvSpPr>
        <p:spPr>
          <a:xfrm xmlns:a="http://schemas.openxmlformats.org/drawingml/2006/main">
            <a:off x="723900" y="4791075"/>
            <a:ext cx="5068538"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Three city contests drew over 2,000 teachers.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53c3ae54bcc415a"/>
          <a:stretch xmlns:a="http://schemas.openxmlformats.org/drawingml/2006/main"/>
        </p:blipFill>
        <p:spPr>
          <a:xfrm xmlns:a="http://schemas.openxmlformats.org/drawingml/2006/main">
            <a:off x="6472047" y="1819275"/>
            <a:ext cx="4996053" cy="1798606"/>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fec63ef6b8b4775"/>
          <a:srcRect xmlns:a="http://schemas.openxmlformats.org/drawingml/2006/main" l="0" t="21741" r="0" b="21741"/>
          <a:stretch xmlns:a="http://schemas.openxmlformats.org/drawingml/2006/main">
            <a:fillRect l="0" t="0" r="0" b="0"/>
          </a:stretch>
        </p:blipFill>
        <p:spPr>
          <a:xfrm xmlns:a="http://schemas.openxmlformats.org/drawingml/2006/main">
            <a:off x="6472047" y="3867150"/>
            <a:ext cx="4996053" cy="1584770"/>
          </a:xfrm>
          <a:prstGeom xmlns:a="http://schemas.openxmlformats.org/drawingml/2006/main" prst="rect">
            <a:avLst/>
          </a:prstGeom>
        </p:spPr>
      </p:pic>
      <p:sp>
        <p:nvSpPr>
          <p:cNvPr id="9" name="s5-caption-9">
            <a:extLst xmlns:a="http://schemas.openxmlformats.org/drawingml/2006/main">
              <a:ext uri="{FF2B5EF4-FFF2-40B4-BE49-F238E27FC236}">
                <a16:creationId xmlns:a16="http://schemas.microsoft.com/office/drawing/2014/main" id="{55D1DB46-0274-4E09-8773-F1B93FBB824C}"/>
              </a:ext>
            </a:extLst>
          </p:cNvPr>
          <p:cNvSpPr>
            <a:spLocks xmlns:a="http://schemas.openxmlformats.org/drawingml/2006/main" noGrp="1"/>
          </p:cNvSpPr>
          <p:nvPr/>
        </p:nvSpPr>
        <p:spPr>
          <a:xfrm xmlns:a="http://schemas.openxmlformats.org/drawingml/2006/main">
            <a:off x="6472047" y="5566220"/>
            <a:ext cx="5132927"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City platform and teacher application contest</a:t>
            </a:r>
          </a:p>
        </p:txBody>
      </p:sp>
      <p:sp>
        <p:nvSpPr>
          <p:cNvPr id="10" name="s5-rect-10">
            <a:extLst xmlns:a="http://schemas.openxmlformats.org/drawingml/2006/main">
              <a:ext uri="{FF2B5EF4-FFF2-40B4-BE49-F238E27FC236}">
                <a16:creationId xmlns:a16="http://schemas.microsoft.com/office/drawing/2014/main" id="{F70F3D87-1E26-4EDB-8B94-5B93D01D631A}"/>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1" name="s5-takeaway-11">
            <a:extLst xmlns:a="http://schemas.openxmlformats.org/drawingml/2006/main">
              <a:ext uri="{FF2B5EF4-FFF2-40B4-BE49-F238E27FC236}">
                <a16:creationId xmlns:a16="http://schemas.microsoft.com/office/drawing/2014/main" id="{F3F38646-3E8C-4B48-9097-4366EAA4A1D7}"/>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Give teachers access to tools—and chances to build with them.</a:t>
            </a:r>
          </a:p>
        </p:txBody>
      </p:sp>
      <p:sp>
        <p:nvSpPr>
          <p:cNvPr id="12" name="s5-offline-meta-12">
            <a:extLst xmlns:a="http://schemas.openxmlformats.org/drawingml/2006/main">
              <a:ext uri="{FF2B5EF4-FFF2-40B4-BE49-F238E27FC236}">
                <a16:creationId xmlns:a16="http://schemas.microsoft.com/office/drawing/2014/main" id="{97C47094-6E14-4A96-A260-A4CA34991249}"/>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3" name="s5-offline-meta-13">
            <a:extLst xmlns:a="http://schemas.openxmlformats.org/drawingml/2006/main">
              <a:ext uri="{FF2B5EF4-FFF2-40B4-BE49-F238E27FC236}">
                <a16:creationId xmlns:a16="http://schemas.microsoft.com/office/drawing/2014/main" id="{E49C1E54-7D20-40E4-8B5A-BDC1548CE82F}"/>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05 / 17</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c63f230e1064e77"/>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37429418"/>
      </p:ext>
    </p:extLst>
  </p:cSld>
</p:sld>
</file>

<file path=ppt/slides/slide6.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4" name="s6-kicker-1">
            <a:extLst xmlns:a="http://schemas.openxmlformats.org/drawingml/2006/main">
              <a:ext uri="{FF2B5EF4-FFF2-40B4-BE49-F238E27FC236}">
                <a16:creationId xmlns:a16="http://schemas.microsoft.com/office/drawing/2014/main" id="{1C3443FA-EE88-4AA2-BBFF-069FD501DA7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1 · PRACTICE / PINGSHAN DISTRICT EDUCATION BUREAU</a:t>
            </a:r>
          </a:p>
        </p:txBody>
      </p:sp>
      <p:sp>
        <p:nvSpPr>
          <p:cNvPr id="2" name="s6-title-2">
            <a:extLst xmlns:a="http://schemas.openxmlformats.org/drawingml/2006/main">
              <a:ext uri="{FF2B5EF4-FFF2-40B4-BE49-F238E27FC236}">
                <a16:creationId xmlns:a16="http://schemas.microsoft.com/office/drawing/2014/main" id="{0D9566DA-A4AF-485C-82CF-800617A30541}"/>
              </a:ext>
            </a:extLst>
          </p:cNvPr>
          <p:cNvSpPr>
            <a:spLocks xmlns:a="http://schemas.openxmlformats.org/drawingml/2006/main" noGrp="1"/>
          </p:cNvSpPr>
          <p:nvPr/>
        </p:nvSpPr>
        <p:spPr>
          <a:xfrm xmlns:a="http://schemas.openxmlformats.org/drawingml/2006/main">
            <a:off x="723900" y="904875"/>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FFFFFF"/>
                </a:solidFill>
                <a:latin typeface="Arial"/>
                <a:ea typeface="Arial"/>
                <a:cs typeface="Arial"/>
              </a:defRPr>
            </a:pPr>
            <a:r>
              <a:rPr sz="3270" b="1">
                <a:solidFill>
                  <a:srgbClr val="FFFFFF"/>
                </a:solidFill>
                <a:latin typeface="Arial"/>
                <a:ea typeface="Arial"/>
                <a:cs typeface="Arial"/>
              </a:rPr>
              <a:t>Pingshan: help teachers lead AI use</a:t>
            </a:r>
          </a:p>
        </p:txBody>
      </p:sp>
      <p:sp>
        <p:nvSpPr>
          <p:cNvPr id="3" name="s6-subheading-3">
            <a:extLst xmlns:a="http://schemas.openxmlformats.org/drawingml/2006/main">
              <a:ext uri="{FF2B5EF4-FFF2-40B4-BE49-F238E27FC236}">
                <a16:creationId xmlns:a16="http://schemas.microsoft.com/office/drawing/2014/main" id="{9D9AF44D-8A98-4E87-BC72-251CDA74C0C5}"/>
              </a:ext>
            </a:extLst>
          </p:cNvPr>
          <p:cNvSpPr>
            <a:spLocks xmlns:a="http://schemas.openxmlformats.org/drawingml/2006/main" noGrp="1"/>
          </p:cNvSpPr>
          <p:nvPr/>
        </p:nvSpPr>
        <p:spPr>
          <a:xfrm xmlns:a="http://schemas.openxmlformats.org/drawingml/2006/main">
            <a:off x="723900" y="2143125"/>
            <a:ext cx="4433792"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FFFFFF"/>
                </a:solidFill>
                <a:latin typeface="Arial"/>
                <a:ea typeface="Arial"/>
                <a:cs typeface="Arial"/>
              </a:defRPr>
            </a:pPr>
            <a:r>
              <a:rPr sz="2025" b="1">
                <a:solidFill>
                  <a:srgbClr val="FFFFFF"/>
                </a:solidFill>
                <a:latin typeface="Arial"/>
                <a:ea typeface="Arial"/>
                <a:cs typeface="Arial"/>
              </a:rPr>
              <a:t>Learn, build and improve</a:t>
            </a:r>
          </a:p>
        </p:txBody>
      </p:sp>
      <p:sp>
        <p:nvSpPr>
          <p:cNvPr id="4" name="s6-body-4">
            <a:extLst xmlns:a="http://schemas.openxmlformats.org/drawingml/2006/main">
              <a:ext uri="{FF2B5EF4-FFF2-40B4-BE49-F238E27FC236}">
                <a16:creationId xmlns:a16="http://schemas.microsoft.com/office/drawing/2014/main" id="{F238A87D-B9A1-467F-9DC2-AC22065A1079}"/>
              </a:ext>
            </a:extLst>
          </p:cNvPr>
          <p:cNvSpPr>
            <a:spLocks xmlns:a="http://schemas.openxmlformats.org/drawingml/2006/main" noGrp="1"/>
          </p:cNvSpPr>
          <p:nvPr/>
        </p:nvSpPr>
        <p:spPr>
          <a:xfrm xmlns:a="http://schemas.openxmlformats.org/drawingml/2006/main">
            <a:off x="723900" y="2638425"/>
            <a:ext cx="4433792"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BED0DD"/>
                </a:solidFill>
                <a:latin typeface="Arial"/>
                <a:ea typeface="Arial"/>
                <a:cs typeface="Arial"/>
              </a:defRPr>
            </a:pPr>
            <a:r>
              <a:rPr sz="1823" b="0">
                <a:solidFill>
                  <a:srgbClr val="BED0DD"/>
                </a:solidFill>
                <a:latin typeface="Arial"/>
                <a:ea typeface="Arial"/>
                <a:cs typeface="Arial"/>
              </a:rPr>
              <a:t>Three groups of teachers moved from prompts to teaching agents.</a:t>
            </a:r>
          </a:p>
        </p:txBody>
      </p:sp>
      <p:sp>
        <p:nvSpPr>
          <p:cNvPr id="5" name="s6-subheading-5">
            <a:extLst xmlns:a="http://schemas.openxmlformats.org/drawingml/2006/main">
              <a:ext uri="{FF2B5EF4-FFF2-40B4-BE49-F238E27FC236}">
                <a16:creationId xmlns:a16="http://schemas.microsoft.com/office/drawing/2014/main" id="{B40C97FD-BEC4-490E-9B69-A9E9835DE87E}"/>
              </a:ext>
            </a:extLst>
          </p:cNvPr>
          <p:cNvSpPr>
            <a:spLocks xmlns:a="http://schemas.openxmlformats.org/drawingml/2006/main" noGrp="1"/>
          </p:cNvSpPr>
          <p:nvPr/>
        </p:nvSpPr>
        <p:spPr>
          <a:xfrm xmlns:a="http://schemas.openxmlformats.org/drawingml/2006/main">
            <a:off x="723900" y="3800475"/>
            <a:ext cx="4433792"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FFFFFF"/>
                </a:solidFill>
                <a:latin typeface="Arial"/>
                <a:ea typeface="Arial"/>
                <a:cs typeface="Arial"/>
              </a:defRPr>
            </a:pPr>
            <a:r>
              <a:rPr sz="2025" b="1">
                <a:solidFill>
                  <a:srgbClr val="FFFFFF"/>
                </a:solidFill>
                <a:latin typeface="Arial"/>
                <a:ea typeface="Arial"/>
                <a:cs typeface="Arial"/>
              </a:rPr>
              <a:t>Teachers decide</a:t>
            </a:r>
          </a:p>
        </p:txBody>
      </p:sp>
      <p:sp>
        <p:nvSpPr>
          <p:cNvPr id="6" name="s6-body-6">
            <a:extLst xmlns:a="http://schemas.openxmlformats.org/drawingml/2006/main">
              <a:ext uri="{FF2B5EF4-FFF2-40B4-BE49-F238E27FC236}">
                <a16:creationId xmlns:a16="http://schemas.microsoft.com/office/drawing/2014/main" id="{1480635D-6BEC-4968-8452-E4066FF8F834}"/>
              </a:ext>
            </a:extLst>
          </p:cNvPr>
          <p:cNvSpPr>
            <a:spLocks xmlns:a="http://schemas.openxmlformats.org/drawingml/2006/main" noGrp="1"/>
          </p:cNvSpPr>
          <p:nvPr/>
        </p:nvSpPr>
        <p:spPr>
          <a:xfrm xmlns:a="http://schemas.openxmlformats.org/drawingml/2006/main">
            <a:off x="723900" y="4257675"/>
            <a:ext cx="4433792"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BED0DD"/>
                </a:solidFill>
                <a:latin typeface="Arial"/>
                <a:ea typeface="Arial"/>
                <a:cs typeface="Arial"/>
              </a:defRPr>
            </a:pPr>
            <a:r>
              <a:rPr sz="1823" b="0">
                <a:solidFill>
                  <a:srgbClr val="BED0DD"/>
                </a:solidFill>
                <a:latin typeface="Arial"/>
                <a:ea typeface="Arial"/>
                <a:cs typeface="Arial"/>
              </a:rPr>
              <a:t>In English practice, AI gives feedback. Teachers set the standards.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f772bcc4649421f"/>
          <a:srcRect xmlns:a="http://schemas.openxmlformats.org/drawingml/2006/main" l="0" t="7532" r="0" b="7532"/>
          <a:stretch xmlns:a="http://schemas.openxmlformats.org/drawingml/2006/main">
            <a:fillRect l="0" t="0" r="0" b="0"/>
          </a:stretch>
        </p:blipFill>
        <p:spPr>
          <a:xfrm xmlns:a="http://schemas.openxmlformats.org/drawingml/2006/main">
            <a:off x="5534882" y="2057400"/>
            <a:ext cx="5775008" cy="3268028"/>
          </a:xfrm>
          <a:prstGeom xmlns:a="http://schemas.openxmlformats.org/drawingml/2006/main" prst="rect">
            <a:avLst/>
          </a:prstGeom>
        </p:spPr>
      </p:pic>
      <p:sp>
        <p:nvSpPr>
          <p:cNvPr id="8" name="s6-caption-8">
            <a:extLst xmlns:a="http://schemas.openxmlformats.org/drawingml/2006/main">
              <a:ext uri="{FF2B5EF4-FFF2-40B4-BE49-F238E27FC236}">
                <a16:creationId xmlns:a16="http://schemas.microsoft.com/office/drawing/2014/main" id="{2EA2CFC9-6643-450F-B63A-42BBAE156F45}"/>
              </a:ext>
            </a:extLst>
          </p:cNvPr>
          <p:cNvSpPr>
            <a:spLocks xmlns:a="http://schemas.openxmlformats.org/drawingml/2006/main" noGrp="1"/>
          </p:cNvSpPr>
          <p:nvPr/>
        </p:nvSpPr>
        <p:spPr>
          <a:xfrm xmlns:a="http://schemas.openxmlformats.org/drawingml/2006/main">
            <a:off x="5534882" y="5439728"/>
            <a:ext cx="593321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BED0DD"/>
                </a:solidFill>
                <a:latin typeface="Arial"/>
                <a:ea typeface="Arial"/>
                <a:cs typeface="Arial"/>
              </a:defRPr>
            </a:pPr>
            <a:r>
              <a:rPr sz="1275" b="0">
                <a:solidFill>
                  <a:srgbClr val="BED0DD"/>
                </a:solidFill>
                <a:latin typeface="Arial"/>
                <a:ea typeface="Arial"/>
                <a:cs typeface="Arial"/>
              </a:rPr>
              <a:t>AI pioneer teacher programme · Pingshan</a:t>
            </a:r>
          </a:p>
        </p:txBody>
      </p:sp>
      <p:sp>
        <p:nvSpPr>
          <p:cNvPr id="9" name="s6-body-9">
            <a:extLst xmlns:a="http://schemas.openxmlformats.org/drawingml/2006/main">
              <a:ext uri="{FF2B5EF4-FFF2-40B4-BE49-F238E27FC236}">
                <a16:creationId xmlns:a16="http://schemas.microsoft.com/office/drawing/2014/main" id="{37CE4D25-4B3C-45E2-83A0-746A2CB0D2C9}"/>
              </a:ext>
            </a:extLst>
          </p:cNvPr>
          <p:cNvSpPr>
            <a:spLocks xmlns:a="http://schemas.openxmlformats.org/drawingml/2006/main" noGrp="1"/>
          </p:cNvSpPr>
          <p:nvPr/>
        </p:nvSpPr>
        <p:spPr>
          <a:xfrm xmlns:a="http://schemas.openxmlformats.org/drawingml/2006/main">
            <a:off x="723900" y="561975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1">
                <a:solidFill>
                  <a:srgbClr val="64D2C4"/>
                </a:solidFill>
                <a:latin typeface="Arial"/>
                <a:ea typeface="Arial"/>
                <a:cs typeface="Arial"/>
              </a:defRPr>
            </a:pPr>
            <a:r>
              <a:rPr sz="1575" b="1">
                <a:solidFill>
                  <a:srgbClr val="64D2C4"/>
                </a:solidFill>
                <a:latin typeface="Arial"/>
                <a:ea typeface="Arial"/>
                <a:cs typeface="Arial"/>
              </a:rPr>
              <a:t>Write prompts  →  Build agents  →  Test and revise</a:t>
            </a:r>
          </a:p>
        </p:txBody>
      </p:sp>
      <p:sp>
        <p:nvSpPr>
          <p:cNvPr id="10" name="s6-rect-10">
            <a:extLst xmlns:a="http://schemas.openxmlformats.org/drawingml/2006/main">
              <a:ext uri="{FF2B5EF4-FFF2-40B4-BE49-F238E27FC236}">
                <a16:creationId xmlns:a16="http://schemas.microsoft.com/office/drawing/2014/main" id="{19BBD033-5845-4AF0-814C-115F3E322F6C}"/>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1" name="s6-takeaway-11">
            <a:extLst xmlns:a="http://schemas.openxmlformats.org/drawingml/2006/main">
              <a:ext uri="{FF2B5EF4-FFF2-40B4-BE49-F238E27FC236}">
                <a16:creationId xmlns:a16="http://schemas.microsoft.com/office/drawing/2014/main" id="{34E7D4B0-971A-4F02-B5C6-190B9DB8671C}"/>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FFFFFF"/>
                </a:solidFill>
                <a:latin typeface="Arial"/>
                <a:ea typeface="Arial"/>
                <a:cs typeface="Arial"/>
              </a:defRPr>
            </a:pPr>
            <a:r>
              <a:rPr sz="1725" b="1">
                <a:solidFill>
                  <a:srgbClr val="FFFFFF"/>
                </a:solidFill>
                <a:latin typeface="Arial"/>
                <a:ea typeface="Arial"/>
                <a:cs typeface="Arial"/>
              </a:rPr>
              <a:t>Help teachers build AI support and decide how to use it.</a:t>
            </a:r>
          </a:p>
        </p:txBody>
      </p:sp>
      <p:sp>
        <p:nvSpPr>
          <p:cNvPr id="12" name="s6-offline-meta-12">
            <a:extLst xmlns:a="http://schemas.openxmlformats.org/drawingml/2006/main">
              <a:ext uri="{FF2B5EF4-FFF2-40B4-BE49-F238E27FC236}">
                <a16:creationId xmlns:a16="http://schemas.microsoft.com/office/drawing/2014/main" id="{CCB9BD45-C6D7-40BD-B70B-0E9672983441}"/>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13" name="s6-offline-meta-13">
            <a:extLst xmlns:a="http://schemas.openxmlformats.org/drawingml/2006/main">
              <a:ext uri="{FF2B5EF4-FFF2-40B4-BE49-F238E27FC236}">
                <a16:creationId xmlns:a16="http://schemas.microsoft.com/office/drawing/2014/main" id="{39AB4406-D6ED-4BF0-A56A-985086A1F39C}"/>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06 / 17</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939c08f73ba4625"/>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63389324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s7-kicker-1">
            <a:extLst xmlns:a="http://schemas.openxmlformats.org/drawingml/2006/main">
              <a:ext uri="{FF2B5EF4-FFF2-40B4-BE49-F238E27FC236}">
                <a16:creationId xmlns:a16="http://schemas.microsoft.com/office/drawing/2014/main" id="{E2B0D45D-8705-46B8-AC7A-A42CD18DE45C}"/>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1 · PRACTICE / LIYUAN EDUCATION GROUP, FUTIAN</a:t>
            </a:r>
          </a:p>
        </p:txBody>
      </p:sp>
      <p:sp>
        <p:nvSpPr>
          <p:cNvPr id="2" name="s7-title-2">
            <a:extLst xmlns:a="http://schemas.openxmlformats.org/drawingml/2006/main">
              <a:ext uri="{FF2B5EF4-FFF2-40B4-BE49-F238E27FC236}">
                <a16:creationId xmlns:a16="http://schemas.microsoft.com/office/drawing/2014/main" id="{DA920671-09E9-4983-8160-3C53A305EF08}"/>
              </a:ext>
            </a:extLst>
          </p:cNvPr>
          <p:cNvSpPr>
            <a:spLocks xmlns:a="http://schemas.openxmlformats.org/drawingml/2006/main" noGrp="1"/>
          </p:cNvSpPr>
          <p:nvPr/>
        </p:nvSpPr>
        <p:spPr>
          <a:xfrm xmlns:a="http://schemas.openxmlformats.org/drawingml/2006/main">
            <a:off x="723900" y="904875"/>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Liyuan: teachers shape the standards</a:t>
            </a:r>
          </a:p>
        </p:txBody>
      </p:sp>
      <p:sp>
        <p:nvSpPr>
          <p:cNvPr id="3" name="s7-subheading-3">
            <a:extLst xmlns:a="http://schemas.openxmlformats.org/drawingml/2006/main">
              <a:ext uri="{FF2B5EF4-FFF2-40B4-BE49-F238E27FC236}">
                <a16:creationId xmlns:a16="http://schemas.microsoft.com/office/drawing/2014/main" id="{9AC494BE-066C-4BF8-9B7C-BA780DE3C701}"/>
              </a:ext>
            </a:extLst>
          </p:cNvPr>
          <p:cNvSpPr>
            <a:spLocks xmlns:a="http://schemas.openxmlformats.org/drawingml/2006/main" noGrp="1"/>
          </p:cNvSpPr>
          <p:nvPr/>
        </p:nvSpPr>
        <p:spPr>
          <a:xfrm xmlns:a="http://schemas.openxmlformats.org/drawingml/2006/main">
            <a:off x="6693884" y="2209800"/>
            <a:ext cx="477421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Agree on the criteria</a:t>
            </a:r>
          </a:p>
        </p:txBody>
      </p:sp>
      <p:sp>
        <p:nvSpPr>
          <p:cNvPr id="4" name="s7-body-4">
            <a:extLst xmlns:a="http://schemas.openxmlformats.org/drawingml/2006/main">
              <a:ext uri="{FF2B5EF4-FFF2-40B4-BE49-F238E27FC236}">
                <a16:creationId xmlns:a16="http://schemas.microsoft.com/office/drawing/2014/main" id="{AA7F94F1-2EEF-4982-8A2A-BF38CE10BBE2}"/>
              </a:ext>
            </a:extLst>
          </p:cNvPr>
          <p:cNvSpPr>
            <a:spLocks xmlns:a="http://schemas.openxmlformats.org/drawingml/2006/main" noGrp="1"/>
          </p:cNvSpPr>
          <p:nvPr/>
        </p:nvSpPr>
        <p:spPr>
          <a:xfrm xmlns:a="http://schemas.openxmlformats.org/drawingml/2006/main">
            <a:off x="6693884" y="2667000"/>
            <a:ext cx="4774216"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Experts draft indicators. Teachers rate them. The team finalizes the set.</a:t>
            </a:r>
          </a:p>
        </p:txBody>
      </p:sp>
      <p:sp>
        <p:nvSpPr>
          <p:cNvPr id="5" name="s7-subheading-5">
            <a:extLst xmlns:a="http://schemas.openxmlformats.org/drawingml/2006/main">
              <a:ext uri="{FF2B5EF4-FFF2-40B4-BE49-F238E27FC236}">
                <a16:creationId xmlns:a16="http://schemas.microsoft.com/office/drawing/2014/main" id="{432854B7-B949-4935-ACBD-D6968746BEA3}"/>
              </a:ext>
            </a:extLst>
          </p:cNvPr>
          <p:cNvSpPr>
            <a:spLocks xmlns:a="http://schemas.openxmlformats.org/drawingml/2006/main" noGrp="1"/>
          </p:cNvSpPr>
          <p:nvPr/>
        </p:nvSpPr>
        <p:spPr>
          <a:xfrm xmlns:a="http://schemas.openxmlformats.org/drawingml/2006/main">
            <a:off x="6693884" y="4019550"/>
            <a:ext cx="477421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Build, test and revise</a:t>
            </a:r>
          </a:p>
        </p:txBody>
      </p:sp>
      <p:sp>
        <p:nvSpPr>
          <p:cNvPr id="6" name="s7-body-6">
            <a:extLst xmlns:a="http://schemas.openxmlformats.org/drawingml/2006/main">
              <a:ext uri="{FF2B5EF4-FFF2-40B4-BE49-F238E27FC236}">
                <a16:creationId xmlns:a16="http://schemas.microsoft.com/office/drawing/2014/main" id="{2279EBA5-AF6B-4D72-BC7C-73087C7B03CF}"/>
              </a:ext>
            </a:extLst>
          </p:cNvPr>
          <p:cNvSpPr>
            <a:spLocks xmlns:a="http://schemas.openxmlformats.org/drawingml/2006/main" noGrp="1"/>
          </p:cNvSpPr>
          <p:nvPr/>
        </p:nvSpPr>
        <p:spPr>
          <a:xfrm xmlns:a="http://schemas.openxmlformats.org/drawingml/2006/main">
            <a:off x="6693884" y="4476750"/>
            <a:ext cx="4774216"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Turn the criteria into an AI analysis tool. Try it in class and use teacher feedback.</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1bfd9626b16448d"/>
          <a:srcRect xmlns:a="http://schemas.openxmlformats.org/drawingml/2006/main" l="4136" t="0" r="4136" b="0"/>
          <a:stretch xmlns:a="http://schemas.openxmlformats.org/drawingml/2006/main">
            <a:fillRect l="0" t="0" r="0" b="0"/>
          </a:stretch>
        </p:blipFill>
        <p:spPr>
          <a:xfrm xmlns:a="http://schemas.openxmlformats.org/drawingml/2006/main">
            <a:off x="723900" y="2181225"/>
            <a:ext cx="5330476" cy="3268790"/>
          </a:xfrm>
          <a:prstGeom xmlns:a="http://schemas.openxmlformats.org/drawingml/2006/main" prst="rect">
            <a:avLst/>
          </a:prstGeom>
        </p:spPr>
      </p:pic>
      <p:sp>
        <p:nvSpPr>
          <p:cNvPr id="8" name="s7-caption-8">
            <a:extLst xmlns:a="http://schemas.openxmlformats.org/drawingml/2006/main">
              <a:ext uri="{FF2B5EF4-FFF2-40B4-BE49-F238E27FC236}">
                <a16:creationId xmlns:a16="http://schemas.microsoft.com/office/drawing/2014/main" id="{9B7A6EAB-C813-4FC6-9C74-AE6793FBFAF7}"/>
              </a:ext>
            </a:extLst>
          </p:cNvPr>
          <p:cNvSpPr>
            <a:spLocks xmlns:a="http://schemas.openxmlformats.org/drawingml/2006/main" noGrp="1"/>
          </p:cNvSpPr>
          <p:nvPr/>
        </p:nvSpPr>
        <p:spPr>
          <a:xfrm xmlns:a="http://schemas.openxmlformats.org/drawingml/2006/main">
            <a:off x="723900" y="5564314"/>
            <a:ext cx="556526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Teachers develop shared practices · Liyuan</a:t>
            </a:r>
          </a:p>
        </p:txBody>
      </p:sp>
      <p:sp>
        <p:nvSpPr>
          <p:cNvPr id="9" name="s7-rect-9">
            <a:extLst xmlns:a="http://schemas.openxmlformats.org/drawingml/2006/main">
              <a:ext uri="{FF2B5EF4-FFF2-40B4-BE49-F238E27FC236}">
                <a16:creationId xmlns:a16="http://schemas.microsoft.com/office/drawing/2014/main" id="{3F882E58-77A4-496E-9378-EC38187AB7F6}"/>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0" name="s7-takeaway-10">
            <a:extLst xmlns:a="http://schemas.openxmlformats.org/drawingml/2006/main">
              <a:ext uri="{FF2B5EF4-FFF2-40B4-BE49-F238E27FC236}">
                <a16:creationId xmlns:a16="http://schemas.microsoft.com/office/drawing/2014/main" id="{98B7DA56-56CE-4D70-B7E7-AEC2ED030C50}"/>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Involve teachers in the standards that guide AI.</a:t>
            </a:r>
          </a:p>
        </p:txBody>
      </p:sp>
      <p:sp>
        <p:nvSpPr>
          <p:cNvPr id="11" name="s7-offline-meta-11">
            <a:extLst xmlns:a="http://schemas.openxmlformats.org/drawingml/2006/main">
              <a:ext uri="{FF2B5EF4-FFF2-40B4-BE49-F238E27FC236}">
                <a16:creationId xmlns:a16="http://schemas.microsoft.com/office/drawing/2014/main" id="{14D13685-0B12-469B-8B17-3BD23AA1256F}"/>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2" name="s7-offline-meta-12">
            <a:extLst xmlns:a="http://schemas.openxmlformats.org/drawingml/2006/main">
              <a:ext uri="{FF2B5EF4-FFF2-40B4-BE49-F238E27FC236}">
                <a16:creationId xmlns:a16="http://schemas.microsoft.com/office/drawing/2014/main" id="{C3F22024-C58E-433A-BCBF-3806303C8CBA}"/>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07 / 17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4e583cffe6c4e0c"/>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54550985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s8-kicker-1">
            <a:extLst xmlns:a="http://schemas.openxmlformats.org/drawingml/2006/main">
              <a:ext uri="{FF2B5EF4-FFF2-40B4-BE49-F238E27FC236}">
                <a16:creationId xmlns:a16="http://schemas.microsoft.com/office/drawing/2014/main" id="{BF94C5E0-CEA8-4716-AA12-F1B76A1461BA}"/>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1 · PRACTICE / ENGLISH · TEACHER LUO MIN</a:t>
            </a:r>
          </a:p>
        </p:txBody>
      </p:sp>
      <p:sp>
        <p:nvSpPr>
          <p:cNvPr id="2" name="s8-title-2">
            <a:extLst xmlns:a="http://schemas.openxmlformats.org/drawingml/2006/main">
              <a:ext uri="{FF2B5EF4-FFF2-40B4-BE49-F238E27FC236}">
                <a16:creationId xmlns:a16="http://schemas.microsoft.com/office/drawing/2014/main" id="{D320327A-5FD4-4B67-A607-7C69BA0B53E7}"/>
              </a:ext>
            </a:extLst>
          </p:cNvPr>
          <p:cNvSpPr>
            <a:spLocks xmlns:a="http://schemas.openxmlformats.org/drawingml/2006/main" noGrp="1"/>
          </p:cNvSpPr>
          <p:nvPr/>
        </p:nvSpPr>
        <p:spPr>
          <a:xfrm xmlns:a="http://schemas.openxmlformats.org/drawingml/2006/main">
            <a:off x="723900" y="904875"/>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Bao’an: give each agent a clear job</a:t>
            </a:r>
          </a:p>
        </p:txBody>
      </p:sp>
      <p:sp>
        <p:nvSpPr>
          <p:cNvPr id="3" name="s8-body-3">
            <a:extLst xmlns:a="http://schemas.openxmlformats.org/drawingml/2006/main">
              <a:ext uri="{FF2B5EF4-FFF2-40B4-BE49-F238E27FC236}">
                <a16:creationId xmlns:a16="http://schemas.microsoft.com/office/drawing/2014/main" id="{AB6DDE80-3538-4863-82DB-811F12877C0B}"/>
              </a:ext>
            </a:extLst>
          </p:cNvPr>
          <p:cNvSpPr>
            <a:spLocks xmlns:a="http://schemas.openxmlformats.org/drawingml/2006/main" noGrp="1"/>
          </p:cNvSpPr>
          <p:nvPr/>
        </p:nvSpPr>
        <p:spPr>
          <a:xfrm xmlns:a="http://schemas.openxmlformats.org/drawingml/2006/main">
            <a:off x="723900" y="2066925"/>
            <a:ext cx="53353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T · Task design</a:t>
            </a:r>
          </a:p>
        </p:txBody>
      </p:sp>
      <p:sp>
        <p:nvSpPr>
          <p:cNvPr id="4" name="s8-body-4">
            <a:extLst xmlns:a="http://schemas.openxmlformats.org/drawingml/2006/main">
              <a:ext uri="{FF2B5EF4-FFF2-40B4-BE49-F238E27FC236}">
                <a16:creationId xmlns:a16="http://schemas.microsoft.com/office/drawing/2014/main" id="{8E5A834F-03A4-4522-9048-A68E413B2AC9}"/>
              </a:ext>
            </a:extLst>
          </p:cNvPr>
          <p:cNvSpPr>
            <a:spLocks xmlns:a="http://schemas.openxmlformats.org/drawingml/2006/main" noGrp="1"/>
          </p:cNvSpPr>
          <p:nvPr/>
        </p:nvSpPr>
        <p:spPr>
          <a:xfrm xmlns:a="http://schemas.openxmlformats.org/drawingml/2006/main">
            <a:off x="723900" y="2428875"/>
            <a:ext cx="533533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566C7E"/>
                </a:solidFill>
                <a:latin typeface="Arial"/>
                <a:ea typeface="Arial"/>
                <a:cs typeface="Arial"/>
              </a:defRPr>
            </a:pPr>
            <a:r>
              <a:rPr sz="1688" b="0">
                <a:solidFill>
                  <a:srgbClr val="566C7E"/>
                </a:solidFill>
                <a:latin typeface="Arial"/>
                <a:ea typeface="Arial"/>
                <a:cs typeface="Arial"/>
              </a:rPr>
              <a:t>Help the teacher create speaking tasks.</a:t>
            </a:r>
          </a:p>
        </p:txBody>
      </p:sp>
      <p:sp>
        <p:nvSpPr>
          <p:cNvPr id="5" name="s8-body-5">
            <a:extLst xmlns:a="http://schemas.openxmlformats.org/drawingml/2006/main">
              <a:ext uri="{FF2B5EF4-FFF2-40B4-BE49-F238E27FC236}">
                <a16:creationId xmlns:a16="http://schemas.microsoft.com/office/drawing/2014/main" id="{72B9892D-E2C5-41C8-9644-BDB96D7331D0}"/>
              </a:ext>
            </a:extLst>
          </p:cNvPr>
          <p:cNvSpPr>
            <a:spLocks xmlns:a="http://schemas.openxmlformats.org/drawingml/2006/main" noGrp="1"/>
          </p:cNvSpPr>
          <p:nvPr/>
        </p:nvSpPr>
        <p:spPr>
          <a:xfrm xmlns:a="http://schemas.openxmlformats.org/drawingml/2006/main">
            <a:off x="723900" y="2933700"/>
            <a:ext cx="53353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A · Practice and assessment</a:t>
            </a:r>
          </a:p>
        </p:txBody>
      </p:sp>
      <p:sp>
        <p:nvSpPr>
          <p:cNvPr id="6" name="s8-body-6">
            <a:extLst xmlns:a="http://schemas.openxmlformats.org/drawingml/2006/main">
              <a:ext uri="{FF2B5EF4-FFF2-40B4-BE49-F238E27FC236}">
                <a16:creationId xmlns:a16="http://schemas.microsoft.com/office/drawing/2014/main" id="{383158F6-DDF8-41B9-B633-85A8FAA43590}"/>
              </a:ext>
            </a:extLst>
          </p:cNvPr>
          <p:cNvSpPr>
            <a:spLocks xmlns:a="http://schemas.openxmlformats.org/drawingml/2006/main" noGrp="1"/>
          </p:cNvSpPr>
          <p:nvPr/>
        </p:nvSpPr>
        <p:spPr>
          <a:xfrm xmlns:a="http://schemas.openxmlformats.org/drawingml/2006/main">
            <a:off x="723900" y="3295650"/>
            <a:ext cx="533533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566C7E"/>
                </a:solidFill>
                <a:latin typeface="Arial"/>
                <a:ea typeface="Arial"/>
                <a:cs typeface="Arial"/>
              </a:defRPr>
            </a:pPr>
            <a:r>
              <a:rPr sz="1688" b="0">
                <a:solidFill>
                  <a:srgbClr val="566C7E"/>
                </a:solidFill>
                <a:latin typeface="Arial"/>
                <a:ea typeface="Arial"/>
                <a:cs typeface="Arial"/>
              </a:rPr>
              <a:t>Act as an AI speaking examiner.</a:t>
            </a:r>
          </a:p>
        </p:txBody>
      </p:sp>
      <p:sp>
        <p:nvSpPr>
          <p:cNvPr id="7" name="s8-body-7">
            <a:extLst xmlns:a="http://schemas.openxmlformats.org/drawingml/2006/main">
              <a:ext uri="{FF2B5EF4-FFF2-40B4-BE49-F238E27FC236}">
                <a16:creationId xmlns:a16="http://schemas.microsoft.com/office/drawing/2014/main" id="{688A10FB-0292-495D-804B-F638BD2A7D73}"/>
              </a:ext>
            </a:extLst>
          </p:cNvPr>
          <p:cNvSpPr>
            <a:spLocks xmlns:a="http://schemas.openxmlformats.org/drawingml/2006/main" noGrp="1"/>
          </p:cNvSpPr>
          <p:nvPr/>
        </p:nvSpPr>
        <p:spPr>
          <a:xfrm xmlns:a="http://schemas.openxmlformats.org/drawingml/2006/main">
            <a:off x="723900" y="3800475"/>
            <a:ext cx="53353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S · Standards</a:t>
            </a:r>
          </a:p>
        </p:txBody>
      </p:sp>
      <p:sp>
        <p:nvSpPr>
          <p:cNvPr id="8" name="s8-body-8">
            <a:extLst xmlns:a="http://schemas.openxmlformats.org/drawingml/2006/main">
              <a:ext uri="{FF2B5EF4-FFF2-40B4-BE49-F238E27FC236}">
                <a16:creationId xmlns:a16="http://schemas.microsoft.com/office/drawing/2014/main" id="{7A271F17-EABB-4B94-A5C8-B21CE663C7ED}"/>
              </a:ext>
            </a:extLst>
          </p:cNvPr>
          <p:cNvSpPr>
            <a:spLocks xmlns:a="http://schemas.openxmlformats.org/drawingml/2006/main" noGrp="1"/>
          </p:cNvSpPr>
          <p:nvPr/>
        </p:nvSpPr>
        <p:spPr>
          <a:xfrm xmlns:a="http://schemas.openxmlformats.org/drawingml/2006/main">
            <a:off x="723900" y="4162425"/>
            <a:ext cx="533533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566C7E"/>
                </a:solidFill>
                <a:latin typeface="Arial"/>
                <a:ea typeface="Arial"/>
                <a:cs typeface="Arial"/>
              </a:defRPr>
            </a:pPr>
            <a:r>
              <a:rPr sz="1688" b="0">
                <a:solidFill>
                  <a:srgbClr val="566C7E"/>
                </a:solidFill>
                <a:latin typeface="Arial"/>
                <a:ea typeface="Arial"/>
                <a:cs typeface="Arial"/>
              </a:rPr>
              <a:t>Match activities to the criteria.</a:t>
            </a:r>
          </a:p>
        </p:txBody>
      </p:sp>
      <p:sp>
        <p:nvSpPr>
          <p:cNvPr id="9" name="s8-body-9">
            <a:extLst xmlns:a="http://schemas.openxmlformats.org/drawingml/2006/main">
              <a:ext uri="{FF2B5EF4-FFF2-40B4-BE49-F238E27FC236}">
                <a16:creationId xmlns:a16="http://schemas.microsoft.com/office/drawing/2014/main" id="{EF7D24D8-9A75-479F-A45B-50819DC0C7B6}"/>
              </a:ext>
            </a:extLst>
          </p:cNvPr>
          <p:cNvSpPr>
            <a:spLocks xmlns:a="http://schemas.openxmlformats.org/drawingml/2006/main" noGrp="1"/>
          </p:cNvSpPr>
          <p:nvPr/>
        </p:nvSpPr>
        <p:spPr>
          <a:xfrm xmlns:a="http://schemas.openxmlformats.org/drawingml/2006/main">
            <a:off x="723900" y="4667250"/>
            <a:ext cx="53353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142D43"/>
                </a:solidFill>
                <a:latin typeface="Arial"/>
                <a:ea typeface="Arial"/>
                <a:cs typeface="Arial"/>
              </a:defRPr>
            </a:pPr>
            <a:r>
              <a:rPr sz="1890" b="1">
                <a:solidFill>
                  <a:srgbClr val="142D43"/>
                </a:solidFill>
                <a:latin typeface="Arial"/>
                <a:ea typeface="Arial"/>
                <a:cs typeface="Arial"/>
              </a:rPr>
              <a:t>K · Feedback</a:t>
            </a:r>
          </a:p>
        </p:txBody>
      </p:sp>
      <p:sp>
        <p:nvSpPr>
          <p:cNvPr id="10" name="s8-body-10">
            <a:extLst xmlns:a="http://schemas.openxmlformats.org/drawingml/2006/main">
              <a:ext uri="{FF2B5EF4-FFF2-40B4-BE49-F238E27FC236}">
                <a16:creationId xmlns:a16="http://schemas.microsoft.com/office/drawing/2014/main" id="{9CF34E79-229A-4435-94A2-21DDB78B9C22}"/>
              </a:ext>
            </a:extLst>
          </p:cNvPr>
          <p:cNvSpPr>
            <a:spLocks xmlns:a="http://schemas.openxmlformats.org/drawingml/2006/main" noGrp="1"/>
          </p:cNvSpPr>
          <p:nvPr/>
        </p:nvSpPr>
        <p:spPr>
          <a:xfrm xmlns:a="http://schemas.openxmlformats.org/drawingml/2006/main">
            <a:off x="723900" y="5029200"/>
            <a:ext cx="533533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566C7E"/>
                </a:solidFill>
                <a:latin typeface="Arial"/>
                <a:ea typeface="Arial"/>
                <a:cs typeface="Arial"/>
              </a:defRPr>
            </a:pPr>
            <a:r>
              <a:rPr sz="1688" b="0">
                <a:solidFill>
                  <a:srgbClr val="566C7E"/>
                </a:solidFill>
                <a:latin typeface="Arial"/>
                <a:ea typeface="Arial"/>
                <a:cs typeface="Arial"/>
              </a:rPr>
              <a:t>Use learning data to give feedback.</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85335dcf5804677"/>
          <a:srcRect xmlns:a="http://schemas.openxmlformats.org/drawingml/2006/main" l="0" t="0" r="0" b="0"/>
          <a:stretch xmlns:a="http://schemas.openxmlformats.org/drawingml/2006/main"/>
        </p:blipFill>
        <p:spPr>
          <a:xfrm xmlns:a="http://schemas.openxmlformats.org/drawingml/2006/main">
            <a:off x="6445187" y="2390775"/>
            <a:ext cx="5022914" cy="2560701"/>
          </a:xfrm>
          <a:prstGeom xmlns:a="http://schemas.openxmlformats.org/drawingml/2006/main" prst="rect">
            <a:avLst/>
          </a:prstGeom>
        </p:spPr>
      </p:pic>
      <p:sp>
        <p:nvSpPr>
          <p:cNvPr id="12" name="s8-caption-12">
            <a:extLst xmlns:a="http://schemas.openxmlformats.org/drawingml/2006/main">
              <a:ext uri="{FF2B5EF4-FFF2-40B4-BE49-F238E27FC236}">
                <a16:creationId xmlns:a16="http://schemas.microsoft.com/office/drawing/2014/main" id="{1986A677-BF93-4CA2-A453-C99D11C30171}"/>
              </a:ext>
            </a:extLst>
          </p:cNvPr>
          <p:cNvSpPr>
            <a:spLocks xmlns:a="http://schemas.openxmlformats.org/drawingml/2006/main" noGrp="1"/>
          </p:cNvSpPr>
          <p:nvPr/>
        </p:nvSpPr>
        <p:spPr>
          <a:xfrm xmlns:a="http://schemas.openxmlformats.org/drawingml/2006/main">
            <a:off x="6445187" y="5065776"/>
            <a:ext cx="5160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Ms Luo’s TASK workflow · CocoRobo</a:t>
            </a:r>
          </a:p>
        </p:txBody>
      </p:sp>
      <p:sp>
        <p:nvSpPr>
          <p:cNvPr id="13" name="s8-caption-13">
            <a:extLst xmlns:a="http://schemas.openxmlformats.org/drawingml/2006/main">
              <a:ext uri="{FF2B5EF4-FFF2-40B4-BE49-F238E27FC236}">
                <a16:creationId xmlns:a16="http://schemas.microsoft.com/office/drawing/2014/main" id="{1EDEDCA0-71C0-4711-865F-DEC50E0C6038}"/>
              </a:ext>
            </a:extLst>
          </p:cNvPr>
          <p:cNvSpPr>
            <a:spLocks xmlns:a="http://schemas.openxmlformats.org/drawingml/2006/main" noGrp="1"/>
          </p:cNvSpPr>
          <p:nvPr/>
        </p:nvSpPr>
        <p:spPr>
          <a:xfrm xmlns:a="http://schemas.openxmlformats.org/drawingml/2006/main">
            <a:off x="723900" y="554355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66C7E"/>
                </a:solidFill>
                <a:latin typeface="Arial"/>
                <a:ea typeface="Arial"/>
                <a:cs typeface="Arial"/>
              </a:defRPr>
            </a:pPr>
            <a:r>
              <a:rPr sz="1425" b="0">
                <a:solidFill>
                  <a:srgbClr val="566C7E"/>
                </a:solidFill>
                <a:latin typeface="Arial"/>
                <a:ea typeface="Arial"/>
                <a:cs typeface="Arial"/>
              </a:rPr>
              <a:t>TASK = Tasksheets · Assessments · Standards · Key competences</a:t>
            </a:r>
          </a:p>
        </p:txBody>
      </p:sp>
      <p:sp>
        <p:nvSpPr>
          <p:cNvPr id="14" name="s8-rect-14">
            <a:extLst xmlns:a="http://schemas.openxmlformats.org/drawingml/2006/main">
              <a:ext uri="{FF2B5EF4-FFF2-40B4-BE49-F238E27FC236}">
                <a16:creationId xmlns:a16="http://schemas.microsoft.com/office/drawing/2014/main" id="{F89BFC03-B118-4B04-BB8A-4EA51CD6B060}"/>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5" name="s8-takeaway-15">
            <a:extLst xmlns:a="http://schemas.openxmlformats.org/drawingml/2006/main">
              <a:ext uri="{FF2B5EF4-FFF2-40B4-BE49-F238E27FC236}">
                <a16:creationId xmlns:a16="http://schemas.microsoft.com/office/drawing/2014/main" id="{69567A59-B6CA-4D5A-A939-2E420A278C52}"/>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Start with the teaching method. Then give AI clear roles.</a:t>
            </a:r>
          </a:p>
        </p:txBody>
      </p:sp>
      <p:sp>
        <p:nvSpPr>
          <p:cNvPr id="16" name="s8-offline-meta-16">
            <a:extLst xmlns:a="http://schemas.openxmlformats.org/drawingml/2006/main">
              <a:ext uri="{FF2B5EF4-FFF2-40B4-BE49-F238E27FC236}">
                <a16:creationId xmlns:a16="http://schemas.microsoft.com/office/drawing/2014/main" id="{0DC9E3ED-F453-4B03-8E1E-F9AAF20C0C28}"/>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7" name="s8-offline-meta-17">
            <a:extLst xmlns:a="http://schemas.openxmlformats.org/drawingml/2006/main">
              <a:ext uri="{FF2B5EF4-FFF2-40B4-BE49-F238E27FC236}">
                <a16:creationId xmlns:a16="http://schemas.microsoft.com/office/drawing/2014/main" id="{FC0DCC37-3C94-4015-8ECB-B52B7C78AEDA}"/>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08 / 17</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c1a94d1780b4cde"/>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2141825291"/>
      </p:ext>
    </p:extLst>
  </p:cSld>
</p:sld>
</file>

<file path=ppt/slides/slide9.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6" name="s9-kicker-1">
            <a:extLst xmlns:a="http://schemas.openxmlformats.org/drawingml/2006/main">
              <a:ext uri="{FF2B5EF4-FFF2-40B4-BE49-F238E27FC236}">
                <a16:creationId xmlns:a16="http://schemas.microsoft.com/office/drawing/2014/main" id="{B64C7FAA-2B23-47FE-A35A-64657E86485F}"/>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PRACTICE → RESEARCH</a:t>
            </a:r>
          </a:p>
        </p:txBody>
      </p:sp>
      <p:sp>
        <p:nvSpPr>
          <p:cNvPr id="2" name="s9-title-2">
            <a:extLst xmlns:a="http://schemas.openxmlformats.org/drawingml/2006/main">
              <a:ext uri="{FF2B5EF4-FFF2-40B4-BE49-F238E27FC236}">
                <a16:creationId xmlns:a16="http://schemas.microsoft.com/office/drawing/2014/main" id="{A695784D-3184-4367-8EED-E88C4FD50074}"/>
              </a:ext>
            </a:extLst>
          </p:cNvPr>
          <p:cNvSpPr>
            <a:spLocks xmlns:a="http://schemas.openxmlformats.org/drawingml/2006/main" noGrp="1"/>
          </p:cNvSpPr>
          <p:nvPr/>
        </p:nvSpPr>
        <p:spPr>
          <a:xfrm xmlns:a="http://schemas.openxmlformats.org/drawingml/2006/main">
            <a:off x="723900" y="904875"/>
            <a:ext cx="574929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675" b="1">
                <a:solidFill>
                  <a:srgbClr val="FFFFFF"/>
                </a:solidFill>
                <a:latin typeface="Arial"/>
                <a:ea typeface="Arial"/>
                <a:cs typeface="Arial"/>
              </a:defRPr>
            </a:pPr>
            <a:r>
              <a:rPr sz="3675" b="1">
                <a:solidFill>
                  <a:srgbClr val="FFFFFF"/>
                </a:solidFill>
                <a:latin typeface="Arial"/>
                <a:ea typeface="Arial"/>
                <a:cs typeface="Arial"/>
              </a:rPr>
              <a:t>Why does practice</a:t>
            </a:r>
          </a:p>
          <a:p xmlns:a="http://schemas.openxmlformats.org/drawingml/2006/main">
            <a:pPr algn="l">
              <a:lnSpc>
                <a:spcPct val="106000"/>
              </a:lnSpc>
              <a:buNone/>
              <a:defRPr sz="3675" b="1">
                <a:solidFill>
                  <a:srgbClr val="FFFFFF"/>
                </a:solidFill>
                <a:latin typeface="Arial"/>
                <a:ea typeface="Arial"/>
                <a:cs typeface="Arial"/>
              </a:defRPr>
            </a:pPr>
            <a:r>
              <a:rPr sz="3675" b="1">
                <a:solidFill>
                  <a:srgbClr val="FFFFFF"/>
                </a:solidFill>
                <a:latin typeface="Arial"/>
                <a:ea typeface="Arial"/>
                <a:cs typeface="Arial"/>
              </a:rPr>
              <a:t>need research?</a:t>
            </a:r>
          </a:p>
        </p:txBody>
      </p:sp>
      <p:sp>
        <p:nvSpPr>
          <p:cNvPr id="3" name="s9-body-3">
            <a:extLst xmlns:a="http://schemas.openxmlformats.org/drawingml/2006/main">
              <a:ext uri="{FF2B5EF4-FFF2-40B4-BE49-F238E27FC236}">
                <a16:creationId xmlns:a16="http://schemas.microsoft.com/office/drawing/2014/main" id="{4EAE9992-4DF6-479C-9B40-81091FA8BC3B}"/>
              </a:ext>
            </a:extLst>
          </p:cNvPr>
          <p:cNvSpPr>
            <a:spLocks xmlns:a="http://schemas.openxmlformats.org/drawingml/2006/main" noGrp="1"/>
          </p:cNvSpPr>
          <p:nvPr/>
        </p:nvSpPr>
        <p:spPr>
          <a:xfrm xmlns:a="http://schemas.openxmlformats.org/drawingml/2006/main">
            <a:off x="723900" y="2333625"/>
            <a:ext cx="5234083"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0">
                <a:solidFill>
                  <a:srgbClr val="BED0DD"/>
                </a:solidFill>
                <a:latin typeface="Arial"/>
                <a:ea typeface="Arial"/>
                <a:cs typeface="Arial"/>
              </a:defRPr>
            </a:pPr>
            <a:r>
              <a:rPr sz="2025" b="0">
                <a:solidFill>
                  <a:srgbClr val="BED0DD"/>
                </a:solidFill>
                <a:latin typeface="Arial"/>
                <a:ea typeface="Arial"/>
                <a:cs typeface="Arial"/>
              </a:rPr>
              <a:t>A working example is a start. We also need to understand how it works.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83fc1262f884234"/>
          <a:srcRect xmlns:a="http://schemas.openxmlformats.org/drawingml/2006/main" l="0" t="15816" r="0" b="15816"/>
          <a:stretch xmlns:a="http://schemas.openxmlformats.org/drawingml/2006/main">
            <a:fillRect l="0" t="0" r="0" b="0"/>
          </a:stretch>
        </p:blipFill>
        <p:spPr>
          <a:xfrm xmlns:a="http://schemas.openxmlformats.org/drawingml/2006/main">
            <a:off x="723900" y="3533775"/>
            <a:ext cx="5094542" cy="1960817"/>
          </a:xfrm>
          <a:prstGeom xmlns:a="http://schemas.openxmlformats.org/drawingml/2006/main" prst="rect">
            <a:avLst/>
          </a:prstGeom>
        </p:spPr>
      </p:pic>
      <p:sp>
        <p:nvSpPr>
          <p:cNvPr id="5" name="s9-caption-5">
            <a:extLst xmlns:a="http://schemas.openxmlformats.org/drawingml/2006/main">
              <a:ext uri="{FF2B5EF4-FFF2-40B4-BE49-F238E27FC236}">
                <a16:creationId xmlns:a16="http://schemas.microsoft.com/office/drawing/2014/main" id="{7555B235-BF37-451C-BBF5-CF50C602223E}"/>
              </a:ext>
            </a:extLst>
          </p:cNvPr>
          <p:cNvSpPr>
            <a:spLocks xmlns:a="http://schemas.openxmlformats.org/drawingml/2006/main" noGrp="1"/>
          </p:cNvSpPr>
          <p:nvPr/>
        </p:nvSpPr>
        <p:spPr>
          <a:xfrm xmlns:a="http://schemas.openxmlformats.org/drawingml/2006/main">
            <a:off x="723900" y="5608892"/>
            <a:ext cx="523408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BED0DD"/>
                </a:solidFill>
                <a:latin typeface="Arial"/>
                <a:ea typeface="Arial"/>
                <a:cs typeface="Arial"/>
              </a:defRPr>
            </a:pPr>
            <a:r>
              <a:rPr sz="1275" b="0">
                <a:solidFill>
                  <a:srgbClr val="BED0DD"/>
                </a:solidFill>
                <a:latin typeface="Arial"/>
                <a:ea typeface="Arial"/>
                <a:cs typeface="Arial"/>
              </a:rPr>
              <a:t>Biology inquiry · Futian Liyuan Primary School</a:t>
            </a:r>
          </a:p>
        </p:txBody>
      </p:sp>
      <p:sp>
        <p:nvSpPr>
          <p:cNvPr id="6" name="s9-body-6">
            <a:extLst xmlns:a="http://schemas.openxmlformats.org/drawingml/2006/main">
              <a:ext uri="{FF2B5EF4-FFF2-40B4-BE49-F238E27FC236}">
                <a16:creationId xmlns:a16="http://schemas.microsoft.com/office/drawing/2014/main" id="{BE6D1148-EA6A-485B-BF4D-A1C782707DDD}"/>
              </a:ext>
            </a:extLst>
          </p:cNvPr>
          <p:cNvSpPr>
            <a:spLocks xmlns:a="http://schemas.openxmlformats.org/drawingml/2006/main" noGrp="1"/>
          </p:cNvSpPr>
          <p:nvPr/>
        </p:nvSpPr>
        <p:spPr>
          <a:xfrm xmlns:a="http://schemas.openxmlformats.org/drawingml/2006/main">
            <a:off x="6546723" y="2314575"/>
            <a:ext cx="492137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Learn what changes</a:t>
            </a:r>
          </a:p>
        </p:txBody>
      </p:sp>
      <p:sp>
        <p:nvSpPr>
          <p:cNvPr id="7" name="s9-body-7">
            <a:extLst xmlns:a="http://schemas.openxmlformats.org/drawingml/2006/main">
              <a:ext uri="{FF2B5EF4-FFF2-40B4-BE49-F238E27FC236}">
                <a16:creationId xmlns:a16="http://schemas.microsoft.com/office/drawing/2014/main" id="{F45E5E4B-E883-4303-ACEA-978D8784C733}"/>
              </a:ext>
            </a:extLst>
          </p:cNvPr>
          <p:cNvSpPr>
            <a:spLocks xmlns:a="http://schemas.openxmlformats.org/drawingml/2006/main" noGrp="1"/>
          </p:cNvSpPr>
          <p:nvPr/>
        </p:nvSpPr>
        <p:spPr>
          <a:xfrm xmlns:a="http://schemas.openxmlformats.org/drawingml/2006/main">
            <a:off x="6546723" y="2714625"/>
            <a:ext cx="4921377"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BED0DD"/>
                </a:solidFill>
                <a:latin typeface="Arial"/>
                <a:ea typeface="Arial"/>
                <a:cs typeface="Arial"/>
              </a:defRPr>
            </a:pPr>
            <a:r>
              <a:rPr sz="1688" b="0">
                <a:solidFill>
                  <a:srgbClr val="BED0DD"/>
                </a:solidFill>
                <a:latin typeface="Arial"/>
                <a:ea typeface="Arial"/>
                <a:cs typeface="Arial"/>
              </a:rPr>
              <a:t>How do teachers’ designs and choices develop?</a:t>
            </a:r>
          </a:p>
        </p:txBody>
      </p:sp>
      <p:sp>
        <p:nvSpPr>
          <p:cNvPr id="8" name="s9-body-8">
            <a:extLst xmlns:a="http://schemas.openxmlformats.org/drawingml/2006/main">
              <a:ext uri="{FF2B5EF4-FFF2-40B4-BE49-F238E27FC236}">
                <a16:creationId xmlns:a16="http://schemas.microsoft.com/office/drawing/2014/main" id="{D651CC65-D7AA-4D0C-BCD2-110836776E4E}"/>
              </a:ext>
            </a:extLst>
          </p:cNvPr>
          <p:cNvSpPr>
            <a:spLocks xmlns:a="http://schemas.openxmlformats.org/drawingml/2006/main" noGrp="1"/>
          </p:cNvSpPr>
          <p:nvPr/>
        </p:nvSpPr>
        <p:spPr>
          <a:xfrm xmlns:a="http://schemas.openxmlformats.org/drawingml/2006/main">
            <a:off x="6546723" y="3495675"/>
            <a:ext cx="492137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Understand the conditions</a:t>
            </a:r>
          </a:p>
        </p:txBody>
      </p:sp>
      <p:sp>
        <p:nvSpPr>
          <p:cNvPr id="9" name="s9-body-9">
            <a:extLst xmlns:a="http://schemas.openxmlformats.org/drawingml/2006/main">
              <a:ext uri="{FF2B5EF4-FFF2-40B4-BE49-F238E27FC236}">
                <a16:creationId xmlns:a16="http://schemas.microsoft.com/office/drawing/2014/main" id="{354EEE3E-90DD-4C10-9B39-892AD8C0669D}"/>
              </a:ext>
            </a:extLst>
          </p:cNvPr>
          <p:cNvSpPr>
            <a:spLocks xmlns:a="http://schemas.openxmlformats.org/drawingml/2006/main" noGrp="1"/>
          </p:cNvSpPr>
          <p:nvPr/>
        </p:nvSpPr>
        <p:spPr>
          <a:xfrm xmlns:a="http://schemas.openxmlformats.org/drawingml/2006/main">
            <a:off x="6546723" y="3895725"/>
            <a:ext cx="4921377"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BED0DD"/>
                </a:solidFill>
                <a:latin typeface="Arial"/>
                <a:ea typeface="Arial"/>
                <a:cs typeface="Arial"/>
              </a:defRPr>
            </a:pPr>
            <a:r>
              <a:rPr sz="1688" b="0">
                <a:solidFill>
                  <a:srgbClr val="BED0DD"/>
                </a:solidFill>
                <a:latin typeface="Arial"/>
                <a:ea typeface="Arial"/>
                <a:cs typeface="Arial"/>
              </a:rPr>
              <a:t>What helps teachers keep creating?</a:t>
            </a:r>
          </a:p>
        </p:txBody>
      </p:sp>
      <p:sp>
        <p:nvSpPr>
          <p:cNvPr id="10" name="s9-body-10">
            <a:extLst xmlns:a="http://schemas.openxmlformats.org/drawingml/2006/main">
              <a:ext uri="{FF2B5EF4-FFF2-40B4-BE49-F238E27FC236}">
                <a16:creationId xmlns:a16="http://schemas.microsoft.com/office/drawing/2014/main" id="{F2B15F91-AC52-4987-8A21-4D1707C242BF}"/>
              </a:ext>
            </a:extLst>
          </p:cNvPr>
          <p:cNvSpPr>
            <a:spLocks xmlns:a="http://schemas.openxmlformats.org/drawingml/2006/main" noGrp="1"/>
          </p:cNvSpPr>
          <p:nvPr/>
        </p:nvSpPr>
        <p:spPr>
          <a:xfrm xmlns:a="http://schemas.openxmlformats.org/drawingml/2006/main">
            <a:off x="6546723" y="4676775"/>
            <a:ext cx="492137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Make lessons useful elsewhere</a:t>
            </a:r>
          </a:p>
        </p:txBody>
      </p:sp>
      <p:sp>
        <p:nvSpPr>
          <p:cNvPr id="11" name="s9-body-11">
            <a:extLst xmlns:a="http://schemas.openxmlformats.org/drawingml/2006/main">
              <a:ext uri="{FF2B5EF4-FFF2-40B4-BE49-F238E27FC236}">
                <a16:creationId xmlns:a16="http://schemas.microsoft.com/office/drawing/2014/main" id="{9B388C29-BD5C-455B-9085-F6CF76EEA74E}"/>
              </a:ext>
            </a:extLst>
          </p:cNvPr>
          <p:cNvSpPr>
            <a:spLocks xmlns:a="http://schemas.openxmlformats.org/drawingml/2006/main" noGrp="1"/>
          </p:cNvSpPr>
          <p:nvPr/>
        </p:nvSpPr>
        <p:spPr>
          <a:xfrm xmlns:a="http://schemas.openxmlformats.org/drawingml/2006/main">
            <a:off x="6546723" y="5076825"/>
            <a:ext cx="4921377"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BED0DD"/>
                </a:solidFill>
                <a:latin typeface="Arial"/>
                <a:ea typeface="Arial"/>
                <a:cs typeface="Arial"/>
              </a:defRPr>
            </a:pPr>
            <a:r>
              <a:rPr sz="1688" b="0">
                <a:solidFill>
                  <a:srgbClr val="BED0DD"/>
                </a:solidFill>
                <a:latin typeface="Arial"/>
                <a:ea typeface="Arial"/>
                <a:cs typeface="Arial"/>
              </a:rPr>
              <a:t>What needs to change in another school?</a:t>
            </a:r>
          </a:p>
        </p:txBody>
      </p:sp>
      <p:sp>
        <p:nvSpPr>
          <p:cNvPr id="12" name="s9-rect-12">
            <a:extLst xmlns:a="http://schemas.openxmlformats.org/drawingml/2006/main">
              <a:ext uri="{FF2B5EF4-FFF2-40B4-BE49-F238E27FC236}">
                <a16:creationId xmlns:a16="http://schemas.microsoft.com/office/drawing/2014/main" id="{E75985A2-BB2A-4808-8FCC-A9537AE8A804}"/>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3" name="s9-takeaway-13">
            <a:extLst xmlns:a="http://schemas.openxmlformats.org/drawingml/2006/main">
              <a:ext uri="{FF2B5EF4-FFF2-40B4-BE49-F238E27FC236}">
                <a16:creationId xmlns:a16="http://schemas.microsoft.com/office/drawing/2014/main" id="{96065CED-27F0-4888-B200-A7FFB14CDB3A}"/>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FFFFFF"/>
                </a:solidFill>
                <a:latin typeface="Arial"/>
                <a:ea typeface="Arial"/>
                <a:cs typeface="Arial"/>
              </a:defRPr>
            </a:pPr>
            <a:r>
              <a:rPr sz="1725" b="1">
                <a:solidFill>
                  <a:srgbClr val="FFFFFF"/>
                </a:solidFill>
                <a:latin typeface="Arial"/>
                <a:ea typeface="Arial"/>
                <a:cs typeface="Arial"/>
              </a:rPr>
              <a:t>Use evidence to improve tools, training and classroom practice.</a:t>
            </a:r>
          </a:p>
        </p:txBody>
      </p:sp>
      <p:sp>
        <p:nvSpPr>
          <p:cNvPr id="14" name="s9-offline-meta-14">
            <a:extLst xmlns:a="http://schemas.openxmlformats.org/drawingml/2006/main">
              <a:ext uri="{FF2B5EF4-FFF2-40B4-BE49-F238E27FC236}">
                <a16:creationId xmlns:a16="http://schemas.microsoft.com/office/drawing/2014/main" id="{6CEEDFB5-10F7-4565-9077-F79FF1C1D02F}"/>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15" name="s9-offline-meta-15">
            <a:extLst xmlns:a="http://schemas.openxmlformats.org/drawingml/2006/main">
              <a:ext uri="{FF2B5EF4-FFF2-40B4-BE49-F238E27FC236}">
                <a16:creationId xmlns:a16="http://schemas.microsoft.com/office/drawing/2014/main" id="{B95E2041-DB99-42F4-8E19-3BF978A955C1}"/>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09 / 17</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1e4bcbb28cd446b"/>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404168311"/>
      </p:ext>
    </p:extLst>
  </p:cSld>
</p:sld>
</file>

<file path=ppt/slides/slide10.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23" name="s10-kicker-1">
            <a:extLst xmlns:a="http://schemas.openxmlformats.org/drawingml/2006/main">
              <a:ext uri="{FF2B5EF4-FFF2-40B4-BE49-F238E27FC236}">
                <a16:creationId xmlns:a16="http://schemas.microsoft.com/office/drawing/2014/main" id="{5181B22B-A7D0-4EDD-8B2E-27DB4934EF6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2 · RESEARCH / TIMELINE &amp; OUTPUTS</a:t>
            </a:r>
          </a:p>
        </p:txBody>
      </p:sp>
      <p:sp>
        <p:nvSpPr>
          <p:cNvPr id="2" name="s10-title-2">
            <a:extLst xmlns:a="http://schemas.openxmlformats.org/drawingml/2006/main">
              <a:ext uri="{FF2B5EF4-FFF2-40B4-BE49-F238E27FC236}">
                <a16:creationId xmlns:a16="http://schemas.microsoft.com/office/drawing/2014/main" id="{4BEB2D95-FAA0-4A73-B7C9-EA667C9BECAC}"/>
              </a:ext>
            </a:extLst>
          </p:cNvPr>
          <p:cNvSpPr>
            <a:spLocks xmlns:a="http://schemas.openxmlformats.org/drawingml/2006/main" noGrp="1"/>
          </p:cNvSpPr>
          <p:nvPr/>
        </p:nvSpPr>
        <p:spPr>
          <a:xfrm xmlns:a="http://schemas.openxmlformats.org/drawingml/2006/main">
            <a:off x="723900" y="904875"/>
            <a:ext cx="9198769"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338" b="1">
                <a:solidFill>
                  <a:srgbClr val="FFFFFF"/>
                </a:solidFill>
                <a:latin typeface="Arial"/>
                <a:ea typeface="Arial"/>
                <a:cs typeface="Arial"/>
              </a:defRPr>
            </a:pPr>
            <a:r>
              <a:rPr sz="3338" b="1">
                <a:solidFill>
                  <a:srgbClr val="FFFFFF"/>
                </a:solidFill>
                <a:latin typeface="Arial"/>
                <a:ea typeface="Arial"/>
                <a:cs typeface="Arial"/>
              </a:rPr>
              <a:t>A year of practice,</a:t>
            </a:r>
          </a:p>
          <a:p xmlns:a="http://schemas.openxmlformats.org/drawingml/2006/main">
            <a:pPr algn="l">
              <a:lnSpc>
                <a:spcPct val="106000"/>
              </a:lnSpc>
              <a:buNone/>
              <a:defRPr sz="3338" b="1">
                <a:solidFill>
                  <a:srgbClr val="FFFFFF"/>
                </a:solidFill>
                <a:latin typeface="Arial"/>
                <a:ea typeface="Arial"/>
                <a:cs typeface="Arial"/>
              </a:defRPr>
            </a:pPr>
            <a:r>
              <a:rPr sz="3338" b="1">
                <a:solidFill>
                  <a:srgbClr val="FFFFFF"/>
                </a:solidFill>
                <a:latin typeface="Arial"/>
                <a:ea typeface="Arial"/>
                <a:cs typeface="Arial"/>
              </a:rPr>
              <a:t>evidence and revision</a:t>
            </a:r>
          </a:p>
        </p:txBody>
      </p:sp>
      <p:sp>
        <p:nvSpPr>
          <p:cNvPr id="3" name="s10-body-3">
            <a:extLst xmlns:a="http://schemas.openxmlformats.org/drawingml/2006/main">
              <a:ext uri="{FF2B5EF4-FFF2-40B4-BE49-F238E27FC236}">
                <a16:creationId xmlns:a16="http://schemas.microsoft.com/office/drawing/2014/main" id="{0950EDF9-3E1C-47C4-9111-7A253541B503}"/>
              </a:ext>
            </a:extLst>
          </p:cNvPr>
          <p:cNvSpPr>
            <a:spLocks xmlns:a="http://schemas.openxmlformats.org/drawingml/2006/main" noGrp="1"/>
          </p:cNvSpPr>
          <p:nvPr/>
        </p:nvSpPr>
        <p:spPr>
          <a:xfrm xmlns:a="http://schemas.openxmlformats.org/drawingml/2006/main">
            <a:off x="723900" y="2114550"/>
            <a:ext cx="1074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Three teacher groups in Pingshan · April 2025–April 2026</a:t>
            </a:r>
          </a:p>
        </p:txBody>
      </p:sp>
      <p:sp>
        <p:nvSpPr>
          <p:cNvPr id="4" name="s10-rect-4">
            <a:extLst xmlns:a="http://schemas.openxmlformats.org/drawingml/2006/main">
              <a:ext uri="{FF2B5EF4-FFF2-40B4-BE49-F238E27FC236}">
                <a16:creationId xmlns:a16="http://schemas.microsoft.com/office/drawing/2014/main" id="{2181051C-966C-4300-BC73-A12528BD497A}"/>
              </a:ext>
            </a:extLst>
          </p:cNvPr>
          <p:cNvSpPr>
            <a:spLocks xmlns:a="http://schemas.openxmlformats.org/drawingml/2006/main" noGrp="1"/>
          </p:cNvSpPr>
          <p:nvPr/>
        </p:nvSpPr>
        <p:spPr>
          <a:xfrm xmlns:a="http://schemas.openxmlformats.org/drawingml/2006/main">
            <a:off x="723900" y="3162300"/>
            <a:ext cx="10551033" cy="19050"/>
          </a:xfrm>
          <a:prstGeom xmlns:a="http://schemas.openxmlformats.org/drawingml/2006/main" prst="rect">
            <a:avLst/>
          </a:prstGeom>
          <a:solidFill xmlns:a="http://schemas.openxmlformats.org/drawingml/2006/main">
            <a:srgbClr val="426178"/>
          </a:solidFill>
          <a:ln xmlns:a="http://schemas.openxmlformats.org/drawingml/2006/main" w="0">
            <a:noFill/>
          </a:ln>
        </p:spPr>
      </p:sp>
      <p:sp>
        <p:nvSpPr>
          <p:cNvPr id="5" name="s10-body-5">
            <a:extLst xmlns:a="http://schemas.openxmlformats.org/drawingml/2006/main">
              <a:ext uri="{FF2B5EF4-FFF2-40B4-BE49-F238E27FC236}">
                <a16:creationId xmlns:a16="http://schemas.microsoft.com/office/drawing/2014/main" id="{77787F1A-AE33-4CD2-A60A-3CCF0E13A6CD}"/>
              </a:ext>
            </a:extLst>
          </p:cNvPr>
          <p:cNvSpPr>
            <a:spLocks xmlns:a="http://schemas.openxmlformats.org/drawingml/2006/main" noGrp="1"/>
          </p:cNvSpPr>
          <p:nvPr/>
        </p:nvSpPr>
        <p:spPr>
          <a:xfrm xmlns:a="http://schemas.openxmlformats.org/drawingml/2006/main">
            <a:off x="723900" y="2714625"/>
            <a:ext cx="327479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APR 2025</a:t>
            </a:r>
          </a:p>
        </p:txBody>
      </p:sp>
      <p:sp>
        <p:nvSpPr>
          <p:cNvPr id="6" name="s10-rect-6">
            <a:extLst xmlns:a="http://schemas.openxmlformats.org/drawingml/2006/main">
              <a:ext uri="{FF2B5EF4-FFF2-40B4-BE49-F238E27FC236}">
                <a16:creationId xmlns:a16="http://schemas.microsoft.com/office/drawing/2014/main" id="{B3259D20-D5A0-442A-8ABB-565990D6D92E}"/>
              </a:ext>
            </a:extLst>
          </p:cNvPr>
          <p:cNvSpPr>
            <a:spLocks xmlns:a="http://schemas.openxmlformats.org/drawingml/2006/main" noGrp="1"/>
          </p:cNvSpPr>
          <p:nvPr/>
        </p:nvSpPr>
        <p:spPr>
          <a:xfrm xmlns:a="http://schemas.openxmlformats.org/drawingml/2006/main">
            <a:off x="723900" y="3114675"/>
            <a:ext cx="110395" cy="1143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7" name="s10-body-7">
            <a:extLst xmlns:a="http://schemas.openxmlformats.org/drawingml/2006/main">
              <a:ext uri="{FF2B5EF4-FFF2-40B4-BE49-F238E27FC236}">
                <a16:creationId xmlns:a16="http://schemas.microsoft.com/office/drawing/2014/main" id="{86054BC0-D26E-47E6-A65C-1569C36A09C7}"/>
              </a:ext>
            </a:extLst>
          </p:cNvPr>
          <p:cNvSpPr>
            <a:spLocks xmlns:a="http://schemas.openxmlformats.org/drawingml/2006/main" noGrp="1"/>
          </p:cNvSpPr>
          <p:nvPr/>
        </p:nvSpPr>
        <p:spPr>
          <a:xfrm xmlns:a="http://schemas.openxmlformats.org/drawingml/2006/main">
            <a:off x="723900" y="3381375"/>
            <a:ext cx="324716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First prompts and agents</a:t>
            </a:r>
          </a:p>
        </p:txBody>
      </p:sp>
      <p:sp>
        <p:nvSpPr>
          <p:cNvPr id="8" name="s10-body-8">
            <a:extLst xmlns:a="http://schemas.openxmlformats.org/drawingml/2006/main">
              <a:ext uri="{FF2B5EF4-FFF2-40B4-BE49-F238E27FC236}">
                <a16:creationId xmlns:a16="http://schemas.microsoft.com/office/drawing/2014/main" id="{A8D3D18A-7093-40F0-A2B8-1019EF582293}"/>
              </a:ext>
            </a:extLst>
          </p:cNvPr>
          <p:cNvSpPr>
            <a:spLocks xmlns:a="http://schemas.openxmlformats.org/drawingml/2006/main" noGrp="1"/>
          </p:cNvSpPr>
          <p:nvPr/>
        </p:nvSpPr>
        <p:spPr>
          <a:xfrm xmlns:a="http://schemas.openxmlformats.org/drawingml/2006/main">
            <a:off x="4403408" y="2714625"/>
            <a:ext cx="327479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SEP 2025</a:t>
            </a:r>
          </a:p>
        </p:txBody>
      </p:sp>
      <p:sp>
        <p:nvSpPr>
          <p:cNvPr id="9" name="s10-rect-9">
            <a:extLst xmlns:a="http://schemas.openxmlformats.org/drawingml/2006/main">
              <a:ext uri="{FF2B5EF4-FFF2-40B4-BE49-F238E27FC236}">
                <a16:creationId xmlns:a16="http://schemas.microsoft.com/office/drawing/2014/main" id="{C644AFE4-5F9F-4AD2-B05E-08278F43FE02}"/>
              </a:ext>
            </a:extLst>
          </p:cNvPr>
          <p:cNvSpPr>
            <a:spLocks xmlns:a="http://schemas.openxmlformats.org/drawingml/2006/main" noGrp="1"/>
          </p:cNvSpPr>
          <p:nvPr/>
        </p:nvSpPr>
        <p:spPr>
          <a:xfrm xmlns:a="http://schemas.openxmlformats.org/drawingml/2006/main">
            <a:off x="4403408" y="3114675"/>
            <a:ext cx="110395" cy="1143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0" name="s10-body-10">
            <a:extLst xmlns:a="http://schemas.openxmlformats.org/drawingml/2006/main">
              <a:ext uri="{FF2B5EF4-FFF2-40B4-BE49-F238E27FC236}">
                <a16:creationId xmlns:a16="http://schemas.microsoft.com/office/drawing/2014/main" id="{A0D9554A-0D15-4486-849E-056257490D87}"/>
              </a:ext>
            </a:extLst>
          </p:cNvPr>
          <p:cNvSpPr>
            <a:spLocks xmlns:a="http://schemas.openxmlformats.org/drawingml/2006/main" noGrp="1"/>
          </p:cNvSpPr>
          <p:nvPr/>
        </p:nvSpPr>
        <p:spPr>
          <a:xfrm xmlns:a="http://schemas.openxmlformats.org/drawingml/2006/main">
            <a:off x="4403408" y="3381375"/>
            <a:ext cx="324716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Subject groups and workflows</a:t>
            </a:r>
          </a:p>
        </p:txBody>
      </p:sp>
      <p:sp>
        <p:nvSpPr>
          <p:cNvPr id="11" name="s10-body-11">
            <a:extLst xmlns:a="http://schemas.openxmlformats.org/drawingml/2006/main">
              <a:ext uri="{FF2B5EF4-FFF2-40B4-BE49-F238E27FC236}">
                <a16:creationId xmlns:a16="http://schemas.microsoft.com/office/drawing/2014/main" id="{1389DD0F-7A34-478F-A0ED-F776802704A0}"/>
              </a:ext>
            </a:extLst>
          </p:cNvPr>
          <p:cNvSpPr>
            <a:spLocks xmlns:a="http://schemas.openxmlformats.org/drawingml/2006/main" noGrp="1"/>
          </p:cNvSpPr>
          <p:nvPr/>
        </p:nvSpPr>
        <p:spPr>
          <a:xfrm xmlns:a="http://schemas.openxmlformats.org/drawingml/2006/main">
            <a:off x="8082915" y="2714625"/>
            <a:ext cx="327479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APR 2026</a:t>
            </a:r>
          </a:p>
        </p:txBody>
      </p:sp>
      <p:sp>
        <p:nvSpPr>
          <p:cNvPr id="12" name="s10-rect-12">
            <a:extLst xmlns:a="http://schemas.openxmlformats.org/drawingml/2006/main">
              <a:ext uri="{FF2B5EF4-FFF2-40B4-BE49-F238E27FC236}">
                <a16:creationId xmlns:a16="http://schemas.microsoft.com/office/drawing/2014/main" id="{052DE174-F1BC-4213-88C0-12D227538159}"/>
              </a:ext>
            </a:extLst>
          </p:cNvPr>
          <p:cNvSpPr>
            <a:spLocks xmlns:a="http://schemas.openxmlformats.org/drawingml/2006/main" noGrp="1"/>
          </p:cNvSpPr>
          <p:nvPr/>
        </p:nvSpPr>
        <p:spPr>
          <a:xfrm xmlns:a="http://schemas.openxmlformats.org/drawingml/2006/main">
            <a:off x="8082915" y="3114675"/>
            <a:ext cx="110395" cy="1143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3" name="s10-body-13">
            <a:extLst xmlns:a="http://schemas.openxmlformats.org/drawingml/2006/main">
              <a:ext uri="{FF2B5EF4-FFF2-40B4-BE49-F238E27FC236}">
                <a16:creationId xmlns:a16="http://schemas.microsoft.com/office/drawing/2014/main" id="{87EF619F-D983-47CB-AC03-5FCFC1D7A93E}"/>
              </a:ext>
            </a:extLst>
          </p:cNvPr>
          <p:cNvSpPr>
            <a:spLocks xmlns:a="http://schemas.openxmlformats.org/drawingml/2006/main" noGrp="1"/>
          </p:cNvSpPr>
          <p:nvPr/>
        </p:nvSpPr>
        <p:spPr>
          <a:xfrm xmlns:a="http://schemas.openxmlformats.org/drawingml/2006/main">
            <a:off x="8082915" y="3381375"/>
            <a:ext cx="324716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FFFFFF"/>
                </a:solidFill>
                <a:latin typeface="Arial"/>
                <a:ea typeface="Arial"/>
                <a:cs typeface="Arial"/>
              </a:defRPr>
            </a:pPr>
            <a:r>
              <a:rPr sz="1958" b="1">
                <a:solidFill>
                  <a:srgbClr val="FFFFFF"/>
                </a:solidFill>
                <a:latin typeface="Arial"/>
                <a:ea typeface="Arial"/>
                <a:cs typeface="Arial"/>
              </a:rPr>
              <a:t>Deeper study of teacher learning</a:t>
            </a:r>
          </a:p>
        </p:txBody>
      </p:sp>
      <p:sp>
        <p:nvSpPr>
          <p:cNvPr id="14" name="s10-body-14">
            <a:extLst xmlns:a="http://schemas.openxmlformats.org/drawingml/2006/main">
              <a:ext uri="{FF2B5EF4-FFF2-40B4-BE49-F238E27FC236}">
                <a16:creationId xmlns:a16="http://schemas.microsoft.com/office/drawing/2014/main" id="{6A3EB60E-901E-4EB6-B87A-0244A0337A64}"/>
              </a:ext>
            </a:extLst>
          </p:cNvPr>
          <p:cNvSpPr>
            <a:spLocks xmlns:a="http://schemas.openxmlformats.org/drawingml/2006/main" noGrp="1"/>
          </p:cNvSpPr>
          <p:nvPr/>
        </p:nvSpPr>
        <p:spPr>
          <a:xfrm xmlns:a="http://schemas.openxmlformats.org/drawingml/2006/main">
            <a:off x="723900" y="4276725"/>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688" b="0">
                <a:solidFill>
                  <a:srgbClr val="BED0DD"/>
                </a:solidFill>
                <a:latin typeface="Arial"/>
                <a:ea typeface="Arial"/>
                <a:cs typeface="Arial"/>
              </a:defRPr>
            </a:pPr>
            <a:r>
              <a:rPr sz="1688" b="0">
                <a:solidFill>
                  <a:srgbClr val="BED0DD"/>
                </a:solidFill>
                <a:latin typeface="Arial"/>
                <a:ea typeface="Arial"/>
                <a:cs typeface="Arial"/>
              </a:rPr>
              <a:t>Evidence: designs, revisions, platform use, surveys and interviews.</a:t>
            </a:r>
          </a:p>
        </p:txBody>
      </p:sp>
      <p:sp>
        <p:nvSpPr>
          <p:cNvPr id="15" name="s10-body-15">
            <a:extLst xmlns:a="http://schemas.openxmlformats.org/drawingml/2006/main">
              <a:ext uri="{FF2B5EF4-FFF2-40B4-BE49-F238E27FC236}">
                <a16:creationId xmlns:a16="http://schemas.microsoft.com/office/drawing/2014/main" id="{C6DA2564-FB54-4447-8A9D-85246B5AEB27}"/>
              </a:ext>
            </a:extLst>
          </p:cNvPr>
          <p:cNvSpPr>
            <a:spLocks xmlns:a="http://schemas.openxmlformats.org/drawingml/2006/main" noGrp="1"/>
          </p:cNvSpPr>
          <p:nvPr/>
        </p:nvSpPr>
        <p:spPr>
          <a:xfrm xmlns:a="http://schemas.openxmlformats.org/drawingml/2006/main">
            <a:off x="723900" y="4914900"/>
            <a:ext cx="60436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160" b="1">
                <a:solidFill>
                  <a:srgbClr val="64D2C4"/>
                </a:solidFill>
                <a:latin typeface="Arial"/>
                <a:ea typeface="Arial"/>
                <a:cs typeface="Arial"/>
              </a:defRPr>
            </a:pPr>
            <a:r>
              <a:rPr sz="2160" b="1">
                <a:solidFill>
                  <a:srgbClr val="64D2C4"/>
                </a:solidFill>
                <a:latin typeface="Arial"/>
                <a:ea typeface="Arial"/>
                <a:cs typeface="Arial"/>
              </a:rPr>
              <a:t>4 accepted conference papers</a:t>
            </a:r>
          </a:p>
        </p:txBody>
      </p:sp>
      <p:sp>
        <p:nvSpPr>
          <p:cNvPr id="16" name="s10-body-16">
            <a:extLst xmlns:a="http://schemas.openxmlformats.org/drawingml/2006/main">
              <a:ext uri="{FF2B5EF4-FFF2-40B4-BE49-F238E27FC236}">
                <a16:creationId xmlns:a16="http://schemas.microsoft.com/office/drawing/2014/main" id="{45EB851A-684E-427D-B47F-6429E94C6BC7}"/>
              </a:ext>
            </a:extLst>
          </p:cNvPr>
          <p:cNvSpPr>
            <a:spLocks xmlns:a="http://schemas.openxmlformats.org/drawingml/2006/main" noGrp="1"/>
          </p:cNvSpPr>
          <p:nvPr/>
        </p:nvSpPr>
        <p:spPr>
          <a:xfrm xmlns:a="http://schemas.openxmlformats.org/drawingml/2006/main">
            <a:off x="723900" y="5362575"/>
            <a:ext cx="6043613"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FFFFFF"/>
                </a:solidFill>
                <a:latin typeface="Arial"/>
                <a:ea typeface="Arial"/>
                <a:cs typeface="Arial"/>
              </a:defRPr>
            </a:pPr>
            <a:r>
              <a:rPr sz="1755" b="0">
                <a:solidFill>
                  <a:srgbClr val="FFFFFF"/>
                </a:solidFill>
                <a:latin typeface="Arial"/>
                <a:ea typeface="Arial"/>
                <a:cs typeface="Arial"/>
              </a:rPr>
              <a:t>AERA 2026: 2 · ISLS 2026: 2</a:t>
            </a:r>
          </a:p>
        </p:txBody>
      </p:sp>
      <p:sp>
        <p:nvSpPr>
          <p:cNvPr id="17" name="s10-body-17">
            <a:extLst xmlns:a="http://schemas.openxmlformats.org/drawingml/2006/main">
              <a:ext uri="{FF2B5EF4-FFF2-40B4-BE49-F238E27FC236}">
                <a16:creationId xmlns:a16="http://schemas.microsoft.com/office/drawing/2014/main" id="{BD3AFED3-626D-4420-9884-26AC0A20C8B2}"/>
              </a:ext>
            </a:extLst>
          </p:cNvPr>
          <p:cNvSpPr>
            <a:spLocks xmlns:a="http://schemas.openxmlformats.org/drawingml/2006/main" noGrp="1"/>
          </p:cNvSpPr>
          <p:nvPr/>
        </p:nvSpPr>
        <p:spPr>
          <a:xfrm xmlns:a="http://schemas.openxmlformats.org/drawingml/2006/main">
            <a:off x="7080314" y="4914900"/>
            <a:ext cx="4387787"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64D2C4"/>
                </a:solidFill>
                <a:latin typeface="Arial"/>
                <a:ea typeface="Arial"/>
                <a:cs typeface="Arial"/>
              </a:defRPr>
            </a:pPr>
            <a:r>
              <a:rPr sz="1890" b="1">
                <a:solidFill>
                  <a:srgbClr val="64D2C4"/>
                </a:solidFill>
                <a:latin typeface="Arial"/>
                <a:ea typeface="Arial"/>
                <a:cs typeface="Arial"/>
              </a:rPr>
              <a:t>Ongoing journal work</a:t>
            </a:r>
          </a:p>
        </p:txBody>
      </p:sp>
      <p:sp>
        <p:nvSpPr>
          <p:cNvPr id="18" name="s10-body-18">
            <a:extLst xmlns:a="http://schemas.openxmlformats.org/drawingml/2006/main">
              <a:ext uri="{FF2B5EF4-FFF2-40B4-BE49-F238E27FC236}">
                <a16:creationId xmlns:a16="http://schemas.microsoft.com/office/drawing/2014/main" id="{1E1DEA4D-5D58-4E90-940E-9E04A293AA59}"/>
              </a:ext>
            </a:extLst>
          </p:cNvPr>
          <p:cNvSpPr>
            <a:spLocks xmlns:a="http://schemas.openxmlformats.org/drawingml/2006/main" noGrp="1"/>
          </p:cNvSpPr>
          <p:nvPr/>
        </p:nvSpPr>
        <p:spPr>
          <a:xfrm xmlns:a="http://schemas.openxmlformats.org/drawingml/2006/main">
            <a:off x="7080314" y="5362575"/>
            <a:ext cx="4387787"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FFFFFF"/>
                </a:solidFill>
                <a:latin typeface="Arial"/>
                <a:ea typeface="Arial"/>
                <a:cs typeface="Arial"/>
              </a:defRPr>
            </a:pPr>
            <a:r>
              <a:rPr sz="1755" b="0">
                <a:solidFill>
                  <a:srgbClr val="FFFFFF"/>
                </a:solidFill>
                <a:latin typeface="Arial"/>
                <a:ea typeface="Arial"/>
                <a:cs typeface="Arial"/>
              </a:rPr>
              <a:t>Boundary Learning synthesis</a:t>
            </a:r>
          </a:p>
        </p:txBody>
      </p:sp>
      <p:sp>
        <p:nvSpPr>
          <p:cNvPr id="19" name="s10-rect-19">
            <a:extLst xmlns:a="http://schemas.openxmlformats.org/drawingml/2006/main">
              <a:ext uri="{FF2B5EF4-FFF2-40B4-BE49-F238E27FC236}">
                <a16:creationId xmlns:a16="http://schemas.microsoft.com/office/drawing/2014/main" id="{52309E72-FC84-4558-9E97-5FC03A02D8F5}"/>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20" name="s10-takeaway-20">
            <a:extLst xmlns:a="http://schemas.openxmlformats.org/drawingml/2006/main">
              <a:ext uri="{FF2B5EF4-FFF2-40B4-BE49-F238E27FC236}">
                <a16:creationId xmlns:a16="http://schemas.microsoft.com/office/drawing/2014/main" id="{9306C88E-1C25-4C30-802B-837968E926F3}"/>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FFFFFF"/>
                </a:solidFill>
                <a:latin typeface="Arial"/>
                <a:ea typeface="Arial"/>
                <a:cs typeface="Arial"/>
              </a:defRPr>
            </a:pPr>
            <a:r>
              <a:rPr sz="1725" b="1">
                <a:solidFill>
                  <a:srgbClr val="FFFFFF"/>
                </a:solidFill>
                <a:latin typeface="Arial"/>
                <a:ea typeface="Arial"/>
                <a:cs typeface="Arial"/>
              </a:rPr>
              <a:t>Each round informed the next. Research returns to practice.</a:t>
            </a:r>
          </a:p>
        </p:txBody>
      </p:sp>
      <p:sp>
        <p:nvSpPr>
          <p:cNvPr id="21" name="s10-offline-meta-21">
            <a:extLst xmlns:a="http://schemas.openxmlformats.org/drawingml/2006/main">
              <a:ext uri="{FF2B5EF4-FFF2-40B4-BE49-F238E27FC236}">
                <a16:creationId xmlns:a16="http://schemas.microsoft.com/office/drawing/2014/main" id="{C283424D-BD31-4E60-9D63-2BEABCDD9C30}"/>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22" name="s10-offline-meta-22">
            <a:extLst xmlns:a="http://schemas.openxmlformats.org/drawingml/2006/main">
              <a:ext uri="{FF2B5EF4-FFF2-40B4-BE49-F238E27FC236}">
                <a16:creationId xmlns:a16="http://schemas.microsoft.com/office/drawing/2014/main" id="{9F5982D5-66A4-4B62-A587-35EAF1B55C23}"/>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10 / 17</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5943ee789ac456a"/>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771375899"/>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s11-kicker-1">
            <a:extLst xmlns:a="http://schemas.openxmlformats.org/drawingml/2006/main">
              <a:ext uri="{FF2B5EF4-FFF2-40B4-BE49-F238E27FC236}">
                <a16:creationId xmlns:a16="http://schemas.microsoft.com/office/drawing/2014/main" id="{ED825B5F-8509-4B44-9668-0291ABA19881}"/>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2 · RESEARCH / FINDING 1</a:t>
            </a:r>
          </a:p>
        </p:txBody>
      </p:sp>
      <p:sp>
        <p:nvSpPr>
          <p:cNvPr id="2" name="s11-title-2">
            <a:extLst xmlns:a="http://schemas.openxmlformats.org/drawingml/2006/main">
              <a:ext uri="{FF2B5EF4-FFF2-40B4-BE49-F238E27FC236}">
                <a16:creationId xmlns:a16="http://schemas.microsoft.com/office/drawing/2014/main" id="{C5367C07-B47C-45E0-BB11-BAF82B78DE8D}"/>
              </a:ext>
            </a:extLst>
          </p:cNvPr>
          <p:cNvSpPr>
            <a:spLocks xmlns:a="http://schemas.openxmlformats.org/drawingml/2006/main" noGrp="1"/>
          </p:cNvSpPr>
          <p:nvPr/>
        </p:nvSpPr>
        <p:spPr>
          <a:xfrm xmlns:a="http://schemas.openxmlformats.org/drawingml/2006/main">
            <a:off x="723900" y="904875"/>
            <a:ext cx="10302621"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338" b="1">
                <a:solidFill>
                  <a:srgbClr val="142D43"/>
                </a:solidFill>
                <a:latin typeface="Arial"/>
                <a:ea typeface="Arial"/>
                <a:cs typeface="Arial"/>
              </a:defRPr>
            </a:pPr>
            <a:r>
              <a:rPr sz="3338" b="1">
                <a:solidFill>
                  <a:srgbClr val="142D43"/>
                </a:solidFill>
                <a:latin typeface="Arial"/>
                <a:ea typeface="Arial"/>
                <a:cs typeface="Arial"/>
              </a:rPr>
              <a:t>Building agents makes</a:t>
            </a:r>
          </a:p>
          <a:p xmlns:a="http://schemas.openxmlformats.org/drawingml/2006/main">
            <a:pPr algn="l">
              <a:lnSpc>
                <a:spcPct val="106000"/>
              </a:lnSpc>
              <a:buNone/>
              <a:defRPr sz="3338" b="1">
                <a:solidFill>
                  <a:srgbClr val="142D43"/>
                </a:solidFill>
                <a:latin typeface="Arial"/>
                <a:ea typeface="Arial"/>
                <a:cs typeface="Arial"/>
              </a:defRPr>
            </a:pPr>
            <a:r>
              <a:rPr sz="3338" b="1">
                <a:solidFill>
                  <a:srgbClr val="142D43"/>
                </a:solidFill>
                <a:latin typeface="Arial"/>
                <a:ea typeface="Arial"/>
                <a:cs typeface="Arial"/>
              </a:rPr>
              <a:t>teaching choices visible</a:t>
            </a:r>
          </a:p>
        </p:txBody>
      </p:sp>
      <p:sp>
        <p:nvSpPr>
          <p:cNvPr id="3" name="s11-body-3">
            <a:extLst xmlns:a="http://schemas.openxmlformats.org/drawingml/2006/main">
              <a:ext uri="{FF2B5EF4-FFF2-40B4-BE49-F238E27FC236}">
                <a16:creationId xmlns:a16="http://schemas.microsoft.com/office/drawing/2014/main" id="{5170C8CB-760A-4926-ABD0-377B079E0013}"/>
              </a:ext>
            </a:extLst>
          </p:cNvPr>
          <p:cNvSpPr>
            <a:spLocks xmlns:a="http://schemas.openxmlformats.org/drawingml/2006/main" noGrp="1"/>
          </p:cNvSpPr>
          <p:nvPr/>
        </p:nvSpPr>
        <p:spPr>
          <a:xfrm xmlns:a="http://schemas.openxmlformats.org/drawingml/2006/main">
            <a:off x="723900" y="2124075"/>
            <a:ext cx="10744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0">
                <a:solidFill>
                  <a:srgbClr val="566C7E"/>
                </a:solidFill>
                <a:latin typeface="Arial"/>
                <a:ea typeface="Arial"/>
                <a:cs typeface="Arial"/>
              </a:defRPr>
            </a:pPr>
            <a:r>
              <a:rPr sz="1958" b="0">
                <a:solidFill>
                  <a:srgbClr val="566C7E"/>
                </a:solidFill>
                <a:latin typeface="Arial"/>
                <a:ea typeface="Arial"/>
                <a:cs typeface="Arial"/>
              </a:rPr>
              <a:t>A teaching idea becomes a design that can be tested and changed.</a:t>
            </a:r>
          </a:p>
        </p:txBody>
      </p:sp>
      <p:sp>
        <p:nvSpPr>
          <p:cNvPr id="4" name="s11-subheading-4">
            <a:extLst xmlns:a="http://schemas.openxmlformats.org/drawingml/2006/main">
              <a:ext uri="{FF2B5EF4-FFF2-40B4-BE49-F238E27FC236}">
                <a16:creationId xmlns:a16="http://schemas.microsoft.com/office/drawing/2014/main" id="{F46CEA84-D59A-4F39-B892-D4B88604D3F6}"/>
              </a:ext>
            </a:extLst>
          </p:cNvPr>
          <p:cNvSpPr>
            <a:spLocks xmlns:a="http://schemas.openxmlformats.org/drawingml/2006/main" noGrp="1"/>
          </p:cNvSpPr>
          <p:nvPr/>
        </p:nvSpPr>
        <p:spPr>
          <a:xfrm xmlns:a="http://schemas.openxmlformats.org/drawingml/2006/main">
            <a:off x="723900" y="3038475"/>
            <a:ext cx="481098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Make choices clear</a:t>
            </a:r>
          </a:p>
        </p:txBody>
      </p:sp>
      <p:sp>
        <p:nvSpPr>
          <p:cNvPr id="5" name="s11-body-5">
            <a:extLst xmlns:a="http://schemas.openxmlformats.org/drawingml/2006/main">
              <a:ext uri="{FF2B5EF4-FFF2-40B4-BE49-F238E27FC236}">
                <a16:creationId xmlns:a16="http://schemas.microsoft.com/office/drawing/2014/main" id="{54741B69-CBC8-48EF-8688-4C02505BF443}"/>
              </a:ext>
            </a:extLst>
          </p:cNvPr>
          <p:cNvSpPr>
            <a:spLocks xmlns:a="http://schemas.openxmlformats.org/drawingml/2006/main" noGrp="1"/>
          </p:cNvSpPr>
          <p:nvPr/>
        </p:nvSpPr>
        <p:spPr>
          <a:xfrm xmlns:a="http://schemas.openxmlformats.org/drawingml/2006/main">
            <a:off x="723900" y="3467100"/>
            <a:ext cx="4810982"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What should the agent do? What should the student do?</a:t>
            </a:r>
          </a:p>
        </p:txBody>
      </p:sp>
      <p:sp>
        <p:nvSpPr>
          <p:cNvPr id="6" name="s11-subheading-6">
            <a:extLst xmlns:a="http://schemas.openxmlformats.org/drawingml/2006/main">
              <a:ext uri="{FF2B5EF4-FFF2-40B4-BE49-F238E27FC236}">
                <a16:creationId xmlns:a16="http://schemas.microsoft.com/office/drawing/2014/main" id="{8891D785-BE65-41DD-AFBA-8DCB150FEFE3}"/>
              </a:ext>
            </a:extLst>
          </p:cNvPr>
          <p:cNvSpPr>
            <a:spLocks xmlns:a="http://schemas.openxmlformats.org/drawingml/2006/main" noGrp="1"/>
          </p:cNvSpPr>
          <p:nvPr/>
        </p:nvSpPr>
        <p:spPr>
          <a:xfrm xmlns:a="http://schemas.openxmlformats.org/drawingml/2006/main">
            <a:off x="723900" y="4524375"/>
            <a:ext cx="481098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Learn through testing</a:t>
            </a:r>
          </a:p>
        </p:txBody>
      </p:sp>
      <p:sp>
        <p:nvSpPr>
          <p:cNvPr id="7" name="s11-body-7">
            <a:extLst xmlns:a="http://schemas.openxmlformats.org/drawingml/2006/main">
              <a:ext uri="{FF2B5EF4-FFF2-40B4-BE49-F238E27FC236}">
                <a16:creationId xmlns:a16="http://schemas.microsoft.com/office/drawing/2014/main" id="{E200420D-9327-4FC8-8641-C6944574E924}"/>
              </a:ext>
            </a:extLst>
          </p:cNvPr>
          <p:cNvSpPr>
            <a:spLocks xmlns:a="http://schemas.openxmlformats.org/drawingml/2006/main" noGrp="1"/>
          </p:cNvSpPr>
          <p:nvPr/>
        </p:nvSpPr>
        <p:spPr>
          <a:xfrm xmlns:a="http://schemas.openxmlformats.org/drawingml/2006/main">
            <a:off x="723900" y="4943475"/>
            <a:ext cx="4810982"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Test it. Discuss what happens. Improve it.</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e976775dd1941ec"/>
          <a:stretch xmlns:a="http://schemas.openxmlformats.org/drawingml/2006/main"/>
        </p:blipFill>
        <p:spPr>
          <a:xfrm xmlns:a="http://schemas.openxmlformats.org/drawingml/2006/main">
            <a:off x="6031611" y="2952750"/>
            <a:ext cx="5291519" cy="2531459"/>
          </a:xfrm>
          <a:prstGeom xmlns:a="http://schemas.openxmlformats.org/drawingml/2006/main" prst="rect">
            <a:avLst/>
          </a:prstGeom>
        </p:spPr>
      </p:pic>
      <p:sp>
        <p:nvSpPr>
          <p:cNvPr id="9" name="s11-caption-9">
            <a:extLst xmlns:a="http://schemas.openxmlformats.org/drawingml/2006/main">
              <a:ext uri="{FF2B5EF4-FFF2-40B4-BE49-F238E27FC236}">
                <a16:creationId xmlns:a16="http://schemas.microsoft.com/office/drawing/2014/main" id="{E745AFF5-CEDA-49E5-AD4D-0A7D1C40690C}"/>
              </a:ext>
            </a:extLst>
          </p:cNvPr>
          <p:cNvSpPr>
            <a:spLocks xmlns:a="http://schemas.openxmlformats.org/drawingml/2006/main" noGrp="1"/>
          </p:cNvSpPr>
          <p:nvPr/>
        </p:nvSpPr>
        <p:spPr>
          <a:xfrm xmlns:a="http://schemas.openxmlformats.org/drawingml/2006/main">
            <a:off x="6031611" y="5598509"/>
            <a:ext cx="543648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Teacher-made application · city contest example</a:t>
            </a:r>
          </a:p>
        </p:txBody>
      </p:sp>
      <p:sp>
        <p:nvSpPr>
          <p:cNvPr id="10" name="s11-rect-10">
            <a:extLst xmlns:a="http://schemas.openxmlformats.org/drawingml/2006/main">
              <a:ext uri="{FF2B5EF4-FFF2-40B4-BE49-F238E27FC236}">
                <a16:creationId xmlns:a16="http://schemas.microsoft.com/office/drawing/2014/main" id="{7A7C4957-7040-435A-AD24-3244EE66E5CE}"/>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1" name="s11-takeaway-11">
            <a:extLst xmlns:a="http://schemas.openxmlformats.org/drawingml/2006/main">
              <a:ext uri="{FF2B5EF4-FFF2-40B4-BE49-F238E27FC236}">
                <a16:creationId xmlns:a16="http://schemas.microsoft.com/office/drawing/2014/main" id="{2499C464-5B99-4881-A715-F2D0326C35D7}"/>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Look at what teachers build and revise, as well as what they report.</a:t>
            </a:r>
          </a:p>
        </p:txBody>
      </p:sp>
      <p:sp>
        <p:nvSpPr>
          <p:cNvPr id="12" name="s11-offline-meta-12">
            <a:extLst xmlns:a="http://schemas.openxmlformats.org/drawingml/2006/main">
              <a:ext uri="{FF2B5EF4-FFF2-40B4-BE49-F238E27FC236}">
                <a16:creationId xmlns:a16="http://schemas.microsoft.com/office/drawing/2014/main" id="{EC78D74B-59A7-47BF-BB65-64EAA9B0FD72}"/>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3" name="s11-offline-meta-13">
            <a:extLst xmlns:a="http://schemas.openxmlformats.org/drawingml/2006/main">
              <a:ext uri="{FF2B5EF4-FFF2-40B4-BE49-F238E27FC236}">
                <a16:creationId xmlns:a16="http://schemas.microsoft.com/office/drawing/2014/main" id="{FED88EF9-EF1E-40D3-A6AE-27F5F6CE3948}"/>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11 / 17</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b7720f546cd4d2f"/>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98087656"/>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s12-kicker-1">
            <a:extLst xmlns:a="http://schemas.openxmlformats.org/drawingml/2006/main">
              <a:ext uri="{FF2B5EF4-FFF2-40B4-BE49-F238E27FC236}">
                <a16:creationId xmlns:a16="http://schemas.microsoft.com/office/drawing/2014/main" id="{C4D7E9D4-2F53-440C-8C1F-F0EF649DFBC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2 · RESEARCH / FINDING 2</a:t>
            </a:r>
          </a:p>
        </p:txBody>
      </p:sp>
      <p:sp>
        <p:nvSpPr>
          <p:cNvPr id="2" name="s12-title-2">
            <a:extLst xmlns:a="http://schemas.openxmlformats.org/drawingml/2006/main">
              <a:ext uri="{FF2B5EF4-FFF2-40B4-BE49-F238E27FC236}">
                <a16:creationId xmlns:a16="http://schemas.microsoft.com/office/drawing/2014/main" id="{D796EC4F-23EB-4100-9C40-9B9BB7731465}"/>
              </a:ext>
            </a:extLst>
          </p:cNvPr>
          <p:cNvSpPr>
            <a:spLocks xmlns:a="http://schemas.openxmlformats.org/drawingml/2006/main" noGrp="1"/>
          </p:cNvSpPr>
          <p:nvPr/>
        </p:nvSpPr>
        <p:spPr>
          <a:xfrm xmlns:a="http://schemas.openxmlformats.org/drawingml/2006/main">
            <a:off x="723900" y="904875"/>
            <a:ext cx="9842754"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405" b="1">
                <a:solidFill>
                  <a:srgbClr val="142D43"/>
                </a:solidFill>
                <a:latin typeface="Arial"/>
                <a:ea typeface="Arial"/>
                <a:cs typeface="Arial"/>
              </a:defRPr>
            </a:pPr>
            <a:r>
              <a:rPr sz="3405" b="1">
                <a:solidFill>
                  <a:srgbClr val="142D43"/>
                </a:solidFill>
                <a:latin typeface="Arial"/>
                <a:ea typeface="Arial"/>
                <a:cs typeface="Arial"/>
              </a:rPr>
              <a:t>Teachers need support</a:t>
            </a:r>
          </a:p>
          <a:p xmlns:a="http://schemas.openxmlformats.org/drawingml/2006/main">
            <a:pPr algn="l">
              <a:lnSpc>
                <a:spcPct val="106000"/>
              </a:lnSpc>
              <a:buNone/>
              <a:defRPr sz="3405" b="1">
                <a:solidFill>
                  <a:srgbClr val="142D43"/>
                </a:solidFill>
                <a:latin typeface="Arial"/>
                <a:ea typeface="Arial"/>
                <a:cs typeface="Arial"/>
              </a:defRPr>
            </a:pPr>
            <a:r>
              <a:rPr sz="3405" b="1">
                <a:solidFill>
                  <a:srgbClr val="142D43"/>
                </a:solidFill>
                <a:latin typeface="Arial"/>
                <a:ea typeface="Arial"/>
                <a:cs typeface="Arial"/>
              </a:rPr>
              <a:t>to keep creating</a:t>
            </a:r>
          </a:p>
        </p:txBody>
      </p:sp>
      <p:sp>
        <p:nvSpPr>
          <p:cNvPr id="3" name="s12-subheading-3">
            <a:extLst xmlns:a="http://schemas.openxmlformats.org/drawingml/2006/main">
              <a:ext uri="{FF2B5EF4-FFF2-40B4-BE49-F238E27FC236}">
                <a16:creationId xmlns:a16="http://schemas.microsoft.com/office/drawing/2014/main" id="{D383E30D-5BDE-4796-A4D8-C39EB416EE2B}"/>
              </a:ext>
            </a:extLst>
          </p:cNvPr>
          <p:cNvSpPr>
            <a:spLocks xmlns:a="http://schemas.openxmlformats.org/drawingml/2006/main" noGrp="1"/>
          </p:cNvSpPr>
          <p:nvPr/>
        </p:nvSpPr>
        <p:spPr>
          <a:xfrm xmlns:a="http://schemas.openxmlformats.org/drawingml/2006/main">
            <a:off x="6693884" y="2428875"/>
            <a:ext cx="4774216"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Some create and revise</a:t>
            </a:r>
          </a:p>
        </p:txBody>
      </p:sp>
      <p:sp>
        <p:nvSpPr>
          <p:cNvPr id="4" name="s12-body-4">
            <a:extLst xmlns:a="http://schemas.openxmlformats.org/drawingml/2006/main">
              <a:ext uri="{FF2B5EF4-FFF2-40B4-BE49-F238E27FC236}">
                <a16:creationId xmlns:a16="http://schemas.microsoft.com/office/drawing/2014/main" id="{D6D50BEC-334A-447E-96B7-14DC754D533F}"/>
              </a:ext>
            </a:extLst>
          </p:cNvPr>
          <p:cNvSpPr>
            <a:spLocks xmlns:a="http://schemas.openxmlformats.org/drawingml/2006/main" noGrp="1"/>
          </p:cNvSpPr>
          <p:nvPr/>
        </p:nvSpPr>
        <p:spPr>
          <a:xfrm xmlns:a="http://schemas.openxmlformats.org/drawingml/2006/main">
            <a:off x="6693884" y="2905125"/>
            <a:ext cx="4774216"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0">
                <a:solidFill>
                  <a:srgbClr val="566C7E"/>
                </a:solidFill>
                <a:latin typeface="Arial"/>
                <a:ea typeface="Arial"/>
                <a:cs typeface="Arial"/>
              </a:defRPr>
            </a:pPr>
            <a:r>
              <a:rPr sz="1890" b="0">
                <a:solidFill>
                  <a:srgbClr val="566C7E"/>
                </a:solidFill>
                <a:latin typeface="Arial"/>
                <a:ea typeface="Arial"/>
                <a:cs typeface="Arial"/>
              </a:rPr>
              <a:t>Others explore. Some take little part.</a:t>
            </a:r>
          </a:p>
        </p:txBody>
      </p:sp>
      <p:sp>
        <p:nvSpPr>
          <p:cNvPr id="5" name="s12-subheading-5">
            <a:extLst xmlns:a="http://schemas.openxmlformats.org/drawingml/2006/main">
              <a:ext uri="{FF2B5EF4-FFF2-40B4-BE49-F238E27FC236}">
                <a16:creationId xmlns:a16="http://schemas.microsoft.com/office/drawing/2014/main" id="{7D611429-D5E2-4871-A6B9-09D3C9701BC3}"/>
              </a:ext>
            </a:extLst>
          </p:cNvPr>
          <p:cNvSpPr>
            <a:spLocks xmlns:a="http://schemas.openxmlformats.org/drawingml/2006/main" noGrp="1"/>
          </p:cNvSpPr>
          <p:nvPr/>
        </p:nvSpPr>
        <p:spPr>
          <a:xfrm xmlns:a="http://schemas.openxmlformats.org/drawingml/2006/main">
            <a:off x="6693884" y="4114800"/>
            <a:ext cx="4774216"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Training is only a start</a:t>
            </a:r>
          </a:p>
        </p:txBody>
      </p:sp>
      <p:sp>
        <p:nvSpPr>
          <p:cNvPr id="6" name="s12-body-6">
            <a:extLst xmlns:a="http://schemas.openxmlformats.org/drawingml/2006/main">
              <a:ext uri="{FF2B5EF4-FFF2-40B4-BE49-F238E27FC236}">
                <a16:creationId xmlns:a16="http://schemas.microsoft.com/office/drawing/2014/main" id="{7C610D1F-45A7-48EA-9C60-784560DBBD5F}"/>
              </a:ext>
            </a:extLst>
          </p:cNvPr>
          <p:cNvSpPr>
            <a:spLocks xmlns:a="http://schemas.openxmlformats.org/drawingml/2006/main" noGrp="1"/>
          </p:cNvSpPr>
          <p:nvPr/>
        </p:nvSpPr>
        <p:spPr>
          <a:xfrm xmlns:a="http://schemas.openxmlformats.org/drawingml/2006/main">
            <a:off x="6693884" y="4581525"/>
            <a:ext cx="4774216"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0">
                <a:solidFill>
                  <a:srgbClr val="566C7E"/>
                </a:solidFill>
                <a:latin typeface="Arial"/>
                <a:ea typeface="Arial"/>
                <a:cs typeface="Arial"/>
              </a:defRPr>
            </a:pPr>
            <a:r>
              <a:rPr sz="1890" b="0">
                <a:solidFill>
                  <a:srgbClr val="566C7E"/>
                </a:solidFill>
                <a:latin typeface="Arial"/>
                <a:ea typeface="Arial"/>
                <a:cs typeface="Arial"/>
              </a:rPr>
              <a:t>Choice, skills, belonging and</a:t>
            </a:r>
          </a:p>
          <a:p xmlns:a="http://schemas.openxmlformats.org/drawingml/2006/main">
            <a:pPr algn="l">
              <a:lnSpc>
                <a:spcPct val="126000"/>
              </a:lnSpc>
              <a:buNone/>
              <a:defRPr sz="1890" b="0">
                <a:solidFill>
                  <a:srgbClr val="566C7E"/>
                </a:solidFill>
                <a:latin typeface="Arial"/>
                <a:ea typeface="Arial"/>
                <a:cs typeface="Arial"/>
              </a:defRPr>
            </a:pPr>
            <a:r>
              <a:rPr sz="1890" b="0">
                <a:solidFill>
                  <a:srgbClr val="566C7E"/>
                </a:solidFill>
                <a:latin typeface="Arial"/>
                <a:ea typeface="Arial"/>
                <a:cs typeface="Arial"/>
              </a:rPr>
              <a:t>school support matter.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88cca34385c45c0"/>
          <a:srcRect xmlns:a="http://schemas.openxmlformats.org/drawingml/2006/main" l="7910" t="0" r="7910" b="0"/>
          <a:stretch xmlns:a="http://schemas.openxmlformats.org/drawingml/2006/main">
            <a:fillRect l="0" t="0" r="0" b="0"/>
          </a:stretch>
        </p:blipFill>
        <p:spPr>
          <a:xfrm xmlns:a="http://schemas.openxmlformats.org/drawingml/2006/main">
            <a:off x="723900" y="2371725"/>
            <a:ext cx="5262467" cy="3125724"/>
          </a:xfrm>
          <a:prstGeom xmlns:a="http://schemas.openxmlformats.org/drawingml/2006/main" prst="rect">
            <a:avLst/>
          </a:prstGeom>
        </p:spPr>
      </p:pic>
      <p:sp>
        <p:nvSpPr>
          <p:cNvPr id="8" name="s12-caption-8">
            <a:extLst xmlns:a="http://schemas.openxmlformats.org/drawingml/2006/main">
              <a:ext uri="{FF2B5EF4-FFF2-40B4-BE49-F238E27FC236}">
                <a16:creationId xmlns:a16="http://schemas.microsoft.com/office/drawing/2014/main" id="{E5BA3AF4-A4A3-4551-9316-4335691E3D1C}"/>
              </a:ext>
            </a:extLst>
          </p:cNvPr>
          <p:cNvSpPr>
            <a:spLocks xmlns:a="http://schemas.openxmlformats.org/drawingml/2006/main" noGrp="1"/>
          </p:cNvSpPr>
          <p:nvPr/>
        </p:nvSpPr>
        <p:spPr>
          <a:xfrm xmlns:a="http://schemas.openxmlformats.org/drawingml/2006/main">
            <a:off x="723900" y="5611749"/>
            <a:ext cx="600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566C7E"/>
                </a:solidFill>
                <a:latin typeface="Arial"/>
                <a:ea typeface="Arial"/>
                <a:cs typeface="Arial"/>
              </a:defRPr>
            </a:pPr>
            <a:r>
              <a:rPr sz="1275" b="0">
                <a:solidFill>
                  <a:srgbClr val="566C7E"/>
                </a:solidFill>
                <a:latin typeface="Arial"/>
                <a:ea typeface="Arial"/>
                <a:cs typeface="Arial"/>
              </a:rPr>
              <a:t>Teachers reviewing an English-assessment task · programme material</a:t>
            </a:r>
          </a:p>
        </p:txBody>
      </p:sp>
      <p:sp>
        <p:nvSpPr>
          <p:cNvPr id="9" name="s12-rect-9">
            <a:extLst xmlns:a="http://schemas.openxmlformats.org/drawingml/2006/main">
              <a:ext uri="{FF2B5EF4-FFF2-40B4-BE49-F238E27FC236}">
                <a16:creationId xmlns:a16="http://schemas.microsoft.com/office/drawing/2014/main" id="{2F4A2140-6405-4D09-B14D-18D2980B2BB6}"/>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0" name="s12-takeaway-10">
            <a:extLst xmlns:a="http://schemas.openxmlformats.org/drawingml/2006/main">
              <a:ext uri="{FF2B5EF4-FFF2-40B4-BE49-F238E27FC236}">
                <a16:creationId xmlns:a16="http://schemas.microsoft.com/office/drawing/2014/main" id="{F9584393-D769-46E9-9925-F4EF8502F5B4}"/>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Give teachers time, trusted peers and people they can turn to for help.</a:t>
            </a:r>
          </a:p>
        </p:txBody>
      </p:sp>
      <p:sp>
        <p:nvSpPr>
          <p:cNvPr id="11" name="s12-offline-meta-11">
            <a:extLst xmlns:a="http://schemas.openxmlformats.org/drawingml/2006/main">
              <a:ext uri="{FF2B5EF4-FFF2-40B4-BE49-F238E27FC236}">
                <a16:creationId xmlns:a16="http://schemas.microsoft.com/office/drawing/2014/main" id="{CC737157-311A-46B4-95D6-7AEE78D717C1}"/>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2" name="s12-offline-meta-12">
            <a:extLst xmlns:a="http://schemas.openxmlformats.org/drawingml/2006/main">
              <a:ext uri="{FF2B5EF4-FFF2-40B4-BE49-F238E27FC236}">
                <a16:creationId xmlns:a16="http://schemas.microsoft.com/office/drawing/2014/main" id="{E4A88EB1-E2C0-44C5-A9CB-7408668BBC4A}"/>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12 / 17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66e7ab690a746e7"/>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843865019"/>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s13-kicker-1">
            <a:extLst xmlns:a="http://schemas.openxmlformats.org/drawingml/2006/main">
              <a:ext uri="{FF2B5EF4-FFF2-40B4-BE49-F238E27FC236}">
                <a16:creationId xmlns:a16="http://schemas.microsoft.com/office/drawing/2014/main" id="{34EFD3F9-97F2-4CD9-ACAB-83F78EA3B255}"/>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2 · RESEARCH / A WORKING FRAMEWORK</a:t>
            </a:r>
          </a:p>
        </p:txBody>
      </p:sp>
      <p:sp>
        <p:nvSpPr>
          <p:cNvPr id="2" name="s13-title-2">
            <a:extLst xmlns:a="http://schemas.openxmlformats.org/drawingml/2006/main">
              <a:ext uri="{FF2B5EF4-FFF2-40B4-BE49-F238E27FC236}">
                <a16:creationId xmlns:a16="http://schemas.microsoft.com/office/drawing/2014/main" id="{DCBA1255-330A-4654-B3F9-AD071AD5A1BE}"/>
              </a:ext>
            </a:extLst>
          </p:cNvPr>
          <p:cNvSpPr>
            <a:spLocks xmlns:a="http://schemas.openxmlformats.org/drawingml/2006/main" noGrp="1"/>
          </p:cNvSpPr>
          <p:nvPr/>
        </p:nvSpPr>
        <p:spPr>
          <a:xfrm xmlns:a="http://schemas.openxmlformats.org/drawingml/2006/main">
            <a:off x="723900" y="904875"/>
            <a:ext cx="1021070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Boundary Learning:</a:t>
            </a:r>
          </a:p>
          <a:p xmlns:a="http://schemas.openxmlformats.org/drawingml/2006/main">
            <a:pPr algn="l">
              <a:lnSpc>
                <a:spcPct val="106000"/>
              </a:lnSpc>
              <a:buNone/>
              <a:defRPr sz="3270" b="1">
                <a:solidFill>
                  <a:srgbClr val="142D43"/>
                </a:solidFill>
                <a:latin typeface="Arial"/>
                <a:ea typeface="Arial"/>
                <a:cs typeface="Arial"/>
              </a:defRPr>
            </a:pPr>
            <a:r>
              <a:rPr sz="3270" b="1">
                <a:solidFill>
                  <a:srgbClr val="142D43"/>
                </a:solidFill>
                <a:latin typeface="Arial"/>
                <a:ea typeface="Arial"/>
                <a:cs typeface="Arial"/>
              </a:rPr>
              <a:t>deciding where AI belongs</a:t>
            </a:r>
          </a:p>
        </p:txBody>
      </p:sp>
      <p:sp>
        <p:nvSpPr>
          <p:cNvPr id="3" name="s13-body-3">
            <a:extLst xmlns:a="http://schemas.openxmlformats.org/drawingml/2006/main">
              <a:ext uri="{FF2B5EF4-FFF2-40B4-BE49-F238E27FC236}">
                <a16:creationId xmlns:a16="http://schemas.microsoft.com/office/drawing/2014/main" id="{7202739D-315B-4167-A6D6-09D3E9FFC8F0}"/>
              </a:ext>
            </a:extLst>
          </p:cNvPr>
          <p:cNvSpPr>
            <a:spLocks xmlns:a="http://schemas.openxmlformats.org/drawingml/2006/main" noGrp="1"/>
          </p:cNvSpPr>
          <p:nvPr/>
        </p:nvSpPr>
        <p:spPr>
          <a:xfrm xmlns:a="http://schemas.openxmlformats.org/drawingml/2006/main">
            <a:off x="723900" y="2143125"/>
            <a:ext cx="1057865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0">
                <a:solidFill>
                  <a:srgbClr val="566C7E"/>
                </a:solidFill>
                <a:latin typeface="Arial"/>
                <a:ea typeface="Arial"/>
                <a:cs typeface="Arial"/>
              </a:defRPr>
            </a:pPr>
            <a:r>
              <a:rPr sz="1958" b="0">
                <a:solidFill>
                  <a:srgbClr val="566C7E"/>
                </a:solidFill>
                <a:latin typeface="Arial"/>
                <a:ea typeface="Arial"/>
                <a:cs typeface="Arial"/>
              </a:rPr>
              <a:t>Teachers learn to decide when AI should help—and when it should step back.</a:t>
            </a:r>
          </a:p>
        </p:txBody>
      </p:sp>
      <p:sp>
        <p:nvSpPr>
          <p:cNvPr id="4" name="s13-metric-4">
            <a:extLst xmlns:a="http://schemas.openxmlformats.org/drawingml/2006/main">
              <a:ext uri="{FF2B5EF4-FFF2-40B4-BE49-F238E27FC236}">
                <a16:creationId xmlns:a16="http://schemas.microsoft.com/office/drawing/2014/main" id="{2A740E1C-3B9C-4956-938A-2F40C7798260}"/>
              </a:ext>
            </a:extLst>
          </p:cNvPr>
          <p:cNvSpPr>
            <a:spLocks xmlns:a="http://schemas.openxmlformats.org/drawingml/2006/main" noGrp="1"/>
          </p:cNvSpPr>
          <p:nvPr/>
        </p:nvSpPr>
        <p:spPr>
          <a:xfrm xmlns:a="http://schemas.openxmlformats.org/drawingml/2006/main">
            <a:off x="723900" y="3114675"/>
            <a:ext cx="58874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970" b="1">
                <a:solidFill>
                  <a:srgbClr val="175DA8"/>
                </a:solidFill>
                <a:latin typeface="Arial"/>
                <a:ea typeface="Arial"/>
                <a:cs typeface="Arial"/>
              </a:defRPr>
            </a:pPr>
            <a:r>
              <a:rPr sz="2970" b="1">
                <a:solidFill>
                  <a:srgbClr val="175DA8"/>
                </a:solidFill>
                <a:latin typeface="Arial"/>
                <a:ea typeface="Arial"/>
                <a:cs typeface="Arial"/>
              </a:rPr>
              <a:t>01</a:t>
            </a:r>
          </a:p>
        </p:txBody>
      </p:sp>
      <p:sp>
        <p:nvSpPr>
          <p:cNvPr id="5" name="s13-body-5">
            <a:extLst xmlns:a="http://schemas.openxmlformats.org/drawingml/2006/main">
              <a:ext uri="{FF2B5EF4-FFF2-40B4-BE49-F238E27FC236}">
                <a16:creationId xmlns:a16="http://schemas.microsoft.com/office/drawing/2014/main" id="{64E37F4F-9A41-4F23-8466-7C44562C0FC4}"/>
              </a:ext>
            </a:extLst>
          </p:cNvPr>
          <p:cNvSpPr>
            <a:spLocks xmlns:a="http://schemas.openxmlformats.org/drawingml/2006/main" noGrp="1"/>
          </p:cNvSpPr>
          <p:nvPr/>
        </p:nvSpPr>
        <p:spPr>
          <a:xfrm xmlns:a="http://schemas.openxmlformats.org/drawingml/2006/main">
            <a:off x="1514951" y="3114675"/>
            <a:ext cx="4323398"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Task</a:t>
            </a:r>
          </a:p>
        </p:txBody>
      </p:sp>
      <p:sp>
        <p:nvSpPr>
          <p:cNvPr id="6" name="s13-body-6">
            <a:extLst xmlns:a="http://schemas.openxmlformats.org/drawingml/2006/main">
              <a:ext uri="{FF2B5EF4-FFF2-40B4-BE49-F238E27FC236}">
                <a16:creationId xmlns:a16="http://schemas.microsoft.com/office/drawing/2014/main" id="{4A79CFEE-B76B-46B9-82E3-6AF669588A06}"/>
              </a:ext>
            </a:extLst>
          </p:cNvPr>
          <p:cNvSpPr>
            <a:spLocks xmlns:a="http://schemas.openxmlformats.org/drawingml/2006/main" noGrp="1"/>
          </p:cNvSpPr>
          <p:nvPr/>
        </p:nvSpPr>
        <p:spPr>
          <a:xfrm xmlns:a="http://schemas.openxmlformats.org/drawingml/2006/main">
            <a:off x="1514951" y="3533775"/>
            <a:ext cx="4277487"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Is this a good task for AI?</a:t>
            </a:r>
          </a:p>
        </p:txBody>
      </p:sp>
      <p:sp>
        <p:nvSpPr>
          <p:cNvPr id="7" name="s13-metric-7">
            <a:extLst xmlns:a="http://schemas.openxmlformats.org/drawingml/2006/main">
              <a:ext uri="{FF2B5EF4-FFF2-40B4-BE49-F238E27FC236}">
                <a16:creationId xmlns:a16="http://schemas.microsoft.com/office/drawing/2014/main" id="{54D72860-C951-4148-BDD1-774175FA8FC0}"/>
              </a:ext>
            </a:extLst>
          </p:cNvPr>
          <p:cNvSpPr>
            <a:spLocks xmlns:a="http://schemas.openxmlformats.org/drawingml/2006/main" noGrp="1"/>
          </p:cNvSpPr>
          <p:nvPr/>
        </p:nvSpPr>
        <p:spPr>
          <a:xfrm xmlns:a="http://schemas.openxmlformats.org/drawingml/2006/main">
            <a:off x="6307550" y="3114675"/>
            <a:ext cx="58874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970" b="1">
                <a:solidFill>
                  <a:srgbClr val="175DA8"/>
                </a:solidFill>
                <a:latin typeface="Arial"/>
                <a:ea typeface="Arial"/>
                <a:cs typeface="Arial"/>
              </a:defRPr>
            </a:pPr>
            <a:r>
              <a:rPr sz="2970" b="1">
                <a:solidFill>
                  <a:srgbClr val="175DA8"/>
                </a:solidFill>
                <a:latin typeface="Arial"/>
                <a:ea typeface="Arial"/>
                <a:cs typeface="Arial"/>
              </a:rPr>
              <a:t>02</a:t>
            </a:r>
          </a:p>
        </p:txBody>
      </p:sp>
      <p:sp>
        <p:nvSpPr>
          <p:cNvPr id="8" name="s13-body-8">
            <a:extLst xmlns:a="http://schemas.openxmlformats.org/drawingml/2006/main">
              <a:ext uri="{FF2B5EF4-FFF2-40B4-BE49-F238E27FC236}">
                <a16:creationId xmlns:a16="http://schemas.microsoft.com/office/drawing/2014/main" id="{3C9E04A1-1A29-47F7-8B6B-0C362CEC1918}"/>
              </a:ext>
            </a:extLst>
          </p:cNvPr>
          <p:cNvSpPr>
            <a:spLocks xmlns:a="http://schemas.openxmlformats.org/drawingml/2006/main" noGrp="1"/>
          </p:cNvSpPr>
          <p:nvPr/>
        </p:nvSpPr>
        <p:spPr>
          <a:xfrm xmlns:a="http://schemas.openxmlformats.org/drawingml/2006/main">
            <a:off x="7098697" y="3114675"/>
            <a:ext cx="4323398"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AI limits</a:t>
            </a:r>
          </a:p>
        </p:txBody>
      </p:sp>
      <p:sp>
        <p:nvSpPr>
          <p:cNvPr id="9" name="s13-body-9">
            <a:extLst xmlns:a="http://schemas.openxmlformats.org/drawingml/2006/main">
              <a:ext uri="{FF2B5EF4-FFF2-40B4-BE49-F238E27FC236}">
                <a16:creationId xmlns:a16="http://schemas.microsoft.com/office/drawing/2014/main" id="{805CE770-66FE-451C-A5F1-52C4E9B0F6AA}"/>
              </a:ext>
            </a:extLst>
          </p:cNvPr>
          <p:cNvSpPr>
            <a:spLocks xmlns:a="http://schemas.openxmlformats.org/drawingml/2006/main" noGrp="1"/>
          </p:cNvSpPr>
          <p:nvPr/>
        </p:nvSpPr>
        <p:spPr>
          <a:xfrm xmlns:a="http://schemas.openxmlformats.org/drawingml/2006/main">
            <a:off x="7098697" y="3533775"/>
            <a:ext cx="4277487"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Can it do the task well?</a:t>
            </a:r>
          </a:p>
        </p:txBody>
      </p:sp>
      <p:sp>
        <p:nvSpPr>
          <p:cNvPr id="10" name="s13-metric-10">
            <a:extLst xmlns:a="http://schemas.openxmlformats.org/drawingml/2006/main">
              <a:ext uri="{FF2B5EF4-FFF2-40B4-BE49-F238E27FC236}">
                <a16:creationId xmlns:a16="http://schemas.microsoft.com/office/drawing/2014/main" id="{E468E80B-3D5A-4D12-BF4D-00A3CB55A056}"/>
              </a:ext>
            </a:extLst>
          </p:cNvPr>
          <p:cNvSpPr>
            <a:spLocks xmlns:a="http://schemas.openxmlformats.org/drawingml/2006/main" noGrp="1"/>
          </p:cNvSpPr>
          <p:nvPr/>
        </p:nvSpPr>
        <p:spPr>
          <a:xfrm xmlns:a="http://schemas.openxmlformats.org/drawingml/2006/main">
            <a:off x="723900" y="4448175"/>
            <a:ext cx="58874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970" b="1">
                <a:solidFill>
                  <a:srgbClr val="175DA8"/>
                </a:solidFill>
                <a:latin typeface="Arial"/>
                <a:ea typeface="Arial"/>
                <a:cs typeface="Arial"/>
              </a:defRPr>
            </a:pPr>
            <a:r>
              <a:rPr sz="2970" b="1">
                <a:solidFill>
                  <a:srgbClr val="175DA8"/>
                </a:solidFill>
                <a:latin typeface="Arial"/>
                <a:ea typeface="Arial"/>
                <a:cs typeface="Arial"/>
              </a:rPr>
              <a:t>03</a:t>
            </a:r>
          </a:p>
        </p:txBody>
      </p:sp>
      <p:sp>
        <p:nvSpPr>
          <p:cNvPr id="11" name="s13-body-11">
            <a:extLst xmlns:a="http://schemas.openxmlformats.org/drawingml/2006/main">
              <a:ext uri="{FF2B5EF4-FFF2-40B4-BE49-F238E27FC236}">
                <a16:creationId xmlns:a16="http://schemas.microsoft.com/office/drawing/2014/main" id="{2177394C-BFB3-4EB4-BA49-0399BA9F37AB}"/>
              </a:ext>
            </a:extLst>
          </p:cNvPr>
          <p:cNvSpPr>
            <a:spLocks xmlns:a="http://schemas.openxmlformats.org/drawingml/2006/main" noGrp="1"/>
          </p:cNvSpPr>
          <p:nvPr/>
        </p:nvSpPr>
        <p:spPr>
          <a:xfrm xmlns:a="http://schemas.openxmlformats.org/drawingml/2006/main">
            <a:off x="1514951" y="4448175"/>
            <a:ext cx="4323398"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Responsibility</a:t>
            </a:r>
          </a:p>
        </p:txBody>
      </p:sp>
      <p:sp>
        <p:nvSpPr>
          <p:cNvPr id="12" name="s13-body-12">
            <a:extLst xmlns:a="http://schemas.openxmlformats.org/drawingml/2006/main">
              <a:ext uri="{FF2B5EF4-FFF2-40B4-BE49-F238E27FC236}">
                <a16:creationId xmlns:a16="http://schemas.microsoft.com/office/drawing/2014/main" id="{990C24E3-16AD-482A-BE5D-82407C467D01}"/>
              </a:ext>
            </a:extLst>
          </p:cNvPr>
          <p:cNvSpPr>
            <a:spLocks xmlns:a="http://schemas.openxmlformats.org/drawingml/2006/main" noGrp="1"/>
          </p:cNvSpPr>
          <p:nvPr/>
        </p:nvSpPr>
        <p:spPr>
          <a:xfrm xmlns:a="http://schemas.openxmlformats.org/drawingml/2006/main">
            <a:off x="1514951" y="4867275"/>
            <a:ext cx="4277487"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Who should make the key decisions?</a:t>
            </a:r>
          </a:p>
        </p:txBody>
      </p:sp>
      <p:sp>
        <p:nvSpPr>
          <p:cNvPr id="13" name="s13-metric-13">
            <a:extLst xmlns:a="http://schemas.openxmlformats.org/drawingml/2006/main">
              <a:ext uri="{FF2B5EF4-FFF2-40B4-BE49-F238E27FC236}">
                <a16:creationId xmlns:a16="http://schemas.microsoft.com/office/drawing/2014/main" id="{8B5B4690-512A-4C86-AE82-545B691F2E3C}"/>
              </a:ext>
            </a:extLst>
          </p:cNvPr>
          <p:cNvSpPr>
            <a:spLocks xmlns:a="http://schemas.openxmlformats.org/drawingml/2006/main" noGrp="1"/>
          </p:cNvSpPr>
          <p:nvPr/>
        </p:nvSpPr>
        <p:spPr>
          <a:xfrm xmlns:a="http://schemas.openxmlformats.org/drawingml/2006/main">
            <a:off x="6307550" y="4448175"/>
            <a:ext cx="58874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970" b="1">
                <a:solidFill>
                  <a:srgbClr val="175DA8"/>
                </a:solidFill>
                <a:latin typeface="Arial"/>
                <a:ea typeface="Arial"/>
                <a:cs typeface="Arial"/>
              </a:defRPr>
            </a:pPr>
            <a:r>
              <a:rPr sz="2970" b="1">
                <a:solidFill>
                  <a:srgbClr val="175DA8"/>
                </a:solidFill>
                <a:latin typeface="Arial"/>
                <a:ea typeface="Arial"/>
                <a:cs typeface="Arial"/>
              </a:rPr>
              <a:t>04</a:t>
            </a:r>
          </a:p>
        </p:txBody>
      </p:sp>
      <p:sp>
        <p:nvSpPr>
          <p:cNvPr id="14" name="s13-body-14">
            <a:extLst xmlns:a="http://schemas.openxmlformats.org/drawingml/2006/main">
              <a:ext uri="{FF2B5EF4-FFF2-40B4-BE49-F238E27FC236}">
                <a16:creationId xmlns:a16="http://schemas.microsoft.com/office/drawing/2014/main" id="{4F395500-CE97-4C5D-9B13-9910A7509E0E}"/>
              </a:ext>
            </a:extLst>
          </p:cNvPr>
          <p:cNvSpPr>
            <a:spLocks xmlns:a="http://schemas.openxmlformats.org/drawingml/2006/main" noGrp="1"/>
          </p:cNvSpPr>
          <p:nvPr/>
        </p:nvSpPr>
        <p:spPr>
          <a:xfrm xmlns:a="http://schemas.openxmlformats.org/drawingml/2006/main">
            <a:off x="7098697" y="4448175"/>
            <a:ext cx="4323398"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42D43"/>
                </a:solidFill>
                <a:latin typeface="Arial"/>
                <a:ea typeface="Arial"/>
                <a:cs typeface="Arial"/>
              </a:defRPr>
            </a:pPr>
            <a:r>
              <a:rPr sz="2025" b="1">
                <a:solidFill>
                  <a:srgbClr val="142D43"/>
                </a:solidFill>
                <a:latin typeface="Arial"/>
                <a:ea typeface="Arial"/>
                <a:cs typeface="Arial"/>
              </a:rPr>
              <a:t>Design</a:t>
            </a:r>
          </a:p>
        </p:txBody>
      </p:sp>
      <p:sp>
        <p:nvSpPr>
          <p:cNvPr id="15" name="s13-body-15">
            <a:extLst xmlns:a="http://schemas.openxmlformats.org/drawingml/2006/main">
              <a:ext uri="{FF2B5EF4-FFF2-40B4-BE49-F238E27FC236}">
                <a16:creationId xmlns:a16="http://schemas.microsoft.com/office/drawing/2014/main" id="{88E4CD45-5530-4FFA-BD15-C5C82B2BA00E}"/>
              </a:ext>
            </a:extLst>
          </p:cNvPr>
          <p:cNvSpPr>
            <a:spLocks xmlns:a="http://schemas.openxmlformats.org/drawingml/2006/main" noGrp="1"/>
          </p:cNvSpPr>
          <p:nvPr/>
        </p:nvSpPr>
        <p:spPr>
          <a:xfrm xmlns:a="http://schemas.openxmlformats.org/drawingml/2006/main">
            <a:off x="7098697" y="4867275"/>
            <a:ext cx="4277487"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What roles, steps and limits</a:t>
            </a:r>
          </a:p>
          <a:p xmlns:a="http://schemas.openxmlformats.org/drawingml/2006/main">
            <a:pPr algn="l">
              <a:lnSpc>
                <a:spcPct val="126000"/>
              </a:lnSpc>
              <a:buNone/>
              <a:defRPr sz="1755" b="0">
                <a:solidFill>
                  <a:srgbClr val="566C7E"/>
                </a:solidFill>
                <a:latin typeface="Arial"/>
                <a:ea typeface="Arial"/>
                <a:cs typeface="Arial"/>
              </a:defRPr>
            </a:pPr>
            <a:r>
              <a:rPr sz="1755" b="0">
                <a:solidFill>
                  <a:srgbClr val="566C7E"/>
                </a:solidFill>
                <a:latin typeface="Arial"/>
                <a:ea typeface="Arial"/>
                <a:cs typeface="Arial"/>
              </a:rPr>
              <a:t>should we set?</a:t>
            </a:r>
          </a:p>
        </p:txBody>
      </p:sp>
      <p:sp>
        <p:nvSpPr>
          <p:cNvPr id="16" name="s13-caption-16">
            <a:extLst xmlns:a="http://schemas.openxmlformats.org/drawingml/2006/main">
              <a:ext uri="{FF2B5EF4-FFF2-40B4-BE49-F238E27FC236}">
                <a16:creationId xmlns:a16="http://schemas.microsoft.com/office/drawing/2014/main" id="{9BE2192B-891F-49A5-BACF-F25377A5DD4E}"/>
              </a:ext>
            </a:extLst>
          </p:cNvPr>
          <p:cNvSpPr>
            <a:spLocks xmlns:a="http://schemas.openxmlformats.org/drawingml/2006/main" noGrp="1"/>
          </p:cNvSpPr>
          <p:nvPr/>
        </p:nvSpPr>
        <p:spPr>
          <a:xfrm xmlns:a="http://schemas.openxmlformats.org/drawingml/2006/main">
            <a:off x="723900" y="5676900"/>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566C7E"/>
                </a:solidFill>
                <a:latin typeface="Arial"/>
                <a:ea typeface="Arial"/>
                <a:cs typeface="Arial"/>
              </a:defRPr>
            </a:pPr>
            <a:r>
              <a:rPr sz="1350" b="0">
                <a:solidFill>
                  <a:srgbClr val="566C7E"/>
                </a:solidFill>
                <a:latin typeface="Arial"/>
                <a:ea typeface="Arial"/>
                <a:cs typeface="Arial"/>
              </a:rPr>
              <a:t>A working framework, still under development.</a:t>
            </a:r>
          </a:p>
        </p:txBody>
      </p:sp>
      <p:sp>
        <p:nvSpPr>
          <p:cNvPr id="17" name="s13-rect-17">
            <a:extLst xmlns:a="http://schemas.openxmlformats.org/drawingml/2006/main">
              <a:ext uri="{FF2B5EF4-FFF2-40B4-BE49-F238E27FC236}">
                <a16:creationId xmlns:a16="http://schemas.microsoft.com/office/drawing/2014/main" id="{E984D3B5-EDEA-4B15-9C8C-6AAEAF531D96}"/>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8" name="s13-takeaway-18">
            <a:extLst xmlns:a="http://schemas.openxmlformats.org/drawingml/2006/main">
              <a:ext uri="{FF2B5EF4-FFF2-40B4-BE49-F238E27FC236}">
                <a16:creationId xmlns:a16="http://schemas.microsoft.com/office/drawing/2014/main" id="{D89A128E-A881-4C5D-B766-2CD876CD58E4}"/>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Example: if AI answers too soon, ask students to try first.</a:t>
            </a:r>
          </a:p>
        </p:txBody>
      </p:sp>
      <p:sp>
        <p:nvSpPr>
          <p:cNvPr id="19" name="s13-offline-meta-19">
            <a:extLst xmlns:a="http://schemas.openxmlformats.org/drawingml/2006/main">
              <a:ext uri="{FF2B5EF4-FFF2-40B4-BE49-F238E27FC236}">
                <a16:creationId xmlns:a16="http://schemas.microsoft.com/office/drawing/2014/main" id="{D40EE9C1-9F96-4088-87E2-0985DEF25B66}"/>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20" name="s13-offline-meta-20">
            <a:extLst xmlns:a="http://schemas.openxmlformats.org/drawingml/2006/main">
              <a:ext uri="{FF2B5EF4-FFF2-40B4-BE49-F238E27FC236}">
                <a16:creationId xmlns:a16="http://schemas.microsoft.com/office/drawing/2014/main" id="{82661858-26B2-415F-B08F-DF4C11D1757B}"/>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13 / 17</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f323e56a0f44332"/>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354637381"/>
      </p:ext>
    </p:extLst>
  </p:cSld>
</p:sld>
</file>

<file path=ppt/slides/slide14.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20" name="s14-kicker-1">
            <a:extLst xmlns:a="http://schemas.openxmlformats.org/drawingml/2006/main">
              <a:ext uri="{FF2B5EF4-FFF2-40B4-BE49-F238E27FC236}">
                <a16:creationId xmlns:a16="http://schemas.microsoft.com/office/drawing/2014/main" id="{6CD57653-F5B1-4ECD-A5C9-6D1CB8ABB592}"/>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OUR MODEL / RESEARCH–PRACTICE PARTNERSHIP</a:t>
            </a:r>
          </a:p>
        </p:txBody>
      </p:sp>
      <p:sp>
        <p:nvSpPr>
          <p:cNvPr id="2" name="s14-title-2">
            <a:extLst xmlns:a="http://schemas.openxmlformats.org/drawingml/2006/main">
              <a:ext uri="{FF2B5EF4-FFF2-40B4-BE49-F238E27FC236}">
                <a16:creationId xmlns:a16="http://schemas.microsoft.com/office/drawing/2014/main" id="{647BDDCB-825B-4DDB-ADC2-D02CDF168608}"/>
              </a:ext>
            </a:extLst>
          </p:cNvPr>
          <p:cNvSpPr>
            <a:spLocks xmlns:a="http://schemas.openxmlformats.org/drawingml/2006/main" noGrp="1"/>
          </p:cNvSpPr>
          <p:nvPr/>
        </p:nvSpPr>
        <p:spPr>
          <a:xfrm xmlns:a="http://schemas.openxmlformats.org/drawingml/2006/main">
            <a:off x="723900" y="904875"/>
            <a:ext cx="993467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405" b="1">
                <a:solidFill>
                  <a:srgbClr val="FFFFFF"/>
                </a:solidFill>
                <a:latin typeface="Arial"/>
                <a:ea typeface="Arial"/>
                <a:cs typeface="Arial"/>
              </a:defRPr>
            </a:pPr>
            <a:r>
              <a:rPr sz="3405" b="1">
                <a:solidFill>
                  <a:srgbClr val="FFFFFF"/>
                </a:solidFill>
                <a:latin typeface="Arial"/>
                <a:ea typeface="Arial"/>
                <a:cs typeface="Arial"/>
              </a:rPr>
              <a:t>Four partners make</a:t>
            </a:r>
          </a:p>
          <a:p xmlns:a="http://schemas.openxmlformats.org/drawingml/2006/main">
            <a:pPr algn="l">
              <a:lnSpc>
                <a:spcPct val="106000"/>
              </a:lnSpc>
              <a:buNone/>
              <a:defRPr sz="3405" b="1">
                <a:solidFill>
                  <a:srgbClr val="FFFFFF"/>
                </a:solidFill>
                <a:latin typeface="Arial"/>
                <a:ea typeface="Arial"/>
                <a:cs typeface="Arial"/>
              </a:defRPr>
            </a:pPr>
            <a:r>
              <a:rPr sz="3405" b="1">
                <a:solidFill>
                  <a:srgbClr val="FFFFFF"/>
                </a:solidFill>
                <a:latin typeface="Arial"/>
                <a:ea typeface="Arial"/>
                <a:cs typeface="Arial"/>
              </a:rPr>
              <a:t>the work possible</a:t>
            </a:r>
          </a:p>
        </p:txBody>
      </p:sp>
      <p:sp>
        <p:nvSpPr>
          <p:cNvPr id="3" name="s14-body-3">
            <a:extLst xmlns:a="http://schemas.openxmlformats.org/drawingml/2006/main">
              <a:ext uri="{FF2B5EF4-FFF2-40B4-BE49-F238E27FC236}">
                <a16:creationId xmlns:a16="http://schemas.microsoft.com/office/drawing/2014/main" id="{A747CBF2-6E14-4642-825A-621E218CAF4E}"/>
              </a:ext>
            </a:extLst>
          </p:cNvPr>
          <p:cNvSpPr>
            <a:spLocks xmlns:a="http://schemas.openxmlformats.org/drawingml/2006/main" noGrp="1"/>
          </p:cNvSpPr>
          <p:nvPr/>
        </p:nvSpPr>
        <p:spPr>
          <a:xfrm xmlns:a="http://schemas.openxmlformats.org/drawingml/2006/main">
            <a:off x="723900" y="2105025"/>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0">
                <a:solidFill>
                  <a:srgbClr val="BED0DD"/>
                </a:solidFill>
                <a:latin typeface="Arial"/>
                <a:ea typeface="Arial"/>
                <a:cs typeface="Arial"/>
              </a:defRPr>
            </a:pPr>
            <a:r>
              <a:rPr sz="1890" b="0">
                <a:solidFill>
                  <a:srgbClr val="BED0DD"/>
                </a:solidFill>
                <a:latin typeface="Arial"/>
                <a:ea typeface="Arial"/>
                <a:cs typeface="Arial"/>
              </a:rPr>
              <a:t>An RPP brings partners together over time to study and improve a shared problem.</a:t>
            </a:r>
          </a:p>
        </p:txBody>
      </p:sp>
      <p:sp>
        <p:nvSpPr>
          <p:cNvPr id="4" name="s14-rect-4">
            <a:extLst xmlns:a="http://schemas.openxmlformats.org/drawingml/2006/main">
              <a:ext uri="{FF2B5EF4-FFF2-40B4-BE49-F238E27FC236}">
                <a16:creationId xmlns:a16="http://schemas.microsoft.com/office/drawing/2014/main" id="{5701E015-5635-4605-9BA9-EEC6299BA744}"/>
              </a:ext>
            </a:extLst>
          </p:cNvPr>
          <p:cNvSpPr>
            <a:spLocks xmlns:a="http://schemas.openxmlformats.org/drawingml/2006/main" noGrp="1"/>
          </p:cNvSpPr>
          <p:nvPr/>
        </p:nvSpPr>
        <p:spPr>
          <a:xfrm xmlns:a="http://schemas.openxmlformats.org/drawingml/2006/main">
            <a:off x="723900" y="3019425"/>
            <a:ext cx="36767" cy="10287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5" name="s14-body-5">
            <a:extLst xmlns:a="http://schemas.openxmlformats.org/drawingml/2006/main">
              <a:ext uri="{FF2B5EF4-FFF2-40B4-BE49-F238E27FC236}">
                <a16:creationId xmlns:a16="http://schemas.microsoft.com/office/drawing/2014/main" id="{1297796E-CC70-44B6-A85E-804ADCF6246D}"/>
              </a:ext>
            </a:extLst>
          </p:cNvPr>
          <p:cNvSpPr>
            <a:spLocks xmlns:a="http://schemas.openxmlformats.org/drawingml/2006/main" noGrp="1"/>
          </p:cNvSpPr>
          <p:nvPr/>
        </p:nvSpPr>
        <p:spPr>
          <a:xfrm xmlns:a="http://schemas.openxmlformats.org/drawingml/2006/main">
            <a:off x="926306" y="3009900"/>
            <a:ext cx="488461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CocoRobo · enterprise</a:t>
            </a:r>
          </a:p>
        </p:txBody>
      </p:sp>
      <p:sp>
        <p:nvSpPr>
          <p:cNvPr id="6" name="s14-body-6">
            <a:extLst xmlns:a="http://schemas.openxmlformats.org/drawingml/2006/main">
              <a:ext uri="{FF2B5EF4-FFF2-40B4-BE49-F238E27FC236}">
                <a16:creationId xmlns:a16="http://schemas.microsoft.com/office/drawing/2014/main" id="{7D23B2CA-0D37-4CB5-B144-112BE9A03F6D}"/>
              </a:ext>
            </a:extLst>
          </p:cNvPr>
          <p:cNvSpPr>
            <a:spLocks xmlns:a="http://schemas.openxmlformats.org/drawingml/2006/main" noGrp="1"/>
          </p:cNvSpPr>
          <p:nvPr/>
        </p:nvSpPr>
        <p:spPr>
          <a:xfrm xmlns:a="http://schemas.openxmlformats.org/drawingml/2006/main">
            <a:off x="926306" y="3476625"/>
            <a:ext cx="4866132"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Lead the programme; build, improve</a:t>
            </a:r>
          </a:p>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and support the tools.</a:t>
            </a:r>
          </a:p>
        </p:txBody>
      </p:sp>
      <p:sp>
        <p:nvSpPr>
          <p:cNvPr id="7" name="s14-rect-7">
            <a:extLst xmlns:a="http://schemas.openxmlformats.org/drawingml/2006/main">
              <a:ext uri="{FF2B5EF4-FFF2-40B4-BE49-F238E27FC236}">
                <a16:creationId xmlns:a16="http://schemas.microsoft.com/office/drawing/2014/main" id="{47EF7249-3A52-4EEB-81A1-EDB1BD3DA2B7}"/>
              </a:ext>
            </a:extLst>
          </p:cNvPr>
          <p:cNvSpPr>
            <a:spLocks xmlns:a="http://schemas.openxmlformats.org/drawingml/2006/main" noGrp="1"/>
          </p:cNvSpPr>
          <p:nvPr/>
        </p:nvSpPr>
        <p:spPr>
          <a:xfrm xmlns:a="http://schemas.openxmlformats.org/drawingml/2006/main">
            <a:off x="6353556" y="3019425"/>
            <a:ext cx="36767" cy="10287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8" name="s14-body-8">
            <a:extLst xmlns:a="http://schemas.openxmlformats.org/drawingml/2006/main">
              <a:ext uri="{FF2B5EF4-FFF2-40B4-BE49-F238E27FC236}">
                <a16:creationId xmlns:a16="http://schemas.microsoft.com/office/drawing/2014/main" id="{1DC178BC-B52F-4F5C-8909-AC7205B72E16}"/>
              </a:ext>
            </a:extLst>
          </p:cNvPr>
          <p:cNvSpPr>
            <a:spLocks xmlns:a="http://schemas.openxmlformats.org/drawingml/2006/main" noGrp="1"/>
          </p:cNvSpPr>
          <p:nvPr/>
        </p:nvSpPr>
        <p:spPr>
          <a:xfrm xmlns:a="http://schemas.openxmlformats.org/drawingml/2006/main">
            <a:off x="6555962" y="3009900"/>
            <a:ext cx="488461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University teams</a:t>
            </a:r>
          </a:p>
        </p:txBody>
      </p:sp>
      <p:sp>
        <p:nvSpPr>
          <p:cNvPr id="9" name="s14-body-9">
            <a:extLst xmlns:a="http://schemas.openxmlformats.org/drawingml/2006/main">
              <a:ext uri="{FF2B5EF4-FFF2-40B4-BE49-F238E27FC236}">
                <a16:creationId xmlns:a16="http://schemas.microsoft.com/office/drawing/2014/main" id="{1DCFF78B-2416-47E7-AEB7-B083DBF9F243}"/>
              </a:ext>
            </a:extLst>
          </p:cNvPr>
          <p:cNvSpPr>
            <a:spLocks xmlns:a="http://schemas.openxmlformats.org/drawingml/2006/main" noGrp="1"/>
          </p:cNvSpPr>
          <p:nvPr/>
        </p:nvSpPr>
        <p:spPr>
          <a:xfrm xmlns:a="http://schemas.openxmlformats.org/drawingml/2006/main">
            <a:off x="6555962" y="3476625"/>
            <a:ext cx="4866132"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CUHK · HKU · EdUHK:</a:t>
            </a:r>
          </a:p>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research design, theory and analysis.</a:t>
            </a:r>
          </a:p>
        </p:txBody>
      </p:sp>
      <p:sp>
        <p:nvSpPr>
          <p:cNvPr id="10" name="s14-rect-10">
            <a:extLst xmlns:a="http://schemas.openxmlformats.org/drawingml/2006/main">
              <a:ext uri="{FF2B5EF4-FFF2-40B4-BE49-F238E27FC236}">
                <a16:creationId xmlns:a16="http://schemas.microsoft.com/office/drawing/2014/main" id="{75F15295-87C5-41E2-8D4A-F6F1892EF48F}"/>
              </a:ext>
            </a:extLst>
          </p:cNvPr>
          <p:cNvSpPr>
            <a:spLocks xmlns:a="http://schemas.openxmlformats.org/drawingml/2006/main" noGrp="1"/>
          </p:cNvSpPr>
          <p:nvPr/>
        </p:nvSpPr>
        <p:spPr>
          <a:xfrm xmlns:a="http://schemas.openxmlformats.org/drawingml/2006/main">
            <a:off x="723900" y="4610100"/>
            <a:ext cx="36767" cy="10287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1" name="s14-body-11">
            <a:extLst xmlns:a="http://schemas.openxmlformats.org/drawingml/2006/main">
              <a:ext uri="{FF2B5EF4-FFF2-40B4-BE49-F238E27FC236}">
                <a16:creationId xmlns:a16="http://schemas.microsoft.com/office/drawing/2014/main" id="{FFAFD0D6-1122-49D6-99E3-6856AF9323D6}"/>
              </a:ext>
            </a:extLst>
          </p:cNvPr>
          <p:cNvSpPr>
            <a:spLocks xmlns:a="http://schemas.openxmlformats.org/drawingml/2006/main" noGrp="1"/>
          </p:cNvSpPr>
          <p:nvPr/>
        </p:nvSpPr>
        <p:spPr>
          <a:xfrm xmlns:a="http://schemas.openxmlformats.org/drawingml/2006/main">
            <a:off x="926306" y="4600575"/>
            <a:ext cx="488461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Government partners</a:t>
            </a:r>
          </a:p>
        </p:txBody>
      </p:sp>
      <p:sp>
        <p:nvSpPr>
          <p:cNvPr id="12" name="s14-body-12">
            <a:extLst xmlns:a="http://schemas.openxmlformats.org/drawingml/2006/main">
              <a:ext uri="{FF2B5EF4-FFF2-40B4-BE49-F238E27FC236}">
                <a16:creationId xmlns:a16="http://schemas.microsoft.com/office/drawing/2014/main" id="{2BC68819-6721-4944-B787-30AB43A3A520}"/>
              </a:ext>
            </a:extLst>
          </p:cNvPr>
          <p:cNvSpPr>
            <a:spLocks xmlns:a="http://schemas.openxmlformats.org/drawingml/2006/main" noGrp="1"/>
          </p:cNvSpPr>
          <p:nvPr/>
        </p:nvSpPr>
        <p:spPr>
          <a:xfrm xmlns:a="http://schemas.openxmlformats.org/drawingml/2006/main">
            <a:off x="926306" y="5067300"/>
            <a:ext cx="4866132"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Local coordination, policy alignment</a:t>
            </a:r>
          </a:p>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and access.</a:t>
            </a:r>
          </a:p>
        </p:txBody>
      </p:sp>
      <p:sp>
        <p:nvSpPr>
          <p:cNvPr id="13" name="s14-rect-13">
            <a:extLst xmlns:a="http://schemas.openxmlformats.org/drawingml/2006/main">
              <a:ext uri="{FF2B5EF4-FFF2-40B4-BE49-F238E27FC236}">
                <a16:creationId xmlns:a16="http://schemas.microsoft.com/office/drawing/2014/main" id="{749CE15C-F4D3-4C26-AF03-B36B40F15628}"/>
              </a:ext>
            </a:extLst>
          </p:cNvPr>
          <p:cNvSpPr>
            <a:spLocks xmlns:a="http://schemas.openxmlformats.org/drawingml/2006/main" noGrp="1"/>
          </p:cNvSpPr>
          <p:nvPr/>
        </p:nvSpPr>
        <p:spPr>
          <a:xfrm xmlns:a="http://schemas.openxmlformats.org/drawingml/2006/main">
            <a:off x="6353556" y="4610100"/>
            <a:ext cx="36767" cy="10287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4" name="s14-body-14">
            <a:extLst xmlns:a="http://schemas.openxmlformats.org/drawingml/2006/main">
              <a:ext uri="{FF2B5EF4-FFF2-40B4-BE49-F238E27FC236}">
                <a16:creationId xmlns:a16="http://schemas.microsoft.com/office/drawing/2014/main" id="{5539F345-79DA-4A61-8B2B-248807FC1F4A}"/>
              </a:ext>
            </a:extLst>
          </p:cNvPr>
          <p:cNvSpPr>
            <a:spLocks xmlns:a="http://schemas.openxmlformats.org/drawingml/2006/main" noGrp="1"/>
          </p:cNvSpPr>
          <p:nvPr/>
        </p:nvSpPr>
        <p:spPr>
          <a:xfrm xmlns:a="http://schemas.openxmlformats.org/drawingml/2006/main">
            <a:off x="6555962" y="4600575"/>
            <a:ext cx="488461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1">
                <a:solidFill>
                  <a:srgbClr val="64D2C4"/>
                </a:solidFill>
                <a:latin typeface="Arial"/>
                <a:ea typeface="Arial"/>
                <a:cs typeface="Arial"/>
              </a:defRPr>
            </a:pPr>
            <a:r>
              <a:rPr sz="1958" b="1">
                <a:solidFill>
                  <a:srgbClr val="64D2C4"/>
                </a:solidFill>
                <a:latin typeface="Arial"/>
                <a:ea typeface="Arial"/>
                <a:cs typeface="Arial"/>
              </a:rPr>
              <a:t>Schools &amp; teachers</a:t>
            </a:r>
          </a:p>
        </p:txBody>
      </p:sp>
      <p:sp>
        <p:nvSpPr>
          <p:cNvPr id="15" name="s14-body-15">
            <a:extLst xmlns:a="http://schemas.openxmlformats.org/drawingml/2006/main">
              <a:ext uri="{FF2B5EF4-FFF2-40B4-BE49-F238E27FC236}">
                <a16:creationId xmlns:a16="http://schemas.microsoft.com/office/drawing/2014/main" id="{289AF374-924A-49AC-B362-6FA9CA440948}"/>
              </a:ext>
            </a:extLst>
          </p:cNvPr>
          <p:cNvSpPr>
            <a:spLocks xmlns:a="http://schemas.openxmlformats.org/drawingml/2006/main" noGrp="1"/>
          </p:cNvSpPr>
          <p:nvPr/>
        </p:nvSpPr>
        <p:spPr>
          <a:xfrm xmlns:a="http://schemas.openxmlformats.org/drawingml/2006/main">
            <a:off x="6555962" y="5067300"/>
            <a:ext cx="4866132"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Real needs, classroom trials</a:t>
            </a:r>
          </a:p>
          <a:p xmlns:a="http://schemas.openxmlformats.org/drawingml/2006/main">
            <a:pPr algn="l">
              <a:lnSpc>
                <a:spcPct val="126000"/>
              </a:lnSpc>
              <a:buNone/>
              <a:defRPr sz="1823" b="0">
                <a:solidFill>
                  <a:srgbClr val="FFFFFF"/>
                </a:solidFill>
                <a:latin typeface="Arial"/>
                <a:ea typeface="Arial"/>
                <a:cs typeface="Arial"/>
              </a:defRPr>
            </a:pPr>
            <a:r>
              <a:rPr sz="1823" b="0">
                <a:solidFill>
                  <a:srgbClr val="FFFFFF"/>
                </a:solidFill>
                <a:latin typeface="Arial"/>
                <a:ea typeface="Arial"/>
                <a:cs typeface="Arial"/>
              </a:rPr>
              <a:t>and teaching decisions.</a:t>
            </a:r>
          </a:p>
        </p:txBody>
      </p:sp>
      <p:sp>
        <p:nvSpPr>
          <p:cNvPr id="16" name="s14-rect-16">
            <a:extLst xmlns:a="http://schemas.openxmlformats.org/drawingml/2006/main">
              <a:ext uri="{FF2B5EF4-FFF2-40B4-BE49-F238E27FC236}">
                <a16:creationId xmlns:a16="http://schemas.microsoft.com/office/drawing/2014/main" id="{21E8F9A7-FB7F-4B0A-B37F-4F073C867E67}"/>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7" name="s14-takeaway-17">
            <a:extLst xmlns:a="http://schemas.openxmlformats.org/drawingml/2006/main">
              <a:ext uri="{FF2B5EF4-FFF2-40B4-BE49-F238E27FC236}">
                <a16:creationId xmlns:a16="http://schemas.microsoft.com/office/drawing/2014/main" id="{BACF799E-E1DA-4B11-A180-F929F5CF8DFD}"/>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FFFFFF"/>
                </a:solidFill>
                <a:latin typeface="Arial"/>
                <a:ea typeface="Arial"/>
                <a:cs typeface="Arial"/>
              </a:defRPr>
            </a:pPr>
            <a:r>
              <a:rPr sz="1725" b="1">
                <a:solidFill>
                  <a:srgbClr val="FFFFFF"/>
                </a:solidFill>
                <a:latin typeface="Arial"/>
                <a:ea typeface="Arial"/>
                <a:cs typeface="Arial"/>
              </a:rPr>
              <a:t>Together, we connect classroom needs, working tools and research.</a:t>
            </a:r>
          </a:p>
        </p:txBody>
      </p:sp>
      <p:sp>
        <p:nvSpPr>
          <p:cNvPr id="18" name="s14-offline-meta-18">
            <a:extLst xmlns:a="http://schemas.openxmlformats.org/drawingml/2006/main">
              <a:ext uri="{FF2B5EF4-FFF2-40B4-BE49-F238E27FC236}">
                <a16:creationId xmlns:a16="http://schemas.microsoft.com/office/drawing/2014/main" id="{A958E953-71C8-4B03-BE4D-9FE67721EE7E}"/>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19" name="s14-offline-meta-19">
            <a:extLst xmlns:a="http://schemas.openxmlformats.org/drawingml/2006/main">
              <a:ext uri="{FF2B5EF4-FFF2-40B4-BE49-F238E27FC236}">
                <a16:creationId xmlns:a16="http://schemas.microsoft.com/office/drawing/2014/main" id="{B5F4DA4D-FBA5-4192-8BB8-B5A50C0A2688}"/>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14 / 17</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201bbffc52e4b77"/>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337962705"/>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s15-kicker-1">
            <a:extLst xmlns:a="http://schemas.openxmlformats.org/drawingml/2006/main">
              <a:ext uri="{FF2B5EF4-FFF2-40B4-BE49-F238E27FC236}">
                <a16:creationId xmlns:a16="http://schemas.microsoft.com/office/drawing/2014/main" id="{95E2214D-EF52-4D97-9CB4-376A47E2DD2D}"/>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175DA8"/>
                </a:solidFill>
                <a:latin typeface="Arial"/>
                <a:ea typeface="Arial"/>
                <a:cs typeface="Arial"/>
              </a:defRPr>
            </a:pPr>
            <a:r>
              <a:rPr sz="1200" b="1">
                <a:solidFill>
                  <a:srgbClr val="175DA8"/>
                </a:solidFill>
                <a:latin typeface="Arial"/>
                <a:ea typeface="Arial"/>
                <a:cs typeface="Arial"/>
              </a:rPr>
              <a:t>WHAT OTHERS CAN TAKE AWAY</a:t>
            </a:r>
          </a:p>
        </p:txBody>
      </p:sp>
      <p:sp>
        <p:nvSpPr>
          <p:cNvPr id="2" name="s15-title-2">
            <a:extLst xmlns:a="http://schemas.openxmlformats.org/drawingml/2006/main">
              <a:ext uri="{FF2B5EF4-FFF2-40B4-BE49-F238E27FC236}">
                <a16:creationId xmlns:a16="http://schemas.microsoft.com/office/drawing/2014/main" id="{E3B002CB-8D08-493B-BA57-1E41C06649FE}"/>
              </a:ext>
            </a:extLst>
          </p:cNvPr>
          <p:cNvSpPr>
            <a:spLocks xmlns:a="http://schemas.openxmlformats.org/drawingml/2006/main" noGrp="1"/>
          </p:cNvSpPr>
          <p:nvPr/>
        </p:nvSpPr>
        <p:spPr>
          <a:xfrm xmlns:a="http://schemas.openxmlformats.org/drawingml/2006/main">
            <a:off x="723900" y="904875"/>
            <a:ext cx="9198769"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405" b="1">
                <a:solidFill>
                  <a:srgbClr val="142D43"/>
                </a:solidFill>
                <a:latin typeface="Arial"/>
                <a:ea typeface="Arial"/>
                <a:cs typeface="Arial"/>
              </a:defRPr>
            </a:pPr>
            <a:r>
              <a:rPr sz="3405" b="1">
                <a:solidFill>
                  <a:srgbClr val="142D43"/>
                </a:solidFill>
                <a:latin typeface="Arial"/>
                <a:ea typeface="Arial"/>
                <a:cs typeface="Arial"/>
              </a:rPr>
              <a:t>Make the partnership</a:t>
            </a:r>
          </a:p>
          <a:p xmlns:a="http://schemas.openxmlformats.org/drawingml/2006/main">
            <a:pPr algn="l">
              <a:lnSpc>
                <a:spcPct val="106000"/>
              </a:lnSpc>
              <a:buNone/>
              <a:defRPr sz="3405" b="1">
                <a:solidFill>
                  <a:srgbClr val="142D43"/>
                </a:solidFill>
                <a:latin typeface="Arial"/>
                <a:ea typeface="Arial"/>
                <a:cs typeface="Arial"/>
              </a:defRPr>
            </a:pPr>
            <a:r>
              <a:rPr sz="3405" b="1">
                <a:solidFill>
                  <a:srgbClr val="142D43"/>
                </a:solidFill>
                <a:latin typeface="Arial"/>
                <a:ea typeface="Arial"/>
                <a:cs typeface="Arial"/>
              </a:rPr>
              <a:t>useful in practice</a:t>
            </a:r>
          </a:p>
        </p:txBody>
      </p:sp>
      <p:sp>
        <p:nvSpPr>
          <p:cNvPr id="3" name="s15-body-3">
            <a:extLst xmlns:a="http://schemas.openxmlformats.org/drawingml/2006/main">
              <a:ext uri="{FF2B5EF4-FFF2-40B4-BE49-F238E27FC236}">
                <a16:creationId xmlns:a16="http://schemas.microsoft.com/office/drawing/2014/main" id="{FB05C5A0-57BB-40EA-BFD6-1F186C65F7C9}"/>
              </a:ext>
            </a:extLst>
          </p:cNvPr>
          <p:cNvSpPr>
            <a:spLocks xmlns:a="http://schemas.openxmlformats.org/drawingml/2006/main" noGrp="1"/>
          </p:cNvSpPr>
          <p:nvPr/>
        </p:nvSpPr>
        <p:spPr>
          <a:xfrm xmlns:a="http://schemas.openxmlformats.org/drawingml/2006/main">
            <a:off x="723900" y="213360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25" b="1">
                <a:solidFill>
                  <a:srgbClr val="175DA8"/>
                </a:solidFill>
                <a:latin typeface="Arial"/>
                <a:ea typeface="Arial"/>
                <a:cs typeface="Arial"/>
              </a:defRPr>
            </a:pPr>
            <a:r>
              <a:rPr sz="2025" b="1">
                <a:solidFill>
                  <a:srgbClr val="175DA8"/>
                </a:solidFill>
                <a:latin typeface="Arial"/>
                <a:ea typeface="Arial"/>
                <a:cs typeface="Arial"/>
              </a:rPr>
              <a:t>Build teacher agency through shared work.</a:t>
            </a:r>
          </a:p>
        </p:txBody>
      </p:sp>
      <p:sp>
        <p:nvSpPr>
          <p:cNvPr id="4" name="s15-metric-4">
            <a:extLst xmlns:a="http://schemas.openxmlformats.org/drawingml/2006/main">
              <a:ext uri="{FF2B5EF4-FFF2-40B4-BE49-F238E27FC236}">
                <a16:creationId xmlns:a16="http://schemas.microsoft.com/office/drawing/2014/main" id="{00C3270F-68ED-41CF-ADEB-C0DE0F1D8B8D}"/>
              </a:ext>
            </a:extLst>
          </p:cNvPr>
          <p:cNvSpPr>
            <a:spLocks xmlns:a="http://schemas.openxmlformats.org/drawingml/2006/main" noGrp="1"/>
          </p:cNvSpPr>
          <p:nvPr/>
        </p:nvSpPr>
        <p:spPr>
          <a:xfrm xmlns:a="http://schemas.openxmlformats.org/drawingml/2006/main">
            <a:off x="723900" y="2828925"/>
            <a:ext cx="597884"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4118" b="1">
                <a:solidFill>
                  <a:srgbClr val="175DA8"/>
                </a:solidFill>
                <a:latin typeface="Arial"/>
                <a:ea typeface="Arial"/>
                <a:cs typeface="Arial"/>
              </a:defRPr>
            </a:pPr>
            <a:r>
              <a:rPr sz="4118" b="1">
                <a:solidFill>
                  <a:srgbClr val="175DA8"/>
                </a:solidFill>
                <a:latin typeface="Arial"/>
                <a:ea typeface="Arial"/>
                <a:cs typeface="Arial"/>
              </a:rPr>
              <a:t>1</a:t>
            </a:r>
          </a:p>
        </p:txBody>
      </p:sp>
      <p:sp>
        <p:nvSpPr>
          <p:cNvPr id="5" name="s15-body-5">
            <a:extLst xmlns:a="http://schemas.openxmlformats.org/drawingml/2006/main">
              <a:ext uri="{FF2B5EF4-FFF2-40B4-BE49-F238E27FC236}">
                <a16:creationId xmlns:a16="http://schemas.microsoft.com/office/drawing/2014/main" id="{493CAE4F-D1BF-42AA-BE67-4CE164A16315}"/>
              </a:ext>
            </a:extLst>
          </p:cNvPr>
          <p:cNvSpPr>
            <a:spLocks xmlns:a="http://schemas.openxmlformats.org/drawingml/2006/main" noGrp="1"/>
          </p:cNvSpPr>
          <p:nvPr/>
        </p:nvSpPr>
        <p:spPr>
          <a:xfrm xmlns:a="http://schemas.openxmlformats.org/drawingml/2006/main">
            <a:off x="1579436" y="2876550"/>
            <a:ext cx="979674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1">
                <a:solidFill>
                  <a:srgbClr val="142D43"/>
                </a:solidFill>
                <a:latin typeface="Arial"/>
                <a:ea typeface="Arial"/>
                <a:cs typeface="Arial"/>
              </a:defRPr>
            </a:pPr>
            <a:r>
              <a:rPr sz="2093" b="1">
                <a:solidFill>
                  <a:srgbClr val="142D43"/>
                </a:solidFill>
                <a:latin typeface="Arial"/>
                <a:ea typeface="Arial"/>
                <a:cs typeface="Arial"/>
              </a:rPr>
              <a:t>Start with a shared teaching problem</a:t>
            </a:r>
          </a:p>
        </p:txBody>
      </p:sp>
      <p:sp>
        <p:nvSpPr>
          <p:cNvPr id="6" name="s15-body-6">
            <a:extLst xmlns:a="http://schemas.openxmlformats.org/drawingml/2006/main">
              <a:ext uri="{FF2B5EF4-FFF2-40B4-BE49-F238E27FC236}">
                <a16:creationId xmlns:a16="http://schemas.microsoft.com/office/drawing/2014/main" id="{2E20B363-AE58-4CEB-8504-A410A4787AA0}"/>
              </a:ext>
            </a:extLst>
          </p:cNvPr>
          <p:cNvSpPr>
            <a:spLocks xmlns:a="http://schemas.openxmlformats.org/drawingml/2006/main" noGrp="1"/>
          </p:cNvSpPr>
          <p:nvPr/>
        </p:nvSpPr>
        <p:spPr>
          <a:xfrm xmlns:a="http://schemas.openxmlformats.org/drawingml/2006/main">
            <a:off x="1579436" y="3305175"/>
            <a:ext cx="9796748"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Let teachers help define the goals and the questions.</a:t>
            </a:r>
          </a:p>
        </p:txBody>
      </p:sp>
      <p:sp>
        <p:nvSpPr>
          <p:cNvPr id="7" name="s15-metric-7">
            <a:extLst xmlns:a="http://schemas.openxmlformats.org/drawingml/2006/main">
              <a:ext uri="{FF2B5EF4-FFF2-40B4-BE49-F238E27FC236}">
                <a16:creationId xmlns:a16="http://schemas.microsoft.com/office/drawing/2014/main" id="{461D230F-A0EE-4B51-98DD-58144E942E51}"/>
              </a:ext>
            </a:extLst>
          </p:cNvPr>
          <p:cNvSpPr>
            <a:spLocks xmlns:a="http://schemas.openxmlformats.org/drawingml/2006/main" noGrp="1"/>
          </p:cNvSpPr>
          <p:nvPr/>
        </p:nvSpPr>
        <p:spPr>
          <a:xfrm xmlns:a="http://schemas.openxmlformats.org/drawingml/2006/main">
            <a:off x="723900" y="3838575"/>
            <a:ext cx="597884"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4118" b="1">
                <a:solidFill>
                  <a:srgbClr val="175DA8"/>
                </a:solidFill>
                <a:latin typeface="Arial"/>
                <a:ea typeface="Arial"/>
                <a:cs typeface="Arial"/>
              </a:defRPr>
            </a:pPr>
            <a:r>
              <a:rPr sz="4118" b="1">
                <a:solidFill>
                  <a:srgbClr val="175DA8"/>
                </a:solidFill>
                <a:latin typeface="Arial"/>
                <a:ea typeface="Arial"/>
                <a:cs typeface="Arial"/>
              </a:rPr>
              <a:t>2</a:t>
            </a:r>
          </a:p>
        </p:txBody>
      </p:sp>
      <p:sp>
        <p:nvSpPr>
          <p:cNvPr id="8" name="s15-body-8">
            <a:extLst xmlns:a="http://schemas.openxmlformats.org/drawingml/2006/main">
              <a:ext uri="{FF2B5EF4-FFF2-40B4-BE49-F238E27FC236}">
                <a16:creationId xmlns:a16="http://schemas.microsoft.com/office/drawing/2014/main" id="{453CC415-7639-401A-87EA-0CC7C0EB5636}"/>
              </a:ext>
            </a:extLst>
          </p:cNvPr>
          <p:cNvSpPr>
            <a:spLocks xmlns:a="http://schemas.openxmlformats.org/drawingml/2006/main" noGrp="1"/>
          </p:cNvSpPr>
          <p:nvPr/>
        </p:nvSpPr>
        <p:spPr>
          <a:xfrm xmlns:a="http://schemas.openxmlformats.org/drawingml/2006/main">
            <a:off x="1579436" y="3886200"/>
            <a:ext cx="979674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1">
                <a:solidFill>
                  <a:srgbClr val="142D43"/>
                </a:solidFill>
                <a:latin typeface="Arial"/>
                <a:ea typeface="Arial"/>
                <a:cs typeface="Arial"/>
              </a:defRPr>
            </a:pPr>
            <a:r>
              <a:rPr sz="2093" b="1">
                <a:solidFill>
                  <a:srgbClr val="142D43"/>
                </a:solidFill>
                <a:latin typeface="Arial"/>
                <a:ea typeface="Arial"/>
                <a:cs typeface="Arial"/>
              </a:rPr>
              <a:t>Connect creation, evidence and redesign</a:t>
            </a:r>
          </a:p>
        </p:txBody>
      </p:sp>
      <p:sp>
        <p:nvSpPr>
          <p:cNvPr id="9" name="s15-body-9">
            <a:extLst xmlns:a="http://schemas.openxmlformats.org/drawingml/2006/main">
              <a:ext uri="{FF2B5EF4-FFF2-40B4-BE49-F238E27FC236}">
                <a16:creationId xmlns:a16="http://schemas.microsoft.com/office/drawing/2014/main" id="{8C9ACBA3-0F4C-45F0-8139-9727BB1FF2D4}"/>
              </a:ext>
            </a:extLst>
          </p:cNvPr>
          <p:cNvSpPr>
            <a:spLocks xmlns:a="http://schemas.openxmlformats.org/drawingml/2006/main" noGrp="1"/>
          </p:cNvSpPr>
          <p:nvPr/>
        </p:nvSpPr>
        <p:spPr>
          <a:xfrm xmlns:a="http://schemas.openxmlformats.org/drawingml/2006/main">
            <a:off x="1579436" y="4314825"/>
            <a:ext cx="9796748"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Use findings to change tools and professional learning.</a:t>
            </a:r>
          </a:p>
        </p:txBody>
      </p:sp>
      <p:sp>
        <p:nvSpPr>
          <p:cNvPr id="10" name="s15-metric-10">
            <a:extLst xmlns:a="http://schemas.openxmlformats.org/drawingml/2006/main">
              <a:ext uri="{FF2B5EF4-FFF2-40B4-BE49-F238E27FC236}">
                <a16:creationId xmlns:a16="http://schemas.microsoft.com/office/drawing/2014/main" id="{EDF3A349-04D7-48BD-A29C-19161825BC7A}"/>
              </a:ext>
            </a:extLst>
          </p:cNvPr>
          <p:cNvSpPr>
            <a:spLocks xmlns:a="http://schemas.openxmlformats.org/drawingml/2006/main" noGrp="1"/>
          </p:cNvSpPr>
          <p:nvPr/>
        </p:nvSpPr>
        <p:spPr>
          <a:xfrm xmlns:a="http://schemas.openxmlformats.org/drawingml/2006/main">
            <a:off x="723900" y="4848225"/>
            <a:ext cx="597884"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4118" b="1">
                <a:solidFill>
                  <a:srgbClr val="175DA8"/>
                </a:solidFill>
                <a:latin typeface="Arial"/>
                <a:ea typeface="Arial"/>
                <a:cs typeface="Arial"/>
              </a:defRPr>
            </a:pPr>
            <a:r>
              <a:rPr sz="4118" b="1">
                <a:solidFill>
                  <a:srgbClr val="175DA8"/>
                </a:solidFill>
                <a:latin typeface="Arial"/>
                <a:ea typeface="Arial"/>
                <a:cs typeface="Arial"/>
              </a:rPr>
              <a:t>3</a:t>
            </a:r>
          </a:p>
        </p:txBody>
      </p:sp>
      <p:sp>
        <p:nvSpPr>
          <p:cNvPr id="11" name="s15-body-11">
            <a:extLst xmlns:a="http://schemas.openxmlformats.org/drawingml/2006/main">
              <a:ext uri="{FF2B5EF4-FFF2-40B4-BE49-F238E27FC236}">
                <a16:creationId xmlns:a16="http://schemas.microsoft.com/office/drawing/2014/main" id="{3A8D10E1-5125-4512-82A9-9AD0AF12EB5A}"/>
              </a:ext>
            </a:extLst>
          </p:cNvPr>
          <p:cNvSpPr>
            <a:spLocks xmlns:a="http://schemas.openxmlformats.org/drawingml/2006/main" noGrp="1"/>
          </p:cNvSpPr>
          <p:nvPr/>
        </p:nvSpPr>
        <p:spPr>
          <a:xfrm xmlns:a="http://schemas.openxmlformats.org/drawingml/2006/main">
            <a:off x="1579436" y="4895850"/>
            <a:ext cx="979674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1">
                <a:solidFill>
                  <a:srgbClr val="142D43"/>
                </a:solidFill>
                <a:latin typeface="Arial"/>
                <a:ea typeface="Arial"/>
                <a:cs typeface="Arial"/>
              </a:defRPr>
            </a:pPr>
            <a:r>
              <a:rPr sz="2093" b="1">
                <a:solidFill>
                  <a:srgbClr val="142D43"/>
                </a:solidFill>
                <a:latin typeface="Arial"/>
                <a:ea typeface="Arial"/>
                <a:cs typeface="Arial"/>
              </a:rPr>
              <a:t>Fund the work between meetings</a:t>
            </a:r>
          </a:p>
        </p:txBody>
      </p:sp>
      <p:sp>
        <p:nvSpPr>
          <p:cNvPr id="12" name="s15-body-12">
            <a:extLst xmlns:a="http://schemas.openxmlformats.org/drawingml/2006/main">
              <a:ext uri="{FF2B5EF4-FFF2-40B4-BE49-F238E27FC236}">
                <a16:creationId xmlns:a16="http://schemas.microsoft.com/office/drawing/2014/main" id="{EA4496F6-71B2-4554-9E61-29FADF72F063}"/>
              </a:ext>
            </a:extLst>
          </p:cNvPr>
          <p:cNvSpPr>
            <a:spLocks xmlns:a="http://schemas.openxmlformats.org/drawingml/2006/main" noGrp="1"/>
          </p:cNvSpPr>
          <p:nvPr/>
        </p:nvSpPr>
        <p:spPr>
          <a:xfrm xmlns:a="http://schemas.openxmlformats.org/drawingml/2006/main">
            <a:off x="1579436" y="5324475"/>
            <a:ext cx="9796748"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566C7E"/>
                </a:solidFill>
                <a:latin typeface="Arial"/>
                <a:ea typeface="Arial"/>
                <a:cs typeface="Arial"/>
              </a:defRPr>
            </a:pPr>
            <a:r>
              <a:rPr sz="1823" b="0">
                <a:solidFill>
                  <a:srgbClr val="566C7E"/>
                </a:solidFill>
                <a:latin typeface="Arial"/>
                <a:ea typeface="Arial"/>
                <a:cs typeface="Arial"/>
              </a:rPr>
              <a:t>Support coordination, technical help and teacher time.</a:t>
            </a:r>
          </a:p>
        </p:txBody>
      </p:sp>
      <p:sp>
        <p:nvSpPr>
          <p:cNvPr id="13" name="s15-rect-13">
            <a:extLst xmlns:a="http://schemas.openxmlformats.org/drawingml/2006/main">
              <a:ext uri="{FF2B5EF4-FFF2-40B4-BE49-F238E27FC236}">
                <a16:creationId xmlns:a16="http://schemas.microsoft.com/office/drawing/2014/main" id="{F9BB72EF-4F0E-457B-8E8E-2D4AE5B32A47}"/>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175DA8"/>
          </a:solidFill>
          <a:ln xmlns:a="http://schemas.openxmlformats.org/drawingml/2006/main" w="0">
            <a:noFill/>
          </a:ln>
        </p:spPr>
      </p:sp>
      <p:sp>
        <p:nvSpPr>
          <p:cNvPr id="14" name="s15-takeaway-14">
            <a:extLst xmlns:a="http://schemas.openxmlformats.org/drawingml/2006/main">
              <a:ext uri="{FF2B5EF4-FFF2-40B4-BE49-F238E27FC236}">
                <a16:creationId xmlns:a16="http://schemas.microsoft.com/office/drawing/2014/main" id="{33EBE51E-E002-4617-A4A2-2C99B09E953B}"/>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142D43"/>
                </a:solidFill>
                <a:latin typeface="Arial"/>
                <a:ea typeface="Arial"/>
                <a:cs typeface="Arial"/>
              </a:defRPr>
            </a:pPr>
            <a:r>
              <a:rPr sz="1725" b="1">
                <a:solidFill>
                  <a:srgbClr val="142D43"/>
                </a:solidFill>
                <a:latin typeface="Arial"/>
                <a:ea typeface="Arial"/>
                <a:cs typeface="Arial"/>
              </a:rPr>
              <a:t>Judge success by better teaching choices and usable knowledge.</a:t>
            </a:r>
          </a:p>
        </p:txBody>
      </p:sp>
      <p:sp>
        <p:nvSpPr>
          <p:cNvPr id="15" name="s15-offline-meta-15">
            <a:extLst xmlns:a="http://schemas.openxmlformats.org/drawingml/2006/main">
              <a:ext uri="{FF2B5EF4-FFF2-40B4-BE49-F238E27FC236}">
                <a16:creationId xmlns:a16="http://schemas.microsoft.com/office/drawing/2014/main" id="{43D8EAA2-DA08-4B50-BB28-4247A6BD29F1}"/>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566C7E"/>
                </a:solidFill>
                <a:latin typeface="Arial"/>
                <a:ea typeface="Arial"/>
                <a:cs typeface="Arial"/>
              </a:defRPr>
            </a:pPr>
            <a:r>
              <a:rPr sz="900" b="0">
                <a:solidFill>
                  <a:srgbClr val="566C7E"/>
                </a:solidFill>
                <a:latin typeface="Arial"/>
                <a:ea typeface="Arial"/>
                <a:cs typeface="Arial"/>
              </a:rPr>
              <a:t>CocoRobo · UNESCO Digital Learning Week 2026</a:t>
            </a:r>
          </a:p>
        </p:txBody>
      </p:sp>
      <p:sp>
        <p:nvSpPr>
          <p:cNvPr id="16" name="s15-offline-meta-16">
            <a:extLst xmlns:a="http://schemas.openxmlformats.org/drawingml/2006/main">
              <a:ext uri="{FF2B5EF4-FFF2-40B4-BE49-F238E27FC236}">
                <a16:creationId xmlns:a16="http://schemas.microsoft.com/office/drawing/2014/main" id="{B36E1F9C-3360-4F22-83F6-238800EDD5F9}"/>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566C7E"/>
                </a:solidFill>
                <a:latin typeface="Arial"/>
                <a:ea typeface="Arial"/>
                <a:cs typeface="Arial"/>
              </a:defRPr>
            </a:pPr>
            <a:r>
              <a:rPr sz="975" b="0">
                <a:solidFill>
                  <a:srgbClr val="566C7E"/>
                </a:solidFill>
                <a:latin typeface="Arial"/>
                <a:ea typeface="Arial"/>
                <a:cs typeface="Arial"/>
              </a:rPr>
              <a:t>15 / 17</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314cb4672384797"/>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027319246"/>
      </p:ext>
    </p:extLst>
  </p:cSld>
</p:sld>
</file>

<file path=ppt/slides/slide16.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3" name="s16-kicker-1">
            <a:extLst xmlns:a="http://schemas.openxmlformats.org/drawingml/2006/main">
              <a:ext uri="{FF2B5EF4-FFF2-40B4-BE49-F238E27FC236}">
                <a16:creationId xmlns:a16="http://schemas.microsoft.com/office/drawing/2014/main" id="{BBD3D7A3-997B-4D68-AD93-133E676A98B6}"/>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LET’S LEARN FROM EACH OTHER</a:t>
            </a:r>
          </a:p>
        </p:txBody>
      </p:sp>
      <p:sp>
        <p:nvSpPr>
          <p:cNvPr id="2" name="s16-title-2">
            <a:extLst xmlns:a="http://schemas.openxmlformats.org/drawingml/2006/main">
              <a:ext uri="{FF2B5EF4-FFF2-40B4-BE49-F238E27FC236}">
                <a16:creationId xmlns:a16="http://schemas.microsoft.com/office/drawing/2014/main" id="{13373EE2-8578-4E28-8E04-EEDF42E3D2B7}"/>
              </a:ext>
            </a:extLst>
          </p:cNvPr>
          <p:cNvSpPr>
            <a:spLocks xmlns:a="http://schemas.openxmlformats.org/drawingml/2006/main" noGrp="1"/>
          </p:cNvSpPr>
          <p:nvPr/>
        </p:nvSpPr>
        <p:spPr>
          <a:xfrm xmlns:a="http://schemas.openxmlformats.org/drawingml/2006/main">
            <a:off x="723900" y="904875"/>
            <a:ext cx="5896451"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938" b="1">
                <a:solidFill>
                  <a:srgbClr val="FFFFFF"/>
                </a:solidFill>
                <a:latin typeface="Arial"/>
                <a:ea typeface="Arial"/>
                <a:cs typeface="Arial"/>
              </a:defRPr>
            </a:pPr>
            <a:r>
              <a:rPr sz="3938" b="1">
                <a:solidFill>
                  <a:srgbClr val="FFFFFF"/>
                </a:solidFill>
                <a:latin typeface="Arial"/>
                <a:ea typeface="Arial"/>
                <a:cs typeface="Arial"/>
              </a:rPr>
              <a:t>You are welcome</a:t>
            </a:r>
          </a:p>
          <a:p xmlns:a="http://schemas.openxmlformats.org/drawingml/2006/main">
            <a:pPr algn="l">
              <a:lnSpc>
                <a:spcPct val="106000"/>
              </a:lnSpc>
              <a:buNone/>
              <a:defRPr sz="3938" b="1">
                <a:solidFill>
                  <a:srgbClr val="FFFFFF"/>
                </a:solidFill>
                <a:latin typeface="Arial"/>
                <a:ea typeface="Arial"/>
                <a:cs typeface="Arial"/>
              </a:defRPr>
            </a:pPr>
            <a:r>
              <a:rPr sz="3938" b="1">
                <a:solidFill>
                  <a:srgbClr val="FFFFFF"/>
                </a:solidFill>
                <a:latin typeface="Arial"/>
                <a:ea typeface="Arial"/>
                <a:cs typeface="Arial"/>
              </a:rPr>
              <a:t>in Shenzhen.</a:t>
            </a:r>
          </a:p>
        </p:txBody>
      </p:sp>
      <p:sp>
        <p:nvSpPr>
          <p:cNvPr id="3" name="s16-body-3">
            <a:extLst xmlns:a="http://schemas.openxmlformats.org/drawingml/2006/main">
              <a:ext uri="{FF2B5EF4-FFF2-40B4-BE49-F238E27FC236}">
                <a16:creationId xmlns:a16="http://schemas.microsoft.com/office/drawing/2014/main" id="{E79E88B2-2902-43BB-B389-0232FB414536}"/>
              </a:ext>
            </a:extLst>
          </p:cNvPr>
          <p:cNvSpPr>
            <a:spLocks xmlns:a="http://schemas.openxmlformats.org/drawingml/2006/main" noGrp="1"/>
          </p:cNvSpPr>
          <p:nvPr/>
        </p:nvSpPr>
        <p:spPr>
          <a:xfrm xmlns:a="http://schemas.openxmlformats.org/drawingml/2006/main">
            <a:off x="723900" y="2390775"/>
            <a:ext cx="5215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1">
                <a:solidFill>
                  <a:srgbClr val="FFFFFF"/>
                </a:solidFill>
                <a:latin typeface="Arial"/>
                <a:ea typeface="Arial"/>
                <a:cs typeface="Arial"/>
              </a:defRPr>
            </a:pPr>
            <a:r>
              <a:rPr sz="2093" b="1">
                <a:solidFill>
                  <a:srgbClr val="FFFFFF"/>
                </a:solidFill>
                <a:latin typeface="Arial"/>
                <a:ea typeface="Arial"/>
                <a:cs typeface="Arial"/>
              </a:rPr>
              <a:t>Visit our schools. Meet the teachers.</a:t>
            </a:r>
          </a:p>
          <a:p xmlns:a="http://schemas.openxmlformats.org/drawingml/2006/main">
            <a:pPr algn="l">
              <a:lnSpc>
                <a:spcPct val="126000"/>
              </a:lnSpc>
              <a:buNone/>
              <a:defRPr sz="2093" b="1">
                <a:solidFill>
                  <a:srgbClr val="FFFFFF"/>
                </a:solidFill>
                <a:latin typeface="Arial"/>
                <a:ea typeface="Arial"/>
                <a:cs typeface="Arial"/>
              </a:defRPr>
            </a:pPr>
            <a:r>
              <a:rPr sz="2093" b="1">
                <a:solidFill>
                  <a:srgbClr val="FFFFFF"/>
                </a:solidFill>
                <a:latin typeface="Arial"/>
                <a:ea typeface="Arial"/>
                <a:cs typeface="Arial"/>
              </a:rPr>
              <a:t>See their work in real lessons.</a:t>
            </a:r>
          </a:p>
        </p:txBody>
      </p:sp>
      <p:sp>
        <p:nvSpPr>
          <p:cNvPr id="4" name="s16-body-4">
            <a:extLst xmlns:a="http://schemas.openxmlformats.org/drawingml/2006/main">
              <a:ext uri="{FF2B5EF4-FFF2-40B4-BE49-F238E27FC236}">
                <a16:creationId xmlns:a16="http://schemas.microsoft.com/office/drawing/2014/main" id="{5A6CA104-480D-4E7F-B4DB-F3B7C6D050A8}"/>
              </a:ext>
            </a:extLst>
          </p:cNvPr>
          <p:cNvSpPr>
            <a:spLocks xmlns:a="http://schemas.openxmlformats.org/drawingml/2006/main" noGrp="1"/>
          </p:cNvSpPr>
          <p:nvPr/>
        </p:nvSpPr>
        <p:spPr>
          <a:xfrm xmlns:a="http://schemas.openxmlformats.org/drawingml/2006/main">
            <a:off x="723900" y="3705225"/>
            <a:ext cx="5188077"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23" b="0">
                <a:solidFill>
                  <a:srgbClr val="BED0DD"/>
                </a:solidFill>
                <a:latin typeface="Arial"/>
                <a:ea typeface="Arial"/>
                <a:cs typeface="Arial"/>
              </a:defRPr>
            </a:pPr>
            <a:r>
              <a:rPr sz="1823" b="0">
                <a:solidFill>
                  <a:srgbClr val="BED0DD"/>
                </a:solidFill>
                <a:latin typeface="Arial"/>
                <a:ea typeface="Arial"/>
                <a:cs typeface="Arial"/>
              </a:rPr>
              <a:t>Shenzhen is honoured to host APEC this year.</a:t>
            </a:r>
          </a:p>
        </p:txBody>
      </p:sp>
      <p:sp>
        <p:nvSpPr>
          <p:cNvPr id="5" name="s16-body-5">
            <a:extLst xmlns:a="http://schemas.openxmlformats.org/drawingml/2006/main">
              <a:ext uri="{FF2B5EF4-FFF2-40B4-BE49-F238E27FC236}">
                <a16:creationId xmlns:a16="http://schemas.microsoft.com/office/drawing/2014/main" id="{7C2574B6-9020-4793-9B68-E9D1032DCE49}"/>
              </a:ext>
            </a:extLst>
          </p:cNvPr>
          <p:cNvSpPr>
            <a:spLocks xmlns:a="http://schemas.openxmlformats.org/drawingml/2006/main" noGrp="1"/>
          </p:cNvSpPr>
          <p:nvPr/>
        </p:nvSpPr>
        <p:spPr>
          <a:xfrm xmlns:a="http://schemas.openxmlformats.org/drawingml/2006/main">
            <a:off x="723900" y="4638675"/>
            <a:ext cx="5224939"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093" b="1">
                <a:solidFill>
                  <a:srgbClr val="FFFFFF"/>
                </a:solidFill>
                <a:latin typeface="Arial"/>
                <a:ea typeface="Arial"/>
                <a:cs typeface="Arial"/>
              </a:defRPr>
            </a:pPr>
            <a:r>
              <a:rPr sz="2093" b="1">
                <a:solidFill>
                  <a:srgbClr val="FFFFFF"/>
                </a:solidFill>
                <a:latin typeface="Arial"/>
                <a:ea typeface="Arial"/>
                <a:cs typeface="Arial"/>
              </a:rPr>
              <a:t>APEC Economic Leaders’ Meeting</a:t>
            </a:r>
          </a:p>
        </p:txBody>
      </p:sp>
      <p:sp>
        <p:nvSpPr>
          <p:cNvPr id="6" name="s16-body-6">
            <a:extLst xmlns:a="http://schemas.openxmlformats.org/drawingml/2006/main">
              <a:ext uri="{FF2B5EF4-FFF2-40B4-BE49-F238E27FC236}">
                <a16:creationId xmlns:a16="http://schemas.microsoft.com/office/drawing/2014/main" id="{317F9133-7949-4C9C-A784-AB9D04E7348A}"/>
              </a:ext>
            </a:extLst>
          </p:cNvPr>
          <p:cNvSpPr>
            <a:spLocks xmlns:a="http://schemas.openxmlformats.org/drawingml/2006/main" noGrp="1"/>
          </p:cNvSpPr>
          <p:nvPr/>
        </p:nvSpPr>
        <p:spPr>
          <a:xfrm xmlns:a="http://schemas.openxmlformats.org/drawingml/2006/main">
            <a:off x="723900" y="5229225"/>
            <a:ext cx="5224939"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64D2C4"/>
                </a:solidFill>
                <a:latin typeface="Arial"/>
                <a:ea typeface="Arial"/>
                <a:cs typeface="Arial"/>
              </a:defRPr>
            </a:pPr>
            <a:r>
              <a:rPr sz="1890" b="1">
                <a:solidFill>
                  <a:srgbClr val="64D2C4"/>
                </a:solidFill>
                <a:latin typeface="Arial"/>
                <a:ea typeface="Arial"/>
                <a:cs typeface="Arial"/>
              </a:rPr>
              <a:t>18–19 November 2026 · Shenzhen, China</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63a4a9f7f545aa"/>
          <a:stretch xmlns:a="http://schemas.openxmlformats.org/drawingml/2006/main"/>
        </p:blipFill>
        <p:spPr>
          <a:xfrm xmlns:a="http://schemas.openxmlformats.org/drawingml/2006/main">
            <a:off x="6525768" y="1905000"/>
            <a:ext cx="4942332" cy="3617214"/>
          </a:xfrm>
          <a:prstGeom xmlns:a="http://schemas.openxmlformats.org/drawingml/2006/main" prst="rect">
            <a:avLst/>
          </a:prstGeom>
        </p:spPr>
      </p:pic>
      <p:sp>
        <p:nvSpPr>
          <p:cNvPr id="8" name="s16-caption-8">
            <a:extLst xmlns:a="http://schemas.openxmlformats.org/drawingml/2006/main">
              <a:ext uri="{FF2B5EF4-FFF2-40B4-BE49-F238E27FC236}">
                <a16:creationId xmlns:a16="http://schemas.microsoft.com/office/drawing/2014/main" id="{7B7E94BE-21A8-4094-9C98-FB2EB45E58C1}"/>
              </a:ext>
            </a:extLst>
          </p:cNvPr>
          <p:cNvSpPr>
            <a:spLocks xmlns:a="http://schemas.openxmlformats.org/drawingml/2006/main" noGrp="1"/>
          </p:cNvSpPr>
          <p:nvPr/>
        </p:nvSpPr>
        <p:spPr>
          <a:xfrm xmlns:a="http://schemas.openxmlformats.org/drawingml/2006/main">
            <a:off x="6525768" y="5636514"/>
            <a:ext cx="507777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BED0DD"/>
                </a:solidFill>
                <a:latin typeface="Arial"/>
                <a:ea typeface="Arial"/>
                <a:cs typeface="Arial"/>
              </a:defRPr>
            </a:pPr>
            <a:r>
              <a:rPr sz="1275" b="0">
                <a:solidFill>
                  <a:srgbClr val="BED0DD"/>
                </a:solidFill>
                <a:latin typeface="Arial"/>
                <a:ea typeface="Arial"/>
                <a:cs typeface="Arial"/>
              </a:rPr>
              <a:t>APEC China 2026 · official emblem</a:t>
            </a:r>
          </a:p>
        </p:txBody>
      </p:sp>
      <p:sp>
        <p:nvSpPr>
          <p:cNvPr id="9" name="s16-rect-9">
            <a:extLst xmlns:a="http://schemas.openxmlformats.org/drawingml/2006/main">
              <a:ext uri="{FF2B5EF4-FFF2-40B4-BE49-F238E27FC236}">
                <a16:creationId xmlns:a16="http://schemas.microsoft.com/office/drawing/2014/main" id="{A53C8580-3CDE-4EC9-9868-C3943E85E8B6}"/>
              </a:ext>
            </a:extLst>
          </p:cNvPr>
          <p:cNvSpPr>
            <a:spLocks xmlns:a="http://schemas.openxmlformats.org/drawingml/2006/main" noGrp="1"/>
          </p:cNvSpPr>
          <p:nvPr/>
        </p:nvSpPr>
        <p:spPr>
          <a:xfrm xmlns:a="http://schemas.openxmlformats.org/drawingml/2006/main">
            <a:off x="723900" y="6105525"/>
            <a:ext cx="36767" cy="304800"/>
          </a:xfrm>
          <a:prstGeom xmlns:a="http://schemas.openxmlformats.org/drawingml/2006/main" prst="rect">
            <a:avLst/>
          </a:prstGeom>
          <a:solidFill xmlns:a="http://schemas.openxmlformats.org/drawingml/2006/main">
            <a:srgbClr val="64D2C4"/>
          </a:solidFill>
          <a:ln xmlns:a="http://schemas.openxmlformats.org/drawingml/2006/main" w="0">
            <a:noFill/>
          </a:ln>
        </p:spPr>
      </p:sp>
      <p:sp>
        <p:nvSpPr>
          <p:cNvPr id="10" name="s16-takeaway-10">
            <a:extLst xmlns:a="http://schemas.openxmlformats.org/drawingml/2006/main">
              <a:ext uri="{FF2B5EF4-FFF2-40B4-BE49-F238E27FC236}">
                <a16:creationId xmlns:a16="http://schemas.microsoft.com/office/drawing/2014/main" id="{3011AB6A-0B43-4C6D-8B5D-A8C0051A8733}"/>
              </a:ext>
            </a:extLst>
          </p:cNvPr>
          <p:cNvSpPr>
            <a:spLocks xmlns:a="http://schemas.openxmlformats.org/drawingml/2006/main" noGrp="1"/>
          </p:cNvSpPr>
          <p:nvPr/>
        </p:nvSpPr>
        <p:spPr>
          <a:xfrm xmlns:a="http://schemas.openxmlformats.org/drawingml/2006/main">
            <a:off x="917067" y="6076950"/>
            <a:ext cx="104866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FFFFFF"/>
                </a:solidFill>
                <a:latin typeface="Arial"/>
                <a:ea typeface="Arial"/>
                <a:cs typeface="Arial"/>
              </a:defRPr>
            </a:pPr>
            <a:r>
              <a:rPr sz="1725" b="1">
                <a:solidFill>
                  <a:srgbClr val="FFFFFF"/>
                </a:solidFill>
                <a:latin typeface="Arial"/>
                <a:ea typeface="Arial"/>
                <a:cs typeface="Arial"/>
              </a:rPr>
              <a:t>Contact me to explore a school visit and exchange ideas.</a:t>
            </a:r>
          </a:p>
        </p:txBody>
      </p:sp>
      <p:sp>
        <p:nvSpPr>
          <p:cNvPr id="11" name="s16-offline-meta-11">
            <a:extLst xmlns:a="http://schemas.openxmlformats.org/drawingml/2006/main">
              <a:ext uri="{FF2B5EF4-FFF2-40B4-BE49-F238E27FC236}">
                <a16:creationId xmlns:a16="http://schemas.microsoft.com/office/drawing/2014/main" id="{20883312-47C8-4AC3-A644-60C44AFEADA0}"/>
              </a:ext>
            </a:extLst>
          </p:cNvPr>
          <p:cNvSpPr>
            <a:spLocks xmlns:a="http://schemas.openxmlformats.org/drawingml/2006/main" noGrp="1"/>
          </p:cNvSpPr>
          <p:nvPr/>
        </p:nvSpPr>
        <p:spPr>
          <a:xfrm xmlns:a="http://schemas.openxmlformats.org/drawingml/2006/main">
            <a:off x="723900" y="6562725"/>
            <a:ext cx="91068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900" b="0">
                <a:solidFill>
                  <a:srgbClr val="BED0DD"/>
                </a:solidFill>
                <a:latin typeface="Arial"/>
                <a:ea typeface="Arial"/>
                <a:cs typeface="Arial"/>
              </a:defRPr>
            </a:pPr>
            <a:r>
              <a:rPr sz="900" b="0">
                <a:solidFill>
                  <a:srgbClr val="BED0DD"/>
                </a:solidFill>
                <a:latin typeface="Arial"/>
                <a:ea typeface="Arial"/>
                <a:cs typeface="Arial"/>
              </a:rPr>
              <a:t>CocoRobo · UNESCO Digital Learning Week 2026</a:t>
            </a:r>
          </a:p>
        </p:txBody>
      </p:sp>
      <p:sp>
        <p:nvSpPr>
          <p:cNvPr id="12" name="s16-offline-meta-12">
            <a:extLst xmlns:a="http://schemas.openxmlformats.org/drawingml/2006/main">
              <a:ext uri="{FF2B5EF4-FFF2-40B4-BE49-F238E27FC236}">
                <a16:creationId xmlns:a16="http://schemas.microsoft.com/office/drawing/2014/main" id="{D38C5881-54D6-4B42-A815-C9D7DA6FCF95}"/>
              </a:ext>
            </a:extLst>
          </p:cNvPr>
          <p:cNvSpPr>
            <a:spLocks xmlns:a="http://schemas.openxmlformats.org/drawingml/2006/main" noGrp="1"/>
          </p:cNvSpPr>
          <p:nvPr/>
        </p:nvSpPr>
        <p:spPr>
          <a:xfrm xmlns:a="http://schemas.openxmlformats.org/drawingml/2006/main">
            <a:off x="10548176" y="6562725"/>
            <a:ext cx="919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975" b="0">
                <a:solidFill>
                  <a:srgbClr val="BED0DD"/>
                </a:solidFill>
                <a:latin typeface="Arial"/>
                <a:ea typeface="Arial"/>
                <a:cs typeface="Arial"/>
              </a:defRPr>
            </a:pPr>
            <a:r>
              <a:rPr sz="975" b="0">
                <a:solidFill>
                  <a:srgbClr val="BED0DD"/>
                </a:solidFill>
                <a:latin typeface="Arial"/>
                <a:ea typeface="Arial"/>
                <a:cs typeface="Arial"/>
              </a:rPr>
              <a:t>16 / 17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6079849eb164038"/>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1491712707"/>
      </p:ext>
    </p:extLst>
  </p:cSld>
</p:sld>
</file>

<file path=ppt/slides/slide17.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3" name="s17-kicker-1">
            <a:extLst xmlns:a="http://schemas.openxmlformats.org/drawingml/2006/main">
              <a:ext uri="{FF2B5EF4-FFF2-40B4-BE49-F238E27FC236}">
                <a16:creationId xmlns:a16="http://schemas.microsoft.com/office/drawing/2014/main" id="{12DCBAD2-BA00-47CF-B62A-375DC109466C}"/>
              </a:ext>
            </a:extLst>
          </p:cNvPr>
          <p:cNvSpPr>
            <a:spLocks xmlns:a="http://schemas.openxmlformats.org/drawingml/2006/main" noGrp="1"/>
          </p:cNvSpPr>
          <p:nvPr/>
        </p:nvSpPr>
        <p:spPr>
          <a:xfrm xmlns:a="http://schemas.openxmlformats.org/drawingml/2006/main">
            <a:off x="723900" y="447675"/>
            <a:ext cx="90148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1">
                <a:solidFill>
                  <a:srgbClr val="64D2C4"/>
                </a:solidFill>
                <a:latin typeface="Arial"/>
                <a:ea typeface="Arial"/>
                <a:cs typeface="Arial"/>
              </a:defRPr>
            </a:pPr>
            <a:r>
              <a:rPr sz="1200" b="1">
                <a:solidFill>
                  <a:srgbClr val="64D2C4"/>
                </a:solidFill>
                <a:latin typeface="Arial"/>
                <a:ea typeface="Arial"/>
                <a:cs typeface="Arial"/>
              </a:rPr>
              <a:t>VISIT · SHARE · COLLABORATE</a:t>
            </a:r>
          </a:p>
        </p:txBody>
      </p:sp>
      <p:sp>
        <p:nvSpPr>
          <p:cNvPr id="2" name="s17-title-2">
            <a:extLst xmlns:a="http://schemas.openxmlformats.org/drawingml/2006/main">
              <a:ext uri="{FF2B5EF4-FFF2-40B4-BE49-F238E27FC236}">
                <a16:creationId xmlns:a16="http://schemas.microsoft.com/office/drawing/2014/main" id="{4FCD19F4-5E98-4D75-8A7E-48541D9861F2}"/>
              </a:ext>
            </a:extLst>
          </p:cNvPr>
          <p:cNvSpPr>
            <a:spLocks xmlns:a="http://schemas.openxmlformats.org/drawingml/2006/main" noGrp="1"/>
          </p:cNvSpPr>
          <p:nvPr/>
        </p:nvSpPr>
        <p:spPr>
          <a:xfrm xmlns:a="http://schemas.openxmlformats.org/drawingml/2006/main">
            <a:off x="723900" y="904875"/>
            <a:ext cx="5445728"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073" b="1">
                <a:solidFill>
                  <a:srgbClr val="FFFFFF"/>
                </a:solidFill>
                <a:latin typeface="Arial"/>
                <a:ea typeface="Arial"/>
                <a:cs typeface="Arial"/>
              </a:defRPr>
            </a:pPr>
            <a:r>
              <a:rPr sz="4073" b="1">
                <a:solidFill>
                  <a:srgbClr val="FFFFFF"/>
                </a:solidFill>
                <a:latin typeface="Arial"/>
                <a:ea typeface="Arial"/>
                <a:cs typeface="Arial"/>
              </a:rPr>
              <a:t>Let’s keep</a:t>
            </a:r>
          </a:p>
          <a:p xmlns:a="http://schemas.openxmlformats.org/drawingml/2006/main">
            <a:pPr algn="l">
              <a:lnSpc>
                <a:spcPct val="106000"/>
              </a:lnSpc>
              <a:buNone/>
              <a:defRPr sz="4073" b="1">
                <a:solidFill>
                  <a:srgbClr val="FFFFFF"/>
                </a:solidFill>
                <a:latin typeface="Arial"/>
                <a:ea typeface="Arial"/>
                <a:cs typeface="Arial"/>
              </a:defRPr>
            </a:pPr>
            <a:r>
              <a:rPr sz="4073" b="1">
                <a:solidFill>
                  <a:srgbClr val="FFFFFF"/>
                </a:solidFill>
                <a:latin typeface="Arial"/>
                <a:ea typeface="Arial"/>
                <a:cs typeface="Arial"/>
              </a:rPr>
              <a:t>learning together.</a:t>
            </a:r>
          </a:p>
        </p:txBody>
      </p:sp>
      <p:sp>
        <p:nvSpPr>
          <p:cNvPr id="3" name="s17-body-3">
            <a:extLst xmlns:a="http://schemas.openxmlformats.org/drawingml/2006/main">
              <a:ext uri="{FF2B5EF4-FFF2-40B4-BE49-F238E27FC236}">
                <a16:creationId xmlns:a16="http://schemas.microsoft.com/office/drawing/2014/main" id="{100A3E0C-DD30-40DB-899A-D653E837EEFA}"/>
              </a:ext>
            </a:extLst>
          </p:cNvPr>
          <p:cNvSpPr>
            <a:spLocks xmlns:a="http://schemas.openxmlformats.org/drawingml/2006/main" noGrp="1"/>
          </p:cNvSpPr>
          <p:nvPr/>
        </p:nvSpPr>
        <p:spPr>
          <a:xfrm xmlns:a="http://schemas.openxmlformats.org/drawingml/2006/main">
            <a:off x="723900" y="2590800"/>
            <a:ext cx="499491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958" b="0">
                <a:solidFill>
                  <a:srgbClr val="BED0DD"/>
                </a:solidFill>
                <a:latin typeface="Arial"/>
                <a:ea typeface="Arial"/>
                <a:cs typeface="Arial"/>
              </a:defRPr>
            </a:pPr>
            <a:r>
              <a:rPr sz="1958" b="0">
                <a:solidFill>
                  <a:srgbClr val="BED0DD"/>
                </a:solidFill>
                <a:latin typeface="Arial"/>
                <a:ea typeface="Arial"/>
                <a:cs typeface="Arial"/>
              </a:rPr>
              <a:t>Scan the slides or explore the full</a:t>
            </a:r>
          </a:p>
          <a:p xmlns:a="http://schemas.openxmlformats.org/drawingml/2006/main">
            <a:pPr algn="l">
              <a:lnSpc>
                <a:spcPct val="126000"/>
              </a:lnSpc>
              <a:buNone/>
              <a:defRPr sz="1958" b="0">
                <a:solidFill>
                  <a:srgbClr val="BED0DD"/>
                </a:solidFill>
                <a:latin typeface="Arial"/>
                <a:ea typeface="Arial"/>
                <a:cs typeface="Arial"/>
              </a:defRPr>
            </a:pPr>
            <a:r>
              <a:rPr sz="1958" b="0">
                <a:solidFill>
                  <a:srgbClr val="BED0DD"/>
                </a:solidFill>
                <a:latin typeface="Arial"/>
                <a:ea typeface="Arial"/>
                <a:cs typeface="Arial"/>
              </a:rPr>
              <a:t>submission and research.</a:t>
            </a:r>
          </a:p>
        </p:txBody>
      </p:sp>
      <p:sp>
        <p:nvSpPr>
          <p:cNvPr id="4" name="s17-subheading-4">
            <a:extLst xmlns:a="http://schemas.openxmlformats.org/drawingml/2006/main">
              <a:ext uri="{FF2B5EF4-FFF2-40B4-BE49-F238E27FC236}">
                <a16:creationId xmlns:a16="http://schemas.microsoft.com/office/drawing/2014/main" id="{578C8BBA-7FCD-4A4D-B257-8D5FD5785889}"/>
              </a:ext>
            </a:extLst>
          </p:cNvPr>
          <p:cNvSpPr>
            <a:spLocks xmlns:a="http://schemas.openxmlformats.org/drawingml/2006/main" noGrp="1"/>
          </p:cNvSpPr>
          <p:nvPr/>
        </p:nvSpPr>
        <p:spPr>
          <a:xfrm xmlns:a="http://schemas.openxmlformats.org/drawingml/2006/main">
            <a:off x="6562725" y="213360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FFFFFF"/>
                </a:solidFill>
                <a:latin typeface="Arial"/>
                <a:ea typeface="Arial"/>
                <a:cs typeface="Arial"/>
              </a:defRPr>
            </a:pPr>
            <a:r>
              <a:rPr sz="1890" b="1">
                <a:solidFill>
                  <a:srgbClr val="FFFFFF"/>
                </a:solidFill>
                <a:latin typeface="Arial"/>
                <a:ea typeface="Arial"/>
                <a:cs typeface="Arial"/>
              </a:rPr>
              <a:t>This</a:t>
            </a:r>
          </a:p>
          <a:p xmlns:a="http://schemas.openxmlformats.org/drawingml/2006/main">
            <a:pPr algn="l">
              <a:lnSpc>
                <a:spcPct val="126000"/>
              </a:lnSpc>
              <a:buNone/>
              <a:defRPr sz="1890" b="1">
                <a:solidFill>
                  <a:srgbClr val="FFFFFF"/>
                </a:solidFill>
                <a:latin typeface="Arial"/>
                <a:ea typeface="Arial"/>
                <a:cs typeface="Arial"/>
              </a:defRPr>
            </a:pPr>
            <a:r>
              <a:rPr sz="1890" b="1">
                <a:solidFill>
                  <a:srgbClr val="FFFFFF"/>
                </a:solidFill>
                <a:latin typeface="Arial"/>
                <a:ea typeface="Arial"/>
                <a:cs typeface="Arial"/>
              </a:rPr>
              <a:t>presentation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299285b68e46d5"/>
          <a:srcRect xmlns:a="http://schemas.openxmlformats.org/drawingml/2006/main" l="0" t="0" r="0" b="0"/>
          <a:stretch xmlns:a="http://schemas.openxmlformats.org/drawingml/2006/main"/>
        </p:blipFill>
        <p:spPr>
          <a:xfrm xmlns:a="http://schemas.openxmlformats.org/drawingml/2006/main">
            <a:off x="6562725" y="3076575"/>
            <a:ext cx="2190750" cy="2190750"/>
          </a:xfrm>
          <a:prstGeom xmlns:a="http://schemas.openxmlformats.org/drawingml/2006/main" prst="rect">
            <a:avLst/>
          </a:prstGeom>
        </p:spPr>
      </p:pic>
      <p:sp>
        <p:nvSpPr>
          <p:cNvPr id="6" name="s17-caption-6">
            <a:extLst xmlns:a="http://schemas.openxmlformats.org/drawingml/2006/main">
              <a:ext uri="{FF2B5EF4-FFF2-40B4-BE49-F238E27FC236}">
                <a16:creationId xmlns:a16="http://schemas.microsoft.com/office/drawing/2014/main" id="{A47EDC0F-191F-4722-8D37-3718BC787385}"/>
              </a:ext>
            </a:extLst>
          </p:cNvPr>
          <p:cNvSpPr>
            <a:spLocks xmlns:a="http://schemas.openxmlformats.org/drawingml/2006/main" noGrp="1"/>
          </p:cNvSpPr>
          <p:nvPr/>
        </p:nvSpPr>
        <p:spPr>
          <a:xfrm xmlns:a="http://schemas.openxmlformats.org/drawingml/2006/main">
            <a:off x="6562725" y="5467350"/>
            <a:ext cx="219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BED0DD"/>
                </a:solidFill>
                <a:latin typeface="Arial"/>
                <a:ea typeface="Arial"/>
                <a:cs typeface="Arial"/>
              </a:defRPr>
            </a:pPr>
            <a:r>
              <a:rPr sz="1425" b="0">
                <a:solidFill>
                  <a:srgbClr val="BED0DD"/>
                </a:solidFill>
                <a:latin typeface="Arial"/>
                <a:ea typeface="Arial"/>
                <a:cs typeface="Arial"/>
                <a:hlinkClick xmlns:r="http://schemas.openxmlformats.org/officeDocument/2006/relationships" r:id="Rd058010612294182"/>
              </a:rPr>
              <a:t>Online slides ·</a:t>
            </a:r>
          </a:p>
          <a:p xmlns:a="http://schemas.openxmlformats.org/drawingml/2006/main">
            <a:pPr algn="l">
              <a:lnSpc>
                <a:spcPct val="120000"/>
              </a:lnSpc>
              <a:buNone/>
              <a:defRPr sz="1425" b="0">
                <a:solidFill>
                  <a:srgbClr val="BED0DD"/>
                </a:solidFill>
                <a:latin typeface="Arial"/>
                <a:ea typeface="Arial"/>
                <a:cs typeface="Arial"/>
              </a:defRPr>
            </a:pPr>
            <a:r>
              <a:rPr sz="1425" b="0">
                <a:solidFill>
                  <a:srgbClr val="BED0DD"/>
                </a:solidFill>
                <a:latin typeface="Arial"/>
                <a:ea typeface="Arial"/>
                <a:cs typeface="Arial"/>
                <a:hlinkClick xmlns:r="http://schemas.openxmlformats.org/officeDocument/2006/relationships" r:id="R643af09dd7c14d1b"/>
              </a:rPr>
              <a:t>current version</a:t>
            </a:r>
          </a:p>
        </p:txBody>
      </p:sp>
      <p:sp>
        <p:nvSpPr>
          <p:cNvPr id="7" name="s17-subheading-7">
            <a:extLst xmlns:a="http://schemas.openxmlformats.org/drawingml/2006/main">
              <a:ext uri="{FF2B5EF4-FFF2-40B4-BE49-F238E27FC236}">
                <a16:creationId xmlns:a16="http://schemas.microsoft.com/office/drawing/2014/main" id="{7537E5A5-80FE-45B9-868D-8CC3B61490DA}"/>
              </a:ext>
            </a:extLst>
          </p:cNvPr>
          <p:cNvSpPr>
            <a:spLocks xmlns:a="http://schemas.openxmlformats.org/drawingml/2006/main" noGrp="1"/>
          </p:cNvSpPr>
          <p:nvPr/>
        </p:nvSpPr>
        <p:spPr>
          <a:xfrm xmlns:a="http://schemas.openxmlformats.org/drawingml/2006/main">
            <a:off x="9277350" y="213360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1890" b="1">
                <a:solidFill>
                  <a:srgbClr val="FFFFFF"/>
                </a:solidFill>
                <a:latin typeface="Arial"/>
                <a:ea typeface="Arial"/>
                <a:cs typeface="Arial"/>
              </a:defRPr>
            </a:pPr>
            <a:r>
              <a:rPr sz="1890" b="1">
                <a:solidFill>
                  <a:srgbClr val="FFFFFF"/>
                </a:solidFill>
                <a:latin typeface="Arial"/>
                <a:ea typeface="Arial"/>
                <a:cs typeface="Arial"/>
              </a:rPr>
              <a:t>Submission</a:t>
            </a:r>
          </a:p>
          <a:p xmlns:a="http://schemas.openxmlformats.org/drawingml/2006/main">
            <a:pPr algn="l">
              <a:lnSpc>
                <a:spcPct val="126000"/>
              </a:lnSpc>
              <a:buNone/>
              <a:defRPr sz="1890" b="1">
                <a:solidFill>
                  <a:srgbClr val="FFFFFF"/>
                </a:solidFill>
                <a:latin typeface="Arial"/>
                <a:ea typeface="Arial"/>
                <a:cs typeface="Arial"/>
              </a:defRPr>
            </a:pPr>
            <a:r>
              <a:rPr sz="1890" b="1">
                <a:solidFill>
                  <a:srgbClr val="FFFFFF"/>
                </a:solidFill>
                <a:latin typeface="Arial"/>
                <a:ea typeface="Arial"/>
                <a:cs typeface="Arial"/>
              </a:rPr>
              <a:t>materials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3e81eda734d4e8f"/>
          <a:srcRect xmlns:a="http://schemas.openxmlformats.org/drawingml/2006/main" l="0" t="0" r="0" b="0"/>
          <a:stretch xmlns:a="http://schemas.openxmlformats.org/drawingml/2006/main"/>
        </p:blipFill>
        <p:spPr>
          <a:xfrm xmlns:a="http://schemas.openxmlformats.org/drawingml/2006/main">
            <a:off x="9277350" y="3076575"/>
            <a:ext cx="2190750" cy="2190750"/>
          </a:xfrm>
          <a:prstGeom xmlns:a="http://schemas.openxmlformats.org/drawingml/2006/main" prst="rect">
            <a:avLst/>
          </a:prstGeom>
        </p:spPr>
      </p:pic>
      <p:sp>
        <p:nvSpPr>
          <p:cNvPr id="9" name="s17-caption-9">
            <a:extLst xmlns:a="http://schemas.openxmlformats.org/drawingml/2006/main">
              <a:ext uri="{FF2B5EF4-FFF2-40B4-BE49-F238E27FC236}">
                <a16:creationId xmlns:a16="http://schemas.microsoft.com/office/drawing/2014/main" id="{33E80AE7-1FDF-40FB-AEC3-FA0CD65C6320}"/>
              </a:ext>
            </a:extLst>
          </p:cNvPr>
          <p:cNvSpPr>
            <a:spLocks xmlns:a="http://schemas.openxmlformats.org/drawingml/2006/main" noGrp="1"/>
          </p:cNvSpPr>
          <p:nvPr/>
        </p:nvSpPr>
        <p:spPr>
          <a:xfrm xmlns:a="http://schemas.openxmlformats.org/drawingml/2006/main">
            <a:off x="9277350" y="5467350"/>
            <a:ext cx="219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BED0DD"/>
                </a:solidFill>
                <a:latin typeface="Arial"/>
                <a:ea typeface="Arial"/>
                <a:cs typeface="Arial"/>
              </a:defRPr>
            </a:pPr>
            <a:r>
              <a:rPr sz="1425" b="0">
                <a:solidFill>
                  <a:srgbClr val="BED0DD"/>
                </a:solidFill>
                <a:latin typeface="Arial"/>
                <a:ea typeface="Arial"/>
                <a:cs typeface="Arial"/>
                <a:hlinkClick xmlns:r="http://schemas.openxmlformats.org/officeDocument/2006/relationships" r:id="R7dd6633eb9eb498b"/>
              </a:rPr>
              <a:t>UNESCO submission ·</a:t>
            </a:r>
          </a:p>
          <a:p xmlns:a="http://schemas.openxmlformats.org/drawingml/2006/main">
            <a:pPr algn="l">
              <a:lnSpc>
                <a:spcPct val="120000"/>
              </a:lnSpc>
              <a:buNone/>
              <a:defRPr sz="1425" b="0">
                <a:solidFill>
                  <a:srgbClr val="BED0DD"/>
                </a:solidFill>
                <a:latin typeface="Arial"/>
                <a:ea typeface="Arial"/>
                <a:cs typeface="Arial"/>
              </a:defRPr>
            </a:pPr>
            <a:r>
              <a:rPr sz="1425" b="0">
                <a:solidFill>
                  <a:srgbClr val="BED0DD"/>
                </a:solidFill>
                <a:latin typeface="Arial"/>
                <a:ea typeface="Arial"/>
                <a:cs typeface="Arial"/>
                <a:hlinkClick xmlns:r="http://schemas.openxmlformats.org/officeDocument/2006/relationships" r:id="R996d582141234ebf"/>
              </a:rPr>
              <a:t>studies and evidence</a:t>
            </a:r>
          </a:p>
        </p:txBody>
      </p:sp>
      <p:sp>
        <p:nvSpPr>
          <p:cNvPr id="10" name="s17-body-10">
            <a:extLst xmlns:a="http://schemas.openxmlformats.org/drawingml/2006/main">
              <a:ext uri="{FF2B5EF4-FFF2-40B4-BE49-F238E27FC236}">
                <a16:creationId xmlns:a16="http://schemas.microsoft.com/office/drawing/2014/main" id="{A3FF812E-7402-435B-ADD8-F44A11C45390}"/>
              </a:ext>
            </a:extLst>
          </p:cNvPr>
          <p:cNvSpPr>
            <a:spLocks xmlns:a="http://schemas.openxmlformats.org/drawingml/2006/main" noGrp="1"/>
          </p:cNvSpPr>
          <p:nvPr/>
        </p:nvSpPr>
        <p:spPr>
          <a:xfrm xmlns:a="http://schemas.openxmlformats.org/drawingml/2006/main">
            <a:off x="723900" y="4276725"/>
            <a:ext cx="516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20" b="1">
                <a:solidFill>
                  <a:srgbClr val="FFFFFF"/>
                </a:solidFill>
                <a:latin typeface="Arial"/>
                <a:ea typeface="Arial"/>
                <a:cs typeface="Arial"/>
              </a:defRPr>
            </a:pPr>
            <a:r>
              <a:rPr sz="1620" b="1">
                <a:solidFill>
                  <a:srgbClr val="FFFFFF"/>
                </a:solidFill>
                <a:latin typeface="Arial"/>
                <a:ea typeface="Arial"/>
                <a:cs typeface="Arial"/>
              </a:rPr>
              <a:t>Haiyang Xin ·</a:t>
            </a:r>
          </a:p>
          <a:p xmlns:a="http://schemas.openxmlformats.org/drawingml/2006/main">
            <a:pPr algn="l">
              <a:lnSpc>
                <a:spcPct val="120000"/>
              </a:lnSpc>
              <a:buNone/>
              <a:defRPr sz="1620" b="1">
                <a:solidFill>
                  <a:srgbClr val="FFFFFF"/>
                </a:solidFill>
                <a:latin typeface="Arial"/>
                <a:ea typeface="Arial"/>
                <a:cs typeface="Arial"/>
              </a:defRPr>
            </a:pPr>
            <a:r>
              <a:rPr sz="1620" b="1">
                <a:solidFill>
                  <a:srgbClr val="FFFFFF"/>
                </a:solidFill>
                <a:latin typeface="Arial"/>
                <a:ea typeface="Arial"/>
                <a:cs typeface="Arial"/>
              </a:rPr>
              <a:t>Founder &amp; CEO, CocoRobo Ltd.</a:t>
            </a:r>
          </a:p>
        </p:txBody>
      </p:sp>
      <p:sp>
        <p:nvSpPr>
          <p:cNvPr id="11" name="s17-body-11">
            <a:extLst xmlns:a="http://schemas.openxmlformats.org/drawingml/2006/main">
              <a:ext uri="{FF2B5EF4-FFF2-40B4-BE49-F238E27FC236}">
                <a16:creationId xmlns:a16="http://schemas.microsoft.com/office/drawing/2014/main" id="{70138ED7-DC61-4FDA-ABED-871CECC9492A}"/>
              </a:ext>
            </a:extLst>
          </p:cNvPr>
          <p:cNvSpPr>
            <a:spLocks xmlns:a="http://schemas.openxmlformats.org/drawingml/2006/main" noGrp="1"/>
          </p:cNvSpPr>
          <p:nvPr/>
        </p:nvSpPr>
        <p:spPr>
          <a:xfrm xmlns:a="http://schemas.openxmlformats.org/drawingml/2006/main">
            <a:off x="723900" y="5172075"/>
            <a:ext cx="5086921"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498" b="1">
                <a:solidFill>
                  <a:srgbClr val="64D2C4"/>
                </a:solidFill>
                <a:latin typeface="Arial"/>
                <a:ea typeface="Arial"/>
                <a:cs typeface="Arial"/>
              </a:defRPr>
            </a:pPr>
            <a:r>
              <a:rPr sz="2498" b="1">
                <a:solidFill>
                  <a:srgbClr val="64D2C4"/>
                </a:solidFill>
                <a:latin typeface="Arial"/>
                <a:ea typeface="Arial"/>
                <a:cs typeface="Arial"/>
                <a:hlinkClick xmlns:r="http://schemas.openxmlformats.org/officeDocument/2006/relationships" r:id="R2e12bcf3351346cf"/>
              </a:rPr>
              <a:t>tony@cocorobo.cc</a:t>
            </a:r>
          </a:p>
        </p:txBody>
      </p:sp>
      <p:sp>
        <p:nvSpPr>
          <p:cNvPr id="12" name="s17-contact-prompt-12">
            <a:extLst xmlns:a="http://schemas.openxmlformats.org/drawingml/2006/main">
              <a:ext uri="{FF2B5EF4-FFF2-40B4-BE49-F238E27FC236}">
                <a16:creationId xmlns:a16="http://schemas.microsoft.com/office/drawing/2014/main" id="{3A6A59A6-198E-43DE-8C51-BC2467FC9860}"/>
              </a:ext>
            </a:extLst>
          </p:cNvPr>
          <p:cNvSpPr>
            <a:spLocks xmlns:a="http://schemas.openxmlformats.org/drawingml/2006/main" noGrp="1"/>
          </p:cNvSpPr>
          <p:nvPr/>
        </p:nvSpPr>
        <p:spPr>
          <a:xfrm xmlns:a="http://schemas.openxmlformats.org/drawingml/2006/main">
            <a:off x="723900" y="6257925"/>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BED0DD"/>
                </a:solidFill>
                <a:latin typeface="Arial"/>
                <a:ea typeface="Arial"/>
                <a:cs typeface="Arial"/>
              </a:defRPr>
            </a:pPr>
            <a:r>
              <a:rPr sz="1575" b="0">
                <a:solidFill>
                  <a:srgbClr val="BED0DD"/>
                </a:solidFill>
                <a:latin typeface="Arial"/>
                <a:ea typeface="Arial"/>
                <a:cs typeface="Arial"/>
              </a:rPr>
              <a:t>Contact me to arrange a school visit.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7edb7b07dc742e0"/>
          <a:stretch xmlns:a="http://schemas.openxmlformats.org/drawingml/2006/main"/>
        </p:blipFill>
        <p:spPr>
          <a:xfrm xmlns:a="http://schemas.openxmlformats.org/drawingml/2006/main">
            <a:off x="10058400" y="400050"/>
            <a:ext cx="1409700" cy="323850"/>
          </a:xfrm>
          <a:prstGeom xmlns:a="http://schemas.openxmlformats.org/drawingml/2006/main" prst="rect">
            <a:avLst/>
          </a:prstGeom>
        </p:spPr>
      </p:pic>
    </p:spTree>
    <p:extLst>
      <p:ext uri="{BB962C8B-B14F-4D97-AF65-F5344CB8AC3E}">
        <p14:creationId xmlns:p14="http://schemas.microsoft.com/office/powerpoint/2010/main" val="704909091"/>
      </p:ext>
    </p:extLst>
  </p:cSld>
</p:sld>
</file>

<file path=ppt/theme/theme1.xml><?xml version="1.0" encoding="utf-8"?>
<a:theme xmlns:a="http://schemas.openxmlformats.org/drawingml/2006/main" name="ChatGPT">
  <a:themeElements>
    <a:clrScheme name="CocoRobo conferen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64D2C4"/>
      </a:hlink>
      <a:folHlink>
        <a:srgbClr val="64D2C4"/>
      </a:folHlink>
    </a:clrScheme>
    <a:fontScheme name="Office">
      <a:majorFont>
        <a:latin typeface="Calibri Light"/>
        <a:ea typeface="Calibri Light"/>
        <a:cs typeface="Calibri Light"/>
      </a:majorFont>
      <a:minorFont>
        <a:latin typeface="Calibri"/>
        <a:ea typeface="Calibri"/>
        <a:cs typeface="Calibri"/>
      </a:minorFont>
    </a:fontScheme>
    <a:fmtScheme name="CocoRobo con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2026-09-08T10:43:16.5880000Z</dcterms:created>
  <dcterms:modified xsi:type="dcterms:W3CDTF">2026-09-08T10:43:16.5880000Z</dcterms:modified>
</coreProperties>
</file>