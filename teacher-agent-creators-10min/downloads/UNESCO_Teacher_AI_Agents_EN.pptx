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7ba0146bfe4328" /><Relationship Type="http://schemas.openxmlformats.org/officeDocument/2006/relationships/extended-properties" Target="/docProps/app.xml" Id="R6ffba84a8b1544c1" /><Relationship Type="http://schemas.openxmlformats.org/officeDocument/2006/relationships/officeDocument" Target="/ppt/presentation.xml" Id="R5b28135b519648b3" /></Relationships>
</file>

<file path=ppt/presentation.xml><?xml version="1.0" encoding="utf-8"?>
<p:presentation xmlns:p="http://schemas.openxmlformats.org/presentationml/2006/main">
  <p:sldMasterIdLst>
    <p:sldMasterId xmlns:r="http://schemas.openxmlformats.org/officeDocument/2006/relationships" id="2147483648" r:id="Rb269c13759554521"/>
  </p:sldMasterIdLst>
  <p:notesMasterIdLst>
    <p:notesMasterId xmlns:r="http://schemas.openxmlformats.org/officeDocument/2006/relationships" r:id="R008de3dadac5465b"/>
  </p:notesMasterIdLst>
  <p:sldIdLst>
    <p:sldId xmlns:r="http://schemas.openxmlformats.org/officeDocument/2006/relationships" id="256" r:id="R2beb138002394eb7"/>
    <p:sldId xmlns:r="http://schemas.openxmlformats.org/officeDocument/2006/relationships" id="257" r:id="R564093370726447b"/>
    <p:sldId xmlns:r="http://schemas.openxmlformats.org/officeDocument/2006/relationships" id="258" r:id="R3854a799522a4117"/>
    <p:sldId xmlns:r="http://schemas.openxmlformats.org/officeDocument/2006/relationships" id="259" r:id="Red4263db2ded48df"/>
    <p:sldId xmlns:r="http://schemas.openxmlformats.org/officeDocument/2006/relationships" id="260" r:id="Rca534c519a724323"/>
    <p:sldId xmlns:r="http://schemas.openxmlformats.org/officeDocument/2006/relationships" id="261" r:id="Rb53a6bcbbe77443b"/>
    <p:sldId xmlns:r="http://schemas.openxmlformats.org/officeDocument/2006/relationships" id="262" r:id="R2d791f6f62314b20"/>
    <p:sldId xmlns:r="http://schemas.openxmlformats.org/officeDocument/2006/relationships" id="263" r:id="R1c877e08cb2c4ea4"/>
    <p:sldId xmlns:r="http://schemas.openxmlformats.org/officeDocument/2006/relationships" id="264" r:id="R4138cfb2bc124136"/>
    <p:sldId xmlns:r="http://schemas.openxmlformats.org/officeDocument/2006/relationships" id="265" r:id="R421c5d5702de49c9"/>
    <p:sldId xmlns:r="http://schemas.openxmlformats.org/officeDocument/2006/relationships" id="266" r:id="Rd699fc9ef4db4809"/>
    <p:sldId xmlns:r="http://schemas.openxmlformats.org/officeDocument/2006/relationships" id="267" r:id="R0f96b3dd162d4ab9"/>
    <p:sldId xmlns:r="http://schemas.openxmlformats.org/officeDocument/2006/relationships" id="268" r:id="R1dc134c723874b85"/>
    <p:sldId xmlns:r="http://schemas.openxmlformats.org/officeDocument/2006/relationships" id="269" r:id="R4f9ade7c6f0c4f90"/>
    <p:sldId xmlns:r="http://schemas.openxmlformats.org/officeDocument/2006/relationships" id="270" r:id="Re54651830f884b7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124e7bfa9a4900" /><Relationship Type="http://schemas.openxmlformats.org/officeDocument/2006/relationships/slideMaster" Target="/ppt/slideMasters/slideMaster1.xml" Id="Rb269c13759554521" /><Relationship Type="http://schemas.openxmlformats.org/officeDocument/2006/relationships/notesMaster" Target="/ppt/notesMasters/notesMaster1.xml" Id="R008de3dadac5465b" /><Relationship Type="http://schemas.openxmlformats.org/officeDocument/2006/relationships/presProps" Target="/ppt/presProps.xml" Id="Ra80d8b9cd60b48b8" /><Relationship Type="http://schemas.openxmlformats.org/officeDocument/2006/relationships/tableStyles" Target="/ppt/tableStyles.xml" Id="R2e2362b27df94aa7" /><Relationship Type="http://schemas.openxmlformats.org/officeDocument/2006/relationships/slide" Target="/ppt/slides/slide1.xml" Id="R2beb138002394eb7" /><Relationship Type="http://schemas.openxmlformats.org/officeDocument/2006/relationships/slide" Target="/ppt/slides/slide2.xml" Id="R564093370726447b" /><Relationship Type="http://schemas.openxmlformats.org/officeDocument/2006/relationships/slide" Target="/ppt/slides/slide3.xml" Id="R3854a799522a4117" /><Relationship Type="http://schemas.openxmlformats.org/officeDocument/2006/relationships/slide" Target="/ppt/slides/slide4.xml" Id="Red4263db2ded48df" /><Relationship Type="http://schemas.openxmlformats.org/officeDocument/2006/relationships/slide" Target="/ppt/slides/slide5.xml" Id="Rca534c519a724323" /><Relationship Type="http://schemas.openxmlformats.org/officeDocument/2006/relationships/slide" Target="/ppt/slides/slide6.xml" Id="Rb53a6bcbbe77443b" /><Relationship Type="http://schemas.openxmlformats.org/officeDocument/2006/relationships/slide" Target="/ppt/slides/slide7.xml" Id="R2d791f6f62314b20" /><Relationship Type="http://schemas.openxmlformats.org/officeDocument/2006/relationships/slide" Target="/ppt/slides/slide8.xml" Id="R1c877e08cb2c4ea4" /><Relationship Type="http://schemas.openxmlformats.org/officeDocument/2006/relationships/slide" Target="/ppt/slides/slide9.xml" Id="R4138cfb2bc124136" /><Relationship Type="http://schemas.openxmlformats.org/officeDocument/2006/relationships/slide" Target="/ppt/slides/slide10.xml" Id="R421c5d5702de49c9" /><Relationship Type="http://schemas.openxmlformats.org/officeDocument/2006/relationships/slide" Target="/ppt/slides/slide11.xml" Id="Rd699fc9ef4db4809" /><Relationship Type="http://schemas.openxmlformats.org/officeDocument/2006/relationships/slide" Target="/ppt/slides/slide12.xml" Id="R0f96b3dd162d4ab9" /><Relationship Type="http://schemas.openxmlformats.org/officeDocument/2006/relationships/slide" Target="/ppt/slides/slide13.xml" Id="R1dc134c723874b85" /><Relationship Type="http://schemas.openxmlformats.org/officeDocument/2006/relationships/slide" Target="/ppt/slides/slide14.xml" Id="R4f9ade7c6f0c4f90" /><Relationship Type="http://schemas.openxmlformats.org/officeDocument/2006/relationships/slide" Target="/ppt/slides/slide15.xml" Id="Re54651830f884b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ef30b826b7f46d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3583ee72944e34" /><Relationship Type="http://schemas.openxmlformats.org/officeDocument/2006/relationships/notesMaster" Target="/ppt/notesMasters/notesMaster1.xml" Id="Rcaf16b43bc1d46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4b8cef5b58394e8a" /><Relationship Type="http://schemas.openxmlformats.org/officeDocument/2006/relationships/notesMaster" Target="/ppt/notesMasters/notesMaster1.xml" Id="R1ad77fc7542e4d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31e64c39354f7a" /><Relationship Type="http://schemas.openxmlformats.org/officeDocument/2006/relationships/notesMaster" Target="/ppt/notesMasters/notesMaster1.xml" Id="R25f3a61085804c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70f69aec204a14" /><Relationship Type="http://schemas.openxmlformats.org/officeDocument/2006/relationships/notesMaster" Target="/ppt/notesMasters/notesMaster1.xml" Id="Rc1a06bef271e45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1b180ea6544f5f" /><Relationship Type="http://schemas.openxmlformats.org/officeDocument/2006/relationships/notesMaster" Target="/ppt/notesMasters/notesMaster1.xml" Id="R6da709b7c22447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4b6f13a3104c6c" /><Relationship Type="http://schemas.openxmlformats.org/officeDocument/2006/relationships/notesMaster" Target="/ppt/notesMasters/notesMaster1.xml" Id="R1ab654a240ec4f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dead55ebe324856" /><Relationship Type="http://schemas.openxmlformats.org/officeDocument/2006/relationships/notesMaster" Target="/ppt/notesMasters/notesMaster1.xml" Id="Rb7e41702e81440ba" /></Relationships>
</file>

<file path=ppt/notesSlides/_rels/notesSlide8.xml.rels>&#65279;<?xml version="1.0" encoding="utf-8"?><Relationships xmlns="http://schemas.openxmlformats.org/package/2006/relationships"><Relationship Type="http://schemas.openxmlformats.org/officeDocument/2006/relationships/slide" Target="/ppt/slides/slide8.xml" Id="Re66473257b424f96" /><Relationship Type="http://schemas.openxmlformats.org/officeDocument/2006/relationships/notesMaster" Target="/ppt/notesMasters/notesMaster1.xml" Id="R12d1853b7b1b4fe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de059712e9e479b" /><Relationship Type="http://schemas.openxmlformats.org/officeDocument/2006/relationships/notesMaster" Target="/ppt/notesMasters/notesMaster1.xml" Id="R219345afd5d9443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84747f2c08c4360" /><Relationship Type="http://schemas.openxmlformats.org/officeDocument/2006/relationships/notesMaster" Target="/ppt/notesMasters/notesMaster1.xml" Id="R3a43cbd56d98433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10ffe3ad29d4f18" /><Relationship Type="http://schemas.openxmlformats.org/officeDocument/2006/relationships/notesMaster" Target="/ppt/notesMasters/notesMaster1.xml" Id="Rc30de10cae35486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d2618fe90645f3" /><Relationship Type="http://schemas.openxmlformats.org/officeDocument/2006/relationships/notesMaster" Target="/ppt/notesMasters/notesMaster1.xml" Id="Re9690f5ae5f443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2e4e77202f44fda" /><Relationship Type="http://schemas.openxmlformats.org/officeDocument/2006/relationships/notesMaster" Target="/ppt/notesMasters/notesMaster1.xml" Id="Rf4e82dbfb91142f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f80706a6f5d4e42" /><Relationship Type="http://schemas.openxmlformats.org/officeDocument/2006/relationships/notesMaster" Target="/ppt/notesMasters/notesMaster1.xml" Id="Ra55fbd0be5cd464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050b6ff05ac4349" /><Relationship Type="http://schemas.openxmlformats.org/officeDocument/2006/relationships/notesMaster" Target="/ppt/notesMasters/notesMaster1.xml" Id="Ra7eab19c230a42f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 seconds</a:t>
            </a:r>
          </a:p>
          <a:p xmlns:a="http://schemas.openxmlformats.org/drawingml/2006/main">
            <a:r>
              <a:t/>
            </a:r>
          </a:p>
          <a:p xmlns:a="http://schemas.openxmlformats.org/drawingml/2006/main">
            <a:r>
              <a:t>Good morning. I’m Haiyang Xin from CocoRobo. We work with teachers to build AI support for learning. Today, I will share what we have done in Shenzhen, and what we have learned.</a:t>
            </a:r>
          </a:p>
          <a:p xmlns:a="http://schemas.openxmlformats.org/drawingml/2006/main">
            <a:r>
              <a:t/>
            </a:r>
          </a:p>
          <a:p xmlns:a="http://schemas.openxmlformats.org/drawingml/2006/main">
            <a:r>
              <a:t>[Sources]</a:t>
            </a:r>
          </a:p>
          <a:p xmlns:a="http://schemas.openxmlformats.org/drawingml/2006/main">
            <a:r>
              <a:t>Original 18-slide presentation, slide(s) 1.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00:20–01:15 | 55 seconds</a:t>
            </a:r>
          </a:p>
          <a:p xmlns:a="http://schemas.openxmlformats.org/drawingml/2006/main">
            <a:r>
              <a:t/>
            </a:r>
          </a:p>
          <a:p xmlns:a="http://schemas.openxmlformats.org/drawingml/2006/main">
            <a:r>
              <a:t>First, what do I mean by a pedagogical AI agent? It is an AI helper with a clear teaching or learning goal. A teacher sets its role, materials, steps and limits. For example, an English practice agent can ask a question, listen and give feedback. Why use one? It turns a teaching plan into support that students can use. Teachers can test that support, use it again and change it. The purpose comes from the teacher.</a:t>
            </a:r>
          </a:p>
          <a:p xmlns:a="http://schemas.openxmlformats.org/drawingml/2006/main">
            <a:r>
              <a:t/>
            </a:r>
          </a:p>
          <a:p xmlns:a="http://schemas.openxmlformats.org/drawingml/2006/main">
            <a:r>
              <a:t>[Sources]</a:t>
            </a:r>
          </a:p>
          <a:p xmlns:a="http://schemas.openxmlformats.org/drawingml/2006/main">
            <a:r>
              <a:t>Working definition used in this talk, based on the presenter’s teacher-designed agent programme. This is an operational definition, not a claim that all pedagogical agents have the same architecture or are fully autonomous.</a:t>
            </a:r>
          </a:p>
          <a:p xmlns:a="http://schemas.openxmlformats.org/drawingml/2006/main">
            <a:r>
              <a:t>Photo and English-class example: Pingshan Education Bureau, AI-Empowered Education source deck, slide 1 (district-s1-img2.jpeg). Reuse and revision are design affordances, not claims of proven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01:15–01:50 | 35 seconds</a:t>
            </a:r>
          </a:p>
          <a:p xmlns:a="http://schemas.openxmlformats.org/drawingml/2006/main">
            <a:r>
              <a:t/>
            </a:r>
          </a:p>
          <a:p xmlns:a="http://schemas.openxmlformats.org/drawingml/2006/main">
            <a:r>
              <a:t>This brings us to teacher agency. In simple words, teachers need the ability and room to make teaching choices. We will look at this in two ways. First, practice: four cases at different levels. Then, research: what teachers learn and what keeps them creating. Our wider teacher development work reached over one thousand teachers across four districts and partner schools.</a:t>
            </a:r>
          </a:p>
          <a:p xmlns:a="http://schemas.openxmlformats.org/drawingml/2006/main">
            <a:r>
              <a:t/>
            </a:r>
          </a:p>
          <a:p xmlns:a="http://schemas.openxmlformats.org/drawingml/2006/main">
            <a:r>
              <a:t>[Sources]</a:t>
            </a:r>
          </a:p>
          <a:p xmlns:a="http://schemas.openxmlformats.org/drawingml/2006/main">
            <a:r>
              <a:t>Original 18-slide presentation, slide(s) 2–3.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4–6.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01:50–02:30 | 40 seconds</a:t>
            </a:r>
          </a:p>
          <a:p xmlns:a="http://schemas.openxmlformats.org/drawingml/2006/main">
            <a:r>
              <a:t/>
            </a:r>
          </a:p>
          <a:p xmlns:a="http://schemas.openxmlformats.org/drawingml/2006/main">
            <a:r>
              <a:t>First, the city level. Shenzhen built a shared platform called Shenjiao AI. It brings together ten approved learning platforms. The city also held three contests for teacher-made applications. More than two thousand teachers took part. This gives teachers both access to tools and a chance to create. The lesson for other cities is to connect access with teacher creation.</a:t>
            </a:r>
          </a:p>
          <a:p xmlns:a="http://schemas.openxmlformats.org/drawingml/2006/main">
            <a:r>
              <a:t/>
            </a:r>
          </a:p>
          <a:p xmlns:a="http://schemas.openxmlformats.org/drawingml/2006/main">
            <a:r>
              <a:t>[Sources]</a:t>
            </a:r>
          </a:p>
          <a:p xmlns:a="http://schemas.openxmlformats.org/drawingml/2006/main">
            <a:r>
              <a:t>素材2.pptx, slides 1–2. Institutional source supplied by the presenter as the Shenzhen Municipal Education Bureau material.</a:t>
            </a:r>
          </a:p>
          <a:p xmlns:a="http://schemas.openxmlformats.org/drawingml/2006/main">
            <a:r>
              <a:t/>
            </a:r>
          </a:p>
          <a:p xmlns:a="http://schemas.openxmlformats.org/drawingml/2006/main">
            <a:r>
              <a:t>Evidence and interpretation:</a:t>
            </a:r>
          </a:p>
          <a:p xmlns:a="http://schemas.openxmlformats.org/drawingml/2006/main">
            <a:r>
              <a:t>Slide 1 reports launch in August 2023, access for 1,191 primary and secondary schools, 10 approved learning platforms, and 依效付费. It does not define the payment metric. Slide 2 reports three teacher cloud-application contests from 2024, over 2,000 participating teachers and 93 selected works. Reach and selected works are implementation outputs, not estimates of learning effects.</a:t>
            </a:r>
          </a:p>
          <a:p xmlns:a="http://schemas.openxmlformats.org/drawingml/2006/main">
            <a:r>
              <a:t>The “Lesson to share” is our interpretation of the documented approach, not a measured causal finding.</a:t>
            </a:r>
          </a:p>
          <a:p xmlns:a="http://schemas.openxmlformats.org/drawingml/2006/main">
            <a:r>
              <a:t>Images: Shenzhen Education Bureau source deck, slide 1 (city-s1-img1.png) and slide 2 (city-s2-img4.jpeg).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02:30–03:10 | 40 seconds</a:t>
            </a:r>
          </a:p>
          <a:p xmlns:a="http://schemas.openxmlformats.org/drawingml/2006/main">
            <a:r>
              <a:t/>
            </a:r>
          </a:p>
          <a:p xmlns:a="http://schemas.openxmlformats.org/drawingml/2006/main">
            <a:r>
              <a:t>Access is the first step. Teachers also need ways to learn. In Pingshan, three groups moved from writing prompts to building teaching agents. They shared their designs and improved them. In the English class shown earlier, AI gives feedback. Teachers set the standards. The lesson is to develop teachers as designers who decide how AI should help.</a:t>
            </a:r>
          </a:p>
          <a:p xmlns:a="http://schemas.openxmlformats.org/drawingml/2006/main">
            <a:r>
              <a:t/>
            </a:r>
          </a:p>
          <a:p xmlns:a="http://schemas.openxmlformats.org/drawingml/2006/main">
            <a:r>
              <a:t>[Sources]</a:t>
            </a:r>
          </a:p>
          <a:p xmlns:a="http://schemas.openxmlformats.org/drawingml/2006/main">
            <a:r>
              <a:t>AI-Empowered_Education（英文168）.pptx, slide 1. Supplied as the Pingshan District Education Bureau case. The existing programme timeline is documented in the original deck, slides 4–7.</a:t>
            </a:r>
          </a:p>
          <a:p xmlns:a="http://schemas.openxmlformats.org/drawingml/2006/main">
            <a:r>
              <a:t/>
            </a:r>
          </a:p>
          <a:p xmlns:a="http://schemas.openxmlformats.org/drawingml/2006/main">
            <a:r>
              <a:t>Evidence and interpretation:</a:t>
            </a:r>
          </a:p>
          <a:p xmlns:a="http://schemas.openxmlformats.org/drawingml/2006/main">
            <a:r>
              <a:t>The supplied slide describes three training cohorts, a progression from prompts to teacher-created agents, and a primary English speaking class with instant AI feedback and teacher-set standards. Its 1,000+ training figure is not used as a research sample or added to other reach figures. Awards and claims of national ranking are omitted. The slide mentions a 66-second field case; this talk uses the supplied still image and does not budget a video.</a:t>
            </a:r>
          </a:p>
          <a:p xmlns:a="http://schemas.openxmlformats.org/drawingml/2006/main">
            <a:r>
              <a:t>The “Lesson to share” is our interpretation of the documented approach, not a measured causal finding.</a:t>
            </a:r>
          </a:p>
          <a:p xmlns:a="http://schemas.openxmlformats.org/drawingml/2006/main">
            <a:r>
              <a:t>Photo: pingshan-training.webp from the original presentation, programme context. It shows teachers discussing designs. The classroom image on slide 2 is the supplied Pingshan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03:10–03:55 | 45 seconds</a:t>
            </a:r>
          </a:p>
          <a:p xmlns:a="http://schemas.openxmlformats.org/drawingml/2006/main">
            <a:r>
              <a:t/>
            </a:r>
          </a:p>
          <a:p xmlns:a="http://schemas.openxmlformats.org/drawingml/2006/main">
            <a:r>
              <a:t>Skills matter. Shared standards matter too. At Liyuan Education Group, experts first drafted classroom criteria. Teachers rated them. The team reviewed the results and agreed on the final set. These criteria became an AI tool for classroom observation. The team tried it in lessons and revised it with teacher feedback. The lesson is to involve teachers in the standards that guide AI.</a:t>
            </a:r>
          </a:p>
          <a:p xmlns:a="http://schemas.openxmlformats.org/drawingml/2006/main">
            <a:r>
              <a:t/>
            </a:r>
          </a:p>
          <a:p xmlns:a="http://schemas.openxmlformats.org/drawingml/2006/main">
            <a:r>
              <a:t>[Sources]</a:t>
            </a:r>
          </a:p>
          <a:p xmlns:a="http://schemas.openxmlformats.org/drawingml/2006/main">
            <a:r>
              <a:t>集团AI成果展示(1).zip → 荔园教育集团AI教育成果展示-英文版.pptx, slide 3; Chinese version, slide 3 embedded process graphic. Teacher support described in slide 2 and PPT稿件中英文版.docx.</a:t>
            </a:r>
          </a:p>
          <a:p xmlns:a="http://schemas.openxmlformats.org/drawingml/2006/main">
            <a:r>
              <a:t/>
            </a:r>
          </a:p>
          <a:p xmlns:a="http://schemas.openxmlformats.org/drawingml/2006/main">
            <a:r>
              <a:t>Evidence and interpretation:</a:t>
            </a:r>
          </a:p>
          <a:p xmlns:a="http://schemas.openxmlformats.org/drawingml/2006/main">
            <a:r>
              <a:t>The five-stage process describes expert drafting of a four-level indicator system, scoring by about 50 teachers, finalization by a nine-person research group, AI model and tool development, and classroom testing with revision using teacher feedback. Do not present the design and trial process as established measurement validity. The support system also includes self-study micro-courses, group training, visiting coaching and technical Q&amp;A. International recognition and pilot-school claims are not needed for this takeaway.</a:t>
            </a:r>
          </a:p>
          <a:p xmlns:a="http://schemas.openxmlformats.org/drawingml/2006/main">
            <a:r>
              <a:t>The “Lesson to share” is our interpretation of the documented approach, not a measured causal finding.</a:t>
            </a:r>
          </a:p>
          <a:p xmlns:a="http://schemas.openxmlformats.org/drawingml/2006/main">
            <a:r>
              <a:t>Photo: Liyuan Education Group source deck, slide 2 (group-s2-img3.jpeg, teacher collaboration). The five-stage process is documented in slide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03:55–04:40 | 45 seconds</a:t>
            </a:r>
          </a:p>
          <a:p xmlns:a="http://schemas.openxmlformats.org/drawingml/2006/main">
            <a:r>
              <a:t/>
            </a:r>
          </a:p>
          <a:p xmlns:a="http://schemas.openxmlformats.org/drawingml/2006/main">
            <a:r>
              <a:t>Standards become useful when they guide a real task. In Bao’an, Ms Luo designed an English speaking method called TASK. Her workflow has four AI agents. T helps design speaking tasks. A supports practice and assessment. S matches activities to the standards. K gives feedback from learning data. Each has a clear job. Start with the teaching method. Then decide where AI can help.</a:t>
            </a:r>
          </a:p>
          <a:p xmlns:a="http://schemas.openxmlformats.org/drawingml/2006/main">
            <a:r>
              <a:t/>
            </a:r>
          </a:p>
          <a:p xmlns:a="http://schemas.openxmlformats.org/drawingml/2006/main">
            <a:r>
              <a:t>[Sources]</a:t>
            </a:r>
          </a:p>
          <a:p xmlns:a="http://schemas.openxmlformats.org/drawingml/2006/main">
            <a:r>
              <a:t>案例PPT（罗老师）.pptx, slides 1–2. User identifies this as the Bao’an English subject case. The workflow screenshot credits 罗敏 (Luo Min), 宝安小学（集团）红树林外国语小学.</a:t>
            </a:r>
          </a:p>
          <a:p xmlns:a="http://schemas.openxmlformats.org/drawingml/2006/main">
            <a:r>
              <a:t/>
            </a:r>
          </a:p>
          <a:p xmlns:a="http://schemas.openxmlformats.org/drawingml/2006/main">
            <a:r>
              <a:t>Evidence and interpretation:</a:t>
            </a:r>
          </a:p>
          <a:p xmlns:a="http://schemas.openxmlformats.org/drawingml/2006/main">
            <a:r>
              <a:t>TASK means Tasksheets, Assessments, Standards and Key competences. The material describes an oral-assessment model and a CocoRobo workflow with four agents: T supports task design; A combines oral practice and assessment; S matches activities to standards; K provides feedback using data analysis. The figure documents four roles, not a verified linear routing sequence. The talk describes intended functions, not measured assessment accuracy, fairness or student gains.</a:t>
            </a:r>
          </a:p>
          <a:p xmlns:a="http://schemas.openxmlformats.org/drawingml/2006/main">
            <a:r>
              <a:t>The “Lesson to share” is our interpretation of the documented approach, not a measured causal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04:40–05:15 | 35 seconds</a:t>
            </a:r>
          </a:p>
          <a:p xmlns:a="http://schemas.openxmlformats.org/drawingml/2006/main">
            <a:r>
              <a:t/>
            </a:r>
          </a:p>
          <a:p xmlns:a="http://schemas.openxmlformats.org/drawingml/2006/main">
            <a:r>
              <a:t>Across these cases, the aim is support that fits the classroom. In this biology example, AI helped students improve an inquiry design. It did not give the final answer. Students still had to explain their ideas and make a judgment. The teacher set the limits. These cases show what we can put in place. But what do teachers learn through this work?</a:t>
            </a:r>
          </a:p>
          <a:p xmlns:a="http://schemas.openxmlformats.org/drawingml/2006/main">
            <a:r>
              <a:t/>
            </a:r>
          </a:p>
          <a:p xmlns:a="http://schemas.openxmlformats.org/drawingml/2006/main">
            <a:r>
              <a:t>[Sources]</a:t>
            </a:r>
          </a:p>
          <a:p xmlns:a="http://schemas.openxmlformats.org/drawingml/2006/main">
            <a:r>
              <a:t>Original 18-slide presentation, slide(s) 8.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05:15–05:55 | 40 seconds</a:t>
            </a:r>
          </a:p>
          <a:p xmlns:a="http://schemas.openxmlformats.org/drawingml/2006/main">
            <a:r>
              <a:t/>
            </a:r>
          </a:p>
          <a:p xmlns:a="http://schemas.openxmlformats.org/drawingml/2006/main">
            <a:r>
              <a:t>I will now turn to the research. The four cases are examples of practice. Our research evidence comes from three teacher groups in Pingshan. We studied their agents, design changes and platform use. We also used surveys and interviews. This lets us look at both what teachers say and what they do. It does not prove that AI improved student learning.</a:t>
            </a:r>
          </a:p>
          <a:p xmlns:a="http://schemas.openxmlformats.org/drawingml/2006/main">
            <a:r>
              <a:t/>
            </a:r>
          </a:p>
          <a:p xmlns:a="http://schemas.openxmlformats.org/drawingml/2006/main">
            <a:r>
              <a:t>[Sources]</a:t>
            </a:r>
          </a:p>
          <a:p xmlns:a="http://schemas.openxmlformats.org/drawingml/2006/main">
            <a:r>
              <a:t>Original 18-slide presentation, slide(s) 4, 9–10, 17.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four practice cases are not four research cohorts. As reported in the original deck, the research programme includes four accepted conference papers and an ongoing Boundary Learning synthesis. Related preprints: https://arxiv.org/abs/2605.13906 and https://arxiv.org/abs/2605.12934 .</a:t>
            </a:r>
          </a:p>
          <a:p xmlns:a="http://schemas.openxmlformats.org/drawingml/2006/main">
            <a:r>
              <a:t>Image: it-training.jpeg from the original presentation. It illustrates the programme setting, not a chart or additional research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05:55–06:30 | 35 seconds</a:t>
            </a:r>
          </a:p>
          <a:p xmlns:a="http://schemas.openxmlformats.org/drawingml/2006/main">
            <a:r>
              <a:t/>
            </a:r>
          </a:p>
          <a:p xmlns:a="http://schemas.openxmlformats.org/drawingml/2006/main">
            <a:r>
              <a:t>The first finding is about learning by making. Teachers must explain their choices when they build an agent. What should it do? What should it leave to the student? They can test the design and change it. Their teaching ideas become easier to see and discuss. So we should study what teachers build and revise, as well as what they say.</a:t>
            </a:r>
          </a:p>
          <a:p xmlns:a="http://schemas.openxmlformats.org/drawingml/2006/main">
            <a:r>
              <a:t/>
            </a:r>
          </a:p>
          <a:p xmlns:a="http://schemas.openxmlformats.org/drawingml/2006/main">
            <a:r>
              <a:t>[Sources]</a:t>
            </a:r>
          </a:p>
          <a:p xmlns:a="http://schemas.openxmlformats.org/drawingml/2006/main">
            <a:r>
              <a:t>Original 18-slide presentation, slide(s) 11, 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Image: Shenzhen Education Bureau source deck, slide 2 (city-s2-img5.png). This teacher-made application is an illustration of a design artifact; it is not presented as part of the Pingshan research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06:30–07:10 | 40 seconds</a:t>
            </a:r>
          </a:p>
          <a:p xmlns:a="http://schemas.openxmlformats.org/drawingml/2006/main">
            <a:r>
              <a:t/>
            </a:r>
          </a:p>
          <a:p xmlns:a="http://schemas.openxmlformats.org/drawingml/2006/main">
            <a:r>
              <a:t>The second finding is about continued creation. Some teachers kept building and revising. Others mainly explored. Some took little part. Training alone did not make everyone an active creator. The studies point to choice, skills, belonging and school support. Teachers need time and people they can ask for help. Building an agent is one step. Keeping teachers able to create is a longer task.</a:t>
            </a:r>
          </a:p>
          <a:p xmlns:a="http://schemas.openxmlformats.org/drawingml/2006/main">
            <a:r>
              <a:t/>
            </a:r>
          </a:p>
          <a:p xmlns:a="http://schemas.openxmlformats.org/drawingml/2006/main">
            <a:r>
              <a:t>[Sources]</a:t>
            </a:r>
          </a:p>
          <a:p xmlns:a="http://schemas.openxmlformats.org/drawingml/2006/main">
            <a:r>
              <a:t>Original 18-slide presentation, slide(s) 12–13.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Photo: english-assessment.webp from the original presentation, slide 9 classroom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07:10–08:00 | 50 seconds</a:t>
            </a:r>
          </a:p>
          <a:p xmlns:a="http://schemas.openxmlformats.org/drawingml/2006/main">
            <a:r>
              <a:t/>
            </a:r>
          </a:p>
          <a:p xmlns:a="http://schemas.openxmlformats.org/drawingml/2006/main">
            <a:r>
              <a:t>Together, these findings lead us to a working idea called Boundary Learning. It means learning where AI belongs. We ask four questions. Is the task right for AI? Can it do the task well? Who should make the key decisions? How should we set its roles and limits? For example, if AI answers too soon, ask students to try first. The framework is still developing. Its purpose is to help teachers protect student thinking.</a:t>
            </a:r>
          </a:p>
          <a:p xmlns:a="http://schemas.openxmlformats.org/drawingml/2006/main">
            <a:r>
              <a:t/>
            </a:r>
          </a:p>
          <a:p xmlns:a="http://schemas.openxmlformats.org/drawingml/2006/main">
            <a:r>
              <a:t>[Sources]</a:t>
            </a:r>
          </a:p>
          <a:p xmlns:a="http://schemas.openxmlformats.org/drawingml/2006/main">
            <a:r>
              <a:t>Original 18-slide presentation, slide(s) 3, 14.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15.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08:00–08:35 | 35 seconds</a:t>
            </a:r>
          </a:p>
          <a:p xmlns:a="http://schemas.openxmlformats.org/drawingml/2006/main">
            <a:r>
              <a:t/>
            </a:r>
          </a:p>
          <a:p xmlns:a="http://schemas.openxmlformats.org/drawingml/2006/main">
            <a:r>
              <a:t>So what can others take away? First, give teachers access and real chances to build. Second, use their designs, tests and revisions as part of professional learning. Third, provide support over time, and let teachers limit or pause AI. These lessons connect our practice and research. They help teachers become both designers and decision-makers.</a:t>
            </a:r>
          </a:p>
          <a:p xmlns:a="http://schemas.openxmlformats.org/drawingml/2006/main">
            <a:r>
              <a:t/>
            </a:r>
          </a:p>
          <a:p xmlns:a="http://schemas.openxmlformats.org/drawingml/2006/main">
            <a:r>
              <a:t>[Sources]</a:t>
            </a:r>
          </a:p>
          <a:p xmlns:a="http://schemas.openxmlformats.org/drawingml/2006/main">
            <a:r>
              <a:t>Original 18-slide presentation, slide(s) 16.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three recommendations synthesize the four supplied practice cases and the reported teacher-learning studies. They are recommendations, not additional measured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08:35–09:05 | 30 seconds</a:t>
            </a:r>
          </a:p>
          <a:p xmlns:a="http://schemas.openxmlformats.org/drawingml/2006/main">
            <a:r>
              <a:t/>
            </a:r>
          </a:p>
          <a:p xmlns:a="http://schemas.openxmlformats.org/drawingml/2006/main">
            <a:r>
              <a:t>I would also like to invite you to Shenzhen. This year, the city is honoured to host the APEC leaders’ meeting, on November eighteenth and nineteenth. Come and see our schools. Meet the teachers and see their work in real lessons. Please contact me if you would like to arrange a visit. We would love to learn from you too.</a:t>
            </a:r>
          </a:p>
          <a:p xmlns:a="http://schemas.openxmlformats.org/drawingml/2006/main">
            <a:r>
              <a:t/>
            </a:r>
          </a:p>
          <a:p xmlns:a="http://schemas.openxmlformats.org/drawingml/2006/main">
            <a:r>
              <a:t>[Sources]</a:t>
            </a:r>
          </a:p>
          <a:p xmlns:a="http://schemas.openxmlformats.org/drawingml/2006/main">
            <a:r>
              <a:t>APEC dates and host city: Shenzhen Municipal Foreign Affairs Office, 12 August 2026, https://fao.sz.gov.cn/xxgk/zyxw/content/post_1961390.html (checked 8 September 2026). Also APEC Secretariat, 12 December 2025: https://www.apec.org/press/news-releases/2025/china-unveils-apec-2026-theme-and-priorities-in-shenzhen . The slide identifies the announced city, not an unconfirmed building or official school-visit programme.</a:t>
            </a:r>
          </a:p>
          <a:p xmlns:a="http://schemas.openxmlformats.org/drawingml/2006/main">
            <a:r>
              <a:t>Photo: Shenzhen Education Bureau source deck, slide 2 (city-s2-img3.jpeg), teacher application-contest community. This photo is not an APEC venue or event.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09:05–09:25 | 20 seconds</a:t>
            </a:r>
          </a:p>
          <a:p xmlns:a="http://schemas.openxmlformats.org/drawingml/2006/main">
            <a:r>
              <a:t/>
            </a:r>
          </a:p>
          <a:p xmlns:a="http://schemas.openxmlformats.org/drawingml/2006/main">
            <a:r>
              <a:t>These two codes link to this presentation and our submission materials. My email is on the screen. Please stay in touch, and come to Shenzhen. Thank you.</a:t>
            </a:r>
          </a:p>
          <a:p xmlns:a="http://schemas.openxmlformats.org/drawingml/2006/main">
            <a:r>
              <a:t/>
            </a:r>
          </a:p>
          <a:p xmlns:a="http://schemas.openxmlformats.org/drawingml/2006/main">
            <a:r>
              <a:t>[Sources]</a:t>
            </a:r>
          </a:p>
          <a:p xmlns:a="http://schemas.openxmlformats.org/drawingml/2006/main">
            <a:r>
              <a:t>Presenter-supplied contact: tony@cocorobo.cc. QR destinations: https://tonyxinvip.github.io/slides/teacher-agent-creators-10min/ and https://cocorobo.hk/unesco2026/teacher/. QR codes encode these exact URLs; they are not third-party tracking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99827a2cf046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cf3f96bcc2b420a" /><Relationship Type="http://schemas.openxmlformats.org/officeDocument/2006/relationships/slideLayout" Target="/ppt/slideLayouts/slideLayout1.xml" Id="R7cb0f1a44a974d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b0f1a44a974d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5dd49cfd0354214" /><Relationship Type="http://schemas.openxmlformats.org/officeDocument/2006/relationships/image" Target="/ppt/media/image.jpeg" Id="Rde0631fc9bfe4127" /><Relationship Type="http://schemas.openxmlformats.org/officeDocument/2006/relationships/image" Target="/ppt/media/image.png" Id="R7e164b52883c4efb" /><Relationship Type="http://schemas.openxmlformats.org/officeDocument/2006/relationships/notesSlide" Target="/ppt/notesSlides/notesSlide1.xml" Id="Rada8ae6cbb2d47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5c7a7eb15f14800" /><Relationship Type="http://schemas.openxmlformats.org/officeDocument/2006/relationships/image" Target="/ppt/media/image2.jpeg" Id="Rfa88fabfe16643c8" /><Relationship Type="http://schemas.openxmlformats.org/officeDocument/2006/relationships/notesSlide" Target="/ppt/notesSlides/notesSlide2.xml" Id="Ra43df1e747684b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a68ef3d1374a6c" /><Relationship Type="http://schemas.openxmlformats.org/officeDocument/2006/relationships/notesSlide" Target="/ppt/notesSlides/notesSlide3.xml" Id="R3a263d70806f4c7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58db46c8af14ee6" /><Relationship Type="http://schemas.openxmlformats.org/officeDocument/2006/relationships/image" Target="/ppt/media/image3.jpeg" Id="R2e5a80286bfe432c" /><Relationship Type="http://schemas.openxmlformats.org/officeDocument/2006/relationships/image" Target="/ppt/media/image4.jpeg" Id="R9de1268d5e8a4e06" /><Relationship Type="http://schemas.openxmlformats.org/officeDocument/2006/relationships/notesSlide" Target="/ppt/notesSlides/notesSlide4.xml" Id="R18b44df9b7b6487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c4d8a88dfaa43dc" /><Relationship Type="http://schemas.openxmlformats.org/officeDocument/2006/relationships/image" Target="/ppt/media/image5.jpeg" Id="R788a633f3481481f" /><Relationship Type="http://schemas.openxmlformats.org/officeDocument/2006/relationships/notesSlide" Target="/ppt/notesSlides/notesSlide5.xml" Id="R2373bf1c7da540b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066551d2bdd4544" /><Relationship Type="http://schemas.openxmlformats.org/officeDocument/2006/relationships/image" Target="/ppt/media/image6.jpeg" Id="Rb74c45505ef14849" /><Relationship Type="http://schemas.openxmlformats.org/officeDocument/2006/relationships/notesSlide" Target="/ppt/notesSlides/notesSlide6.xml" Id="R2ec7024716d144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6aa8a26ba5c42df" /><Relationship Type="http://schemas.openxmlformats.org/officeDocument/2006/relationships/image" Target="/ppt/media/image7.jpeg" Id="Rbca7f410bced4461" /><Relationship Type="http://schemas.openxmlformats.org/officeDocument/2006/relationships/notesSlide" Target="/ppt/notesSlides/notesSlide7.xml" Id="Rdbf3602b890b4a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146e530dadc4d6f" /><Relationship Type="http://schemas.openxmlformats.org/officeDocument/2006/relationships/image" Target="/ppt/media/image8.jpeg" Id="R4bbfacd6fb0541e9" /><Relationship Type="http://schemas.openxmlformats.org/officeDocument/2006/relationships/notesSlide" Target="/ppt/notesSlides/notesSlide8.xml" Id="R894d154b821f438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3938afd0ba34be6" /><Relationship Type="http://schemas.openxmlformats.org/officeDocument/2006/relationships/image" Target="/ppt/media/image9.jpeg" Id="Rfa43472e5e604369" /><Relationship Type="http://schemas.openxmlformats.org/officeDocument/2006/relationships/notesSlide" Target="/ppt/notesSlides/notesSlide9.xml" Id="R4bac1707480645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780fefdbe8b4276" /><Relationship Type="http://schemas.openxmlformats.org/officeDocument/2006/relationships/image" Target="/ppt/media/image10.jpeg" Id="Raea426dd41e748e8" /><Relationship Type="http://schemas.openxmlformats.org/officeDocument/2006/relationships/notesSlide" Target="/ppt/notesSlides/notesSlide10.xml" Id="R70ae9eb790af433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087b77e8cf04e4d" /><Relationship Type="http://schemas.openxmlformats.org/officeDocument/2006/relationships/image" Target="/ppt/media/image11.jpeg" Id="R0592d3038c7e4b22" /><Relationship Type="http://schemas.openxmlformats.org/officeDocument/2006/relationships/notesSlide" Target="/ppt/notesSlides/notesSlide11.xml" Id="R878ed092ed3b48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a02df463da54341" /><Relationship Type="http://schemas.openxmlformats.org/officeDocument/2006/relationships/notesSlide" Target="/ppt/notesSlides/notesSlide12.xml" Id="R072746b7a9cb410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07150cd76474bed" /><Relationship Type="http://schemas.openxmlformats.org/officeDocument/2006/relationships/notesSlide" Target="/ppt/notesSlides/notesSlide13.xml" Id="R1faf11c7a5ff41b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7c66928ebab454f" /><Relationship Type="http://schemas.openxmlformats.org/officeDocument/2006/relationships/image" Target="/ppt/media/image12.jpeg" Id="Ra3fac57ca303495c" /><Relationship Type="http://schemas.openxmlformats.org/officeDocument/2006/relationships/notesSlide" Target="/ppt/notesSlides/notesSlide14.xml" Id="Rad6a2a1195304f0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206253463e849a2" /><Relationship Type="http://schemas.openxmlformats.org/officeDocument/2006/relationships/image" Target="/ppt/media/image2.png" Id="R51d37bb86ac54d67" /><Relationship Type="http://schemas.openxmlformats.org/officeDocument/2006/relationships/hyperlink" Target="https://tonyxinvip.github.io/slides/teacher-agent-creators-10min/" TargetMode="External" Id="R85b3a129bbce4c6f" /><Relationship Type="http://schemas.openxmlformats.org/officeDocument/2006/relationships/image" Target="/ppt/media/image3.png" Id="R856c833d478b4be9" /><Relationship Type="http://schemas.openxmlformats.org/officeDocument/2006/relationships/hyperlink" Target="https://cocorobo.hk/unesco2026/teacher/" TargetMode="External" Id="R38c5cfd9b530423c" /><Relationship Type="http://schemas.openxmlformats.org/officeDocument/2006/relationships/hyperlink" Target="mailto:tony@cocorobo.cc" TargetMode="External" Id="R612fd3ee803248f7" /><Relationship Type="http://schemas.openxmlformats.org/officeDocument/2006/relationships/notesSlide" Target="/ppt/notesSlides/notesSlide15.xml" Id="Ra8537f9d264c4257" /></Relationships>
</file>

<file path=ppt/slides/slide1.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de0631fc9bfe4127"/>
          <a:srcRect xmlns:a="http://schemas.openxmlformats.org/drawingml/2006/main" l="12154" t="0" r="12154" b="0"/>
          <a:stretch xmlns:a="http://schemas.openxmlformats.org/drawingml/2006/main">
            <a:fillRect l="0" t="0" r="0" b="0"/>
          </a:stretch>
        </p:blipFill>
        <p:spPr>
          <a:xfrm xmlns:a="http://schemas.openxmlformats.org/drawingml/2006/main">
            <a:off x="7410450" y="1438275"/>
            <a:ext cx="4171950" cy="4133850"/>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7e164b52883c4efb"/>
          <a:stretch xmlns:a="http://schemas.openxmlformats.org/drawingml/2006/main"/>
        </p:blipFill>
        <p:spPr>
          <a:xfrm xmlns:a="http://schemas.openxmlformats.org/drawingml/2006/main">
            <a:off x="609600" y="619125"/>
            <a:ext cx="400050" cy="400050"/>
          </a:xfrm>
          <a:prstGeom xmlns:a="http://schemas.openxmlformats.org/drawingml/2006/main" prst="rect">
            <a:avLst/>
          </a:prstGeom>
        </p:spPr>
      </p:pic>
      <p:sp>
        <p:nvSpPr>
          <p:cNvPr id="3" name="s1-subheading-3">
            <a:extLst xmlns:a="http://schemas.openxmlformats.org/drawingml/2006/main">
              <a:ext uri="{FF2B5EF4-FFF2-40B4-BE49-F238E27FC236}">
                <a16:creationId xmlns:a16="http://schemas.microsoft.com/office/drawing/2014/main" id="{339A7268-CC80-49C6-B982-F65CFFD9AB9A}"/>
              </a:ext>
            </a:extLst>
          </p:cNvPr>
          <p:cNvSpPr>
            <a:spLocks xmlns:a="http://schemas.openxmlformats.org/drawingml/2006/main" noGrp="1"/>
          </p:cNvSpPr>
          <p:nvPr/>
        </p:nvSpPr>
        <p:spPr>
          <a:xfrm xmlns:a="http://schemas.openxmlformats.org/drawingml/2006/main">
            <a:off x="1133475" y="647700"/>
            <a:ext cx="19526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CocoRobo</a:t>
            </a:r>
          </a:p>
        </p:txBody>
      </p:sp>
      <p:sp>
        <p:nvSpPr>
          <p:cNvPr id="4" name="s1-kicker-4">
            <a:extLst xmlns:a="http://schemas.openxmlformats.org/drawingml/2006/main">
              <a:ext uri="{FF2B5EF4-FFF2-40B4-BE49-F238E27FC236}">
                <a16:creationId xmlns:a16="http://schemas.microsoft.com/office/drawing/2014/main" id="{8EE162DC-A14E-427F-959D-DDB8804CAF29}"/>
              </a:ext>
            </a:extLst>
          </p:cNvPr>
          <p:cNvSpPr>
            <a:spLocks xmlns:a="http://schemas.openxmlformats.org/drawingml/2006/main" noGrp="1"/>
          </p:cNvSpPr>
          <p:nvPr/>
        </p:nvSpPr>
        <p:spPr>
          <a:xfrm xmlns:a="http://schemas.openxmlformats.org/drawingml/2006/main">
            <a:off x="8820150" y="619125"/>
            <a:ext cx="276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050" b="1">
                <a:solidFill>
                  <a:srgbClr val="C2CDDB"/>
                </a:solidFill>
                <a:latin typeface="Arial"/>
                <a:ea typeface="Arial"/>
                <a:cs typeface="Arial"/>
              </a:defRPr>
            </a:pPr>
            <a:r>
              <a:rPr sz="1050" b="1">
                <a:solidFill>
                  <a:srgbClr val="C2CDDB"/>
                </a:solidFill>
                <a:latin typeface="Arial"/>
                <a:ea typeface="Arial"/>
                <a:cs typeface="Arial"/>
              </a:rPr>
              <a:t>PREPARED FOR</a:t>
            </a:r>
          </a:p>
        </p:txBody>
      </p:sp>
      <p:sp>
        <p:nvSpPr>
          <p:cNvPr id="5" name="s1-subheading-5">
            <a:extLst xmlns:a="http://schemas.openxmlformats.org/drawingml/2006/main">
              <a:ext uri="{FF2B5EF4-FFF2-40B4-BE49-F238E27FC236}">
                <a16:creationId xmlns:a16="http://schemas.microsoft.com/office/drawing/2014/main" id="{E6EAA386-666C-4EBB-B488-BEB30EB72F67}"/>
              </a:ext>
            </a:extLst>
          </p:cNvPr>
          <p:cNvSpPr>
            <a:spLocks xmlns:a="http://schemas.openxmlformats.org/drawingml/2006/main" noGrp="1"/>
          </p:cNvSpPr>
          <p:nvPr/>
        </p:nvSpPr>
        <p:spPr>
          <a:xfrm xmlns:a="http://schemas.openxmlformats.org/drawingml/2006/main">
            <a:off x="8820150" y="857250"/>
            <a:ext cx="276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UNESCO</a:t>
            </a:r>
          </a:p>
        </p:txBody>
      </p:sp>
      <p:sp>
        <p:nvSpPr>
          <p:cNvPr id="6" name="s1-kicker-6">
            <a:extLst xmlns:a="http://schemas.openxmlformats.org/drawingml/2006/main">
              <a:ext uri="{FF2B5EF4-FFF2-40B4-BE49-F238E27FC236}">
                <a16:creationId xmlns:a16="http://schemas.microsoft.com/office/drawing/2014/main" id="{43691F1E-E7F8-49C0-9900-689198EB9154}"/>
              </a:ext>
            </a:extLst>
          </p:cNvPr>
          <p:cNvSpPr>
            <a:spLocks xmlns:a="http://schemas.openxmlformats.org/drawingml/2006/main" noGrp="1"/>
          </p:cNvSpPr>
          <p:nvPr/>
        </p:nvSpPr>
        <p:spPr>
          <a:xfrm xmlns:a="http://schemas.openxmlformats.org/drawingml/2006/main">
            <a:off x="8820150" y="1238250"/>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125" b="1">
                <a:solidFill>
                  <a:srgbClr val="C2CDDB"/>
                </a:solidFill>
                <a:latin typeface="Arial"/>
                <a:ea typeface="Arial"/>
                <a:cs typeface="Arial"/>
              </a:defRPr>
            </a:pPr>
            <a:r>
              <a:rPr sz="1125" b="1">
                <a:solidFill>
                  <a:srgbClr val="C2CDDB"/>
                </a:solidFill>
                <a:latin typeface="Arial"/>
                <a:ea typeface="Arial"/>
                <a:cs typeface="Arial"/>
              </a:rPr>
              <a:t>DIGITAL LEARNING WEEK 2026</a:t>
            </a:r>
          </a:p>
        </p:txBody>
      </p:sp>
      <p:sp>
        <p:nvSpPr>
          <p:cNvPr id="7" name="s1-kicker-7">
            <a:extLst xmlns:a="http://schemas.openxmlformats.org/drawingml/2006/main">
              <a:ext uri="{FF2B5EF4-FFF2-40B4-BE49-F238E27FC236}">
                <a16:creationId xmlns:a16="http://schemas.microsoft.com/office/drawing/2014/main" id="{F246CCB6-FA15-47ED-8467-71DAAC21EB6D}"/>
              </a:ext>
            </a:extLst>
          </p:cNvPr>
          <p:cNvSpPr>
            <a:spLocks xmlns:a="http://schemas.openxmlformats.org/drawingml/2006/main" noGrp="1"/>
          </p:cNvSpPr>
          <p:nvPr/>
        </p:nvSpPr>
        <p:spPr>
          <a:xfrm xmlns:a="http://schemas.openxmlformats.org/drawingml/2006/main">
            <a:off x="609600" y="1952625"/>
            <a:ext cx="704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TEACHER AGENCY · PRACTICE &amp; RESEARCH</a:t>
            </a:r>
          </a:p>
        </p:txBody>
      </p:sp>
      <p:sp>
        <p:nvSpPr>
          <p:cNvPr id="8" name="s1-title-8">
            <a:extLst xmlns:a="http://schemas.openxmlformats.org/drawingml/2006/main">
              <a:ext uri="{FF2B5EF4-FFF2-40B4-BE49-F238E27FC236}">
                <a16:creationId xmlns:a16="http://schemas.microsoft.com/office/drawing/2014/main" id="{270BEAFA-8EF0-48A4-8496-918593988E3F}"/>
              </a:ext>
            </a:extLst>
          </p:cNvPr>
          <p:cNvSpPr>
            <a:spLocks xmlns:a="http://schemas.openxmlformats.org/drawingml/2006/main" noGrp="1"/>
          </p:cNvSpPr>
          <p:nvPr/>
        </p:nvSpPr>
        <p:spPr>
          <a:xfrm xmlns:a="http://schemas.openxmlformats.org/drawingml/2006/main">
            <a:off x="609600" y="2543175"/>
            <a:ext cx="67056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5100" b="1">
                <a:solidFill>
                  <a:srgbClr val="FFFFFF"/>
                </a:solidFill>
                <a:latin typeface="Arial"/>
                <a:ea typeface="Arial"/>
                <a:cs typeface="Arial"/>
              </a:defRPr>
            </a:pPr>
            <a:r>
              <a:rPr sz="5100" b="1">
                <a:solidFill>
                  <a:srgbClr val="FFFFFF"/>
                </a:solidFill>
                <a:latin typeface="Arial"/>
                <a:ea typeface="Arial"/>
                <a:cs typeface="Arial"/>
              </a:rPr>
              <a:t>From AI Tool Users</a:t>
            </a:r>
          </a:p>
          <a:p xmlns:a="http://schemas.openxmlformats.org/drawingml/2006/main">
            <a:pPr algn="l">
              <a:lnSpc>
                <a:spcPct val="102000"/>
              </a:lnSpc>
              <a:buNone/>
              <a:defRPr sz="5100" b="1">
                <a:solidFill>
                  <a:srgbClr val="FFFFFF"/>
                </a:solidFill>
                <a:latin typeface="Arial"/>
                <a:ea typeface="Arial"/>
                <a:cs typeface="Arial"/>
              </a:defRPr>
            </a:pPr>
            <a:r>
              <a:rPr sz="5100" b="1">
                <a:solidFill>
                  <a:srgbClr val="FFFFFF"/>
                </a:solidFill>
                <a:latin typeface="Arial"/>
                <a:ea typeface="Arial"/>
                <a:cs typeface="Arial"/>
              </a:rPr>
              <a:t>to AI Agent Creators</a:t>
            </a:r>
          </a:p>
        </p:txBody>
      </p:sp>
      <p:sp>
        <p:nvSpPr>
          <p:cNvPr id="9" name="s1-body-9">
            <a:extLst xmlns:a="http://schemas.openxmlformats.org/drawingml/2006/main">
              <a:ext uri="{FF2B5EF4-FFF2-40B4-BE49-F238E27FC236}">
                <a16:creationId xmlns:a16="http://schemas.microsoft.com/office/drawing/2014/main" id="{0B77F04F-6E4D-41B3-B168-222CD1035A42}"/>
              </a:ext>
            </a:extLst>
          </p:cNvPr>
          <p:cNvSpPr>
            <a:spLocks xmlns:a="http://schemas.openxmlformats.org/drawingml/2006/main" noGrp="1"/>
          </p:cNvSpPr>
          <p:nvPr/>
        </p:nvSpPr>
        <p:spPr>
          <a:xfrm xmlns:a="http://schemas.openxmlformats.org/drawingml/2006/main">
            <a:off x="609600" y="4562475"/>
            <a:ext cx="61531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0">
                <a:solidFill>
                  <a:srgbClr val="C2CDDB"/>
                </a:solidFill>
                <a:latin typeface="Arial"/>
                <a:ea typeface="Arial"/>
                <a:cs typeface="Arial"/>
              </a:defRPr>
            </a:pPr>
            <a:r>
              <a:rPr sz="2325" b="0">
                <a:solidFill>
                  <a:srgbClr val="C2CDDB"/>
                </a:solidFill>
                <a:latin typeface="Arial"/>
                <a:ea typeface="Arial"/>
                <a:cs typeface="Arial"/>
              </a:rPr>
              <a:t>Helping teachers shape AI support for learning.</a:t>
            </a:r>
          </a:p>
        </p:txBody>
      </p:sp>
      <p:sp>
        <p:nvSpPr>
          <p:cNvPr id="10" name="s1-body-10">
            <a:extLst xmlns:a="http://schemas.openxmlformats.org/drawingml/2006/main">
              <a:ext uri="{FF2B5EF4-FFF2-40B4-BE49-F238E27FC236}">
                <a16:creationId xmlns:a16="http://schemas.microsoft.com/office/drawing/2014/main" id="{904039FD-29EB-498C-9313-6FC851EE7168}"/>
              </a:ext>
            </a:extLst>
          </p:cNvPr>
          <p:cNvSpPr>
            <a:spLocks xmlns:a="http://schemas.openxmlformats.org/drawingml/2006/main" noGrp="1"/>
          </p:cNvSpPr>
          <p:nvPr/>
        </p:nvSpPr>
        <p:spPr>
          <a:xfrm xmlns:a="http://schemas.openxmlformats.org/drawingml/2006/main">
            <a:off x="609600" y="5905500"/>
            <a:ext cx="8191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Haiyang Xin · CocoRobo Ltd.</a:t>
            </a:r>
          </a:p>
        </p:txBody>
      </p:sp>
      <p:sp>
        <p:nvSpPr>
          <p:cNvPr id="11" name="s1-body-11">
            <a:extLst xmlns:a="http://schemas.openxmlformats.org/drawingml/2006/main">
              <a:ext uri="{FF2B5EF4-FFF2-40B4-BE49-F238E27FC236}">
                <a16:creationId xmlns:a16="http://schemas.microsoft.com/office/drawing/2014/main" id="{A73A68CC-0D71-43C4-8DEC-3E65B8041934}"/>
              </a:ext>
            </a:extLst>
          </p:cNvPr>
          <p:cNvSpPr>
            <a:spLocks xmlns:a="http://schemas.openxmlformats.org/drawingml/2006/main" noGrp="1"/>
          </p:cNvSpPr>
          <p:nvPr/>
        </p:nvSpPr>
        <p:spPr>
          <a:xfrm xmlns:a="http://schemas.openxmlformats.org/drawingml/2006/main">
            <a:off x="9715500" y="5953125"/>
            <a:ext cx="1866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500" b="0">
                <a:solidFill>
                  <a:srgbClr val="C2CDDB"/>
                </a:solidFill>
                <a:latin typeface="Arial"/>
                <a:ea typeface="Arial"/>
                <a:cs typeface="Arial"/>
              </a:defRPr>
            </a:pPr>
            <a:r>
              <a:rPr sz="1500" b="0">
                <a:solidFill>
                  <a:srgbClr val="C2CDDB"/>
                </a:solidFill>
                <a:latin typeface="Arial"/>
                <a:ea typeface="Arial"/>
                <a:cs typeface="Arial"/>
              </a:rPr>
              <a:t>Paris · 2026</a:t>
            </a:r>
          </a:p>
        </p:txBody>
      </p:sp>
    </p:spTree>
    <p:extLst>
      <p:ext uri="{BB962C8B-B14F-4D97-AF65-F5344CB8AC3E}">
        <p14:creationId xmlns:p14="http://schemas.microsoft.com/office/powerpoint/2010/main" val="563044485"/>
      </p:ext>
    </p:extLst>
  </p:cSld>
</p:sld>
</file>

<file path=ppt/slides/slide2.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7" name="s2-kicker-1">
            <a:extLst xmlns:a="http://schemas.openxmlformats.org/drawingml/2006/main">
              <a:ext uri="{FF2B5EF4-FFF2-40B4-BE49-F238E27FC236}">
                <a16:creationId xmlns:a16="http://schemas.microsoft.com/office/drawing/2014/main" id="{7F10297C-499D-47EB-847C-A4502B4E139A}"/>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A SHARED STARTING POINT</a:t>
            </a:r>
          </a:p>
        </p:txBody>
      </p:sp>
      <p:sp>
        <p:nvSpPr>
          <p:cNvPr id="2" name="s2-title-2">
            <a:extLst xmlns:a="http://schemas.openxmlformats.org/drawingml/2006/main">
              <a:ext uri="{FF2B5EF4-FFF2-40B4-BE49-F238E27FC236}">
                <a16:creationId xmlns:a16="http://schemas.microsoft.com/office/drawing/2014/main" id="{4349ABB2-7E51-4A97-B204-DAADFDBCBBB3}"/>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What is a pedagogical AI agent?</a:t>
            </a:r>
          </a:p>
        </p:txBody>
      </p:sp>
      <p:sp>
        <p:nvSpPr>
          <p:cNvPr id="3" name="s2-body-3">
            <a:extLst xmlns:a="http://schemas.openxmlformats.org/drawingml/2006/main">
              <a:ext uri="{FF2B5EF4-FFF2-40B4-BE49-F238E27FC236}">
                <a16:creationId xmlns:a16="http://schemas.microsoft.com/office/drawing/2014/main" id="{C5E0AAEE-895C-4FEF-94EA-AE487C40782D}"/>
              </a:ext>
            </a:extLst>
          </p:cNvPr>
          <p:cNvSpPr>
            <a:spLocks xmlns:a="http://schemas.openxmlformats.org/drawingml/2006/main" noGrp="1"/>
          </p:cNvSpPr>
          <p:nvPr/>
        </p:nvSpPr>
        <p:spPr>
          <a:xfrm xmlns:a="http://schemas.openxmlformats.org/drawingml/2006/main">
            <a:off x="609600" y="18002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An AI helper set up for a clear teaching or learning goal.</a:t>
            </a:r>
          </a:p>
        </p:txBody>
      </p:sp>
      <p:sp>
        <p:nvSpPr>
          <p:cNvPr id="4" name="s2-body-4">
            <a:extLst xmlns:a="http://schemas.openxmlformats.org/drawingml/2006/main">
              <a:ext uri="{FF2B5EF4-FFF2-40B4-BE49-F238E27FC236}">
                <a16:creationId xmlns:a16="http://schemas.microsoft.com/office/drawing/2014/main" id="{91C812E3-DD41-4F4B-8BFB-22F2F7EFB89E}"/>
              </a:ext>
            </a:extLst>
          </p:cNvPr>
          <p:cNvSpPr>
            <a:spLocks xmlns:a="http://schemas.openxmlformats.org/drawingml/2006/main" noGrp="1"/>
          </p:cNvSpPr>
          <p:nvPr/>
        </p:nvSpPr>
        <p:spPr>
          <a:xfrm xmlns:a="http://schemas.openxmlformats.org/drawingml/2006/main">
            <a:off x="609600" y="23241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575" b="0">
                <a:solidFill>
                  <a:srgbClr val="556175"/>
                </a:solidFill>
                <a:latin typeface="Arial"/>
                <a:ea typeface="Arial"/>
                <a:cs typeface="Arial"/>
              </a:defRPr>
            </a:pPr>
            <a:r>
              <a:rPr sz="1575" b="0">
                <a:solidFill>
                  <a:srgbClr val="556175"/>
                </a:solidFill>
                <a:latin typeface="Arial"/>
                <a:ea typeface="Arial"/>
                <a:cs typeface="Arial"/>
              </a:rPr>
              <a:t>In our work, “pedagogical” means for teaching and learning.</a:t>
            </a:r>
          </a:p>
        </p:txBody>
      </p:sp>
      <p:sp>
        <p:nvSpPr>
          <p:cNvPr id="5" name="s2-body-5">
            <a:extLst xmlns:a="http://schemas.openxmlformats.org/drawingml/2006/main">
              <a:ext uri="{FF2B5EF4-FFF2-40B4-BE49-F238E27FC236}">
                <a16:creationId xmlns:a16="http://schemas.microsoft.com/office/drawing/2014/main" id="{28584D3B-C889-4423-9430-459B8A9CF035}"/>
              </a:ext>
            </a:extLst>
          </p:cNvPr>
          <p:cNvSpPr>
            <a:spLocks xmlns:a="http://schemas.openxmlformats.org/drawingml/2006/main" noGrp="1"/>
          </p:cNvSpPr>
          <p:nvPr/>
        </p:nvSpPr>
        <p:spPr>
          <a:xfrm xmlns:a="http://schemas.openxmlformats.org/drawingml/2006/main">
            <a:off x="609600" y="2714625"/>
            <a:ext cx="5429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101A2C"/>
                </a:solidFill>
                <a:latin typeface="Arial"/>
                <a:ea typeface="Arial"/>
                <a:cs typeface="Arial"/>
              </a:defRPr>
            </a:pPr>
            <a:r>
              <a:rPr sz="2100" b="1">
                <a:solidFill>
                  <a:srgbClr val="101A2C"/>
                </a:solidFill>
                <a:latin typeface="Arial"/>
                <a:ea typeface="Arial"/>
                <a:cs typeface="Arial"/>
              </a:rPr>
              <a:t>Teachers shape it</a:t>
            </a:r>
          </a:p>
        </p:txBody>
      </p:sp>
      <p:sp>
        <p:nvSpPr>
          <p:cNvPr id="6" name="s2-body-6">
            <a:extLst xmlns:a="http://schemas.openxmlformats.org/drawingml/2006/main">
              <a:ext uri="{FF2B5EF4-FFF2-40B4-BE49-F238E27FC236}">
                <a16:creationId xmlns:a16="http://schemas.microsoft.com/office/drawing/2014/main" id="{3F136EEE-C699-4962-949E-5D0502FBE70A}"/>
              </a:ext>
            </a:extLst>
          </p:cNvPr>
          <p:cNvSpPr>
            <a:spLocks xmlns:a="http://schemas.openxmlformats.org/drawingml/2006/main" noGrp="1"/>
          </p:cNvSpPr>
          <p:nvPr/>
        </p:nvSpPr>
        <p:spPr>
          <a:xfrm xmlns:a="http://schemas.openxmlformats.org/drawingml/2006/main">
            <a:off x="609600" y="307657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They set its role, materials, steps and limits.</a:t>
            </a:r>
          </a:p>
        </p:txBody>
      </p:sp>
      <p:sp>
        <p:nvSpPr>
          <p:cNvPr id="7" name="s2-body-7">
            <a:extLst xmlns:a="http://schemas.openxmlformats.org/drawingml/2006/main">
              <a:ext uri="{FF2B5EF4-FFF2-40B4-BE49-F238E27FC236}">
                <a16:creationId xmlns:a16="http://schemas.microsoft.com/office/drawing/2014/main" id="{AEC8D490-C4BE-4BBC-902E-5DA3B910AE63}"/>
              </a:ext>
            </a:extLst>
          </p:cNvPr>
          <p:cNvSpPr>
            <a:spLocks xmlns:a="http://schemas.openxmlformats.org/drawingml/2006/main" noGrp="1"/>
          </p:cNvSpPr>
          <p:nvPr/>
        </p:nvSpPr>
        <p:spPr>
          <a:xfrm xmlns:a="http://schemas.openxmlformats.org/drawingml/2006/main">
            <a:off x="609600" y="3724275"/>
            <a:ext cx="5429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101A2C"/>
                </a:solidFill>
                <a:latin typeface="Arial"/>
                <a:ea typeface="Arial"/>
                <a:cs typeface="Arial"/>
              </a:defRPr>
            </a:pPr>
            <a:r>
              <a:rPr sz="2100" b="1">
                <a:solidFill>
                  <a:srgbClr val="101A2C"/>
                </a:solidFill>
                <a:latin typeface="Arial"/>
                <a:ea typeface="Arial"/>
                <a:cs typeface="Arial"/>
              </a:rPr>
              <a:t>It supports learning</a:t>
            </a:r>
          </a:p>
        </p:txBody>
      </p:sp>
      <p:sp>
        <p:nvSpPr>
          <p:cNvPr id="8" name="s2-body-8">
            <a:extLst xmlns:a="http://schemas.openxmlformats.org/drawingml/2006/main">
              <a:ext uri="{FF2B5EF4-FFF2-40B4-BE49-F238E27FC236}">
                <a16:creationId xmlns:a16="http://schemas.microsoft.com/office/drawing/2014/main" id="{2702331C-9AA6-41D4-8D82-1DB2FED1C70E}"/>
              </a:ext>
            </a:extLst>
          </p:cNvPr>
          <p:cNvSpPr>
            <a:spLocks xmlns:a="http://schemas.openxmlformats.org/drawingml/2006/main" noGrp="1"/>
          </p:cNvSpPr>
          <p:nvPr/>
        </p:nvSpPr>
        <p:spPr>
          <a:xfrm xmlns:a="http://schemas.openxmlformats.org/drawingml/2006/main">
            <a:off x="609600" y="408622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It asks questions, guides practice and gives feedback.</a:t>
            </a:r>
          </a:p>
        </p:txBody>
      </p:sp>
      <p:sp>
        <p:nvSpPr>
          <p:cNvPr id="9" name="s2-body-9">
            <a:extLst xmlns:a="http://schemas.openxmlformats.org/drawingml/2006/main">
              <a:ext uri="{FF2B5EF4-FFF2-40B4-BE49-F238E27FC236}">
                <a16:creationId xmlns:a16="http://schemas.microsoft.com/office/drawing/2014/main" id="{4F8B0EED-2237-46FE-BA0A-1BAFD738DE67}"/>
              </a:ext>
            </a:extLst>
          </p:cNvPr>
          <p:cNvSpPr>
            <a:spLocks xmlns:a="http://schemas.openxmlformats.org/drawingml/2006/main" noGrp="1"/>
          </p:cNvSpPr>
          <p:nvPr/>
        </p:nvSpPr>
        <p:spPr>
          <a:xfrm xmlns:a="http://schemas.openxmlformats.org/drawingml/2006/main">
            <a:off x="609600" y="4733925"/>
            <a:ext cx="5429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1">
                <a:solidFill>
                  <a:srgbClr val="101A2C"/>
                </a:solidFill>
                <a:latin typeface="Arial"/>
                <a:ea typeface="Arial"/>
                <a:cs typeface="Arial"/>
              </a:defRPr>
            </a:pPr>
            <a:r>
              <a:rPr sz="2100" b="1">
                <a:solidFill>
                  <a:srgbClr val="101A2C"/>
                </a:solidFill>
                <a:latin typeface="Arial"/>
                <a:ea typeface="Arial"/>
                <a:cs typeface="Arial"/>
              </a:rPr>
              <a:t>Why use one?</a:t>
            </a:r>
          </a:p>
        </p:txBody>
      </p:sp>
      <p:sp>
        <p:nvSpPr>
          <p:cNvPr id="10" name="s2-body-10">
            <a:extLst xmlns:a="http://schemas.openxmlformats.org/drawingml/2006/main">
              <a:ext uri="{FF2B5EF4-FFF2-40B4-BE49-F238E27FC236}">
                <a16:creationId xmlns:a16="http://schemas.microsoft.com/office/drawing/2014/main" id="{ED95B07E-F1CF-413A-AE90-063B8836A3A5}"/>
              </a:ext>
            </a:extLst>
          </p:cNvPr>
          <p:cNvSpPr>
            <a:spLocks xmlns:a="http://schemas.openxmlformats.org/drawingml/2006/main" noGrp="1"/>
          </p:cNvSpPr>
          <p:nvPr/>
        </p:nvSpPr>
        <p:spPr>
          <a:xfrm xmlns:a="http://schemas.openxmlformats.org/drawingml/2006/main">
            <a:off x="609600" y="509587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Turn a teaching plan into support that can be tested, reused and revised.</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fa88fabfe16643c8"/>
          <a:stretch xmlns:a="http://schemas.openxmlformats.org/drawingml/2006/main"/>
        </p:blipFill>
        <p:spPr>
          <a:xfrm xmlns:a="http://schemas.openxmlformats.org/drawingml/2006/main">
            <a:off x="6728052" y="2886075"/>
            <a:ext cx="4660446" cy="2609850"/>
          </a:xfrm>
          <a:prstGeom xmlns:a="http://schemas.openxmlformats.org/drawingml/2006/main" prst="rect">
            <a:avLst/>
          </a:prstGeom>
        </p:spPr>
      </p:pic>
      <p:sp>
        <p:nvSpPr>
          <p:cNvPr id="12" name="s2-caption-12">
            <a:extLst xmlns:a="http://schemas.openxmlformats.org/drawingml/2006/main">
              <a:ext uri="{FF2B5EF4-FFF2-40B4-BE49-F238E27FC236}">
                <a16:creationId xmlns:a16="http://schemas.microsoft.com/office/drawing/2014/main" id="{282B5BD3-DA17-4E23-9C99-473748027E2B}"/>
              </a:ext>
            </a:extLst>
          </p:cNvPr>
          <p:cNvSpPr>
            <a:spLocks xmlns:a="http://schemas.openxmlformats.org/drawingml/2006/main" noGrp="1"/>
          </p:cNvSpPr>
          <p:nvPr/>
        </p:nvSpPr>
        <p:spPr>
          <a:xfrm xmlns:a="http://schemas.openxmlformats.org/drawingml/2006/main">
            <a:off x="6534150" y="5553075"/>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English speaking practice · Pingshan</a:t>
            </a:r>
          </a:p>
        </p:txBody>
      </p:sp>
      <p:sp>
        <p:nvSpPr>
          <p:cNvPr id="13" name="s2-rect-13">
            <a:extLst xmlns:a="http://schemas.openxmlformats.org/drawingml/2006/main">
              <a:ext uri="{FF2B5EF4-FFF2-40B4-BE49-F238E27FC236}">
                <a16:creationId xmlns:a16="http://schemas.microsoft.com/office/drawing/2014/main" id="{8C50A191-B582-40BC-99E7-1A3EDE8B8145}"/>
              </a:ext>
            </a:extLst>
          </p:cNvPr>
          <p:cNvSpPr>
            <a:spLocks xmlns:a="http://schemas.openxmlformats.org/drawingml/2006/main" noGrp="1"/>
          </p:cNvSpPr>
          <p:nvPr/>
        </p:nvSpPr>
        <p:spPr>
          <a:xfrm xmlns:a="http://schemas.openxmlformats.org/drawingml/2006/main">
            <a:off x="609600" y="5924550"/>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4" name="s2-takeaway-14">
            <a:extLst xmlns:a="http://schemas.openxmlformats.org/drawingml/2006/main">
              <a:ext uri="{FF2B5EF4-FFF2-40B4-BE49-F238E27FC236}">
                <a16:creationId xmlns:a16="http://schemas.microsoft.com/office/drawing/2014/main" id="{DCDFBAA3-90B4-4612-9D83-F3C09E3E42F8}"/>
              </a:ext>
            </a:extLst>
          </p:cNvPr>
          <p:cNvSpPr>
            <a:spLocks xmlns:a="http://schemas.openxmlformats.org/drawingml/2006/main" noGrp="1"/>
          </p:cNvSpPr>
          <p:nvPr/>
        </p:nvSpPr>
        <p:spPr>
          <a:xfrm xmlns:a="http://schemas.openxmlformats.org/drawingml/2006/main">
            <a:off x="609600" y="60674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The teacher sets the purpose. The agent provides the agreed support.</a:t>
            </a:r>
          </a:p>
        </p:txBody>
      </p:sp>
      <p:sp>
        <p:nvSpPr>
          <p:cNvPr id="15" name="s2-offline-meta-15">
            <a:extLst xmlns:a="http://schemas.openxmlformats.org/drawingml/2006/main">
              <a:ext uri="{FF2B5EF4-FFF2-40B4-BE49-F238E27FC236}">
                <a16:creationId xmlns:a16="http://schemas.microsoft.com/office/drawing/2014/main" id="{EDA5A5F0-81FB-4ADF-BD41-17A8BB069C3F}"/>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6" name="s2-offline-meta-16">
            <a:extLst xmlns:a="http://schemas.openxmlformats.org/drawingml/2006/main">
              <a:ext uri="{FF2B5EF4-FFF2-40B4-BE49-F238E27FC236}">
                <a16:creationId xmlns:a16="http://schemas.microsoft.com/office/drawing/2014/main" id="{DDF6D939-69F1-473A-B12D-AB0131DD965A}"/>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02 / 15</a:t>
            </a:r>
          </a:p>
        </p:txBody>
      </p:sp>
    </p:spTree>
    <p:extLst>
      <p:ext uri="{BB962C8B-B14F-4D97-AF65-F5344CB8AC3E}">
        <p14:creationId xmlns:p14="http://schemas.microsoft.com/office/powerpoint/2010/main" val="65798342"/>
      </p:ext>
    </p:extLst>
  </p:cSld>
</p:sld>
</file>

<file path=ppt/slides/slide3.xml><?xml version="1.0" encoding="utf-8"?>
<p:sld xmlns:p="http://schemas.openxmlformats.org/presentationml/2006/main">
  <p:cSld>
    <p:bg>
      <p:bgPr>
        <a:solidFill xmlns:a="http://schemas.openxmlformats.org/drawingml/2006/main">
          <a:srgbClr val="1769E0"/>
        </a:solidFill>
      </p:bgPr>
    </p:bg>
    <p:spTree>
      <p:nvGrpSpPr>
        <p:cNvPr id="1" name=""/>
        <p:cNvGrpSpPr/>
        <p:nvPr/>
      </p:nvGrpSpPr>
      <p:grpSpPr>
        <a:xfrm xmlns:a="http://schemas.openxmlformats.org/drawingml/2006/main"/>
      </p:grpSpPr>
      <p:sp>
        <p:nvSpPr>
          <p:cNvPr id="15" name="s3-kicker-1">
            <a:extLst xmlns:a="http://schemas.openxmlformats.org/drawingml/2006/main">
              <a:ext uri="{FF2B5EF4-FFF2-40B4-BE49-F238E27FC236}">
                <a16:creationId xmlns:a16="http://schemas.microsoft.com/office/drawing/2014/main" id="{A2BA94E3-8776-4E67-BDE3-7399BDEB291D}"/>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TEACHERS SHAPE AI’S ROLE</a:t>
            </a:r>
          </a:p>
        </p:txBody>
      </p:sp>
      <p:sp>
        <p:nvSpPr>
          <p:cNvPr id="2" name="s3-title-2">
            <a:extLst xmlns:a="http://schemas.openxmlformats.org/drawingml/2006/main">
              <a:ext uri="{FF2B5EF4-FFF2-40B4-BE49-F238E27FC236}">
                <a16:creationId xmlns:a16="http://schemas.microsoft.com/office/drawing/2014/main" id="{2B22E893-4289-46E8-AD7E-CDFFDA2D7A30}"/>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One goal. Two views.</a:t>
            </a:r>
          </a:p>
        </p:txBody>
      </p:sp>
      <p:sp>
        <p:nvSpPr>
          <p:cNvPr id="3" name="s3-body-3">
            <a:extLst xmlns:a="http://schemas.openxmlformats.org/drawingml/2006/main">
              <a:ext uri="{FF2B5EF4-FFF2-40B4-BE49-F238E27FC236}">
                <a16:creationId xmlns:a16="http://schemas.microsoft.com/office/drawing/2014/main" id="{0FEC7B32-52F4-4D49-BBF7-81025082734E}"/>
              </a:ext>
            </a:extLst>
          </p:cNvPr>
          <p:cNvSpPr>
            <a:spLocks xmlns:a="http://schemas.openxmlformats.org/drawingml/2006/main" noGrp="1"/>
          </p:cNvSpPr>
          <p:nvPr/>
        </p:nvSpPr>
        <p:spPr>
          <a:xfrm xmlns:a="http://schemas.openxmlformats.org/drawingml/2006/main">
            <a:off x="609600" y="18859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400" b="0">
                <a:solidFill>
                  <a:srgbClr val="E0EBFF"/>
                </a:solidFill>
                <a:latin typeface="Arial"/>
                <a:ea typeface="Arial"/>
                <a:cs typeface="Arial"/>
              </a:defRPr>
            </a:pPr>
            <a:r>
              <a:rPr sz="2400" b="0">
                <a:solidFill>
                  <a:srgbClr val="E0EBFF"/>
                </a:solidFill>
                <a:latin typeface="Arial"/>
                <a:ea typeface="Arial"/>
                <a:cs typeface="Arial"/>
              </a:rPr>
              <a:t>Teacher agency means having the ability and room to make teaching choices.</a:t>
            </a:r>
          </a:p>
        </p:txBody>
      </p:sp>
      <p:sp>
        <p:nvSpPr>
          <p:cNvPr id="4" name="s3-rect-4">
            <a:extLst xmlns:a="http://schemas.openxmlformats.org/drawingml/2006/main">
              <a:ext uri="{FF2B5EF4-FFF2-40B4-BE49-F238E27FC236}">
                <a16:creationId xmlns:a16="http://schemas.microsoft.com/office/drawing/2014/main" id="{AB137AA2-08F1-476F-8EA6-668FCFD4A243}"/>
              </a:ext>
            </a:extLst>
          </p:cNvPr>
          <p:cNvSpPr>
            <a:spLocks xmlns:a="http://schemas.openxmlformats.org/drawingml/2006/main" noGrp="1"/>
          </p:cNvSpPr>
          <p:nvPr/>
        </p:nvSpPr>
        <p:spPr>
          <a:xfrm xmlns:a="http://schemas.openxmlformats.org/drawingml/2006/main">
            <a:off x="609600" y="2857500"/>
            <a:ext cx="5238750" cy="28575"/>
          </a:xfrm>
          <a:prstGeom xmlns:a="http://schemas.openxmlformats.org/drawingml/2006/main" prst="rect">
            <a:avLst/>
          </a:prstGeom>
          <a:solidFill xmlns:a="http://schemas.openxmlformats.org/drawingml/2006/main">
            <a:srgbClr val="5BE3D5"/>
          </a:solidFill>
          <a:ln xmlns:a="http://schemas.openxmlformats.org/drawingml/2006/main" w="0">
            <a:noFill/>
          </a:ln>
        </p:spPr>
      </p:sp>
      <p:sp>
        <p:nvSpPr>
          <p:cNvPr id="5" name="s3-body-5">
            <a:extLst xmlns:a="http://schemas.openxmlformats.org/drawingml/2006/main">
              <a:ext uri="{FF2B5EF4-FFF2-40B4-BE49-F238E27FC236}">
                <a16:creationId xmlns:a16="http://schemas.microsoft.com/office/drawing/2014/main" id="{FD028A7C-0E34-4992-B623-B47E426151DD}"/>
              </a:ext>
            </a:extLst>
          </p:cNvPr>
          <p:cNvSpPr>
            <a:spLocks xmlns:a="http://schemas.openxmlformats.org/drawingml/2006/main" noGrp="1"/>
          </p:cNvSpPr>
          <p:nvPr/>
        </p:nvSpPr>
        <p:spPr>
          <a:xfrm xmlns:a="http://schemas.openxmlformats.org/drawingml/2006/main">
            <a:off x="609600" y="3076575"/>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925" b="1">
                <a:solidFill>
                  <a:srgbClr val="FFFFFF"/>
                </a:solidFill>
                <a:latin typeface="Arial"/>
                <a:ea typeface="Arial"/>
                <a:cs typeface="Arial"/>
              </a:defRPr>
            </a:pPr>
            <a:r>
              <a:rPr sz="2925" b="1">
                <a:solidFill>
                  <a:srgbClr val="FFFFFF"/>
                </a:solidFill>
                <a:latin typeface="Arial"/>
                <a:ea typeface="Arial"/>
                <a:cs typeface="Arial"/>
              </a:rPr>
              <a:t>1 · Practice</a:t>
            </a:r>
          </a:p>
        </p:txBody>
      </p:sp>
      <p:sp>
        <p:nvSpPr>
          <p:cNvPr id="6" name="s3-body-6">
            <a:extLst xmlns:a="http://schemas.openxmlformats.org/drawingml/2006/main">
              <a:ext uri="{FF2B5EF4-FFF2-40B4-BE49-F238E27FC236}">
                <a16:creationId xmlns:a16="http://schemas.microsoft.com/office/drawing/2014/main" id="{BA6983B9-46FC-4F96-ADCA-9A86D3872139}"/>
              </a:ext>
            </a:extLst>
          </p:cNvPr>
          <p:cNvSpPr>
            <a:spLocks xmlns:a="http://schemas.openxmlformats.org/drawingml/2006/main" noGrp="1"/>
          </p:cNvSpPr>
          <p:nvPr/>
        </p:nvSpPr>
        <p:spPr>
          <a:xfrm xmlns:a="http://schemas.openxmlformats.org/drawingml/2006/main">
            <a:off x="609600" y="3667125"/>
            <a:ext cx="5048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0">
                <a:solidFill>
                  <a:srgbClr val="E0EBFF"/>
                </a:solidFill>
                <a:latin typeface="Arial"/>
                <a:ea typeface="Arial"/>
                <a:cs typeface="Arial"/>
              </a:defRPr>
            </a:pPr>
            <a:r>
              <a:rPr sz="2175" b="0">
                <a:solidFill>
                  <a:srgbClr val="E0EBFF"/>
                </a:solidFill>
                <a:latin typeface="Arial"/>
                <a:ea typeface="Arial"/>
                <a:cs typeface="Arial"/>
              </a:rPr>
              <a:t>How can a city, a district, a school group and a teacher support this work?</a:t>
            </a:r>
          </a:p>
        </p:txBody>
      </p:sp>
      <p:sp>
        <p:nvSpPr>
          <p:cNvPr id="7" name="s3-rect-7">
            <a:extLst xmlns:a="http://schemas.openxmlformats.org/drawingml/2006/main">
              <a:ext uri="{FF2B5EF4-FFF2-40B4-BE49-F238E27FC236}">
                <a16:creationId xmlns:a16="http://schemas.microsoft.com/office/drawing/2014/main" id="{8534EF20-B1BB-4C83-94A3-376214A4A4E7}"/>
              </a:ext>
            </a:extLst>
          </p:cNvPr>
          <p:cNvSpPr>
            <a:spLocks xmlns:a="http://schemas.openxmlformats.org/drawingml/2006/main" noGrp="1"/>
          </p:cNvSpPr>
          <p:nvPr/>
        </p:nvSpPr>
        <p:spPr>
          <a:xfrm xmlns:a="http://schemas.openxmlformats.org/drawingml/2006/main">
            <a:off x="6286500" y="2857500"/>
            <a:ext cx="5238750" cy="28575"/>
          </a:xfrm>
          <a:prstGeom xmlns:a="http://schemas.openxmlformats.org/drawingml/2006/main" prst="rect">
            <a:avLst/>
          </a:prstGeom>
          <a:solidFill xmlns:a="http://schemas.openxmlformats.org/drawingml/2006/main">
            <a:srgbClr val="5BE3D5"/>
          </a:solidFill>
          <a:ln xmlns:a="http://schemas.openxmlformats.org/drawingml/2006/main" w="0">
            <a:noFill/>
          </a:ln>
        </p:spPr>
      </p:sp>
      <p:sp>
        <p:nvSpPr>
          <p:cNvPr id="8" name="s3-body-8">
            <a:extLst xmlns:a="http://schemas.openxmlformats.org/drawingml/2006/main">
              <a:ext uri="{FF2B5EF4-FFF2-40B4-BE49-F238E27FC236}">
                <a16:creationId xmlns:a16="http://schemas.microsoft.com/office/drawing/2014/main" id="{2856AF09-20E6-471A-AC29-BC0A18FF4902}"/>
              </a:ext>
            </a:extLst>
          </p:cNvPr>
          <p:cNvSpPr>
            <a:spLocks xmlns:a="http://schemas.openxmlformats.org/drawingml/2006/main" noGrp="1"/>
          </p:cNvSpPr>
          <p:nvPr/>
        </p:nvSpPr>
        <p:spPr>
          <a:xfrm xmlns:a="http://schemas.openxmlformats.org/drawingml/2006/main">
            <a:off x="6286500" y="3076575"/>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925" b="1">
                <a:solidFill>
                  <a:srgbClr val="FFFFFF"/>
                </a:solidFill>
                <a:latin typeface="Arial"/>
                <a:ea typeface="Arial"/>
                <a:cs typeface="Arial"/>
              </a:defRPr>
            </a:pPr>
            <a:r>
              <a:rPr sz="2925" b="1">
                <a:solidFill>
                  <a:srgbClr val="FFFFFF"/>
                </a:solidFill>
                <a:latin typeface="Arial"/>
                <a:ea typeface="Arial"/>
                <a:cs typeface="Arial"/>
              </a:rPr>
              <a:t>2 · Research</a:t>
            </a:r>
          </a:p>
        </p:txBody>
      </p:sp>
      <p:sp>
        <p:nvSpPr>
          <p:cNvPr id="9" name="s3-body-9">
            <a:extLst xmlns:a="http://schemas.openxmlformats.org/drawingml/2006/main">
              <a:ext uri="{FF2B5EF4-FFF2-40B4-BE49-F238E27FC236}">
                <a16:creationId xmlns:a16="http://schemas.microsoft.com/office/drawing/2014/main" id="{A5AD4317-D492-4F6B-8EA6-987ADA4FF4BC}"/>
              </a:ext>
            </a:extLst>
          </p:cNvPr>
          <p:cNvSpPr>
            <a:spLocks xmlns:a="http://schemas.openxmlformats.org/drawingml/2006/main" noGrp="1"/>
          </p:cNvSpPr>
          <p:nvPr/>
        </p:nvSpPr>
        <p:spPr>
          <a:xfrm xmlns:a="http://schemas.openxmlformats.org/drawingml/2006/main">
            <a:off x="6286500" y="3667125"/>
            <a:ext cx="5048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0">
                <a:solidFill>
                  <a:srgbClr val="E0EBFF"/>
                </a:solidFill>
                <a:latin typeface="Arial"/>
                <a:ea typeface="Arial"/>
                <a:cs typeface="Arial"/>
              </a:defRPr>
            </a:pPr>
            <a:r>
              <a:rPr sz="2175" b="0">
                <a:solidFill>
                  <a:srgbClr val="E0EBFF"/>
                </a:solidFill>
                <a:latin typeface="Arial"/>
                <a:ea typeface="Arial"/>
                <a:cs typeface="Arial"/>
              </a:rPr>
              <a:t>What do teachers learn as they build agents? What helps them keep creating?</a:t>
            </a:r>
          </a:p>
        </p:txBody>
      </p:sp>
      <p:sp>
        <p:nvSpPr>
          <p:cNvPr id="10" name="s3-metric-10">
            <a:extLst xmlns:a="http://schemas.openxmlformats.org/drawingml/2006/main">
              <a:ext uri="{FF2B5EF4-FFF2-40B4-BE49-F238E27FC236}">
                <a16:creationId xmlns:a16="http://schemas.microsoft.com/office/drawing/2014/main" id="{25A027AC-CB4E-4914-AE99-341A443A1A3D}"/>
              </a:ext>
            </a:extLst>
          </p:cNvPr>
          <p:cNvSpPr>
            <a:spLocks xmlns:a="http://schemas.openxmlformats.org/drawingml/2006/main" noGrp="1"/>
          </p:cNvSpPr>
          <p:nvPr/>
        </p:nvSpPr>
        <p:spPr>
          <a:xfrm xmlns:a="http://schemas.openxmlformats.org/drawingml/2006/main">
            <a:off x="609600" y="5057775"/>
            <a:ext cx="2762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5550" b="1">
                <a:solidFill>
                  <a:srgbClr val="5BE3D5"/>
                </a:solidFill>
                <a:latin typeface="Arial"/>
                <a:ea typeface="Arial"/>
                <a:cs typeface="Arial"/>
              </a:defRPr>
            </a:pPr>
            <a:r>
              <a:rPr sz="5550" b="1">
                <a:solidFill>
                  <a:srgbClr val="5BE3D5"/>
                </a:solidFill>
                <a:latin typeface="Arial"/>
                <a:ea typeface="Arial"/>
                <a:cs typeface="Arial"/>
              </a:rPr>
              <a:t>1,000+</a:t>
            </a:r>
          </a:p>
        </p:txBody>
      </p:sp>
      <p:sp>
        <p:nvSpPr>
          <p:cNvPr id="11" name="s3-body-11">
            <a:extLst xmlns:a="http://schemas.openxmlformats.org/drawingml/2006/main">
              <a:ext uri="{FF2B5EF4-FFF2-40B4-BE49-F238E27FC236}">
                <a16:creationId xmlns:a16="http://schemas.microsoft.com/office/drawing/2014/main" id="{24F0DD72-2F45-4D89-AD5A-AB215DA748B4}"/>
              </a:ext>
            </a:extLst>
          </p:cNvPr>
          <p:cNvSpPr>
            <a:spLocks xmlns:a="http://schemas.openxmlformats.org/drawingml/2006/main" noGrp="1"/>
          </p:cNvSpPr>
          <p:nvPr/>
        </p:nvSpPr>
        <p:spPr>
          <a:xfrm xmlns:a="http://schemas.openxmlformats.org/drawingml/2006/main">
            <a:off x="3600450" y="5114925"/>
            <a:ext cx="7429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FFFFFF"/>
                </a:solidFill>
                <a:latin typeface="Arial"/>
                <a:ea typeface="Arial"/>
                <a:cs typeface="Arial"/>
              </a:defRPr>
            </a:pPr>
            <a:r>
              <a:rPr sz="2100" b="0">
                <a:solidFill>
                  <a:srgbClr val="FFFFFF"/>
                </a:solidFill>
                <a:latin typeface="Arial"/>
                <a:ea typeface="Arial"/>
                <a:cs typeface="Arial"/>
              </a:rPr>
              <a:t>teachers reached across four Shenzhen districts and partner schools</a:t>
            </a:r>
          </a:p>
        </p:txBody>
      </p:sp>
      <p:sp>
        <p:nvSpPr>
          <p:cNvPr id="12" name="s3-caption-12">
            <a:extLst xmlns:a="http://schemas.openxmlformats.org/drawingml/2006/main">
              <a:ext uri="{FF2B5EF4-FFF2-40B4-BE49-F238E27FC236}">
                <a16:creationId xmlns:a16="http://schemas.microsoft.com/office/drawing/2014/main" id="{9ACB9D80-867E-4F67-9C6C-F2DDCA958BE9}"/>
              </a:ext>
            </a:extLst>
          </p:cNvPr>
          <p:cNvSpPr>
            <a:spLocks xmlns:a="http://schemas.openxmlformats.org/drawingml/2006/main" noGrp="1"/>
          </p:cNvSpPr>
          <p:nvPr/>
        </p:nvSpPr>
        <p:spPr>
          <a:xfrm xmlns:a="http://schemas.openxmlformats.org/drawingml/2006/main">
            <a:off x="609600" y="60579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650" b="0">
                <a:solidFill>
                  <a:srgbClr val="E0EBFF"/>
                </a:solidFill>
                <a:latin typeface="Arial"/>
                <a:ea typeface="Arial"/>
                <a:cs typeface="Arial"/>
              </a:defRPr>
            </a:pPr>
            <a:r>
              <a:rPr sz="1650" b="0">
                <a:solidFill>
                  <a:srgbClr val="E0EBFF"/>
                </a:solidFill>
                <a:latin typeface="Arial"/>
                <a:ea typeface="Arial"/>
                <a:cs typeface="Arial"/>
              </a:rPr>
              <a:t>Our teacher development work: April 2025–April 2026</a:t>
            </a:r>
          </a:p>
        </p:txBody>
      </p:sp>
      <p:sp>
        <p:nvSpPr>
          <p:cNvPr id="13" name="s3-offline-meta-13">
            <a:extLst xmlns:a="http://schemas.openxmlformats.org/drawingml/2006/main">
              <a:ext uri="{FF2B5EF4-FFF2-40B4-BE49-F238E27FC236}">
                <a16:creationId xmlns:a16="http://schemas.microsoft.com/office/drawing/2014/main" id="{67C2183B-0855-49A8-AA4C-C773310DF8B9}"/>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E0EBFF"/>
                </a:solidFill>
                <a:latin typeface="Arial"/>
                <a:ea typeface="Arial"/>
                <a:cs typeface="Arial"/>
              </a:defRPr>
            </a:pPr>
            <a:r>
              <a:rPr sz="975" b="0">
                <a:solidFill>
                  <a:srgbClr val="E0EBFF"/>
                </a:solidFill>
                <a:latin typeface="Arial"/>
                <a:ea typeface="Arial"/>
                <a:cs typeface="Arial"/>
              </a:rPr>
              <a:t>CocoRobo · UNESCO Digital Learning Week 2026</a:t>
            </a:r>
          </a:p>
        </p:txBody>
      </p:sp>
      <p:sp>
        <p:nvSpPr>
          <p:cNvPr id="14" name="s3-offline-meta-14">
            <a:extLst xmlns:a="http://schemas.openxmlformats.org/drawingml/2006/main">
              <a:ext uri="{FF2B5EF4-FFF2-40B4-BE49-F238E27FC236}">
                <a16:creationId xmlns:a16="http://schemas.microsoft.com/office/drawing/2014/main" id="{A298A344-A50B-48EC-95CB-5F0F854D8958}"/>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E0EBFF"/>
                </a:solidFill>
                <a:latin typeface="Arial"/>
                <a:ea typeface="Arial"/>
                <a:cs typeface="Arial"/>
              </a:defRPr>
            </a:pPr>
            <a:r>
              <a:rPr sz="1125" b="1">
                <a:solidFill>
                  <a:srgbClr val="E0EBFF"/>
                </a:solidFill>
                <a:latin typeface="Arial"/>
                <a:ea typeface="Arial"/>
                <a:cs typeface="Arial"/>
              </a:rPr>
              <a:t>03 / 15</a:t>
            </a:r>
          </a:p>
        </p:txBody>
      </p:sp>
    </p:spTree>
    <p:extLst>
      <p:ext uri="{BB962C8B-B14F-4D97-AF65-F5344CB8AC3E}">
        <p14:creationId xmlns:p14="http://schemas.microsoft.com/office/powerpoint/2010/main" val="1094465478"/>
      </p:ext>
    </p:extLst>
  </p:cSld>
</p:sld>
</file>

<file path=ppt/slides/slide4.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4" name="s4-kicker-1">
            <a:extLst xmlns:a="http://schemas.openxmlformats.org/drawingml/2006/main">
              <a:ext uri="{FF2B5EF4-FFF2-40B4-BE49-F238E27FC236}">
                <a16:creationId xmlns:a16="http://schemas.microsoft.com/office/drawing/2014/main" id="{89DDDD40-AABE-4947-B7D6-6CC0AA8115CC}"/>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1 · PRACTICE / SHENZHEN MUNICIPAL EDUCATION BUREAU</a:t>
            </a:r>
          </a:p>
        </p:txBody>
      </p:sp>
      <p:sp>
        <p:nvSpPr>
          <p:cNvPr id="2" name="s4-title-2">
            <a:extLst xmlns:a="http://schemas.openxmlformats.org/drawingml/2006/main">
              <a:ext uri="{FF2B5EF4-FFF2-40B4-BE49-F238E27FC236}">
                <a16:creationId xmlns:a16="http://schemas.microsoft.com/office/drawing/2014/main" id="{3D8000F0-E131-4A93-8A62-BBA1BE3770CA}"/>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Shenzhen: access and chances to create</a:t>
            </a:r>
          </a:p>
        </p:txBody>
      </p:sp>
      <p:sp>
        <p:nvSpPr>
          <p:cNvPr id="3" name="s4-subheading-3">
            <a:extLst xmlns:a="http://schemas.openxmlformats.org/drawingml/2006/main">
              <a:ext uri="{FF2B5EF4-FFF2-40B4-BE49-F238E27FC236}">
                <a16:creationId xmlns:a16="http://schemas.microsoft.com/office/drawing/2014/main" id="{8538F02D-7A16-4FD6-961A-DA88B6B7BF08}"/>
              </a:ext>
            </a:extLst>
          </p:cNvPr>
          <p:cNvSpPr>
            <a:spLocks xmlns:a="http://schemas.openxmlformats.org/drawingml/2006/main" noGrp="1"/>
          </p:cNvSpPr>
          <p:nvPr/>
        </p:nvSpPr>
        <p:spPr>
          <a:xfrm xmlns:a="http://schemas.openxmlformats.org/drawingml/2006/main">
            <a:off x="609600" y="2362200"/>
            <a:ext cx="5257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A shared starting point</a:t>
            </a:r>
          </a:p>
        </p:txBody>
      </p:sp>
      <p:sp>
        <p:nvSpPr>
          <p:cNvPr id="4" name="s4-body-4">
            <a:extLst xmlns:a="http://schemas.openxmlformats.org/drawingml/2006/main">
              <a:ext uri="{FF2B5EF4-FFF2-40B4-BE49-F238E27FC236}">
                <a16:creationId xmlns:a16="http://schemas.microsoft.com/office/drawing/2014/main" id="{97D9F154-1C2C-4932-9F96-CFA4EABDCC71}"/>
              </a:ext>
            </a:extLst>
          </p:cNvPr>
          <p:cNvSpPr>
            <a:spLocks xmlns:a="http://schemas.openxmlformats.org/drawingml/2006/main" noGrp="1"/>
          </p:cNvSpPr>
          <p:nvPr/>
        </p:nvSpPr>
        <p:spPr>
          <a:xfrm xmlns:a="http://schemas.openxmlformats.org/drawingml/2006/main">
            <a:off x="609600" y="3048000"/>
            <a:ext cx="5257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Shenjiao AI brings together 10 approved learning platforms.</a:t>
            </a:r>
          </a:p>
        </p:txBody>
      </p:sp>
      <p:sp>
        <p:nvSpPr>
          <p:cNvPr id="5" name="s4-subheading-5">
            <a:extLst xmlns:a="http://schemas.openxmlformats.org/drawingml/2006/main">
              <a:ext uri="{FF2B5EF4-FFF2-40B4-BE49-F238E27FC236}">
                <a16:creationId xmlns:a16="http://schemas.microsoft.com/office/drawing/2014/main" id="{C1DF9C0C-881F-4937-AF3E-13619A309F21}"/>
              </a:ext>
            </a:extLst>
          </p:cNvPr>
          <p:cNvSpPr>
            <a:spLocks xmlns:a="http://schemas.openxmlformats.org/drawingml/2006/main" noGrp="1"/>
          </p:cNvSpPr>
          <p:nvPr/>
        </p:nvSpPr>
        <p:spPr>
          <a:xfrm xmlns:a="http://schemas.openxmlformats.org/drawingml/2006/main">
            <a:off x="609600" y="3943350"/>
            <a:ext cx="5257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Teachers create applications</a:t>
            </a:r>
          </a:p>
        </p:txBody>
      </p:sp>
      <p:sp>
        <p:nvSpPr>
          <p:cNvPr id="6" name="s4-body-6">
            <a:extLst xmlns:a="http://schemas.openxmlformats.org/drawingml/2006/main">
              <a:ext uri="{FF2B5EF4-FFF2-40B4-BE49-F238E27FC236}">
                <a16:creationId xmlns:a16="http://schemas.microsoft.com/office/drawing/2014/main" id="{9A9F65FC-18E7-4FF2-8319-548FC39A0C5F}"/>
              </a:ext>
            </a:extLst>
          </p:cNvPr>
          <p:cNvSpPr>
            <a:spLocks xmlns:a="http://schemas.openxmlformats.org/drawingml/2006/main" noGrp="1"/>
          </p:cNvSpPr>
          <p:nvPr/>
        </p:nvSpPr>
        <p:spPr>
          <a:xfrm xmlns:a="http://schemas.openxmlformats.org/drawingml/2006/main">
            <a:off x="609600" y="4629150"/>
            <a:ext cx="5257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Three city contests drew over 2,000 teachers.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e5a80286bfe432c"/>
          <a:stretch xmlns:a="http://schemas.openxmlformats.org/drawingml/2006/main"/>
        </p:blipFill>
        <p:spPr>
          <a:xfrm xmlns:a="http://schemas.openxmlformats.org/drawingml/2006/main">
            <a:off x="7486615" y="2076450"/>
            <a:ext cx="3105220" cy="1695450"/>
          </a:xfrm>
          <a:prstGeom xmlns:a="http://schemas.openxmlformats.org/drawingml/2006/main" prst="rect">
            <a:avLst/>
          </a:prstGeom>
        </p:spPr>
      </p:pic>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de1268d5e8a4e06"/>
          <a:srcRect xmlns:a="http://schemas.openxmlformats.org/drawingml/2006/main" l="0" t="24809" r="0" b="24809"/>
          <a:stretch xmlns:a="http://schemas.openxmlformats.org/drawingml/2006/main">
            <a:fillRect l="0" t="0" r="0" b="0"/>
          </a:stretch>
        </p:blipFill>
        <p:spPr>
          <a:xfrm xmlns:a="http://schemas.openxmlformats.org/drawingml/2006/main">
            <a:off x="6496050" y="3905250"/>
            <a:ext cx="5086350" cy="1438275"/>
          </a:xfrm>
          <a:prstGeom xmlns:a="http://schemas.openxmlformats.org/drawingml/2006/main" prst="rect">
            <a:avLst/>
          </a:prstGeom>
        </p:spPr>
      </p:pic>
      <p:sp>
        <p:nvSpPr>
          <p:cNvPr id="9" name="s4-caption-9">
            <a:extLst xmlns:a="http://schemas.openxmlformats.org/drawingml/2006/main">
              <a:ext uri="{FF2B5EF4-FFF2-40B4-BE49-F238E27FC236}">
                <a16:creationId xmlns:a16="http://schemas.microsoft.com/office/drawing/2014/main" id="{D2251ED7-2AD0-4529-A567-80EB2933C460}"/>
              </a:ext>
            </a:extLst>
          </p:cNvPr>
          <p:cNvSpPr>
            <a:spLocks xmlns:a="http://schemas.openxmlformats.org/drawingml/2006/main" noGrp="1"/>
          </p:cNvSpPr>
          <p:nvPr/>
        </p:nvSpPr>
        <p:spPr>
          <a:xfrm xmlns:a="http://schemas.openxmlformats.org/drawingml/2006/main">
            <a:off x="6496050" y="5429250"/>
            <a:ext cx="5086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City platform and teacher application contest</a:t>
            </a:r>
          </a:p>
        </p:txBody>
      </p:sp>
      <p:sp>
        <p:nvSpPr>
          <p:cNvPr id="10" name="s4-rect-10">
            <a:extLst xmlns:a="http://schemas.openxmlformats.org/drawingml/2006/main">
              <a:ext uri="{FF2B5EF4-FFF2-40B4-BE49-F238E27FC236}">
                <a16:creationId xmlns:a16="http://schemas.microsoft.com/office/drawing/2014/main" id="{39887868-2BF2-4929-A8B1-C1863A5F3930}"/>
              </a:ext>
            </a:extLst>
          </p:cNvPr>
          <p:cNvSpPr>
            <a:spLocks xmlns:a="http://schemas.openxmlformats.org/drawingml/2006/main" noGrp="1"/>
          </p:cNvSpPr>
          <p:nvPr/>
        </p:nvSpPr>
        <p:spPr>
          <a:xfrm xmlns:a="http://schemas.openxmlformats.org/drawingml/2006/main">
            <a:off x="609600" y="5753100"/>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1" name="s4-takeaway-11">
            <a:extLst xmlns:a="http://schemas.openxmlformats.org/drawingml/2006/main">
              <a:ext uri="{FF2B5EF4-FFF2-40B4-BE49-F238E27FC236}">
                <a16:creationId xmlns:a16="http://schemas.microsoft.com/office/drawing/2014/main" id="{35750EC6-C1A5-4AFC-9CE8-054AD9EC2402}"/>
              </a:ext>
            </a:extLst>
          </p:cNvPr>
          <p:cNvSpPr>
            <a:spLocks xmlns:a="http://schemas.openxmlformats.org/drawingml/2006/main" noGrp="1"/>
          </p:cNvSpPr>
          <p:nvPr/>
        </p:nvSpPr>
        <p:spPr>
          <a:xfrm xmlns:a="http://schemas.openxmlformats.org/drawingml/2006/main">
            <a:off x="609600" y="58959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Give teachers access to tools—and chances to build with them.</a:t>
            </a:r>
          </a:p>
        </p:txBody>
      </p:sp>
      <p:sp>
        <p:nvSpPr>
          <p:cNvPr id="12" name="s4-offline-meta-12">
            <a:extLst xmlns:a="http://schemas.openxmlformats.org/drawingml/2006/main">
              <a:ext uri="{FF2B5EF4-FFF2-40B4-BE49-F238E27FC236}">
                <a16:creationId xmlns:a16="http://schemas.microsoft.com/office/drawing/2014/main" id="{3AC85221-DF22-4581-BA69-6EE0D6BE7B46}"/>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3" name="s4-offline-meta-13">
            <a:extLst xmlns:a="http://schemas.openxmlformats.org/drawingml/2006/main">
              <a:ext uri="{FF2B5EF4-FFF2-40B4-BE49-F238E27FC236}">
                <a16:creationId xmlns:a16="http://schemas.microsoft.com/office/drawing/2014/main" id="{950F2185-9D59-43A2-9B63-E6C3500437D2}"/>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04 / 15</a:t>
            </a:r>
          </a:p>
        </p:txBody>
      </p:sp>
    </p:spTree>
    <p:extLst>
      <p:ext uri="{BB962C8B-B14F-4D97-AF65-F5344CB8AC3E}">
        <p14:creationId xmlns:p14="http://schemas.microsoft.com/office/powerpoint/2010/main" val="64576386"/>
      </p:ext>
    </p:extLst>
  </p:cSld>
</p:sld>
</file>

<file path=ppt/slides/slide5.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sp>
        <p:nvSpPr>
          <p:cNvPr id="14" name="s5-kicker-1">
            <a:extLst xmlns:a="http://schemas.openxmlformats.org/drawingml/2006/main">
              <a:ext uri="{FF2B5EF4-FFF2-40B4-BE49-F238E27FC236}">
                <a16:creationId xmlns:a16="http://schemas.microsoft.com/office/drawing/2014/main" id="{7C962FEF-C787-475E-AC57-726D45A6065A}"/>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1 · PRACTICE / PINGSHAN DISTRICT EDUCATION BUREAU</a:t>
            </a:r>
          </a:p>
        </p:txBody>
      </p:sp>
      <p:sp>
        <p:nvSpPr>
          <p:cNvPr id="2" name="s5-title-2">
            <a:extLst xmlns:a="http://schemas.openxmlformats.org/drawingml/2006/main">
              <a:ext uri="{FF2B5EF4-FFF2-40B4-BE49-F238E27FC236}">
                <a16:creationId xmlns:a16="http://schemas.microsoft.com/office/drawing/2014/main" id="{4800AE64-57AD-4793-91B0-D0C835500E21}"/>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Pingshan: help teachers lead AI use</a:t>
            </a:r>
          </a:p>
        </p:txBody>
      </p:sp>
      <p:sp>
        <p:nvSpPr>
          <p:cNvPr id="3" name="s5-subheading-3">
            <a:extLst xmlns:a="http://schemas.openxmlformats.org/drawingml/2006/main">
              <a:ext uri="{FF2B5EF4-FFF2-40B4-BE49-F238E27FC236}">
                <a16:creationId xmlns:a16="http://schemas.microsoft.com/office/drawing/2014/main" id="{FF346C2E-407B-4E55-8BB5-37F9AA45B859}"/>
              </a:ext>
            </a:extLst>
          </p:cNvPr>
          <p:cNvSpPr>
            <a:spLocks xmlns:a="http://schemas.openxmlformats.org/drawingml/2006/main" noGrp="1"/>
          </p:cNvSpPr>
          <p:nvPr/>
        </p:nvSpPr>
        <p:spPr>
          <a:xfrm xmlns:a="http://schemas.openxmlformats.org/drawingml/2006/main">
            <a:off x="609600" y="2343150"/>
            <a:ext cx="49720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1">
                <a:solidFill>
                  <a:srgbClr val="FFFFFF"/>
                </a:solidFill>
                <a:latin typeface="Arial"/>
                <a:ea typeface="Arial"/>
                <a:cs typeface="Arial"/>
              </a:defRPr>
            </a:pPr>
            <a:r>
              <a:rPr sz="2250" b="1">
                <a:solidFill>
                  <a:srgbClr val="FFFFFF"/>
                </a:solidFill>
                <a:latin typeface="Arial"/>
                <a:ea typeface="Arial"/>
                <a:cs typeface="Arial"/>
              </a:rPr>
              <a:t>Learn, build and improve</a:t>
            </a:r>
          </a:p>
        </p:txBody>
      </p:sp>
      <p:sp>
        <p:nvSpPr>
          <p:cNvPr id="4" name="s5-body-4">
            <a:extLst xmlns:a="http://schemas.openxmlformats.org/drawingml/2006/main">
              <a:ext uri="{FF2B5EF4-FFF2-40B4-BE49-F238E27FC236}">
                <a16:creationId xmlns:a16="http://schemas.microsoft.com/office/drawing/2014/main" id="{71B68CE9-0475-41D5-B754-120E560181C5}"/>
              </a:ext>
            </a:extLst>
          </p:cNvPr>
          <p:cNvSpPr>
            <a:spLocks xmlns:a="http://schemas.openxmlformats.org/drawingml/2006/main" noGrp="1"/>
          </p:cNvSpPr>
          <p:nvPr/>
        </p:nvSpPr>
        <p:spPr>
          <a:xfrm xmlns:a="http://schemas.openxmlformats.org/drawingml/2006/main">
            <a:off x="609600" y="3028950"/>
            <a:ext cx="49720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Three groups of teachers moved from prompts to teaching agents.</a:t>
            </a:r>
          </a:p>
        </p:txBody>
      </p:sp>
      <p:sp>
        <p:nvSpPr>
          <p:cNvPr id="5" name="s5-subheading-5">
            <a:extLst xmlns:a="http://schemas.openxmlformats.org/drawingml/2006/main">
              <a:ext uri="{FF2B5EF4-FFF2-40B4-BE49-F238E27FC236}">
                <a16:creationId xmlns:a16="http://schemas.microsoft.com/office/drawing/2014/main" id="{D9CF2147-1610-469F-9C57-F7D546E9F48A}"/>
              </a:ext>
            </a:extLst>
          </p:cNvPr>
          <p:cNvSpPr>
            <a:spLocks xmlns:a="http://schemas.openxmlformats.org/drawingml/2006/main" noGrp="1"/>
          </p:cNvSpPr>
          <p:nvPr/>
        </p:nvSpPr>
        <p:spPr>
          <a:xfrm xmlns:a="http://schemas.openxmlformats.org/drawingml/2006/main">
            <a:off x="609600" y="3771900"/>
            <a:ext cx="49720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1">
                <a:solidFill>
                  <a:srgbClr val="FFFFFF"/>
                </a:solidFill>
                <a:latin typeface="Arial"/>
                <a:ea typeface="Arial"/>
                <a:cs typeface="Arial"/>
              </a:defRPr>
            </a:pPr>
            <a:r>
              <a:rPr sz="2250" b="1">
                <a:solidFill>
                  <a:srgbClr val="FFFFFF"/>
                </a:solidFill>
                <a:latin typeface="Arial"/>
                <a:ea typeface="Arial"/>
                <a:cs typeface="Arial"/>
              </a:rPr>
              <a:t>Teachers decide</a:t>
            </a:r>
          </a:p>
        </p:txBody>
      </p:sp>
      <p:sp>
        <p:nvSpPr>
          <p:cNvPr id="6" name="s5-body-6">
            <a:extLst xmlns:a="http://schemas.openxmlformats.org/drawingml/2006/main">
              <a:ext uri="{FF2B5EF4-FFF2-40B4-BE49-F238E27FC236}">
                <a16:creationId xmlns:a16="http://schemas.microsoft.com/office/drawing/2014/main" id="{84B129E7-BDC6-4BF5-A08A-5F7C6172BC94}"/>
              </a:ext>
            </a:extLst>
          </p:cNvPr>
          <p:cNvSpPr>
            <a:spLocks xmlns:a="http://schemas.openxmlformats.org/drawingml/2006/main" noGrp="1"/>
          </p:cNvSpPr>
          <p:nvPr/>
        </p:nvSpPr>
        <p:spPr>
          <a:xfrm xmlns:a="http://schemas.openxmlformats.org/drawingml/2006/main">
            <a:off x="609600" y="4457700"/>
            <a:ext cx="49720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In English practice, AI gives feedback. Teachers set the standards.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88a633f3481481f"/>
          <a:srcRect xmlns:a="http://schemas.openxmlformats.org/drawingml/2006/main" l="9911" t="0" r="9911" b="0"/>
          <a:stretch xmlns:a="http://schemas.openxmlformats.org/drawingml/2006/main">
            <a:fillRect l="0" t="0" r="0" b="0"/>
          </a:stretch>
        </p:blipFill>
        <p:spPr>
          <a:xfrm xmlns:a="http://schemas.openxmlformats.org/drawingml/2006/main">
            <a:off x="6057900" y="2219325"/>
            <a:ext cx="5524500" cy="2743200"/>
          </a:xfrm>
          <a:prstGeom xmlns:a="http://schemas.openxmlformats.org/drawingml/2006/main" prst="rect">
            <a:avLst/>
          </a:prstGeom>
        </p:spPr>
      </p:pic>
      <p:sp>
        <p:nvSpPr>
          <p:cNvPr id="8" name="s5-caption-8">
            <a:extLst xmlns:a="http://schemas.openxmlformats.org/drawingml/2006/main">
              <a:ext uri="{FF2B5EF4-FFF2-40B4-BE49-F238E27FC236}">
                <a16:creationId xmlns:a16="http://schemas.microsoft.com/office/drawing/2014/main" id="{56F47031-607D-455C-8AB1-D5B56BAF2630}"/>
              </a:ext>
            </a:extLst>
          </p:cNvPr>
          <p:cNvSpPr>
            <a:spLocks xmlns:a="http://schemas.openxmlformats.org/drawingml/2006/main" noGrp="1"/>
          </p:cNvSpPr>
          <p:nvPr/>
        </p:nvSpPr>
        <p:spPr>
          <a:xfrm xmlns:a="http://schemas.openxmlformats.org/drawingml/2006/main">
            <a:off x="6057900" y="5114925"/>
            <a:ext cx="552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C2CDDB"/>
                </a:solidFill>
                <a:latin typeface="Arial"/>
                <a:ea typeface="Arial"/>
                <a:cs typeface="Arial"/>
              </a:defRPr>
            </a:pPr>
            <a:r>
              <a:rPr sz="1350" b="0">
                <a:solidFill>
                  <a:srgbClr val="C2CDDB"/>
                </a:solidFill>
                <a:latin typeface="Arial"/>
                <a:ea typeface="Arial"/>
                <a:cs typeface="Arial"/>
              </a:rPr>
              <a:t>Teachers discuss their agent designs · Pingshan</a:t>
            </a:r>
          </a:p>
        </p:txBody>
      </p:sp>
      <p:sp>
        <p:nvSpPr>
          <p:cNvPr id="9" name="s5-body-9">
            <a:extLst xmlns:a="http://schemas.openxmlformats.org/drawingml/2006/main">
              <a:ext uri="{FF2B5EF4-FFF2-40B4-BE49-F238E27FC236}">
                <a16:creationId xmlns:a16="http://schemas.microsoft.com/office/drawing/2014/main" id="{11742AF9-CF53-4625-B808-0B9B772F7AE5}"/>
              </a:ext>
            </a:extLst>
          </p:cNvPr>
          <p:cNvSpPr>
            <a:spLocks xmlns:a="http://schemas.openxmlformats.org/drawingml/2006/main" noGrp="1"/>
          </p:cNvSpPr>
          <p:nvPr/>
        </p:nvSpPr>
        <p:spPr>
          <a:xfrm xmlns:a="http://schemas.openxmlformats.org/drawingml/2006/main">
            <a:off x="609600" y="55149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725" b="1">
                <a:solidFill>
                  <a:srgbClr val="5BE3D5"/>
                </a:solidFill>
                <a:latin typeface="Arial"/>
                <a:ea typeface="Arial"/>
                <a:cs typeface="Arial"/>
              </a:defRPr>
            </a:pPr>
            <a:r>
              <a:rPr sz="1725" b="1">
                <a:solidFill>
                  <a:srgbClr val="5BE3D5"/>
                </a:solidFill>
                <a:latin typeface="Arial"/>
                <a:ea typeface="Arial"/>
                <a:cs typeface="Arial"/>
              </a:rPr>
              <a:t>Write prompts  →  Build agents  →  Test and revise</a:t>
            </a:r>
          </a:p>
        </p:txBody>
      </p:sp>
      <p:sp>
        <p:nvSpPr>
          <p:cNvPr id="10" name="s5-rect-10">
            <a:extLst xmlns:a="http://schemas.openxmlformats.org/drawingml/2006/main">
              <a:ext uri="{FF2B5EF4-FFF2-40B4-BE49-F238E27FC236}">
                <a16:creationId xmlns:a16="http://schemas.microsoft.com/office/drawing/2014/main" id="{5E4680D1-5013-4B18-B4D3-9834A2F963A9}"/>
              </a:ext>
            </a:extLst>
          </p:cNvPr>
          <p:cNvSpPr>
            <a:spLocks xmlns:a="http://schemas.openxmlformats.org/drawingml/2006/main" noGrp="1"/>
          </p:cNvSpPr>
          <p:nvPr/>
        </p:nvSpPr>
        <p:spPr>
          <a:xfrm xmlns:a="http://schemas.openxmlformats.org/drawingml/2006/main">
            <a:off x="609600" y="5915025"/>
            <a:ext cx="10972800" cy="19050"/>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11" name="s5-takeaway-11">
            <a:extLst xmlns:a="http://schemas.openxmlformats.org/drawingml/2006/main">
              <a:ext uri="{FF2B5EF4-FFF2-40B4-BE49-F238E27FC236}">
                <a16:creationId xmlns:a16="http://schemas.microsoft.com/office/drawing/2014/main" id="{BC24B753-0D30-483A-BA7D-FA0753D97B22}"/>
              </a:ext>
            </a:extLst>
          </p:cNvPr>
          <p:cNvSpPr>
            <a:spLocks xmlns:a="http://schemas.openxmlformats.org/drawingml/2006/main" noGrp="1"/>
          </p:cNvSpPr>
          <p:nvPr/>
        </p:nvSpPr>
        <p:spPr>
          <a:xfrm xmlns:a="http://schemas.openxmlformats.org/drawingml/2006/main">
            <a:off x="609600" y="60579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Help teachers build AI support and decide how to use it.</a:t>
            </a:r>
          </a:p>
        </p:txBody>
      </p:sp>
      <p:sp>
        <p:nvSpPr>
          <p:cNvPr id="12" name="s5-offline-meta-12">
            <a:extLst xmlns:a="http://schemas.openxmlformats.org/drawingml/2006/main">
              <a:ext uri="{FF2B5EF4-FFF2-40B4-BE49-F238E27FC236}">
                <a16:creationId xmlns:a16="http://schemas.microsoft.com/office/drawing/2014/main" id="{30134D5A-8E97-4E16-8221-7210BB15D252}"/>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C2CDDB"/>
                </a:solidFill>
                <a:latin typeface="Arial"/>
                <a:ea typeface="Arial"/>
                <a:cs typeface="Arial"/>
              </a:defRPr>
            </a:pPr>
            <a:r>
              <a:rPr sz="975" b="0">
                <a:solidFill>
                  <a:srgbClr val="C2CDDB"/>
                </a:solidFill>
                <a:latin typeface="Arial"/>
                <a:ea typeface="Arial"/>
                <a:cs typeface="Arial"/>
              </a:rPr>
              <a:t>CocoRobo · UNESCO Digital Learning Week 2026</a:t>
            </a:r>
          </a:p>
        </p:txBody>
      </p:sp>
      <p:sp>
        <p:nvSpPr>
          <p:cNvPr id="13" name="s5-offline-meta-13">
            <a:extLst xmlns:a="http://schemas.openxmlformats.org/drawingml/2006/main">
              <a:ext uri="{FF2B5EF4-FFF2-40B4-BE49-F238E27FC236}">
                <a16:creationId xmlns:a16="http://schemas.microsoft.com/office/drawing/2014/main" id="{364C4D79-03CD-427B-8BFD-4677EA021A9B}"/>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C2CDDB"/>
                </a:solidFill>
                <a:latin typeface="Arial"/>
                <a:ea typeface="Arial"/>
                <a:cs typeface="Arial"/>
              </a:defRPr>
            </a:pPr>
            <a:r>
              <a:rPr sz="1125" b="1">
                <a:solidFill>
                  <a:srgbClr val="C2CDDB"/>
                </a:solidFill>
                <a:latin typeface="Arial"/>
                <a:ea typeface="Arial"/>
                <a:cs typeface="Arial"/>
              </a:rPr>
              <a:t>05 / 15</a:t>
            </a:r>
          </a:p>
        </p:txBody>
      </p:sp>
    </p:spTree>
    <p:extLst>
      <p:ext uri="{BB962C8B-B14F-4D97-AF65-F5344CB8AC3E}">
        <p14:creationId xmlns:p14="http://schemas.microsoft.com/office/powerpoint/2010/main" val="423870647"/>
      </p:ext>
    </p:extLst>
  </p:cSld>
</p:sld>
</file>

<file path=ppt/slides/slide6.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3" name="s6-kicker-1">
            <a:extLst xmlns:a="http://schemas.openxmlformats.org/drawingml/2006/main">
              <a:ext uri="{FF2B5EF4-FFF2-40B4-BE49-F238E27FC236}">
                <a16:creationId xmlns:a16="http://schemas.microsoft.com/office/drawing/2014/main" id="{DCAEBAA3-8A03-4E24-9DD8-C2714846D8B6}"/>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1 · PRACTICE / LIYUAN EDUCATION GROUP, FUTIAN</a:t>
            </a:r>
          </a:p>
        </p:txBody>
      </p:sp>
      <p:sp>
        <p:nvSpPr>
          <p:cNvPr id="2" name="s6-title-2">
            <a:extLst xmlns:a="http://schemas.openxmlformats.org/drawingml/2006/main">
              <a:ext uri="{FF2B5EF4-FFF2-40B4-BE49-F238E27FC236}">
                <a16:creationId xmlns:a16="http://schemas.microsoft.com/office/drawing/2014/main" id="{81F8ED34-142E-4FA4-A745-CD96EFB7FC64}"/>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Liyuan: teachers shape the standards</a:t>
            </a:r>
          </a:p>
        </p:txBody>
      </p:sp>
      <p:sp>
        <p:nvSpPr>
          <p:cNvPr id="3" name="s6-subheading-3">
            <a:extLst xmlns:a="http://schemas.openxmlformats.org/drawingml/2006/main">
              <a:ext uri="{FF2B5EF4-FFF2-40B4-BE49-F238E27FC236}">
                <a16:creationId xmlns:a16="http://schemas.microsoft.com/office/drawing/2014/main" id="{99DEBEB6-B4B1-43D5-85FE-99ED582C7B78}"/>
              </a:ext>
            </a:extLst>
          </p:cNvPr>
          <p:cNvSpPr>
            <a:spLocks xmlns:a="http://schemas.openxmlformats.org/drawingml/2006/main" noGrp="1"/>
          </p:cNvSpPr>
          <p:nvPr/>
        </p:nvSpPr>
        <p:spPr>
          <a:xfrm xmlns:a="http://schemas.openxmlformats.org/drawingml/2006/main">
            <a:off x="609600" y="225742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Agree on the criteria</a:t>
            </a:r>
          </a:p>
        </p:txBody>
      </p:sp>
      <p:sp>
        <p:nvSpPr>
          <p:cNvPr id="4" name="s6-body-4">
            <a:extLst xmlns:a="http://schemas.openxmlformats.org/drawingml/2006/main">
              <a:ext uri="{FF2B5EF4-FFF2-40B4-BE49-F238E27FC236}">
                <a16:creationId xmlns:a16="http://schemas.microsoft.com/office/drawing/2014/main" id="{B3B1A322-0479-48D1-A73F-CA5B3DD3E81C}"/>
              </a:ext>
            </a:extLst>
          </p:cNvPr>
          <p:cNvSpPr>
            <a:spLocks xmlns:a="http://schemas.openxmlformats.org/drawingml/2006/main" noGrp="1"/>
          </p:cNvSpPr>
          <p:nvPr/>
        </p:nvSpPr>
        <p:spPr>
          <a:xfrm xmlns:a="http://schemas.openxmlformats.org/drawingml/2006/main">
            <a:off x="609600" y="2943225"/>
            <a:ext cx="5238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Experts draft indicators. Teachers rate them. The team finalizes the set.</a:t>
            </a:r>
          </a:p>
        </p:txBody>
      </p:sp>
      <p:sp>
        <p:nvSpPr>
          <p:cNvPr id="5" name="s6-subheading-5">
            <a:extLst xmlns:a="http://schemas.openxmlformats.org/drawingml/2006/main">
              <a:ext uri="{FF2B5EF4-FFF2-40B4-BE49-F238E27FC236}">
                <a16:creationId xmlns:a16="http://schemas.microsoft.com/office/drawing/2014/main" id="{CDB8BCDF-EBFE-4015-8448-22F49959A83C}"/>
              </a:ext>
            </a:extLst>
          </p:cNvPr>
          <p:cNvSpPr>
            <a:spLocks xmlns:a="http://schemas.openxmlformats.org/drawingml/2006/main" noGrp="1"/>
          </p:cNvSpPr>
          <p:nvPr/>
        </p:nvSpPr>
        <p:spPr>
          <a:xfrm xmlns:a="http://schemas.openxmlformats.org/drawingml/2006/main">
            <a:off x="609600" y="388620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Build, test and revise</a:t>
            </a:r>
          </a:p>
        </p:txBody>
      </p:sp>
      <p:sp>
        <p:nvSpPr>
          <p:cNvPr id="6" name="s6-body-6">
            <a:extLst xmlns:a="http://schemas.openxmlformats.org/drawingml/2006/main">
              <a:ext uri="{FF2B5EF4-FFF2-40B4-BE49-F238E27FC236}">
                <a16:creationId xmlns:a16="http://schemas.microsoft.com/office/drawing/2014/main" id="{D780DE32-5679-456D-9F55-553CED9AB899}"/>
              </a:ext>
            </a:extLst>
          </p:cNvPr>
          <p:cNvSpPr>
            <a:spLocks xmlns:a="http://schemas.openxmlformats.org/drawingml/2006/main" noGrp="1"/>
          </p:cNvSpPr>
          <p:nvPr/>
        </p:nvSpPr>
        <p:spPr>
          <a:xfrm xmlns:a="http://schemas.openxmlformats.org/drawingml/2006/main">
            <a:off x="609600" y="4572000"/>
            <a:ext cx="5238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Turn the criteria into an AI analysis tool. Try it in class and use teacher feedback.</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74c45505ef14849"/>
          <a:srcRect xmlns:a="http://schemas.openxmlformats.org/drawingml/2006/main" l="3932" t="0" r="3932" b="0"/>
          <a:stretch xmlns:a="http://schemas.openxmlformats.org/drawingml/2006/main">
            <a:fillRect l="0" t="0" r="0" b="0"/>
          </a:stretch>
        </p:blipFill>
        <p:spPr>
          <a:xfrm xmlns:a="http://schemas.openxmlformats.org/drawingml/2006/main">
            <a:off x="6324600" y="2143125"/>
            <a:ext cx="5257800" cy="3209925"/>
          </a:xfrm>
          <a:prstGeom xmlns:a="http://schemas.openxmlformats.org/drawingml/2006/main" prst="rect">
            <a:avLst/>
          </a:prstGeom>
        </p:spPr>
      </p:pic>
      <p:sp>
        <p:nvSpPr>
          <p:cNvPr id="8" name="s6-caption-8">
            <a:extLst xmlns:a="http://schemas.openxmlformats.org/drawingml/2006/main">
              <a:ext uri="{FF2B5EF4-FFF2-40B4-BE49-F238E27FC236}">
                <a16:creationId xmlns:a16="http://schemas.microsoft.com/office/drawing/2014/main" id="{9BEAB6FC-DC46-46D5-A174-DCA2BFD67CBA}"/>
              </a:ext>
            </a:extLst>
          </p:cNvPr>
          <p:cNvSpPr>
            <a:spLocks xmlns:a="http://schemas.openxmlformats.org/drawingml/2006/main" noGrp="1"/>
          </p:cNvSpPr>
          <p:nvPr/>
        </p:nvSpPr>
        <p:spPr>
          <a:xfrm xmlns:a="http://schemas.openxmlformats.org/drawingml/2006/main">
            <a:off x="6324600" y="5495925"/>
            <a:ext cx="5257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Teachers develop shared practices · Liyuan</a:t>
            </a:r>
          </a:p>
        </p:txBody>
      </p:sp>
      <p:sp>
        <p:nvSpPr>
          <p:cNvPr id="9" name="s6-rect-9">
            <a:extLst xmlns:a="http://schemas.openxmlformats.org/drawingml/2006/main">
              <a:ext uri="{FF2B5EF4-FFF2-40B4-BE49-F238E27FC236}">
                <a16:creationId xmlns:a16="http://schemas.microsoft.com/office/drawing/2014/main" id="{01FC5267-8874-4413-803E-CDE71830622C}"/>
              </a:ext>
            </a:extLst>
          </p:cNvPr>
          <p:cNvSpPr>
            <a:spLocks xmlns:a="http://schemas.openxmlformats.org/drawingml/2006/main" noGrp="1"/>
          </p:cNvSpPr>
          <p:nvPr/>
        </p:nvSpPr>
        <p:spPr>
          <a:xfrm xmlns:a="http://schemas.openxmlformats.org/drawingml/2006/main">
            <a:off x="609600" y="5972175"/>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0" name="s6-takeaway-10">
            <a:extLst xmlns:a="http://schemas.openxmlformats.org/drawingml/2006/main">
              <a:ext uri="{FF2B5EF4-FFF2-40B4-BE49-F238E27FC236}">
                <a16:creationId xmlns:a16="http://schemas.microsoft.com/office/drawing/2014/main" id="{F2E64970-5866-4ED8-8F62-3531A9C91933}"/>
              </a:ext>
            </a:extLst>
          </p:cNvPr>
          <p:cNvSpPr>
            <a:spLocks xmlns:a="http://schemas.openxmlformats.org/drawingml/2006/main" noGrp="1"/>
          </p:cNvSpPr>
          <p:nvPr/>
        </p:nvSpPr>
        <p:spPr>
          <a:xfrm xmlns:a="http://schemas.openxmlformats.org/drawingml/2006/main">
            <a:off x="609600" y="61150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Involve teachers in the standards that guide AI.</a:t>
            </a:r>
          </a:p>
        </p:txBody>
      </p:sp>
      <p:sp>
        <p:nvSpPr>
          <p:cNvPr id="11" name="s6-offline-meta-11">
            <a:extLst xmlns:a="http://schemas.openxmlformats.org/drawingml/2006/main">
              <a:ext uri="{FF2B5EF4-FFF2-40B4-BE49-F238E27FC236}">
                <a16:creationId xmlns:a16="http://schemas.microsoft.com/office/drawing/2014/main" id="{21793182-97A2-4294-BED9-1960E299A0FC}"/>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2" name="s6-offline-meta-12">
            <a:extLst xmlns:a="http://schemas.openxmlformats.org/drawingml/2006/main">
              <a:ext uri="{FF2B5EF4-FFF2-40B4-BE49-F238E27FC236}">
                <a16:creationId xmlns:a16="http://schemas.microsoft.com/office/drawing/2014/main" id="{5AA643E4-8333-49EA-A2AD-75811112865B}"/>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06 / 15</a:t>
            </a:r>
          </a:p>
        </p:txBody>
      </p:sp>
    </p:spTree>
    <p:extLst>
      <p:ext uri="{BB962C8B-B14F-4D97-AF65-F5344CB8AC3E}">
        <p14:creationId xmlns:p14="http://schemas.microsoft.com/office/powerpoint/2010/main" val="1537012097"/>
      </p:ext>
    </p:extLst>
  </p:cSld>
</p:sld>
</file>

<file path=ppt/slides/slide7.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8" name="s7-kicker-1">
            <a:extLst xmlns:a="http://schemas.openxmlformats.org/drawingml/2006/main">
              <a:ext uri="{FF2B5EF4-FFF2-40B4-BE49-F238E27FC236}">
                <a16:creationId xmlns:a16="http://schemas.microsoft.com/office/drawing/2014/main" id="{2A2DFBB2-4A14-489D-AC51-AE6D16E8A1B7}"/>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1 · PRACTICE / ENGLISH · TEACHER LUO MIN</a:t>
            </a:r>
          </a:p>
        </p:txBody>
      </p:sp>
      <p:sp>
        <p:nvSpPr>
          <p:cNvPr id="2" name="s7-title-2">
            <a:extLst xmlns:a="http://schemas.openxmlformats.org/drawingml/2006/main">
              <a:ext uri="{FF2B5EF4-FFF2-40B4-BE49-F238E27FC236}">
                <a16:creationId xmlns:a16="http://schemas.microsoft.com/office/drawing/2014/main" id="{7925C9DB-F2EA-42FB-8606-39E8F64B0B8B}"/>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Bao’an: give each agent a clear job</a:t>
            </a:r>
          </a:p>
        </p:txBody>
      </p:sp>
      <p:sp>
        <p:nvSpPr>
          <p:cNvPr id="3" name="s7-body-3">
            <a:extLst xmlns:a="http://schemas.openxmlformats.org/drawingml/2006/main">
              <a:ext uri="{FF2B5EF4-FFF2-40B4-BE49-F238E27FC236}">
                <a16:creationId xmlns:a16="http://schemas.microsoft.com/office/drawing/2014/main" id="{718D87B7-C391-46A5-9A15-47E9F83567FA}"/>
              </a:ext>
            </a:extLst>
          </p:cNvPr>
          <p:cNvSpPr>
            <a:spLocks xmlns:a="http://schemas.openxmlformats.org/drawingml/2006/main" noGrp="1"/>
          </p:cNvSpPr>
          <p:nvPr/>
        </p:nvSpPr>
        <p:spPr>
          <a:xfrm xmlns:a="http://schemas.openxmlformats.org/drawingml/2006/main">
            <a:off x="609600" y="2162175"/>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T · Task design</a:t>
            </a:r>
          </a:p>
        </p:txBody>
      </p:sp>
      <p:sp>
        <p:nvSpPr>
          <p:cNvPr id="4" name="s7-body-4">
            <a:extLst xmlns:a="http://schemas.openxmlformats.org/drawingml/2006/main">
              <a:ext uri="{FF2B5EF4-FFF2-40B4-BE49-F238E27FC236}">
                <a16:creationId xmlns:a16="http://schemas.microsoft.com/office/drawing/2014/main" id="{4267CF7C-C338-44E3-B863-93A674982F6B}"/>
              </a:ext>
            </a:extLst>
          </p:cNvPr>
          <p:cNvSpPr>
            <a:spLocks xmlns:a="http://schemas.openxmlformats.org/drawingml/2006/main" noGrp="1"/>
          </p:cNvSpPr>
          <p:nvPr/>
        </p:nvSpPr>
        <p:spPr>
          <a:xfrm xmlns:a="http://schemas.openxmlformats.org/drawingml/2006/main">
            <a:off x="609600" y="2533650"/>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Help the teacher create speaking tasks.</a:t>
            </a:r>
          </a:p>
        </p:txBody>
      </p:sp>
      <p:sp>
        <p:nvSpPr>
          <p:cNvPr id="5" name="s7-body-5">
            <a:extLst xmlns:a="http://schemas.openxmlformats.org/drawingml/2006/main">
              <a:ext uri="{FF2B5EF4-FFF2-40B4-BE49-F238E27FC236}">
                <a16:creationId xmlns:a16="http://schemas.microsoft.com/office/drawing/2014/main" id="{CA86D069-46BF-4100-BA77-2E86C4DBE89C}"/>
              </a:ext>
            </a:extLst>
          </p:cNvPr>
          <p:cNvSpPr>
            <a:spLocks xmlns:a="http://schemas.openxmlformats.org/drawingml/2006/main" noGrp="1"/>
          </p:cNvSpPr>
          <p:nvPr/>
        </p:nvSpPr>
        <p:spPr>
          <a:xfrm xmlns:a="http://schemas.openxmlformats.org/drawingml/2006/main">
            <a:off x="609600" y="2990850"/>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A · Practice and assessment</a:t>
            </a:r>
          </a:p>
        </p:txBody>
      </p:sp>
      <p:sp>
        <p:nvSpPr>
          <p:cNvPr id="6" name="s7-body-6">
            <a:extLst xmlns:a="http://schemas.openxmlformats.org/drawingml/2006/main">
              <a:ext uri="{FF2B5EF4-FFF2-40B4-BE49-F238E27FC236}">
                <a16:creationId xmlns:a16="http://schemas.microsoft.com/office/drawing/2014/main" id="{7D29641A-FA8F-409D-BC31-15740EC53246}"/>
              </a:ext>
            </a:extLst>
          </p:cNvPr>
          <p:cNvSpPr>
            <a:spLocks xmlns:a="http://schemas.openxmlformats.org/drawingml/2006/main" noGrp="1"/>
          </p:cNvSpPr>
          <p:nvPr/>
        </p:nvSpPr>
        <p:spPr>
          <a:xfrm xmlns:a="http://schemas.openxmlformats.org/drawingml/2006/main">
            <a:off x="609600" y="3362325"/>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Act as an AI speaking examiner.</a:t>
            </a:r>
          </a:p>
        </p:txBody>
      </p:sp>
      <p:sp>
        <p:nvSpPr>
          <p:cNvPr id="7" name="s7-body-7">
            <a:extLst xmlns:a="http://schemas.openxmlformats.org/drawingml/2006/main">
              <a:ext uri="{FF2B5EF4-FFF2-40B4-BE49-F238E27FC236}">
                <a16:creationId xmlns:a16="http://schemas.microsoft.com/office/drawing/2014/main" id="{D1EAB8F5-9094-453F-9D92-0FF042357951}"/>
              </a:ext>
            </a:extLst>
          </p:cNvPr>
          <p:cNvSpPr>
            <a:spLocks xmlns:a="http://schemas.openxmlformats.org/drawingml/2006/main" noGrp="1"/>
          </p:cNvSpPr>
          <p:nvPr/>
        </p:nvSpPr>
        <p:spPr>
          <a:xfrm xmlns:a="http://schemas.openxmlformats.org/drawingml/2006/main">
            <a:off x="609600" y="3819525"/>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S · Standards</a:t>
            </a:r>
          </a:p>
        </p:txBody>
      </p:sp>
      <p:sp>
        <p:nvSpPr>
          <p:cNvPr id="8" name="s7-body-8">
            <a:extLst xmlns:a="http://schemas.openxmlformats.org/drawingml/2006/main">
              <a:ext uri="{FF2B5EF4-FFF2-40B4-BE49-F238E27FC236}">
                <a16:creationId xmlns:a16="http://schemas.microsoft.com/office/drawing/2014/main" id="{5E6A4C0F-61AE-4A55-9777-6F4CF8306BC7}"/>
              </a:ext>
            </a:extLst>
          </p:cNvPr>
          <p:cNvSpPr>
            <a:spLocks xmlns:a="http://schemas.openxmlformats.org/drawingml/2006/main" noGrp="1"/>
          </p:cNvSpPr>
          <p:nvPr/>
        </p:nvSpPr>
        <p:spPr>
          <a:xfrm xmlns:a="http://schemas.openxmlformats.org/drawingml/2006/main">
            <a:off x="609600" y="4191000"/>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Match activities to the criteria.</a:t>
            </a:r>
          </a:p>
        </p:txBody>
      </p:sp>
      <p:sp>
        <p:nvSpPr>
          <p:cNvPr id="9" name="s7-body-9">
            <a:extLst xmlns:a="http://schemas.openxmlformats.org/drawingml/2006/main">
              <a:ext uri="{FF2B5EF4-FFF2-40B4-BE49-F238E27FC236}">
                <a16:creationId xmlns:a16="http://schemas.microsoft.com/office/drawing/2014/main" id="{4F288AAB-B2F8-4FE2-8377-92EDD35651C9}"/>
              </a:ext>
            </a:extLst>
          </p:cNvPr>
          <p:cNvSpPr>
            <a:spLocks xmlns:a="http://schemas.openxmlformats.org/drawingml/2006/main" noGrp="1"/>
          </p:cNvSpPr>
          <p:nvPr/>
        </p:nvSpPr>
        <p:spPr>
          <a:xfrm xmlns:a="http://schemas.openxmlformats.org/drawingml/2006/main">
            <a:off x="609600" y="4648200"/>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101A2C"/>
                </a:solidFill>
                <a:latin typeface="Arial"/>
                <a:ea typeface="Arial"/>
                <a:cs typeface="Arial"/>
              </a:defRPr>
            </a:pPr>
            <a:r>
              <a:rPr sz="2175" b="1">
                <a:solidFill>
                  <a:srgbClr val="101A2C"/>
                </a:solidFill>
                <a:latin typeface="Arial"/>
                <a:ea typeface="Arial"/>
                <a:cs typeface="Arial"/>
              </a:rPr>
              <a:t>K · Feedback</a:t>
            </a:r>
          </a:p>
        </p:txBody>
      </p:sp>
      <p:sp>
        <p:nvSpPr>
          <p:cNvPr id="10" name="s7-body-10">
            <a:extLst xmlns:a="http://schemas.openxmlformats.org/drawingml/2006/main">
              <a:ext uri="{FF2B5EF4-FFF2-40B4-BE49-F238E27FC236}">
                <a16:creationId xmlns:a16="http://schemas.microsoft.com/office/drawing/2014/main" id="{247E65BA-BFEB-4D0D-A3EF-BCBDCF3BD3D8}"/>
              </a:ext>
            </a:extLst>
          </p:cNvPr>
          <p:cNvSpPr>
            <a:spLocks xmlns:a="http://schemas.openxmlformats.org/drawingml/2006/main" noGrp="1"/>
          </p:cNvSpPr>
          <p:nvPr/>
        </p:nvSpPr>
        <p:spPr>
          <a:xfrm xmlns:a="http://schemas.openxmlformats.org/drawingml/2006/main">
            <a:off x="609600" y="5019675"/>
            <a:ext cx="567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56175"/>
                </a:solidFill>
                <a:latin typeface="Arial"/>
                <a:ea typeface="Arial"/>
                <a:cs typeface="Arial"/>
              </a:defRPr>
            </a:pPr>
            <a:r>
              <a:rPr sz="1875" b="0">
                <a:solidFill>
                  <a:srgbClr val="556175"/>
                </a:solidFill>
                <a:latin typeface="Arial"/>
                <a:ea typeface="Arial"/>
                <a:cs typeface="Arial"/>
              </a:rPr>
              <a:t>Use learning data to give feedback.</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bca7f410bced4461"/>
          <a:stretch xmlns:a="http://schemas.openxmlformats.org/drawingml/2006/main"/>
        </p:blipFill>
        <p:spPr>
          <a:xfrm xmlns:a="http://schemas.openxmlformats.org/drawingml/2006/main">
            <a:off x="6965774" y="2524125"/>
            <a:ext cx="4365978" cy="2266950"/>
          </a:xfrm>
          <a:prstGeom xmlns:a="http://schemas.openxmlformats.org/drawingml/2006/main" prst="rect">
            <a:avLst/>
          </a:prstGeom>
        </p:spPr>
      </p:pic>
      <p:sp>
        <p:nvSpPr>
          <p:cNvPr id="12" name="s7-caption-12">
            <a:extLst xmlns:a="http://schemas.openxmlformats.org/drawingml/2006/main">
              <a:ext uri="{FF2B5EF4-FFF2-40B4-BE49-F238E27FC236}">
                <a16:creationId xmlns:a16="http://schemas.microsoft.com/office/drawing/2014/main" id="{AB706AAD-940D-4216-9298-8BD4358BF1CB}"/>
              </a:ext>
            </a:extLst>
          </p:cNvPr>
          <p:cNvSpPr>
            <a:spLocks xmlns:a="http://schemas.openxmlformats.org/drawingml/2006/main" noGrp="1"/>
          </p:cNvSpPr>
          <p:nvPr/>
        </p:nvSpPr>
        <p:spPr>
          <a:xfrm xmlns:a="http://schemas.openxmlformats.org/drawingml/2006/main">
            <a:off x="6715125" y="4933950"/>
            <a:ext cx="48672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Ms Luo’s TASK workflow · CocoRobo</a:t>
            </a:r>
          </a:p>
        </p:txBody>
      </p:sp>
      <p:sp>
        <p:nvSpPr>
          <p:cNvPr id="13" name="s7-caption-13">
            <a:extLst xmlns:a="http://schemas.openxmlformats.org/drawingml/2006/main">
              <a:ext uri="{FF2B5EF4-FFF2-40B4-BE49-F238E27FC236}">
                <a16:creationId xmlns:a16="http://schemas.microsoft.com/office/drawing/2014/main" id="{EBDE0631-CA39-4561-BC7E-7DA88C9054E0}"/>
              </a:ext>
            </a:extLst>
          </p:cNvPr>
          <p:cNvSpPr>
            <a:spLocks xmlns:a="http://schemas.openxmlformats.org/drawingml/2006/main" noGrp="1"/>
          </p:cNvSpPr>
          <p:nvPr/>
        </p:nvSpPr>
        <p:spPr>
          <a:xfrm xmlns:a="http://schemas.openxmlformats.org/drawingml/2006/main">
            <a:off x="609600" y="55530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425" b="0">
                <a:solidFill>
                  <a:srgbClr val="556175"/>
                </a:solidFill>
                <a:latin typeface="Arial"/>
                <a:ea typeface="Arial"/>
                <a:cs typeface="Arial"/>
              </a:defRPr>
            </a:pPr>
            <a:r>
              <a:rPr sz="1425" b="0">
                <a:solidFill>
                  <a:srgbClr val="556175"/>
                </a:solidFill>
                <a:latin typeface="Arial"/>
                <a:ea typeface="Arial"/>
                <a:cs typeface="Arial"/>
              </a:rPr>
              <a:t>TASK = Tasksheets · Assessments · Standards · Key competences</a:t>
            </a:r>
          </a:p>
        </p:txBody>
      </p:sp>
      <p:sp>
        <p:nvSpPr>
          <p:cNvPr id="14" name="s7-rect-14">
            <a:extLst xmlns:a="http://schemas.openxmlformats.org/drawingml/2006/main">
              <a:ext uri="{FF2B5EF4-FFF2-40B4-BE49-F238E27FC236}">
                <a16:creationId xmlns:a16="http://schemas.microsoft.com/office/drawing/2014/main" id="{F1DE1713-25C1-4331-8F73-8B21D9EE1998}"/>
              </a:ext>
            </a:extLst>
          </p:cNvPr>
          <p:cNvSpPr>
            <a:spLocks xmlns:a="http://schemas.openxmlformats.org/drawingml/2006/main" noGrp="1"/>
          </p:cNvSpPr>
          <p:nvPr/>
        </p:nvSpPr>
        <p:spPr>
          <a:xfrm xmlns:a="http://schemas.openxmlformats.org/drawingml/2006/main">
            <a:off x="609600" y="5915025"/>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5" name="s7-takeaway-15">
            <a:extLst xmlns:a="http://schemas.openxmlformats.org/drawingml/2006/main">
              <a:ext uri="{FF2B5EF4-FFF2-40B4-BE49-F238E27FC236}">
                <a16:creationId xmlns:a16="http://schemas.microsoft.com/office/drawing/2014/main" id="{3847B3D1-1142-47E3-9F7C-46B7E9BA6EF6}"/>
              </a:ext>
            </a:extLst>
          </p:cNvPr>
          <p:cNvSpPr>
            <a:spLocks xmlns:a="http://schemas.openxmlformats.org/drawingml/2006/main" noGrp="1"/>
          </p:cNvSpPr>
          <p:nvPr/>
        </p:nvSpPr>
        <p:spPr>
          <a:xfrm xmlns:a="http://schemas.openxmlformats.org/drawingml/2006/main">
            <a:off x="609600" y="60579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Start with the teaching method. Then give AI clear roles.</a:t>
            </a:r>
          </a:p>
        </p:txBody>
      </p:sp>
      <p:sp>
        <p:nvSpPr>
          <p:cNvPr id="16" name="s7-offline-meta-16">
            <a:extLst xmlns:a="http://schemas.openxmlformats.org/drawingml/2006/main">
              <a:ext uri="{FF2B5EF4-FFF2-40B4-BE49-F238E27FC236}">
                <a16:creationId xmlns:a16="http://schemas.microsoft.com/office/drawing/2014/main" id="{AB423A45-3AB4-4015-AEC5-71571B2E9358}"/>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7" name="s7-offline-meta-17">
            <a:extLst xmlns:a="http://schemas.openxmlformats.org/drawingml/2006/main">
              <a:ext uri="{FF2B5EF4-FFF2-40B4-BE49-F238E27FC236}">
                <a16:creationId xmlns:a16="http://schemas.microsoft.com/office/drawing/2014/main" id="{58220E8C-145F-4FD6-A121-2F29C519B2FA}"/>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07 / 15</a:t>
            </a:r>
          </a:p>
        </p:txBody>
      </p:sp>
    </p:spTree>
    <p:extLst>
      <p:ext uri="{BB962C8B-B14F-4D97-AF65-F5344CB8AC3E}">
        <p14:creationId xmlns:p14="http://schemas.microsoft.com/office/powerpoint/2010/main" val="1204672265"/>
      </p:ext>
    </p:extLst>
  </p:cSld>
</p:sld>
</file>

<file path=ppt/slides/slide8.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5" name="s8-kicker-1">
            <a:extLst xmlns:a="http://schemas.openxmlformats.org/drawingml/2006/main">
              <a:ext uri="{FF2B5EF4-FFF2-40B4-BE49-F238E27FC236}">
                <a16:creationId xmlns:a16="http://schemas.microsoft.com/office/drawing/2014/main" id="{B38C929F-A84B-4477-8A04-1323F8A9177A}"/>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1 · PRACTICE / THE CLASSROOM</a:t>
            </a:r>
          </a:p>
        </p:txBody>
      </p:sp>
      <p:sp>
        <p:nvSpPr>
          <p:cNvPr id="2" name="s8-title-2">
            <a:extLst xmlns:a="http://schemas.openxmlformats.org/drawingml/2006/main">
              <a:ext uri="{FF2B5EF4-FFF2-40B4-BE49-F238E27FC236}">
                <a16:creationId xmlns:a16="http://schemas.microsoft.com/office/drawing/2014/main" id="{D975A1C1-01BF-4A1A-AEE2-10BBFCA06F92}"/>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AI supports the task. Students still think.</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bbfacd6fb0541e9"/>
          <a:srcRect xmlns:a="http://schemas.openxmlformats.org/drawingml/2006/main" l="0" t="6829" r="0" b="6829"/>
          <a:stretch xmlns:a="http://schemas.openxmlformats.org/drawingml/2006/main">
            <a:fillRect l="0" t="0" r="0" b="0"/>
          </a:stretch>
        </p:blipFill>
        <p:spPr>
          <a:xfrm xmlns:a="http://schemas.openxmlformats.org/drawingml/2006/main">
            <a:off x="609600" y="2057400"/>
            <a:ext cx="6838950" cy="3324225"/>
          </a:xfrm>
          <a:prstGeom xmlns:a="http://schemas.openxmlformats.org/drawingml/2006/main" prst="rect">
            <a:avLst/>
          </a:prstGeom>
        </p:spPr>
      </p:pic>
      <p:sp>
        <p:nvSpPr>
          <p:cNvPr id="4" name="s8-caption-4">
            <a:extLst xmlns:a="http://schemas.openxmlformats.org/drawingml/2006/main">
              <a:ext uri="{FF2B5EF4-FFF2-40B4-BE49-F238E27FC236}">
                <a16:creationId xmlns:a16="http://schemas.microsoft.com/office/drawing/2014/main" id="{7C5AF9F4-36DE-4C39-95A4-816D587EAAD2}"/>
              </a:ext>
            </a:extLst>
          </p:cNvPr>
          <p:cNvSpPr>
            <a:spLocks xmlns:a="http://schemas.openxmlformats.org/drawingml/2006/main" noGrp="1"/>
          </p:cNvSpPr>
          <p:nvPr/>
        </p:nvSpPr>
        <p:spPr>
          <a:xfrm xmlns:a="http://schemas.openxmlformats.org/drawingml/2006/main">
            <a:off x="609600" y="5457825"/>
            <a:ext cx="6838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556175"/>
                </a:solidFill>
                <a:latin typeface="Arial"/>
                <a:ea typeface="Arial"/>
                <a:cs typeface="Arial"/>
              </a:defRPr>
            </a:pPr>
            <a:r>
              <a:rPr sz="1350" b="0">
                <a:solidFill>
                  <a:srgbClr val="556175"/>
                </a:solidFill>
                <a:latin typeface="Arial"/>
                <a:ea typeface="Arial"/>
                <a:cs typeface="Arial"/>
              </a:rPr>
              <a:t>Biology inquiry · Futian Liyuan Primary School</a:t>
            </a:r>
          </a:p>
        </p:txBody>
      </p:sp>
      <p:sp>
        <p:nvSpPr>
          <p:cNvPr id="5" name="s8-body-5">
            <a:extLst xmlns:a="http://schemas.openxmlformats.org/drawingml/2006/main">
              <a:ext uri="{FF2B5EF4-FFF2-40B4-BE49-F238E27FC236}">
                <a16:creationId xmlns:a16="http://schemas.microsoft.com/office/drawing/2014/main" id="{FBDF2C32-2F41-48C4-B98C-0CF6A70C0C49}"/>
              </a:ext>
            </a:extLst>
          </p:cNvPr>
          <p:cNvSpPr>
            <a:spLocks xmlns:a="http://schemas.openxmlformats.org/drawingml/2006/main" noGrp="1"/>
          </p:cNvSpPr>
          <p:nvPr/>
        </p:nvSpPr>
        <p:spPr>
          <a:xfrm xmlns:a="http://schemas.openxmlformats.org/drawingml/2006/main">
            <a:off x="7896225" y="2114550"/>
            <a:ext cx="36861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AI helps</a:t>
            </a:r>
          </a:p>
        </p:txBody>
      </p:sp>
      <p:sp>
        <p:nvSpPr>
          <p:cNvPr id="6" name="s8-body-6">
            <a:extLst xmlns:a="http://schemas.openxmlformats.org/drawingml/2006/main">
              <a:ext uri="{FF2B5EF4-FFF2-40B4-BE49-F238E27FC236}">
                <a16:creationId xmlns:a16="http://schemas.microsoft.com/office/drawing/2014/main" id="{DA112488-79CA-404E-8360-DB2B368E7CDD}"/>
              </a:ext>
            </a:extLst>
          </p:cNvPr>
          <p:cNvSpPr>
            <a:spLocks xmlns:a="http://schemas.openxmlformats.org/drawingml/2006/main" noGrp="1"/>
          </p:cNvSpPr>
          <p:nvPr/>
        </p:nvSpPr>
        <p:spPr>
          <a:xfrm xmlns:a="http://schemas.openxmlformats.org/drawingml/2006/main">
            <a:off x="7896225" y="2524125"/>
            <a:ext cx="36861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Ask questions and help improve an inquiry design.</a:t>
            </a:r>
          </a:p>
        </p:txBody>
      </p:sp>
      <p:sp>
        <p:nvSpPr>
          <p:cNvPr id="7" name="s8-body-7">
            <a:extLst xmlns:a="http://schemas.openxmlformats.org/drawingml/2006/main">
              <a:ext uri="{FF2B5EF4-FFF2-40B4-BE49-F238E27FC236}">
                <a16:creationId xmlns:a16="http://schemas.microsoft.com/office/drawing/2014/main" id="{4FABE186-B5CA-43DB-BECD-6EE910822DEC}"/>
              </a:ext>
            </a:extLst>
          </p:cNvPr>
          <p:cNvSpPr>
            <a:spLocks xmlns:a="http://schemas.openxmlformats.org/drawingml/2006/main" noGrp="1"/>
          </p:cNvSpPr>
          <p:nvPr/>
        </p:nvSpPr>
        <p:spPr>
          <a:xfrm xmlns:a="http://schemas.openxmlformats.org/drawingml/2006/main">
            <a:off x="7896225" y="3248025"/>
            <a:ext cx="36861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Teachers decide</a:t>
            </a:r>
          </a:p>
        </p:txBody>
      </p:sp>
      <p:sp>
        <p:nvSpPr>
          <p:cNvPr id="8" name="s8-body-8">
            <a:extLst xmlns:a="http://schemas.openxmlformats.org/drawingml/2006/main">
              <a:ext uri="{FF2B5EF4-FFF2-40B4-BE49-F238E27FC236}">
                <a16:creationId xmlns:a16="http://schemas.microsoft.com/office/drawing/2014/main" id="{1513C215-19EF-4344-AA5B-029116C8A6AB}"/>
              </a:ext>
            </a:extLst>
          </p:cNvPr>
          <p:cNvSpPr>
            <a:spLocks xmlns:a="http://schemas.openxmlformats.org/drawingml/2006/main" noGrp="1"/>
          </p:cNvSpPr>
          <p:nvPr/>
        </p:nvSpPr>
        <p:spPr>
          <a:xfrm xmlns:a="http://schemas.openxmlformats.org/drawingml/2006/main">
            <a:off x="7896225" y="3657600"/>
            <a:ext cx="36861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Set the kind and amount of help.</a:t>
            </a:r>
          </a:p>
        </p:txBody>
      </p:sp>
      <p:sp>
        <p:nvSpPr>
          <p:cNvPr id="9" name="s8-body-9">
            <a:extLst xmlns:a="http://schemas.openxmlformats.org/drawingml/2006/main">
              <a:ext uri="{FF2B5EF4-FFF2-40B4-BE49-F238E27FC236}">
                <a16:creationId xmlns:a16="http://schemas.microsoft.com/office/drawing/2014/main" id="{95838DBF-FE03-4FB4-A398-1BCAD8F056FF}"/>
              </a:ext>
            </a:extLst>
          </p:cNvPr>
          <p:cNvSpPr>
            <a:spLocks xmlns:a="http://schemas.openxmlformats.org/drawingml/2006/main" noGrp="1"/>
          </p:cNvSpPr>
          <p:nvPr/>
        </p:nvSpPr>
        <p:spPr>
          <a:xfrm xmlns:a="http://schemas.openxmlformats.org/drawingml/2006/main">
            <a:off x="7896225" y="4381500"/>
            <a:ext cx="36861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Students think</a:t>
            </a:r>
          </a:p>
        </p:txBody>
      </p:sp>
      <p:sp>
        <p:nvSpPr>
          <p:cNvPr id="10" name="s8-body-10">
            <a:extLst xmlns:a="http://schemas.openxmlformats.org/drawingml/2006/main">
              <a:ext uri="{FF2B5EF4-FFF2-40B4-BE49-F238E27FC236}">
                <a16:creationId xmlns:a16="http://schemas.microsoft.com/office/drawing/2014/main" id="{E0DE52C6-FA6D-4822-A1E3-9F075E0D176A}"/>
              </a:ext>
            </a:extLst>
          </p:cNvPr>
          <p:cNvSpPr>
            <a:spLocks xmlns:a="http://schemas.openxmlformats.org/drawingml/2006/main" noGrp="1"/>
          </p:cNvSpPr>
          <p:nvPr/>
        </p:nvSpPr>
        <p:spPr>
          <a:xfrm xmlns:a="http://schemas.openxmlformats.org/drawingml/2006/main">
            <a:off x="7896225" y="4791075"/>
            <a:ext cx="36861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556175"/>
                </a:solidFill>
                <a:latin typeface="Arial"/>
                <a:ea typeface="Arial"/>
                <a:cs typeface="Arial"/>
              </a:defRPr>
            </a:pPr>
            <a:r>
              <a:rPr sz="2025" b="0">
                <a:solidFill>
                  <a:srgbClr val="556175"/>
                </a:solidFill>
                <a:latin typeface="Arial"/>
                <a:ea typeface="Arial"/>
                <a:cs typeface="Arial"/>
              </a:rPr>
              <a:t>Explain their ideas and make a judgment.</a:t>
            </a:r>
          </a:p>
        </p:txBody>
      </p:sp>
      <p:sp>
        <p:nvSpPr>
          <p:cNvPr id="11" name="s8-rect-11">
            <a:extLst xmlns:a="http://schemas.openxmlformats.org/drawingml/2006/main">
              <a:ext uri="{FF2B5EF4-FFF2-40B4-BE49-F238E27FC236}">
                <a16:creationId xmlns:a16="http://schemas.microsoft.com/office/drawing/2014/main" id="{9A7A745D-598B-4895-B168-070B8C006065}"/>
              </a:ext>
            </a:extLst>
          </p:cNvPr>
          <p:cNvSpPr>
            <a:spLocks xmlns:a="http://schemas.openxmlformats.org/drawingml/2006/main" noGrp="1"/>
          </p:cNvSpPr>
          <p:nvPr/>
        </p:nvSpPr>
        <p:spPr>
          <a:xfrm xmlns:a="http://schemas.openxmlformats.org/drawingml/2006/main">
            <a:off x="609600" y="5924550"/>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2" name="s8-takeaway-12">
            <a:extLst xmlns:a="http://schemas.openxmlformats.org/drawingml/2006/main">
              <a:ext uri="{FF2B5EF4-FFF2-40B4-BE49-F238E27FC236}">
                <a16:creationId xmlns:a16="http://schemas.microsoft.com/office/drawing/2014/main" id="{A1CF6BE6-7CA1-414C-B2FF-715E1406A13C}"/>
              </a:ext>
            </a:extLst>
          </p:cNvPr>
          <p:cNvSpPr>
            <a:spLocks xmlns:a="http://schemas.openxmlformats.org/drawingml/2006/main" noGrp="1"/>
          </p:cNvSpPr>
          <p:nvPr/>
        </p:nvSpPr>
        <p:spPr>
          <a:xfrm xmlns:a="http://schemas.openxmlformats.org/drawingml/2006/main">
            <a:off x="609600" y="60674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Across all four cases, the aim is support that fits teaching and learning.</a:t>
            </a:r>
          </a:p>
        </p:txBody>
      </p:sp>
      <p:sp>
        <p:nvSpPr>
          <p:cNvPr id="13" name="s8-offline-meta-13">
            <a:extLst xmlns:a="http://schemas.openxmlformats.org/drawingml/2006/main">
              <a:ext uri="{FF2B5EF4-FFF2-40B4-BE49-F238E27FC236}">
                <a16:creationId xmlns:a16="http://schemas.microsoft.com/office/drawing/2014/main" id="{98995A3B-EF8A-4257-AA5C-056D744B2C1B}"/>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4" name="s8-offline-meta-14">
            <a:extLst xmlns:a="http://schemas.openxmlformats.org/drawingml/2006/main">
              <a:ext uri="{FF2B5EF4-FFF2-40B4-BE49-F238E27FC236}">
                <a16:creationId xmlns:a16="http://schemas.microsoft.com/office/drawing/2014/main" id="{1F231084-9C8E-4FBD-BEA8-220E1DB0AAB2}"/>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08 / 15</a:t>
            </a:r>
          </a:p>
        </p:txBody>
      </p:sp>
    </p:spTree>
    <p:extLst>
      <p:ext uri="{BB962C8B-B14F-4D97-AF65-F5344CB8AC3E}">
        <p14:creationId xmlns:p14="http://schemas.microsoft.com/office/powerpoint/2010/main" val="1085816505"/>
      </p:ext>
    </p:extLst>
  </p:cSld>
</p:sld>
</file>

<file path=ppt/slides/slide9.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sp>
        <p:nvSpPr>
          <p:cNvPr id="16" name="s9-kicker-1">
            <a:extLst xmlns:a="http://schemas.openxmlformats.org/drawingml/2006/main">
              <a:ext uri="{FF2B5EF4-FFF2-40B4-BE49-F238E27FC236}">
                <a16:creationId xmlns:a16="http://schemas.microsoft.com/office/drawing/2014/main" id="{47BA9D08-31B1-401C-9D6A-FD38B09CFFB3}"/>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2 · RESEARCH / THE EVIDENCE</a:t>
            </a:r>
          </a:p>
        </p:txBody>
      </p:sp>
      <p:sp>
        <p:nvSpPr>
          <p:cNvPr id="2" name="s9-title-2">
            <a:extLst xmlns:a="http://schemas.openxmlformats.org/drawingml/2006/main">
              <a:ext uri="{FF2B5EF4-FFF2-40B4-BE49-F238E27FC236}">
                <a16:creationId xmlns:a16="http://schemas.microsoft.com/office/drawing/2014/main" id="{B2854322-D42F-48E1-8704-83EC59CCC2A6}"/>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What did we study about teacher learning?</a:t>
            </a:r>
          </a:p>
        </p:txBody>
      </p:sp>
      <p:sp>
        <p:nvSpPr>
          <p:cNvPr id="3" name="s9-body-3">
            <a:extLst xmlns:a="http://schemas.openxmlformats.org/drawingml/2006/main">
              <a:ext uri="{FF2B5EF4-FFF2-40B4-BE49-F238E27FC236}">
                <a16:creationId xmlns:a16="http://schemas.microsoft.com/office/drawing/2014/main" id="{74D9A036-59CC-48F8-8082-C03E37C60C47}"/>
              </a:ext>
            </a:extLst>
          </p:cNvPr>
          <p:cNvSpPr>
            <a:spLocks xmlns:a="http://schemas.openxmlformats.org/drawingml/2006/main" noGrp="1"/>
          </p:cNvSpPr>
          <p:nvPr/>
        </p:nvSpPr>
        <p:spPr>
          <a:xfrm xmlns:a="http://schemas.openxmlformats.org/drawingml/2006/main">
            <a:off x="609600" y="194310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5BE3D5"/>
                </a:solidFill>
                <a:latin typeface="Arial"/>
                <a:ea typeface="Arial"/>
                <a:cs typeface="Arial"/>
              </a:defRPr>
            </a:pPr>
            <a:r>
              <a:rPr sz="2325" b="1">
                <a:solidFill>
                  <a:srgbClr val="5BE3D5"/>
                </a:solidFill>
                <a:latin typeface="Arial"/>
                <a:ea typeface="Arial"/>
                <a:cs typeface="Arial"/>
              </a:rPr>
              <a:t>Three teacher groups in Pingshan.</a:t>
            </a:r>
          </a:p>
        </p:txBody>
      </p:sp>
      <p:sp>
        <p:nvSpPr>
          <p:cNvPr id="4" name="s9-body-4">
            <a:extLst xmlns:a="http://schemas.openxmlformats.org/drawingml/2006/main">
              <a:ext uri="{FF2B5EF4-FFF2-40B4-BE49-F238E27FC236}">
                <a16:creationId xmlns:a16="http://schemas.microsoft.com/office/drawing/2014/main" id="{265D5733-3637-4868-A0A4-2F942508175F}"/>
              </a:ext>
            </a:extLst>
          </p:cNvPr>
          <p:cNvSpPr>
            <a:spLocks xmlns:a="http://schemas.openxmlformats.org/drawingml/2006/main" noGrp="1"/>
          </p:cNvSpPr>
          <p:nvPr/>
        </p:nvSpPr>
        <p:spPr>
          <a:xfrm xmlns:a="http://schemas.openxmlformats.org/drawingml/2006/main">
            <a:off x="609600" y="2800350"/>
            <a:ext cx="4848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Designs</a:t>
            </a:r>
          </a:p>
        </p:txBody>
      </p:sp>
      <p:sp>
        <p:nvSpPr>
          <p:cNvPr id="5" name="s9-body-5">
            <a:extLst xmlns:a="http://schemas.openxmlformats.org/drawingml/2006/main">
              <a:ext uri="{FF2B5EF4-FFF2-40B4-BE49-F238E27FC236}">
                <a16:creationId xmlns:a16="http://schemas.microsoft.com/office/drawing/2014/main" id="{9414ED0B-BC92-4EDF-82F2-9B82517BC464}"/>
              </a:ext>
            </a:extLst>
          </p:cNvPr>
          <p:cNvSpPr>
            <a:spLocks xmlns:a="http://schemas.openxmlformats.org/drawingml/2006/main" noGrp="1"/>
          </p:cNvSpPr>
          <p:nvPr/>
        </p:nvSpPr>
        <p:spPr>
          <a:xfrm xmlns:a="http://schemas.openxmlformats.org/drawingml/2006/main">
            <a:off x="609600" y="3190875"/>
            <a:ext cx="48482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0">
                <a:solidFill>
                  <a:srgbClr val="C2CDDB"/>
                </a:solidFill>
                <a:latin typeface="Arial"/>
                <a:ea typeface="Arial"/>
                <a:cs typeface="Arial"/>
              </a:defRPr>
            </a:pPr>
            <a:r>
              <a:rPr sz="1950" b="0">
                <a:solidFill>
                  <a:srgbClr val="C2CDDB"/>
                </a:solidFill>
                <a:latin typeface="Arial"/>
                <a:ea typeface="Arial"/>
                <a:cs typeface="Arial"/>
              </a:rPr>
              <a:t>Agents, workflows and revisions</a:t>
            </a:r>
          </a:p>
        </p:txBody>
      </p:sp>
      <p:sp>
        <p:nvSpPr>
          <p:cNvPr id="6" name="s9-body-6">
            <a:extLst xmlns:a="http://schemas.openxmlformats.org/drawingml/2006/main">
              <a:ext uri="{FF2B5EF4-FFF2-40B4-BE49-F238E27FC236}">
                <a16:creationId xmlns:a16="http://schemas.microsoft.com/office/drawing/2014/main" id="{60386B77-FA30-4B37-9A94-91BF473C0E3D}"/>
              </a:ext>
            </a:extLst>
          </p:cNvPr>
          <p:cNvSpPr>
            <a:spLocks xmlns:a="http://schemas.openxmlformats.org/drawingml/2006/main" noGrp="1"/>
          </p:cNvSpPr>
          <p:nvPr/>
        </p:nvSpPr>
        <p:spPr>
          <a:xfrm xmlns:a="http://schemas.openxmlformats.org/drawingml/2006/main">
            <a:off x="609600" y="3714750"/>
            <a:ext cx="4848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Participation</a:t>
            </a:r>
          </a:p>
        </p:txBody>
      </p:sp>
      <p:sp>
        <p:nvSpPr>
          <p:cNvPr id="7" name="s9-body-7">
            <a:extLst xmlns:a="http://schemas.openxmlformats.org/drawingml/2006/main">
              <a:ext uri="{FF2B5EF4-FFF2-40B4-BE49-F238E27FC236}">
                <a16:creationId xmlns:a16="http://schemas.microsoft.com/office/drawing/2014/main" id="{763DBC96-F188-40EC-873A-B28D0D6C36FE}"/>
              </a:ext>
            </a:extLst>
          </p:cNvPr>
          <p:cNvSpPr>
            <a:spLocks xmlns:a="http://schemas.openxmlformats.org/drawingml/2006/main" noGrp="1"/>
          </p:cNvSpPr>
          <p:nvPr/>
        </p:nvSpPr>
        <p:spPr>
          <a:xfrm xmlns:a="http://schemas.openxmlformats.org/drawingml/2006/main">
            <a:off x="609600" y="4105275"/>
            <a:ext cx="48482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0">
                <a:solidFill>
                  <a:srgbClr val="C2CDDB"/>
                </a:solidFill>
                <a:latin typeface="Arial"/>
                <a:ea typeface="Arial"/>
                <a:cs typeface="Arial"/>
              </a:defRPr>
            </a:pPr>
            <a:r>
              <a:rPr sz="1950" b="0">
                <a:solidFill>
                  <a:srgbClr val="C2CDDB"/>
                </a:solidFill>
                <a:latin typeface="Arial"/>
                <a:ea typeface="Arial"/>
                <a:cs typeface="Arial"/>
              </a:rPr>
              <a:t>Platform use and patterns of engagement</a:t>
            </a:r>
          </a:p>
        </p:txBody>
      </p:sp>
      <p:sp>
        <p:nvSpPr>
          <p:cNvPr id="8" name="s9-body-8">
            <a:extLst xmlns:a="http://schemas.openxmlformats.org/drawingml/2006/main">
              <a:ext uri="{FF2B5EF4-FFF2-40B4-BE49-F238E27FC236}">
                <a16:creationId xmlns:a16="http://schemas.microsoft.com/office/drawing/2014/main" id="{77056665-4F20-45EA-89CD-5A4415300322}"/>
              </a:ext>
            </a:extLst>
          </p:cNvPr>
          <p:cNvSpPr>
            <a:spLocks xmlns:a="http://schemas.openxmlformats.org/drawingml/2006/main" noGrp="1"/>
          </p:cNvSpPr>
          <p:nvPr/>
        </p:nvSpPr>
        <p:spPr>
          <a:xfrm xmlns:a="http://schemas.openxmlformats.org/drawingml/2006/main">
            <a:off x="609600" y="4629150"/>
            <a:ext cx="4848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Teacher views</a:t>
            </a:r>
          </a:p>
        </p:txBody>
      </p:sp>
      <p:sp>
        <p:nvSpPr>
          <p:cNvPr id="9" name="s9-body-9">
            <a:extLst xmlns:a="http://schemas.openxmlformats.org/drawingml/2006/main">
              <a:ext uri="{FF2B5EF4-FFF2-40B4-BE49-F238E27FC236}">
                <a16:creationId xmlns:a16="http://schemas.microsoft.com/office/drawing/2014/main" id="{AFBDBAF4-7AB7-42C5-A6E5-E9A907A1A48C}"/>
              </a:ext>
            </a:extLst>
          </p:cNvPr>
          <p:cNvSpPr>
            <a:spLocks xmlns:a="http://schemas.openxmlformats.org/drawingml/2006/main" noGrp="1"/>
          </p:cNvSpPr>
          <p:nvPr/>
        </p:nvSpPr>
        <p:spPr>
          <a:xfrm xmlns:a="http://schemas.openxmlformats.org/drawingml/2006/main">
            <a:off x="609600" y="5019675"/>
            <a:ext cx="48482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0">
                <a:solidFill>
                  <a:srgbClr val="C2CDDB"/>
                </a:solidFill>
                <a:latin typeface="Arial"/>
                <a:ea typeface="Arial"/>
                <a:cs typeface="Arial"/>
              </a:defRPr>
            </a:pPr>
            <a:r>
              <a:rPr sz="1950" b="0">
                <a:solidFill>
                  <a:srgbClr val="C2CDDB"/>
                </a:solidFill>
                <a:latin typeface="Arial"/>
                <a:ea typeface="Arial"/>
                <a:cs typeface="Arial"/>
              </a:rPr>
              <a:t>Surveys, presentations and interviews</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fa43472e5e604369"/>
          <a:srcRect xmlns:a="http://schemas.openxmlformats.org/drawingml/2006/main" l="0" t="2534" r="0" b="2534"/>
          <a:stretch xmlns:a="http://schemas.openxmlformats.org/drawingml/2006/main">
            <a:fillRect l="0" t="0" r="0" b="0"/>
          </a:stretch>
        </p:blipFill>
        <p:spPr>
          <a:xfrm xmlns:a="http://schemas.openxmlformats.org/drawingml/2006/main">
            <a:off x="5943600" y="2714625"/>
            <a:ext cx="5638800" cy="2676525"/>
          </a:xfrm>
          <a:prstGeom xmlns:a="http://schemas.openxmlformats.org/drawingml/2006/main" prst="rect">
            <a:avLst/>
          </a:prstGeom>
        </p:spPr>
      </p:pic>
      <p:sp>
        <p:nvSpPr>
          <p:cNvPr id="11" name="s9-caption-11">
            <a:extLst xmlns:a="http://schemas.openxmlformats.org/drawingml/2006/main">
              <a:ext uri="{FF2B5EF4-FFF2-40B4-BE49-F238E27FC236}">
                <a16:creationId xmlns:a16="http://schemas.microsoft.com/office/drawing/2014/main" id="{B985FB64-B096-4BFF-9144-F8299A2EC5E0}"/>
              </a:ext>
            </a:extLst>
          </p:cNvPr>
          <p:cNvSpPr>
            <a:spLocks xmlns:a="http://schemas.openxmlformats.org/drawingml/2006/main" noGrp="1"/>
          </p:cNvSpPr>
          <p:nvPr/>
        </p:nvSpPr>
        <p:spPr>
          <a:xfrm xmlns:a="http://schemas.openxmlformats.org/drawingml/2006/main">
            <a:off x="5943600" y="5495925"/>
            <a:ext cx="5638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C2CDDB"/>
                </a:solidFill>
                <a:latin typeface="Arial"/>
                <a:ea typeface="Arial"/>
                <a:cs typeface="Arial"/>
              </a:defRPr>
            </a:pPr>
            <a:r>
              <a:rPr sz="1350" b="0">
                <a:solidFill>
                  <a:srgbClr val="C2CDDB"/>
                </a:solidFill>
                <a:latin typeface="Arial"/>
                <a:ea typeface="Arial"/>
                <a:cs typeface="Arial"/>
              </a:rPr>
              <a:t>Teacher agent-building session · programme material</a:t>
            </a:r>
          </a:p>
        </p:txBody>
      </p:sp>
      <p:sp>
        <p:nvSpPr>
          <p:cNvPr id="12" name="s9-rect-12">
            <a:extLst xmlns:a="http://schemas.openxmlformats.org/drawingml/2006/main">
              <a:ext uri="{FF2B5EF4-FFF2-40B4-BE49-F238E27FC236}">
                <a16:creationId xmlns:a16="http://schemas.microsoft.com/office/drawing/2014/main" id="{77ECF4FD-C33C-4281-A351-520CDBA06E9D}"/>
              </a:ext>
            </a:extLst>
          </p:cNvPr>
          <p:cNvSpPr>
            <a:spLocks xmlns:a="http://schemas.openxmlformats.org/drawingml/2006/main" noGrp="1"/>
          </p:cNvSpPr>
          <p:nvPr/>
        </p:nvSpPr>
        <p:spPr>
          <a:xfrm xmlns:a="http://schemas.openxmlformats.org/drawingml/2006/main">
            <a:off x="609600" y="5953125"/>
            <a:ext cx="10972800" cy="19050"/>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13" name="s9-takeaway-13">
            <a:extLst xmlns:a="http://schemas.openxmlformats.org/drawingml/2006/main">
              <a:ext uri="{FF2B5EF4-FFF2-40B4-BE49-F238E27FC236}">
                <a16:creationId xmlns:a16="http://schemas.microsoft.com/office/drawing/2014/main" id="{16EE8845-5768-4D0A-929B-4DC2F8546B35}"/>
              </a:ext>
            </a:extLst>
          </p:cNvPr>
          <p:cNvSpPr>
            <a:spLocks xmlns:a="http://schemas.openxmlformats.org/drawingml/2006/main" noGrp="1"/>
          </p:cNvSpPr>
          <p:nvPr/>
        </p:nvSpPr>
        <p:spPr>
          <a:xfrm xmlns:a="http://schemas.openxmlformats.org/drawingml/2006/main">
            <a:off x="609600" y="6096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This evidence concerns teacher learning. It does not establish student learning gains.</a:t>
            </a:r>
          </a:p>
        </p:txBody>
      </p:sp>
      <p:sp>
        <p:nvSpPr>
          <p:cNvPr id="14" name="s9-offline-meta-14">
            <a:extLst xmlns:a="http://schemas.openxmlformats.org/drawingml/2006/main">
              <a:ext uri="{FF2B5EF4-FFF2-40B4-BE49-F238E27FC236}">
                <a16:creationId xmlns:a16="http://schemas.microsoft.com/office/drawing/2014/main" id="{FD7C5965-A734-4E3F-9973-46CEEAF49B4D}"/>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C2CDDB"/>
                </a:solidFill>
                <a:latin typeface="Arial"/>
                <a:ea typeface="Arial"/>
                <a:cs typeface="Arial"/>
              </a:defRPr>
            </a:pPr>
            <a:r>
              <a:rPr sz="975" b="0">
                <a:solidFill>
                  <a:srgbClr val="C2CDDB"/>
                </a:solidFill>
                <a:latin typeface="Arial"/>
                <a:ea typeface="Arial"/>
                <a:cs typeface="Arial"/>
              </a:rPr>
              <a:t>CocoRobo · UNESCO Digital Learning Week 2026</a:t>
            </a:r>
          </a:p>
        </p:txBody>
      </p:sp>
      <p:sp>
        <p:nvSpPr>
          <p:cNvPr id="15" name="s9-offline-meta-15">
            <a:extLst xmlns:a="http://schemas.openxmlformats.org/drawingml/2006/main">
              <a:ext uri="{FF2B5EF4-FFF2-40B4-BE49-F238E27FC236}">
                <a16:creationId xmlns:a16="http://schemas.microsoft.com/office/drawing/2014/main" id="{FFB2A64B-D3D9-4558-A166-2B8B096706BE}"/>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C2CDDB"/>
                </a:solidFill>
                <a:latin typeface="Arial"/>
                <a:ea typeface="Arial"/>
                <a:cs typeface="Arial"/>
              </a:defRPr>
            </a:pPr>
            <a:r>
              <a:rPr sz="1125" b="1">
                <a:solidFill>
                  <a:srgbClr val="C2CDDB"/>
                </a:solidFill>
                <a:latin typeface="Arial"/>
                <a:ea typeface="Arial"/>
                <a:cs typeface="Arial"/>
              </a:rPr>
              <a:t>09 / 15</a:t>
            </a:r>
          </a:p>
        </p:txBody>
      </p:sp>
    </p:spTree>
    <p:extLst>
      <p:ext uri="{BB962C8B-B14F-4D97-AF65-F5344CB8AC3E}">
        <p14:creationId xmlns:p14="http://schemas.microsoft.com/office/powerpoint/2010/main" val="1654733514"/>
      </p:ext>
    </p:extLst>
  </p:cSld>
</p:sld>
</file>

<file path=ppt/slides/slide10.xml><?xml version="1.0" encoding="utf-8"?>
<p:sld xmlns:p="http://schemas.openxmlformats.org/presentationml/2006/main">
  <p:cSld>
    <p:bg>
      <p:bgPr>
        <a:solidFill xmlns:a="http://schemas.openxmlformats.org/drawingml/2006/main">
          <a:srgbClr val="1769E0"/>
        </a:solidFill>
      </p:bgPr>
    </p:bg>
    <p:spTree>
      <p:nvGrpSpPr>
        <p:cNvPr id="1" name=""/>
        <p:cNvGrpSpPr/>
        <p:nvPr/>
      </p:nvGrpSpPr>
      <p:grpSpPr>
        <a:xfrm xmlns:a="http://schemas.openxmlformats.org/drawingml/2006/main"/>
      </p:grpSpPr>
      <p:sp>
        <p:nvSpPr>
          <p:cNvPr id="14" name="s10-kicker-1">
            <a:extLst xmlns:a="http://schemas.openxmlformats.org/drawingml/2006/main">
              <a:ext uri="{FF2B5EF4-FFF2-40B4-BE49-F238E27FC236}">
                <a16:creationId xmlns:a16="http://schemas.microsoft.com/office/drawing/2014/main" id="{539612F5-1FF1-4BF8-9A18-4E5F46AAD572}"/>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2 · RESEARCH / FINDING 1</a:t>
            </a:r>
          </a:p>
        </p:txBody>
      </p:sp>
      <p:sp>
        <p:nvSpPr>
          <p:cNvPr id="2" name="s10-title-2">
            <a:extLst xmlns:a="http://schemas.openxmlformats.org/drawingml/2006/main">
              <a:ext uri="{FF2B5EF4-FFF2-40B4-BE49-F238E27FC236}">
                <a16:creationId xmlns:a16="http://schemas.microsoft.com/office/drawing/2014/main" id="{217041FA-9D48-4846-BEDF-20F402E19BB9}"/>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Building agents makes teaching choices visible</a:t>
            </a:r>
          </a:p>
        </p:txBody>
      </p:sp>
      <p:sp>
        <p:nvSpPr>
          <p:cNvPr id="3" name="s10-body-3">
            <a:extLst xmlns:a="http://schemas.openxmlformats.org/drawingml/2006/main">
              <a:ext uri="{FF2B5EF4-FFF2-40B4-BE49-F238E27FC236}">
                <a16:creationId xmlns:a16="http://schemas.microsoft.com/office/drawing/2014/main" id="{D10F3ECF-CED8-44B7-A076-C18977A830EA}"/>
              </a:ext>
            </a:extLst>
          </p:cNvPr>
          <p:cNvSpPr>
            <a:spLocks xmlns:a="http://schemas.openxmlformats.org/drawingml/2006/main" noGrp="1"/>
          </p:cNvSpPr>
          <p:nvPr/>
        </p:nvSpPr>
        <p:spPr>
          <a:xfrm xmlns:a="http://schemas.openxmlformats.org/drawingml/2006/main">
            <a:off x="609600" y="199072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0">
                <a:solidFill>
                  <a:srgbClr val="E0EBFF"/>
                </a:solidFill>
                <a:latin typeface="Arial"/>
                <a:ea typeface="Arial"/>
                <a:cs typeface="Arial"/>
              </a:defRPr>
            </a:pPr>
            <a:r>
              <a:rPr sz="2250" b="0">
                <a:solidFill>
                  <a:srgbClr val="E0EBFF"/>
                </a:solidFill>
                <a:latin typeface="Arial"/>
                <a:ea typeface="Arial"/>
                <a:cs typeface="Arial"/>
              </a:rPr>
              <a:t>A teaching idea becomes a design that can be tested and changed.</a:t>
            </a:r>
          </a:p>
        </p:txBody>
      </p:sp>
      <p:sp>
        <p:nvSpPr>
          <p:cNvPr id="4" name="s10-subheading-4">
            <a:extLst xmlns:a="http://schemas.openxmlformats.org/drawingml/2006/main">
              <a:ext uri="{FF2B5EF4-FFF2-40B4-BE49-F238E27FC236}">
                <a16:creationId xmlns:a16="http://schemas.microsoft.com/office/drawing/2014/main" id="{20F66572-1442-4128-8584-9DA68A75D07A}"/>
              </a:ext>
            </a:extLst>
          </p:cNvPr>
          <p:cNvSpPr>
            <a:spLocks xmlns:a="http://schemas.openxmlformats.org/drawingml/2006/main" noGrp="1"/>
          </p:cNvSpPr>
          <p:nvPr/>
        </p:nvSpPr>
        <p:spPr>
          <a:xfrm xmlns:a="http://schemas.openxmlformats.org/drawingml/2006/main">
            <a:off x="609600" y="290512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Make choices clear</a:t>
            </a:r>
          </a:p>
        </p:txBody>
      </p:sp>
      <p:sp>
        <p:nvSpPr>
          <p:cNvPr id="5" name="s10-body-5">
            <a:extLst xmlns:a="http://schemas.openxmlformats.org/drawingml/2006/main">
              <a:ext uri="{FF2B5EF4-FFF2-40B4-BE49-F238E27FC236}">
                <a16:creationId xmlns:a16="http://schemas.microsoft.com/office/drawing/2014/main" id="{270ED273-3F67-41FA-B85F-69CA3550A4B0}"/>
              </a:ext>
            </a:extLst>
          </p:cNvPr>
          <p:cNvSpPr>
            <a:spLocks xmlns:a="http://schemas.openxmlformats.org/drawingml/2006/main" noGrp="1"/>
          </p:cNvSpPr>
          <p:nvPr/>
        </p:nvSpPr>
        <p:spPr>
          <a:xfrm xmlns:a="http://schemas.openxmlformats.org/drawingml/2006/main">
            <a:off x="609600" y="3590925"/>
            <a:ext cx="5048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E0EBFF"/>
                </a:solidFill>
                <a:latin typeface="Arial"/>
                <a:ea typeface="Arial"/>
                <a:cs typeface="Arial"/>
              </a:defRPr>
            </a:pPr>
            <a:r>
              <a:rPr sz="2025" b="0">
                <a:solidFill>
                  <a:srgbClr val="E0EBFF"/>
                </a:solidFill>
                <a:latin typeface="Arial"/>
                <a:ea typeface="Arial"/>
                <a:cs typeface="Arial"/>
              </a:rPr>
              <a:t>What should the agent do? What should the student do?</a:t>
            </a:r>
          </a:p>
        </p:txBody>
      </p:sp>
      <p:sp>
        <p:nvSpPr>
          <p:cNvPr id="6" name="s10-subheading-6">
            <a:extLst xmlns:a="http://schemas.openxmlformats.org/drawingml/2006/main">
              <a:ext uri="{FF2B5EF4-FFF2-40B4-BE49-F238E27FC236}">
                <a16:creationId xmlns:a16="http://schemas.microsoft.com/office/drawing/2014/main" id="{B426A713-05CE-4307-A8D0-397932670C5D}"/>
              </a:ext>
            </a:extLst>
          </p:cNvPr>
          <p:cNvSpPr>
            <a:spLocks xmlns:a="http://schemas.openxmlformats.org/drawingml/2006/main" noGrp="1"/>
          </p:cNvSpPr>
          <p:nvPr/>
        </p:nvSpPr>
        <p:spPr>
          <a:xfrm xmlns:a="http://schemas.openxmlformats.org/drawingml/2006/main">
            <a:off x="609600" y="4305300"/>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Learn through testing</a:t>
            </a:r>
          </a:p>
        </p:txBody>
      </p:sp>
      <p:sp>
        <p:nvSpPr>
          <p:cNvPr id="7" name="s10-body-7">
            <a:extLst xmlns:a="http://schemas.openxmlformats.org/drawingml/2006/main">
              <a:ext uri="{FF2B5EF4-FFF2-40B4-BE49-F238E27FC236}">
                <a16:creationId xmlns:a16="http://schemas.microsoft.com/office/drawing/2014/main" id="{EF38546E-C223-4E40-9887-0EC19DDCA32F}"/>
              </a:ext>
            </a:extLst>
          </p:cNvPr>
          <p:cNvSpPr>
            <a:spLocks xmlns:a="http://schemas.openxmlformats.org/drawingml/2006/main" noGrp="1"/>
          </p:cNvSpPr>
          <p:nvPr/>
        </p:nvSpPr>
        <p:spPr>
          <a:xfrm xmlns:a="http://schemas.openxmlformats.org/drawingml/2006/main">
            <a:off x="609600" y="4991100"/>
            <a:ext cx="5048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E0EBFF"/>
                </a:solidFill>
                <a:latin typeface="Arial"/>
                <a:ea typeface="Arial"/>
                <a:cs typeface="Arial"/>
              </a:defRPr>
            </a:pPr>
            <a:r>
              <a:rPr sz="2025" b="0">
                <a:solidFill>
                  <a:srgbClr val="E0EBFF"/>
                </a:solidFill>
                <a:latin typeface="Arial"/>
                <a:ea typeface="Arial"/>
                <a:cs typeface="Arial"/>
              </a:rPr>
              <a:t>Test it. Discuss what happens. Improve it.</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ea426dd41e748e8"/>
          <a:stretch xmlns:a="http://schemas.openxmlformats.org/drawingml/2006/main"/>
        </p:blipFill>
        <p:spPr>
          <a:xfrm xmlns:a="http://schemas.openxmlformats.org/drawingml/2006/main">
            <a:off x="6805083" y="2952750"/>
            <a:ext cx="4334933" cy="2438400"/>
          </a:xfrm>
          <a:prstGeom xmlns:a="http://schemas.openxmlformats.org/drawingml/2006/main" prst="rect">
            <a:avLst/>
          </a:prstGeom>
        </p:spPr>
      </p:pic>
      <p:sp>
        <p:nvSpPr>
          <p:cNvPr id="9" name="s10-caption-9">
            <a:extLst xmlns:a="http://schemas.openxmlformats.org/drawingml/2006/main">
              <a:ext uri="{FF2B5EF4-FFF2-40B4-BE49-F238E27FC236}">
                <a16:creationId xmlns:a16="http://schemas.microsoft.com/office/drawing/2014/main" id="{D5BC0631-965C-4274-A2B3-1310F6EA1041}"/>
              </a:ext>
            </a:extLst>
          </p:cNvPr>
          <p:cNvSpPr>
            <a:spLocks xmlns:a="http://schemas.openxmlformats.org/drawingml/2006/main" noGrp="1"/>
          </p:cNvSpPr>
          <p:nvPr/>
        </p:nvSpPr>
        <p:spPr>
          <a:xfrm xmlns:a="http://schemas.openxmlformats.org/drawingml/2006/main">
            <a:off x="6362700" y="5448300"/>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E0EBFF"/>
                </a:solidFill>
                <a:latin typeface="Arial"/>
                <a:ea typeface="Arial"/>
                <a:cs typeface="Arial"/>
              </a:defRPr>
            </a:pPr>
            <a:r>
              <a:rPr sz="1350" b="0">
                <a:solidFill>
                  <a:srgbClr val="E0EBFF"/>
                </a:solidFill>
                <a:latin typeface="Arial"/>
                <a:ea typeface="Arial"/>
                <a:cs typeface="Arial"/>
              </a:rPr>
              <a:t>Teacher-made application · city contest example</a:t>
            </a:r>
          </a:p>
        </p:txBody>
      </p:sp>
      <p:sp>
        <p:nvSpPr>
          <p:cNvPr id="10" name="s10-rect-10">
            <a:extLst xmlns:a="http://schemas.openxmlformats.org/drawingml/2006/main">
              <a:ext uri="{FF2B5EF4-FFF2-40B4-BE49-F238E27FC236}">
                <a16:creationId xmlns:a16="http://schemas.microsoft.com/office/drawing/2014/main" id="{3A7845C3-2933-4366-B87E-9FB9E81461AD}"/>
              </a:ext>
            </a:extLst>
          </p:cNvPr>
          <p:cNvSpPr>
            <a:spLocks xmlns:a="http://schemas.openxmlformats.org/drawingml/2006/main" noGrp="1"/>
          </p:cNvSpPr>
          <p:nvPr/>
        </p:nvSpPr>
        <p:spPr>
          <a:xfrm xmlns:a="http://schemas.openxmlformats.org/drawingml/2006/main">
            <a:off x="609600" y="5953125"/>
            <a:ext cx="10972800" cy="19050"/>
          </a:xfrm>
          <a:prstGeom xmlns:a="http://schemas.openxmlformats.org/drawingml/2006/main" prst="rect">
            <a:avLst/>
          </a:prstGeom>
          <a:solidFill xmlns:a="http://schemas.openxmlformats.org/drawingml/2006/main">
            <a:srgbClr val="79A8EB"/>
          </a:solidFill>
          <a:ln xmlns:a="http://schemas.openxmlformats.org/drawingml/2006/main" w="0">
            <a:noFill/>
          </a:ln>
        </p:spPr>
      </p:sp>
      <p:sp>
        <p:nvSpPr>
          <p:cNvPr id="11" name="s10-takeaway-11">
            <a:extLst xmlns:a="http://schemas.openxmlformats.org/drawingml/2006/main">
              <a:ext uri="{FF2B5EF4-FFF2-40B4-BE49-F238E27FC236}">
                <a16:creationId xmlns:a16="http://schemas.microsoft.com/office/drawing/2014/main" id="{9553D29F-8746-4F4E-8707-3883BE2908E9}"/>
              </a:ext>
            </a:extLst>
          </p:cNvPr>
          <p:cNvSpPr>
            <a:spLocks xmlns:a="http://schemas.openxmlformats.org/drawingml/2006/main" noGrp="1"/>
          </p:cNvSpPr>
          <p:nvPr/>
        </p:nvSpPr>
        <p:spPr>
          <a:xfrm xmlns:a="http://schemas.openxmlformats.org/drawingml/2006/main">
            <a:off x="609600" y="6096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Look at what teachers build and revise, as well as what they report.</a:t>
            </a:r>
          </a:p>
        </p:txBody>
      </p:sp>
      <p:sp>
        <p:nvSpPr>
          <p:cNvPr id="12" name="s10-offline-meta-12">
            <a:extLst xmlns:a="http://schemas.openxmlformats.org/drawingml/2006/main">
              <a:ext uri="{FF2B5EF4-FFF2-40B4-BE49-F238E27FC236}">
                <a16:creationId xmlns:a16="http://schemas.microsoft.com/office/drawing/2014/main" id="{AA8B7C19-7895-4DD5-87D6-8FA4E2E2E96F}"/>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E0EBFF"/>
                </a:solidFill>
                <a:latin typeface="Arial"/>
                <a:ea typeface="Arial"/>
                <a:cs typeface="Arial"/>
              </a:defRPr>
            </a:pPr>
            <a:r>
              <a:rPr sz="975" b="0">
                <a:solidFill>
                  <a:srgbClr val="E0EBFF"/>
                </a:solidFill>
                <a:latin typeface="Arial"/>
                <a:ea typeface="Arial"/>
                <a:cs typeface="Arial"/>
              </a:rPr>
              <a:t>CocoRobo · UNESCO Digital Learning Week 2026</a:t>
            </a:r>
          </a:p>
        </p:txBody>
      </p:sp>
      <p:sp>
        <p:nvSpPr>
          <p:cNvPr id="13" name="s10-offline-meta-13">
            <a:extLst xmlns:a="http://schemas.openxmlformats.org/drawingml/2006/main">
              <a:ext uri="{FF2B5EF4-FFF2-40B4-BE49-F238E27FC236}">
                <a16:creationId xmlns:a16="http://schemas.microsoft.com/office/drawing/2014/main" id="{5FF8090C-66F1-4B4B-ADE9-1692386820D7}"/>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E0EBFF"/>
                </a:solidFill>
                <a:latin typeface="Arial"/>
                <a:ea typeface="Arial"/>
                <a:cs typeface="Arial"/>
              </a:defRPr>
            </a:pPr>
            <a:r>
              <a:rPr sz="1125" b="1">
                <a:solidFill>
                  <a:srgbClr val="E0EBFF"/>
                </a:solidFill>
                <a:latin typeface="Arial"/>
                <a:ea typeface="Arial"/>
                <a:cs typeface="Arial"/>
              </a:rPr>
              <a:t>10 / 15</a:t>
            </a:r>
          </a:p>
        </p:txBody>
      </p:sp>
    </p:spTree>
    <p:extLst>
      <p:ext uri="{BB962C8B-B14F-4D97-AF65-F5344CB8AC3E}">
        <p14:creationId xmlns:p14="http://schemas.microsoft.com/office/powerpoint/2010/main" val="464358771"/>
      </p:ext>
    </p:extLst>
  </p:cSld>
</p:sld>
</file>

<file path=ppt/slides/slide11.xml><?xml version="1.0" encoding="utf-8"?>
<p:sld xmlns:p="http://schemas.openxmlformats.org/presentationml/2006/main">
  <p:cSld>
    <p:bg>
      <p:bgPr>
        <a:solidFill xmlns:a="http://schemas.openxmlformats.org/drawingml/2006/main">
          <a:srgbClr val="EFAA36"/>
        </a:solidFill>
      </p:bgPr>
    </p:bg>
    <p:spTree>
      <p:nvGrpSpPr>
        <p:cNvPr id="1" name=""/>
        <p:cNvGrpSpPr/>
        <p:nvPr/>
      </p:nvGrpSpPr>
      <p:grpSpPr>
        <a:xfrm xmlns:a="http://schemas.openxmlformats.org/drawingml/2006/main"/>
      </p:grpSpPr>
      <p:sp>
        <p:nvSpPr>
          <p:cNvPr id="13" name="s11-kicker-1">
            <a:extLst xmlns:a="http://schemas.openxmlformats.org/drawingml/2006/main">
              <a:ext uri="{FF2B5EF4-FFF2-40B4-BE49-F238E27FC236}">
                <a16:creationId xmlns:a16="http://schemas.microsoft.com/office/drawing/2014/main" id="{6D0E0A22-68AA-4585-807B-662E3DF6DB08}"/>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71428"/>
                </a:solidFill>
                <a:latin typeface="Arial"/>
                <a:ea typeface="Arial"/>
                <a:cs typeface="Arial"/>
              </a:defRPr>
            </a:pPr>
            <a:r>
              <a:rPr sz="1275" b="1">
                <a:solidFill>
                  <a:srgbClr val="071428"/>
                </a:solidFill>
                <a:latin typeface="Arial"/>
                <a:ea typeface="Arial"/>
                <a:cs typeface="Arial"/>
              </a:rPr>
              <a:t>2 · RESEARCH / FINDING 2</a:t>
            </a:r>
          </a:p>
        </p:txBody>
      </p:sp>
      <p:sp>
        <p:nvSpPr>
          <p:cNvPr id="2" name="s11-title-2">
            <a:extLst xmlns:a="http://schemas.openxmlformats.org/drawingml/2006/main">
              <a:ext uri="{FF2B5EF4-FFF2-40B4-BE49-F238E27FC236}">
                <a16:creationId xmlns:a16="http://schemas.microsoft.com/office/drawing/2014/main" id="{B4CEECC7-2B5C-46BC-AC99-9BF20755FC1A}"/>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Teachers need support to keep creating</a:t>
            </a:r>
          </a:p>
        </p:txBody>
      </p:sp>
      <p:sp>
        <p:nvSpPr>
          <p:cNvPr id="3" name="s11-subheading-3">
            <a:extLst xmlns:a="http://schemas.openxmlformats.org/drawingml/2006/main">
              <a:ext uri="{FF2B5EF4-FFF2-40B4-BE49-F238E27FC236}">
                <a16:creationId xmlns:a16="http://schemas.microsoft.com/office/drawing/2014/main" id="{6553A49F-4036-42A1-9BF9-E8473696F1F8}"/>
              </a:ext>
            </a:extLst>
          </p:cNvPr>
          <p:cNvSpPr>
            <a:spLocks xmlns:a="http://schemas.openxmlformats.org/drawingml/2006/main" noGrp="1"/>
          </p:cNvSpPr>
          <p:nvPr/>
        </p:nvSpPr>
        <p:spPr>
          <a:xfrm xmlns:a="http://schemas.openxmlformats.org/drawingml/2006/main">
            <a:off x="609600" y="2419350"/>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Some create and revise</a:t>
            </a:r>
          </a:p>
        </p:txBody>
      </p:sp>
      <p:sp>
        <p:nvSpPr>
          <p:cNvPr id="4" name="s11-body-4">
            <a:extLst xmlns:a="http://schemas.openxmlformats.org/drawingml/2006/main">
              <a:ext uri="{FF2B5EF4-FFF2-40B4-BE49-F238E27FC236}">
                <a16:creationId xmlns:a16="http://schemas.microsoft.com/office/drawing/2014/main" id="{002B47AB-7E90-4660-923C-FDF5D0DD6D69}"/>
              </a:ext>
            </a:extLst>
          </p:cNvPr>
          <p:cNvSpPr>
            <a:spLocks xmlns:a="http://schemas.openxmlformats.org/drawingml/2006/main" noGrp="1"/>
          </p:cNvSpPr>
          <p:nvPr/>
        </p:nvSpPr>
        <p:spPr>
          <a:xfrm xmlns:a="http://schemas.openxmlformats.org/drawingml/2006/main">
            <a:off x="609600" y="3105150"/>
            <a:ext cx="50958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374356"/>
                </a:solidFill>
                <a:latin typeface="Arial"/>
                <a:ea typeface="Arial"/>
                <a:cs typeface="Arial"/>
              </a:defRPr>
            </a:pPr>
            <a:r>
              <a:rPr sz="2100" b="0">
                <a:solidFill>
                  <a:srgbClr val="374356"/>
                </a:solidFill>
                <a:latin typeface="Arial"/>
                <a:ea typeface="Arial"/>
                <a:cs typeface="Arial"/>
              </a:rPr>
              <a:t>Others explore. Some take little part.</a:t>
            </a:r>
          </a:p>
        </p:txBody>
      </p:sp>
      <p:sp>
        <p:nvSpPr>
          <p:cNvPr id="5" name="s11-subheading-5">
            <a:extLst xmlns:a="http://schemas.openxmlformats.org/drawingml/2006/main">
              <a:ext uri="{FF2B5EF4-FFF2-40B4-BE49-F238E27FC236}">
                <a16:creationId xmlns:a16="http://schemas.microsoft.com/office/drawing/2014/main" id="{467C7EBE-C695-4B90-97DA-7AC9FC55C82A}"/>
              </a:ext>
            </a:extLst>
          </p:cNvPr>
          <p:cNvSpPr>
            <a:spLocks xmlns:a="http://schemas.openxmlformats.org/drawingml/2006/main" noGrp="1"/>
          </p:cNvSpPr>
          <p:nvPr/>
        </p:nvSpPr>
        <p:spPr>
          <a:xfrm xmlns:a="http://schemas.openxmlformats.org/drawingml/2006/main">
            <a:off x="609600" y="3981450"/>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101A2C"/>
                </a:solidFill>
                <a:latin typeface="Arial"/>
                <a:ea typeface="Arial"/>
                <a:cs typeface="Arial"/>
              </a:defRPr>
            </a:pPr>
            <a:r>
              <a:rPr sz="2325" b="1">
                <a:solidFill>
                  <a:srgbClr val="101A2C"/>
                </a:solidFill>
                <a:latin typeface="Arial"/>
                <a:ea typeface="Arial"/>
                <a:cs typeface="Arial"/>
              </a:rPr>
              <a:t>Training is only a start</a:t>
            </a:r>
          </a:p>
        </p:txBody>
      </p:sp>
      <p:sp>
        <p:nvSpPr>
          <p:cNvPr id="6" name="s11-body-6">
            <a:extLst xmlns:a="http://schemas.openxmlformats.org/drawingml/2006/main">
              <a:ext uri="{FF2B5EF4-FFF2-40B4-BE49-F238E27FC236}">
                <a16:creationId xmlns:a16="http://schemas.microsoft.com/office/drawing/2014/main" id="{3FAB5994-07A0-4998-B792-22D2011EA102}"/>
              </a:ext>
            </a:extLst>
          </p:cNvPr>
          <p:cNvSpPr>
            <a:spLocks xmlns:a="http://schemas.openxmlformats.org/drawingml/2006/main" noGrp="1"/>
          </p:cNvSpPr>
          <p:nvPr/>
        </p:nvSpPr>
        <p:spPr>
          <a:xfrm xmlns:a="http://schemas.openxmlformats.org/drawingml/2006/main">
            <a:off x="609600" y="4667250"/>
            <a:ext cx="50958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374356"/>
                </a:solidFill>
                <a:latin typeface="Arial"/>
                <a:ea typeface="Arial"/>
                <a:cs typeface="Arial"/>
              </a:defRPr>
            </a:pPr>
            <a:r>
              <a:rPr sz="2100" b="0">
                <a:solidFill>
                  <a:srgbClr val="374356"/>
                </a:solidFill>
                <a:latin typeface="Arial"/>
                <a:ea typeface="Arial"/>
                <a:cs typeface="Arial"/>
              </a:rPr>
              <a:t>Choice, skills, belonging and school support matter.</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592d3038c7e4b22"/>
          <a:srcRect xmlns:a="http://schemas.openxmlformats.org/drawingml/2006/main" l="7605" t="0" r="7605" b="0"/>
          <a:stretch xmlns:a="http://schemas.openxmlformats.org/drawingml/2006/main">
            <a:fillRect l="0" t="0" r="0" b="0"/>
          </a:stretch>
        </p:blipFill>
        <p:spPr>
          <a:xfrm xmlns:a="http://schemas.openxmlformats.org/drawingml/2006/main">
            <a:off x="6219825" y="2143125"/>
            <a:ext cx="5362575" cy="3162300"/>
          </a:xfrm>
          <a:prstGeom xmlns:a="http://schemas.openxmlformats.org/drawingml/2006/main" prst="rect">
            <a:avLst/>
          </a:prstGeom>
        </p:spPr>
      </p:pic>
      <p:sp>
        <p:nvSpPr>
          <p:cNvPr id="8" name="s11-caption-8">
            <a:extLst xmlns:a="http://schemas.openxmlformats.org/drawingml/2006/main">
              <a:ext uri="{FF2B5EF4-FFF2-40B4-BE49-F238E27FC236}">
                <a16:creationId xmlns:a16="http://schemas.microsoft.com/office/drawing/2014/main" id="{198FB0B2-1F8B-42E6-99AF-86467F53627E}"/>
              </a:ext>
            </a:extLst>
          </p:cNvPr>
          <p:cNvSpPr>
            <a:spLocks xmlns:a="http://schemas.openxmlformats.org/drawingml/2006/main" noGrp="1"/>
          </p:cNvSpPr>
          <p:nvPr/>
        </p:nvSpPr>
        <p:spPr>
          <a:xfrm xmlns:a="http://schemas.openxmlformats.org/drawingml/2006/main">
            <a:off x="6219825" y="5429250"/>
            <a:ext cx="53625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374356"/>
                </a:solidFill>
                <a:latin typeface="Arial"/>
                <a:ea typeface="Arial"/>
                <a:cs typeface="Arial"/>
              </a:defRPr>
            </a:pPr>
            <a:r>
              <a:rPr sz="1350" b="0">
                <a:solidFill>
                  <a:srgbClr val="374356"/>
                </a:solidFill>
                <a:latin typeface="Arial"/>
                <a:ea typeface="Arial"/>
                <a:cs typeface="Arial"/>
              </a:rPr>
              <a:t>Teachers reviewing an English-assessment task · programme material</a:t>
            </a:r>
          </a:p>
        </p:txBody>
      </p:sp>
      <p:sp>
        <p:nvSpPr>
          <p:cNvPr id="9" name="s11-rect-9">
            <a:extLst xmlns:a="http://schemas.openxmlformats.org/drawingml/2006/main">
              <a:ext uri="{FF2B5EF4-FFF2-40B4-BE49-F238E27FC236}">
                <a16:creationId xmlns:a16="http://schemas.microsoft.com/office/drawing/2014/main" id="{74D0DB51-4B46-4337-A20B-460E3DC141E4}"/>
              </a:ext>
            </a:extLst>
          </p:cNvPr>
          <p:cNvSpPr>
            <a:spLocks xmlns:a="http://schemas.openxmlformats.org/drawingml/2006/main" noGrp="1"/>
          </p:cNvSpPr>
          <p:nvPr/>
        </p:nvSpPr>
        <p:spPr>
          <a:xfrm xmlns:a="http://schemas.openxmlformats.org/drawingml/2006/main">
            <a:off x="609600" y="5934075"/>
            <a:ext cx="10972800" cy="19050"/>
          </a:xfrm>
          <a:prstGeom xmlns:a="http://schemas.openxmlformats.org/drawingml/2006/main" prst="rect">
            <a:avLst/>
          </a:prstGeom>
          <a:solidFill xmlns:a="http://schemas.openxmlformats.org/drawingml/2006/main">
            <a:srgbClr val="C89031"/>
          </a:solidFill>
          <a:ln xmlns:a="http://schemas.openxmlformats.org/drawingml/2006/main" w="0">
            <a:noFill/>
          </a:ln>
        </p:spPr>
      </p:sp>
      <p:sp>
        <p:nvSpPr>
          <p:cNvPr id="10" name="s11-takeaway-10">
            <a:extLst xmlns:a="http://schemas.openxmlformats.org/drawingml/2006/main">
              <a:ext uri="{FF2B5EF4-FFF2-40B4-BE49-F238E27FC236}">
                <a16:creationId xmlns:a16="http://schemas.microsoft.com/office/drawing/2014/main" id="{E44BC2C0-4691-4DD2-A5FD-82A5E0994E9A}"/>
              </a:ext>
            </a:extLst>
          </p:cNvPr>
          <p:cNvSpPr>
            <a:spLocks xmlns:a="http://schemas.openxmlformats.org/drawingml/2006/main" noGrp="1"/>
          </p:cNvSpPr>
          <p:nvPr/>
        </p:nvSpPr>
        <p:spPr>
          <a:xfrm xmlns:a="http://schemas.openxmlformats.org/drawingml/2006/main">
            <a:off x="609600" y="60769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Give teachers time, trusted peers and people they can turn to for help.</a:t>
            </a:r>
          </a:p>
        </p:txBody>
      </p:sp>
      <p:sp>
        <p:nvSpPr>
          <p:cNvPr id="11" name="s11-offline-meta-11">
            <a:extLst xmlns:a="http://schemas.openxmlformats.org/drawingml/2006/main">
              <a:ext uri="{FF2B5EF4-FFF2-40B4-BE49-F238E27FC236}">
                <a16:creationId xmlns:a16="http://schemas.microsoft.com/office/drawing/2014/main" id="{C1959AB4-BC90-41F7-B8D2-BD6FF138D33E}"/>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374356"/>
                </a:solidFill>
                <a:latin typeface="Arial"/>
                <a:ea typeface="Arial"/>
                <a:cs typeface="Arial"/>
              </a:defRPr>
            </a:pPr>
            <a:r>
              <a:rPr sz="975" b="0">
                <a:solidFill>
                  <a:srgbClr val="374356"/>
                </a:solidFill>
                <a:latin typeface="Arial"/>
                <a:ea typeface="Arial"/>
                <a:cs typeface="Arial"/>
              </a:rPr>
              <a:t>CocoRobo · UNESCO Digital Learning Week 2026</a:t>
            </a:r>
          </a:p>
        </p:txBody>
      </p:sp>
      <p:sp>
        <p:nvSpPr>
          <p:cNvPr id="12" name="s11-offline-meta-12">
            <a:extLst xmlns:a="http://schemas.openxmlformats.org/drawingml/2006/main">
              <a:ext uri="{FF2B5EF4-FFF2-40B4-BE49-F238E27FC236}">
                <a16:creationId xmlns:a16="http://schemas.microsoft.com/office/drawing/2014/main" id="{CEBA86EF-84A3-442D-912B-5A3EC061249D}"/>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374356"/>
                </a:solidFill>
                <a:latin typeface="Arial"/>
                <a:ea typeface="Arial"/>
                <a:cs typeface="Arial"/>
              </a:defRPr>
            </a:pPr>
            <a:r>
              <a:rPr sz="1125" b="1">
                <a:solidFill>
                  <a:srgbClr val="374356"/>
                </a:solidFill>
                <a:latin typeface="Arial"/>
                <a:ea typeface="Arial"/>
                <a:cs typeface="Arial"/>
              </a:rPr>
              <a:t>11 / 15</a:t>
            </a:r>
          </a:p>
        </p:txBody>
      </p:sp>
    </p:spTree>
    <p:extLst>
      <p:ext uri="{BB962C8B-B14F-4D97-AF65-F5344CB8AC3E}">
        <p14:creationId xmlns:p14="http://schemas.microsoft.com/office/powerpoint/2010/main" val="1545231433"/>
      </p:ext>
    </p:extLst>
  </p:cSld>
</p:sld>
</file>

<file path=ppt/slides/slide12.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sp>
        <p:nvSpPr>
          <p:cNvPr id="21" name="s12-kicker-1">
            <a:extLst xmlns:a="http://schemas.openxmlformats.org/drawingml/2006/main">
              <a:ext uri="{FF2B5EF4-FFF2-40B4-BE49-F238E27FC236}">
                <a16:creationId xmlns:a16="http://schemas.microsoft.com/office/drawing/2014/main" id="{3BDF7812-457B-4D51-9A0A-823776DDC66B}"/>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2 · RESEARCH / A WORKING FRAMEWORK</a:t>
            </a:r>
          </a:p>
        </p:txBody>
      </p:sp>
      <p:sp>
        <p:nvSpPr>
          <p:cNvPr id="2" name="s12-title-2">
            <a:extLst xmlns:a="http://schemas.openxmlformats.org/drawingml/2006/main">
              <a:ext uri="{FF2B5EF4-FFF2-40B4-BE49-F238E27FC236}">
                <a16:creationId xmlns:a16="http://schemas.microsoft.com/office/drawing/2014/main" id="{76544241-4BF5-4C09-B238-97DAC7EBA4B3}"/>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Boundary Learning: deciding where AI belongs</a:t>
            </a:r>
          </a:p>
        </p:txBody>
      </p:sp>
      <p:sp>
        <p:nvSpPr>
          <p:cNvPr id="3" name="s12-body-3">
            <a:extLst xmlns:a="http://schemas.openxmlformats.org/drawingml/2006/main">
              <a:ext uri="{FF2B5EF4-FFF2-40B4-BE49-F238E27FC236}">
                <a16:creationId xmlns:a16="http://schemas.microsoft.com/office/drawing/2014/main" id="{F5D4483F-96C3-4716-A60E-2E6A63A60634}"/>
              </a:ext>
            </a:extLst>
          </p:cNvPr>
          <p:cNvSpPr>
            <a:spLocks xmlns:a="http://schemas.openxmlformats.org/drawingml/2006/main" noGrp="1"/>
          </p:cNvSpPr>
          <p:nvPr/>
        </p:nvSpPr>
        <p:spPr>
          <a:xfrm xmlns:a="http://schemas.openxmlformats.org/drawingml/2006/main">
            <a:off x="609600" y="192405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250" b="0">
                <a:solidFill>
                  <a:srgbClr val="C2CDDB"/>
                </a:solidFill>
                <a:latin typeface="Arial"/>
                <a:ea typeface="Arial"/>
                <a:cs typeface="Arial"/>
              </a:defRPr>
            </a:pPr>
            <a:r>
              <a:rPr sz="2250" b="0">
                <a:solidFill>
                  <a:srgbClr val="C2CDDB"/>
                </a:solidFill>
                <a:latin typeface="Arial"/>
                <a:ea typeface="Arial"/>
                <a:cs typeface="Arial"/>
              </a:rPr>
              <a:t>Teachers learn to decide when AI should help—and when it should step back.</a:t>
            </a:r>
          </a:p>
        </p:txBody>
      </p:sp>
      <p:sp>
        <p:nvSpPr>
          <p:cNvPr id="4" name="s12-metric-4">
            <a:extLst xmlns:a="http://schemas.openxmlformats.org/drawingml/2006/main">
              <a:ext uri="{FF2B5EF4-FFF2-40B4-BE49-F238E27FC236}">
                <a16:creationId xmlns:a16="http://schemas.microsoft.com/office/drawing/2014/main" id="{71DCFE02-EB89-4086-A4F3-C7DE373B6D7A}"/>
              </a:ext>
            </a:extLst>
          </p:cNvPr>
          <p:cNvSpPr>
            <a:spLocks xmlns:a="http://schemas.openxmlformats.org/drawingml/2006/main" noGrp="1"/>
          </p:cNvSpPr>
          <p:nvPr/>
        </p:nvSpPr>
        <p:spPr>
          <a:xfrm xmlns:a="http://schemas.openxmlformats.org/drawingml/2006/main">
            <a:off x="609600" y="2962275"/>
            <a:ext cx="552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5BE3D5"/>
                </a:solidFill>
                <a:latin typeface="Arial"/>
                <a:ea typeface="Arial"/>
                <a:cs typeface="Arial"/>
              </a:defRPr>
            </a:pPr>
            <a:r>
              <a:rPr sz="2325" b="1">
                <a:solidFill>
                  <a:srgbClr val="5BE3D5"/>
                </a:solidFill>
                <a:latin typeface="Arial"/>
                <a:ea typeface="Arial"/>
                <a:cs typeface="Arial"/>
              </a:rPr>
              <a:t>01</a:t>
            </a:r>
          </a:p>
        </p:txBody>
      </p:sp>
      <p:sp>
        <p:nvSpPr>
          <p:cNvPr id="5" name="s12-body-5">
            <a:extLst xmlns:a="http://schemas.openxmlformats.org/drawingml/2006/main">
              <a:ext uri="{FF2B5EF4-FFF2-40B4-BE49-F238E27FC236}">
                <a16:creationId xmlns:a16="http://schemas.microsoft.com/office/drawing/2014/main" id="{3C98F2AD-5FE3-473F-BEDB-CA4AE02AD68A}"/>
              </a:ext>
            </a:extLst>
          </p:cNvPr>
          <p:cNvSpPr>
            <a:spLocks xmlns:a="http://schemas.openxmlformats.org/drawingml/2006/main" noGrp="1"/>
          </p:cNvSpPr>
          <p:nvPr/>
        </p:nvSpPr>
        <p:spPr>
          <a:xfrm xmlns:a="http://schemas.openxmlformats.org/drawingml/2006/main">
            <a:off x="1333500" y="2962275"/>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Task</a:t>
            </a:r>
          </a:p>
        </p:txBody>
      </p:sp>
      <p:sp>
        <p:nvSpPr>
          <p:cNvPr id="6" name="s12-body-6">
            <a:extLst xmlns:a="http://schemas.openxmlformats.org/drawingml/2006/main">
              <a:ext uri="{FF2B5EF4-FFF2-40B4-BE49-F238E27FC236}">
                <a16:creationId xmlns:a16="http://schemas.microsoft.com/office/drawing/2014/main" id="{3EEA177C-2D87-48A3-B418-8894B750E72F}"/>
              </a:ext>
            </a:extLst>
          </p:cNvPr>
          <p:cNvSpPr>
            <a:spLocks xmlns:a="http://schemas.openxmlformats.org/drawingml/2006/main" noGrp="1"/>
          </p:cNvSpPr>
          <p:nvPr/>
        </p:nvSpPr>
        <p:spPr>
          <a:xfrm xmlns:a="http://schemas.openxmlformats.org/drawingml/2006/main">
            <a:off x="1333500" y="3400425"/>
            <a:ext cx="4400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Is this a good task for AI?</a:t>
            </a:r>
          </a:p>
        </p:txBody>
      </p:sp>
      <p:sp>
        <p:nvSpPr>
          <p:cNvPr id="7" name="s12-metric-7">
            <a:extLst xmlns:a="http://schemas.openxmlformats.org/drawingml/2006/main">
              <a:ext uri="{FF2B5EF4-FFF2-40B4-BE49-F238E27FC236}">
                <a16:creationId xmlns:a16="http://schemas.microsoft.com/office/drawing/2014/main" id="{C46F8E0A-CF22-47FA-A064-33647C735F3C}"/>
              </a:ext>
            </a:extLst>
          </p:cNvPr>
          <p:cNvSpPr>
            <a:spLocks xmlns:a="http://schemas.openxmlformats.org/drawingml/2006/main" noGrp="1"/>
          </p:cNvSpPr>
          <p:nvPr/>
        </p:nvSpPr>
        <p:spPr>
          <a:xfrm xmlns:a="http://schemas.openxmlformats.org/drawingml/2006/main">
            <a:off x="6286500" y="2962275"/>
            <a:ext cx="552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5BE3D5"/>
                </a:solidFill>
                <a:latin typeface="Arial"/>
                <a:ea typeface="Arial"/>
                <a:cs typeface="Arial"/>
              </a:defRPr>
            </a:pPr>
            <a:r>
              <a:rPr sz="2325" b="1">
                <a:solidFill>
                  <a:srgbClr val="5BE3D5"/>
                </a:solidFill>
                <a:latin typeface="Arial"/>
                <a:ea typeface="Arial"/>
                <a:cs typeface="Arial"/>
              </a:rPr>
              <a:t>02</a:t>
            </a:r>
          </a:p>
        </p:txBody>
      </p:sp>
      <p:sp>
        <p:nvSpPr>
          <p:cNvPr id="8" name="s12-body-8">
            <a:extLst xmlns:a="http://schemas.openxmlformats.org/drawingml/2006/main">
              <a:ext uri="{FF2B5EF4-FFF2-40B4-BE49-F238E27FC236}">
                <a16:creationId xmlns:a16="http://schemas.microsoft.com/office/drawing/2014/main" id="{EEB76DC1-F6C7-4D1B-B765-34BA1B4010F1}"/>
              </a:ext>
            </a:extLst>
          </p:cNvPr>
          <p:cNvSpPr>
            <a:spLocks xmlns:a="http://schemas.openxmlformats.org/drawingml/2006/main" noGrp="1"/>
          </p:cNvSpPr>
          <p:nvPr/>
        </p:nvSpPr>
        <p:spPr>
          <a:xfrm xmlns:a="http://schemas.openxmlformats.org/drawingml/2006/main">
            <a:off x="7010400" y="2962275"/>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AI limits</a:t>
            </a:r>
          </a:p>
        </p:txBody>
      </p:sp>
      <p:sp>
        <p:nvSpPr>
          <p:cNvPr id="9" name="s12-body-9">
            <a:extLst xmlns:a="http://schemas.openxmlformats.org/drawingml/2006/main">
              <a:ext uri="{FF2B5EF4-FFF2-40B4-BE49-F238E27FC236}">
                <a16:creationId xmlns:a16="http://schemas.microsoft.com/office/drawing/2014/main" id="{7812D1E4-46F8-4E8C-BDE8-4B5F42FD8DB3}"/>
              </a:ext>
            </a:extLst>
          </p:cNvPr>
          <p:cNvSpPr>
            <a:spLocks xmlns:a="http://schemas.openxmlformats.org/drawingml/2006/main" noGrp="1"/>
          </p:cNvSpPr>
          <p:nvPr/>
        </p:nvSpPr>
        <p:spPr>
          <a:xfrm xmlns:a="http://schemas.openxmlformats.org/drawingml/2006/main">
            <a:off x="7010400" y="3400425"/>
            <a:ext cx="4400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Can it do the task well?</a:t>
            </a:r>
          </a:p>
        </p:txBody>
      </p:sp>
      <p:sp>
        <p:nvSpPr>
          <p:cNvPr id="10" name="s12-metric-10">
            <a:extLst xmlns:a="http://schemas.openxmlformats.org/drawingml/2006/main">
              <a:ext uri="{FF2B5EF4-FFF2-40B4-BE49-F238E27FC236}">
                <a16:creationId xmlns:a16="http://schemas.microsoft.com/office/drawing/2014/main" id="{E662164E-2B0E-46EA-B76C-E182F508FD4B}"/>
              </a:ext>
            </a:extLst>
          </p:cNvPr>
          <p:cNvSpPr>
            <a:spLocks xmlns:a="http://schemas.openxmlformats.org/drawingml/2006/main" noGrp="1"/>
          </p:cNvSpPr>
          <p:nvPr/>
        </p:nvSpPr>
        <p:spPr>
          <a:xfrm xmlns:a="http://schemas.openxmlformats.org/drawingml/2006/main">
            <a:off x="609600" y="4143375"/>
            <a:ext cx="552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5BE3D5"/>
                </a:solidFill>
                <a:latin typeface="Arial"/>
                <a:ea typeface="Arial"/>
                <a:cs typeface="Arial"/>
              </a:defRPr>
            </a:pPr>
            <a:r>
              <a:rPr sz="2325" b="1">
                <a:solidFill>
                  <a:srgbClr val="5BE3D5"/>
                </a:solidFill>
                <a:latin typeface="Arial"/>
                <a:ea typeface="Arial"/>
                <a:cs typeface="Arial"/>
              </a:rPr>
              <a:t>03</a:t>
            </a:r>
          </a:p>
        </p:txBody>
      </p:sp>
      <p:sp>
        <p:nvSpPr>
          <p:cNvPr id="11" name="s12-body-11">
            <a:extLst xmlns:a="http://schemas.openxmlformats.org/drawingml/2006/main">
              <a:ext uri="{FF2B5EF4-FFF2-40B4-BE49-F238E27FC236}">
                <a16:creationId xmlns:a16="http://schemas.microsoft.com/office/drawing/2014/main" id="{96FAD0E8-E031-47EC-8AD3-018C02F71700}"/>
              </a:ext>
            </a:extLst>
          </p:cNvPr>
          <p:cNvSpPr>
            <a:spLocks xmlns:a="http://schemas.openxmlformats.org/drawingml/2006/main" noGrp="1"/>
          </p:cNvSpPr>
          <p:nvPr/>
        </p:nvSpPr>
        <p:spPr>
          <a:xfrm xmlns:a="http://schemas.openxmlformats.org/drawingml/2006/main">
            <a:off x="1333500" y="4143375"/>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Responsibility</a:t>
            </a:r>
          </a:p>
        </p:txBody>
      </p:sp>
      <p:sp>
        <p:nvSpPr>
          <p:cNvPr id="12" name="s12-body-12">
            <a:extLst xmlns:a="http://schemas.openxmlformats.org/drawingml/2006/main">
              <a:ext uri="{FF2B5EF4-FFF2-40B4-BE49-F238E27FC236}">
                <a16:creationId xmlns:a16="http://schemas.microsoft.com/office/drawing/2014/main" id="{B6BE5A45-1FF9-4C22-BF09-F324373C9D0C}"/>
              </a:ext>
            </a:extLst>
          </p:cNvPr>
          <p:cNvSpPr>
            <a:spLocks xmlns:a="http://schemas.openxmlformats.org/drawingml/2006/main" noGrp="1"/>
          </p:cNvSpPr>
          <p:nvPr/>
        </p:nvSpPr>
        <p:spPr>
          <a:xfrm xmlns:a="http://schemas.openxmlformats.org/drawingml/2006/main">
            <a:off x="1333500" y="4581525"/>
            <a:ext cx="4400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Who should make the key decisions?</a:t>
            </a:r>
          </a:p>
        </p:txBody>
      </p:sp>
      <p:sp>
        <p:nvSpPr>
          <p:cNvPr id="13" name="s12-metric-13">
            <a:extLst xmlns:a="http://schemas.openxmlformats.org/drawingml/2006/main">
              <a:ext uri="{FF2B5EF4-FFF2-40B4-BE49-F238E27FC236}">
                <a16:creationId xmlns:a16="http://schemas.microsoft.com/office/drawing/2014/main" id="{6960DF08-1BC5-4BFA-9415-E3203BE67C04}"/>
              </a:ext>
            </a:extLst>
          </p:cNvPr>
          <p:cNvSpPr>
            <a:spLocks xmlns:a="http://schemas.openxmlformats.org/drawingml/2006/main" noGrp="1"/>
          </p:cNvSpPr>
          <p:nvPr/>
        </p:nvSpPr>
        <p:spPr>
          <a:xfrm xmlns:a="http://schemas.openxmlformats.org/drawingml/2006/main">
            <a:off x="6286500" y="4143375"/>
            <a:ext cx="552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5BE3D5"/>
                </a:solidFill>
                <a:latin typeface="Arial"/>
                <a:ea typeface="Arial"/>
                <a:cs typeface="Arial"/>
              </a:defRPr>
            </a:pPr>
            <a:r>
              <a:rPr sz="2325" b="1">
                <a:solidFill>
                  <a:srgbClr val="5BE3D5"/>
                </a:solidFill>
                <a:latin typeface="Arial"/>
                <a:ea typeface="Arial"/>
                <a:cs typeface="Arial"/>
              </a:rPr>
              <a:t>04</a:t>
            </a:r>
          </a:p>
        </p:txBody>
      </p:sp>
      <p:sp>
        <p:nvSpPr>
          <p:cNvPr id="14" name="s12-body-14">
            <a:extLst xmlns:a="http://schemas.openxmlformats.org/drawingml/2006/main">
              <a:ext uri="{FF2B5EF4-FFF2-40B4-BE49-F238E27FC236}">
                <a16:creationId xmlns:a16="http://schemas.microsoft.com/office/drawing/2014/main" id="{64341C28-7C65-4B65-A6AF-929F45FFC664}"/>
              </a:ext>
            </a:extLst>
          </p:cNvPr>
          <p:cNvSpPr>
            <a:spLocks xmlns:a="http://schemas.openxmlformats.org/drawingml/2006/main" noGrp="1"/>
          </p:cNvSpPr>
          <p:nvPr/>
        </p:nvSpPr>
        <p:spPr>
          <a:xfrm xmlns:a="http://schemas.openxmlformats.org/drawingml/2006/main">
            <a:off x="7010400" y="4143375"/>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Design</a:t>
            </a:r>
          </a:p>
        </p:txBody>
      </p:sp>
      <p:sp>
        <p:nvSpPr>
          <p:cNvPr id="15" name="s12-body-15">
            <a:extLst xmlns:a="http://schemas.openxmlformats.org/drawingml/2006/main">
              <a:ext uri="{FF2B5EF4-FFF2-40B4-BE49-F238E27FC236}">
                <a16:creationId xmlns:a16="http://schemas.microsoft.com/office/drawing/2014/main" id="{FB50CC9D-F2C2-45FD-AB4B-1A7E681F02D8}"/>
              </a:ext>
            </a:extLst>
          </p:cNvPr>
          <p:cNvSpPr>
            <a:spLocks xmlns:a="http://schemas.openxmlformats.org/drawingml/2006/main" noGrp="1"/>
          </p:cNvSpPr>
          <p:nvPr/>
        </p:nvSpPr>
        <p:spPr>
          <a:xfrm xmlns:a="http://schemas.openxmlformats.org/drawingml/2006/main">
            <a:off x="7010400" y="4581525"/>
            <a:ext cx="4400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C2CDDB"/>
                </a:solidFill>
                <a:latin typeface="Arial"/>
                <a:ea typeface="Arial"/>
                <a:cs typeface="Arial"/>
              </a:defRPr>
            </a:pPr>
            <a:r>
              <a:rPr sz="2025" b="0">
                <a:solidFill>
                  <a:srgbClr val="C2CDDB"/>
                </a:solidFill>
                <a:latin typeface="Arial"/>
                <a:ea typeface="Arial"/>
                <a:cs typeface="Arial"/>
              </a:rPr>
              <a:t>What roles, steps and limits should we set?</a:t>
            </a:r>
          </a:p>
        </p:txBody>
      </p:sp>
      <p:sp>
        <p:nvSpPr>
          <p:cNvPr id="16" name="s12-caption-16">
            <a:extLst xmlns:a="http://schemas.openxmlformats.org/drawingml/2006/main">
              <a:ext uri="{FF2B5EF4-FFF2-40B4-BE49-F238E27FC236}">
                <a16:creationId xmlns:a16="http://schemas.microsoft.com/office/drawing/2014/main" id="{69D5F0F0-9FCB-4063-978D-AFCFE4AC72E2}"/>
              </a:ext>
            </a:extLst>
          </p:cNvPr>
          <p:cNvSpPr>
            <a:spLocks xmlns:a="http://schemas.openxmlformats.org/drawingml/2006/main" noGrp="1"/>
          </p:cNvSpPr>
          <p:nvPr/>
        </p:nvSpPr>
        <p:spPr>
          <a:xfrm xmlns:a="http://schemas.openxmlformats.org/drawingml/2006/main">
            <a:off x="609600" y="54673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425" b="0">
                <a:solidFill>
                  <a:srgbClr val="C2CDDB"/>
                </a:solidFill>
                <a:latin typeface="Arial"/>
                <a:ea typeface="Arial"/>
                <a:cs typeface="Arial"/>
              </a:defRPr>
            </a:pPr>
            <a:r>
              <a:rPr sz="1425" b="0">
                <a:solidFill>
                  <a:srgbClr val="C2CDDB"/>
                </a:solidFill>
                <a:latin typeface="Arial"/>
                <a:ea typeface="Arial"/>
                <a:cs typeface="Arial"/>
              </a:rPr>
              <a:t>A working framework, still under development.</a:t>
            </a:r>
          </a:p>
        </p:txBody>
      </p:sp>
      <p:sp>
        <p:nvSpPr>
          <p:cNvPr id="17" name="s12-rect-17">
            <a:extLst xmlns:a="http://schemas.openxmlformats.org/drawingml/2006/main">
              <a:ext uri="{FF2B5EF4-FFF2-40B4-BE49-F238E27FC236}">
                <a16:creationId xmlns:a16="http://schemas.microsoft.com/office/drawing/2014/main" id="{C3ACAFDD-1596-4036-9E9D-0A0E8B63EC8B}"/>
              </a:ext>
            </a:extLst>
          </p:cNvPr>
          <p:cNvSpPr>
            <a:spLocks xmlns:a="http://schemas.openxmlformats.org/drawingml/2006/main" noGrp="1"/>
          </p:cNvSpPr>
          <p:nvPr/>
        </p:nvSpPr>
        <p:spPr>
          <a:xfrm xmlns:a="http://schemas.openxmlformats.org/drawingml/2006/main">
            <a:off x="609600" y="5867400"/>
            <a:ext cx="10972800" cy="19050"/>
          </a:xfrm>
          <a:prstGeom xmlns:a="http://schemas.openxmlformats.org/drawingml/2006/main" prst="rect">
            <a:avLst/>
          </a:prstGeom>
          <a:solidFill xmlns:a="http://schemas.openxmlformats.org/drawingml/2006/main">
            <a:srgbClr val="385067"/>
          </a:solidFill>
          <a:ln xmlns:a="http://schemas.openxmlformats.org/drawingml/2006/main" w="0">
            <a:noFill/>
          </a:ln>
        </p:spPr>
      </p:sp>
      <p:sp>
        <p:nvSpPr>
          <p:cNvPr id="18" name="s12-takeaway-18">
            <a:extLst xmlns:a="http://schemas.openxmlformats.org/drawingml/2006/main">
              <a:ext uri="{FF2B5EF4-FFF2-40B4-BE49-F238E27FC236}">
                <a16:creationId xmlns:a16="http://schemas.microsoft.com/office/drawing/2014/main" id="{3028B899-9681-4605-BBF1-ADA3E52D7338}"/>
              </a:ext>
            </a:extLst>
          </p:cNvPr>
          <p:cNvSpPr>
            <a:spLocks xmlns:a="http://schemas.openxmlformats.org/drawingml/2006/main" noGrp="1"/>
          </p:cNvSpPr>
          <p:nvPr/>
        </p:nvSpPr>
        <p:spPr>
          <a:xfrm xmlns:a="http://schemas.openxmlformats.org/drawingml/2006/main">
            <a:off x="609600" y="60102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Example: if AI answers too soon, ask students to try first.</a:t>
            </a:r>
          </a:p>
        </p:txBody>
      </p:sp>
      <p:sp>
        <p:nvSpPr>
          <p:cNvPr id="19" name="s12-offline-meta-19">
            <a:extLst xmlns:a="http://schemas.openxmlformats.org/drawingml/2006/main">
              <a:ext uri="{FF2B5EF4-FFF2-40B4-BE49-F238E27FC236}">
                <a16:creationId xmlns:a16="http://schemas.microsoft.com/office/drawing/2014/main" id="{8D78C6BA-F058-43B9-AD02-32F9C1CDC379}"/>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C2CDDB"/>
                </a:solidFill>
                <a:latin typeface="Arial"/>
                <a:ea typeface="Arial"/>
                <a:cs typeface="Arial"/>
              </a:defRPr>
            </a:pPr>
            <a:r>
              <a:rPr sz="975" b="0">
                <a:solidFill>
                  <a:srgbClr val="C2CDDB"/>
                </a:solidFill>
                <a:latin typeface="Arial"/>
                <a:ea typeface="Arial"/>
                <a:cs typeface="Arial"/>
              </a:rPr>
              <a:t>CocoRobo · UNESCO Digital Learning Week 2026</a:t>
            </a:r>
          </a:p>
        </p:txBody>
      </p:sp>
      <p:sp>
        <p:nvSpPr>
          <p:cNvPr id="20" name="s12-offline-meta-20">
            <a:extLst xmlns:a="http://schemas.openxmlformats.org/drawingml/2006/main">
              <a:ext uri="{FF2B5EF4-FFF2-40B4-BE49-F238E27FC236}">
                <a16:creationId xmlns:a16="http://schemas.microsoft.com/office/drawing/2014/main" id="{A8125B4F-0EDD-4C13-81E5-2CDB60D3FFC9}"/>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C2CDDB"/>
                </a:solidFill>
                <a:latin typeface="Arial"/>
                <a:ea typeface="Arial"/>
                <a:cs typeface="Arial"/>
              </a:defRPr>
            </a:pPr>
            <a:r>
              <a:rPr sz="1125" b="1">
                <a:solidFill>
                  <a:srgbClr val="C2CDDB"/>
                </a:solidFill>
                <a:latin typeface="Arial"/>
                <a:ea typeface="Arial"/>
                <a:cs typeface="Arial"/>
              </a:rPr>
              <a:t>12 / 15</a:t>
            </a:r>
          </a:p>
        </p:txBody>
      </p:sp>
    </p:spTree>
    <p:extLst>
      <p:ext uri="{BB962C8B-B14F-4D97-AF65-F5344CB8AC3E}">
        <p14:creationId xmlns:p14="http://schemas.microsoft.com/office/powerpoint/2010/main" val="2099194740"/>
      </p:ext>
    </p:extLst>
  </p:cSld>
</p:sld>
</file>

<file path=ppt/slides/slide13.xml><?xml version="1.0" encoding="utf-8"?>
<p:sld xmlns:p="http://schemas.openxmlformats.org/presentationml/2006/main">
  <p:cSld>
    <p:bg>
      <p:bgPr>
        <a:solidFill xmlns:a="http://schemas.openxmlformats.org/drawingml/2006/main">
          <a:srgbClr val="F5F2EA"/>
        </a:solidFill>
      </p:bgPr>
    </p:bg>
    <p:spTree>
      <p:nvGrpSpPr>
        <p:cNvPr id="1" name=""/>
        <p:cNvGrpSpPr/>
        <p:nvPr/>
      </p:nvGrpSpPr>
      <p:grpSpPr>
        <a:xfrm xmlns:a="http://schemas.openxmlformats.org/drawingml/2006/main"/>
      </p:grpSpPr>
      <p:sp>
        <p:nvSpPr>
          <p:cNvPr id="17" name="s13-kicker-1">
            <a:extLst xmlns:a="http://schemas.openxmlformats.org/drawingml/2006/main">
              <a:ext uri="{FF2B5EF4-FFF2-40B4-BE49-F238E27FC236}">
                <a16:creationId xmlns:a16="http://schemas.microsoft.com/office/drawing/2014/main" id="{B531971F-C6B8-43E1-8D89-E78AA550331A}"/>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0D4DAA"/>
                </a:solidFill>
                <a:latin typeface="Arial"/>
                <a:ea typeface="Arial"/>
                <a:cs typeface="Arial"/>
              </a:defRPr>
            </a:pPr>
            <a:r>
              <a:rPr sz="1275" b="1">
                <a:solidFill>
                  <a:srgbClr val="0D4DAA"/>
                </a:solidFill>
                <a:latin typeface="Arial"/>
                <a:ea typeface="Arial"/>
                <a:cs typeface="Arial"/>
              </a:rPr>
              <a:t>WHAT OTHERS CAN TAKE AWAY</a:t>
            </a:r>
          </a:p>
        </p:txBody>
      </p:sp>
      <p:sp>
        <p:nvSpPr>
          <p:cNvPr id="2" name="s13-title-2">
            <a:extLst xmlns:a="http://schemas.openxmlformats.org/drawingml/2006/main">
              <a:ext uri="{FF2B5EF4-FFF2-40B4-BE49-F238E27FC236}">
                <a16:creationId xmlns:a16="http://schemas.microsoft.com/office/drawing/2014/main" id="{8F5618B7-217B-4B7C-90A5-49BB350B8492}"/>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101A2C"/>
                </a:solidFill>
                <a:latin typeface="Arial"/>
                <a:ea typeface="Arial"/>
                <a:cs typeface="Arial"/>
              </a:defRPr>
            </a:pPr>
            <a:r>
              <a:rPr sz="3600" b="1">
                <a:solidFill>
                  <a:srgbClr val="101A2C"/>
                </a:solidFill>
                <a:latin typeface="Arial"/>
                <a:ea typeface="Arial"/>
                <a:cs typeface="Arial"/>
              </a:rPr>
              <a:t>Three ways to support teacher agency</a:t>
            </a:r>
          </a:p>
        </p:txBody>
      </p:sp>
      <p:sp>
        <p:nvSpPr>
          <p:cNvPr id="3" name="s13-body-3">
            <a:extLst xmlns:a="http://schemas.openxmlformats.org/drawingml/2006/main">
              <a:ext uri="{FF2B5EF4-FFF2-40B4-BE49-F238E27FC236}">
                <a16:creationId xmlns:a16="http://schemas.microsoft.com/office/drawing/2014/main" id="{AE11321F-5C2C-4205-9643-BF034D2E93AF}"/>
              </a:ext>
            </a:extLst>
          </p:cNvPr>
          <p:cNvSpPr>
            <a:spLocks xmlns:a="http://schemas.openxmlformats.org/drawingml/2006/main" noGrp="1"/>
          </p:cNvSpPr>
          <p:nvPr/>
        </p:nvSpPr>
        <p:spPr>
          <a:xfrm xmlns:a="http://schemas.openxmlformats.org/drawingml/2006/main">
            <a:off x="609600" y="1895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0D4DAA"/>
                </a:solidFill>
                <a:latin typeface="Arial"/>
                <a:ea typeface="Arial"/>
                <a:cs typeface="Arial"/>
              </a:defRPr>
            </a:pPr>
            <a:r>
              <a:rPr sz="2325" b="1">
                <a:solidFill>
                  <a:srgbClr val="0D4DAA"/>
                </a:solidFill>
                <a:latin typeface="Arial"/>
                <a:ea typeface="Arial"/>
                <a:cs typeface="Arial"/>
              </a:rPr>
              <a:t>Teachers shape AI’s role in learning.</a:t>
            </a:r>
          </a:p>
        </p:txBody>
      </p:sp>
      <p:sp>
        <p:nvSpPr>
          <p:cNvPr id="4" name="s13-metric-4">
            <a:extLst xmlns:a="http://schemas.openxmlformats.org/drawingml/2006/main">
              <a:ext uri="{FF2B5EF4-FFF2-40B4-BE49-F238E27FC236}">
                <a16:creationId xmlns:a16="http://schemas.microsoft.com/office/drawing/2014/main" id="{DEFCCDFC-B270-4697-AFB1-956C69248E10}"/>
              </a:ext>
            </a:extLst>
          </p:cNvPr>
          <p:cNvSpPr>
            <a:spLocks xmlns:a="http://schemas.openxmlformats.org/drawingml/2006/main" noGrp="1"/>
          </p:cNvSpPr>
          <p:nvPr/>
        </p:nvSpPr>
        <p:spPr>
          <a:xfrm xmlns:a="http://schemas.openxmlformats.org/drawingml/2006/main">
            <a:off x="609600" y="2724150"/>
            <a:ext cx="5429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3750" b="1">
                <a:solidFill>
                  <a:srgbClr val="0D4DAA"/>
                </a:solidFill>
                <a:latin typeface="Arial"/>
                <a:ea typeface="Arial"/>
                <a:cs typeface="Arial"/>
              </a:defRPr>
            </a:pPr>
            <a:r>
              <a:rPr sz="3750" b="1">
                <a:solidFill>
                  <a:srgbClr val="0D4DAA"/>
                </a:solidFill>
                <a:latin typeface="Arial"/>
                <a:ea typeface="Arial"/>
                <a:cs typeface="Arial"/>
              </a:rPr>
              <a:t>1</a:t>
            </a:r>
          </a:p>
        </p:txBody>
      </p:sp>
      <p:sp>
        <p:nvSpPr>
          <p:cNvPr id="5" name="s13-body-5">
            <a:extLst xmlns:a="http://schemas.openxmlformats.org/drawingml/2006/main">
              <a:ext uri="{FF2B5EF4-FFF2-40B4-BE49-F238E27FC236}">
                <a16:creationId xmlns:a16="http://schemas.microsoft.com/office/drawing/2014/main" id="{0202B967-1B75-4EA1-9495-E71C760E8FA6}"/>
              </a:ext>
            </a:extLst>
          </p:cNvPr>
          <p:cNvSpPr>
            <a:spLocks xmlns:a="http://schemas.openxmlformats.org/drawingml/2006/main" noGrp="1"/>
          </p:cNvSpPr>
          <p:nvPr/>
        </p:nvSpPr>
        <p:spPr>
          <a:xfrm xmlns:a="http://schemas.openxmlformats.org/drawingml/2006/main">
            <a:off x="1400175" y="2743200"/>
            <a:ext cx="10182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400" b="1">
                <a:solidFill>
                  <a:srgbClr val="101A2C"/>
                </a:solidFill>
                <a:latin typeface="Arial"/>
                <a:ea typeface="Arial"/>
                <a:cs typeface="Arial"/>
              </a:defRPr>
            </a:pPr>
            <a:r>
              <a:rPr sz="2400" b="1">
                <a:solidFill>
                  <a:srgbClr val="101A2C"/>
                </a:solidFill>
                <a:latin typeface="Arial"/>
                <a:ea typeface="Arial"/>
                <a:cs typeface="Arial"/>
              </a:rPr>
              <a:t>Create room to build</a:t>
            </a:r>
          </a:p>
        </p:txBody>
      </p:sp>
      <p:sp>
        <p:nvSpPr>
          <p:cNvPr id="6" name="s13-body-6">
            <a:extLst xmlns:a="http://schemas.openxmlformats.org/drawingml/2006/main">
              <a:ext uri="{FF2B5EF4-FFF2-40B4-BE49-F238E27FC236}">
                <a16:creationId xmlns:a16="http://schemas.microsoft.com/office/drawing/2014/main" id="{6C5FD845-3117-4522-AFA8-D81C16598427}"/>
              </a:ext>
            </a:extLst>
          </p:cNvPr>
          <p:cNvSpPr>
            <a:spLocks xmlns:a="http://schemas.openxmlformats.org/drawingml/2006/main" noGrp="1"/>
          </p:cNvSpPr>
          <p:nvPr/>
        </p:nvSpPr>
        <p:spPr>
          <a:xfrm xmlns:a="http://schemas.openxmlformats.org/drawingml/2006/main">
            <a:off x="1400175" y="3162300"/>
            <a:ext cx="101822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556175"/>
                </a:solidFill>
                <a:latin typeface="Arial"/>
                <a:ea typeface="Arial"/>
                <a:cs typeface="Arial"/>
              </a:defRPr>
            </a:pPr>
            <a:r>
              <a:rPr sz="2100" b="0">
                <a:solidFill>
                  <a:srgbClr val="556175"/>
                </a:solidFill>
                <a:latin typeface="Arial"/>
                <a:ea typeface="Arial"/>
                <a:cs typeface="Arial"/>
              </a:rPr>
              <a:t>Offer access, real teaching tasks and chances to test agents.</a:t>
            </a:r>
          </a:p>
        </p:txBody>
      </p:sp>
      <p:sp>
        <p:nvSpPr>
          <p:cNvPr id="7" name="s13-metric-7">
            <a:extLst xmlns:a="http://schemas.openxmlformats.org/drawingml/2006/main">
              <a:ext uri="{FF2B5EF4-FFF2-40B4-BE49-F238E27FC236}">
                <a16:creationId xmlns:a16="http://schemas.microsoft.com/office/drawing/2014/main" id="{085616D5-EB08-4253-B860-3F88DD82AB39}"/>
              </a:ext>
            </a:extLst>
          </p:cNvPr>
          <p:cNvSpPr>
            <a:spLocks xmlns:a="http://schemas.openxmlformats.org/drawingml/2006/main" noGrp="1"/>
          </p:cNvSpPr>
          <p:nvPr/>
        </p:nvSpPr>
        <p:spPr>
          <a:xfrm xmlns:a="http://schemas.openxmlformats.org/drawingml/2006/main">
            <a:off x="609600" y="3714750"/>
            <a:ext cx="5429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3750" b="1">
                <a:solidFill>
                  <a:srgbClr val="0D4DAA"/>
                </a:solidFill>
                <a:latin typeface="Arial"/>
                <a:ea typeface="Arial"/>
                <a:cs typeface="Arial"/>
              </a:defRPr>
            </a:pPr>
            <a:r>
              <a:rPr sz="3750" b="1">
                <a:solidFill>
                  <a:srgbClr val="0D4DAA"/>
                </a:solidFill>
                <a:latin typeface="Arial"/>
                <a:ea typeface="Arial"/>
                <a:cs typeface="Arial"/>
              </a:rPr>
              <a:t>2</a:t>
            </a:r>
          </a:p>
        </p:txBody>
      </p:sp>
      <p:sp>
        <p:nvSpPr>
          <p:cNvPr id="8" name="s13-body-8">
            <a:extLst xmlns:a="http://schemas.openxmlformats.org/drawingml/2006/main">
              <a:ext uri="{FF2B5EF4-FFF2-40B4-BE49-F238E27FC236}">
                <a16:creationId xmlns:a16="http://schemas.microsoft.com/office/drawing/2014/main" id="{1C45313F-6C9F-4FD8-A9DD-FF8EAFB49FFE}"/>
              </a:ext>
            </a:extLst>
          </p:cNvPr>
          <p:cNvSpPr>
            <a:spLocks xmlns:a="http://schemas.openxmlformats.org/drawingml/2006/main" noGrp="1"/>
          </p:cNvSpPr>
          <p:nvPr/>
        </p:nvSpPr>
        <p:spPr>
          <a:xfrm xmlns:a="http://schemas.openxmlformats.org/drawingml/2006/main">
            <a:off x="1400175" y="3733800"/>
            <a:ext cx="10182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400" b="1">
                <a:solidFill>
                  <a:srgbClr val="101A2C"/>
                </a:solidFill>
                <a:latin typeface="Arial"/>
                <a:ea typeface="Arial"/>
                <a:cs typeface="Arial"/>
              </a:defRPr>
            </a:pPr>
            <a:r>
              <a:rPr sz="2400" b="1">
                <a:solidFill>
                  <a:srgbClr val="101A2C"/>
                </a:solidFill>
                <a:latin typeface="Arial"/>
                <a:ea typeface="Arial"/>
                <a:cs typeface="Arial"/>
              </a:rPr>
              <a:t>Learn from designs and revisions</a:t>
            </a:r>
          </a:p>
        </p:txBody>
      </p:sp>
      <p:sp>
        <p:nvSpPr>
          <p:cNvPr id="9" name="s13-body-9">
            <a:extLst xmlns:a="http://schemas.openxmlformats.org/drawingml/2006/main">
              <a:ext uri="{FF2B5EF4-FFF2-40B4-BE49-F238E27FC236}">
                <a16:creationId xmlns:a16="http://schemas.microsoft.com/office/drawing/2014/main" id="{B17306C5-2E5F-4380-8B46-611A16ED7542}"/>
              </a:ext>
            </a:extLst>
          </p:cNvPr>
          <p:cNvSpPr>
            <a:spLocks xmlns:a="http://schemas.openxmlformats.org/drawingml/2006/main" noGrp="1"/>
          </p:cNvSpPr>
          <p:nvPr/>
        </p:nvSpPr>
        <p:spPr>
          <a:xfrm xmlns:a="http://schemas.openxmlformats.org/drawingml/2006/main">
            <a:off x="1400175" y="4152900"/>
            <a:ext cx="101822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556175"/>
                </a:solidFill>
                <a:latin typeface="Arial"/>
                <a:ea typeface="Arial"/>
                <a:cs typeface="Arial"/>
              </a:defRPr>
            </a:pPr>
            <a:r>
              <a:rPr sz="2100" b="0">
                <a:solidFill>
                  <a:srgbClr val="556175"/>
                </a:solidFill>
                <a:latin typeface="Arial"/>
                <a:ea typeface="Arial"/>
                <a:cs typeface="Arial"/>
              </a:rPr>
              <a:t>Use teacher-made work and peer review to guide learning.</a:t>
            </a:r>
          </a:p>
        </p:txBody>
      </p:sp>
      <p:sp>
        <p:nvSpPr>
          <p:cNvPr id="10" name="s13-metric-10">
            <a:extLst xmlns:a="http://schemas.openxmlformats.org/drawingml/2006/main">
              <a:ext uri="{FF2B5EF4-FFF2-40B4-BE49-F238E27FC236}">
                <a16:creationId xmlns:a16="http://schemas.microsoft.com/office/drawing/2014/main" id="{C0631BA3-0E08-4F02-9F39-312A0366BEE5}"/>
              </a:ext>
            </a:extLst>
          </p:cNvPr>
          <p:cNvSpPr>
            <a:spLocks xmlns:a="http://schemas.openxmlformats.org/drawingml/2006/main" noGrp="1"/>
          </p:cNvSpPr>
          <p:nvPr/>
        </p:nvSpPr>
        <p:spPr>
          <a:xfrm xmlns:a="http://schemas.openxmlformats.org/drawingml/2006/main">
            <a:off x="609600" y="4705350"/>
            <a:ext cx="5429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3750" b="1">
                <a:solidFill>
                  <a:srgbClr val="0D4DAA"/>
                </a:solidFill>
                <a:latin typeface="Arial"/>
                <a:ea typeface="Arial"/>
                <a:cs typeface="Arial"/>
              </a:defRPr>
            </a:pPr>
            <a:r>
              <a:rPr sz="3750" b="1">
                <a:solidFill>
                  <a:srgbClr val="0D4DAA"/>
                </a:solidFill>
                <a:latin typeface="Arial"/>
                <a:ea typeface="Arial"/>
                <a:cs typeface="Arial"/>
              </a:rPr>
              <a:t>3</a:t>
            </a:r>
          </a:p>
        </p:txBody>
      </p:sp>
      <p:sp>
        <p:nvSpPr>
          <p:cNvPr id="11" name="s13-body-11">
            <a:extLst xmlns:a="http://schemas.openxmlformats.org/drawingml/2006/main">
              <a:ext uri="{FF2B5EF4-FFF2-40B4-BE49-F238E27FC236}">
                <a16:creationId xmlns:a16="http://schemas.microsoft.com/office/drawing/2014/main" id="{6C05650B-D2C8-46A6-8593-10E52ADBFE55}"/>
              </a:ext>
            </a:extLst>
          </p:cNvPr>
          <p:cNvSpPr>
            <a:spLocks xmlns:a="http://schemas.openxmlformats.org/drawingml/2006/main" noGrp="1"/>
          </p:cNvSpPr>
          <p:nvPr/>
        </p:nvSpPr>
        <p:spPr>
          <a:xfrm xmlns:a="http://schemas.openxmlformats.org/drawingml/2006/main">
            <a:off x="1400175" y="4724400"/>
            <a:ext cx="10182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400" b="1">
                <a:solidFill>
                  <a:srgbClr val="101A2C"/>
                </a:solidFill>
                <a:latin typeface="Arial"/>
                <a:ea typeface="Arial"/>
                <a:cs typeface="Arial"/>
              </a:defRPr>
            </a:pPr>
            <a:r>
              <a:rPr sz="2400" b="1">
                <a:solidFill>
                  <a:srgbClr val="101A2C"/>
                </a:solidFill>
                <a:latin typeface="Arial"/>
                <a:ea typeface="Arial"/>
                <a:cs typeface="Arial"/>
              </a:rPr>
              <a:t>Support teachers over time</a:t>
            </a:r>
          </a:p>
        </p:txBody>
      </p:sp>
      <p:sp>
        <p:nvSpPr>
          <p:cNvPr id="12" name="s13-body-12">
            <a:extLst xmlns:a="http://schemas.openxmlformats.org/drawingml/2006/main">
              <a:ext uri="{FF2B5EF4-FFF2-40B4-BE49-F238E27FC236}">
                <a16:creationId xmlns:a16="http://schemas.microsoft.com/office/drawing/2014/main" id="{043E1FA7-01B1-4662-BB87-566724915356}"/>
              </a:ext>
            </a:extLst>
          </p:cNvPr>
          <p:cNvSpPr>
            <a:spLocks xmlns:a="http://schemas.openxmlformats.org/drawingml/2006/main" noGrp="1"/>
          </p:cNvSpPr>
          <p:nvPr/>
        </p:nvSpPr>
        <p:spPr>
          <a:xfrm xmlns:a="http://schemas.openxmlformats.org/drawingml/2006/main">
            <a:off x="1400175" y="5143500"/>
            <a:ext cx="101822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00" b="0">
                <a:solidFill>
                  <a:srgbClr val="556175"/>
                </a:solidFill>
                <a:latin typeface="Arial"/>
                <a:ea typeface="Arial"/>
                <a:cs typeface="Arial"/>
              </a:defRPr>
            </a:pPr>
            <a:r>
              <a:rPr sz="2100" b="0">
                <a:solidFill>
                  <a:srgbClr val="556175"/>
                </a:solidFill>
                <a:latin typeface="Arial"/>
                <a:ea typeface="Arial"/>
                <a:cs typeface="Arial"/>
              </a:rPr>
              <a:t>Provide time and help. Let teachers limit or pause AI.</a:t>
            </a:r>
          </a:p>
        </p:txBody>
      </p:sp>
      <p:sp>
        <p:nvSpPr>
          <p:cNvPr id="13" name="s13-rect-13">
            <a:extLst xmlns:a="http://schemas.openxmlformats.org/drawingml/2006/main">
              <a:ext uri="{FF2B5EF4-FFF2-40B4-BE49-F238E27FC236}">
                <a16:creationId xmlns:a16="http://schemas.microsoft.com/office/drawing/2014/main" id="{733FA3E4-77BA-461D-AC4E-BE31290343FB}"/>
              </a:ext>
            </a:extLst>
          </p:cNvPr>
          <p:cNvSpPr>
            <a:spLocks xmlns:a="http://schemas.openxmlformats.org/drawingml/2006/main" noGrp="1"/>
          </p:cNvSpPr>
          <p:nvPr/>
        </p:nvSpPr>
        <p:spPr>
          <a:xfrm xmlns:a="http://schemas.openxmlformats.org/drawingml/2006/main">
            <a:off x="609600" y="5886450"/>
            <a:ext cx="10972800" cy="19050"/>
          </a:xfrm>
          <a:prstGeom xmlns:a="http://schemas.openxmlformats.org/drawingml/2006/main" prst="rect">
            <a:avLst/>
          </a:prstGeom>
          <a:solidFill xmlns:a="http://schemas.openxmlformats.org/drawingml/2006/main">
            <a:srgbClr val="CFD6DD"/>
          </a:solidFill>
          <a:ln xmlns:a="http://schemas.openxmlformats.org/drawingml/2006/main" w="0">
            <a:noFill/>
          </a:ln>
        </p:spPr>
      </p:sp>
      <p:sp>
        <p:nvSpPr>
          <p:cNvPr id="14" name="s13-takeaway-14">
            <a:extLst xmlns:a="http://schemas.openxmlformats.org/drawingml/2006/main">
              <a:ext uri="{FF2B5EF4-FFF2-40B4-BE49-F238E27FC236}">
                <a16:creationId xmlns:a16="http://schemas.microsoft.com/office/drawing/2014/main" id="{02EBB5D4-E88B-43FB-8E03-B1E18DEE2B3C}"/>
              </a:ext>
            </a:extLst>
          </p:cNvPr>
          <p:cNvSpPr>
            <a:spLocks xmlns:a="http://schemas.openxmlformats.org/drawingml/2006/main" noGrp="1"/>
          </p:cNvSpPr>
          <p:nvPr/>
        </p:nvSpPr>
        <p:spPr>
          <a:xfrm xmlns:a="http://schemas.openxmlformats.org/drawingml/2006/main">
            <a:off x="609600" y="60293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101A2C"/>
                </a:solidFill>
                <a:latin typeface="Arial"/>
                <a:ea typeface="Arial"/>
                <a:cs typeface="Arial"/>
              </a:defRPr>
            </a:pPr>
            <a:r>
              <a:rPr sz="1950" b="1">
                <a:solidFill>
                  <a:srgbClr val="101A2C"/>
                </a:solidFill>
                <a:latin typeface="Arial"/>
                <a:ea typeface="Arial"/>
                <a:cs typeface="Arial"/>
              </a:rPr>
              <a:t>Support teachers as designers and decision-makers.</a:t>
            </a:r>
          </a:p>
        </p:txBody>
      </p:sp>
      <p:sp>
        <p:nvSpPr>
          <p:cNvPr id="15" name="s13-offline-meta-15">
            <a:extLst xmlns:a="http://schemas.openxmlformats.org/drawingml/2006/main">
              <a:ext uri="{FF2B5EF4-FFF2-40B4-BE49-F238E27FC236}">
                <a16:creationId xmlns:a16="http://schemas.microsoft.com/office/drawing/2014/main" id="{36CC92D3-6BBE-4230-AD7D-5C4B6F4C22C0}"/>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556175"/>
                </a:solidFill>
                <a:latin typeface="Arial"/>
                <a:ea typeface="Arial"/>
                <a:cs typeface="Arial"/>
              </a:defRPr>
            </a:pPr>
            <a:r>
              <a:rPr sz="975" b="0">
                <a:solidFill>
                  <a:srgbClr val="556175"/>
                </a:solidFill>
                <a:latin typeface="Arial"/>
                <a:ea typeface="Arial"/>
                <a:cs typeface="Arial"/>
              </a:rPr>
              <a:t>CocoRobo · UNESCO Digital Learning Week 2026</a:t>
            </a:r>
          </a:p>
        </p:txBody>
      </p:sp>
      <p:sp>
        <p:nvSpPr>
          <p:cNvPr id="16" name="s13-offline-meta-16">
            <a:extLst xmlns:a="http://schemas.openxmlformats.org/drawingml/2006/main">
              <a:ext uri="{FF2B5EF4-FFF2-40B4-BE49-F238E27FC236}">
                <a16:creationId xmlns:a16="http://schemas.microsoft.com/office/drawing/2014/main" id="{C3A59E82-6510-4C6E-9191-7E4257A6CAD7}"/>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556175"/>
                </a:solidFill>
                <a:latin typeface="Arial"/>
                <a:ea typeface="Arial"/>
                <a:cs typeface="Arial"/>
              </a:defRPr>
            </a:pPr>
            <a:r>
              <a:rPr sz="1125" b="1">
                <a:solidFill>
                  <a:srgbClr val="556175"/>
                </a:solidFill>
                <a:latin typeface="Arial"/>
                <a:ea typeface="Arial"/>
                <a:cs typeface="Arial"/>
              </a:rPr>
              <a:t>13 / 15</a:t>
            </a:r>
          </a:p>
        </p:txBody>
      </p:sp>
    </p:spTree>
    <p:extLst>
      <p:ext uri="{BB962C8B-B14F-4D97-AF65-F5344CB8AC3E}">
        <p14:creationId xmlns:p14="http://schemas.microsoft.com/office/powerpoint/2010/main" val="1866474651"/>
      </p:ext>
    </p:extLst>
  </p:cSld>
</p:sld>
</file>

<file path=ppt/slides/slide14.xml><?xml version="1.0" encoding="utf-8"?>
<p:sld xmlns:p="http://schemas.openxmlformats.org/presentationml/2006/main">
  <p:cSld>
    <p:bg>
      <p:bgPr>
        <a:solidFill xmlns:a="http://schemas.openxmlformats.org/drawingml/2006/main">
          <a:srgbClr val="1769E0"/>
        </a:solidFill>
      </p:bgPr>
    </p:bg>
    <p:spTree>
      <p:nvGrpSpPr>
        <p:cNvPr id="1" name=""/>
        <p:cNvGrpSpPr/>
        <p:nvPr/>
      </p:nvGrpSpPr>
      <p:grpSpPr>
        <a:xfrm xmlns:a="http://schemas.openxmlformats.org/drawingml/2006/main"/>
      </p:grpSpPr>
      <p:sp>
        <p:nvSpPr>
          <p:cNvPr id="13" name="s14-kicker-1">
            <a:extLst xmlns:a="http://schemas.openxmlformats.org/drawingml/2006/main">
              <a:ext uri="{FF2B5EF4-FFF2-40B4-BE49-F238E27FC236}">
                <a16:creationId xmlns:a16="http://schemas.microsoft.com/office/drawing/2014/main" id="{A8487E35-5995-467F-95A5-6CAECE9669D2}"/>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LET’S LEARN FROM EACH OTHER</a:t>
            </a:r>
          </a:p>
        </p:txBody>
      </p:sp>
      <p:sp>
        <p:nvSpPr>
          <p:cNvPr id="2" name="s14-title-2">
            <a:extLst xmlns:a="http://schemas.openxmlformats.org/drawingml/2006/main">
              <a:ext uri="{FF2B5EF4-FFF2-40B4-BE49-F238E27FC236}">
                <a16:creationId xmlns:a16="http://schemas.microsoft.com/office/drawing/2014/main" id="{9ABD7F98-8204-4247-A2B7-AE4FA465D840}"/>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You are welcome in Shenzhen.</a:t>
            </a:r>
          </a:p>
        </p:txBody>
      </p:sp>
      <p:sp>
        <p:nvSpPr>
          <p:cNvPr id="3" name="s14-body-3">
            <a:extLst xmlns:a="http://schemas.openxmlformats.org/drawingml/2006/main">
              <a:ext uri="{FF2B5EF4-FFF2-40B4-BE49-F238E27FC236}">
                <a16:creationId xmlns:a16="http://schemas.microsoft.com/office/drawing/2014/main" id="{872505B1-7EDA-4403-A2CD-79B9311E90A4}"/>
              </a:ext>
            </a:extLst>
          </p:cNvPr>
          <p:cNvSpPr>
            <a:spLocks xmlns:a="http://schemas.openxmlformats.org/drawingml/2006/main" noGrp="1"/>
          </p:cNvSpPr>
          <p:nvPr/>
        </p:nvSpPr>
        <p:spPr>
          <a:xfrm xmlns:a="http://schemas.openxmlformats.org/drawingml/2006/main">
            <a:off x="609600" y="1990725"/>
            <a:ext cx="5429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325" b="1">
                <a:solidFill>
                  <a:srgbClr val="FFFFFF"/>
                </a:solidFill>
                <a:latin typeface="Arial"/>
                <a:ea typeface="Arial"/>
                <a:cs typeface="Arial"/>
              </a:defRPr>
            </a:pPr>
            <a:r>
              <a:rPr sz="2325" b="1">
                <a:solidFill>
                  <a:srgbClr val="FFFFFF"/>
                </a:solidFill>
                <a:latin typeface="Arial"/>
                <a:ea typeface="Arial"/>
                <a:cs typeface="Arial"/>
              </a:rPr>
              <a:t>Visit our schools. Meet the teachers. See their work in real lessons.</a:t>
            </a:r>
          </a:p>
        </p:txBody>
      </p:sp>
      <p:sp>
        <p:nvSpPr>
          <p:cNvPr id="4" name="s14-body-4">
            <a:extLst xmlns:a="http://schemas.openxmlformats.org/drawingml/2006/main">
              <a:ext uri="{FF2B5EF4-FFF2-40B4-BE49-F238E27FC236}">
                <a16:creationId xmlns:a16="http://schemas.microsoft.com/office/drawing/2014/main" id="{52E6E919-E50A-42FD-BCCC-8C0DBA0105B2}"/>
              </a:ext>
            </a:extLst>
          </p:cNvPr>
          <p:cNvSpPr>
            <a:spLocks xmlns:a="http://schemas.openxmlformats.org/drawingml/2006/main" noGrp="1"/>
          </p:cNvSpPr>
          <p:nvPr/>
        </p:nvSpPr>
        <p:spPr>
          <a:xfrm xmlns:a="http://schemas.openxmlformats.org/drawingml/2006/main">
            <a:off x="609600" y="3314700"/>
            <a:ext cx="53911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0">
                <a:solidFill>
                  <a:srgbClr val="E0EBFF"/>
                </a:solidFill>
                <a:latin typeface="Arial"/>
                <a:ea typeface="Arial"/>
                <a:cs typeface="Arial"/>
              </a:defRPr>
            </a:pPr>
            <a:r>
              <a:rPr sz="2025" b="0">
                <a:solidFill>
                  <a:srgbClr val="E0EBFF"/>
                </a:solidFill>
                <a:latin typeface="Arial"/>
                <a:ea typeface="Arial"/>
                <a:cs typeface="Arial"/>
              </a:rPr>
              <a:t>Shenzhen is honoured to host APEC this year.</a:t>
            </a:r>
          </a:p>
        </p:txBody>
      </p:sp>
      <p:sp>
        <p:nvSpPr>
          <p:cNvPr id="5" name="s14-body-5">
            <a:extLst xmlns:a="http://schemas.openxmlformats.org/drawingml/2006/main">
              <a:ext uri="{FF2B5EF4-FFF2-40B4-BE49-F238E27FC236}">
                <a16:creationId xmlns:a16="http://schemas.microsoft.com/office/drawing/2014/main" id="{922AE6FB-5063-4C8D-B5DA-E90B4F452BB3}"/>
              </a:ext>
            </a:extLst>
          </p:cNvPr>
          <p:cNvSpPr>
            <a:spLocks xmlns:a="http://schemas.openxmlformats.org/drawingml/2006/main" noGrp="1"/>
          </p:cNvSpPr>
          <p:nvPr/>
        </p:nvSpPr>
        <p:spPr>
          <a:xfrm xmlns:a="http://schemas.openxmlformats.org/drawingml/2006/main">
            <a:off x="609600" y="4229100"/>
            <a:ext cx="53911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550" b="1">
                <a:solidFill>
                  <a:srgbClr val="FFFFFF"/>
                </a:solidFill>
                <a:latin typeface="Arial"/>
                <a:ea typeface="Arial"/>
                <a:cs typeface="Arial"/>
              </a:defRPr>
            </a:pPr>
            <a:r>
              <a:rPr sz="2550" b="1">
                <a:solidFill>
                  <a:srgbClr val="FFFFFF"/>
                </a:solidFill>
                <a:latin typeface="Arial"/>
                <a:ea typeface="Arial"/>
                <a:cs typeface="Arial"/>
              </a:rPr>
              <a:t>APEC Economic Leaders’ Meeting</a:t>
            </a:r>
          </a:p>
        </p:txBody>
      </p:sp>
      <p:sp>
        <p:nvSpPr>
          <p:cNvPr id="6" name="s14-body-6">
            <a:extLst xmlns:a="http://schemas.openxmlformats.org/drawingml/2006/main">
              <a:ext uri="{FF2B5EF4-FFF2-40B4-BE49-F238E27FC236}">
                <a16:creationId xmlns:a16="http://schemas.microsoft.com/office/drawing/2014/main" id="{02EACC06-6427-468F-8366-7FF05B46FCD1}"/>
              </a:ext>
            </a:extLst>
          </p:cNvPr>
          <p:cNvSpPr>
            <a:spLocks xmlns:a="http://schemas.openxmlformats.org/drawingml/2006/main" noGrp="1"/>
          </p:cNvSpPr>
          <p:nvPr/>
        </p:nvSpPr>
        <p:spPr>
          <a:xfrm xmlns:a="http://schemas.openxmlformats.org/drawingml/2006/main">
            <a:off x="609600" y="5029200"/>
            <a:ext cx="53911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1">
                <a:solidFill>
                  <a:srgbClr val="5BE3D5"/>
                </a:solidFill>
                <a:latin typeface="Arial"/>
                <a:ea typeface="Arial"/>
                <a:cs typeface="Arial"/>
              </a:defRPr>
            </a:pPr>
            <a:r>
              <a:rPr sz="2175" b="1">
                <a:solidFill>
                  <a:srgbClr val="5BE3D5"/>
                </a:solidFill>
                <a:latin typeface="Arial"/>
                <a:ea typeface="Arial"/>
                <a:cs typeface="Arial"/>
              </a:rPr>
              <a:t>18–19 November 2026 · Shenzhen, China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3fac57ca303495c"/>
          <a:srcRect xmlns:a="http://schemas.openxmlformats.org/drawingml/2006/main" l="1072" t="0" r="1072" b="0"/>
          <a:stretch xmlns:a="http://schemas.openxmlformats.org/drawingml/2006/main">
            <a:fillRect l="0" t="0" r="0" b="0"/>
          </a:stretch>
        </p:blipFill>
        <p:spPr>
          <a:xfrm xmlns:a="http://schemas.openxmlformats.org/drawingml/2006/main">
            <a:off x="6438900" y="2009775"/>
            <a:ext cx="5143500" cy="3505200"/>
          </a:xfrm>
          <a:prstGeom xmlns:a="http://schemas.openxmlformats.org/drawingml/2006/main" prst="rect">
            <a:avLst/>
          </a:prstGeom>
        </p:spPr>
      </p:pic>
      <p:sp>
        <p:nvSpPr>
          <p:cNvPr id="8" name="s14-caption-8">
            <a:extLst xmlns:a="http://schemas.openxmlformats.org/drawingml/2006/main">
              <a:ext uri="{FF2B5EF4-FFF2-40B4-BE49-F238E27FC236}">
                <a16:creationId xmlns:a16="http://schemas.microsoft.com/office/drawing/2014/main" id="{EAB263D0-0C4D-4DEC-89AB-B34389FF25DE}"/>
              </a:ext>
            </a:extLst>
          </p:cNvPr>
          <p:cNvSpPr>
            <a:spLocks xmlns:a="http://schemas.openxmlformats.org/drawingml/2006/main" noGrp="1"/>
          </p:cNvSpPr>
          <p:nvPr/>
        </p:nvSpPr>
        <p:spPr>
          <a:xfrm xmlns:a="http://schemas.openxmlformats.org/drawingml/2006/main">
            <a:off x="6438900" y="561022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350" b="0">
                <a:solidFill>
                  <a:srgbClr val="E0EBFF"/>
                </a:solidFill>
                <a:latin typeface="Arial"/>
                <a:ea typeface="Arial"/>
                <a:cs typeface="Arial"/>
              </a:defRPr>
            </a:pPr>
            <a:r>
              <a:rPr sz="1350" b="0">
                <a:solidFill>
                  <a:srgbClr val="E0EBFF"/>
                </a:solidFill>
                <a:latin typeface="Arial"/>
                <a:ea typeface="Arial"/>
                <a:cs typeface="Arial"/>
              </a:rPr>
              <a:t>Shenzhen teacher community · city application contest</a:t>
            </a:r>
          </a:p>
        </p:txBody>
      </p:sp>
      <p:sp>
        <p:nvSpPr>
          <p:cNvPr id="9" name="s14-rect-9">
            <a:extLst xmlns:a="http://schemas.openxmlformats.org/drawingml/2006/main">
              <a:ext uri="{FF2B5EF4-FFF2-40B4-BE49-F238E27FC236}">
                <a16:creationId xmlns:a16="http://schemas.microsoft.com/office/drawing/2014/main" id="{BAA3A0E1-3BC5-444D-8B21-4FCABBB8955D}"/>
              </a:ext>
            </a:extLst>
          </p:cNvPr>
          <p:cNvSpPr>
            <a:spLocks xmlns:a="http://schemas.openxmlformats.org/drawingml/2006/main" noGrp="1"/>
          </p:cNvSpPr>
          <p:nvPr/>
        </p:nvSpPr>
        <p:spPr>
          <a:xfrm xmlns:a="http://schemas.openxmlformats.org/drawingml/2006/main">
            <a:off x="609600" y="5962650"/>
            <a:ext cx="10972800" cy="19050"/>
          </a:xfrm>
          <a:prstGeom xmlns:a="http://schemas.openxmlformats.org/drawingml/2006/main" prst="rect">
            <a:avLst/>
          </a:prstGeom>
          <a:solidFill xmlns:a="http://schemas.openxmlformats.org/drawingml/2006/main">
            <a:srgbClr val="79A8EB"/>
          </a:solidFill>
          <a:ln xmlns:a="http://schemas.openxmlformats.org/drawingml/2006/main" w="0">
            <a:noFill/>
          </a:ln>
        </p:spPr>
      </p:sp>
      <p:sp>
        <p:nvSpPr>
          <p:cNvPr id="10" name="s14-takeaway-10">
            <a:extLst xmlns:a="http://schemas.openxmlformats.org/drawingml/2006/main">
              <a:ext uri="{FF2B5EF4-FFF2-40B4-BE49-F238E27FC236}">
                <a16:creationId xmlns:a16="http://schemas.microsoft.com/office/drawing/2014/main" id="{E1E90E5F-04F2-4D52-AF48-900F27F0402F}"/>
              </a:ext>
            </a:extLst>
          </p:cNvPr>
          <p:cNvSpPr>
            <a:spLocks xmlns:a="http://schemas.openxmlformats.org/drawingml/2006/main" noGrp="1"/>
          </p:cNvSpPr>
          <p:nvPr/>
        </p:nvSpPr>
        <p:spPr>
          <a:xfrm xmlns:a="http://schemas.openxmlformats.org/drawingml/2006/main">
            <a:off x="609600" y="61055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950" b="1">
                <a:solidFill>
                  <a:srgbClr val="FFFFFF"/>
                </a:solidFill>
                <a:latin typeface="Arial"/>
                <a:ea typeface="Arial"/>
                <a:cs typeface="Arial"/>
              </a:defRPr>
            </a:pPr>
            <a:r>
              <a:rPr sz="1950" b="1">
                <a:solidFill>
                  <a:srgbClr val="FFFFFF"/>
                </a:solidFill>
                <a:latin typeface="Arial"/>
                <a:ea typeface="Arial"/>
                <a:cs typeface="Arial"/>
              </a:rPr>
              <a:t>Contact me to explore a school visit and exchange ideas.</a:t>
            </a:r>
          </a:p>
        </p:txBody>
      </p:sp>
      <p:sp>
        <p:nvSpPr>
          <p:cNvPr id="11" name="s14-offline-meta-11">
            <a:extLst xmlns:a="http://schemas.openxmlformats.org/drawingml/2006/main">
              <a:ext uri="{FF2B5EF4-FFF2-40B4-BE49-F238E27FC236}">
                <a16:creationId xmlns:a16="http://schemas.microsoft.com/office/drawing/2014/main" id="{B7C46576-46AE-46AB-BE2E-4CFBEF8E1F80}"/>
              </a:ext>
            </a:extLst>
          </p:cNvPr>
          <p:cNvSpPr>
            <a:spLocks xmlns:a="http://schemas.openxmlformats.org/drawingml/2006/main" noGrp="1"/>
          </p:cNvSpPr>
          <p:nvPr/>
        </p:nvSpPr>
        <p:spPr>
          <a:xfrm xmlns:a="http://schemas.openxmlformats.org/drawingml/2006/main">
            <a:off x="609600" y="6534150"/>
            <a:ext cx="904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975" b="0">
                <a:solidFill>
                  <a:srgbClr val="E0EBFF"/>
                </a:solidFill>
                <a:latin typeface="Arial"/>
                <a:ea typeface="Arial"/>
                <a:cs typeface="Arial"/>
              </a:defRPr>
            </a:pPr>
            <a:r>
              <a:rPr sz="975" b="0">
                <a:solidFill>
                  <a:srgbClr val="E0EBFF"/>
                </a:solidFill>
                <a:latin typeface="Arial"/>
                <a:ea typeface="Arial"/>
                <a:cs typeface="Arial"/>
              </a:rPr>
              <a:t>CocoRobo · UNESCO Digital Learning Week 2026</a:t>
            </a:r>
          </a:p>
        </p:txBody>
      </p:sp>
      <p:sp>
        <p:nvSpPr>
          <p:cNvPr id="12" name="s14-offline-meta-12">
            <a:extLst xmlns:a="http://schemas.openxmlformats.org/drawingml/2006/main">
              <a:ext uri="{FF2B5EF4-FFF2-40B4-BE49-F238E27FC236}">
                <a16:creationId xmlns:a16="http://schemas.microsoft.com/office/drawing/2014/main" id="{2515E2CE-95E1-40B4-B290-9A30309C1FC0}"/>
              </a:ext>
            </a:extLst>
          </p:cNvPr>
          <p:cNvSpPr>
            <a:spLocks xmlns:a="http://schemas.openxmlformats.org/drawingml/2006/main" noGrp="1"/>
          </p:cNvSpPr>
          <p:nvPr/>
        </p:nvSpPr>
        <p:spPr>
          <a:xfrm xmlns:a="http://schemas.openxmlformats.org/drawingml/2006/main">
            <a:off x="10668000" y="649605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6000"/>
              </a:lnSpc>
              <a:buNone/>
              <a:defRPr sz="1125" b="1">
                <a:solidFill>
                  <a:srgbClr val="E0EBFF"/>
                </a:solidFill>
                <a:latin typeface="Arial"/>
                <a:ea typeface="Arial"/>
                <a:cs typeface="Arial"/>
              </a:defRPr>
            </a:pPr>
            <a:r>
              <a:rPr sz="1125" b="1">
                <a:solidFill>
                  <a:srgbClr val="E0EBFF"/>
                </a:solidFill>
                <a:latin typeface="Arial"/>
                <a:ea typeface="Arial"/>
                <a:cs typeface="Arial"/>
              </a:rPr>
              <a:t>14 / 15</a:t>
            </a:r>
          </a:p>
        </p:txBody>
      </p:sp>
    </p:spTree>
    <p:extLst>
      <p:ext uri="{BB962C8B-B14F-4D97-AF65-F5344CB8AC3E}">
        <p14:creationId xmlns:p14="http://schemas.microsoft.com/office/powerpoint/2010/main" val="1529737106"/>
      </p:ext>
    </p:extLst>
  </p:cSld>
</p:sld>
</file>

<file path=ppt/slides/slide15.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sp>
        <p:nvSpPr>
          <p:cNvPr id="13" name="s15-kicker-1">
            <a:extLst xmlns:a="http://schemas.openxmlformats.org/drawingml/2006/main">
              <a:ext uri="{FF2B5EF4-FFF2-40B4-BE49-F238E27FC236}">
                <a16:creationId xmlns:a16="http://schemas.microsoft.com/office/drawing/2014/main" id="{E9E2F977-953C-44F6-9117-F525A2F09E47}"/>
              </a:ext>
            </a:extLst>
          </p:cNvPr>
          <p:cNvSpPr>
            <a:spLocks xmlns:a="http://schemas.openxmlformats.org/drawingml/2006/main" noGrp="1"/>
          </p:cNvSpPr>
          <p:nvPr/>
        </p:nvSpPr>
        <p:spPr>
          <a:xfrm xmlns:a="http://schemas.openxmlformats.org/drawingml/2006/main">
            <a:off x="609600" y="53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275" b="1">
                <a:solidFill>
                  <a:srgbClr val="5BE3D5"/>
                </a:solidFill>
                <a:latin typeface="Arial"/>
                <a:ea typeface="Arial"/>
                <a:cs typeface="Arial"/>
              </a:defRPr>
            </a:pPr>
            <a:r>
              <a:rPr sz="1275" b="1">
                <a:solidFill>
                  <a:srgbClr val="5BE3D5"/>
                </a:solidFill>
                <a:latin typeface="Arial"/>
                <a:ea typeface="Arial"/>
                <a:cs typeface="Arial"/>
              </a:rPr>
              <a:t>VISIT · SHARE · COLLABORATE</a:t>
            </a:r>
          </a:p>
        </p:txBody>
      </p:sp>
      <p:sp>
        <p:nvSpPr>
          <p:cNvPr id="2" name="s15-title-2">
            <a:extLst xmlns:a="http://schemas.openxmlformats.org/drawingml/2006/main">
              <a:ext uri="{FF2B5EF4-FFF2-40B4-BE49-F238E27FC236}">
                <a16:creationId xmlns:a16="http://schemas.microsoft.com/office/drawing/2014/main" id="{D5FD14C7-9D1C-4119-9C43-0FF153BFE6D8}"/>
              </a:ext>
            </a:extLst>
          </p:cNvPr>
          <p:cNvSpPr>
            <a:spLocks xmlns:a="http://schemas.openxmlformats.org/drawingml/2006/main" noGrp="1"/>
          </p:cNvSpPr>
          <p:nvPr/>
        </p:nvSpPr>
        <p:spPr>
          <a:xfrm xmlns:a="http://schemas.openxmlformats.org/drawingml/2006/main">
            <a:off x="609600" y="9239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3600" b="1">
                <a:solidFill>
                  <a:srgbClr val="FFFFFF"/>
                </a:solidFill>
                <a:latin typeface="Arial"/>
                <a:ea typeface="Arial"/>
                <a:cs typeface="Arial"/>
              </a:defRPr>
            </a:pPr>
            <a:r>
              <a:rPr sz="3600" b="1">
                <a:solidFill>
                  <a:srgbClr val="FFFFFF"/>
                </a:solidFill>
                <a:latin typeface="Arial"/>
                <a:ea typeface="Arial"/>
                <a:cs typeface="Arial"/>
              </a:rPr>
              <a:t>Let’s keep learning together.</a:t>
            </a:r>
          </a:p>
        </p:txBody>
      </p:sp>
      <p:sp>
        <p:nvSpPr>
          <p:cNvPr id="3" name="s15-body-3">
            <a:extLst xmlns:a="http://schemas.openxmlformats.org/drawingml/2006/main">
              <a:ext uri="{FF2B5EF4-FFF2-40B4-BE49-F238E27FC236}">
                <a16:creationId xmlns:a16="http://schemas.microsoft.com/office/drawing/2014/main" id="{F2E7B85F-A09D-4125-AAC5-6DDFAA7AB1FE}"/>
              </a:ext>
            </a:extLst>
          </p:cNvPr>
          <p:cNvSpPr>
            <a:spLocks xmlns:a="http://schemas.openxmlformats.org/drawingml/2006/main" noGrp="1"/>
          </p:cNvSpPr>
          <p:nvPr/>
        </p:nvSpPr>
        <p:spPr>
          <a:xfrm xmlns:a="http://schemas.openxmlformats.org/drawingml/2006/main">
            <a:off x="609600" y="1905000"/>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175" b="0">
                <a:solidFill>
                  <a:srgbClr val="C2CDDB"/>
                </a:solidFill>
                <a:latin typeface="Arial"/>
                <a:ea typeface="Arial"/>
                <a:cs typeface="Arial"/>
              </a:defRPr>
            </a:pPr>
            <a:r>
              <a:rPr sz="2175" b="0">
                <a:solidFill>
                  <a:srgbClr val="C2CDDB"/>
                </a:solidFill>
                <a:latin typeface="Arial"/>
                <a:ea typeface="Arial"/>
                <a:cs typeface="Arial"/>
              </a:rPr>
              <a:t>Scan the slides or explore the full submission and research.</a:t>
            </a:r>
          </a:p>
        </p:txBody>
      </p:sp>
      <p:sp>
        <p:nvSpPr>
          <p:cNvPr id="4" name="s15-subheading-4">
            <a:extLst xmlns:a="http://schemas.openxmlformats.org/drawingml/2006/main">
              <a:ext uri="{FF2B5EF4-FFF2-40B4-BE49-F238E27FC236}">
                <a16:creationId xmlns:a16="http://schemas.microsoft.com/office/drawing/2014/main" id="{299C2361-7DFD-4B6C-8CCC-06CAE76DD4D0}"/>
              </a:ext>
            </a:extLst>
          </p:cNvPr>
          <p:cNvSpPr>
            <a:spLocks xmlns:a="http://schemas.openxmlformats.org/drawingml/2006/main" noGrp="1"/>
          </p:cNvSpPr>
          <p:nvPr/>
        </p:nvSpPr>
        <p:spPr>
          <a:xfrm xmlns:a="http://schemas.openxmlformats.org/drawingml/2006/main">
            <a:off x="609600" y="2886075"/>
            <a:ext cx="5257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2475" b="1">
                <a:solidFill>
                  <a:srgbClr val="FFFFFF"/>
                </a:solidFill>
                <a:latin typeface="Arial"/>
                <a:ea typeface="Arial"/>
                <a:cs typeface="Arial"/>
              </a:defRPr>
            </a:pPr>
            <a:r>
              <a:rPr sz="2475" b="1">
                <a:solidFill>
                  <a:srgbClr val="FFFFFF"/>
                </a:solidFill>
                <a:latin typeface="Arial"/>
                <a:ea typeface="Arial"/>
                <a:cs typeface="Arial"/>
              </a:rPr>
              <a:t>This presentation</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51d37bb86ac54d67"/>
          <a:stretch xmlns:a="http://schemas.openxmlformats.org/drawingml/2006/main"/>
        </p:blipFill>
        <p:spPr>
          <a:xfrm xmlns:a="http://schemas.openxmlformats.org/drawingml/2006/main">
            <a:off x="2057400" y="3381375"/>
            <a:ext cx="2362200" cy="2362200"/>
          </a:xfrm>
          <a:prstGeom xmlns:a="http://schemas.openxmlformats.org/drawingml/2006/main" prst="rect">
            <a:avLst/>
          </a:prstGeom>
        </p:spPr>
      </p:pic>
      <p:sp>
        <p:nvSpPr>
          <p:cNvPr id="6" name="s15-caption-6">
            <a:extLst xmlns:a="http://schemas.openxmlformats.org/drawingml/2006/main">
              <a:ext uri="{FF2B5EF4-FFF2-40B4-BE49-F238E27FC236}">
                <a16:creationId xmlns:a16="http://schemas.microsoft.com/office/drawing/2014/main" id="{DBB394D9-0206-4042-927E-625057D4271E}"/>
              </a:ext>
            </a:extLst>
          </p:cNvPr>
          <p:cNvSpPr>
            <a:spLocks xmlns:a="http://schemas.openxmlformats.org/drawingml/2006/main" noGrp="1"/>
          </p:cNvSpPr>
          <p:nvPr/>
        </p:nvSpPr>
        <p:spPr>
          <a:xfrm xmlns:a="http://schemas.openxmlformats.org/drawingml/2006/main">
            <a:off x="609600" y="5867400"/>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1575" b="0">
                <a:solidFill>
                  <a:srgbClr val="C2CDDB"/>
                </a:solidFill>
                <a:latin typeface="Arial"/>
                <a:ea typeface="Arial"/>
                <a:cs typeface="Arial"/>
              </a:defRPr>
            </a:pPr>
            <a:r>
              <a:rPr sz="1575" b="0">
                <a:solidFill>
                  <a:srgbClr val="C2CDDB"/>
                </a:solidFill>
                <a:latin typeface="Arial"/>
                <a:ea typeface="Arial"/>
                <a:cs typeface="Arial"/>
                <a:hlinkClick xmlns:r="http://schemas.openxmlformats.org/officeDocument/2006/relationships" r:id="R85b3a129bbce4c6f"/>
              </a:rPr>
              <a:t>Online slides · current version</a:t>
            </a:r>
          </a:p>
        </p:txBody>
      </p:sp>
      <p:sp>
        <p:nvSpPr>
          <p:cNvPr id="7" name="s15-subheading-7">
            <a:extLst xmlns:a="http://schemas.openxmlformats.org/drawingml/2006/main">
              <a:ext uri="{FF2B5EF4-FFF2-40B4-BE49-F238E27FC236}">
                <a16:creationId xmlns:a16="http://schemas.microsoft.com/office/drawing/2014/main" id="{B3C92501-269B-47D5-A467-D74B0AEFF32E}"/>
              </a:ext>
            </a:extLst>
          </p:cNvPr>
          <p:cNvSpPr>
            <a:spLocks xmlns:a="http://schemas.openxmlformats.org/drawingml/2006/main" noGrp="1"/>
          </p:cNvSpPr>
          <p:nvPr/>
        </p:nvSpPr>
        <p:spPr>
          <a:xfrm xmlns:a="http://schemas.openxmlformats.org/drawingml/2006/main">
            <a:off x="6248400" y="2886075"/>
            <a:ext cx="5257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2475" b="1">
                <a:solidFill>
                  <a:srgbClr val="FFFFFF"/>
                </a:solidFill>
                <a:latin typeface="Arial"/>
                <a:ea typeface="Arial"/>
                <a:cs typeface="Arial"/>
              </a:defRPr>
            </a:pPr>
            <a:r>
              <a:rPr sz="2475" b="1">
                <a:solidFill>
                  <a:srgbClr val="FFFFFF"/>
                </a:solidFill>
                <a:latin typeface="Arial"/>
                <a:ea typeface="Arial"/>
                <a:cs typeface="Arial"/>
              </a:rPr>
              <a:t>Submission materials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56c833d478b4be9"/>
          <a:stretch xmlns:a="http://schemas.openxmlformats.org/drawingml/2006/main"/>
        </p:blipFill>
        <p:spPr>
          <a:xfrm xmlns:a="http://schemas.openxmlformats.org/drawingml/2006/main">
            <a:off x="7696200" y="3381375"/>
            <a:ext cx="2362200" cy="2362200"/>
          </a:xfrm>
          <a:prstGeom xmlns:a="http://schemas.openxmlformats.org/drawingml/2006/main" prst="rect">
            <a:avLst/>
          </a:prstGeom>
        </p:spPr>
      </p:pic>
      <p:sp>
        <p:nvSpPr>
          <p:cNvPr id="9" name="s15-caption-9">
            <a:extLst xmlns:a="http://schemas.openxmlformats.org/drawingml/2006/main">
              <a:ext uri="{FF2B5EF4-FFF2-40B4-BE49-F238E27FC236}">
                <a16:creationId xmlns:a16="http://schemas.microsoft.com/office/drawing/2014/main" id="{93DF96E9-0FDC-4FD9-8440-2AE87D9F5A4D}"/>
              </a:ext>
            </a:extLst>
          </p:cNvPr>
          <p:cNvSpPr>
            <a:spLocks xmlns:a="http://schemas.openxmlformats.org/drawingml/2006/main" noGrp="1"/>
          </p:cNvSpPr>
          <p:nvPr/>
        </p:nvSpPr>
        <p:spPr>
          <a:xfrm xmlns:a="http://schemas.openxmlformats.org/drawingml/2006/main">
            <a:off x="6248400" y="5867400"/>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1575" b="0">
                <a:solidFill>
                  <a:srgbClr val="C2CDDB"/>
                </a:solidFill>
                <a:latin typeface="Arial"/>
                <a:ea typeface="Arial"/>
                <a:cs typeface="Arial"/>
              </a:defRPr>
            </a:pPr>
            <a:r>
              <a:rPr sz="1575" b="0">
                <a:solidFill>
                  <a:srgbClr val="C2CDDB"/>
                </a:solidFill>
                <a:latin typeface="Arial"/>
                <a:ea typeface="Arial"/>
                <a:cs typeface="Arial"/>
                <a:hlinkClick xmlns:r="http://schemas.openxmlformats.org/officeDocument/2006/relationships" r:id="R38c5cfd9b530423c"/>
              </a:rPr>
              <a:t>UNESCO submission · studies and evidence</a:t>
            </a:r>
          </a:p>
        </p:txBody>
      </p:sp>
      <p:sp>
        <p:nvSpPr>
          <p:cNvPr id="10" name="s15-body-10">
            <a:extLst xmlns:a="http://schemas.openxmlformats.org/drawingml/2006/main">
              <a:ext uri="{FF2B5EF4-FFF2-40B4-BE49-F238E27FC236}">
                <a16:creationId xmlns:a16="http://schemas.microsoft.com/office/drawing/2014/main" id="{A3EAB45E-EDE1-4EBF-A061-AEFCBC4A1E20}"/>
              </a:ext>
            </a:extLst>
          </p:cNvPr>
          <p:cNvSpPr>
            <a:spLocks xmlns:a="http://schemas.openxmlformats.org/drawingml/2006/main" noGrp="1"/>
          </p:cNvSpPr>
          <p:nvPr/>
        </p:nvSpPr>
        <p:spPr>
          <a:xfrm xmlns:a="http://schemas.openxmlformats.org/drawingml/2006/main">
            <a:off x="609600" y="2543175"/>
            <a:ext cx="7096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00" b="1">
                <a:solidFill>
                  <a:srgbClr val="5BE3D5"/>
                </a:solidFill>
                <a:latin typeface="Arial"/>
                <a:ea typeface="Arial"/>
                <a:cs typeface="Arial"/>
              </a:defRPr>
            </a:pPr>
            <a:r>
              <a:rPr sz="1800" b="1">
                <a:solidFill>
                  <a:srgbClr val="5BE3D5"/>
                </a:solidFill>
                <a:latin typeface="Arial"/>
                <a:ea typeface="Arial"/>
                <a:cs typeface="Arial"/>
              </a:rPr>
              <a:t>Haiyang Xin · Founder &amp; CEO, CocoRobo Ltd.</a:t>
            </a:r>
          </a:p>
        </p:txBody>
      </p:sp>
      <p:sp>
        <p:nvSpPr>
          <p:cNvPr id="11" name="s15-body-11">
            <a:extLst xmlns:a="http://schemas.openxmlformats.org/drawingml/2006/main">
              <a:ext uri="{FF2B5EF4-FFF2-40B4-BE49-F238E27FC236}">
                <a16:creationId xmlns:a16="http://schemas.microsoft.com/office/drawing/2014/main" id="{FF864064-36B4-460C-9C5F-CDD9607C652C}"/>
              </a:ext>
            </a:extLst>
          </p:cNvPr>
          <p:cNvSpPr>
            <a:spLocks xmlns:a="http://schemas.openxmlformats.org/drawingml/2006/main" noGrp="1"/>
          </p:cNvSpPr>
          <p:nvPr/>
        </p:nvSpPr>
        <p:spPr>
          <a:xfrm xmlns:a="http://schemas.openxmlformats.org/drawingml/2006/main">
            <a:off x="8143875" y="2543175"/>
            <a:ext cx="34385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2025" b="1">
                <a:solidFill>
                  <a:srgbClr val="5BE3D5"/>
                </a:solidFill>
                <a:latin typeface="Arial"/>
                <a:ea typeface="Arial"/>
                <a:cs typeface="Arial"/>
              </a:defRPr>
            </a:pPr>
            <a:r>
              <a:rPr sz="2025" b="1">
                <a:solidFill>
                  <a:srgbClr val="5BE3D5"/>
                </a:solidFill>
                <a:latin typeface="Arial"/>
                <a:ea typeface="Arial"/>
                <a:cs typeface="Arial"/>
                <a:hlinkClick xmlns:r="http://schemas.openxmlformats.org/officeDocument/2006/relationships" r:id="R612fd3ee803248f7"/>
              </a:rPr>
              <a:t>tony@cocorobo.cc</a:t>
            </a:r>
          </a:p>
        </p:txBody>
      </p:sp>
      <p:sp>
        <p:nvSpPr>
          <p:cNvPr id="12" name="s15-contact-prompt-12">
            <a:extLst xmlns:a="http://schemas.openxmlformats.org/drawingml/2006/main">
              <a:ext uri="{FF2B5EF4-FFF2-40B4-BE49-F238E27FC236}">
                <a16:creationId xmlns:a16="http://schemas.microsoft.com/office/drawing/2014/main" id="{0E204BBB-3ACD-4FB1-B3F5-3E44D6C93216}"/>
              </a:ext>
            </a:extLst>
          </p:cNvPr>
          <p:cNvSpPr>
            <a:spLocks xmlns:a="http://schemas.openxmlformats.org/drawingml/2006/main" noGrp="1"/>
          </p:cNvSpPr>
          <p:nvPr/>
        </p:nvSpPr>
        <p:spPr>
          <a:xfrm xmlns:a="http://schemas.openxmlformats.org/drawingml/2006/main">
            <a:off x="609600" y="63150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16000"/>
              </a:lnSpc>
              <a:buNone/>
              <a:defRPr sz="1500" b="0">
                <a:solidFill>
                  <a:srgbClr val="C2CDDB"/>
                </a:solidFill>
                <a:latin typeface="Arial"/>
                <a:ea typeface="Arial"/>
                <a:cs typeface="Arial"/>
              </a:defRPr>
            </a:pPr>
            <a:r>
              <a:rPr sz="1500" b="0">
                <a:solidFill>
                  <a:srgbClr val="C2CDDB"/>
                </a:solidFill>
                <a:latin typeface="Arial"/>
                <a:ea typeface="Arial"/>
                <a:cs typeface="Arial"/>
              </a:rPr>
              <a:t>Contact me to arrange a school visit.</a:t>
            </a:r>
          </a:p>
        </p:txBody>
      </p:sp>
    </p:spTree>
    <p:extLst>
      <p:ext uri="{BB962C8B-B14F-4D97-AF65-F5344CB8AC3E}">
        <p14:creationId xmlns:p14="http://schemas.microsoft.com/office/powerpoint/2010/main" val="7259620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2026-09-08T04:52:42.0870000Z</dcterms:created>
  <dcterms:modified xsi:type="dcterms:W3CDTF">2026-09-08T04:52:42.0870000Z</dcterms:modified>
</coreProperties>
</file>