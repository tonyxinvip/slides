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ff656dc35846f5" /><Relationship Type="http://schemas.openxmlformats.org/officeDocument/2006/relationships/extended-properties" Target="/docProps/app.xml" Id="R1abb209984f44c40" /><Relationship Type="http://schemas.openxmlformats.org/officeDocument/2006/relationships/officeDocument" Target="/ppt/presentation.xml" Id="Re38c9910512f49ec" /></Relationships>
</file>

<file path=ppt/presentation.xml><?xml version="1.0" encoding="utf-8"?>
<p:presentation xmlns:p="http://schemas.openxmlformats.org/presentationml/2006/main">
  <p:sldMasterIdLst>
    <p:sldMasterId xmlns:r="http://schemas.openxmlformats.org/officeDocument/2006/relationships" id="2147483648" r:id="R48405a69e4614717"/>
  </p:sldMasterIdLst>
  <p:notesMasterIdLst>
    <p:notesMasterId xmlns:r="http://schemas.openxmlformats.org/officeDocument/2006/relationships" r:id="R9c749ed487924e87"/>
  </p:notesMasterIdLst>
  <p:sldIdLst>
    <p:sldId xmlns:r="http://schemas.openxmlformats.org/officeDocument/2006/relationships" id="256" r:id="R5821a14114fd4370"/>
    <p:sldId xmlns:r="http://schemas.openxmlformats.org/officeDocument/2006/relationships" id="257" r:id="Rf5281db394dc46e4"/>
    <p:sldId xmlns:r="http://schemas.openxmlformats.org/officeDocument/2006/relationships" id="258" r:id="Rd16e6d804c784ef5"/>
    <p:sldId xmlns:r="http://schemas.openxmlformats.org/officeDocument/2006/relationships" id="259" r:id="Re3c3f8acf6d844c8"/>
    <p:sldId xmlns:r="http://schemas.openxmlformats.org/officeDocument/2006/relationships" id="260" r:id="Rb0f689da1fbb4c46"/>
    <p:sldId xmlns:r="http://schemas.openxmlformats.org/officeDocument/2006/relationships" id="261" r:id="R314bbdeab3ff41f4"/>
    <p:sldId xmlns:r="http://schemas.openxmlformats.org/officeDocument/2006/relationships" id="262" r:id="R554e3e3d12684621"/>
    <p:sldId xmlns:r="http://schemas.openxmlformats.org/officeDocument/2006/relationships" id="263" r:id="R66668b0f64e147d5"/>
    <p:sldId xmlns:r="http://schemas.openxmlformats.org/officeDocument/2006/relationships" id="264" r:id="R7564a762fa184f3d"/>
    <p:sldId xmlns:r="http://schemas.openxmlformats.org/officeDocument/2006/relationships" id="265" r:id="R45c74a90bebc4e69"/>
    <p:sldId xmlns:r="http://schemas.openxmlformats.org/officeDocument/2006/relationships" id="266" r:id="R61a40ada6dbe4506"/>
    <p:sldId xmlns:r="http://schemas.openxmlformats.org/officeDocument/2006/relationships" id="267" r:id="R8ea32a308c8f46dd"/>
    <p:sldId xmlns:r="http://schemas.openxmlformats.org/officeDocument/2006/relationships" id="268" r:id="Rab57e6024a3047f2"/>
    <p:sldId xmlns:r="http://schemas.openxmlformats.org/officeDocument/2006/relationships" id="269" r:id="R3d596b2512a94a0c"/>
    <p:sldId xmlns:r="http://schemas.openxmlformats.org/officeDocument/2006/relationships" id="270" r:id="Rfdc6b0bf9cc14f86"/>
    <p:sldId xmlns:r="http://schemas.openxmlformats.org/officeDocument/2006/relationships" id="271" r:id="Rcbde2bce756c480e"/>
    <p:sldId xmlns:r="http://schemas.openxmlformats.org/officeDocument/2006/relationships" id="272" r:id="R2f90c78b346243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43c0b078cd4b00" /><Relationship Type="http://schemas.openxmlformats.org/officeDocument/2006/relationships/slideMaster" Target="/ppt/slideMasters/slideMaster1.xml" Id="R48405a69e4614717" /><Relationship Type="http://schemas.openxmlformats.org/officeDocument/2006/relationships/notesMaster" Target="/ppt/notesMasters/notesMaster1.xml" Id="R9c749ed487924e87" /><Relationship Type="http://schemas.openxmlformats.org/officeDocument/2006/relationships/presProps" Target="/ppt/presProps.xml" Id="R257e9f4812b24c07" /><Relationship Type="http://schemas.openxmlformats.org/officeDocument/2006/relationships/tableStyles" Target="/ppt/tableStyles.xml" Id="R7e0fad3067634a9c" /><Relationship Type="http://schemas.openxmlformats.org/officeDocument/2006/relationships/slide" Target="/ppt/slides/slide1.xml" Id="R5821a14114fd4370" /><Relationship Type="http://schemas.openxmlformats.org/officeDocument/2006/relationships/slide" Target="/ppt/slides/slide2.xml" Id="Rf5281db394dc46e4" /><Relationship Type="http://schemas.openxmlformats.org/officeDocument/2006/relationships/slide" Target="/ppt/slides/slide3.xml" Id="Rd16e6d804c784ef5" /><Relationship Type="http://schemas.openxmlformats.org/officeDocument/2006/relationships/slide" Target="/ppt/slides/slide4.xml" Id="Re3c3f8acf6d844c8" /><Relationship Type="http://schemas.openxmlformats.org/officeDocument/2006/relationships/slide" Target="/ppt/slides/slide5.xml" Id="Rb0f689da1fbb4c46" /><Relationship Type="http://schemas.openxmlformats.org/officeDocument/2006/relationships/slide" Target="/ppt/slides/slide6.xml" Id="R314bbdeab3ff41f4" /><Relationship Type="http://schemas.openxmlformats.org/officeDocument/2006/relationships/slide" Target="/ppt/slides/slide7.xml" Id="R554e3e3d12684621" /><Relationship Type="http://schemas.openxmlformats.org/officeDocument/2006/relationships/slide" Target="/ppt/slides/slide8.xml" Id="R66668b0f64e147d5" /><Relationship Type="http://schemas.openxmlformats.org/officeDocument/2006/relationships/slide" Target="/ppt/slides/slide9.xml" Id="R7564a762fa184f3d" /><Relationship Type="http://schemas.openxmlformats.org/officeDocument/2006/relationships/slide" Target="/ppt/slides/slide10.xml" Id="R45c74a90bebc4e69" /><Relationship Type="http://schemas.openxmlformats.org/officeDocument/2006/relationships/slide" Target="/ppt/slides/slide11.xml" Id="R61a40ada6dbe4506" /><Relationship Type="http://schemas.openxmlformats.org/officeDocument/2006/relationships/slide" Target="/ppt/slides/slide12.xml" Id="R8ea32a308c8f46dd" /><Relationship Type="http://schemas.openxmlformats.org/officeDocument/2006/relationships/slide" Target="/ppt/slides/slide13.xml" Id="Rab57e6024a3047f2" /><Relationship Type="http://schemas.openxmlformats.org/officeDocument/2006/relationships/slide" Target="/ppt/slides/slide14.xml" Id="R3d596b2512a94a0c" /><Relationship Type="http://schemas.openxmlformats.org/officeDocument/2006/relationships/slide" Target="/ppt/slides/slide15.xml" Id="Rfdc6b0bf9cc14f86" /><Relationship Type="http://schemas.openxmlformats.org/officeDocument/2006/relationships/slide" Target="/ppt/slides/slide16.xml" Id="Rcbde2bce756c480e" /><Relationship Type="http://schemas.openxmlformats.org/officeDocument/2006/relationships/slide" Target="/ppt/slides/slide17.xml" Id="R2f90c78b346243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73db8220e946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e697a0f8c7442e" /><Relationship Type="http://schemas.openxmlformats.org/officeDocument/2006/relationships/notesMaster" Target="/ppt/notesMasters/notesMaster1.xml" Id="R020e2614b28f49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14361e09174d3b" /><Relationship Type="http://schemas.openxmlformats.org/officeDocument/2006/relationships/notesMaster" Target="/ppt/notesMasters/notesMaster1.xml" Id="R14c19c3d86dd42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a9640ee51b400a" /><Relationship Type="http://schemas.openxmlformats.org/officeDocument/2006/relationships/notesMaster" Target="/ppt/notesMasters/notesMaster1.xml" Id="Ra37ab73af9aa44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32f5173a6c4ae5" /><Relationship Type="http://schemas.openxmlformats.org/officeDocument/2006/relationships/notesMaster" Target="/ppt/notesMasters/notesMaster1.xml" Id="R4d478b1e93734f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3c29d63afc24369" /><Relationship Type="http://schemas.openxmlformats.org/officeDocument/2006/relationships/notesMaster" Target="/ppt/notesMasters/notesMaster1.xml" Id="R8058615152e14c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9209a85843466a" /><Relationship Type="http://schemas.openxmlformats.org/officeDocument/2006/relationships/notesMaster" Target="/ppt/notesMasters/notesMaster1.xml" Id="R01cc13554fca4e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6725baf366c441f" /><Relationship Type="http://schemas.openxmlformats.org/officeDocument/2006/relationships/notesMaster" Target="/ppt/notesMasters/notesMaster1.xml" Id="R482a24ad3b3b48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70b63d2d734262" /><Relationship Type="http://schemas.openxmlformats.org/officeDocument/2006/relationships/notesMaster" Target="/ppt/notesMasters/notesMaster1.xml" Id="R3f93e8f967c941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18306c577e49ac" /><Relationship Type="http://schemas.openxmlformats.org/officeDocument/2006/relationships/notesMaster" Target="/ppt/notesMasters/notesMaster1.xml" Id="R0cdc7a3d3c3d4d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ebc9de7fc4645f4" /><Relationship Type="http://schemas.openxmlformats.org/officeDocument/2006/relationships/notesMaster" Target="/ppt/notesMasters/notesMaster1.xml" Id="Rfbb81b73e7534f8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c3d5eb5bd624481" /><Relationship Type="http://schemas.openxmlformats.org/officeDocument/2006/relationships/notesMaster" Target="/ppt/notesMasters/notesMaster1.xml" Id="R5952b26aec4248a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58a961255e4e61" /><Relationship Type="http://schemas.openxmlformats.org/officeDocument/2006/relationships/notesMaster" Target="/ppt/notesMasters/notesMaster1.xml" Id="R7274dc67fc64449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7bdba55a1c44443" /><Relationship Type="http://schemas.openxmlformats.org/officeDocument/2006/relationships/notesMaster" Target="/ppt/notesMasters/notesMaster1.xml" Id="Rc8e66d7604de44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4f2759c22a4eb9" /><Relationship Type="http://schemas.openxmlformats.org/officeDocument/2006/relationships/notesMaster" Target="/ppt/notesMasters/notesMaster1.xml" Id="Rab243dc8bd294c7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2e36aefd1244dd" /><Relationship Type="http://schemas.openxmlformats.org/officeDocument/2006/relationships/notesMaster" Target="/ppt/notesMasters/notesMaster1.xml" Id="R4e799e0b74c74e2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113c61e01184f14" /><Relationship Type="http://schemas.openxmlformats.org/officeDocument/2006/relationships/notesMaster" Target="/ppt/notesMasters/notesMaster1.xml" Id="R1491f8f9f50a47b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f59e496e2d646f0" /><Relationship Type="http://schemas.openxmlformats.org/officeDocument/2006/relationships/notesMaster" Target="/ppt/notesMasters/notesMaster1.xml" Id="Re334199cff6a4f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The official PDF cover downloads were unavailable; this slide uses native English text and links to the official notice, without recreated or invented document images.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pingshan-training.webp from the original presentation, programme context. It shows teachers discussing designs. The classroom image on slide 2 is the supplied Pingshan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Photo: Shenzhen Education Bureau source deck, slide 2 (city-s2-img3.jpeg), teacher application-contest community. This photo is not an APEC venue or event.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d226084d434f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c25b0daad14a10" /><Relationship Type="http://schemas.openxmlformats.org/officeDocument/2006/relationships/slideLayout" Target="/ppt/slideLayouts/slideLayout1.xml" Id="Rf6ea66b2064d4ba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ea66b2064d4ba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a1a7b1eb6a941ab" /><Relationship Type="http://schemas.openxmlformats.org/officeDocument/2006/relationships/image" Target="/ppt/media/image.jpeg" Id="R79daf29065f6405e" /><Relationship Type="http://schemas.openxmlformats.org/officeDocument/2006/relationships/image" Target="/ppt/media/image.png" Id="R411ae20a6fdc4b75" /><Relationship Type="http://schemas.openxmlformats.org/officeDocument/2006/relationships/notesSlide" Target="/ppt/notesSlides/notesSlide1.xml" Id="R9f9dbece22f84be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6624d992004c62" /><Relationship Type="http://schemas.openxmlformats.org/officeDocument/2006/relationships/image" Target="/ppt/media/image2.jpeg" Id="R510bc96076c0425d" /><Relationship Type="http://schemas.openxmlformats.org/officeDocument/2006/relationships/notesSlide" Target="/ppt/notesSlides/notesSlide2.xml" Id="Ra104496e2db54f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9becc05de444a4a" /><Relationship Type="http://schemas.openxmlformats.org/officeDocument/2006/relationships/notesSlide" Target="/ppt/notesSlides/notesSlide3.xml" Id="R623aeb7dc4fa41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3628be91ed418c" /><Relationship Type="http://schemas.openxmlformats.org/officeDocument/2006/relationships/hyperlink" Target="https://www.xinhui.gov.cn/gzjg/qzfgzbm/jmsxhqjyj/zcwj/content/post_3281407.html" TargetMode="External" Id="R57c845d2da4b478a" /><Relationship Type="http://schemas.openxmlformats.org/officeDocument/2006/relationships/hyperlink" Target="https://www.xinhui.gov.cn/gzjg/qzfgzbm/jmsxhqjyj/zcwj/content/post_3281407.html" TargetMode="External" Id="R27cfdaa59dcd4082" /><Relationship Type="http://schemas.openxmlformats.org/officeDocument/2006/relationships/hyperlink" Target="https://www.xinhui.gov.cn/gzjg/qzfgzbm/jmsxhqjyj/zcwj/content/post_3281407.html" TargetMode="External" Id="Rc6c87849a519487d" /><Relationship Type="http://schemas.openxmlformats.org/officeDocument/2006/relationships/notesSlide" Target="/ppt/notesSlides/notesSlide4.xml" Id="Rbf8fc928c33b48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26887a214a4b7e" /><Relationship Type="http://schemas.openxmlformats.org/officeDocument/2006/relationships/image" Target="/ppt/media/image3.jpeg" Id="R94bb3e5e31a3416e" /><Relationship Type="http://schemas.openxmlformats.org/officeDocument/2006/relationships/image" Target="/ppt/media/image4.jpeg" Id="R9f62a231292340b7" /><Relationship Type="http://schemas.openxmlformats.org/officeDocument/2006/relationships/notesSlide" Target="/ppt/notesSlides/notesSlide5.xml" Id="R981e1236505c41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141fa88e464cf0" /><Relationship Type="http://schemas.openxmlformats.org/officeDocument/2006/relationships/image" Target="/ppt/media/image5.jpeg" Id="R1517f7e98b06462f" /><Relationship Type="http://schemas.openxmlformats.org/officeDocument/2006/relationships/notesSlide" Target="/ppt/notesSlides/notesSlide6.xml" Id="Ra0874185e75f4d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662ff4d54f4769" /><Relationship Type="http://schemas.openxmlformats.org/officeDocument/2006/relationships/image" Target="/ppt/media/image6.jpeg" Id="R5c6212cc3ac643e8" /><Relationship Type="http://schemas.openxmlformats.org/officeDocument/2006/relationships/notesSlide" Target="/ppt/notesSlides/notesSlide7.xml" Id="Re258d4d1db8646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653d63871504dfc" /><Relationship Type="http://schemas.openxmlformats.org/officeDocument/2006/relationships/image" Target="/ppt/media/image7.jpeg" Id="R69049649d56c4e99" /><Relationship Type="http://schemas.openxmlformats.org/officeDocument/2006/relationships/notesSlide" Target="/ppt/notesSlides/notesSlide8.xml" Id="Rd54e877e94d04e4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fecd519ab224d86" /><Relationship Type="http://schemas.openxmlformats.org/officeDocument/2006/relationships/image" Target="/ppt/media/image8.jpeg" Id="R30aead142a354874" /><Relationship Type="http://schemas.openxmlformats.org/officeDocument/2006/relationships/notesSlide" Target="/ppt/notesSlides/notesSlide9.xml" Id="R353d6c183f7c43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ff33fef3ccf4539" /><Relationship Type="http://schemas.openxmlformats.org/officeDocument/2006/relationships/notesSlide" Target="/ppt/notesSlides/notesSlide10.xml" Id="R29dbea6c97814d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089a2d7c8484bee" /><Relationship Type="http://schemas.openxmlformats.org/officeDocument/2006/relationships/image" Target="/ppt/media/image9.jpeg" Id="R70713cf0943d4707" /><Relationship Type="http://schemas.openxmlformats.org/officeDocument/2006/relationships/notesSlide" Target="/ppt/notesSlides/notesSlide11.xml" Id="R3eed817e972144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46c6ce6f8f04c81" /><Relationship Type="http://schemas.openxmlformats.org/officeDocument/2006/relationships/image" Target="/ppt/media/image10.jpeg" Id="R24c7336b9e8c40f0" /><Relationship Type="http://schemas.openxmlformats.org/officeDocument/2006/relationships/notesSlide" Target="/ppt/notesSlides/notesSlide12.xml" Id="R77ec42592f0544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3c2b0977b3940f8" /><Relationship Type="http://schemas.openxmlformats.org/officeDocument/2006/relationships/notesSlide" Target="/ppt/notesSlides/notesSlide13.xml" Id="R067fe062c2014b5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d4585875ec460a" /><Relationship Type="http://schemas.openxmlformats.org/officeDocument/2006/relationships/notesSlide" Target="/ppt/notesSlides/notesSlide14.xml" Id="R044272763aaf439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807420abf254350" /><Relationship Type="http://schemas.openxmlformats.org/officeDocument/2006/relationships/notesSlide" Target="/ppt/notesSlides/notesSlide15.xml" Id="R2c103ca0de974e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b69155a481e4a0a" /><Relationship Type="http://schemas.openxmlformats.org/officeDocument/2006/relationships/image" Target="/ppt/media/image11.jpeg" Id="R80a3bb7bf6b24b83" /><Relationship Type="http://schemas.openxmlformats.org/officeDocument/2006/relationships/notesSlide" Target="/ppt/notesSlides/notesSlide16.xml" Id="R88d3323f8ec344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94b62df7ab646e7" /><Relationship Type="http://schemas.openxmlformats.org/officeDocument/2006/relationships/image" Target="/ppt/media/image2.png" Id="Rc0e787b4ef3441f8" /><Relationship Type="http://schemas.openxmlformats.org/officeDocument/2006/relationships/hyperlink" Target="https://tonyxinvip.github.io/slides/teacher-agent-creators-10min/" TargetMode="External" Id="R6883c29427ec4558" /><Relationship Type="http://schemas.openxmlformats.org/officeDocument/2006/relationships/image" Target="/ppt/media/image3.png" Id="R6e48471ad3f44ac6" /><Relationship Type="http://schemas.openxmlformats.org/officeDocument/2006/relationships/hyperlink" Target="https://cocorobo.hk/unesco2026/teacher/" TargetMode="External" Id="Rfda14a1aa63c4785" /><Relationship Type="http://schemas.openxmlformats.org/officeDocument/2006/relationships/hyperlink" Target="mailto:tony@cocorobo.cc" TargetMode="External" Id="Rc6d0d416d2a0493d" /><Relationship Type="http://schemas.openxmlformats.org/officeDocument/2006/relationships/notesSlide" Target="/ppt/notesSlides/notesSlide17.xml" Id="R41dc69ce259b436a" /></Relationships>
</file>

<file path=ppt/slides/slide1.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9daf29065f6405e"/>
          <a:srcRect xmlns:a="http://schemas.openxmlformats.org/drawingml/2006/main" l="12154" t="0" r="12154" b="0"/>
          <a:stretch xmlns:a="http://schemas.openxmlformats.org/drawingml/2006/main">
            <a:fillRect l="0" t="0" r="0" b="0"/>
          </a:stretch>
        </p:blipFill>
        <p:spPr>
          <a:xfrm xmlns:a="http://schemas.openxmlformats.org/drawingml/2006/main">
            <a:off x="7410450" y="1438275"/>
            <a:ext cx="4171950" cy="4133850"/>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11ae20a6fdc4b75"/>
          <a:stretch xmlns:a="http://schemas.openxmlformats.org/drawingml/2006/main"/>
        </p:blipFill>
        <p:spPr>
          <a:xfrm xmlns:a="http://schemas.openxmlformats.org/drawingml/2006/main">
            <a:off x="609600" y="619125"/>
            <a:ext cx="400050" cy="400050"/>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133475" y="647700"/>
            <a:ext cx="19526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820150" y="619125"/>
            <a:ext cx="276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050" b="1">
                <a:solidFill>
                  <a:srgbClr val="C2CDDB"/>
                </a:solidFill>
                <a:latin typeface="Arial"/>
                <a:ea typeface="Arial"/>
                <a:cs typeface="Arial"/>
              </a:defRPr>
            </a:pPr>
            <a:r>
              <a:rPr sz="1050" b="1">
                <a:solidFill>
                  <a:srgbClr val="C2CDDB"/>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820150" y="857250"/>
            <a:ext cx="276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820150" y="12382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609600" y="1952625"/>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609600" y="2543175"/>
            <a:ext cx="67056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5100" b="1">
                <a:solidFill>
                  <a:srgbClr val="FFFFFF"/>
                </a:solidFill>
                <a:latin typeface="Arial"/>
                <a:ea typeface="Arial"/>
                <a:cs typeface="Arial"/>
              </a:defRPr>
            </a:pPr>
            <a:r>
              <a:rPr sz="5100" b="1">
                <a:solidFill>
                  <a:srgbClr val="FFFFFF"/>
                </a:solidFill>
                <a:latin typeface="Arial"/>
                <a:ea typeface="Arial"/>
                <a:cs typeface="Arial"/>
              </a:rPr>
              <a:t>From AI Tool Users</a:t>
            </a:r>
          </a:p>
          <a:p xmlns:a="http://schemas.openxmlformats.org/drawingml/2006/main">
            <a:pPr algn="l">
              <a:lnSpc>
                <a:spcPct val="102000"/>
              </a:lnSpc>
              <a:buNone/>
              <a:defRPr sz="5100" b="1">
                <a:solidFill>
                  <a:srgbClr val="FFFFFF"/>
                </a:solidFill>
                <a:latin typeface="Arial"/>
                <a:ea typeface="Arial"/>
                <a:cs typeface="Arial"/>
              </a:defRPr>
            </a:pPr>
            <a:r>
              <a:rPr sz="5100" b="1">
                <a:solidFill>
                  <a:srgbClr val="FFFFFF"/>
                </a:solidFill>
                <a:latin typeface="Arial"/>
                <a:ea typeface="Arial"/>
                <a:cs typeface="Arial"/>
              </a:rPr>
              <a:t>to AI Agent 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609600" y="4562475"/>
            <a:ext cx="61531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0">
                <a:solidFill>
                  <a:srgbClr val="C2CDDB"/>
                </a:solidFill>
                <a:latin typeface="Arial"/>
                <a:ea typeface="Arial"/>
                <a:cs typeface="Arial"/>
              </a:defRPr>
            </a:pPr>
            <a:r>
              <a:rPr sz="2325" b="0">
                <a:solidFill>
                  <a:srgbClr val="C2CDDB"/>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609600" y="5905500"/>
            <a:ext cx="819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715500" y="5953125"/>
            <a:ext cx="186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500" b="0">
                <a:solidFill>
                  <a:srgbClr val="C2CDDB"/>
                </a:solidFill>
                <a:latin typeface="Arial"/>
                <a:ea typeface="Arial"/>
                <a:cs typeface="Arial"/>
              </a:defRPr>
            </a:pPr>
            <a:r>
              <a:rPr sz="1500" b="0">
                <a:solidFill>
                  <a:srgbClr val="C2CDDB"/>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609600" y="18002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609600" y="23241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575" b="0">
                <a:solidFill>
                  <a:srgbClr val="556175"/>
                </a:solidFill>
                <a:latin typeface="Arial"/>
                <a:ea typeface="Arial"/>
                <a:cs typeface="Arial"/>
              </a:defRPr>
            </a:pPr>
            <a:r>
              <a:rPr sz="1575" b="0">
                <a:solidFill>
                  <a:srgbClr val="556175"/>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609600" y="2714625"/>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101A2C"/>
                </a:solidFill>
                <a:latin typeface="Arial"/>
                <a:ea typeface="Arial"/>
                <a:cs typeface="Arial"/>
              </a:defRPr>
            </a:pPr>
            <a:r>
              <a:rPr sz="2100" b="1">
                <a:solidFill>
                  <a:srgbClr val="101A2C"/>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609600" y="30765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609600" y="3724275"/>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101A2C"/>
                </a:solidFill>
                <a:latin typeface="Arial"/>
                <a:ea typeface="Arial"/>
                <a:cs typeface="Arial"/>
              </a:defRPr>
            </a:pPr>
            <a:r>
              <a:rPr sz="2100" b="1">
                <a:solidFill>
                  <a:srgbClr val="101A2C"/>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609600" y="408622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609600" y="4733925"/>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101A2C"/>
                </a:solidFill>
                <a:latin typeface="Arial"/>
                <a:ea typeface="Arial"/>
                <a:cs typeface="Arial"/>
              </a:defRPr>
            </a:pPr>
            <a:r>
              <a:rPr sz="2100" b="1">
                <a:solidFill>
                  <a:srgbClr val="101A2C"/>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609600" y="50958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Turn a teaching plan into support that can be tested, reused and revised.</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10bc96076c0425d"/>
          <a:stretch xmlns:a="http://schemas.openxmlformats.org/drawingml/2006/main"/>
        </p:blipFill>
        <p:spPr>
          <a:xfrm xmlns:a="http://schemas.openxmlformats.org/drawingml/2006/main">
            <a:off x="6728052" y="2886075"/>
            <a:ext cx="4660446" cy="2609850"/>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553075"/>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609600" y="592455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609600" y="60674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02 / 17</a:t>
            </a:r>
          </a:p>
        </p:txBody>
      </p:sp>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769E0"/>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609600" y="18859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0">
                <a:solidFill>
                  <a:srgbClr val="E0EBFF"/>
                </a:solidFill>
                <a:latin typeface="Arial"/>
                <a:ea typeface="Arial"/>
                <a:cs typeface="Arial"/>
              </a:defRPr>
            </a:pPr>
            <a:r>
              <a:rPr sz="2400" b="0">
                <a:solidFill>
                  <a:srgbClr val="E0EBFF"/>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609600" y="2857500"/>
            <a:ext cx="5238750" cy="28575"/>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609600" y="3076575"/>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925" b="1">
                <a:solidFill>
                  <a:srgbClr val="FFFFFF"/>
                </a:solidFill>
                <a:latin typeface="Arial"/>
                <a:ea typeface="Arial"/>
                <a:cs typeface="Arial"/>
              </a:defRPr>
            </a:pPr>
            <a:r>
              <a:rPr sz="2925"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609600" y="3667125"/>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E0EBFF"/>
                </a:solidFill>
                <a:latin typeface="Arial"/>
                <a:ea typeface="Arial"/>
                <a:cs typeface="Arial"/>
              </a:defRPr>
            </a:pPr>
            <a:r>
              <a:rPr sz="2175" b="0">
                <a:solidFill>
                  <a:srgbClr val="E0EBFF"/>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86500" y="2857500"/>
            <a:ext cx="5238750" cy="28575"/>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86500" y="3076575"/>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925" b="1">
                <a:solidFill>
                  <a:srgbClr val="FFFFFF"/>
                </a:solidFill>
                <a:latin typeface="Arial"/>
                <a:ea typeface="Arial"/>
                <a:cs typeface="Arial"/>
              </a:defRPr>
            </a:pPr>
            <a:r>
              <a:rPr sz="2925"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86500" y="3667125"/>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E0EBFF"/>
                </a:solidFill>
                <a:latin typeface="Arial"/>
                <a:ea typeface="Arial"/>
                <a:cs typeface="Arial"/>
              </a:defRPr>
            </a:pPr>
            <a:r>
              <a:rPr sz="2175" b="0">
                <a:solidFill>
                  <a:srgbClr val="E0EBFF"/>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609600" y="5057775"/>
            <a:ext cx="2762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5550" b="1">
                <a:solidFill>
                  <a:srgbClr val="5BE3D5"/>
                </a:solidFill>
                <a:latin typeface="Arial"/>
                <a:ea typeface="Arial"/>
                <a:cs typeface="Arial"/>
              </a:defRPr>
            </a:pPr>
            <a:r>
              <a:rPr sz="5550" b="1">
                <a:solidFill>
                  <a:srgbClr val="5BE3D5"/>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600450" y="5114925"/>
            <a:ext cx="7429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FFFFFF"/>
                </a:solidFill>
                <a:latin typeface="Arial"/>
                <a:ea typeface="Arial"/>
                <a:cs typeface="Arial"/>
              </a:defRPr>
            </a:pPr>
            <a:r>
              <a:rPr sz="2100" b="0">
                <a:solidFill>
                  <a:srgbClr val="FFFFFF"/>
                </a:solidFill>
                <a:latin typeface="Arial"/>
                <a:ea typeface="Arial"/>
                <a:cs typeface="Arial"/>
              </a:rPr>
              <a:t>teachers reached across four Shenzhen districts 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609600" y="60579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650" b="0">
                <a:solidFill>
                  <a:srgbClr val="E0EBFF"/>
                </a:solidFill>
                <a:latin typeface="Arial"/>
                <a:ea typeface="Arial"/>
                <a:cs typeface="Arial"/>
              </a:defRPr>
            </a:pPr>
            <a:r>
              <a:rPr sz="1650" b="0">
                <a:solidFill>
                  <a:srgbClr val="E0EBFF"/>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E0EBFF"/>
                </a:solidFill>
                <a:latin typeface="Arial"/>
                <a:ea typeface="Arial"/>
                <a:cs typeface="Arial"/>
              </a:defRPr>
            </a:pPr>
            <a:r>
              <a:rPr sz="975" b="0">
                <a:solidFill>
                  <a:srgbClr val="E0EBFF"/>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E0EBFF"/>
                </a:solidFill>
                <a:latin typeface="Arial"/>
                <a:ea typeface="Arial"/>
                <a:cs typeface="Arial"/>
              </a:defRPr>
            </a:pPr>
            <a:r>
              <a:rPr sz="1125" b="1">
                <a:solidFill>
                  <a:srgbClr val="E0EBFF"/>
                </a:solidFill>
                <a:latin typeface="Arial"/>
                <a:ea typeface="Arial"/>
                <a:cs typeface="Arial"/>
              </a:rPr>
              <a:t>03 / 17</a:t>
            </a:r>
          </a:p>
        </p:txBody>
      </p:sp>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Guangdong: shared goals 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609600" y="18288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1">
                <a:solidFill>
                  <a:srgbClr val="0D4DAA"/>
                </a:solidFill>
                <a:latin typeface="Arial"/>
                <a:ea typeface="Arial"/>
                <a:cs typeface="Arial"/>
              </a:defRPr>
            </a:pPr>
            <a:r>
              <a:rPr sz="2250" b="1">
                <a:solidFill>
                  <a:srgbClr val="0D4DAA"/>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609600" y="2876550"/>
            <a:ext cx="3429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7950" b="1">
                <a:solidFill>
                  <a:srgbClr val="0D4DAA"/>
                </a:solidFill>
                <a:latin typeface="Arial"/>
                <a:ea typeface="Arial"/>
                <a:cs typeface="Arial"/>
              </a:defRPr>
            </a:pPr>
            <a:r>
              <a:rPr sz="7950" b="1">
                <a:solidFill>
                  <a:srgbClr val="0D4DAA"/>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609600" y="4457700"/>
            <a:ext cx="31908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725" b="0">
                <a:solidFill>
                  <a:srgbClr val="556175"/>
                </a:solidFill>
                <a:latin typeface="Arial"/>
                <a:ea typeface="Arial"/>
                <a:cs typeface="Arial"/>
              </a:defRPr>
            </a:pPr>
            <a:r>
              <a:rPr sz="1725" b="0">
                <a:solidFill>
                  <a:srgbClr val="556175"/>
                </a:solidFill>
                <a:latin typeface="Arial"/>
                <a:ea typeface="Arial"/>
                <a:cs typeface="Arial"/>
                <a:hlinkClick xmlns:r="http://schemas.openxmlformats.org/officeDocument/2006/relationships" r:id="R57c845d2da4b478a"/>
              </a:rPr>
              <a:t>Guangdong Department</a:t>
            </a:r>
          </a:p>
          <a:p xmlns:a="http://schemas.openxmlformats.org/drawingml/2006/main">
            <a:pPr algn="l">
              <a:lnSpc>
                <a:spcPct val="116000"/>
              </a:lnSpc>
              <a:buNone/>
              <a:defRPr sz="1725" b="0">
                <a:solidFill>
                  <a:srgbClr val="556175"/>
                </a:solidFill>
                <a:latin typeface="Arial"/>
                <a:ea typeface="Arial"/>
                <a:cs typeface="Arial"/>
              </a:defRPr>
            </a:pPr>
            <a:r>
              <a:rPr sz="1725" b="0">
                <a:solidFill>
                  <a:srgbClr val="556175"/>
                </a:solidFill>
                <a:latin typeface="Arial"/>
                <a:ea typeface="Arial"/>
                <a:cs typeface="Arial"/>
                <a:hlinkClick xmlns:r="http://schemas.openxmlformats.org/officeDocument/2006/relationships" r:id="R27cfdaa59dcd4082"/>
              </a:rPr>
              <a:t>of Education · 9 April 2025</a:t>
            </a:r>
          </a:p>
          <a:p xmlns:a="http://schemas.openxmlformats.org/drawingml/2006/main">
            <a:pPr algn="l">
              <a:lnSpc>
                <a:spcPct val="116000"/>
              </a:lnSpc>
              <a:buNone/>
              <a:defRPr sz="1725" b="0">
                <a:solidFill>
                  <a:srgbClr val="556175"/>
                </a:solidFill>
                <a:latin typeface="Arial"/>
                <a:ea typeface="Arial"/>
                <a:cs typeface="Arial"/>
              </a:defRPr>
            </a:pPr>
            <a:r>
              <a:rPr sz="1725" b="0">
                <a:solidFill>
                  <a:srgbClr val="556175"/>
                </a:solidFill>
                <a:latin typeface="Arial"/>
                <a:ea typeface="Arial"/>
                <a:cs typeface="Arial"/>
                <a:hlinkClick xmlns:r="http://schemas.openxmlformats.org/officeDocument/2006/relationships" r:id="Rc6c87849a519487d"/>
              </a:rPr>
              <a:t>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4400550" y="2695575"/>
            <a:ext cx="7181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4400550" y="3143250"/>
            <a:ext cx="704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4400550" y="3733800"/>
            <a:ext cx="7181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4400550" y="4181475"/>
            <a:ext cx="704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4400550" y="4772025"/>
            <a:ext cx="7181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4400550" y="5219700"/>
            <a:ext cx="704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609600" y="592455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609600" y="60674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04 / 17</a:t>
            </a:r>
          </a:p>
        </p:txBody>
      </p:sp>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Shenzhen: access 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609600" y="2362200"/>
            <a:ext cx="5257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609600" y="3048000"/>
            <a:ext cx="5257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609600" y="3943350"/>
            <a:ext cx="5257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609600" y="4629150"/>
            <a:ext cx="5257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Three city contests drew over 2,000 teachers.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4bb3e5e31a3416e"/>
          <a:stretch xmlns:a="http://schemas.openxmlformats.org/drawingml/2006/main"/>
        </p:blipFill>
        <p:spPr>
          <a:xfrm xmlns:a="http://schemas.openxmlformats.org/drawingml/2006/main">
            <a:off x="7486615" y="2076450"/>
            <a:ext cx="3105220" cy="1695450"/>
          </a:xfrm>
          <a:prstGeom xmlns:a="http://schemas.openxmlformats.org/drawingml/2006/main" prst="rect">
            <a:avLst/>
          </a:prstGeom>
        </p:spPr>
      </p:pic>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f62a231292340b7"/>
          <a:srcRect xmlns:a="http://schemas.openxmlformats.org/drawingml/2006/main" l="0" t="24809" r="0" b="24809"/>
          <a:stretch xmlns:a="http://schemas.openxmlformats.org/drawingml/2006/main">
            <a:fillRect l="0" t="0" r="0" b="0"/>
          </a:stretch>
        </p:blipFill>
        <p:spPr>
          <a:xfrm xmlns:a="http://schemas.openxmlformats.org/drawingml/2006/main">
            <a:off x="6496050" y="3905250"/>
            <a:ext cx="5086350" cy="143827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496050" y="5429250"/>
            <a:ext cx="5086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609600" y="575310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609600" y="58959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05 / 17</a:t>
            </a:r>
          </a:p>
        </p:txBody>
      </p:sp>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609600" y="2343150"/>
            <a:ext cx="49720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1">
                <a:solidFill>
                  <a:srgbClr val="FFFFFF"/>
                </a:solidFill>
                <a:latin typeface="Arial"/>
                <a:ea typeface="Arial"/>
                <a:cs typeface="Arial"/>
              </a:defRPr>
            </a:pPr>
            <a:r>
              <a:rPr sz="2250"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609600" y="3028950"/>
            <a:ext cx="49720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609600" y="3771900"/>
            <a:ext cx="49720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1">
                <a:solidFill>
                  <a:srgbClr val="FFFFFF"/>
                </a:solidFill>
                <a:latin typeface="Arial"/>
                <a:ea typeface="Arial"/>
                <a:cs typeface="Arial"/>
              </a:defRPr>
            </a:pPr>
            <a:r>
              <a:rPr sz="2250"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609600" y="4457700"/>
            <a:ext cx="49720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In English practice, AI gives feedback. Teachers set the standards.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517f7e98b06462f"/>
          <a:srcRect xmlns:a="http://schemas.openxmlformats.org/drawingml/2006/main" l="9911" t="0" r="9911" b="0"/>
          <a:stretch xmlns:a="http://schemas.openxmlformats.org/drawingml/2006/main">
            <a:fillRect l="0" t="0" r="0" b="0"/>
          </a:stretch>
        </p:blipFill>
        <p:spPr>
          <a:xfrm xmlns:a="http://schemas.openxmlformats.org/drawingml/2006/main">
            <a:off x="6057900" y="2219325"/>
            <a:ext cx="5524500" cy="2743200"/>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6057900" y="5114925"/>
            <a:ext cx="552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C2CDDB"/>
                </a:solidFill>
                <a:latin typeface="Arial"/>
                <a:ea typeface="Arial"/>
                <a:cs typeface="Arial"/>
              </a:defRPr>
            </a:pPr>
            <a:r>
              <a:rPr sz="1350" b="0">
                <a:solidFill>
                  <a:srgbClr val="C2CDDB"/>
                </a:solidFill>
                <a:latin typeface="Arial"/>
                <a:ea typeface="Arial"/>
                <a:cs typeface="Arial"/>
              </a:rPr>
              <a:t>Teachers discuss their agent designs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725" b="1">
                <a:solidFill>
                  <a:srgbClr val="5BE3D5"/>
                </a:solidFill>
                <a:latin typeface="Arial"/>
                <a:ea typeface="Arial"/>
                <a:cs typeface="Arial"/>
              </a:defRPr>
            </a:pPr>
            <a:r>
              <a:rPr sz="1725" b="1">
                <a:solidFill>
                  <a:srgbClr val="5BE3D5"/>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609600" y="5915025"/>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609600" y="6057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06 / 17</a:t>
            </a:r>
          </a:p>
        </p:txBody>
      </p:sp>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09600" y="225742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09600" y="2943225"/>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09600" y="38862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09600" y="4572000"/>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Turn the criteria into an AI analysis tool. Try it in class and use teacher feedback.</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c6212cc3ac643e8"/>
          <a:srcRect xmlns:a="http://schemas.openxmlformats.org/drawingml/2006/main" l="3932" t="0" r="3932" b="0"/>
          <a:stretch xmlns:a="http://schemas.openxmlformats.org/drawingml/2006/main">
            <a:fillRect l="0" t="0" r="0" b="0"/>
          </a:stretch>
        </p:blipFill>
        <p:spPr>
          <a:xfrm xmlns:a="http://schemas.openxmlformats.org/drawingml/2006/main">
            <a:off x="6324600" y="2143125"/>
            <a:ext cx="5257800" cy="320992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6324600" y="5495925"/>
            <a:ext cx="5257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609600" y="5972175"/>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609600" y="61150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07 / 17</a:t>
            </a:r>
          </a:p>
        </p:txBody>
      </p:sp>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609600" y="216217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609600" y="253365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609600" y="299085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609600" y="336232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609600" y="381952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609600" y="419100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609600" y="464820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609600" y="501967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Use learning data to give feedback.</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69049649d56c4e99"/>
          <a:stretch xmlns:a="http://schemas.openxmlformats.org/drawingml/2006/main"/>
        </p:blipFill>
        <p:spPr>
          <a:xfrm xmlns:a="http://schemas.openxmlformats.org/drawingml/2006/main">
            <a:off x="6965774" y="2524125"/>
            <a:ext cx="4365978" cy="22669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715125" y="4933950"/>
            <a:ext cx="48672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609600" y="55530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425" b="0">
                <a:solidFill>
                  <a:srgbClr val="556175"/>
                </a:solidFill>
                <a:latin typeface="Arial"/>
                <a:ea typeface="Arial"/>
                <a:cs typeface="Arial"/>
              </a:defRPr>
            </a:pPr>
            <a:r>
              <a:rPr sz="1425" b="0">
                <a:solidFill>
                  <a:srgbClr val="556175"/>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609600" y="5915025"/>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609600" y="6057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08 / 17</a:t>
            </a:r>
          </a:p>
        </p:txBody>
      </p:sp>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Why does practice 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609600" y="18192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556175"/>
                </a:solidFill>
                <a:latin typeface="Arial"/>
                <a:ea typeface="Arial"/>
                <a:cs typeface="Arial"/>
              </a:defRPr>
            </a:pPr>
            <a:r>
              <a:rPr sz="2175" b="0">
                <a:solidFill>
                  <a:srgbClr val="556175"/>
                </a:solidFill>
                <a:latin typeface="Arial"/>
                <a:ea typeface="Arial"/>
                <a:cs typeface="Arial"/>
              </a:rPr>
              <a:t>A working example is a start. We also need to understand how it works.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0aead142a354874"/>
          <a:srcRect xmlns:a="http://schemas.openxmlformats.org/drawingml/2006/main" l="0" t="6756" r="0" b="6756"/>
          <a:stretch xmlns:a="http://schemas.openxmlformats.org/drawingml/2006/main">
            <a:fillRect l="0" t="0" r="0" b="0"/>
          </a:stretch>
        </p:blipFill>
        <p:spPr>
          <a:xfrm xmlns:a="http://schemas.openxmlformats.org/drawingml/2006/main">
            <a:off x="609600" y="2924175"/>
            <a:ext cx="5086350" cy="2476500"/>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609600" y="5514975"/>
            <a:ext cx="5086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200775" y="2819400"/>
            <a:ext cx="5381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200775" y="3200400"/>
            <a:ext cx="5381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200775" y="3781425"/>
            <a:ext cx="5381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200775" y="4162425"/>
            <a:ext cx="5381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200775" y="4743450"/>
            <a:ext cx="5381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200775" y="5124450"/>
            <a:ext cx="5381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609600" y="5934075"/>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609600" y="60769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09 / 17</a:t>
            </a:r>
          </a:p>
        </p:txBody>
      </p:sp>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A year of practice, 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609600" y="18383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1">
                <a:solidFill>
                  <a:srgbClr val="5BE3D5"/>
                </a:solidFill>
                <a:latin typeface="Arial"/>
                <a:ea typeface="Arial"/>
                <a:cs typeface="Arial"/>
              </a:defRPr>
            </a:pPr>
            <a:r>
              <a:rPr sz="2250" b="1">
                <a:solidFill>
                  <a:srgbClr val="5BE3D5"/>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609600" y="2876550"/>
            <a:ext cx="10972800" cy="28575"/>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609600" y="2447925"/>
            <a:ext cx="3495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609600" y="2838450"/>
            <a:ext cx="95250" cy="95250"/>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609600" y="3095625"/>
            <a:ext cx="333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FFFFFF"/>
                </a:solidFill>
                <a:latin typeface="Arial"/>
                <a:ea typeface="Arial"/>
                <a:cs typeface="Arial"/>
              </a:defRPr>
            </a:pPr>
            <a:r>
              <a:rPr sz="2100"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62450" y="2447925"/>
            <a:ext cx="3495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62450" y="2838450"/>
            <a:ext cx="95250" cy="95250"/>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62450" y="3095625"/>
            <a:ext cx="333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FFFFFF"/>
                </a:solidFill>
                <a:latin typeface="Arial"/>
                <a:ea typeface="Arial"/>
                <a:cs typeface="Arial"/>
              </a:defRPr>
            </a:pPr>
            <a:r>
              <a:rPr sz="2100"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15300" y="2447925"/>
            <a:ext cx="3495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15300" y="2838450"/>
            <a:ext cx="95250" cy="95250"/>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15300" y="3095625"/>
            <a:ext cx="333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FFFFFF"/>
                </a:solidFill>
                <a:latin typeface="Arial"/>
                <a:ea typeface="Arial"/>
                <a:cs typeface="Arial"/>
              </a:defRPr>
            </a:pPr>
            <a:r>
              <a:rPr sz="2100"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609600" y="400050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C2CDDB"/>
                </a:solidFill>
                <a:latin typeface="Arial"/>
                <a:ea typeface="Arial"/>
                <a:cs typeface="Arial"/>
              </a:defRPr>
            </a:pPr>
            <a:r>
              <a:rPr sz="1875" b="0">
                <a:solidFill>
                  <a:srgbClr val="C2CDDB"/>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609600" y="4810125"/>
            <a:ext cx="5962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5BE3D5"/>
                </a:solidFill>
                <a:latin typeface="Arial"/>
                <a:ea typeface="Arial"/>
                <a:cs typeface="Arial"/>
              </a:defRPr>
            </a:pPr>
            <a:r>
              <a:rPr sz="2400" b="1">
                <a:solidFill>
                  <a:srgbClr val="5BE3D5"/>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609600" y="5286375"/>
            <a:ext cx="5962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0">
                <a:solidFill>
                  <a:srgbClr val="FFFFFF"/>
                </a:solidFill>
                <a:latin typeface="Arial"/>
                <a:ea typeface="Arial"/>
                <a:cs typeface="Arial"/>
              </a:defRPr>
            </a:pPr>
            <a:r>
              <a:rPr sz="1950"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6896100" y="4810125"/>
            <a:ext cx="4686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5BE3D5"/>
                </a:solidFill>
                <a:latin typeface="Arial"/>
                <a:ea typeface="Arial"/>
                <a:cs typeface="Arial"/>
              </a:defRPr>
            </a:pPr>
            <a:r>
              <a:rPr sz="2100" b="1">
                <a:solidFill>
                  <a:srgbClr val="5BE3D5"/>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6896100" y="5286375"/>
            <a:ext cx="4686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0">
                <a:solidFill>
                  <a:srgbClr val="FFFFFF"/>
                </a:solidFill>
                <a:latin typeface="Arial"/>
                <a:ea typeface="Arial"/>
                <a:cs typeface="Arial"/>
              </a:defRPr>
            </a:pPr>
            <a:r>
              <a:rPr sz="1950"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609600" y="5934075"/>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609600" y="60769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10 / 17</a:t>
            </a:r>
          </a:p>
        </p:txBody>
      </p:sp>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1769E0"/>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Building agents makes 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609600" y="199072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0">
                <a:solidFill>
                  <a:srgbClr val="E0EBFF"/>
                </a:solidFill>
                <a:latin typeface="Arial"/>
                <a:ea typeface="Arial"/>
                <a:cs typeface="Arial"/>
              </a:defRPr>
            </a:pPr>
            <a:r>
              <a:rPr sz="2250" b="0">
                <a:solidFill>
                  <a:srgbClr val="E0EBFF"/>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609600" y="290512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609600" y="3590925"/>
            <a:ext cx="5048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E0EBFF"/>
                </a:solidFill>
                <a:latin typeface="Arial"/>
                <a:ea typeface="Arial"/>
                <a:cs typeface="Arial"/>
              </a:defRPr>
            </a:pPr>
            <a:r>
              <a:rPr sz="2025" b="0">
                <a:solidFill>
                  <a:srgbClr val="E0EBFF"/>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609600" y="4305300"/>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609600" y="4991100"/>
            <a:ext cx="5048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E0EBFF"/>
                </a:solidFill>
                <a:latin typeface="Arial"/>
                <a:ea typeface="Arial"/>
                <a:cs typeface="Arial"/>
              </a:defRPr>
            </a:pPr>
            <a:r>
              <a:rPr sz="2025" b="0">
                <a:solidFill>
                  <a:srgbClr val="E0EBFF"/>
                </a:solidFill>
                <a:latin typeface="Arial"/>
                <a:ea typeface="Arial"/>
                <a:cs typeface="Arial"/>
              </a:rPr>
              <a:t>Test it. Discuss what happens. Improve it.</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0713cf0943d4707"/>
          <a:stretch xmlns:a="http://schemas.openxmlformats.org/drawingml/2006/main"/>
        </p:blipFill>
        <p:spPr>
          <a:xfrm xmlns:a="http://schemas.openxmlformats.org/drawingml/2006/main">
            <a:off x="6805083" y="2952750"/>
            <a:ext cx="4334933" cy="2438400"/>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362700" y="5448300"/>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E0EBFF"/>
                </a:solidFill>
                <a:latin typeface="Arial"/>
                <a:ea typeface="Arial"/>
                <a:cs typeface="Arial"/>
              </a:defRPr>
            </a:pPr>
            <a:r>
              <a:rPr sz="1350" b="0">
                <a:solidFill>
                  <a:srgbClr val="E0EBFF"/>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609600" y="5953125"/>
            <a:ext cx="10972800" cy="19050"/>
          </a:xfrm>
          <a:prstGeom xmlns:a="http://schemas.openxmlformats.org/drawingml/2006/main" prst="rect">
            <a:avLst/>
          </a:prstGeom>
          <a:solidFill xmlns:a="http://schemas.openxmlformats.org/drawingml/2006/main">
            <a:srgbClr val="79A8EB"/>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609600" y="6096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E0EBFF"/>
                </a:solidFill>
                <a:latin typeface="Arial"/>
                <a:ea typeface="Arial"/>
                <a:cs typeface="Arial"/>
              </a:defRPr>
            </a:pPr>
            <a:r>
              <a:rPr sz="975" b="0">
                <a:solidFill>
                  <a:srgbClr val="E0EBFF"/>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E0EBFF"/>
                </a:solidFill>
                <a:latin typeface="Arial"/>
                <a:ea typeface="Arial"/>
                <a:cs typeface="Arial"/>
              </a:defRPr>
            </a:pPr>
            <a:r>
              <a:rPr sz="1125" b="1">
                <a:solidFill>
                  <a:srgbClr val="E0EBFF"/>
                </a:solidFill>
                <a:latin typeface="Arial"/>
                <a:ea typeface="Arial"/>
                <a:cs typeface="Arial"/>
              </a:rPr>
              <a:t>11 / 17</a:t>
            </a:r>
          </a:p>
        </p:txBody>
      </p:sp>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EFAA36"/>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71428"/>
                </a:solidFill>
                <a:latin typeface="Arial"/>
                <a:ea typeface="Arial"/>
                <a:cs typeface="Arial"/>
              </a:defRPr>
            </a:pPr>
            <a:r>
              <a:rPr sz="1275" b="1">
                <a:solidFill>
                  <a:srgbClr val="07142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Teachers need support 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09600" y="24193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09600" y="3105150"/>
            <a:ext cx="50958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374356"/>
                </a:solidFill>
                <a:latin typeface="Arial"/>
                <a:ea typeface="Arial"/>
                <a:cs typeface="Arial"/>
              </a:defRPr>
            </a:pPr>
            <a:r>
              <a:rPr sz="2100" b="0">
                <a:solidFill>
                  <a:srgbClr val="374356"/>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09600" y="39814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09600" y="4667250"/>
            <a:ext cx="50958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374356"/>
                </a:solidFill>
                <a:latin typeface="Arial"/>
                <a:ea typeface="Arial"/>
                <a:cs typeface="Arial"/>
              </a:defRPr>
            </a:pPr>
            <a:r>
              <a:rPr sz="2100" b="0">
                <a:solidFill>
                  <a:srgbClr val="374356"/>
                </a:solidFill>
                <a:latin typeface="Arial"/>
                <a:ea typeface="Arial"/>
                <a:cs typeface="Arial"/>
              </a:rPr>
              <a:t>Choice, skills, belonging and school support matter.</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4c7336b9e8c40f0"/>
          <a:srcRect xmlns:a="http://schemas.openxmlformats.org/drawingml/2006/main" l="7605" t="0" r="7605" b="0"/>
          <a:stretch xmlns:a="http://schemas.openxmlformats.org/drawingml/2006/main">
            <a:fillRect l="0" t="0" r="0" b="0"/>
          </a:stretch>
        </p:blipFill>
        <p:spPr>
          <a:xfrm xmlns:a="http://schemas.openxmlformats.org/drawingml/2006/main">
            <a:off x="6219825" y="2143125"/>
            <a:ext cx="5362575" cy="316230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6219825" y="5429250"/>
            <a:ext cx="53625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374356"/>
                </a:solidFill>
                <a:latin typeface="Arial"/>
                <a:ea typeface="Arial"/>
                <a:cs typeface="Arial"/>
              </a:defRPr>
            </a:pPr>
            <a:r>
              <a:rPr sz="1350" b="0">
                <a:solidFill>
                  <a:srgbClr val="374356"/>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609600" y="5934075"/>
            <a:ext cx="10972800" cy="19050"/>
          </a:xfrm>
          <a:prstGeom xmlns:a="http://schemas.openxmlformats.org/drawingml/2006/main" prst="rect">
            <a:avLst/>
          </a:prstGeom>
          <a:solidFill xmlns:a="http://schemas.openxmlformats.org/drawingml/2006/main">
            <a:srgbClr val="C89031"/>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609600" y="60769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374356"/>
                </a:solidFill>
                <a:latin typeface="Arial"/>
                <a:ea typeface="Arial"/>
                <a:cs typeface="Arial"/>
              </a:defRPr>
            </a:pPr>
            <a:r>
              <a:rPr sz="975" b="0">
                <a:solidFill>
                  <a:srgbClr val="374356"/>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374356"/>
                </a:solidFill>
                <a:latin typeface="Arial"/>
                <a:ea typeface="Arial"/>
                <a:cs typeface="Arial"/>
              </a:defRPr>
            </a:pPr>
            <a:r>
              <a:rPr sz="1125" b="1">
                <a:solidFill>
                  <a:srgbClr val="374356"/>
                </a:solidFill>
                <a:latin typeface="Arial"/>
                <a:ea typeface="Arial"/>
                <a:cs typeface="Arial"/>
              </a:rPr>
              <a:t>12 / 17</a:t>
            </a:r>
          </a:p>
        </p:txBody>
      </p:sp>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Boundary Learning: 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609600" y="192405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0">
                <a:solidFill>
                  <a:srgbClr val="C2CDDB"/>
                </a:solidFill>
                <a:latin typeface="Arial"/>
                <a:ea typeface="Arial"/>
                <a:cs typeface="Arial"/>
              </a:defRPr>
            </a:pPr>
            <a:r>
              <a:rPr sz="2250" b="0">
                <a:solidFill>
                  <a:srgbClr val="C2CDDB"/>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609600" y="29622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33500" y="29622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33500" y="34004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286500" y="29622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010400" y="29622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010400" y="34004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609600" y="41433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33500" y="41433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33500" y="45815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286500" y="41433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010400" y="41433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010400" y="45815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What roles, steps and limits 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609600" y="54673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425" b="0">
                <a:solidFill>
                  <a:srgbClr val="C2CDDB"/>
                </a:solidFill>
                <a:latin typeface="Arial"/>
                <a:ea typeface="Arial"/>
                <a:cs typeface="Arial"/>
              </a:defRPr>
            </a:pPr>
            <a:r>
              <a:rPr sz="1425" b="0">
                <a:solidFill>
                  <a:srgbClr val="C2CDDB"/>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609600" y="5867400"/>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609600" y="60102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13 / 17</a:t>
            </a:r>
          </a:p>
        </p:txBody>
      </p:sp>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Four partners make 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609600" y="18383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C2CDDB"/>
                </a:solidFill>
                <a:latin typeface="Arial"/>
                <a:ea typeface="Arial"/>
                <a:cs typeface="Arial"/>
              </a:defRPr>
            </a:pPr>
            <a:r>
              <a:rPr sz="2175" b="0">
                <a:solidFill>
                  <a:srgbClr val="C2CDDB"/>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609600" y="2695575"/>
            <a:ext cx="10972800" cy="9525"/>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609600" y="2790825"/>
            <a:ext cx="3162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4029075" y="2790825"/>
            <a:ext cx="75533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FFFFFF"/>
                </a:solidFill>
                <a:latin typeface="Arial"/>
                <a:ea typeface="Arial"/>
                <a:cs typeface="Arial"/>
              </a:defRPr>
            </a:pPr>
            <a:r>
              <a:rPr sz="2025" b="0">
                <a:solidFill>
                  <a:srgbClr val="FFFFFF"/>
                </a:solidFill>
                <a:latin typeface="Arial"/>
                <a:ea typeface="Arial"/>
                <a:cs typeface="Arial"/>
              </a:rPr>
              <a:t>Lead the programme; build, improve 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09600" y="3438525"/>
            <a:ext cx="10972800" cy="9525"/>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09600" y="3533775"/>
            <a:ext cx="3162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4029075" y="3533775"/>
            <a:ext cx="75533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FFFFFF"/>
                </a:solidFill>
                <a:latin typeface="Arial"/>
                <a:ea typeface="Arial"/>
                <a:cs typeface="Arial"/>
              </a:defRPr>
            </a:pPr>
            <a:r>
              <a:rPr sz="2025" b="0">
                <a:solidFill>
                  <a:srgbClr val="FFFFFF"/>
                </a:solidFill>
                <a:latin typeface="Arial"/>
                <a:ea typeface="Arial"/>
                <a:cs typeface="Arial"/>
              </a:rPr>
              <a:t>CUHK · HKU · EdUHK: 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609600" y="4181475"/>
            <a:ext cx="10972800" cy="9525"/>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609600" y="4276725"/>
            <a:ext cx="3162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4029075" y="4276725"/>
            <a:ext cx="75533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FFFFFF"/>
                </a:solidFill>
                <a:latin typeface="Arial"/>
                <a:ea typeface="Arial"/>
                <a:cs typeface="Arial"/>
              </a:defRPr>
            </a:pPr>
            <a:r>
              <a:rPr sz="2025" b="0">
                <a:solidFill>
                  <a:srgbClr val="FFFFFF"/>
                </a:solidFill>
                <a:latin typeface="Arial"/>
                <a:ea typeface="Arial"/>
                <a:cs typeface="Arial"/>
              </a:rPr>
              <a:t>Local coordination, policy alignment 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09600" y="4924425"/>
            <a:ext cx="10972800" cy="9525"/>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09600" y="5019675"/>
            <a:ext cx="3162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4029075" y="5019675"/>
            <a:ext cx="75533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FFFFFF"/>
                </a:solidFill>
                <a:latin typeface="Arial"/>
                <a:ea typeface="Arial"/>
                <a:cs typeface="Arial"/>
              </a:defRPr>
            </a:pPr>
            <a:r>
              <a:rPr sz="2025" b="0">
                <a:solidFill>
                  <a:srgbClr val="FFFFFF"/>
                </a:solidFill>
                <a:latin typeface="Arial"/>
                <a:ea typeface="Arial"/>
                <a:cs typeface="Arial"/>
              </a:rPr>
              <a:t>Real needs, classroom trials 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609600" y="5991225"/>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609600" y="61341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14 / 17</a:t>
            </a:r>
          </a:p>
        </p:txBody>
      </p:sp>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Make the partnership 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609600" y="1895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0D4DAA"/>
                </a:solidFill>
                <a:latin typeface="Arial"/>
                <a:ea typeface="Arial"/>
                <a:cs typeface="Arial"/>
              </a:defRPr>
            </a:pPr>
            <a:r>
              <a:rPr sz="2325" b="1">
                <a:solidFill>
                  <a:srgbClr val="0D4DAA"/>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609600" y="2724150"/>
            <a:ext cx="5429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3750" b="1">
                <a:solidFill>
                  <a:srgbClr val="0D4DAA"/>
                </a:solidFill>
                <a:latin typeface="Arial"/>
                <a:ea typeface="Arial"/>
                <a:cs typeface="Arial"/>
              </a:defRPr>
            </a:pPr>
            <a:r>
              <a:rPr sz="3750" b="1">
                <a:solidFill>
                  <a:srgbClr val="0D4DAA"/>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00175" y="2743200"/>
            <a:ext cx="10182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101A2C"/>
                </a:solidFill>
                <a:latin typeface="Arial"/>
                <a:ea typeface="Arial"/>
                <a:cs typeface="Arial"/>
              </a:defRPr>
            </a:pPr>
            <a:r>
              <a:rPr sz="2400" b="1">
                <a:solidFill>
                  <a:srgbClr val="101A2C"/>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00175" y="3162300"/>
            <a:ext cx="101822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556175"/>
                </a:solidFill>
                <a:latin typeface="Arial"/>
                <a:ea typeface="Arial"/>
                <a:cs typeface="Arial"/>
              </a:defRPr>
            </a:pPr>
            <a:r>
              <a:rPr sz="2100" b="0">
                <a:solidFill>
                  <a:srgbClr val="556175"/>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609600" y="3714750"/>
            <a:ext cx="5429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3750" b="1">
                <a:solidFill>
                  <a:srgbClr val="0D4DAA"/>
                </a:solidFill>
                <a:latin typeface="Arial"/>
                <a:ea typeface="Arial"/>
                <a:cs typeface="Arial"/>
              </a:defRPr>
            </a:pPr>
            <a:r>
              <a:rPr sz="3750" b="1">
                <a:solidFill>
                  <a:srgbClr val="0D4DAA"/>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00175" y="3733800"/>
            <a:ext cx="10182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101A2C"/>
                </a:solidFill>
                <a:latin typeface="Arial"/>
                <a:ea typeface="Arial"/>
                <a:cs typeface="Arial"/>
              </a:defRPr>
            </a:pPr>
            <a:r>
              <a:rPr sz="2400" b="1">
                <a:solidFill>
                  <a:srgbClr val="101A2C"/>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00175" y="4152900"/>
            <a:ext cx="101822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556175"/>
                </a:solidFill>
                <a:latin typeface="Arial"/>
                <a:ea typeface="Arial"/>
                <a:cs typeface="Arial"/>
              </a:defRPr>
            </a:pPr>
            <a:r>
              <a:rPr sz="2100" b="0">
                <a:solidFill>
                  <a:srgbClr val="556175"/>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609600" y="4705350"/>
            <a:ext cx="5429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3750" b="1">
                <a:solidFill>
                  <a:srgbClr val="0D4DAA"/>
                </a:solidFill>
                <a:latin typeface="Arial"/>
                <a:ea typeface="Arial"/>
                <a:cs typeface="Arial"/>
              </a:defRPr>
            </a:pPr>
            <a:r>
              <a:rPr sz="3750" b="1">
                <a:solidFill>
                  <a:srgbClr val="0D4DAA"/>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00175" y="4724400"/>
            <a:ext cx="10182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101A2C"/>
                </a:solidFill>
                <a:latin typeface="Arial"/>
                <a:ea typeface="Arial"/>
                <a:cs typeface="Arial"/>
              </a:defRPr>
            </a:pPr>
            <a:r>
              <a:rPr sz="2400" b="1">
                <a:solidFill>
                  <a:srgbClr val="101A2C"/>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00175" y="5143500"/>
            <a:ext cx="101822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556175"/>
                </a:solidFill>
                <a:latin typeface="Arial"/>
                <a:ea typeface="Arial"/>
                <a:cs typeface="Arial"/>
              </a:defRPr>
            </a:pPr>
            <a:r>
              <a:rPr sz="2100" b="0">
                <a:solidFill>
                  <a:srgbClr val="556175"/>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609600" y="588645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609600" y="60293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15 / 17</a:t>
            </a:r>
          </a:p>
        </p:txBody>
      </p:sp>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769E0"/>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You are welcome 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609600" y="1990725"/>
            <a:ext cx="5429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Visit our schools. Meet the teachers. 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609600" y="3314700"/>
            <a:ext cx="539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E0EBFF"/>
                </a:solidFill>
                <a:latin typeface="Arial"/>
                <a:ea typeface="Arial"/>
                <a:cs typeface="Arial"/>
              </a:defRPr>
            </a:pPr>
            <a:r>
              <a:rPr sz="2025" b="0">
                <a:solidFill>
                  <a:srgbClr val="E0EBFF"/>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609600" y="4229100"/>
            <a:ext cx="53911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550" b="1">
                <a:solidFill>
                  <a:srgbClr val="FFFFFF"/>
                </a:solidFill>
                <a:latin typeface="Arial"/>
                <a:ea typeface="Arial"/>
                <a:cs typeface="Arial"/>
              </a:defRPr>
            </a:pPr>
            <a:r>
              <a:rPr sz="2550"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609600" y="5029200"/>
            <a:ext cx="53911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5BE3D5"/>
                </a:solidFill>
                <a:latin typeface="Arial"/>
                <a:ea typeface="Arial"/>
                <a:cs typeface="Arial"/>
              </a:defRPr>
            </a:pPr>
            <a:r>
              <a:rPr sz="2175" b="1">
                <a:solidFill>
                  <a:srgbClr val="5BE3D5"/>
                </a:solidFill>
                <a:latin typeface="Arial"/>
                <a:ea typeface="Arial"/>
                <a:cs typeface="Arial"/>
              </a:rPr>
              <a:t>18–19 November 2026 · Shenzhen, China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0a3bb7bf6b24b83"/>
          <a:srcRect xmlns:a="http://schemas.openxmlformats.org/drawingml/2006/main" l="1072" t="0" r="1072" b="0"/>
          <a:stretch xmlns:a="http://schemas.openxmlformats.org/drawingml/2006/main">
            <a:fillRect l="0" t="0" r="0" b="0"/>
          </a:stretch>
        </p:blipFill>
        <p:spPr>
          <a:xfrm xmlns:a="http://schemas.openxmlformats.org/drawingml/2006/main">
            <a:off x="6438900" y="2009775"/>
            <a:ext cx="5143500" cy="3505200"/>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38900" y="561022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E0EBFF"/>
                </a:solidFill>
                <a:latin typeface="Arial"/>
                <a:ea typeface="Arial"/>
                <a:cs typeface="Arial"/>
              </a:defRPr>
            </a:pPr>
            <a:r>
              <a:rPr sz="1350" b="0">
                <a:solidFill>
                  <a:srgbClr val="E0EBFF"/>
                </a:solidFill>
                <a:latin typeface="Arial"/>
                <a:ea typeface="Arial"/>
                <a:cs typeface="Arial"/>
              </a:rPr>
              <a:t>Shenzhen teacher community · city application contest</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609600" y="5962650"/>
            <a:ext cx="10972800" cy="19050"/>
          </a:xfrm>
          <a:prstGeom xmlns:a="http://schemas.openxmlformats.org/drawingml/2006/main" prst="rect">
            <a:avLst/>
          </a:prstGeom>
          <a:solidFill xmlns:a="http://schemas.openxmlformats.org/drawingml/2006/main">
            <a:srgbClr val="79A8EB"/>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609600" y="61055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E0EBFF"/>
                </a:solidFill>
                <a:latin typeface="Arial"/>
                <a:ea typeface="Arial"/>
                <a:cs typeface="Arial"/>
              </a:defRPr>
            </a:pPr>
            <a:r>
              <a:rPr sz="975" b="0">
                <a:solidFill>
                  <a:srgbClr val="E0EBFF"/>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E0EBFF"/>
                </a:solidFill>
                <a:latin typeface="Arial"/>
                <a:ea typeface="Arial"/>
                <a:cs typeface="Arial"/>
              </a:defRPr>
            </a:pPr>
            <a:r>
              <a:rPr sz="1125" b="1">
                <a:solidFill>
                  <a:srgbClr val="E0EBFF"/>
                </a:solidFill>
                <a:latin typeface="Arial"/>
                <a:ea typeface="Arial"/>
                <a:cs typeface="Arial"/>
              </a:rPr>
              <a:t>16 / 17</a:t>
            </a:r>
          </a:p>
        </p:txBody>
      </p:sp>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Let’s keep 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609600" y="1905000"/>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C2CDDB"/>
                </a:solidFill>
                <a:latin typeface="Arial"/>
                <a:ea typeface="Arial"/>
                <a:cs typeface="Arial"/>
              </a:defRPr>
            </a:pPr>
            <a:r>
              <a:rPr sz="2175" b="0">
                <a:solidFill>
                  <a:srgbClr val="C2CDDB"/>
                </a:solidFill>
                <a:latin typeface="Arial"/>
                <a:ea typeface="Arial"/>
                <a:cs typeface="Arial"/>
              </a:rPr>
              <a:t>Scan the slides or explore the full 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09600" y="2886075"/>
            <a:ext cx="5257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2475" b="1">
                <a:solidFill>
                  <a:srgbClr val="FFFFFF"/>
                </a:solidFill>
                <a:latin typeface="Arial"/>
                <a:ea typeface="Arial"/>
                <a:cs typeface="Arial"/>
              </a:defRPr>
            </a:pPr>
            <a:r>
              <a:rPr sz="2475" b="1">
                <a:solidFill>
                  <a:srgbClr val="FFFFFF"/>
                </a:solidFill>
                <a:latin typeface="Arial"/>
                <a:ea typeface="Arial"/>
                <a:cs typeface="Arial"/>
              </a:rPr>
              <a:t>This presentation</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0e787b4ef3441f8"/>
          <a:stretch xmlns:a="http://schemas.openxmlformats.org/drawingml/2006/main"/>
        </p:blipFill>
        <p:spPr>
          <a:xfrm xmlns:a="http://schemas.openxmlformats.org/drawingml/2006/main">
            <a:off x="2057400" y="3381375"/>
            <a:ext cx="2362200" cy="236220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09600" y="5867400"/>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1575" b="0">
                <a:solidFill>
                  <a:srgbClr val="C2CDDB"/>
                </a:solidFill>
                <a:latin typeface="Arial"/>
                <a:ea typeface="Arial"/>
                <a:cs typeface="Arial"/>
              </a:defRPr>
            </a:pPr>
            <a:r>
              <a:rPr sz="1575" b="0">
                <a:solidFill>
                  <a:srgbClr val="C2CDDB"/>
                </a:solidFill>
                <a:latin typeface="Arial"/>
                <a:ea typeface="Arial"/>
                <a:cs typeface="Arial"/>
                <a:hlinkClick xmlns:r="http://schemas.openxmlformats.org/officeDocument/2006/relationships" r:id="R6883c29427ec4558"/>
              </a:rPr>
              <a:t>Online slides · 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6248400" y="2886075"/>
            <a:ext cx="5257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2475" b="1">
                <a:solidFill>
                  <a:srgbClr val="FFFFFF"/>
                </a:solidFill>
                <a:latin typeface="Arial"/>
                <a:ea typeface="Arial"/>
                <a:cs typeface="Arial"/>
              </a:defRPr>
            </a:pPr>
            <a:r>
              <a:rPr sz="2475" b="1">
                <a:solidFill>
                  <a:srgbClr val="FFFFFF"/>
                </a:solidFill>
                <a:latin typeface="Arial"/>
                <a:ea typeface="Arial"/>
                <a:cs typeface="Arial"/>
              </a:rPr>
              <a:t>Submission materials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e48471ad3f44ac6"/>
          <a:stretch xmlns:a="http://schemas.openxmlformats.org/drawingml/2006/main"/>
        </p:blipFill>
        <p:spPr>
          <a:xfrm xmlns:a="http://schemas.openxmlformats.org/drawingml/2006/main">
            <a:off x="7696200" y="3381375"/>
            <a:ext cx="2362200" cy="236220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6248400" y="5867400"/>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1575" b="0">
                <a:solidFill>
                  <a:srgbClr val="C2CDDB"/>
                </a:solidFill>
                <a:latin typeface="Arial"/>
                <a:ea typeface="Arial"/>
                <a:cs typeface="Arial"/>
              </a:defRPr>
            </a:pPr>
            <a:r>
              <a:rPr sz="1575" b="0">
                <a:solidFill>
                  <a:srgbClr val="C2CDDB"/>
                </a:solidFill>
                <a:latin typeface="Arial"/>
                <a:ea typeface="Arial"/>
                <a:cs typeface="Arial"/>
                <a:hlinkClick xmlns:r="http://schemas.openxmlformats.org/officeDocument/2006/relationships" r:id="Rfda14a1aa63c4785"/>
              </a:rPr>
              <a:t>UNESCO submission · 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609600" y="2543175"/>
            <a:ext cx="7096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00" b="1">
                <a:solidFill>
                  <a:srgbClr val="5BE3D5"/>
                </a:solidFill>
                <a:latin typeface="Arial"/>
                <a:ea typeface="Arial"/>
                <a:cs typeface="Arial"/>
              </a:defRPr>
            </a:pPr>
            <a:r>
              <a:rPr sz="1800" b="1">
                <a:solidFill>
                  <a:srgbClr val="5BE3D5"/>
                </a:solidFill>
                <a:latin typeface="Arial"/>
                <a:ea typeface="Arial"/>
                <a:cs typeface="Arial"/>
              </a:rPr>
              <a:t>Haiyang Xin · 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8143875" y="2543175"/>
            <a:ext cx="34385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hlinkClick xmlns:r="http://schemas.openxmlformats.org/officeDocument/2006/relationships" r:id="Rc6d0d416d2a0493d"/>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609600" y="63150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1500" b="0">
                <a:solidFill>
                  <a:srgbClr val="C2CDDB"/>
                </a:solidFill>
                <a:latin typeface="Arial"/>
                <a:ea typeface="Arial"/>
                <a:cs typeface="Arial"/>
              </a:defRPr>
            </a:pPr>
            <a:r>
              <a:rPr sz="1500" b="0">
                <a:solidFill>
                  <a:srgbClr val="C2CDDB"/>
                </a:solidFill>
                <a:latin typeface="Arial"/>
                <a:ea typeface="Arial"/>
                <a:cs typeface="Arial"/>
              </a:rPr>
              <a:t>Contact me to arrange a school visit.</a:t>
            </a:r>
          </a:p>
        </p:txBody>
      </p:sp>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2026-09-08T05:32:39.6730000Z</dcterms:created>
  <dcterms:modified xsi:type="dcterms:W3CDTF">2026-09-08T05:32:39.6730000Z</dcterms:modified>
</coreProperties>
</file>