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c7a59aec8da4429" /><Relationship Type="http://schemas.openxmlformats.org/officeDocument/2006/relationships/extended-properties" Target="/docProps/app.xml" Id="R4826ea034fba4a7e" /><Relationship Type="http://schemas.openxmlformats.org/officeDocument/2006/relationships/officeDocument" Target="/ppt/presentation.xml" Id="R48ea43e0d669466f" /></Relationships>
</file>

<file path=ppt/presentation.xml><?xml version="1.0" encoding="utf-8"?>
<p:presentation xmlns:p="http://schemas.openxmlformats.org/presentationml/2006/main">
  <p:sldMasterIdLst>
    <p:sldMasterId xmlns:r="http://schemas.openxmlformats.org/officeDocument/2006/relationships" id="2147483648" r:id="R5e5a5fb2821244a0"/>
  </p:sldMasterIdLst>
  <p:notesMasterIdLst>
    <p:notesMasterId xmlns:r="http://schemas.openxmlformats.org/officeDocument/2006/relationships" r:id="Reab8ed9f4d874136"/>
  </p:notesMasterIdLst>
  <p:sldIdLst>
    <p:sldId xmlns:r="http://schemas.openxmlformats.org/officeDocument/2006/relationships" id="256" r:id="Rd693c781e30147ba"/>
    <p:sldId xmlns:r="http://schemas.openxmlformats.org/officeDocument/2006/relationships" id="257" r:id="Rff75ddf2f5a445bd"/>
    <p:sldId xmlns:r="http://schemas.openxmlformats.org/officeDocument/2006/relationships" id="258" r:id="Rc1eb07cddbe74244"/>
    <p:sldId xmlns:r="http://schemas.openxmlformats.org/officeDocument/2006/relationships" id="259" r:id="R59d4f013a5da451e"/>
    <p:sldId xmlns:r="http://schemas.openxmlformats.org/officeDocument/2006/relationships" id="260" r:id="R438ed5b165194816"/>
    <p:sldId xmlns:r="http://schemas.openxmlformats.org/officeDocument/2006/relationships" id="261" r:id="Rd0dd79d269e04eb7"/>
    <p:sldId xmlns:r="http://schemas.openxmlformats.org/officeDocument/2006/relationships" id="262" r:id="R30a17d21ae8b4042"/>
    <p:sldId xmlns:r="http://schemas.openxmlformats.org/officeDocument/2006/relationships" id="263" r:id="R39d849937d984435"/>
    <p:sldId xmlns:r="http://schemas.openxmlformats.org/officeDocument/2006/relationships" id="264" r:id="Rc7e71c8fa6da440a"/>
    <p:sldId xmlns:r="http://schemas.openxmlformats.org/officeDocument/2006/relationships" id="265" r:id="R70b13bd2d1e4468a"/>
    <p:sldId xmlns:r="http://schemas.openxmlformats.org/officeDocument/2006/relationships" id="266" r:id="Rdec9ef6803d24a68"/>
    <p:sldId xmlns:r="http://schemas.openxmlformats.org/officeDocument/2006/relationships" id="267" r:id="R97f9faa8830e4763"/>
    <p:sldId xmlns:r="http://schemas.openxmlformats.org/officeDocument/2006/relationships" id="268" r:id="R3fdd358eb25b4c53"/>
    <p:sldId xmlns:r="http://schemas.openxmlformats.org/officeDocument/2006/relationships" id="269" r:id="R3812738641c648c0"/>
    <p:sldId xmlns:r="http://schemas.openxmlformats.org/officeDocument/2006/relationships" id="270" r:id="R490db68999b14d82"/>
    <p:sldId xmlns:r="http://schemas.openxmlformats.org/officeDocument/2006/relationships" id="271" r:id="Rec05f91c08f043e5"/>
    <p:sldId xmlns:r="http://schemas.openxmlformats.org/officeDocument/2006/relationships" id="272" r:id="Rd945e029b4454e6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8293b1af654afd" /><Relationship Type="http://schemas.openxmlformats.org/officeDocument/2006/relationships/slideMaster" Target="/ppt/slideMasters/slideMaster1.xml" Id="R5e5a5fb2821244a0" /><Relationship Type="http://schemas.openxmlformats.org/officeDocument/2006/relationships/notesMaster" Target="/ppt/notesMasters/notesMaster1.xml" Id="Reab8ed9f4d874136" /><Relationship Type="http://schemas.openxmlformats.org/officeDocument/2006/relationships/presProps" Target="/ppt/presProps.xml" Id="Rb6e6facb08cb48fa" /><Relationship Type="http://schemas.openxmlformats.org/officeDocument/2006/relationships/tableStyles" Target="/ppt/tableStyles.xml" Id="R212d223391c544da" /><Relationship Type="http://schemas.openxmlformats.org/officeDocument/2006/relationships/slide" Target="/ppt/slides/slide1.xml" Id="Rd693c781e30147ba" /><Relationship Type="http://schemas.openxmlformats.org/officeDocument/2006/relationships/slide" Target="/ppt/slides/slide2.xml" Id="Rff75ddf2f5a445bd" /><Relationship Type="http://schemas.openxmlformats.org/officeDocument/2006/relationships/slide" Target="/ppt/slides/slide3.xml" Id="Rc1eb07cddbe74244" /><Relationship Type="http://schemas.openxmlformats.org/officeDocument/2006/relationships/slide" Target="/ppt/slides/slide4.xml" Id="R59d4f013a5da451e" /><Relationship Type="http://schemas.openxmlformats.org/officeDocument/2006/relationships/slide" Target="/ppt/slides/slide5.xml" Id="R438ed5b165194816" /><Relationship Type="http://schemas.openxmlformats.org/officeDocument/2006/relationships/slide" Target="/ppt/slides/slide6.xml" Id="Rd0dd79d269e04eb7" /><Relationship Type="http://schemas.openxmlformats.org/officeDocument/2006/relationships/slide" Target="/ppt/slides/slide7.xml" Id="R30a17d21ae8b4042" /><Relationship Type="http://schemas.openxmlformats.org/officeDocument/2006/relationships/slide" Target="/ppt/slides/slide8.xml" Id="R39d849937d984435" /><Relationship Type="http://schemas.openxmlformats.org/officeDocument/2006/relationships/slide" Target="/ppt/slides/slide9.xml" Id="Rc7e71c8fa6da440a" /><Relationship Type="http://schemas.openxmlformats.org/officeDocument/2006/relationships/slide" Target="/ppt/slides/slide10.xml" Id="R70b13bd2d1e4468a" /><Relationship Type="http://schemas.openxmlformats.org/officeDocument/2006/relationships/slide" Target="/ppt/slides/slide11.xml" Id="Rdec9ef6803d24a68" /><Relationship Type="http://schemas.openxmlformats.org/officeDocument/2006/relationships/slide" Target="/ppt/slides/slide12.xml" Id="R97f9faa8830e4763" /><Relationship Type="http://schemas.openxmlformats.org/officeDocument/2006/relationships/slide" Target="/ppt/slides/slide13.xml" Id="R3fdd358eb25b4c53" /><Relationship Type="http://schemas.openxmlformats.org/officeDocument/2006/relationships/slide" Target="/ppt/slides/slide14.xml" Id="R3812738641c648c0" /><Relationship Type="http://schemas.openxmlformats.org/officeDocument/2006/relationships/slide" Target="/ppt/slides/slide15.xml" Id="R490db68999b14d82" /><Relationship Type="http://schemas.openxmlformats.org/officeDocument/2006/relationships/slide" Target="/ppt/slides/slide16.xml" Id="Rec05f91c08f043e5" /><Relationship Type="http://schemas.openxmlformats.org/officeDocument/2006/relationships/slide" Target="/ppt/slides/slide17.xml" Id="Rd945e029b4454e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905f7d48db431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388e71005a47d4" /><Relationship Type="http://schemas.openxmlformats.org/officeDocument/2006/relationships/notesMaster" Target="/ppt/notesMasters/notesMaster1.xml" Id="R1828343c7d9340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af84f4832c4dea" /><Relationship Type="http://schemas.openxmlformats.org/officeDocument/2006/relationships/notesMaster" Target="/ppt/notesMasters/notesMaster1.xml" Id="R214d33730e96456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018e21e56f49b5" /><Relationship Type="http://schemas.openxmlformats.org/officeDocument/2006/relationships/notesMaster" Target="/ppt/notesMasters/notesMaster1.xml" Id="R896d73b4243c4d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b06958d2a14392" /><Relationship Type="http://schemas.openxmlformats.org/officeDocument/2006/relationships/notesMaster" Target="/ppt/notesMasters/notesMaster1.xml" Id="R44908f99c9de42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4b22a919844503" /><Relationship Type="http://schemas.openxmlformats.org/officeDocument/2006/relationships/notesMaster" Target="/ppt/notesMasters/notesMaster1.xml" Id="R0f6ae0e7694340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3a46f56fd6c4644" /><Relationship Type="http://schemas.openxmlformats.org/officeDocument/2006/relationships/notesMaster" Target="/ppt/notesMasters/notesMaster1.xml" Id="R632f5806173e42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0d6a1312194643ff" /><Relationship Type="http://schemas.openxmlformats.org/officeDocument/2006/relationships/notesMaster" Target="/ppt/notesMasters/notesMaster1.xml" Id="R578fe49deb94468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fb903560f0486c" /><Relationship Type="http://schemas.openxmlformats.org/officeDocument/2006/relationships/notesMaster" Target="/ppt/notesMasters/notesMaster1.xml" Id="R710a7de597d14b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57d0808a4fcd4afc" /><Relationship Type="http://schemas.openxmlformats.org/officeDocument/2006/relationships/notesMaster" Target="/ppt/notesMasters/notesMaster1.xml" Id="Rec75e56e049746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4ba5cf0aff4e0b" /><Relationship Type="http://schemas.openxmlformats.org/officeDocument/2006/relationships/notesMaster" Target="/ppt/notesMasters/notesMaster1.xml" Id="R3389c3013fb94a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a3e538aa835446b" /><Relationship Type="http://schemas.openxmlformats.org/officeDocument/2006/relationships/notesMaster" Target="/ppt/notesMasters/notesMaster1.xml" Id="R1b08b8315e1b4e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144212387d64d1d" /><Relationship Type="http://schemas.openxmlformats.org/officeDocument/2006/relationships/notesMaster" Target="/ppt/notesMasters/notesMaster1.xml" Id="R5bdb88548a3647e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045a2cc0e84cbf" /><Relationship Type="http://schemas.openxmlformats.org/officeDocument/2006/relationships/notesMaster" Target="/ppt/notesMasters/notesMaster1.xml" Id="R00aa168fd101496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7e184dde23f4c1c" /><Relationship Type="http://schemas.openxmlformats.org/officeDocument/2006/relationships/notesMaster" Target="/ppt/notesMasters/notesMaster1.xml" Id="R42d2074dd33e422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ce701cd97bd47cb" /><Relationship Type="http://schemas.openxmlformats.org/officeDocument/2006/relationships/notesMaster" Target="/ppt/notesMasters/notesMaster1.xml" Id="R8a24870efea74c8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d0d4296e3da4609" /><Relationship Type="http://schemas.openxmlformats.org/officeDocument/2006/relationships/notesMaster" Target="/ppt/notesMasters/notesMaster1.xml" Id="R053fed54d80e44a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d6240e0b26f4d60" /><Relationship Type="http://schemas.openxmlformats.org/officeDocument/2006/relationships/notesMaster" Target="/ppt/notesMasters/notesMaster1.xml" Id="R1ca8c3dfef9e42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Cover photo: user-supplied IMG_3940.gif, a teacher workshop discussion in Pingshan. A still frame is used; no people or scene elements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Notice image: user-supplied 42030.png, an authentic screenshot of the Guangdong Department of Education website. The crop shows the department header, complete notice title and website publication date (10 April 2025). The signed document was issued on 9 April 2025. The original full screenshot is preserved in the online assets.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IMG_3939.png supplied by the presenter in this conversation, showing the group at the second Pingshan primary and secondary school AI pioneer teacher professional-learning programme. The on-site banner identifies the Pingshan programme. The photo illustrates participation in practice; it does not establish the size of the research sample or identify a particular research cohort. Used as pingshan-teacher-group.webp. The classroom image on slide 2 remains the supplied Pingshan English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Official APEC China 2026 emblem: Xinhua, 12 December 2025, https://www.xinhuanet.com/20251212/1d1dad261ca34e259c55c672e8497cfe/c.html . Image: https://www.xinhuanet.com/20251212/1d1dad261ca34e259c55c672e8497cfe/202512121d1dad261ca34e259c55c672e8497cfe_912aa6ef9651489b8acd6054075d0fbb.jpg . Identity cross-checked against the official host-year website https://www.apec2026.cn/ and Shenzhen government announcement https://www.sz.gov.cn/en_szgov/news/latest/content/post_12546149.html (checked 8 September 2026). Emblem reproduced without alteration.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0767e4de2a41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7bfb94476e4599" /><Relationship Type="http://schemas.openxmlformats.org/officeDocument/2006/relationships/slideLayout" Target="/ppt/slideLayouts/slideLayout1.xml" Id="Rf24c614b522d40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4c614b522d40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1598bacfa5546e2" /><Relationship Type="http://schemas.openxmlformats.org/officeDocument/2006/relationships/image" Target="/ppt/media/image.jpeg" Id="R602e19df60b14856" /><Relationship Type="http://schemas.openxmlformats.org/officeDocument/2006/relationships/image" Target="/ppt/media/image.png" Id="Rb7d9f53e33f54166" /><Relationship Type="http://schemas.openxmlformats.org/officeDocument/2006/relationships/notesSlide" Target="/ppt/notesSlides/notesSlide1.xml" Id="R3184b82e05ef41d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daecb7459444b84" /><Relationship Type="http://schemas.openxmlformats.org/officeDocument/2006/relationships/image" Target="/ppt/media/image2.jpeg" Id="R2313b2b57815420e" /><Relationship Type="http://schemas.openxmlformats.org/officeDocument/2006/relationships/notesSlide" Target="/ppt/notesSlides/notesSlide2.xml" Id="R737b42949bd446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12c08572fdc428f" /><Relationship Type="http://schemas.openxmlformats.org/officeDocument/2006/relationships/notesSlide" Target="/ppt/notesSlides/notesSlide3.xml" Id="R9d328c2d034247c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6c1a4c2c5ad4b09" /><Relationship Type="http://schemas.openxmlformats.org/officeDocument/2006/relationships/hyperlink" Target="https://www.xinhui.gov.cn/gzjg/qzfgzbm/jmsxhqjyj/zcwj/content/post_3281407.html" TargetMode="External" Id="Rfd0e53e7717e474b" /><Relationship Type="http://schemas.openxmlformats.org/officeDocument/2006/relationships/hyperlink" Target="https://www.xinhui.gov.cn/gzjg/qzfgzbm/jmsxhqjyj/zcwj/content/post_3281407.html" TargetMode="External" Id="R7ebcae30726c436c" /><Relationship Type="http://schemas.openxmlformats.org/officeDocument/2006/relationships/image" Target="/ppt/media/image2.png" Id="Rc709387b54af488e" /><Relationship Type="http://schemas.openxmlformats.org/officeDocument/2006/relationships/notesSlide" Target="/ppt/notesSlides/notesSlide4.xml" Id="Rac82f23652954d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65c85d4d89b49e0" /><Relationship Type="http://schemas.openxmlformats.org/officeDocument/2006/relationships/image" Target="/ppt/media/image3.jpeg" Id="Rfa9024f0ecf246c3" /><Relationship Type="http://schemas.openxmlformats.org/officeDocument/2006/relationships/image" Target="/ppt/media/image4.jpeg" Id="R7384897b46a84348" /><Relationship Type="http://schemas.openxmlformats.org/officeDocument/2006/relationships/notesSlide" Target="/ppt/notesSlides/notesSlide5.xml" Id="Rdaa8153d257a45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d21b5b09454f23" /><Relationship Type="http://schemas.openxmlformats.org/officeDocument/2006/relationships/image" Target="/ppt/media/image5.jpeg" Id="R6129d31271d94b17" /><Relationship Type="http://schemas.openxmlformats.org/officeDocument/2006/relationships/notesSlide" Target="/ppt/notesSlides/notesSlide6.xml" Id="Rcafa3ea6865c484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a03d63ab22a40c7" /><Relationship Type="http://schemas.openxmlformats.org/officeDocument/2006/relationships/image" Target="/ppt/media/image6.jpeg" Id="Rb24336ac137d4a5d" /><Relationship Type="http://schemas.openxmlformats.org/officeDocument/2006/relationships/notesSlide" Target="/ppt/notesSlides/notesSlide7.xml" Id="R940f87ced26340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63fadb0146426f" /><Relationship Type="http://schemas.openxmlformats.org/officeDocument/2006/relationships/image" Target="/ppt/media/image7.jpeg" Id="R2ae7667ac7d04c0e" /><Relationship Type="http://schemas.openxmlformats.org/officeDocument/2006/relationships/notesSlide" Target="/ppt/notesSlides/notesSlide8.xml" Id="Rd6e3a647507243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ac70a44f22c4529" /><Relationship Type="http://schemas.openxmlformats.org/officeDocument/2006/relationships/image" Target="/ppt/media/image8.jpeg" Id="R6ce216a741474696" /><Relationship Type="http://schemas.openxmlformats.org/officeDocument/2006/relationships/notesSlide" Target="/ppt/notesSlides/notesSlide9.xml" Id="R29dc27217d5a44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4aa82de41294fc9" /><Relationship Type="http://schemas.openxmlformats.org/officeDocument/2006/relationships/notesSlide" Target="/ppt/notesSlides/notesSlide10.xml" Id="R92e17c11faf1422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fd94d565a954230" /><Relationship Type="http://schemas.openxmlformats.org/officeDocument/2006/relationships/image" Target="/ppt/media/image9.jpeg" Id="R830f6c19291d44b3" /><Relationship Type="http://schemas.openxmlformats.org/officeDocument/2006/relationships/notesSlide" Target="/ppt/notesSlides/notesSlide11.xml" Id="Ra106c9a46aad4a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116c4d0cf484b0d" /><Relationship Type="http://schemas.openxmlformats.org/officeDocument/2006/relationships/image" Target="/ppt/media/image10.jpeg" Id="R960656aa26ad4989" /><Relationship Type="http://schemas.openxmlformats.org/officeDocument/2006/relationships/notesSlide" Target="/ppt/notesSlides/notesSlide12.xml" Id="Re54c328230e047e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5a21c0a0ef247b2" /><Relationship Type="http://schemas.openxmlformats.org/officeDocument/2006/relationships/notesSlide" Target="/ppt/notesSlides/notesSlide13.xml" Id="R26449e63548d495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6c0fcace782408c" /><Relationship Type="http://schemas.openxmlformats.org/officeDocument/2006/relationships/notesSlide" Target="/ppt/notesSlides/notesSlide14.xml" Id="R59ed590f1e41455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af59464a17742c6" /><Relationship Type="http://schemas.openxmlformats.org/officeDocument/2006/relationships/notesSlide" Target="/ppt/notesSlides/notesSlide15.xml" Id="R931da1195c4c472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2312105c5524c54" /><Relationship Type="http://schemas.openxmlformats.org/officeDocument/2006/relationships/image" Target="/ppt/media/image11.jpeg" Id="R9de25845d22a454f" /><Relationship Type="http://schemas.openxmlformats.org/officeDocument/2006/relationships/notesSlide" Target="/ppt/notesSlides/notesSlide16.xml" Id="R705d4a44b25a491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31e6448352946d2" /><Relationship Type="http://schemas.openxmlformats.org/officeDocument/2006/relationships/image" Target="/ppt/media/image3.png" Id="Rc53853acec824596" /><Relationship Type="http://schemas.openxmlformats.org/officeDocument/2006/relationships/hyperlink" Target="https://tonyxinvip.github.io/slides/teacher-agent-creators-10min/" TargetMode="External" Id="Rb76e0860554e4b56" /><Relationship Type="http://schemas.openxmlformats.org/officeDocument/2006/relationships/hyperlink" Target="https://tonyxinvip.github.io/slides/teacher-agent-creators-10min/" TargetMode="External" Id="Rce5c828bce25475c" /><Relationship Type="http://schemas.openxmlformats.org/officeDocument/2006/relationships/image" Target="/ppt/media/image4.png" Id="Rf8b8311e25794fa3" /><Relationship Type="http://schemas.openxmlformats.org/officeDocument/2006/relationships/hyperlink" Target="https://cocorobo.hk/unesco2026/teacher/" TargetMode="External" Id="Raa4300958e3747c6" /><Relationship Type="http://schemas.openxmlformats.org/officeDocument/2006/relationships/hyperlink" Target="https://cocorobo.hk/unesco2026/teacher/" TargetMode="External" Id="Rf15e241885a0414f" /><Relationship Type="http://schemas.openxmlformats.org/officeDocument/2006/relationships/hyperlink" Target="mailto:tony@cocorobo.cc" TargetMode="External" Id="R8c9bcff218664216" /><Relationship Type="http://schemas.openxmlformats.org/officeDocument/2006/relationships/notesSlide" Target="/ppt/notesSlides/notesSlide17.xml" Id="R043d7c32bc224911" /></Relationships>
</file>

<file path=ppt/slides/slide1.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02e19df60b14856"/>
          <a:stretch xmlns:a="http://schemas.openxmlformats.org/drawingml/2006/main"/>
        </p:blipFill>
        <p:spPr>
          <a:xfrm xmlns:a="http://schemas.openxmlformats.org/drawingml/2006/main">
            <a:off x="6667500" y="2047875"/>
            <a:ext cx="5524500" cy="368069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7d9f53e33f54166"/>
          <a:srcRect xmlns:a="http://schemas.openxmlformats.org/drawingml/2006/main" l="0" t="0" r="0" b="0"/>
          <a:stretch xmlns:a="http://schemas.openxmlformats.org/drawingml/2006/main"/>
        </p:blipFill>
        <p:spPr>
          <a:xfrm xmlns:a="http://schemas.openxmlformats.org/drawingml/2006/main">
            <a:off x="533400" y="495300"/>
            <a:ext cx="409575" cy="409575"/>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1066800" y="5524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8905875" y="457200"/>
            <a:ext cx="275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75" b="1">
                <a:solidFill>
                  <a:srgbClr val="BED0DD"/>
                </a:solidFill>
                <a:latin typeface="Arial"/>
                <a:ea typeface="Arial"/>
                <a:cs typeface="Arial"/>
              </a:defRPr>
            </a:pPr>
            <a:r>
              <a:rPr sz="975" b="1">
                <a:solidFill>
                  <a:srgbClr val="BED0DD"/>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8905875" y="733425"/>
            <a:ext cx="2752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8905875" y="1133475"/>
            <a:ext cx="275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050" b="1">
                <a:solidFill>
                  <a:srgbClr val="BED0DD"/>
                </a:solidFill>
                <a:latin typeface="Arial"/>
                <a:ea typeface="Arial"/>
                <a:cs typeface="Arial"/>
              </a:defRPr>
            </a:pPr>
            <a:r>
              <a:rPr sz="1050" b="1">
                <a:solidFill>
                  <a:srgbClr val="BED0DD"/>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533400" y="1714500"/>
            <a:ext cx="598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1">
                <a:solidFill>
                  <a:srgbClr val="64D2C4"/>
                </a:solidFill>
                <a:latin typeface="Arial"/>
                <a:ea typeface="Arial"/>
                <a:cs typeface="Arial"/>
              </a:defRPr>
            </a:pPr>
            <a:r>
              <a:rPr sz="1200" b="1">
                <a:solidFill>
                  <a:srgbClr val="64D2C4"/>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533400" y="2266950"/>
            <a:ext cx="59817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From AI Tool Users</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to AI Agent</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533400" y="4895850"/>
            <a:ext cx="55911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533400" y="6076950"/>
            <a:ext cx="598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906000" y="6438900"/>
            <a:ext cx="1752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1350" b="0">
                <a:solidFill>
                  <a:srgbClr val="BED0DD"/>
                </a:solidFill>
                <a:latin typeface="Arial"/>
                <a:ea typeface="Arial"/>
                <a:cs typeface="Arial"/>
              </a:defRPr>
            </a:pPr>
            <a:r>
              <a:rPr sz="1350" b="0">
                <a:solidFill>
                  <a:srgbClr val="BED0DD"/>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533400" y="16478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400" b="1">
                <a:solidFill>
                  <a:srgbClr val="142D43"/>
                </a:solidFill>
                <a:latin typeface="Arial"/>
                <a:ea typeface="Arial"/>
                <a:cs typeface="Arial"/>
              </a:defRPr>
            </a:pPr>
            <a:r>
              <a:rPr sz="2400" b="1">
                <a:solidFill>
                  <a:srgbClr val="142D43"/>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533400" y="2257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566C7E"/>
                </a:solidFill>
                <a:latin typeface="Arial"/>
                <a:ea typeface="Arial"/>
                <a:cs typeface="Arial"/>
              </a:defRPr>
            </a:pPr>
            <a:r>
              <a:rPr sz="1575" b="0">
                <a:solidFill>
                  <a:srgbClr val="566C7E"/>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533400" y="27908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533400" y="31432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533400" y="37433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533400" y="40957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533400" y="486727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533400" y="521970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Turn a teaching plan into support that can be tested, reused and revised.</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313b2b57815420e"/>
          <a:srcRect xmlns:a="http://schemas.openxmlformats.org/drawingml/2006/main" l="0" t="2370" r="0" b="2370"/>
          <a:stretch xmlns:a="http://schemas.openxmlformats.org/drawingml/2006/main"/>
        </p:blipFill>
        <p:spPr>
          <a:xfrm xmlns:a="http://schemas.openxmlformats.org/drawingml/2006/main">
            <a:off x="6534150" y="2867025"/>
            <a:ext cx="5124450" cy="2733675"/>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69595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02 / 17</a:t>
            </a:r>
          </a:p>
        </p:txBody>
      </p:sp>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650" b="1">
                <a:solidFill>
                  <a:srgbClr val="FFFFFF"/>
                </a:solidFill>
                <a:latin typeface="Arial"/>
                <a:ea typeface="Arial"/>
                <a:cs typeface="Arial"/>
              </a:defRPr>
            </a:pPr>
            <a:r>
              <a:rPr sz="465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533400" y="17430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0">
                <a:solidFill>
                  <a:srgbClr val="BED0DD"/>
                </a:solidFill>
                <a:latin typeface="Arial"/>
                <a:ea typeface="Arial"/>
                <a:cs typeface="Arial"/>
              </a:defRPr>
            </a:pPr>
            <a:r>
              <a:rPr sz="2325" b="0">
                <a:solidFill>
                  <a:srgbClr val="BED0DD"/>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533400"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533400"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000" b="1">
                <a:solidFill>
                  <a:srgbClr val="FFFFFF"/>
                </a:solidFill>
                <a:latin typeface="Arial"/>
                <a:ea typeface="Arial"/>
                <a:cs typeface="Arial"/>
              </a:defRPr>
            </a:pPr>
            <a:r>
              <a:rPr sz="3000"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533400"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96025"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96025"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000" b="1">
                <a:solidFill>
                  <a:srgbClr val="FFFFFF"/>
                </a:solidFill>
                <a:latin typeface="Arial"/>
                <a:ea typeface="Arial"/>
                <a:cs typeface="Arial"/>
              </a:defRPr>
            </a:pPr>
            <a:r>
              <a:rPr sz="3000"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96025"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533400" y="5010150"/>
            <a:ext cx="29146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6825" b="1">
                <a:solidFill>
                  <a:srgbClr val="64D2C4"/>
                </a:solidFill>
                <a:latin typeface="Arial"/>
                <a:ea typeface="Arial"/>
                <a:cs typeface="Arial"/>
              </a:defRPr>
            </a:pPr>
            <a:r>
              <a:rPr sz="6825" b="1">
                <a:solidFill>
                  <a:srgbClr val="64D2C4"/>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733800" y="5124450"/>
            <a:ext cx="75723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FFFFFF"/>
                </a:solidFill>
                <a:latin typeface="Arial"/>
                <a:ea typeface="Arial"/>
                <a:cs typeface="Arial"/>
              </a:defRPr>
            </a:pPr>
            <a:r>
              <a:rPr sz="2100" b="0">
                <a:solidFill>
                  <a:srgbClr val="FFFFFF"/>
                </a:solidFill>
                <a:latin typeface="Arial"/>
                <a:ea typeface="Arial"/>
                <a:cs typeface="Arial"/>
              </a:rPr>
              <a:t>teachers reached across four Shenzhen districts 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533400" y="618172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03 / 17</a:t>
            </a:r>
          </a:p>
        </p:txBody>
      </p:sp>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533400" y="82867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Guangdong: shared goals</a:t>
            </a:r>
          </a:p>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533400" y="20383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75DA8"/>
                </a:solidFill>
                <a:latin typeface="Arial"/>
                <a:ea typeface="Arial"/>
                <a:cs typeface="Arial"/>
              </a:defRPr>
            </a:pPr>
            <a:r>
              <a:rPr sz="2250" b="1">
                <a:solidFill>
                  <a:srgbClr val="175DA8"/>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533400" y="25241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533400" y="5524500"/>
            <a:ext cx="521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fd0e53e7717e474b"/>
              </a:rPr>
              <a:t>Guangdong Department of Education</a:t>
            </a:r>
          </a:p>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7ebcae30726c436c"/>
              </a:rPr>
              <a:t>9 April 2025 · 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6200775" y="272415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6200775" y="310515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6200775" y="3781425"/>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6200775" y="4162425"/>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6200775" y="483870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6200775" y="521970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04 / 17</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c709387b54af488e"/>
          <a:stretch xmlns:a="http://schemas.openxmlformats.org/drawingml/2006/main"/>
        </p:blipFill>
        <p:spPr>
          <a:xfrm xmlns:a="http://schemas.openxmlformats.org/drawingml/2006/main">
            <a:off x="533400" y="3114675"/>
            <a:ext cx="5219700" cy="2217778"/>
          </a:xfrm>
          <a:prstGeom xmlns:a="http://schemas.openxmlformats.org/drawingml/2006/main" prst="rect">
            <a:avLst/>
          </a:prstGeom>
        </p:spPr>
      </p:pic>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533400" y="8286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Shenzhen: access</a:t>
            </a:r>
          </a:p>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533400" y="27051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533400" y="3162300"/>
            <a:ext cx="52482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533400" y="433387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533400" y="4791075"/>
            <a:ext cx="5248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Three city contests drew over 2,000 teachers.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a9024f0ecf246c3"/>
          <a:srcRect xmlns:a="http://schemas.openxmlformats.org/drawingml/2006/main" l="0" t="0" r="0" b="0"/>
          <a:stretch xmlns:a="http://schemas.openxmlformats.org/drawingml/2006/main"/>
        </p:blipFill>
        <p:spPr>
          <a:xfrm xmlns:a="http://schemas.openxmlformats.org/drawingml/2006/main">
            <a:off x="7082169" y="1562100"/>
            <a:ext cx="3837912" cy="2095500"/>
          </a:xfrm>
          <a:prstGeom xmlns:a="http://schemas.openxmlformats.org/drawingml/2006/main" prst="rect">
            <a:avLst/>
          </a:prstGeom>
        </p:spPr>
      </p:pic>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384897b46a84348"/>
          <a:srcRect xmlns:a="http://schemas.openxmlformats.org/drawingml/2006/main" l="0" t="21741" r="0" b="21741"/>
          <a:stretch xmlns:a="http://schemas.openxmlformats.org/drawingml/2006/main">
            <a:fillRect l="0" t="0" r="0" b="0"/>
          </a:stretch>
        </p:blipFill>
        <p:spPr>
          <a:xfrm xmlns:a="http://schemas.openxmlformats.org/drawingml/2006/main">
            <a:off x="6343650" y="3800475"/>
            <a:ext cx="5314950" cy="168592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343650" y="5619750"/>
            <a:ext cx="5314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533400" y="607695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733425" y="604837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05 / 17</a:t>
            </a:r>
          </a:p>
        </p:txBody>
      </p:sp>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533400" y="2143125"/>
            <a:ext cx="4591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533400" y="2638425"/>
            <a:ext cx="4591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533400" y="3800475"/>
            <a:ext cx="459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533400" y="4257675"/>
            <a:ext cx="45910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In English practice, AI gives feedback. Teachers set the standards.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129d31271d94b17"/>
          <a:srcRect xmlns:a="http://schemas.openxmlformats.org/drawingml/2006/main" l="0" t="7532" r="0" b="7532"/>
          <a:stretch xmlns:a="http://schemas.openxmlformats.org/drawingml/2006/main">
            <a:fillRect l="0" t="0" r="0" b="0"/>
          </a:stretch>
        </p:blipFill>
        <p:spPr>
          <a:xfrm xmlns:a="http://schemas.openxmlformats.org/drawingml/2006/main">
            <a:off x="5514975" y="1943100"/>
            <a:ext cx="6143625" cy="34766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5514975" y="5467350"/>
            <a:ext cx="614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AI pioneer teacher programme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533400" y="57245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1">
                <a:solidFill>
                  <a:srgbClr val="64D2C4"/>
                </a:solidFill>
                <a:latin typeface="Arial"/>
                <a:ea typeface="Arial"/>
                <a:cs typeface="Arial"/>
              </a:defRPr>
            </a:pPr>
            <a:r>
              <a:rPr sz="1575" b="1">
                <a:solidFill>
                  <a:srgbClr val="64D2C4"/>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533400" y="6172200"/>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733425" y="61436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06 / 17</a:t>
            </a:r>
          </a:p>
        </p:txBody>
      </p:sp>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715125" y="220980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715125" y="2667000"/>
            <a:ext cx="49434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715125" y="401955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715125" y="4476750"/>
            <a:ext cx="49434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Turn the criteria into an AI analysis tool. Try it in class and use teacher feedback.</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24336ac137d4a5d"/>
          <a:srcRect xmlns:a="http://schemas.openxmlformats.org/drawingml/2006/main" l="4136" t="0" r="4136" b="0"/>
          <a:stretch xmlns:a="http://schemas.openxmlformats.org/drawingml/2006/main">
            <a:fillRect l="0" t="0" r="0" b="0"/>
          </a:stretch>
        </p:blipFill>
        <p:spPr>
          <a:xfrm xmlns:a="http://schemas.openxmlformats.org/drawingml/2006/main">
            <a:off x="533400" y="2105025"/>
            <a:ext cx="5762625" cy="353377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533400" y="5724525"/>
            <a:ext cx="5762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07 / 17</a:t>
            </a:r>
          </a:p>
        </p:txBody>
      </p:sp>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533400" y="206692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533400" y="242887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533400" y="293370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533400" y="329565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533400" y="3800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533400" y="416242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533400" y="46672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533400" y="502920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Use learning data to give feedback.</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2ae7667ac7d04c0e"/>
          <a:srcRect xmlns:a="http://schemas.openxmlformats.org/drawingml/2006/main" l="0" t="0" r="0" b="0"/>
          <a:stretch xmlns:a="http://schemas.openxmlformats.org/drawingml/2006/main"/>
        </p:blipFill>
        <p:spPr>
          <a:xfrm xmlns:a="http://schemas.openxmlformats.org/drawingml/2006/main">
            <a:off x="6363582" y="2266950"/>
            <a:ext cx="5246511" cy="27241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315075" y="5133975"/>
            <a:ext cx="5343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533400" y="55911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566C7E"/>
                </a:solidFill>
                <a:latin typeface="Arial"/>
                <a:ea typeface="Arial"/>
                <a:cs typeface="Arial"/>
              </a:defRPr>
            </a:pPr>
            <a:r>
              <a:rPr sz="1425" b="0">
                <a:solidFill>
                  <a:srgbClr val="566C7E"/>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08 / 17</a:t>
            </a:r>
          </a:p>
        </p:txBody>
      </p:sp>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533400" y="828675"/>
            <a:ext cx="5953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125" b="1">
                <a:solidFill>
                  <a:srgbClr val="FFFFFF"/>
                </a:solidFill>
                <a:latin typeface="Arial"/>
                <a:ea typeface="Arial"/>
                <a:cs typeface="Arial"/>
              </a:defRPr>
            </a:pPr>
            <a:r>
              <a:rPr sz="4125" b="1">
                <a:solidFill>
                  <a:srgbClr val="FFFFFF"/>
                </a:solidFill>
                <a:latin typeface="Arial"/>
                <a:ea typeface="Arial"/>
                <a:cs typeface="Arial"/>
              </a:rPr>
              <a:t>Why does practice</a:t>
            </a:r>
          </a:p>
          <a:p xmlns:a="http://schemas.openxmlformats.org/drawingml/2006/main">
            <a:pPr algn="l">
              <a:lnSpc>
                <a:spcPct val="106000"/>
              </a:lnSpc>
              <a:buNone/>
              <a:defRPr sz="4125" b="1">
                <a:solidFill>
                  <a:srgbClr val="FFFFFF"/>
                </a:solidFill>
                <a:latin typeface="Arial"/>
                <a:ea typeface="Arial"/>
                <a:cs typeface="Arial"/>
              </a:defRPr>
            </a:pPr>
            <a:r>
              <a:rPr sz="4125" b="1">
                <a:solidFill>
                  <a:srgbClr val="FFFFFF"/>
                </a:solidFill>
                <a:latin typeface="Arial"/>
                <a:ea typeface="Arial"/>
                <a:cs typeface="Arial"/>
              </a:rPr>
              <a:t>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533400" y="2276475"/>
            <a:ext cx="54197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A working example is a start. We also need to understand how it works.</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ce216a741474696"/>
          <a:srcRect xmlns:a="http://schemas.openxmlformats.org/drawingml/2006/main" l="0" t="15816" r="0" b="15816"/>
          <a:stretch xmlns:a="http://schemas.openxmlformats.org/drawingml/2006/main">
            <a:fillRect l="0" t="0" r="0" b="0"/>
          </a:stretch>
        </p:blipFill>
        <p:spPr>
          <a:xfrm xmlns:a="http://schemas.openxmlformats.org/drawingml/2006/main">
            <a:off x="533400" y="3533775"/>
            <a:ext cx="5419725" cy="2085975"/>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533400" y="5724525"/>
            <a:ext cx="5419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562725" y="2314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562725" y="27146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562725" y="34956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562725" y="38957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562725" y="46767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562725" y="50768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533400" y="6115050"/>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733425" y="608647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09 / 17</a:t>
            </a:r>
          </a:p>
        </p:txBody>
      </p:sp>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FFFFFF"/>
                </a:solidFill>
                <a:latin typeface="Arial"/>
                <a:ea typeface="Arial"/>
                <a:cs typeface="Arial"/>
              </a:defRPr>
            </a:pPr>
            <a:r>
              <a:rPr sz="3750" b="1">
                <a:solidFill>
                  <a:srgbClr val="FFFFFF"/>
                </a:solidFill>
                <a:latin typeface="Arial"/>
                <a:ea typeface="Arial"/>
                <a:cs typeface="Arial"/>
              </a:rPr>
              <a:t>A year of practice,</a:t>
            </a:r>
          </a:p>
          <a:p xmlns:a="http://schemas.openxmlformats.org/drawingml/2006/main">
            <a:pPr algn="l">
              <a:lnSpc>
                <a:spcPct val="106000"/>
              </a:lnSpc>
              <a:buNone/>
              <a:defRPr sz="3750" b="1">
                <a:solidFill>
                  <a:srgbClr val="FFFFFF"/>
                </a:solidFill>
                <a:latin typeface="Arial"/>
                <a:ea typeface="Arial"/>
                <a:cs typeface="Arial"/>
              </a:defRPr>
            </a:pPr>
            <a:r>
              <a:rPr sz="3750" b="1">
                <a:solidFill>
                  <a:srgbClr val="FFFFFF"/>
                </a:solidFill>
                <a:latin typeface="Arial"/>
                <a:ea typeface="Arial"/>
                <a:cs typeface="Arial"/>
              </a:rPr>
              <a:t>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533400" y="20193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533400" y="3086100"/>
            <a:ext cx="10925175" cy="19050"/>
          </a:xfrm>
          <a:prstGeom xmlns:a="http://schemas.openxmlformats.org/drawingml/2006/main" prst="rect">
            <a:avLst/>
          </a:prstGeom>
          <a:solidFill xmlns:a="http://schemas.openxmlformats.org/drawingml/2006/main">
            <a:srgbClr val="426178"/>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53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53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53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4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4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4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5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5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5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533400" y="419100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533400" y="4962525"/>
            <a:ext cx="62579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400" b="1">
                <a:solidFill>
                  <a:srgbClr val="64D2C4"/>
                </a:solidFill>
                <a:latin typeface="Arial"/>
                <a:ea typeface="Arial"/>
                <a:cs typeface="Arial"/>
              </a:defRPr>
            </a:pPr>
            <a:r>
              <a:rPr sz="2400" b="1">
                <a:solidFill>
                  <a:srgbClr val="64D2C4"/>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533400" y="5410200"/>
            <a:ext cx="62579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FFFFFF"/>
                </a:solidFill>
                <a:latin typeface="Arial"/>
                <a:ea typeface="Arial"/>
                <a:cs typeface="Arial"/>
              </a:defRPr>
            </a:pPr>
            <a:r>
              <a:rPr sz="1950"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7115175" y="4962525"/>
            <a:ext cx="4543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64D2C4"/>
                </a:solidFill>
                <a:latin typeface="Arial"/>
                <a:ea typeface="Arial"/>
                <a:cs typeface="Arial"/>
              </a:defRPr>
            </a:pPr>
            <a:r>
              <a:rPr sz="2100" b="1">
                <a:solidFill>
                  <a:srgbClr val="64D2C4"/>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7115175" y="5410200"/>
            <a:ext cx="4543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FFFFFF"/>
                </a:solidFill>
                <a:latin typeface="Arial"/>
                <a:ea typeface="Arial"/>
                <a:cs typeface="Arial"/>
              </a:defRPr>
            </a:pPr>
            <a:r>
              <a:rPr sz="1950"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533400" y="612457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733425" y="60960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10 / 17</a:t>
            </a:r>
          </a:p>
        </p:txBody>
      </p:sp>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533400" y="8286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Building agents makes</a:t>
            </a:r>
          </a:p>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533400" y="2028825"/>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566C7E"/>
                </a:solidFill>
                <a:latin typeface="Arial"/>
                <a:ea typeface="Arial"/>
                <a:cs typeface="Arial"/>
              </a:defRPr>
            </a:pPr>
            <a:r>
              <a:rPr sz="2175" b="0">
                <a:solidFill>
                  <a:srgbClr val="566C7E"/>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533400" y="30384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533400" y="3467100"/>
            <a:ext cx="4981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533400" y="4572000"/>
            <a:ext cx="49815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533400" y="4991100"/>
            <a:ext cx="49815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Test it. Discuss what happens. Improve it.</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30f6c19291d44b3"/>
          <a:srcRect xmlns:a="http://schemas.openxmlformats.org/drawingml/2006/main" l="0" t="0" r="0" b="0"/>
          <a:stretch xmlns:a="http://schemas.openxmlformats.org/drawingml/2006/main"/>
        </p:blipFill>
        <p:spPr>
          <a:xfrm xmlns:a="http://schemas.openxmlformats.org/drawingml/2006/main">
            <a:off x="6414029" y="2838450"/>
            <a:ext cx="4859867" cy="2733675"/>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029325" y="5657850"/>
            <a:ext cx="5629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533400" y="612457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733425" y="60960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11 / 17</a:t>
            </a:r>
          </a:p>
        </p:txBody>
      </p:sp>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533400" y="828675"/>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Teachers need support</a:t>
            </a:r>
          </a:p>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715125" y="2428875"/>
            <a:ext cx="49434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715125" y="2905125"/>
            <a:ext cx="49434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566C7E"/>
                </a:solidFill>
                <a:latin typeface="Arial"/>
                <a:ea typeface="Arial"/>
                <a:cs typeface="Arial"/>
              </a:defRPr>
            </a:pPr>
            <a:r>
              <a:rPr sz="2100" b="0">
                <a:solidFill>
                  <a:srgbClr val="566C7E"/>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715125" y="4114800"/>
            <a:ext cx="4943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715125" y="4581525"/>
            <a:ext cx="49434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566C7E"/>
                </a:solidFill>
                <a:latin typeface="Arial"/>
                <a:ea typeface="Arial"/>
                <a:cs typeface="Arial"/>
              </a:defRPr>
            </a:pPr>
            <a:r>
              <a:rPr sz="2100" b="0">
                <a:solidFill>
                  <a:srgbClr val="566C7E"/>
                </a:solidFill>
                <a:latin typeface="Arial"/>
                <a:ea typeface="Arial"/>
                <a:cs typeface="Arial"/>
              </a:rPr>
              <a:t>Choice, skills, belonging and school support matter.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60656aa26ad4989"/>
          <a:srcRect xmlns:a="http://schemas.openxmlformats.org/drawingml/2006/main" l="7910" t="0" r="7910" b="0"/>
          <a:stretch xmlns:a="http://schemas.openxmlformats.org/drawingml/2006/main">
            <a:fillRect l="0" t="0" r="0" b="0"/>
          </a:stretch>
        </p:blipFill>
        <p:spPr>
          <a:xfrm xmlns:a="http://schemas.openxmlformats.org/drawingml/2006/main">
            <a:off x="533400" y="2295525"/>
            <a:ext cx="5676900" cy="337185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533400" y="5743575"/>
            <a:ext cx="5676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533400" y="616267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733425" y="61341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12 / 17</a:t>
            </a:r>
          </a:p>
        </p:txBody>
      </p:sp>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533400" y="8286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Boundary Learning:</a:t>
            </a:r>
          </a:p>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533400" y="20574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566C7E"/>
                </a:solidFill>
                <a:latin typeface="Arial"/>
                <a:ea typeface="Arial"/>
                <a:cs typeface="Arial"/>
              </a:defRPr>
            </a:pPr>
            <a:r>
              <a:rPr sz="2175" b="0">
                <a:solidFill>
                  <a:srgbClr val="566C7E"/>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533400"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52550"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52550"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315075"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134225"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134225"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533400"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52550"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52550"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315075"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134225"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134225"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What roles, steps and limits 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533400" y="5676900"/>
            <a:ext cx="1112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13 / 17</a:t>
            </a:r>
          </a:p>
        </p:txBody>
      </p:sp>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533400" y="82867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FFFFFF"/>
                </a:solidFill>
                <a:latin typeface="Arial"/>
                <a:ea typeface="Arial"/>
                <a:cs typeface="Arial"/>
              </a:defRPr>
            </a:pPr>
            <a:r>
              <a:rPr sz="3825" b="1">
                <a:solidFill>
                  <a:srgbClr val="FFFFFF"/>
                </a:solidFill>
                <a:latin typeface="Arial"/>
                <a:ea typeface="Arial"/>
                <a:cs typeface="Arial"/>
              </a:rPr>
              <a:t>Four partners make</a:t>
            </a:r>
          </a:p>
          <a:p xmlns:a="http://schemas.openxmlformats.org/drawingml/2006/main">
            <a:pPr algn="l">
              <a:lnSpc>
                <a:spcPct val="106000"/>
              </a:lnSpc>
              <a:buNone/>
              <a:defRPr sz="3825" b="1">
                <a:solidFill>
                  <a:srgbClr val="FFFFFF"/>
                </a:solidFill>
                <a:latin typeface="Arial"/>
                <a:ea typeface="Arial"/>
                <a:cs typeface="Arial"/>
              </a:defRPr>
            </a:pPr>
            <a:r>
              <a:rPr sz="3825" b="1">
                <a:solidFill>
                  <a:srgbClr val="FFFFFF"/>
                </a:solidFill>
                <a:latin typeface="Arial"/>
                <a:ea typeface="Arial"/>
                <a:cs typeface="Arial"/>
              </a:rPr>
              <a:t>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533400" y="2009775"/>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BED0DD"/>
                </a:solidFill>
                <a:latin typeface="Arial"/>
                <a:ea typeface="Arial"/>
                <a:cs typeface="Arial"/>
              </a:defRPr>
            </a:pPr>
            <a:r>
              <a:rPr sz="2100" b="0">
                <a:solidFill>
                  <a:srgbClr val="BED0DD"/>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533400" y="31623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7429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7429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Lead the programme; build, improve 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362700" y="31623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5722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65722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CUHK · HKU · EdUHK: 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533400" y="45720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7429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7429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Local coordination, policy alignment 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362700" y="45720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5722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65722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Real needs, classroom trials 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14 / 17</a:t>
            </a:r>
          </a:p>
        </p:txBody>
      </p:sp>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Make the partnership</a:t>
            </a:r>
          </a:p>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533400" y="2038350"/>
            <a:ext cx="11125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75DA8"/>
                </a:solidFill>
                <a:latin typeface="Arial"/>
                <a:ea typeface="Arial"/>
                <a:cs typeface="Arial"/>
              </a:defRPr>
            </a:pPr>
            <a:r>
              <a:rPr sz="2250" b="1">
                <a:solidFill>
                  <a:srgbClr val="175DA8"/>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533400" y="28289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19225" y="28765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19225" y="33051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533400" y="383857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19225" y="388620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19225" y="431482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533400" y="48482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19225" y="48958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19225" y="53244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15 / 17</a:t>
            </a:r>
          </a:p>
        </p:txBody>
      </p:sp>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533400" y="828675"/>
            <a:ext cx="61055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425" b="1">
                <a:solidFill>
                  <a:srgbClr val="FFFFFF"/>
                </a:solidFill>
                <a:latin typeface="Arial"/>
                <a:ea typeface="Arial"/>
                <a:cs typeface="Arial"/>
              </a:defRPr>
            </a:pPr>
            <a:r>
              <a:rPr sz="4425" b="1">
                <a:solidFill>
                  <a:srgbClr val="FFFFFF"/>
                </a:solidFill>
                <a:latin typeface="Arial"/>
                <a:ea typeface="Arial"/>
                <a:cs typeface="Arial"/>
              </a:rPr>
              <a:t>You are welcome</a:t>
            </a:r>
          </a:p>
          <a:p xmlns:a="http://schemas.openxmlformats.org/drawingml/2006/main">
            <a:pPr algn="l">
              <a:lnSpc>
                <a:spcPct val="106000"/>
              </a:lnSpc>
              <a:buNone/>
              <a:defRPr sz="4425" b="1">
                <a:solidFill>
                  <a:srgbClr val="FFFFFF"/>
                </a:solidFill>
                <a:latin typeface="Arial"/>
                <a:ea typeface="Arial"/>
                <a:cs typeface="Arial"/>
              </a:defRPr>
            </a:pPr>
            <a:r>
              <a:rPr sz="4425" b="1">
                <a:solidFill>
                  <a:srgbClr val="FFFFFF"/>
                </a:solidFill>
                <a:latin typeface="Arial"/>
                <a:ea typeface="Arial"/>
                <a:cs typeface="Arial"/>
              </a:rPr>
              <a:t>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533400" y="2314575"/>
            <a:ext cx="5400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FFFFFF"/>
                </a:solidFill>
                <a:latin typeface="Arial"/>
                <a:ea typeface="Arial"/>
                <a:cs typeface="Arial"/>
              </a:defRPr>
            </a:pPr>
            <a:r>
              <a:rPr sz="2325" b="1">
                <a:solidFill>
                  <a:srgbClr val="FFFFFF"/>
                </a:solidFill>
                <a:latin typeface="Arial"/>
                <a:ea typeface="Arial"/>
                <a:cs typeface="Arial"/>
              </a:rPr>
              <a:t>Visit our schools. Meet the teachers. 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533400" y="3705225"/>
            <a:ext cx="5372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533400" y="4686300"/>
            <a:ext cx="5410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FFFFFF"/>
                </a:solidFill>
                <a:latin typeface="Arial"/>
                <a:ea typeface="Arial"/>
                <a:cs typeface="Arial"/>
              </a:defRPr>
            </a:pPr>
            <a:r>
              <a:rPr sz="2325"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533400" y="5381625"/>
            <a:ext cx="5410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64D2C4"/>
                </a:solidFill>
                <a:latin typeface="Arial"/>
                <a:ea typeface="Arial"/>
                <a:cs typeface="Arial"/>
              </a:defRPr>
            </a:pPr>
            <a:r>
              <a:rPr sz="2100" b="1">
                <a:solidFill>
                  <a:srgbClr val="64D2C4"/>
                </a:solidFill>
                <a:latin typeface="Arial"/>
                <a:ea typeface="Arial"/>
                <a:cs typeface="Arial"/>
              </a:rPr>
              <a:t>18–19 November 2026 · Shenzhen, China</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de25845d22a454f"/>
          <a:stretch xmlns:a="http://schemas.openxmlformats.org/drawingml/2006/main"/>
        </p:blipFill>
        <p:spPr>
          <a:xfrm xmlns:a="http://schemas.openxmlformats.org/drawingml/2006/main">
            <a:off x="6400800" y="1760786"/>
            <a:ext cx="5257800" cy="3717429"/>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00800" y="5657850"/>
            <a:ext cx="5257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APEC China 2026 · official emblem</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533400" y="618172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733425" y="61531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16 / 17</a:t>
            </a:r>
          </a:p>
        </p:txBody>
      </p:sp>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533400" y="409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533400" y="828675"/>
            <a:ext cx="5638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575" b="1">
                <a:solidFill>
                  <a:srgbClr val="FFFFFF"/>
                </a:solidFill>
                <a:latin typeface="Arial"/>
                <a:ea typeface="Arial"/>
                <a:cs typeface="Arial"/>
              </a:defRPr>
            </a:pPr>
            <a:r>
              <a:rPr sz="4575" b="1">
                <a:solidFill>
                  <a:srgbClr val="FFFFFF"/>
                </a:solidFill>
                <a:latin typeface="Arial"/>
                <a:ea typeface="Arial"/>
                <a:cs typeface="Arial"/>
              </a:rPr>
              <a:t>Let’s keep</a:t>
            </a:r>
          </a:p>
          <a:p xmlns:a="http://schemas.openxmlformats.org/drawingml/2006/main">
            <a:pPr algn="l">
              <a:lnSpc>
                <a:spcPct val="106000"/>
              </a:lnSpc>
              <a:buNone/>
              <a:defRPr sz="4575" b="1">
                <a:solidFill>
                  <a:srgbClr val="FFFFFF"/>
                </a:solidFill>
                <a:latin typeface="Arial"/>
                <a:ea typeface="Arial"/>
                <a:cs typeface="Arial"/>
              </a:defRPr>
            </a:pPr>
            <a:r>
              <a:rPr sz="4575" b="1">
                <a:solidFill>
                  <a:srgbClr val="FFFFFF"/>
                </a:solidFill>
                <a:latin typeface="Arial"/>
                <a:ea typeface="Arial"/>
                <a:cs typeface="Arial"/>
              </a:rPr>
              <a:t>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533400" y="2590800"/>
            <a:ext cx="51720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Scan the slides or explore the full 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562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This</a:t>
            </a:r>
          </a:p>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presentation</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53853acec824596"/>
          <a:srcRect xmlns:a="http://schemas.openxmlformats.org/drawingml/2006/main" l="0" t="0" r="0" b="0"/>
          <a:stretch xmlns:a="http://schemas.openxmlformats.org/drawingml/2006/main"/>
        </p:blipFill>
        <p:spPr>
          <a:xfrm xmlns:a="http://schemas.openxmlformats.org/drawingml/2006/main">
            <a:off x="6562725" y="3114675"/>
            <a:ext cx="2343150" cy="234315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562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b76e0860554e4b56"/>
              </a:rPr>
              <a:t>Online slides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ce5c828bce25475c"/>
              </a:rPr>
              <a:t>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9229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Submission</a:t>
            </a:r>
          </a:p>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materials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8b8311e25794fa3"/>
          <a:srcRect xmlns:a="http://schemas.openxmlformats.org/drawingml/2006/main" l="0" t="0" r="0" b="0"/>
          <a:stretch xmlns:a="http://schemas.openxmlformats.org/drawingml/2006/main"/>
        </p:blipFill>
        <p:spPr>
          <a:xfrm xmlns:a="http://schemas.openxmlformats.org/drawingml/2006/main">
            <a:off x="9229725" y="3114675"/>
            <a:ext cx="2343150" cy="234315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9229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aa4300958e3747c6"/>
              </a:rPr>
              <a:t>UNESCO submission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f15e241885a0414f"/>
              </a:rPr>
              <a:t>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533400" y="4371975"/>
            <a:ext cx="5343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a:t>
            </a:r>
          </a:p>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533400" y="5286375"/>
            <a:ext cx="52673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775" b="1">
                <a:solidFill>
                  <a:srgbClr val="64D2C4"/>
                </a:solidFill>
                <a:latin typeface="Arial"/>
                <a:ea typeface="Arial"/>
                <a:cs typeface="Arial"/>
              </a:defRPr>
            </a:pPr>
            <a:r>
              <a:rPr sz="2775" b="1">
                <a:solidFill>
                  <a:srgbClr val="64D2C4"/>
                </a:solidFill>
                <a:latin typeface="Arial"/>
                <a:ea typeface="Arial"/>
                <a:cs typeface="Arial"/>
                <a:hlinkClick xmlns:r="http://schemas.openxmlformats.org/officeDocument/2006/relationships" r:id="R8c9bcff218664216"/>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533400" y="62960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Contact me to arrange a school visit.</a:t>
            </a:r>
          </a:p>
        </p:txBody>
      </p:sp>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2026-09-08T08:27:56.8660000Z</dcterms:created>
  <dcterms:modified xsi:type="dcterms:W3CDTF">2026-09-08T08:27:56.8660000Z</dcterms:modified>
</coreProperties>
</file>