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0d2fe428e4722" /><Relationship Type="http://schemas.openxmlformats.org/officeDocument/2006/relationships/extended-properties" Target="/docProps/app.xml" Id="R1dd674f5101142c8" /><Relationship Type="http://schemas.openxmlformats.org/officeDocument/2006/relationships/officeDocument" Target="/ppt/presentation.xml" Id="R42c7b23619c746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503011c79b4029"/>
  </p:sldMasterIdLst>
  <p:notesMasterIdLst>
    <p:notesMasterId xmlns:r="http://schemas.openxmlformats.org/officeDocument/2006/relationships" r:id="R1c40d2a41afb47e2"/>
  </p:notesMasterIdLst>
  <p:sldIdLst>
    <p:sldId xmlns:r="http://schemas.openxmlformats.org/officeDocument/2006/relationships" id="256" r:id="Rb42cde7238b7445d"/>
    <p:sldId xmlns:r="http://schemas.openxmlformats.org/officeDocument/2006/relationships" id="257" r:id="Rae6d86b4fb424095"/>
    <p:sldId xmlns:r="http://schemas.openxmlformats.org/officeDocument/2006/relationships" id="258" r:id="R40e4c6b01dfe4c47"/>
    <p:sldId xmlns:r="http://schemas.openxmlformats.org/officeDocument/2006/relationships" id="259" r:id="Rcc0fb270982d48a2"/>
    <p:sldId xmlns:r="http://schemas.openxmlformats.org/officeDocument/2006/relationships" id="260" r:id="Rca1d4c0b91f94132"/>
    <p:sldId xmlns:r="http://schemas.openxmlformats.org/officeDocument/2006/relationships" id="261" r:id="R2b7efeaebc56413e"/>
    <p:sldId xmlns:r="http://schemas.openxmlformats.org/officeDocument/2006/relationships" id="262" r:id="R9fb235d1057c49bf"/>
    <p:sldId xmlns:r="http://schemas.openxmlformats.org/officeDocument/2006/relationships" id="263" r:id="R8222c4b2524f435d"/>
    <p:sldId xmlns:r="http://schemas.openxmlformats.org/officeDocument/2006/relationships" id="264" r:id="R22f3fc5862fa4659"/>
    <p:sldId xmlns:r="http://schemas.openxmlformats.org/officeDocument/2006/relationships" id="265" r:id="Rc2ac4b259d7045bc"/>
    <p:sldId xmlns:r="http://schemas.openxmlformats.org/officeDocument/2006/relationships" id="266" r:id="R468364c92a4f456b"/>
    <p:sldId xmlns:r="http://schemas.openxmlformats.org/officeDocument/2006/relationships" id="267" r:id="R9d2015f402fc4864"/>
    <p:sldId xmlns:r="http://schemas.openxmlformats.org/officeDocument/2006/relationships" id="268" r:id="Rfdd53945019d46b5"/>
    <p:sldId xmlns:r="http://schemas.openxmlformats.org/officeDocument/2006/relationships" id="269" r:id="R84a0c83815e84aa0"/>
    <p:sldId xmlns:r="http://schemas.openxmlformats.org/officeDocument/2006/relationships" id="270" r:id="R507f26bb81bf430c"/>
    <p:sldId xmlns:r="http://schemas.openxmlformats.org/officeDocument/2006/relationships" id="271" r:id="R0515f7a1bd7c47b9"/>
    <p:sldId xmlns:r="http://schemas.openxmlformats.org/officeDocument/2006/relationships" id="272" r:id="R426420ee45234192"/>
    <p:sldId xmlns:r="http://schemas.openxmlformats.org/officeDocument/2006/relationships" id="273" r:id="Ra485f07121f64356"/>
    <p:sldId xmlns:r="http://schemas.openxmlformats.org/officeDocument/2006/relationships" id="274" r:id="Rb6d295acbeb84eb5"/>
    <p:sldId xmlns:r="http://schemas.openxmlformats.org/officeDocument/2006/relationships" id="275" r:id="Rb88729150f804134"/>
    <p:sldId xmlns:r="http://schemas.openxmlformats.org/officeDocument/2006/relationships" id="276" r:id="R29c5271052734924"/>
    <p:sldId xmlns:r="http://schemas.openxmlformats.org/officeDocument/2006/relationships" id="277" r:id="Rc7f70d2d8dda43dc"/>
    <p:sldId xmlns:r="http://schemas.openxmlformats.org/officeDocument/2006/relationships" id="278" r:id="Raf6bba7c0006499c"/>
    <p:sldId xmlns:r="http://schemas.openxmlformats.org/officeDocument/2006/relationships" id="279" r:id="R23439e8266d146ad"/>
    <p:sldId xmlns:r="http://schemas.openxmlformats.org/officeDocument/2006/relationships" id="280" r:id="Rda3c698526bb45ba"/>
    <p:sldId xmlns:r="http://schemas.openxmlformats.org/officeDocument/2006/relationships" id="281" r:id="Ra115f04dffde4b5e"/>
    <p:sldId xmlns:r="http://schemas.openxmlformats.org/officeDocument/2006/relationships" id="282" r:id="R80bfe3554492439d"/>
    <p:sldId xmlns:r="http://schemas.openxmlformats.org/officeDocument/2006/relationships" id="283" r:id="R06223d62273e41bd"/>
    <p:sldId xmlns:r="http://schemas.openxmlformats.org/officeDocument/2006/relationships" id="284" r:id="R4c0ee917c4cd4386"/>
    <p:sldId xmlns:r="http://schemas.openxmlformats.org/officeDocument/2006/relationships" id="285" r:id="Rea662518c3884f3a"/>
    <p:sldId xmlns:r="http://schemas.openxmlformats.org/officeDocument/2006/relationships" id="286" r:id="Rf1b8da0fed094d6c"/>
    <p:sldId xmlns:r="http://schemas.openxmlformats.org/officeDocument/2006/relationships" id="287" r:id="Rc6625ae707ab4df5"/>
    <p:sldId xmlns:r="http://schemas.openxmlformats.org/officeDocument/2006/relationships" id="288" r:id="Rf82e9956b46e4093"/>
    <p:sldId xmlns:r="http://schemas.openxmlformats.org/officeDocument/2006/relationships" id="289" r:id="R92d44cc51bd546b7"/>
    <p:sldId xmlns:r="http://schemas.openxmlformats.org/officeDocument/2006/relationships" id="290" r:id="Rc524ca974dc14aab"/>
    <p:sldId xmlns:r="http://schemas.openxmlformats.org/officeDocument/2006/relationships" id="291" r:id="Rb45a3e8419cb4065"/>
    <p:sldId xmlns:r="http://schemas.openxmlformats.org/officeDocument/2006/relationships" id="292" r:id="R7a8e3b7637eb41c4"/>
    <p:sldId xmlns:r="http://schemas.openxmlformats.org/officeDocument/2006/relationships" id="293" r:id="R397716c13c294600"/>
    <p:sldId xmlns:r="http://schemas.openxmlformats.org/officeDocument/2006/relationships" id="294" r:id="Rc73a0a1e769a4c8f"/>
    <p:sldId xmlns:r="http://schemas.openxmlformats.org/officeDocument/2006/relationships" id="295" r:id="R68909fe67f754abb"/>
    <p:sldId xmlns:r="http://schemas.openxmlformats.org/officeDocument/2006/relationships" id="296" r:id="Rb762575b3ae74434"/>
    <p:sldId xmlns:r="http://schemas.openxmlformats.org/officeDocument/2006/relationships" id="297" r:id="R66ac8d9ecc3d42e4"/>
    <p:sldId xmlns:r="http://schemas.openxmlformats.org/officeDocument/2006/relationships" id="298" r:id="R7adf8e90d6f64179"/>
    <p:sldId xmlns:r="http://schemas.openxmlformats.org/officeDocument/2006/relationships" id="299" r:id="Rbe0ecd92e5744c6f"/>
    <p:sldId xmlns:r="http://schemas.openxmlformats.org/officeDocument/2006/relationships" id="300" r:id="Rcff992138ef94062"/>
    <p:sldId xmlns:r="http://schemas.openxmlformats.org/officeDocument/2006/relationships" id="301" r:id="Rc6f06af1089f45da"/>
    <p:sldId xmlns:r="http://schemas.openxmlformats.org/officeDocument/2006/relationships" id="302" r:id="R1c4e5c5908484241"/>
    <p:sldId xmlns:r="http://schemas.openxmlformats.org/officeDocument/2006/relationships" id="303" r:id="R5603c227254c48ab"/>
    <p:sldId xmlns:r="http://schemas.openxmlformats.org/officeDocument/2006/relationships" id="304" r:id="R22b1787bc20749d1"/>
    <p:sldId xmlns:r="http://schemas.openxmlformats.org/officeDocument/2006/relationships" id="305" r:id="R0740bcfc277c40b6"/>
    <p:sldId xmlns:r="http://schemas.openxmlformats.org/officeDocument/2006/relationships" id="306" r:id="Ra164922a97834341"/>
    <p:sldId xmlns:r="http://schemas.openxmlformats.org/officeDocument/2006/relationships" id="307" r:id="Rd1100442fb094d28"/>
    <p:sldId xmlns:r="http://schemas.openxmlformats.org/officeDocument/2006/relationships" id="308" r:id="Rda316eae26ce4049"/>
    <p:sldId xmlns:r="http://schemas.openxmlformats.org/officeDocument/2006/relationships" id="309" r:id="R5509be408a804fa5"/>
    <p:sldId xmlns:r="http://schemas.openxmlformats.org/officeDocument/2006/relationships" id="310" r:id="Ra814e9fa970243c0"/>
    <p:sldId xmlns:r="http://schemas.openxmlformats.org/officeDocument/2006/relationships" id="311" r:id="Ref14d0ce56434fcb"/>
    <p:sldId xmlns:r="http://schemas.openxmlformats.org/officeDocument/2006/relationships" id="312" r:id="R98d831a3d86f4410"/>
    <p:sldId xmlns:r="http://schemas.openxmlformats.org/officeDocument/2006/relationships" id="313" r:id="Re4d712cd891d4b33"/>
    <p:sldId xmlns:r="http://schemas.openxmlformats.org/officeDocument/2006/relationships" id="314" r:id="Rb4ef109696ff4d06"/>
    <p:sldId xmlns:r="http://schemas.openxmlformats.org/officeDocument/2006/relationships" id="315" r:id="Rb81dfb15dfa5424d"/>
    <p:sldId xmlns:r="http://schemas.openxmlformats.org/officeDocument/2006/relationships" id="316" r:id="Reb0a9066205a4f84"/>
    <p:sldId xmlns:r="http://schemas.openxmlformats.org/officeDocument/2006/relationships" id="317" r:id="R4ec0b38c7f0949ca"/>
    <p:sldId xmlns:r="http://schemas.openxmlformats.org/officeDocument/2006/relationships" id="318" r:id="R86402f6ed5ad492a"/>
    <p:sldId xmlns:r="http://schemas.openxmlformats.org/officeDocument/2006/relationships" id="319" r:id="R9703b71fdc094f10"/>
    <p:sldId xmlns:r="http://schemas.openxmlformats.org/officeDocument/2006/relationships" id="320" r:id="R93da7b054f474c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41489f64214c8a" /><Relationship Type="http://schemas.openxmlformats.org/officeDocument/2006/relationships/slideMaster" Target="/ppt/slideMasters/slideMaster1.xml" Id="Rdc503011c79b4029" /><Relationship Type="http://schemas.openxmlformats.org/officeDocument/2006/relationships/notesMaster" Target="/ppt/notesMasters/notesMaster1.xml" Id="R1c40d2a41afb47e2" /><Relationship Type="http://schemas.openxmlformats.org/officeDocument/2006/relationships/presProps" Target="/ppt/presProps.xml" Id="R918c739de06e445c" /><Relationship Type="http://schemas.openxmlformats.org/officeDocument/2006/relationships/tableStyles" Target="/ppt/tableStyles.xml" Id="R9690bbebf78c4de5" /><Relationship Type="http://schemas.openxmlformats.org/officeDocument/2006/relationships/slide" Target="/ppt/slides/slide1.xml" Id="Rb42cde7238b7445d" /><Relationship Type="http://schemas.openxmlformats.org/officeDocument/2006/relationships/slide" Target="/ppt/slides/slide2.xml" Id="Rae6d86b4fb424095" /><Relationship Type="http://schemas.openxmlformats.org/officeDocument/2006/relationships/slide" Target="/ppt/slides/slide3.xml" Id="R40e4c6b01dfe4c47" /><Relationship Type="http://schemas.openxmlformats.org/officeDocument/2006/relationships/slide" Target="/ppt/slides/slide4.xml" Id="Rcc0fb270982d48a2" /><Relationship Type="http://schemas.openxmlformats.org/officeDocument/2006/relationships/slide" Target="/ppt/slides/slide5.xml" Id="Rca1d4c0b91f94132" /><Relationship Type="http://schemas.openxmlformats.org/officeDocument/2006/relationships/slide" Target="/ppt/slides/slide6.xml" Id="R2b7efeaebc56413e" /><Relationship Type="http://schemas.openxmlformats.org/officeDocument/2006/relationships/slide" Target="/ppt/slides/slide7.xml" Id="R9fb235d1057c49bf" /><Relationship Type="http://schemas.openxmlformats.org/officeDocument/2006/relationships/slide" Target="/ppt/slides/slide8.xml" Id="R8222c4b2524f435d" /><Relationship Type="http://schemas.openxmlformats.org/officeDocument/2006/relationships/slide" Target="/ppt/slides/slide9.xml" Id="R22f3fc5862fa4659" /><Relationship Type="http://schemas.openxmlformats.org/officeDocument/2006/relationships/slide" Target="/ppt/slides/slide10.xml" Id="Rc2ac4b259d7045bc" /><Relationship Type="http://schemas.openxmlformats.org/officeDocument/2006/relationships/slide" Target="/ppt/slides/slide11.xml" Id="R468364c92a4f456b" /><Relationship Type="http://schemas.openxmlformats.org/officeDocument/2006/relationships/slide" Target="/ppt/slides/slide12.xml" Id="R9d2015f402fc4864" /><Relationship Type="http://schemas.openxmlformats.org/officeDocument/2006/relationships/slide" Target="/ppt/slides/slide13.xml" Id="Rfdd53945019d46b5" /><Relationship Type="http://schemas.openxmlformats.org/officeDocument/2006/relationships/slide" Target="/ppt/slides/slide14.xml" Id="R84a0c83815e84aa0" /><Relationship Type="http://schemas.openxmlformats.org/officeDocument/2006/relationships/slide" Target="/ppt/slides/slide15.xml" Id="R507f26bb81bf430c" /><Relationship Type="http://schemas.openxmlformats.org/officeDocument/2006/relationships/slide" Target="/ppt/slides/slide16.xml" Id="R0515f7a1bd7c47b9" /><Relationship Type="http://schemas.openxmlformats.org/officeDocument/2006/relationships/slide" Target="/ppt/slides/slide17.xml" Id="R426420ee45234192" /><Relationship Type="http://schemas.openxmlformats.org/officeDocument/2006/relationships/slide" Target="/ppt/slides/slide18.xml" Id="Ra485f07121f64356" /><Relationship Type="http://schemas.openxmlformats.org/officeDocument/2006/relationships/slide" Target="/ppt/slides/slide19.xml" Id="Rb6d295acbeb84eb5" /><Relationship Type="http://schemas.openxmlformats.org/officeDocument/2006/relationships/slide" Target="/ppt/slides/slide20.xml" Id="Rb88729150f804134" /><Relationship Type="http://schemas.openxmlformats.org/officeDocument/2006/relationships/slide" Target="/ppt/slides/slide21.xml" Id="R29c5271052734924" /><Relationship Type="http://schemas.openxmlformats.org/officeDocument/2006/relationships/slide" Target="/ppt/slides/slide22.xml" Id="Rc7f70d2d8dda43dc" /><Relationship Type="http://schemas.openxmlformats.org/officeDocument/2006/relationships/slide" Target="/ppt/slides/slide23.xml" Id="Raf6bba7c0006499c" /><Relationship Type="http://schemas.openxmlformats.org/officeDocument/2006/relationships/slide" Target="/ppt/slides/slide24.xml" Id="R23439e8266d146ad" /><Relationship Type="http://schemas.openxmlformats.org/officeDocument/2006/relationships/slide" Target="/ppt/slides/slide25.xml" Id="Rda3c698526bb45ba" /><Relationship Type="http://schemas.openxmlformats.org/officeDocument/2006/relationships/slide" Target="/ppt/slides/slide26.xml" Id="Ra115f04dffde4b5e" /><Relationship Type="http://schemas.openxmlformats.org/officeDocument/2006/relationships/slide" Target="/ppt/slides/slide27.xml" Id="R80bfe3554492439d" /><Relationship Type="http://schemas.openxmlformats.org/officeDocument/2006/relationships/slide" Target="/ppt/slides/slide28.xml" Id="R06223d62273e41bd" /><Relationship Type="http://schemas.openxmlformats.org/officeDocument/2006/relationships/slide" Target="/ppt/slides/slide29.xml" Id="R4c0ee917c4cd4386" /><Relationship Type="http://schemas.openxmlformats.org/officeDocument/2006/relationships/slide" Target="/ppt/slides/slide30.xml" Id="Rea662518c3884f3a" /><Relationship Type="http://schemas.openxmlformats.org/officeDocument/2006/relationships/slide" Target="/ppt/slides/slide31.xml" Id="Rf1b8da0fed094d6c" /><Relationship Type="http://schemas.openxmlformats.org/officeDocument/2006/relationships/slide" Target="/ppt/slides/slide32.xml" Id="Rc6625ae707ab4df5" /><Relationship Type="http://schemas.openxmlformats.org/officeDocument/2006/relationships/slide" Target="/ppt/slides/slide33.xml" Id="Rf82e9956b46e4093" /><Relationship Type="http://schemas.openxmlformats.org/officeDocument/2006/relationships/slide" Target="/ppt/slides/slide34.xml" Id="R92d44cc51bd546b7" /><Relationship Type="http://schemas.openxmlformats.org/officeDocument/2006/relationships/slide" Target="/ppt/slides/slide35.xml" Id="Rc524ca974dc14aab" /><Relationship Type="http://schemas.openxmlformats.org/officeDocument/2006/relationships/slide" Target="/ppt/slides/slide36.xml" Id="Rb45a3e8419cb4065" /><Relationship Type="http://schemas.openxmlformats.org/officeDocument/2006/relationships/slide" Target="/ppt/slides/slide37.xml" Id="R7a8e3b7637eb41c4" /><Relationship Type="http://schemas.openxmlformats.org/officeDocument/2006/relationships/slide" Target="/ppt/slides/slide38.xml" Id="R397716c13c294600" /><Relationship Type="http://schemas.openxmlformats.org/officeDocument/2006/relationships/slide" Target="/ppt/slides/slide39.xml" Id="Rc73a0a1e769a4c8f" /><Relationship Type="http://schemas.openxmlformats.org/officeDocument/2006/relationships/slide" Target="/ppt/slides/slide40.xml" Id="R68909fe67f754abb" /><Relationship Type="http://schemas.openxmlformats.org/officeDocument/2006/relationships/slide" Target="/ppt/slides/slide41.xml" Id="Rb762575b3ae74434" /><Relationship Type="http://schemas.openxmlformats.org/officeDocument/2006/relationships/slide" Target="/ppt/slides/slide42.xml" Id="R66ac8d9ecc3d42e4" /><Relationship Type="http://schemas.openxmlformats.org/officeDocument/2006/relationships/slide" Target="/ppt/slides/slide43.xml" Id="R7adf8e90d6f64179" /><Relationship Type="http://schemas.openxmlformats.org/officeDocument/2006/relationships/slide" Target="/ppt/slides/slide44.xml" Id="Rbe0ecd92e5744c6f" /><Relationship Type="http://schemas.openxmlformats.org/officeDocument/2006/relationships/slide" Target="/ppt/slides/slide45.xml" Id="Rcff992138ef94062" /><Relationship Type="http://schemas.openxmlformats.org/officeDocument/2006/relationships/slide" Target="/ppt/slides/slide46.xml" Id="Rc6f06af1089f45da" /><Relationship Type="http://schemas.openxmlformats.org/officeDocument/2006/relationships/slide" Target="/ppt/slides/slide47.xml" Id="R1c4e5c5908484241" /><Relationship Type="http://schemas.openxmlformats.org/officeDocument/2006/relationships/slide" Target="/ppt/slides/slide48.xml" Id="R5603c227254c48ab" /><Relationship Type="http://schemas.openxmlformats.org/officeDocument/2006/relationships/slide" Target="/ppt/slides/slide49.xml" Id="R22b1787bc20749d1" /><Relationship Type="http://schemas.openxmlformats.org/officeDocument/2006/relationships/slide" Target="/ppt/slides/slide50.xml" Id="R0740bcfc277c40b6" /><Relationship Type="http://schemas.openxmlformats.org/officeDocument/2006/relationships/slide" Target="/ppt/slides/slide51.xml" Id="Ra164922a97834341" /><Relationship Type="http://schemas.openxmlformats.org/officeDocument/2006/relationships/slide" Target="/ppt/slides/slide52.xml" Id="Rd1100442fb094d28" /><Relationship Type="http://schemas.openxmlformats.org/officeDocument/2006/relationships/slide" Target="/ppt/slides/slide53.xml" Id="Rda316eae26ce4049" /><Relationship Type="http://schemas.openxmlformats.org/officeDocument/2006/relationships/slide" Target="/ppt/slides/slide54.xml" Id="R5509be408a804fa5" /><Relationship Type="http://schemas.openxmlformats.org/officeDocument/2006/relationships/slide" Target="/ppt/slides/slide55.xml" Id="Ra814e9fa970243c0" /><Relationship Type="http://schemas.openxmlformats.org/officeDocument/2006/relationships/slide" Target="/ppt/slides/slide56.xml" Id="Ref14d0ce56434fcb" /><Relationship Type="http://schemas.openxmlformats.org/officeDocument/2006/relationships/slide" Target="/ppt/slides/slide57.xml" Id="R98d831a3d86f4410" /><Relationship Type="http://schemas.openxmlformats.org/officeDocument/2006/relationships/slide" Target="/ppt/slides/slide58.xml" Id="Re4d712cd891d4b33" /><Relationship Type="http://schemas.openxmlformats.org/officeDocument/2006/relationships/slide" Target="/ppt/slides/slide59.xml" Id="Rb4ef109696ff4d06" /><Relationship Type="http://schemas.openxmlformats.org/officeDocument/2006/relationships/slide" Target="/ppt/slides/slide60.xml" Id="Rb81dfb15dfa5424d" /><Relationship Type="http://schemas.openxmlformats.org/officeDocument/2006/relationships/slide" Target="/ppt/slides/slide61.xml" Id="Reb0a9066205a4f84" /><Relationship Type="http://schemas.openxmlformats.org/officeDocument/2006/relationships/slide" Target="/ppt/slides/slide62.xml" Id="R4ec0b38c7f0949ca" /><Relationship Type="http://schemas.openxmlformats.org/officeDocument/2006/relationships/slide" Target="/ppt/slides/slide63.xml" Id="R86402f6ed5ad492a" /><Relationship Type="http://schemas.openxmlformats.org/officeDocument/2006/relationships/slide" Target="/ppt/slides/slide64.xml" Id="R9703b71fdc094f10" /><Relationship Type="http://schemas.openxmlformats.org/officeDocument/2006/relationships/slide" Target="/ppt/slides/slide65.xml" Id="R93da7b054f474c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941f9c95be4d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a17625badf46a3" /><Relationship Type="http://schemas.openxmlformats.org/officeDocument/2006/relationships/notesMaster" Target="/ppt/notesMasters/notesMaster1.xml" Id="R7fd29f8ccd1342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0f12d35a994b35" /><Relationship Type="http://schemas.openxmlformats.org/officeDocument/2006/relationships/notesMaster" Target="/ppt/notesMasters/notesMaster1.xml" Id="R9551993f58694d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2d43a4ba544348" /><Relationship Type="http://schemas.openxmlformats.org/officeDocument/2006/relationships/notesMaster" Target="/ppt/notesMasters/notesMaster1.xml" Id="R260572888c6e4e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a04531cf4449d6" /><Relationship Type="http://schemas.openxmlformats.org/officeDocument/2006/relationships/notesMaster" Target="/ppt/notesMasters/notesMaster1.xml" Id="R53f2b5d479714f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39f97f7a424b8d" /><Relationship Type="http://schemas.openxmlformats.org/officeDocument/2006/relationships/notesMaster" Target="/ppt/notesMasters/notesMaster1.xml" Id="Rf624b49c877046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caa478f5c54a19" /><Relationship Type="http://schemas.openxmlformats.org/officeDocument/2006/relationships/notesMaster" Target="/ppt/notesMasters/notesMaster1.xml" Id="Rbba75e8976954f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3324f582f04657" /><Relationship Type="http://schemas.openxmlformats.org/officeDocument/2006/relationships/notesMaster" Target="/ppt/notesMasters/notesMaster1.xml" Id="R8ac3bf2d1c314e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276fa8c51d4659" /><Relationship Type="http://schemas.openxmlformats.org/officeDocument/2006/relationships/notesMaster" Target="/ppt/notesMasters/notesMaster1.xml" Id="R5a27eea786064c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c887d738cb47ef" /><Relationship Type="http://schemas.openxmlformats.org/officeDocument/2006/relationships/notesMaster" Target="/ppt/notesMasters/notesMaster1.xml" Id="R0df41aaf57cf4b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6e29a87ab44ccd" /><Relationship Type="http://schemas.openxmlformats.org/officeDocument/2006/relationships/notesMaster" Target="/ppt/notesMasters/notesMaster1.xml" Id="R2ffdc9d5605541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6ccb8f9ae44b05" /><Relationship Type="http://schemas.openxmlformats.org/officeDocument/2006/relationships/notesMaster" Target="/ppt/notesMasters/notesMaster1.xml" Id="R7ed2cba3dbcb40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4757efce0f4b31" /><Relationship Type="http://schemas.openxmlformats.org/officeDocument/2006/relationships/notesMaster" Target="/ppt/notesMasters/notesMaster1.xml" Id="R7aa07df794e141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692f6a5b964714" /><Relationship Type="http://schemas.openxmlformats.org/officeDocument/2006/relationships/notesMaster" Target="/ppt/notesMasters/notesMaster1.xml" Id="R60cb7ba439a44c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8d1db4df224909" /><Relationship Type="http://schemas.openxmlformats.org/officeDocument/2006/relationships/notesMaster" Target="/ppt/notesMasters/notesMaster1.xml" Id="Rc003ed568c2a44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f8f841b9df42b7" /><Relationship Type="http://schemas.openxmlformats.org/officeDocument/2006/relationships/notesMaster" Target="/ppt/notesMasters/notesMaster1.xml" Id="R541dd272879645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f570d4f7df4c4f" /><Relationship Type="http://schemas.openxmlformats.org/officeDocument/2006/relationships/notesMaster" Target="/ppt/notesMasters/notesMaster1.xml" Id="Rb1be693c57f347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b8d8b6455c4e44" /><Relationship Type="http://schemas.openxmlformats.org/officeDocument/2006/relationships/notesMaster" Target="/ppt/notesMasters/notesMaster1.xml" Id="Ra482b0ddee0e4b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b662aee55849fb" /><Relationship Type="http://schemas.openxmlformats.org/officeDocument/2006/relationships/notesMaster" Target="/ppt/notesMasters/notesMaster1.xml" Id="R078a6ec5b81043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a0571b93284c19" /><Relationship Type="http://schemas.openxmlformats.org/officeDocument/2006/relationships/notesMaster" Target="/ppt/notesMasters/notesMaster1.xml" Id="Rf131f68e5c1e40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c4844cc21b41eb" /><Relationship Type="http://schemas.openxmlformats.org/officeDocument/2006/relationships/notesMaster" Target="/ppt/notesMasters/notesMaster1.xml" Id="R22df8e12fd3144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ab62a4dbee4e1a" /><Relationship Type="http://schemas.openxmlformats.org/officeDocument/2006/relationships/notesMaster" Target="/ppt/notesMasters/notesMaster1.xml" Id="Rd02a36c6437849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d9c9e5e79c44ca1" /><Relationship Type="http://schemas.openxmlformats.org/officeDocument/2006/relationships/notesMaster" Target="/ppt/notesMasters/notesMaster1.xml" Id="Rf9d9dab8fc014e2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3f7903ad5304437" /><Relationship Type="http://schemas.openxmlformats.org/officeDocument/2006/relationships/notesMaster" Target="/ppt/notesMasters/notesMaster1.xml" Id="Rbbdb52a5423a40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e2e60a4ce843e7" /><Relationship Type="http://schemas.openxmlformats.org/officeDocument/2006/relationships/notesMaster" Target="/ppt/notesMasters/notesMaster1.xml" Id="R93010d8e2f124d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c5c3744b2f438b" /><Relationship Type="http://schemas.openxmlformats.org/officeDocument/2006/relationships/notesMaster" Target="/ppt/notesMasters/notesMaster1.xml" Id="R5514e6ad58594a0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9e068bff3734d03" /><Relationship Type="http://schemas.openxmlformats.org/officeDocument/2006/relationships/notesMaster" Target="/ppt/notesMasters/notesMaster1.xml" Id="R38b8d0a6b78e4b1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7bc89155cb4f2c" /><Relationship Type="http://schemas.openxmlformats.org/officeDocument/2006/relationships/notesMaster" Target="/ppt/notesMasters/notesMaster1.xml" Id="Ra7d3478d68ac4c0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1e1a867a4a24b61" /><Relationship Type="http://schemas.openxmlformats.org/officeDocument/2006/relationships/notesMaster" Target="/ppt/notesMasters/notesMaster1.xml" Id="R09a17f0ac463495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be00fecfb7b4495" /><Relationship Type="http://schemas.openxmlformats.org/officeDocument/2006/relationships/notesMaster" Target="/ppt/notesMasters/notesMaster1.xml" Id="R02eccb2229594a7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8ee116d54ab4da7" /><Relationship Type="http://schemas.openxmlformats.org/officeDocument/2006/relationships/notesMaster" Target="/ppt/notesMasters/notesMaster1.xml" Id="R85b487a456c6401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1a18d6fc657470a" /><Relationship Type="http://schemas.openxmlformats.org/officeDocument/2006/relationships/notesMaster" Target="/ppt/notesMasters/notesMaster1.xml" Id="R2de8b4b5bfd3446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9a64ea1c41b4c56" /><Relationship Type="http://schemas.openxmlformats.org/officeDocument/2006/relationships/notesMaster" Target="/ppt/notesMasters/notesMaster1.xml" Id="Rad4f0c037c144c1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d936a5eaabd48c9" /><Relationship Type="http://schemas.openxmlformats.org/officeDocument/2006/relationships/notesMaster" Target="/ppt/notesMasters/notesMaster1.xml" Id="Ref95bcce594948d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7efcdb72a1441a3" /><Relationship Type="http://schemas.openxmlformats.org/officeDocument/2006/relationships/notesMaster" Target="/ppt/notesMasters/notesMaster1.xml" Id="R67546a43aff74f7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0c8db637a034b77" /><Relationship Type="http://schemas.openxmlformats.org/officeDocument/2006/relationships/notesMaster" Target="/ppt/notesMasters/notesMaster1.xml" Id="R9c8ad3087f0346b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c6674a622834362" /><Relationship Type="http://schemas.openxmlformats.org/officeDocument/2006/relationships/notesMaster" Target="/ppt/notesMasters/notesMaster1.xml" Id="Rabffb2d832004be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45dd4cca41146b3" /><Relationship Type="http://schemas.openxmlformats.org/officeDocument/2006/relationships/notesMaster" Target="/ppt/notesMasters/notesMaster1.xml" Id="R6af239b84ec74c4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d32a07c74b246a8" /><Relationship Type="http://schemas.openxmlformats.org/officeDocument/2006/relationships/notesMaster" Target="/ppt/notesMasters/notesMaster1.xml" Id="R60fdc7187b90410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7c4df7f18bf460f" /><Relationship Type="http://schemas.openxmlformats.org/officeDocument/2006/relationships/notesMaster" Target="/ppt/notesMasters/notesMaster1.xml" Id="R682be51b67564d3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fc428d851ab4b0f" /><Relationship Type="http://schemas.openxmlformats.org/officeDocument/2006/relationships/notesMaster" Target="/ppt/notesMasters/notesMaster1.xml" Id="R30af851105e543f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0d0af685ed248fe" /><Relationship Type="http://schemas.openxmlformats.org/officeDocument/2006/relationships/notesMaster" Target="/ppt/notesMasters/notesMaster1.xml" Id="Rb2830c84e04a469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92620daac9a4f55" /><Relationship Type="http://schemas.openxmlformats.org/officeDocument/2006/relationships/notesMaster" Target="/ppt/notesMasters/notesMaster1.xml" Id="R0e4221cb8ec6452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f0a784d1bff4c4c" /><Relationship Type="http://schemas.openxmlformats.org/officeDocument/2006/relationships/notesMaster" Target="/ppt/notesMasters/notesMaster1.xml" Id="Rd72e4082c859411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4f4d68240c04be5" /><Relationship Type="http://schemas.openxmlformats.org/officeDocument/2006/relationships/notesMaster" Target="/ppt/notesMasters/notesMaster1.xml" Id="Ra6f7172d845e4fd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9f0a0b698154f24" /><Relationship Type="http://schemas.openxmlformats.org/officeDocument/2006/relationships/notesMaster" Target="/ppt/notesMasters/notesMaster1.xml" Id="R28b1715a12c24a3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c8ff11262c848d3" /><Relationship Type="http://schemas.openxmlformats.org/officeDocument/2006/relationships/notesMaster" Target="/ppt/notesMasters/notesMaster1.xml" Id="Ree3ca21edaef4cf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d261ebb605f4a8e" /><Relationship Type="http://schemas.openxmlformats.org/officeDocument/2006/relationships/notesMaster" Target="/ppt/notesMasters/notesMaster1.xml" Id="Rfb75b2881e7141e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4d9e933de4d48c1" /><Relationship Type="http://schemas.openxmlformats.org/officeDocument/2006/relationships/notesMaster" Target="/ppt/notesMasters/notesMaster1.xml" Id="Rd340c2aefa88429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fa99cf010844c5f" /><Relationship Type="http://schemas.openxmlformats.org/officeDocument/2006/relationships/notesMaster" Target="/ppt/notesMasters/notesMaster1.xml" Id="R4aad8983da5a48b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b54a188e355433a" /><Relationship Type="http://schemas.openxmlformats.org/officeDocument/2006/relationships/notesMaster" Target="/ppt/notesMasters/notesMaster1.xml" Id="R43005e65a36a4f0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8ab234f6df94770" /><Relationship Type="http://schemas.openxmlformats.org/officeDocument/2006/relationships/notesMaster" Target="/ppt/notesMasters/notesMaster1.xml" Id="Rd47ec5861a12446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1bd8b711dda4077" /><Relationship Type="http://schemas.openxmlformats.org/officeDocument/2006/relationships/notesMaster" Target="/ppt/notesMasters/notesMaster1.xml" Id="R884b5bf44860424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65a16bb631d4d2b" /><Relationship Type="http://schemas.openxmlformats.org/officeDocument/2006/relationships/notesMaster" Target="/ppt/notesMasters/notesMaster1.xml" Id="R165194e29f2241c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5fcdb45da174a76" /><Relationship Type="http://schemas.openxmlformats.org/officeDocument/2006/relationships/notesMaster" Target="/ppt/notesMasters/notesMaster1.xml" Id="R48cd3bff590f431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cd744af1e8f4bbe" /><Relationship Type="http://schemas.openxmlformats.org/officeDocument/2006/relationships/notesMaster" Target="/ppt/notesMasters/notesMaster1.xml" Id="R00235feb4acb4f3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1603677f6c24190" /><Relationship Type="http://schemas.openxmlformats.org/officeDocument/2006/relationships/notesMaster" Target="/ppt/notesMasters/notesMaster1.xml" Id="Rd82c00c3d8a7452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f7122ad6e6f4586" /><Relationship Type="http://schemas.openxmlformats.org/officeDocument/2006/relationships/notesMaster" Target="/ppt/notesMasters/notesMaster1.xml" Id="Rd497874a94294fb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020d0a967dd43ec" /><Relationship Type="http://schemas.openxmlformats.org/officeDocument/2006/relationships/notesMaster" Target="/ppt/notesMasters/notesMaster1.xml" Id="Rbaa595d892904b1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4f6ac6e850743aa" /><Relationship Type="http://schemas.openxmlformats.org/officeDocument/2006/relationships/notesMaster" Target="/ppt/notesMasters/notesMaster1.xml" Id="R8b28bb6085b64b3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eea0670de3246a9" /><Relationship Type="http://schemas.openxmlformats.org/officeDocument/2006/relationships/notesMaster" Target="/ppt/notesMasters/notesMaster1.xml" Id="R7227a70835a147a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bce719c7c034875" /><Relationship Type="http://schemas.openxmlformats.org/officeDocument/2006/relationships/notesMaster" Target="/ppt/notesMasters/notesMaster1.xml" Id="R8228beca3da6450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e7fa5c6af0e4083" /><Relationship Type="http://schemas.openxmlformats.org/officeDocument/2006/relationships/notesMaster" Target="/ppt/notesMasters/notesMaster1.xml" Id="Rd08939c49e774de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8fb22f5e75f48ed" /><Relationship Type="http://schemas.openxmlformats.org/officeDocument/2006/relationships/notesMaster" Target="/ppt/notesMasters/notesMaster1.xml" Id="Re49af5549e42406b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3b1e9c0d0af4f66" /><Relationship Type="http://schemas.openxmlformats.org/officeDocument/2006/relationships/notesMaster" Target="/ppt/notesMasters/notesMaster1.xml" Id="Rcbcbb9018d4a4cd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c61528b08634cae" /><Relationship Type="http://schemas.openxmlformats.org/officeDocument/2006/relationships/notesMaster" Target="/ppt/notesMasters/notesMaster1.xml" Id="Rd99c9603565d40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本次培训关注 AI 系统如何参与学校管理任务，而非软件菜单或功能清单。开场应说明：技术基础不是参与前提，判断一项真实工作能否被清楚委托、检查和改进才是本次学习重点。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ainative-2/index.html,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目录用于说明两部分、五个子章节之间的关系。第一部分先从个人实践进入人才与管理判断；第二部分通过共同任务和任务库，将理念转化为可执行、可检查并可延续为部门作业的工作方法。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课程分为认知、实践和作业三个阶段，并在两个阶段之间各安排 10 分钟休息。培训成果以完成一次受控任务并形成部门作业为准，不以掌握全部产品功能为准。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以简短举手调查了解当前使用基础，不对熟练程度作价值判断。A 与 B 的差异用于说明：问答使用和任务委托具有不同的管理要求。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本部分安排在 14:30—15:50。先用三组个人实践建立观察基础，再讨论未来人才的能力结构，最后回到学校管理任务与组织改造。案例说明的是本人实践所得，不作为所有学校或组织的普遍结论。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  <a:p xmlns:a="http://schemas.openxmlformats.org/drawingml/2006/main">
            <a:r>
              <a:t>- Local source: ainative-2/index.html,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本子章节通过三组本人直接参与的实践说明：技术实现速度提高以后，专业判断、真实采用和结果验证的相对重要性上升。案例不外推为所有学校或组织的普遍结论。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接下来只介绍三组我亲自参与的实践。它们并不构成普遍性结论，但让我看到同一变化：当实现速度提高，专业判断、真实采用和结果验证的权重随之上升。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我为女儿做的家庭学习原型。她喜欢小猪佩奇、库洛米和迪士尼公主，我便从这些兴趣出发设计英语活动，也尝试把勇气、友善和坚持等品格放进互动。真正触动我的不是做出一个应用，而是我第一次清楚感到：实现已经变快，教育判断反而变得更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原型可以很快做出来，但培养目标、适龄性、内容边界以及理解与迁移，仍然要由家长和教育者结合真实学习过程判断。技术解决了部分实现问题，并没有替我们完成教育决策。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正式邀请函与 UNESCO 官方暂定议程确认了这次分论坛交流，主题涉及教师能动性与专业发展。更重要的是，这项实践不是把现成工具交给教师，而是让教师带着真实课堂问题参与智能体设计，再回到课堂中修订。邀请对应的是交流安排，不延伸解读为项目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  <a:p xmlns:a="http://schemas.openxmlformats.org/drawingml/2006/main">
            <a:r>
              <a:t>- UNESCO Digital Learning Week 2026 Provisional Programme, p.8; formal invitation dated 2026-07-21.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这一实践以教师的真实课堂问题为起点，经过协同设计、课堂试验和证据修订形成专业发展循环。官方议程确认的是分享安排；项目触达人数、研究样本与学习效果需要分别依据实施记录和研究证据判断。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我们的团队实践仍处于推进阶段。产品角色开始参与部署与测试，研发角色开始参与产品设计和用户判断；原型周期缩短后，组织需要同时承担采用、可靠性、成本、治理与复用责任。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效率与组织价值采用不同的衡量标准。局部产出变快，只是起点；用户是否采用、结果是否可靠、系统能否持续运行，才决定它有没有真正进入组织。这是我们在团队改造中的直接体会，不把它外推为所有企业的共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接下来从三组实践过渡到人才标准。这些判断用于学校管理讨论：K12 需要为学生准备怎样的能力结构，也需要用怎样的组织工作方式为教师和管理者示范。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这不是说制作、工程或基础知识不再重要，而是当一般性生成更容易时，稀缺能力更多集中在问题选择、专业判断、验证和责任承担。学校不应把 AI 素养缩减为会不会操作某个工具。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可以用 T 形能力说明：纵向是专业知识、标准和现场经验，横向是理解任务、组织执行、验证结果和说明责任。横向能力不是替代专业，而是让专业能够进入真实协作。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未来协作中，每个人仍然需要主专长，但也要理解相邻环节的语言和标准。适度重叠可以在交接之前发现问题，减少“各自完成、整体失效”的情况。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学校培养的不是五种岗位，而是让学生理解一项成果从问题发现到长期维护的完整过程。不同学生可以在其中形成专长，但需要知道成果为什么会在真实现场失败。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我的体会是，AI 可以帮助个人触及原来不熟悉的环节，但高影响结果仍需合格人员复核。对学校而言，这意味着学生既要学会借助系统扩大行动范围，也要理解资格、边界和最终责任不能交给系统。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本子章节将前述人才判断转向学校管理。重点不在技术趋势本身，而在 AI 系统参与任务执行后，问题定义、证据链、责任划分和数据边界如何改变。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ainative-2/index.html,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学校中的方案、总结和汇报可用于说明：文本完整性并不能证明内容已被采用或产生改进。AI 系统降低的是一般生成成本，教育判断与管理责任仍由人员承担。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slide 3 and related speaker notes,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生成与制作环节仍然存在，但其门槛正在下降。管理层的关注重点应相应转向问题定义的准确性与结果的实际作用。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slides 4–5,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教学、教研和管理任务不应只保留最终文档。各环节需要说明材料依据、责任主体与后续行动。华一的行政会议、课程建设或大型活动可作为说明案例。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slide 6,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Agentic system 在本课程中指能够围绕目标执行多个步骤，并依据检查结果继续修正的系统。该页只建立工作定义，不讨论技术实现。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slide 9,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以一个近期项目说明原有流程、调整后的生产与审查分工，以及保留最终确认的原因。案例应体现具体工作变化，工具名称仅作为背景信息。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slide 10 and user practice reflection,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联系学校管理：一位主任会用 AI，不代表跨部门流程改变；一位老师生成得快，也不代表内容经过教研、使用和反馈。组织效率来自减少等待和重复，并共享标准与状态。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slides 19–20 refinement notes,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三项概念分别对应 Context、Harness 与 Loop。教学顺序以中文功能解释为主，英文术语作为补充。可用家长通知案例说明所需背景、禁止事项与检查方式。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slide 11,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教育场景具有较高的信任、情境和责任要求。AI 系统可用于材料准备与遗漏检查，但学生评价、教师评价、处分和公开发布等事项不得由系统独立决定。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slide 17,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该页同时构成课堂规则和学校试点的基本边界。现场不得上传真实学生数据；学员自带文件必须先完成脱敏并由业务负责人确认。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safety design based on the K12 context provided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可用一个本人经历的失败案例说明：结果具有专业外观，但遗漏关键事实、缺少真实验证或未经过适当审查。该案例用于引出后续任务实践，不构成工具效果证据。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slide 31,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15:50—16:00 安排休息。16:00 开始任务实践，并确认每组至少有一台已登录 WorkBuddy 的电脑。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product guide: https://www.workbuddy.cn/docs/workbuddy/From-Beginner-to-Expert-Guide/Product-Guide,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本子章节要求所有参与者经历同一条任务链：宽泛委托、结果检查、补充任务要素、第二轮执行与独立审查。共同任务用于建立任务说明和结果验证的基本方法。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product guide: https://www.workbuddy.cn/docs/workbuddy/From-Beginner-to-Expert-Guide/Product-Guide,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产品介绍限于本次实践所需功能：在授权范围内读取本地文件、规划任务并生成文档、表格或 PPT。Skills、MCP 与自动化不在现场共同任务范围内。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product guide: https://www.workbuddy.cn/docs/workbuddy/From-Beginner-to-Expert-Guide/Product-Guide,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第一轮保留参与者原有任务表达，用于观察系统的默认处理；独立审查识别依据与责任缺口；第二轮补充任务要素后重新执行。第一轮不统一纠正，以保留可比较的差异。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分组后用 2 分钟确定角色。账号不足时每组使用一台电脑。执行前再次确认不上传真实学生个人数据。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这两个任务是现场稳定性检查，也是低门槛入门。若 Ask 模式无法读取文件，先检查工作空间；若 Craft 模式无法保存产物，切换到讲师预先保存的材料检查卡示例，不在现场长时间排障。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task-bar guide: https://www.workbuddy.cn/docs/workbuddy/From-Beginner-to-Expert-Guide/Function-Description/Task-Bar,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该页用于讲解共同任务背景，但 WorkBuddy 的实际输入统一使用练习材料包中的“共同任务材料.txt”。不要求系统从整份课件中定位本页，以减少文件解析差异对现场体验的影响。页面中的数据均为课程模拟数据，不代表华一学校现状。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Author-created synthetic training scenario; not factual HuaYi School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第一轮统一使用独立文字材料和 Craft 模式。WorkBuddy 如提出澄清问题，各组可按自身理解回答，但不使用统一模板。该设计用于保留不同组之间可比较的结果差异。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Author-created training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小组用 8 分钟完成检查，并在结果中标出具体句子。审查结论应指向可见内容，不使用笼统的模型风险表述。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 2—3 组展示结果差异。复盘围绕目标、材料、交付、约束、证据和检查展开，不将差异简单归因于模型能力。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该方法以任务委托为参照，弱化提示词技巧。六项要素对应管理者向新同事交办工作时需要说明的基本信息。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第二轮切换到 Plan 模式，先检查系统提出的计划，再允许生成文件。保留第一轮结果，以便对照两轮差异。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Author-created training prompt based on the task-contract framework.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该页体现生产与审查分离的实践原则。系统生成的审查意见不构成最终证明，业务负责人仍需回到原始材料核查。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user practice and ainative-2 review-loop framing,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每组用一个具体发现参与复盘，避免转为长时间成果展示。发言应归入多步骤执行、信息补全、依据核查或方法复用四类认识。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逐项说明场景，但不使用真实业务资料进行现场演示。每位管理者可标记一个与自身职责最接近的候选任务。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本子章节提供可按部门和剩余时间灵活选择的任务库。现场不要求完成全部任务；未完成任务保留材料、对话、交付要求与检查标准，并在一周内继续作为部门作业。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task-bar guide: https://www.workbuddy.cn/docs/workbuddy/From-Beginner-to-Expert-Guide/Function-Description/Task-Bar,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该页用于选讲导航。现场主线只包含共同任务、T01 和 T03；T04 仅在课前验证数据分析与图表输出正常时开放。附录任务用于课后探索，不作为现场能力承诺。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guide: https://www.workbuddy.cn/docs/workbuddy/From-Beginner-to-Expert-Guide/Function-Description/Task-Bar, accessed 2026-08-25.</a:t>
            </a:r>
          </a:p>
          <a:p xmlns:a="http://schemas.openxmlformats.org/drawingml/2006/main">
            <a:r>
              <a:t>- WorkBuddy official practices index: https://www.workbuddy.cn/docs/workbuddy/From-Beginner-to-Expert-Guide/Function-Description/Permission-Modes,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共同任务结束后，优先选择 T01 或 T03。T04 仅在课前已用同一账号、同一模型和同一 CSV 验证成功时开放。若任务在 3 分钟内无法正常读取材料或生成产物，立即切换到已保存的示例结果并转入审查，不在现场排障。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T01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practice one: https://www.workbuddy.cn/docs/workbuddy/From-Beginner-to-Expert-Guide/Practice-Cases/Practice-One,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T03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permissions guide: https://www.workbuddy.cn/docs/workbuddy/From-Beginner-to-Expert-Guide/Function-Description/Permission-Modes,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T04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data-analysis practice: https://www.workbuddy.cn/docs/workbuddy/From-Beginner-to-Expert-Guide/Practice-Cases/Practice-Three,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T08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permissions guide: https://www.workbuddy.cn/docs/workbuddy/From-Beginner-to-Expert-Guide/Function-Description/Permission-Modes,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T06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task-bar guide: https://www.workbuddy.cn/docs/workbuddy/From-Beginner-to-Expert-Guide/Function-Description/Task-Bar,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T09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document-processing practices index: https://www.workbuddy.cn/docs/workbuddy/From-Beginner-to-Expert-Guide/Function-Description/Permission-Modes,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T02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task-bar guide: https://www.workbuddy.cn/docs/workbuddy/From-Beginner-to-Expert-Guide/Function-Description/Task-Bar,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T10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permissions guide: https://www.workbuddy.cn/docs/workbuddy/From-Beginner-to-Expert-Guide/Function-Description/Permission-Modes,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T05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data-analysis practice: https://www.workbuddy.cn/docs/workbuddy/From-Beginner-to-Expert-Guide/Practice-Cases/Practice-Three,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各组依据五项条件检查候选任务，并记录任务名称与业务负责人。该判断仅用于选择小范围试点，不构成全校推广承诺。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90-day pilot principles,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部门作业用于延续现场任务，不要求另写心得。每个部门至少完成两项，并继续使用现场保留的对话和产物。一周后提交一页试点卡，并安排 30 分钟复盘。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六项问题构成作业评价标准，每个部门提交一页即可。后续复盘优先讨论失败、证据缺口和人工接管，避免只展示成功结果。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design based on the user-provided training context; no external factual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开放题用于保留后续探索空间，不在现场进行未经验证的功能演示。PPT 生成、Skill 与自动化均需要在固定账号、固定工作空间和固定材料下单独验证；验证结果应记录成功条件、失败方式与人工接管要求。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product guide: https://www.workbuddy.cn/docs/workbuddy/From-Beginner-to-Expert-Guide/Product-Guide,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T07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practice two: https://www.workbuddy.cn/docs/workbuddy/From-Beginner-to-Expert-Guide/Practice-Cases/Practice-Two,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T11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Skills guide: https://www.workbuddy.cn/docs/workbuddy/From-Beginner-to-Expert-Guide/Function-Description/Skills-Market,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T12 为选做任务，不要求在现场全部完成。讲师可根据部门构成、设备条件与剩余时间选讲；未完成任务纳入部门作业。执行仅使用模拟、公开或脱敏材料，所有结果均由业务负责人复核。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automation guide: https://www.workbuddy.cn/docs/workbuddy/From-Beginner-to-Expert-Guide/Function-Description/Automation-Guide,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结束前，每位参与者记录一项准备开展的真实任务，并明确业务负责人、材料范围和检查标准。课程以具体行动收束，不追加一般性口号。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closing principles, accessed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6baf524af42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a6df0144c545bd" /><Relationship Type="http://schemas.openxmlformats.org/officeDocument/2006/relationships/slideLayout" Target="/ppt/slideLayouts/slideLayout1.xml" Id="R24f51f6a8c6c4c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f51f6a8c6c4c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ca6b2cbb34406" /><Relationship Type="http://schemas.openxmlformats.org/officeDocument/2006/relationships/notesSlide" Target="/ppt/notesSlides/notesSlide1.xml" Id="Rdbbba81ea2f64e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185361f414fd1" /><Relationship Type="http://schemas.openxmlformats.org/officeDocument/2006/relationships/notesSlide" Target="/ppt/notesSlides/notesSlide2.xml" Id="R50c5d61f094e4f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d22896e144723" /><Relationship Type="http://schemas.openxmlformats.org/officeDocument/2006/relationships/notesSlide" Target="/ppt/notesSlides/notesSlide3.xml" Id="Rd478edbf297c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3c4f148c343e9" /><Relationship Type="http://schemas.openxmlformats.org/officeDocument/2006/relationships/notesSlide" Target="/ppt/notesSlides/notesSlide4.xml" Id="Rd68026683fab4d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a03ab38cd4b54" /><Relationship Type="http://schemas.openxmlformats.org/officeDocument/2006/relationships/notesSlide" Target="/ppt/notesSlides/notesSlide5.xml" Id="R20d531734b774c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3ed7a95ef44bb" /><Relationship Type="http://schemas.openxmlformats.org/officeDocument/2006/relationships/notesSlide" Target="/ppt/notesSlides/notesSlide6.xml" Id="Rf7d97706c5e748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48bcc8f2a4384" /><Relationship Type="http://schemas.openxmlformats.org/officeDocument/2006/relationships/notesSlide" Target="/ppt/notesSlides/notesSlide7.xml" Id="R97aba103cfa943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b8789ecbc4f79" /><Relationship Type="http://schemas.openxmlformats.org/officeDocument/2006/relationships/image" Target="/ppt/media/image.png" Id="Rc81a8c2a9885447a" /><Relationship Type="http://schemas.openxmlformats.org/officeDocument/2006/relationships/notesSlide" Target="/ppt/notesSlides/notesSlide8.xml" Id="Rf235d9d0c43946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e1d1d3e6c4e54" /><Relationship Type="http://schemas.openxmlformats.org/officeDocument/2006/relationships/notesSlide" Target="/ppt/notesSlides/notesSlide9.xml" Id="Ra7ff417f653e49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2cd48548248bd" /><Relationship Type="http://schemas.openxmlformats.org/officeDocument/2006/relationships/image" Target="/ppt/media/image.jpeg" Id="Ra7228639215f4d0e" /><Relationship Type="http://schemas.openxmlformats.org/officeDocument/2006/relationships/notesSlide" Target="/ppt/notesSlides/notesSlide10.xml" Id="Rbd809e5c08e741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d914f06d9467b" /><Relationship Type="http://schemas.openxmlformats.org/officeDocument/2006/relationships/notesSlide" Target="/ppt/notesSlides/notesSlide11.xml" Id="Rd82683207ba448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385c1e3864258" /><Relationship Type="http://schemas.openxmlformats.org/officeDocument/2006/relationships/notesSlide" Target="/ppt/notesSlides/notesSlide12.xml" Id="Rcb51ae3889454f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308e692514e38" /><Relationship Type="http://schemas.openxmlformats.org/officeDocument/2006/relationships/notesSlide" Target="/ppt/notesSlides/notesSlide13.xml" Id="R63c6ca3c58f644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c050065034784" /><Relationship Type="http://schemas.openxmlformats.org/officeDocument/2006/relationships/notesSlide" Target="/ppt/notesSlides/notesSlide14.xml" Id="R7bae7d29d6404d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cc751221e4ffc" /><Relationship Type="http://schemas.openxmlformats.org/officeDocument/2006/relationships/notesSlide" Target="/ppt/notesSlides/notesSlide15.xml" Id="R171f711870cf4c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07f45666f4dd1" /><Relationship Type="http://schemas.openxmlformats.org/officeDocument/2006/relationships/notesSlide" Target="/ppt/notesSlides/notesSlide16.xml" Id="R63220c9b4c6649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9f8922f6647ad" /><Relationship Type="http://schemas.openxmlformats.org/officeDocument/2006/relationships/notesSlide" Target="/ppt/notesSlides/notesSlide17.xml" Id="R777f2ef6d2b44a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463d654a04baf" /><Relationship Type="http://schemas.openxmlformats.org/officeDocument/2006/relationships/notesSlide" Target="/ppt/notesSlides/notesSlide18.xml" Id="R3480c822c0294f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5c2d0ea2d4390" /><Relationship Type="http://schemas.openxmlformats.org/officeDocument/2006/relationships/notesSlide" Target="/ppt/notesSlides/notesSlide19.xml" Id="R6b414708abe247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df199ec0749d2" /><Relationship Type="http://schemas.openxmlformats.org/officeDocument/2006/relationships/notesSlide" Target="/ppt/notesSlides/notesSlide20.xml" Id="R809717ecfb8246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5ac0a9c284e13" /><Relationship Type="http://schemas.openxmlformats.org/officeDocument/2006/relationships/notesSlide" Target="/ppt/notesSlides/notesSlide21.xml" Id="R12638efc5de04bf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15c64536e4b3e" /><Relationship Type="http://schemas.openxmlformats.org/officeDocument/2006/relationships/notesSlide" Target="/ppt/notesSlides/notesSlide22.xml" Id="R62e73afe60104f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10992b4704db1" /><Relationship Type="http://schemas.openxmlformats.org/officeDocument/2006/relationships/notesSlide" Target="/ppt/notesSlides/notesSlide23.xml" Id="R2498a1a497e842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94f0bd6274c07" /><Relationship Type="http://schemas.openxmlformats.org/officeDocument/2006/relationships/notesSlide" Target="/ppt/notesSlides/notesSlide24.xml" Id="R15812e6126844aa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8f21fd96a43e2" /><Relationship Type="http://schemas.openxmlformats.org/officeDocument/2006/relationships/notesSlide" Target="/ppt/notesSlides/notesSlide25.xml" Id="R6f6f84d8bb6948f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2939edd934369" /><Relationship Type="http://schemas.openxmlformats.org/officeDocument/2006/relationships/notesSlide" Target="/ppt/notesSlides/notesSlide26.xml" Id="R81fd989e245541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9fc55f7944008" /><Relationship Type="http://schemas.openxmlformats.org/officeDocument/2006/relationships/notesSlide" Target="/ppt/notesSlides/notesSlide27.xml" Id="Ra0ab3cfc5d43457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db86909f047c6" /><Relationship Type="http://schemas.openxmlformats.org/officeDocument/2006/relationships/notesSlide" Target="/ppt/notesSlides/notesSlide28.xml" Id="R926e94a28606461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05536005a429a" /><Relationship Type="http://schemas.openxmlformats.org/officeDocument/2006/relationships/notesSlide" Target="/ppt/notesSlides/notesSlide29.xml" Id="Refcf3907b24645f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db11d24f2412b" /><Relationship Type="http://schemas.openxmlformats.org/officeDocument/2006/relationships/notesSlide" Target="/ppt/notesSlides/notesSlide30.xml" Id="R130a224c7df84e2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2e97299c74121" /><Relationship Type="http://schemas.openxmlformats.org/officeDocument/2006/relationships/notesSlide" Target="/ppt/notesSlides/notesSlide31.xml" Id="R0ecc67fa36f74f4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17ba5bac4449a" /><Relationship Type="http://schemas.openxmlformats.org/officeDocument/2006/relationships/notesSlide" Target="/ppt/notesSlides/notesSlide32.xml" Id="Re283a85b722948d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33ecc4c894bae" /><Relationship Type="http://schemas.openxmlformats.org/officeDocument/2006/relationships/notesSlide" Target="/ppt/notesSlides/notesSlide33.xml" Id="Rec27dfc16ae74d7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7223a6df64a56" /><Relationship Type="http://schemas.openxmlformats.org/officeDocument/2006/relationships/notesSlide" Target="/ppt/notesSlides/notesSlide34.xml" Id="R9d929e20c30e4af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9de6be6aa4c08" /><Relationship Type="http://schemas.openxmlformats.org/officeDocument/2006/relationships/notesSlide" Target="/ppt/notesSlides/notesSlide35.xml" Id="R5e1f809b93e242c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abd9485774655" /><Relationship Type="http://schemas.openxmlformats.org/officeDocument/2006/relationships/notesSlide" Target="/ppt/notesSlides/notesSlide36.xml" Id="R90271d43692045e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2781efd1b4c0f" /><Relationship Type="http://schemas.openxmlformats.org/officeDocument/2006/relationships/notesSlide" Target="/ppt/notesSlides/notesSlide37.xml" Id="Rcfd00ab3edf149a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adc5d355b430b" /><Relationship Type="http://schemas.openxmlformats.org/officeDocument/2006/relationships/notesSlide" Target="/ppt/notesSlides/notesSlide38.xml" Id="Ra38fa7cea70541a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14135d4654b6e" /><Relationship Type="http://schemas.openxmlformats.org/officeDocument/2006/relationships/notesSlide" Target="/ppt/notesSlides/notesSlide39.xml" Id="R32a02b8dfbb845a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70937429c4855" /><Relationship Type="http://schemas.openxmlformats.org/officeDocument/2006/relationships/notesSlide" Target="/ppt/notesSlides/notesSlide40.xml" Id="Red24f9dfcf15446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6e837753f442e" /><Relationship Type="http://schemas.openxmlformats.org/officeDocument/2006/relationships/notesSlide" Target="/ppt/notesSlides/notesSlide41.xml" Id="Rbfacc61d3089478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1ac0565aa4b39" /><Relationship Type="http://schemas.openxmlformats.org/officeDocument/2006/relationships/notesSlide" Target="/ppt/notesSlides/notesSlide42.xml" Id="Ra01fda881fa644f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1b4969d4f46cc" /><Relationship Type="http://schemas.openxmlformats.org/officeDocument/2006/relationships/notesSlide" Target="/ppt/notesSlides/notesSlide43.xml" Id="R3aee0594e8c14df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1c8a3b4f14ba0" /><Relationship Type="http://schemas.openxmlformats.org/officeDocument/2006/relationships/notesSlide" Target="/ppt/notesSlides/notesSlide44.xml" Id="R1aa16a8c884b46a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947cd327f4a1c" /><Relationship Type="http://schemas.openxmlformats.org/officeDocument/2006/relationships/notesSlide" Target="/ppt/notesSlides/notesSlide45.xml" Id="R717408d5072a441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8e7456008422f" /><Relationship Type="http://schemas.openxmlformats.org/officeDocument/2006/relationships/notesSlide" Target="/ppt/notesSlides/notesSlide46.xml" Id="Rae0b4560991c436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569f726064cad" /><Relationship Type="http://schemas.openxmlformats.org/officeDocument/2006/relationships/notesSlide" Target="/ppt/notesSlides/notesSlide47.xml" Id="R0144d82dac7c475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f8ea3c0ad4d3c" /><Relationship Type="http://schemas.openxmlformats.org/officeDocument/2006/relationships/notesSlide" Target="/ppt/notesSlides/notesSlide48.xml" Id="Rd780d16278544e9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7229d01764663" /><Relationship Type="http://schemas.openxmlformats.org/officeDocument/2006/relationships/notesSlide" Target="/ppt/notesSlides/notesSlide49.xml" Id="R8980552f1630484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e6bc0472c4ed7" /><Relationship Type="http://schemas.openxmlformats.org/officeDocument/2006/relationships/notesSlide" Target="/ppt/notesSlides/notesSlide50.xml" Id="Red0717941c4742f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4f1e029b84394" /><Relationship Type="http://schemas.openxmlformats.org/officeDocument/2006/relationships/notesSlide" Target="/ppt/notesSlides/notesSlide51.xml" Id="R90a0b6f4918c489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1afc660ea44ae" /><Relationship Type="http://schemas.openxmlformats.org/officeDocument/2006/relationships/notesSlide" Target="/ppt/notesSlides/notesSlide52.xml" Id="R9f277991715c4f1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4954e9a854c93" /><Relationship Type="http://schemas.openxmlformats.org/officeDocument/2006/relationships/notesSlide" Target="/ppt/notesSlides/notesSlide53.xml" Id="Re588b5f8b95b472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6768b51a04942" /><Relationship Type="http://schemas.openxmlformats.org/officeDocument/2006/relationships/notesSlide" Target="/ppt/notesSlides/notesSlide54.xml" Id="R622c3ed6a003436a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ae453bf764dc1" /><Relationship Type="http://schemas.openxmlformats.org/officeDocument/2006/relationships/notesSlide" Target="/ppt/notesSlides/notesSlide55.xml" Id="Rb7068a99350d4e8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ed683bd344963" /><Relationship Type="http://schemas.openxmlformats.org/officeDocument/2006/relationships/notesSlide" Target="/ppt/notesSlides/notesSlide56.xml" Id="Re0c3df91ca2b49e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4dbcc4c584dbf" /><Relationship Type="http://schemas.openxmlformats.org/officeDocument/2006/relationships/notesSlide" Target="/ppt/notesSlides/notesSlide57.xml" Id="R90ef5d5f35e94fe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b6a05914e4dc4" /><Relationship Type="http://schemas.openxmlformats.org/officeDocument/2006/relationships/notesSlide" Target="/ppt/notesSlides/notesSlide58.xml" Id="R44673a9eb710424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e89672d594d57" /><Relationship Type="http://schemas.openxmlformats.org/officeDocument/2006/relationships/notesSlide" Target="/ppt/notesSlides/notesSlide59.xml" Id="Re80fc271b6394279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59d58f23044c0" /><Relationship Type="http://schemas.openxmlformats.org/officeDocument/2006/relationships/notesSlide" Target="/ppt/notesSlides/notesSlide60.xml" Id="R8ef5f852215b4d7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e1047e9fc492d" /><Relationship Type="http://schemas.openxmlformats.org/officeDocument/2006/relationships/notesSlide" Target="/ppt/notesSlides/notesSlide61.xml" Id="Rcd0b9ba2a54d487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5fbe05b4b4caa" /><Relationship Type="http://schemas.openxmlformats.org/officeDocument/2006/relationships/notesSlide" Target="/ppt/notesSlides/notesSlide62.xml" Id="R761e1ddbb611487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10f0875b94b65" /><Relationship Type="http://schemas.openxmlformats.org/officeDocument/2006/relationships/notesSlide" Target="/ppt/notesSlides/notesSlide63.xml" Id="Rb5163c576c554fb4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e88feb4594363" /><Relationship Type="http://schemas.openxmlformats.org/officeDocument/2006/relationships/notesSlide" Target="/ppt/notesSlides/notesSlide64.xml" Id="R6fcf9146238d43b0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0ee3350214466" /><Relationship Type="http://schemas.openxmlformats.org/officeDocument/2006/relationships/notesSlide" Target="/ppt/notesSlides/notesSlide65.xml" Id="Rbaa160e595fb41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53CD8-4315-4B6A-9BD0-79A0AF53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华一学校 · 管理层培训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576BA-EB3D-47EC-B23C-903F2C49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AI时代，学校如何培养人、组织工作？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8C7DC-6445-477B-9CC2-56EED1C1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从未来人才需求到 Agentic AI任务实践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12DCB-7C69-46ED-8683-A6F477F4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92AF1-3B78-4E2C-958C-F9CF80CC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14:30—15:50｜实践案例、未来人才与 AI-native 管理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16:00—17:30｜WorkBuddy 任务实践与部门作业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5D929-887F-4DD4-BECA-7AA9C6D3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293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作者｜辛海洋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5582D-C089-4541-B4D0-D3EDEC3A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1817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2026年8月26日</a:t>
            </a:r>
          </a:p>
        </p:txBody>
      </p:sp>
    </p:spTree>
    <p:extLst>
      <p:ext uri="{BB962C8B-B14F-4D97-AF65-F5344CB8AC3E}">
        <p14:creationId xmlns:p14="http://schemas.microsoft.com/office/powerpoint/2010/main" val="626459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CE7FB-5736-42FE-B211-D9C3DC9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华一学校管理层 AI 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BD467-5B53-4067-AD13-FB13CFEF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B0D94-EA86-4A9D-896A-4AAD204B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培训内容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9A66C-4179-4751-B4CB-7F22A6F0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第一部分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DC9FB-013C-4245-9AD4-818C64EB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理念、实践与未来人才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FD306-7C79-4E71-A643-340CA583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D2813-C743-482B-B506-460E5901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24175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三组个人实践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004A8-6281-4BC6-AD8B-70196784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432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家庭学习原型 · 教师智能体共创 · 企业团队协作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330DE-E2AC-44D2-A204-5399E31F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AF842-C889-4E31-815A-FDFED723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未来人才需求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59CA1-E924-4DE8-891F-01450186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专业深度 · 完整任务 · 相邻能力 · 验证与责任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A61C2-F682-4A69-A273-EFB80E02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4CD2B-28AC-41C3-83AB-8E798858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76775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AI-native 管理思考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E88EB-87D2-4566-B343-7C513DF2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95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任务定义 · 证据链 · 人机责任 · K12 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E4837-E034-42F1-A214-29A8B8D3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285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9869B-AA00-40E3-8C0A-E34D5F53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第二部分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E7053-5335-4859-B680-E6E35672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WorkBuddy 任务实践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DFD20-8E42-40E3-9D2D-472EEA99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F2E53-14A7-44AB-AFFB-B45AF27B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24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共通任务体验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54035-2B46-45AA-9B07-BD1D3B3B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432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宽泛委托 · 独立审查 · 补充边界 · 第二轮执行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FEA29-3F96-485F-957B-9558137D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E2278-7E11-452A-9FD7-D426A5ED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24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任务库与部门作业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25C15-9ABB-4700-84E7-87D6B42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434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12 项候选任务 · 小范围试点 · 一周部门作业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8CA15-C63A-454D-BB8C-BEFB7102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课程以理念建立共同语言，以任务实践形成可带回的工作方法。</a:t>
            </a:r>
          </a:p>
        </p:txBody>
      </p:sp>
    </p:spTree>
    <p:extLst>
      <p:ext uri="{BB962C8B-B14F-4D97-AF65-F5344CB8AC3E}">
        <p14:creationId xmlns:p14="http://schemas.microsoft.com/office/powerpoint/2010/main" val="279160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5290E-A9C5-48AA-B456-A2CB18E6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华一学校管理层 AI 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A9A52-6435-450C-BAE1-4CD46648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CB157-6B63-4ADF-A058-D710D283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三小时培训形成三项可带回的成果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31AAF-9547-42DE-8CDD-7FB09BCB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C4672-BF30-4129-9266-8B32745A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14:30—15:50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5420F-E788-4FEA-8951-B5149E16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理解变化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9CB8A-151B-4714-A07E-F0C6E290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952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从三组实践理解未来人才与组织工作的变化。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B160D-10D1-44AF-AAE8-C53A82A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2880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A86C9-9794-4AE5-B066-E4238E1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00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16:00—16:50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BD9FC-22E1-4C24-AF7E-271EAA25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19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完成实践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C0764-19F4-43A3-B9B7-75D38AD5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48000"/>
            <a:ext cx="2952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使用同一份材料完成两轮任务，并依据标准审查结果。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C8963-D73F-4CDE-981D-F5FABD3E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073D2-4092-4ECF-97C0-2ED2368C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17:00—17:30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121B4-8F6E-452F-BA0A-2C4E2E56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确定作业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783A8-3135-4841-8F9C-5BE41BD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952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选择一项低风险真实工作，形成一周试点任务。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CCF25-7582-4443-B368-FB189307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学习主线：任务说明 → 执行 → 检查 → 修正 → 复用。</a:t>
            </a:r>
          </a:p>
        </p:txBody>
      </p:sp>
    </p:spTree>
    <p:extLst>
      <p:ext uri="{BB962C8B-B14F-4D97-AF65-F5344CB8AC3E}">
        <p14:creationId xmlns:p14="http://schemas.microsoft.com/office/powerpoint/2010/main" val="879573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8D42E-7692-4A90-A447-220A4407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华一学校管理层 AI 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32F44-7EE0-407C-9A7E-C5E0E959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011F3-F898-4288-9AD4-67EED4AF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当前使用方式以问答为主，完整任务实践较少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1F181-CF60-4466-8905-47DF610A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819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325D5-2712-47E1-8FC7-3B2AE209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859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问一个问题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得到一段回答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EEAE7-492F-41ED-AAF7-4F206581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819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DB435-9A33-4D7A-BACD-CD480E24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8595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交一项工作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得到可检查的成果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80A11-D1C5-4B80-89B3-05442B91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BDB82-40D7-448B-9471-9D46BBDE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9677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现场调查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A｜使用过 AI 写材料、查资料或制作 PPT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B｜委托过一项完整工作，并按标准核查结果</a:t>
            </a:r>
          </a:p>
        </p:txBody>
      </p:sp>
    </p:spTree>
    <p:extLst>
      <p:ext uri="{BB962C8B-B14F-4D97-AF65-F5344CB8AC3E}">
        <p14:creationId xmlns:p14="http://schemas.microsoft.com/office/powerpoint/2010/main" val="1954520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2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C01B4-8278-4E4A-BC5E-A24AAB3F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第一部分 · 实践、人才与判断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600B1-DFF6-4325-B56F-91DA3CC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三组实践说明改变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未来人才需要什么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0E680-B335-44F7-AF7E-EDD3CE9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从家庭原型、教师共创与企业协作，进入对未来人才能力结构的判断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303AE-C9D6-40EA-BC71-97CDCE3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231742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0AEED-04AE-4E8B-AFC2-512DBF6B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实践、人才与判断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DB672-BC62-48C6-93A4-4295B532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62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D0019-248A-4BA9-9EAD-237D290A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11460-4091-4CA1-A5B5-AC2C7E5C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000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三组个人实践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FB736-4FC6-43B4-9124-A7F19A23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家庭学习原型、教师智能体共创与企业团队协作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007BD-1066-4AA6-B86A-55E96057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59442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A55DD-9AF5-45DB-9A19-A318A10F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三组个人实践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2C1F9-83D9-4B8E-ACD8-5FC77AD3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7E9AF-B471-409E-A8FE-CF44758D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三次实践，让我重新理解技术、专业判断与组织价值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5CA72-485E-47D8-8EB7-C4480E3A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3528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18769-8419-4B20-80A7-006ADB9E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D0EEC-CA0A-4A23-AA9A-1A29FADD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家庭学习原型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66A82-A454-4BCA-BC65-6D6B2BF9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4BBDE-B553-44DD-A8A8-97D203EB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895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实现门槛下降，教育判断变得更加重要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14537-98F5-4D38-AF5D-43F4D39D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14500"/>
            <a:ext cx="33528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D5115-0394-48C8-9699-E9571362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9526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F6EF8-9161-48C6-85AA-16CC1AB7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908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教师智能体共创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9F919-0151-44F7-A8E2-9A3557C1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242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3AB10-5F99-4CB9-9134-D1DB8D16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57625"/>
            <a:ext cx="2895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专业判断进入智能体设计与课堂修订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222E0-D6F7-4AA9-9868-87FA1635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3528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AB9C6-430E-4072-A8E7-20DDBCA6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1E538-1C7E-47C0-9074-2F1B41AE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企业团队协作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55500-1288-4D06-984F-A4307CED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656C6-0C67-41D0-9046-8099C638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57625"/>
            <a:ext cx="2895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原型速度提升，价值要经受采用与验证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3C70F-9437-488D-ADD7-4F7596ED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三类观察共同支持一个课程结论：学生需要学习完整任务，而不能停留在工具操作。</a:t>
            </a:r>
          </a:p>
        </p:txBody>
      </p:sp>
    </p:spTree>
    <p:extLst>
      <p:ext uri="{BB962C8B-B14F-4D97-AF65-F5344CB8AC3E}">
        <p14:creationId xmlns:p14="http://schemas.microsoft.com/office/powerpoint/2010/main" val="2090470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7B5F8-BF4A-4B3A-9958-183D373C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家庭学习原型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7F42C-40DB-41C0-BCEF-BA2E4A7F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6936C-8D41-49F7-8C3A-57C46B2A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这次家庭实践中，AI 工具缩短了教育设想转化为学习原型的时间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80E94-85E4-414F-B62E-4FDC7B02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476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a8c2a9885447a"/>
          <a:stretch xmlns:a="http://schemas.openxmlformats.org/drawingml/2006/main"/>
        </p:blipFill>
        <p:spPr>
          <a:xfrm xmlns:a="http://schemas.openxmlformats.org/drawingml/2006/main">
            <a:off x="1274663" y="1676400"/>
            <a:ext cx="2841825" cy="3790950"/>
          </a:xfrm>
          <a:prstGeom xmlns:a="http://schemas.openxmlformats.org/drawingml/2006/main" prst="roundRect">
            <a:avLst>
              <a:gd name="adj" fmla="val 150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0A784-2197-49C6-8C6D-271EDB00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38300"/>
            <a:ext cx="600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我依据女儿的兴趣设计英语活动，也把自己看重的品格融入内容与互动。几天之内，一个想法变成了可以使用的学习原型。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86C36-C042-46B8-92E7-9B420000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3750"/>
            <a:ext cx="6000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2878FF"/>
            </a:solidFill>
            <a:prstDash val="solid"/>
          </a:ln>
        </p:spPr>
        <p:txBody>
          <a:bodyPr xmlns:a="http://schemas.openxmlformats.org/drawingml/2006/main" wrap="square" lIns="209550" tIns="209550" rIns="209550" bIns="209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技术把“做出来”变快了，却没有替我回答“为什么教、教什么、怎样算有效”。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85C4F-B8FA-4B5D-A198-158E7F04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81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家庭实践 ·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CD4F3-DF6F-4AD7-B0B3-A882D5A7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19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角色素材用于家庭内部学习原型展示。</a:t>
            </a:r>
          </a:p>
        </p:txBody>
      </p:sp>
    </p:spTree>
    <p:extLst>
      <p:ext uri="{BB962C8B-B14F-4D97-AF65-F5344CB8AC3E}">
        <p14:creationId xmlns:p14="http://schemas.microsoft.com/office/powerpoint/2010/main" val="16491675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523ED-E38A-4A54-BA40-A85F09FC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家庭学习原型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F559D-579A-41B1-B2E8-9BBD3F23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CA775-81E6-46B1-8058-FEB76924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做出原型以后，真正困难的问题才开始出现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68D73-E40D-44A4-8DFD-101C2A6F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54483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05651-ED04-436B-B9AB-2FF9F85A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 系统可辅助的环节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99A5E-1CF5-459E-917A-080DB075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775D9-D3CE-4046-9616-F04A946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内容、界面与互动的初步生成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9CEB8-6ED5-4462-B72E-17CF094A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E844A-7210-4968-94D7-6E7CC9E0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43275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语音、练习与多版本快速修改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83404-A889-4E8D-ACAB-ADD4AB99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0C005-B886-443C-A68C-E5C312A7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0025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基于明确规则的低风险执行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E14F9-B1F4-4538-ABCA-41EF440B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54483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24B22-1A93-47CF-8DD7-561AC62F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教育者承担的判断责任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93EF8-89BE-4627-A3E9-1E88FEC5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FED68-13F5-4152-9D4E-F881EB0B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76525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培养目标与适龄性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68881-844D-4C28-BC3E-82FFDE25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8C1D6-D0D8-4C0B-BBF3-E9D5DE73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43275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价值取舍与个性化边界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BD607-7A6A-4B96-AD38-C0C17C62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76080-CC8B-4FFC-961C-7CAC2F7F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0025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学习成效与相应验证方式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FBA31-332B-4704-B224-178E6350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技术可行不等于教育有效；后者要回到学生的真实学习过程。</a:t>
            </a:r>
          </a:p>
        </p:txBody>
      </p:sp>
    </p:spTree>
    <p:extLst>
      <p:ext uri="{BB962C8B-B14F-4D97-AF65-F5344CB8AC3E}">
        <p14:creationId xmlns:p14="http://schemas.microsoft.com/office/powerpoint/2010/main" val="14836012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E897F-0FC0-4520-AB1C-010480EA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教师智能体共创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42D47-E6F5-4E2D-B395-48948D68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A4B45-8E51-4633-8834-82C34AF8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教师智能体共创进入 UNESCO Digital Learning Week 2026 交流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09EC8-8752-47AD-A142-D6093753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95750" cy="42672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28639215f4d0e"/>
          <a:stretch xmlns:a="http://schemas.openxmlformats.org/drawingml/2006/main"/>
        </p:blipFill>
        <p:spPr>
          <a:xfrm xmlns:a="http://schemas.openxmlformats.org/drawingml/2006/main">
            <a:off x="1238529" y="1676400"/>
            <a:ext cx="2533093" cy="3676650"/>
          </a:xfrm>
          <a:prstGeom xmlns:a="http://schemas.openxmlformats.org/drawingml/2006/main" prst="roundRect">
            <a:avLst>
              <a:gd name="adj" fmla="val 129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8A1EE-A86D-4D27-9970-B7404BF5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UNESCO 官方邀请函原件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FEF73-59EE-4C2B-AC38-E70E7BDB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14500"/>
            <a:ext cx="6343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交流主题聚焦教师如何从工具使用走向智能体共同设计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63CBB-6108-4056-937B-2ED77AB1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6343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2878FF"/>
            </a:solidFill>
            <a:prstDash val="solid"/>
          </a:ln>
        </p:spPr>
        <p:txBody>
          <a:bodyPr xmlns:a="http://schemas.openxmlformats.org/drawingml/2006/main" wrap="square" lIns="209550" tIns="209550" rIns="209550" bIns="209550" anchor="ctr">
            <a:normAutofit fontScale="80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From AI tool users 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AI agent creators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09C81-8B49-43D0-A712-3018147E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14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巴黎 UNESCO 总部 · 2026 年 9 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802CF-8D3A-4F3A-BBEA-FECF6756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00650"/>
            <a:ext cx="634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来源：UNESCO《Digital Learning Week 2026 Provisional Programme》p.8；正式邀请函（2026-07-21）。</a:t>
            </a:r>
          </a:p>
        </p:txBody>
      </p:sp>
    </p:spTree>
    <p:extLst>
      <p:ext uri="{BB962C8B-B14F-4D97-AF65-F5344CB8AC3E}">
        <p14:creationId xmlns:p14="http://schemas.microsoft.com/office/powerpoint/2010/main" val="9582510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5FDEAB-C56D-4FAE-82E9-BB968BBE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教师智能体共创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3F890-108A-4429-A1E9-F4FDC680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E3CFE-6F93-4B6F-B462-376B5DCF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教师共创以真实课堂问题为起点，并依据课堂证据持续修订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BA9F2-6862-4713-ACCD-A0E382C6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571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B7C6D-0F92-414D-B697-48DA967E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0D886-E608-4D67-9784-3250FE86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真实教学问题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4C83A-01C1-4959-8313-C8444E4F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界定可观察的课堂问题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CEC7B-9BEE-4FE1-B377-11E01E6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76D52-64AC-4E80-8AF3-4DC243AD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90700"/>
            <a:ext cx="2571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D84AC-A92B-406A-9166-7F7CEED1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9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6A1EF-142D-469F-89CF-1F9923F5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共同设计智能体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4CEB3-8794-4A7D-B3AC-9EE5A05C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718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将教学判断转化为可执行规则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F1C3B-2813-4B1F-A823-A0C9E98F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241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37B1C-2CBE-4EBC-BB65-0B2B34AB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2571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B5E28-2129-422A-B1AE-F9C48045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9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F48CC-93A6-496A-B356-35336916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进入课堂试验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A7711-CD58-4C54-8C68-04FB374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记录运行偏差与适用边界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36493-D184-4611-8B92-222E70F6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40B74-E4D8-400E-A46F-642BB4E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90700"/>
            <a:ext cx="2571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ADE76-209C-4F14-B493-83E938A4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9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7C066-1E60-403C-99BD-EB3B792A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依据证据修订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44C1C-8C89-48AD-852D-B38C103F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718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依据过程证据调整下一轮设计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4F894-2B0C-4E60-BCBE-B926D3D4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共同完成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F7264-6EDB-463D-9DA3-88977D7A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1127760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61925" tIns="161925" rIns="161925" bIns="161925" anchor="ctr">
            <a:normAutofit fontScale="737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参与教师提供课堂问题与专业判断，项目团队提供协同设计、技术支持与过程记录。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D2002F-DE1B-4E6E-9CC3-537449DA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0725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这条路径来自我们的教师共创实践。</a:t>
            </a:r>
          </a:p>
        </p:txBody>
      </p:sp>
    </p:spTree>
    <p:extLst>
      <p:ext uri="{BB962C8B-B14F-4D97-AF65-F5344CB8AC3E}">
        <p14:creationId xmlns:p14="http://schemas.microsoft.com/office/powerpoint/2010/main" val="10733518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0BE47-34FA-4D57-9704-478AD368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企业团队协作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FB53D-1613-4D99-9C5D-A6CA5BCE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4561C-292C-462E-9DA4-94692A21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我们的原型实践正在将部分串行交接转为共同验证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90792-9633-44EC-BB16-E62925B7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9530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44D79-8342-4B6D-9591-3BC36A7E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串行交接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3FC83-197C-4D0D-9B11-4A9BF20F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4196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需求 → 产品 → 设计 → 研发 → 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D1B75-1D4F-46B9-958E-E06AA52F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串行交接增加信息损耗风险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59AB8-39B4-4DD1-B64D-040423DB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4483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14673-9F5A-4EBE-A783-35802099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33575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共同验证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ADA93-36F9-4AC3-9BCD-696A0106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95575"/>
            <a:ext cx="2552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可检验原型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0D6EA-99C5-4369-89C6-924D7479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1028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84A2D-5EB7-4887-A7BB-FC7D5C33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95700"/>
            <a:ext cx="1028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研发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C8160-605C-4D46-8854-7A5FB3A9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1028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AC461-19A1-41ED-8065-9D52E48B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95700"/>
            <a:ext cx="1028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课程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BCAFA-A665-49B3-9770-76C80EC4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围绕同一问题形成并检验原型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ECB5F-588A-4A2D-B24D-35CAD5EC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62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原型变快以后，企业更要回答：谁会用、能否稳定运行、结果是否可靠。</a:t>
            </a:r>
          </a:p>
        </p:txBody>
      </p:sp>
    </p:spTree>
    <p:extLst>
      <p:ext uri="{BB962C8B-B14F-4D97-AF65-F5344CB8AC3E}">
        <p14:creationId xmlns:p14="http://schemas.microsoft.com/office/powerpoint/2010/main" val="3442488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7185B-2976-42B9-B7AB-F7153A18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企业团队协作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81F71-FE90-446E-A96B-441052C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91B22-03CA-43A0-8128-D734AD82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企业价值需要由用户采用、结果验证与持续运行共同形成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A53D5-73FA-4704-B368-7CA49C0E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9B14E-93B5-4747-8FF9-D260CDFB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问题必要性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578F6-1A0D-483B-A3B9-299099D5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明确用户与现实必要性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FDBCA-F1F8-4737-A179-8234C55E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002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56BD6-D006-4085-BE99-3E3D2B0E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097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真实采用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1910F-BE6F-4621-B955-712FF215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812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目标用户在真实情境中持续使用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D8C71-B30A-4631-81A2-64A53ED5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00F2C-DBC3-4DEB-A291-5C15366F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F383B-22A4-4DB4-BAA0-35A01145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交付结果通过预定标准检验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794EC-4DDF-47D8-91B9-465305DA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A77D5-1AF9-4DBB-B1B4-0B654DE7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稳定运行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C1328-A569-40B9-B4AB-FE26B17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系统在目标条件下保持可靠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35886-699F-4D3A-859B-B830167D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99309-3448-4E18-B266-753A3D0B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00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治理条件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071CB-DD1F-4626-B6CB-90311C4F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1719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权限、成本与异常处置可控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A5C75-4960-48E7-9DD3-58CF3BD8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25C53-EBA1-4E67-87F0-BFE7F6A6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方法沉淀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7234C-471E-427A-B0D4-5A843CC1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形成可复核、可再次使用的方法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5EA79-0C5F-4B1C-B5C7-20CE1725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原型做得快，不代表组织已经获得价值。</a:t>
            </a:r>
          </a:p>
        </p:txBody>
      </p:sp>
    </p:spTree>
    <p:extLst>
      <p:ext uri="{BB962C8B-B14F-4D97-AF65-F5344CB8AC3E}">
        <p14:creationId xmlns:p14="http://schemas.microsoft.com/office/powerpoint/2010/main" val="15413201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2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CC95C-3AED-4866-AC1C-93D15FF2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子章节 02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FB381-4B56-42C5-8FB0-29DC307B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工作系统改变以后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人才标准发生了什么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4999D-8872-48CC-A14F-BC7B135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未来人才不只是更会使用工具，而是更能贯穿任务、验证结果并承担责任。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A6F9A-0449-4EF9-A5BA-9CD6802C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712106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31BEF-425B-4FB2-9F9D-FB42EEE2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53DE2-C762-4E7E-8DAC-9A85AABC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C41F4-79F8-4EE7-A4E7-3A60C88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一般性产出成本下降以后，判断、验证与责任的相对权重上升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77193-62AC-480F-8FB2-19855E27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7A79D-E00B-41CD-ACE8-32633096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生产门槛下降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04D0C-0C79-4E7C-9F5F-02DF0C7C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草稿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原型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代码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一般性内容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386E6-1FD5-4EC9-B064-24D17C32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4483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16018-27D2-467B-AEA8-3F7AB173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责任权重上升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97782-CEAE-4313-BA83-EBD215A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876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问题选择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专业判断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结果验证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持续运行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5FB5E-7CC4-488A-8222-2AFC4F3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制作与工程仍是交付基础；变化发生在能力组合及其相对稀缺性。</a:t>
            </a:r>
          </a:p>
        </p:txBody>
      </p:sp>
    </p:spTree>
    <p:extLst>
      <p:ext uri="{BB962C8B-B14F-4D97-AF65-F5344CB8AC3E}">
        <p14:creationId xmlns:p14="http://schemas.microsoft.com/office/powerpoint/2010/main" val="8766492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6964E-8A66-4186-BF1C-2E086CA6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9B106-5207-44F7-ACE7-DCCF5B07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6D463-E771-4B22-9177-1B42A519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专业深度之外，学生还需要贯穿完整任务的横向能力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C1688-BA5B-4ECA-88F3-F26E8F3B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9601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882E3-3379-42D6-84FF-C0E88288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47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F5E08-20D9-4DEA-A12C-0262F9B3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47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执行组织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6508B-24FB-4039-A564-1016927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47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FD657-5929-48E6-88BE-8663A863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47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责任说明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805C5-D88F-4E58-BFFF-B7349448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575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58B59-FA30-461A-9D0B-83A1A489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专业深度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38851-D78B-45E5-BD82-31388BF9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2286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知识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工艺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标准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现场经验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2E557-8496-4012-889A-280B6677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未来人才不是没有专长的“全能者”，而是在一个领域有深度，同时能参与完整任务。</a:t>
            </a:r>
          </a:p>
        </p:txBody>
      </p:sp>
    </p:spTree>
    <p:extLst>
      <p:ext uri="{BB962C8B-B14F-4D97-AF65-F5344CB8AC3E}">
        <p14:creationId xmlns:p14="http://schemas.microsoft.com/office/powerpoint/2010/main" val="9714793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C41EB-893C-4C5B-8778-52F99A4B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8A3F7-99CD-42B6-82BF-F2B156F4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BEE9C-9118-4D88-80B9-F9AE91D3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相邻技能的适度重叠，能够减少交接中的信息失真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F5064-612B-4A34-B34D-9E550E42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352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727CC-C4C3-4EF8-8DD7-3ECCBEBA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FE1BA-43BE-49DF-BB9F-264E5341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理解实现与验收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589FE-8771-4E71-B874-A2D62ACA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3352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B60A5-CD7B-446F-8BEA-7D0B5DB7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技术实现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0C52C-2138-47F9-BE3F-B6739890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理解用户与场景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90A27-D918-43A0-A395-8C7BD033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3352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F570D-B608-46F3-9076-53A43847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行业专业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50098-D60B-4B1C-821F-02246557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理解数据与流程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3B823-D549-45D8-B533-2ABDC666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48200"/>
            <a:ext cx="4305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共同标准 · 完整结果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F99A0-1BF9-46DA-A9C3-A03D23C3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70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团队成员对上下游保持基本理解，并在主要环节形成专长；重叠用于提前识别接口错误与标准冲突。</a:t>
            </a:r>
          </a:p>
        </p:txBody>
      </p:sp>
    </p:spTree>
    <p:extLst>
      <p:ext uri="{BB962C8B-B14F-4D97-AF65-F5344CB8AC3E}">
        <p14:creationId xmlns:p14="http://schemas.microsoft.com/office/powerpoint/2010/main" val="14875790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9E06A-DCE2-455A-B73E-E1A5732A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935E5-0B98-4F99-86DB-D64F8119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AEAC8-CCDF-4031-97A6-EB4E2242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一项数字化成果进入真实现场，通常包含五类工作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81FC9-E8E6-417E-B949-A743FE6A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E6BB9-61FE-4802-835A-C8E6C207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探索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A80B9-7880-425D-8922-0DC921F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理解问题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比较方案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5F26C-82CC-45E9-BB64-A74642F9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05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5BBC5-B48D-4016-A4C3-2F16A10E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97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F84D3-BE4F-460D-BECF-D0D602D6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62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构建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EAB25-76B4-4202-8C5A-12B44068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1950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形成可运行成果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7323A-2A8A-4FAC-A40F-7B23E84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05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34CEB-9CF7-4897-9EEF-71F5FEDD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077F9-E162-49BA-88BD-6501B56A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763D5-B8ED-4F8B-B3A8-64DAD4E6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1950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修正错误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降低复杂性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FD84B-35FD-417F-94B3-869A7CDE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05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EA962-9B6B-492F-9DA0-8A2FF75B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29C40-89BF-4B08-BEE6-CD7D92C6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62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扩展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971A3-8B71-406C-838D-D4403304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1950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适配用户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增加情境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F4E0D-8DAC-4FD4-AA38-CC09282C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33721-C8DA-4125-97ED-32F754B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B2AD8-23B8-4A30-B821-C9725C24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维护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B57D6-2874-47BF-ABE6-33C6BD16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保持安全、可靠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与成本可控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9E803-3074-4ECE-9728-AC5E3572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91150"/>
            <a:ext cx="9258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这是一张完整工作的地图，不是五个固定岗位。</a:t>
            </a:r>
          </a:p>
        </p:txBody>
      </p:sp>
    </p:spTree>
    <p:extLst>
      <p:ext uri="{BB962C8B-B14F-4D97-AF65-F5344CB8AC3E}">
        <p14:creationId xmlns:p14="http://schemas.microsoft.com/office/powerpoint/2010/main" val="842103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D6AF0-602C-4C90-BB5F-444C660A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9FCB2-94A1-4D6D-873A-A64798BD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05C2E-F8D9-4355-997C-DA9CE55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 系统可辅助个人覆盖非专长环节，高影响结果仍需专业复核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F2542-E29E-4482-80E6-5A10E2AE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38125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个人专长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88CE2-534C-4D18-8B6A-8EF5672D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19250"/>
            <a:ext cx="862965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209550" rIns="209550" bIns="209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在主要环节形成专业判断与交付能力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11E87-8130-4949-AF11-358C208D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238125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系统辅助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F5410-75FF-4590-BD06-5288C43A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862965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209550" rIns="209550" bIns="209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支持检索、草拟、分析、测试与文档处理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1FA14-2B2F-4F92-B94C-172D1200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238125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A8F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专业复核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922C7-A476-4DE2-8D0D-C35A8A17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862965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209550" rIns="209550" bIns="209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完成专业校核、例外处置与质量确认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772AB-249E-4404-878F-AB270F7C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051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AI 系统可扩大个人参与完整任务的范围，但不会自动赋予专业资格或转移最终责任。</a:t>
            </a:r>
          </a:p>
        </p:txBody>
      </p:sp>
    </p:spTree>
    <p:extLst>
      <p:ext uri="{BB962C8B-B14F-4D97-AF65-F5344CB8AC3E}">
        <p14:creationId xmlns:p14="http://schemas.microsoft.com/office/powerpoint/2010/main" val="20546394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AC433-434F-4A0C-A5EB-E902AE31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实践、人才与判断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ED7B0-F1FC-4331-802B-957BB3FA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62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D3293-9ED5-40A2-805D-D202E66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DE375-15A0-43B7-B76D-C9644827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000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AI-native 管理思考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BE8B7-049A-4C00-A385-B13B0752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从一般生成走向任务定义、证据验证与组织流程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5AADA-6A24-4F34-BC89-7CC3E72B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747944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08787-9958-4EF6-A789-965D8214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AI-native 管理思考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25B57-7791-4563-BEE8-671AF4CD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66A87-CDFF-4106-9971-C8C33AC4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生成效率提升后，问题定义与结果验证更为关键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B21DA-4FF2-4C5B-9A47-7BE0BF3B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更容易生成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3E0B6-847E-4396-A81B-0BED8A56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教案 · 通知 · 总结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PPT · 表格 · 活动方案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49D25-7670-4FA0-BF68-2FE11ADF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52625"/>
            <a:ext cx="381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3961C-7E42-4526-B4B7-5986E720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8120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仍然稀缺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B0D51-719B-42B3-BB98-F1FB5241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问题是否真实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依据是否可靠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现场是否采用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结果是否改善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98CEE-0B66-42C5-B222-16744773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学校管理的价值体现于文件能否转化为行动，并形成可核查的证据。</a:t>
            </a:r>
          </a:p>
        </p:txBody>
      </p:sp>
    </p:spTree>
    <p:extLst>
      <p:ext uri="{BB962C8B-B14F-4D97-AF65-F5344CB8AC3E}">
        <p14:creationId xmlns:p14="http://schemas.microsoft.com/office/powerpoint/2010/main" val="9750658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42079-7172-491D-9488-23B4FBD5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AI-native 管理思考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39D9D-395B-4897-A8B4-3027103B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277BB-33A7-4967-B7BD-5326E09B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管理价值更多集中于任务定义与结果验证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E8BDD-4C3B-4865-89D8-3B760946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14700" cy="328612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309CE-1FBB-4E0F-801E-3F692B0E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上游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CBB52-6A0B-4711-905E-ABCFDA5F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理解与定义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1540B-5023-4E32-9FEC-F337D97A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真实问题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教育目标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成功标准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BB627-CB98-434D-97BE-629942A3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14700" cy="328612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7889F-EFA1-4304-A0A8-E0CCAE7E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57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中间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E31FD-A550-4860-9E86-0BC05E65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生成与制作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C8EB7-1B7D-4E96-98B8-63F1852E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材料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页面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一般方案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88A26-A92B-4DBE-9E4E-CA2BD236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314700" cy="328612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A5713-4FD0-44DC-87E5-F8A611C1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57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下游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2CE98-6E4D-4213-9DE2-31DFB944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运行与验证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24346-1D26-4404-8D6A-C159B268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99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现场采用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数据证据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责任承担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700C1-0289-44EE-989A-EB37F60A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4025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管理层更需要投入上游的定义与下游的验证。</a:t>
            </a:r>
          </a:p>
        </p:txBody>
      </p:sp>
    </p:spTree>
    <p:extLst>
      <p:ext uri="{BB962C8B-B14F-4D97-AF65-F5344CB8AC3E}">
        <p14:creationId xmlns:p14="http://schemas.microsoft.com/office/powerpoint/2010/main" val="10204498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5AEA8-95CC-406E-BC4C-EB8157A0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AI-native 管理思考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0FBAF-C2E4-468B-BCB6-D0F73DD4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90A1E-9441-494E-9F52-F7369820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学校任务的完成需要一条可追溯的证据链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371FA-CE56-49DF-B7FF-E9F36751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1333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D0D00-AD02-4E7B-A38C-B6399964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真实问题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22BA1-D428-4870-84C2-B4A338D9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289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B5E55-CAAB-4C46-8879-258E7081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1333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0F151-447C-4477-A9D9-A1A5FE88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33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明确目标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333B9-74F5-4F33-9FFD-B7B27F1A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9BEFE-22F7-4BCB-A0A1-DF532922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1333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E6377-7433-4202-A218-7E60463B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33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执行方案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72114-5EAF-4458-861A-1AA2BC61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F67BF-A8E2-45B7-A3A4-54FF1F0D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1333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218B2-C8FF-423A-A36A-B292FBE5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33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现场使用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2D721-0868-4540-897F-A530B4C3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3FFD9-D27D-4C35-AB9A-4F198C3D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1333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F0D02-031B-470A-92BB-319DE23E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33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过程证据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A48F9-BDC9-4038-A795-4C7E6610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1767B-B2E8-4385-90F2-BC0BAE99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1333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1DFDB-C2FF-4A8C-BF24-2D4500C2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483A0-A633-40C3-A3C1-EC6DF33F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289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CF662-46C2-4988-9767-6E5F4E5B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24150"/>
            <a:ext cx="1333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6B642-262A-43BD-88F7-B0A6BB1F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33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下一轮改进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1D2B6-FF73-4715-B9BA-1E2F17D9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 系统可以参与各环节，最终判断仍由学校承担。</a:t>
            </a:r>
          </a:p>
        </p:txBody>
      </p:sp>
    </p:spTree>
    <p:extLst>
      <p:ext uri="{BB962C8B-B14F-4D97-AF65-F5344CB8AC3E}">
        <p14:creationId xmlns:p14="http://schemas.microsoft.com/office/powerpoint/2010/main" val="6635021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175F1-6719-4FA9-996C-7EA97A7B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AI-native 管理思考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7BA73-FCA4-4F6B-A127-D9046BA3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C1497-350A-4C09-A3AA-714ED6DE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 系统的价值应以可验证的任务结果衡量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7D751-D598-4230-9496-3037DD96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01BB7-4138-4314-A3D3-20165C55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聊天机器人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6D887-0998-431A-B7AB-AA83BD5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回答一个问题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2D769-481F-41C8-B4CD-F3BA586D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价值单位：一次回复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输入 → 回复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0AE01-6470-4C05-82F6-77A3D243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6690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2F538-6C7A-4188-99E5-080FE2CD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383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单一工具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6543E-06EC-4B9C-9B25-3173D381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574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完成一个动作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1ACD9-114E-474A-B198-6BF95D8D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861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价值单位：一个步骤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调用 → 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189F8-27A1-4D14-9E96-68374A54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97D8E-A048-4DE7-93EB-03C41063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Agentic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71CA0-30C2-4194-816E-DEE11516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围绕目标持续推进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6C0A5-3C1B-4394-B564-6F37464C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2971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价值单位：可验证的结果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规划 → 执行 → 检查 → 修正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5559B-51BA-42F9-9821-49C5AAC0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关键差异在于系统能否围绕目标持续执行，并接受结果检查。</a:t>
            </a:r>
          </a:p>
        </p:txBody>
      </p:sp>
    </p:spTree>
    <p:extLst>
      <p:ext uri="{BB962C8B-B14F-4D97-AF65-F5344CB8AC3E}">
        <p14:creationId xmlns:p14="http://schemas.microsoft.com/office/powerpoint/2010/main" val="16237818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EF236-B7D6-4C6C-B8DE-58D38B40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个人实践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F520C-0667-41CD-BD77-3942C7C4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BBA3B-029E-47AD-B73E-E3BCCF2F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实践调整：将生产、审查、测试与修正分开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473BD-E8D4-4822-9A99-6409B90A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21717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0BAFF-4FAF-45E8-90B0-9BA794BA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C953E-6757-4303-9E09-04BCD593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79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生产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9F37-1AE9-4B0F-B419-0DF53C38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生成、开发、修改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4AD2D-1D75-41A8-8120-C776ED6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003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605A9-C7C1-43C0-91E1-440F16CF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1717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CC36B-725F-4FAC-91EE-7E8750DC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CA739-E4BC-4172-BB35-CAD699B3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81325"/>
            <a:ext cx="179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审查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C7136-DDB6-424D-A485-785BCC6C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检查依据与边界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1121C-5ED9-4877-8A60-7C357DF0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003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A1007-CBDC-42AC-8716-A87E6907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1717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60561-95D7-40B8-934C-0A8CCC63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C582B-143F-4926-B851-46591EAE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81325"/>
            <a:ext cx="179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9EC13-57CD-4B3D-92C8-D467EEA2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验证结果与回归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7AAE6-2034-46B6-B709-EA29EE98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33636-F917-4ECB-807E-39FD2926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21717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592C7-27E5-4C1E-8D1F-C967239B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D8064-37E9-4172-AD7D-5DBE3D95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81325"/>
            <a:ext cx="179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修正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DA0F0-F689-4108-8B29-BB0672E7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623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根据问题继续迭代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892A3-F8C2-405E-ADD0-E1025DAA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改造对象是任务分工、检查机制与迭代过程，而非单一工具。</a:t>
            </a:r>
          </a:p>
        </p:txBody>
      </p:sp>
    </p:spTree>
    <p:extLst>
      <p:ext uri="{BB962C8B-B14F-4D97-AF65-F5344CB8AC3E}">
        <p14:creationId xmlns:p14="http://schemas.microsoft.com/office/powerpoint/2010/main" val="14582085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41257-F1DC-4D7E-83FF-60916937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个人实践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7CF5E-3B72-4702-B6E7-040664F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EE0D4-B365-42A8-B2F5-91529C12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个人效率经由流程整合，才能转化为组织效率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CA3DE-2557-45A2-ABE2-5184FD40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个人效率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01006-09FF-410D-8D57-2873A3C2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写得更快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查得更快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做得更多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6322B-981F-450B-9440-33F539EF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组织效率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FC761-0586-4AA3-B390-933806D5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等待更少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交接更少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标准共享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证据连续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D3064-C373-467B-AA31-7641BE9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E6422-6C8F-411F-87C4-E55437E5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个人效率只有经过流程、状态和证据的整合，才会变成组织效率。</a:t>
            </a:r>
          </a:p>
        </p:txBody>
      </p:sp>
    </p:spTree>
    <p:extLst>
      <p:ext uri="{BB962C8B-B14F-4D97-AF65-F5344CB8AC3E}">
        <p14:creationId xmlns:p14="http://schemas.microsoft.com/office/powerpoint/2010/main" val="22286629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A91F0-D1DE-4A3B-8ABC-419C71AF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AI-native 管理思考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58543-B382-4D71-8384-3D46691A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74578-6761-4372-B757-27578EF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可靠执行依赖背景材料、操作边界与反馈机制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1B857-82D4-4FB4-ADC4-916D8B4A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52800" cy="33909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72613-31A0-420B-8C0F-4DFE678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背景材料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22FDE-9F58-4594-BA58-EB84F7D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任务所需信息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554B1-89ED-4363-933C-9FFBAA85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学校目标 · 历史决定 · 规则 · 当前状态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E4571-EB6C-4A0A-B6F1-5826FF6C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09750"/>
            <a:ext cx="3352800" cy="33909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8BE6F-266C-4985-ABC7-165A970C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81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工具与边界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36013-5708-4DEB-B8A5-4A91D2E3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03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允许执行的范围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F240B-F763-49D8-992E-93970AF5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2895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文件 · 权限 · 检查 · 审批 · 回退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A9303-61F1-4639-A00A-695A817B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33909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2B06F-816B-459A-AD88-ABD7BB3B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反馈机制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B64C4-19A5-48EB-A603-8245E686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结果改进方式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B0E7C-72C0-48FD-9D8A-18A162B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执行 · 检查 · 修正 · 记录 · 再使用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0E2CB-3EA2-48C3-ACFE-766A947C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对应概念：Context · Harness · Loop</a:t>
            </a:r>
          </a:p>
        </p:txBody>
      </p:sp>
    </p:spTree>
    <p:extLst>
      <p:ext uri="{BB962C8B-B14F-4D97-AF65-F5344CB8AC3E}">
        <p14:creationId xmlns:p14="http://schemas.microsoft.com/office/powerpoint/2010/main" val="5134426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453FD-C91B-4F83-95D1-23F52006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AI-native 管理思考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3878B-1836-458C-8279-E6E500D6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F8B66-ED15-446F-A2A1-A739751C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 参与执行后，人员责任与系统责任需要重新划分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5C56B-259D-4CA8-982E-C2EC07AD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E82D8-97E3-43DA-B6B7-3273FBBC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人员责任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856A0-EA21-4A31-AAB1-B30AC30D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目标与最终责任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72138-E518-4F4A-9D8B-CD3F0DD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29718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问题选择 · 教育判断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价值取舍 · 高风险批准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D731F-AB09-49CE-A00C-45EBB5A7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097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D57A7-6247-4287-A592-29D5F242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81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AI 系统功能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69F16-1E18-419D-B8C0-E12AC3C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03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可规模化执行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6A9D7-C54C-4BD0-A83E-4FC12D24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28950"/>
            <a:ext cx="29718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搜索 · 整理 · 生成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检查 · 记录 · 修正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5A23C-DF9E-4060-B01F-7D3A0C94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3E7E6-7CAF-40E7-B487-9374D9C1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运行机制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A9B3D-266D-424F-AAD1-7CE3FF32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秩序与边界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0DF43-5383-408E-99C2-CEE879BB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9718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状态 · 权限 · 成本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证据 · 审计 · 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21C58-0264-488F-936D-8A610739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自动化边界与人工确认点应在任务开始前明确。</a:t>
            </a:r>
          </a:p>
        </p:txBody>
      </p:sp>
    </p:spTree>
    <p:extLst>
      <p:ext uri="{BB962C8B-B14F-4D97-AF65-F5344CB8AC3E}">
        <p14:creationId xmlns:p14="http://schemas.microsoft.com/office/powerpoint/2010/main" val="9044831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4E4CB-E144-4D07-B527-C63F9435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华一情境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5F003-1E0A-42B3-94BD-7AEA7682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6ED9F-D507-46E2-8398-8F73C1CF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K12 场景应采用更严格的数据与责任边界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0864B-D808-41E8-A189-0F76E826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低风险试点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3A8F0-CE63-4BD7-A18C-1A32F7B8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90700"/>
            <a:ext cx="857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90500" rIns="190500" bIns="190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会议纪要、政策整理、活动方案、匿名反馈分析、工作简报草案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F5DE2-A295-4198-9F2D-B5C4997F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27A1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27A13"/>
                </a:solidFill>
                <a:latin typeface="PingFang SC"/>
                <a:ea typeface="PingFang SC"/>
                <a:cs typeface="PingFang SC"/>
              </a:rPr>
              <a:t>必须人工确认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2F3E7-65B4-4502-A076-D64DCC4B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857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90500" rIns="190500" bIns="190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对外通知、家长沟通、教师评价、课程结论、重大资源安排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EA15C-EC4F-4D45-BF66-BED82E43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34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不进入练习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AA9D0-5CAF-4D12-A026-C75890C4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43400"/>
            <a:ext cx="857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90500" rIns="190500" bIns="190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真实学生姓名、成绩明细、心理健康、家庭情况、未授权照片与记录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8CC9A-3AE8-4F40-BA5E-C6259A4A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今天所有练习都使用模拟或脱敏材料。</a:t>
            </a:r>
          </a:p>
        </p:txBody>
      </p:sp>
    </p:spTree>
    <p:extLst>
      <p:ext uri="{BB962C8B-B14F-4D97-AF65-F5344CB8AC3E}">
        <p14:creationId xmlns:p14="http://schemas.microsoft.com/office/powerpoint/2010/main" val="20949226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1B923-B668-4D47-BD7B-56CF8B08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AI-native 管理思考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C7F39-3454-4EF4-86EB-EB7380E4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CE06C-FDF7-4F4C-958F-B73C593D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形式完整不等于任务已经完成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F25AF-E133-4225-B532-1CBBC55D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6670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格式完整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84807-86AE-4BCF-8A8A-6AD8C943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717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28960-A42B-49AD-9AD2-3BD992B1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400"/>
            <a:ext cx="26670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语言流畅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B87AD-A36D-434B-9D34-FA48EBAB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526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3099F-91AA-4077-8969-DDD95B74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57400"/>
            <a:ext cx="3143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可证实完成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43E37-B2EB-4C8B-85F9-538F592B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管理重点是缩小系统输出与可证实完成之间的差距。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1BC4F-2997-44F7-B2E3-ED2AFD8D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006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后半部分将练习任务说明、结果检查与责任确认。</a:t>
            </a:r>
          </a:p>
        </p:txBody>
      </p:sp>
    </p:spTree>
    <p:extLst>
      <p:ext uri="{BB962C8B-B14F-4D97-AF65-F5344CB8AC3E}">
        <p14:creationId xmlns:p14="http://schemas.microsoft.com/office/powerpoint/2010/main" val="12481505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D2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E86D5-A9D9-4C6D-BBE6-BBCB189D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第二部分 · WorkBuddy 任务实践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A4601-19E5-4E2F-AF39-BFA2C0FA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以同一任务完成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两轮执行与一次审查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7C6AE-3F85-4D14-83F7-78173774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实践重点是任务说明、证据核查和人工责任，而非功能数量。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B4CAE-1533-49F2-8168-47D957B7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284162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2B9E3-C553-4A3E-8A9C-E1BEDC12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WorkBuddy 任务实践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2D81F-0F22-4DCD-8720-72B09F35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62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1E667-FF33-4E9A-B53E-565DF521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1B655-5493-4F7D-BBD9-28440FE7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000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WorkBuddy 共通任务体验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42AB3-C0FF-45C0-815D-12A465D6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以同一份材料完成两轮执行、一次独立审查与结果比较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B9356-B5AA-42C3-A5A7-82ADDB2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345691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AAC31-5267-4762-82C7-0A809666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WorkBuddy 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3C06E-7036-4B76-84C7-D98D3497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10042-2B7C-49A1-9D49-48BAA8FF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WorkBuddy 用于承接有材料、有交付要求的完整任务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7E94E-0304-47E0-BC8B-50C53078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问答使用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19818-2FE8-427B-A012-02A57704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提出问题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获取回答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AD8B6-41AD-44F0-8F6B-968373F1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任务使用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DD70C-0EC0-49FB-B880-FAF085A2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理解任务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读取材料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规划步骤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交付成果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D6EAB-F0D0-488A-BBCF-114F7B9F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09750"/>
            <a:ext cx="285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6BFAE-7D2F-46E1-BEF3-B9545AB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本次使用范围：任务、文件、成果与检查。</a:t>
            </a:r>
          </a:p>
        </p:txBody>
      </p:sp>
    </p:spTree>
    <p:extLst>
      <p:ext uri="{BB962C8B-B14F-4D97-AF65-F5344CB8AC3E}">
        <p14:creationId xmlns:p14="http://schemas.microsoft.com/office/powerpoint/2010/main" val="186506127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A6CD8-F09A-4AC5-B9DD-549C0A2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任务教学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74BCB-DA8D-4D58-B2CD-8324C7AF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0DAD6-1F56-4671-A49D-DEAD18A1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实践采用两轮执行与一次独立审查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CBC7F-83D7-4D28-B8EB-04683AB5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F8B3E-4179-406D-814D-3F02DC84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3E388-5562-4038-A7D3-4443A84E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第一轮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92D4D-A5B1-4C0F-85DC-C99F2295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使用宽泛任务描述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2C099-D2D9-4FF0-809A-55DE9606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记录系统的默认理解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14F37-1D0C-4173-BECB-478A8E57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2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56716-9D59-435A-8D57-D5B1D7AC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独立审查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6A30F-6C32-4247-810A-168CDC60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核查依据、遗漏与风险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43EBE-D83B-4E7E-B304-99E2963B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识别尚未证实的内容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03898-61B6-4292-BDC2-1FCE589B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11937-4F95-44DE-8ECF-0497C3E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第二轮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C3D68-C026-421D-99E6-68B9EAA0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补充任务要素后执行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35E4E-2849-4B1B-A46E-EAD136D3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24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比较约束变化带来的差异</a:t>
            </a:r>
          </a:p>
        </p:txBody>
      </p:sp>
    </p:spTree>
    <p:extLst>
      <p:ext uri="{BB962C8B-B14F-4D97-AF65-F5344CB8AC3E}">
        <p14:creationId xmlns:p14="http://schemas.microsoft.com/office/powerpoint/2010/main" val="39395910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06E70-7CDF-4F3C-B8C0-DB3E4ADF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任务教学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2C1F2-B7B9-438F-80CC-A777F6D4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DBE01-8898-4C90-ACBD-65C400C9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每组 3—4 人，分别承担执行与审查职责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8BB77-9E43-477F-A7A2-577700D3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1907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操作员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CAF9C-454F-412D-B55F-182E4156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52600"/>
            <a:ext cx="3162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负责在 WorkBuddy 中输入任务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1BA7D-71D6-4B7B-9533-08B86BCB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21907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业务负责人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007E2-CFB5-4F65-8403-F221B5C3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3162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判断结果是否符合学校实际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52FE9-FC06-482E-A03C-037998BE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1907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审查员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F14B4-79D2-4622-A120-43056D84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19500"/>
            <a:ext cx="3162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寻找无依据、遗漏和风险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98DEF-3C2A-4C03-99C1-CBE0993E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1907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记录员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3FFF4-3BB0-468D-8B9C-2F98007B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3162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记录两轮差异与小组判断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49E5B-8C74-4F80-AAD4-0843BC89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课堂规则：只用模拟或脱敏材料；发布、发送、删除等动作一律不执行。</a:t>
            </a:r>
          </a:p>
        </p:txBody>
      </p:sp>
    </p:spTree>
    <p:extLst>
      <p:ext uri="{BB962C8B-B14F-4D97-AF65-F5344CB8AC3E}">
        <p14:creationId xmlns:p14="http://schemas.microsoft.com/office/powerpoint/2010/main" val="20871293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EDF40-9572-4DFF-AA91-122D1F10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WorkBuddy 入门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EB00C-304A-49FD-96BC-39F0B6A6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47144-1E47-4109-924F-95926B1E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两个低门槛任务用于熟悉工作空间与运行模式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BD1C8-45F5-4CED-8B25-5075CA8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甜点任务 A · Ask 模式 · 3 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8E216-A288-4626-A696-1BF508F3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5143500" cy="1600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228600" rIns="228600" bIns="228600" anchor="ctr">
            <a:normAutofit fontScale="976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只读取“共同任务材料.txt”，列出 3 条明确事实和 3 项材料未提供的信息。不要创建或修改文件。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4D2A6-A368-47AE-9E3B-33D2DB1B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甜点任务 B · Craft 模式 · 5 分钟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0473B-D0CF-49BE-9193-0118EBA8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5143500" cy="1600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228600" rIns="228600" bIns="2286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把上述结果保存为“00_材料检查卡.md”，分为明确事实、缺失信息、使用边界三部分。不得新增材料之外的事实。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FAACA-F6B1-4F74-8D98-BF09E334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完成标准：能读取指定文件、能区分只读与写入、能在工作空间找到产物。</a:t>
            </a:r>
          </a:p>
        </p:txBody>
      </p:sp>
    </p:spTree>
    <p:extLst>
      <p:ext uri="{BB962C8B-B14F-4D97-AF65-F5344CB8AC3E}">
        <p14:creationId xmlns:p14="http://schemas.microsoft.com/office/powerpoint/2010/main" val="134983256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D70D4-CDE1-4371-8C00-5E2D2CB6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任务教学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5E94D-E2B6-4D97-B2E5-DBEF6612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A4A67-0B09-44BF-98A9-6DD134E9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共同任务：形成下一阶段教师 AI 支持行动简报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9AB96-E5F1-44E1-935A-6AACE4B9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66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课堂练习模拟材料，不代表华一真实情况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A31D3-2514-4C7D-AA04-CA60FAD7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管理会议摘要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E58BD-15F8-436D-B01C-E37A08B0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57350"/>
            <a:ext cx="88582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152400" rIns="1524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教师使用水平差异明显；希望从真实教学与管理任务出发；学校担心准确性、隐私和对外发布风险。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EF6C3-6EA3-42DB-BD55-75E07AEB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匿名问卷摘要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64AC6-6243-4912-8A6B-2ECE2FC5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88582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152400" rIns="1524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模拟 n=24：18 人使用过生成式 AI；14 人主要用于写材料；19 人担心内容不准确；21 人希望学校给出清晰规则。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5E334-0116-48EB-B854-86B3B19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学校基本约束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B2B10-30BA-43AF-BED8-6AF9027B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88582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152400" rIns="1524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覆盖小学、初中和高中；不能上传真实学生敏感数据；第一阶段只做低风险试点；结果必须由业务负责人确认。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46D91-1107-4EE2-AC2E-0DDC195D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目标：形成一份供管理层讨论的行动简报。</a:t>
            </a:r>
          </a:p>
        </p:txBody>
      </p:sp>
    </p:spTree>
    <p:extLst>
      <p:ext uri="{BB962C8B-B14F-4D97-AF65-F5344CB8AC3E}">
        <p14:creationId xmlns:p14="http://schemas.microsoft.com/office/powerpoint/2010/main" val="74665062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0CF25-139B-4311-8954-14F911B1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第一轮任务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AB689-0CB5-47D5-916C-65B674B2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545B3-792F-47C2-BEAC-44326A84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第一轮使用宽泛的任务描述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44474-F707-45C8-8BCC-CA13BA75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  <p:txBody>
          <a:bodyPr xmlns:a="http://schemas.openxmlformats.org/drawingml/2006/main" wrap="square" lIns="266700" tIns="266700" rIns="266700" bIns="2667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请读取工作空间中的“共同任务材料.txt”，形成一份华一学校教师 AI 应用推进方案，供管理层讨论，并保存为“第一轮_行动简报.md”。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33D63-CB48-4CC9-BFFA-6EC9DFE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本轮不补充统一要求，用于观察系统如何理解任务并组织结果。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39C74-A773-41E4-A64C-39CC3477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29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Craft 模式 · 建议执行时间：8—10 分钟</a:t>
            </a:r>
          </a:p>
        </p:txBody>
      </p:sp>
    </p:spTree>
    <p:extLst>
      <p:ext uri="{BB962C8B-B14F-4D97-AF65-F5344CB8AC3E}">
        <p14:creationId xmlns:p14="http://schemas.microsoft.com/office/powerpoint/2010/main" val="112326924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C93EA-BAC5-4F97-B7F4-D6B820D1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第一轮检查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3BA22-B2C2-4283-A34E-B9633158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47B26-5720-41A7-B01D-6CF0B58D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第一轮结果按六项标准检查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92AF0-8BF2-48D2-B072-4611F6B2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2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08C9C-DA43-468F-8F66-0F385D35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383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目标是否明确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CDF08-3485-4D9A-8672-07173707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2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0CB0A-1B3D-4B4F-809C-A8944339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83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事实是否有依据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30622-115B-4EA3-A650-6A2B0429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04C1A-34CB-480F-97D4-CAB5F7FD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事实与建议是否区分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B5DA5-82DD-4FCC-AAD5-029060B4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C6D2E-5557-424F-974D-4D86A796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重要限制是否遗漏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28DDC-B191-451C-9505-6F31AD18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861B4-98AD-4386-93C5-EFB4C35E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529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行动是否有人负责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A234E-11ED-418F-8948-0F6878D7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19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F2992-9EA5-4128-8D5B-4F2EBF2A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529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哪些内容必须人工判断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4716B-6D16-41CF-B334-7233323F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小组需标出至少两处看似合理但尚不能确认的内容。</a:t>
            </a:r>
          </a:p>
        </p:txBody>
      </p:sp>
    </p:spTree>
    <p:extLst>
      <p:ext uri="{BB962C8B-B14F-4D97-AF65-F5344CB8AC3E}">
        <p14:creationId xmlns:p14="http://schemas.microsoft.com/office/powerpoint/2010/main" val="178388583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19608-E72A-41B9-B4D0-51EB56A1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第一轮复盘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A0B2B-5B5B-43A6-8A62-3E0C4194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680D4-218F-42D6-B103-3B8A8181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结果差异主要来自任务约束与检查标准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C7C13-609C-4778-9C8D-65153BDC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任务说明存在差异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32638-EF0A-4D78-AE88-120224B5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目标理解不同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默认受众不同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交付格式不同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F8BFC-633B-4F36-B4FB-FE0A9C8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系统会处理未明确的信息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62E4D-84AF-47DE-9869-A8B05115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是否补造信息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不确定性处理方式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• 是否执行主动检查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919FD-4768-4C2C-A837-4A6A8720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695450"/>
            <a:ext cx="285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012FE-A5DD-427E-9080-A69FA37E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输出质量同时受到任务定义、材料范围与审查要求的影响。</a:t>
            </a:r>
          </a:p>
        </p:txBody>
      </p:sp>
    </p:spTree>
    <p:extLst>
      <p:ext uri="{BB962C8B-B14F-4D97-AF65-F5344CB8AC3E}">
        <p14:creationId xmlns:p14="http://schemas.microsoft.com/office/powerpoint/2010/main" val="20587626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314B8-1BC7-4676-8EB6-2DEF8CA5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第二轮方法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83BF1-ECBA-4DEB-8683-18AD8DC6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699B9-8F9D-432F-B788-B46B9793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高质量任务说明包含六项基本要素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6F790-69BA-4A8A-AC79-BBCB569A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066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CA94E-BFFC-41A7-AFF4-139577BD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预期用途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2C889-BBD5-4B4B-B0D2-75C5D044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57350"/>
            <a:ext cx="1066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0A37D-7523-41A9-8C31-07BA8B36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573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依据范围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9A727-103D-4860-A3BC-7AB8D939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57350"/>
            <a:ext cx="1066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6586F-D8DE-4C65-97A2-7C5E2F6D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6573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输出形式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7D804-536A-4C82-A199-8800A14D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1066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1B506-D7A0-4132-A9C4-8CDC327D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480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禁止事项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1B356-FDD0-4EC5-8596-296A697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1066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C6834-78C5-4E3F-A787-69FDF2D4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480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追溯方式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4200C-DDBC-4D84-A1D0-0F09D07C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48050"/>
            <a:ext cx="1066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DD4A0-1225-404B-B105-3B55A76F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480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完成标准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1FCF7-729C-4D2C-82CB-32E9C7BF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任务说明的作用是明确管理责任，不是追求复杂表达。</a:t>
            </a:r>
          </a:p>
        </p:txBody>
      </p:sp>
    </p:spTree>
    <p:extLst>
      <p:ext uri="{BB962C8B-B14F-4D97-AF65-F5344CB8AC3E}">
        <p14:creationId xmlns:p14="http://schemas.microsoft.com/office/powerpoint/2010/main" val="23446738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93AD5-3183-4AD0-8F43-4BC5D669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第二轮任务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341FD-6A95-43A0-A904-B2486E21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3B7A6-518C-43FE-841F-7888B65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第二轮补充交付要求、证据与边界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E8B0C-642F-4599-B068-8B125456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10109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材料：只读取工作空间中的“共同任务材料.txt”。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目标：形成供管理层决策的教师 AI 支持行动简报。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交付：①300字摘要；②三个待决策问题；③每项判断的材料依据；④行动、负责人建议与时间；⑤资料不足之处。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边界：不得补造事实；区分事实、推断和建议；涉及学生数据、教师评价和对外发布时提示人工确认。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流程：先列执行计划，经确认后完成简报，并保存为“第二轮_行动简报.md”。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DA17B-B85A-453D-A046-98D262AE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02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Plan 模式 · 建议执行时间：10—12 分钟</a:t>
            </a:r>
          </a:p>
        </p:txBody>
      </p:sp>
    </p:spTree>
    <p:extLst>
      <p:ext uri="{BB962C8B-B14F-4D97-AF65-F5344CB8AC3E}">
        <p14:creationId xmlns:p14="http://schemas.microsoft.com/office/powerpoint/2010/main" val="26415844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28C7F-A910-4D4E-BAF5-45A1258C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第二轮检查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95F90-E8CB-4A56-AED2-C3353723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F68FD-0F66-4624-9DFE-B651A7EE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独立审查用于识别依据不足与责任缺口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C10A8-5D70-4D19-B432-35EC9432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请不要继续润色。请以独立审查者身份检查这份简报：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459E0-6E12-4DDC-873B-4E92EC2B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00965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66700" tIns="266700" rIns="266700" bIns="2667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1. 哪些判断缺少材料支持？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2. 哪些事实、推断和建议混在一起？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3. 哪些行动没有责任人、时间或完成标准？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4. 哪些内容涉及学校必须人工决定的事项？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5. 哪些地方看起来完整，但实际上仍缺信息？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E30EE-90C7-4918-8AB0-86A2C73A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007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保存为“独立审查.md”，形成后再决定是否修改。</a:t>
            </a:r>
          </a:p>
        </p:txBody>
      </p:sp>
    </p:spTree>
    <p:extLst>
      <p:ext uri="{BB962C8B-B14F-4D97-AF65-F5344CB8AC3E}">
        <p14:creationId xmlns:p14="http://schemas.microsoft.com/office/powerpoint/2010/main" val="144814890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3F32E-6C64-4A92-860F-C3D6FE67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体验复盘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F5EDA-D680-4BDF-84D2-1D7C4283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F1E90-3EC9-473B-A2C5-5F73FA2A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两轮实践应形成四项基本认识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CC68B-77DB-4095-A34B-FA440E91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381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多步骤执行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5321F-03FA-4EB4-9C73-7DFBC99E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95450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系统可围绕目标完成连续任务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EBD7B-B892-4914-B4BE-659D10F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2381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信息补全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81901-3976-45E6-97B8-305852B2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条件不清时可能形成未经确认的推断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6577A-4950-4C90-A8EC-55039C79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2381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依据核查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16B74-1502-4823-A7D9-084A85BE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完整表达不能替代材料验证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6F6DB-83EC-4E37-9100-CE9362F1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19500"/>
            <a:ext cx="2381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方法复用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5F585-D19A-4B4E-8FE3-3E86AB3D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19500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稳定的任务说明可沉淀为部门模板</a:t>
            </a:r>
          </a:p>
        </p:txBody>
      </p:sp>
    </p:spTree>
    <p:extLst>
      <p:ext uri="{BB962C8B-B14F-4D97-AF65-F5344CB8AC3E}">
        <p14:creationId xmlns:p14="http://schemas.microsoft.com/office/powerpoint/2010/main" val="146790044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DAC5D-12B5-4326-AE2A-8358A221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迁移到华一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84A50-F8C9-4792-99F2-A3C20972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8629E-8D41-4755-833E-BAACB268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学校试点宜从低风险、高频、可检查的任务开始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18731-5D05-42B0-9EB1-75944516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10287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校务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1E12A-6B2B-4ED9-A691-7D8D6EAC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会议纪要 → 行动跟踪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42712-3C64-4A40-8FDC-79CBC390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10287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教研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A9B29-0995-40FB-B53B-3B1FE2D7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764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活动资料 → 复盘与改进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DB717-4A37-4BF6-864E-69ADCEDF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38300"/>
            <a:ext cx="10287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政策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2C6F0-6C64-4B81-98F5-519D3F4B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政策文件 → 学校影响分析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939F4-AA79-4303-BEEA-7ADA9A3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10287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3846D-4D33-4DD4-833A-AC626171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多部门周报 → 管理层简报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55748-0A0E-41B8-A4D5-51BCD786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86150"/>
            <a:ext cx="10287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家校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EE0C6-DD81-46E0-B4E5-FDFD0E07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242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常见问题 → 回复草案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52C94-AD24-4428-ACD0-CFAC67FB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0287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活动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C6F64-E02E-449F-AFD6-5FE7B5D9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42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活动方案 → 风险清单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5BEBD-4C0E-4515-AF8B-330E5BD7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首轮试点以验证一项真实任务为宜，不以全校自动化为目标。</a:t>
            </a:r>
          </a:p>
        </p:txBody>
      </p:sp>
    </p:spTree>
    <p:extLst>
      <p:ext uri="{BB962C8B-B14F-4D97-AF65-F5344CB8AC3E}">
        <p14:creationId xmlns:p14="http://schemas.microsoft.com/office/powerpoint/2010/main" val="97342347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6D2B0-BE57-43D2-B061-8DBBA2DE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WorkBuddy 任务实践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E9A65-2FF5-4A8F-A6B9-98272100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62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9427F-42F7-4F37-AB46-7CBE830C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D6855-C1A6-410A-8507-6687619D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000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任务库与部门作业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DC200-B305-4FC7-B955-546B4AD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从现场选做到小范围试点，未完成任务直接延续为部门作业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D6D13-9148-4CFE-8FB7-599ABDB7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24572321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F4D26-A23C-4DF3-BBC2-0434C0CD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D7753-98C1-4015-87AD-0B77BEC2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98F4E-1D1C-4184-A555-49739CEA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任务库覆盖不同部门，并按采用成熟度分层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16FB2-D677-4535-A016-E5DDD1F8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33750" cy="38862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AD7AD-7774-4684-9967-AF6DCB8D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F6A93-7949-4AC9-A7B5-F4364F0C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现场稳妥任务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9CC48-089B-4D91-A4AD-9E5CB8E2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共同任务后 · 只选 1 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A3B73-7D98-4EBA-9485-C887C844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T01 纪要变行动表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C5D82-D0EF-4AD0-89E3-901E9399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T03 活动风险审查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20665-89D1-429E-9F5F-E0C77E3E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T04 问卷分析（预检通过）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39869-2978-49A9-BB88-BF0AADB0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81150"/>
            <a:ext cx="3333750" cy="38862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BFA50-16B5-47EC-9309-F075D45A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811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6080A-3538-47DD-98D5-E43BC728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859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会后部门作业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91999-1AD3-4A69-B30C-B10CB8D2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622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脱敏材料 · 一周内完成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35EBC-ABCE-40A6-BBBE-D20F68D3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95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T08 家校沟通草案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B96C0-92B2-40E0-AFB4-2AC00EF3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14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T06 多部门周报简报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9DFFE-FB15-46CC-B29C-C42DAA51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33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T09 教研资料复盘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01E2A-C598-4017-A2EC-EA19E5E2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529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T02 政策影响分析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14C2E-CEEF-4179-8637-837ED6F3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720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T10 文件只读盘点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6C278-F9DC-4172-BF78-C57F9AAC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911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T05 学段数据诊断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2F739-8249-41C3-BDD1-07194B19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333750" cy="38862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5B128-E852-45D4-851D-AB73B4D7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8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3D96F-26BD-423A-BBD2-E0C60ADB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859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附录开放题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C61F3-EA01-4587-8E05-9F1659BF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不作为现场能力承诺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A71EA-9731-460D-B086-34850CD3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T07 验证 PPT 生成边界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C2798-B5AF-43D6-8BB1-4D59D787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48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T11 生成 Skill 草案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0A0E41-8C00-4F13-93C4-46EE73AC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T12 设计自动化试点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A105EE-7D2B-40EE-9EED-A0FD1357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672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先验证，再决定是否进入试点。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C8A701-056C-4C38-89F8-82472482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12 项任务共享同一结构：材料 → 执行 → 交付 → 检查。</a:t>
            </a:r>
          </a:p>
        </p:txBody>
      </p:sp>
    </p:spTree>
    <p:extLst>
      <p:ext uri="{BB962C8B-B14F-4D97-AF65-F5344CB8AC3E}">
        <p14:creationId xmlns:p14="http://schemas.microsoft.com/office/powerpoint/2010/main" val="96300020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75012-BF5D-4C3B-B154-548858BF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146B6-EA2D-4D63-858A-C91499E9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20987-06BB-4150-97CC-2D224C31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现场任务与部门作业采用同一执行记录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3E945-BBB1-4DB9-8008-BBCDD4FD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21EEB-89E2-490E-A0F4-6A54D4B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共同体验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7338F-0A50-4E02-9F38-37F633BB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先完成两轮任务与审查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3D9A4-86CE-4F66-8967-CDD67798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所有人使用同一文字材料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BC8C0-0C6B-4911-8BB9-3E46A860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669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5EEB6-B301-44B2-B896-94F915AE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43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079FB-FA46-420E-B182-3DCE4234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现场选做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CF1DB-B5F8-4582-90E5-E4306EE4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只从 T01、T03 中选 1 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EDF7E-820E-43EF-84B3-68B08274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434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T04 仅在预检通过时开放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E5DE2-212D-45CD-BC82-198645C3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669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B534C-F224-4110-926D-A504AB0B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43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06648-3AFF-4BCE-A308-BCB8F538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部门作业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AA628-CD60-4725-AFC7-5F4BF4E4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T02、T05、T06、T08—T10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DF084-90E5-48B5-A0DB-A0C4FA1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保留任务、产物与人工判断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7CEDA-222B-4884-A730-8E96D9AE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669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2BFA0-FA73-4220-BD03-844FC2A3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43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51E70-7F96-4760-8589-091093B3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开放探索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46C1D-ED0E-4B3F-B3A6-EF3ACB2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T07、T11、T12 放入附录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0472FE-685A-4EBA-B9C2-9A9172E6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434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验证通过后再讨论试点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01903-6B53-43AE-AF84-E6817289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任务、材料、交付与检查标准保留后，现场工作可直接转为部门作业。</a:t>
            </a:r>
          </a:p>
        </p:txBody>
      </p:sp>
    </p:spTree>
    <p:extLst>
      <p:ext uri="{BB962C8B-B14F-4D97-AF65-F5344CB8AC3E}">
        <p14:creationId xmlns:p14="http://schemas.microsoft.com/office/powerpoint/2010/main" val="4973206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B653E-6121-489C-A58F-D76B8864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0F26F-06D4-4A15-AA63-6F443595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CB16C-2746-444B-A696-4786B4B3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T01｜会议记录整理为行动跟踪表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11125-FE39-4879-8C71-5445678F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5F37F-8F0A-4CEA-930D-AA84A0F7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校务管理 · 文档处理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C9E9B-09E9-495F-85DA-D07CEEF6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现场选做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FB0DB-5B6A-482F-A79D-5537D5A4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C5A81-0FEE-42DB-9FE7-A3C98054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12—15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94167-B961-42FE-9917-24D3E18A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材料包中的 T01_模拟会议记录.txt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FFDEC-2FAA-4F68-A68E-898D06F4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C689F-70D5-4732-8B43-34FEE2B1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识别决定、建议、待办、负责人、截止时间与未决问题。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200A5-A401-4089-B73B-485CD0CC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D8535-8943-4855-81E8-A1BA7A8F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51CB0-201A-41E3-83C2-14B3D5CA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一页会议摘要 + 行动跟踪表 + 缺失信息清单。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CD9E7-B99E-45FA-82C4-86717CFE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8A072-27A4-4E80-B508-46D4E6B1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50E36-5047-47D8-94B8-3C28BD61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每条行动能追溯到原文；不擅自补负责人或日期；未决事项单列。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12197-E1BA-41DE-81A3-858BD933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8AD33-CAEF-4235-97B0-51A6E42B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读取 T01_模拟会议记录.txt。只依据原文生成：①关键决定；②行动跟踪表（事项/负责人/时间/依据）；③未决问题。原文没有的信息写“待确认”。使用 Plan 模式，确认计划后再生成文件。</a:t>
            </a:r>
          </a:p>
        </p:txBody>
      </p:sp>
    </p:spTree>
    <p:extLst>
      <p:ext uri="{BB962C8B-B14F-4D97-AF65-F5344CB8AC3E}">
        <p14:creationId xmlns:p14="http://schemas.microsoft.com/office/powerpoint/2010/main" val="109173093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5606B-4643-47B5-913C-4D365FAE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8B2CB-32BF-4091-9154-D668C40C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CC5C9-57BE-4D65-A489-C904AF54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T03｜活动方案的独立风险审查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FEE99-06B5-4119-8171-DF623C07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639BB-CCE8-4EB0-96A9-E6DCC3BC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活动管理 · 审查任务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68801-E8F8-4544-AE43-780DC310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现场选做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67E1B-D320-42AB-A296-2CEF41AA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F92AC-7CF2-465C-A166-D33CD6CF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10—15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9814F-AE27-4A72-AEE1-A8CF080B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材料包中的 T03_模拟活动方案.txt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CA411-BC64-4411-8778-958D0AC4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6AD2B-E216-4FB5-BA4D-199C50B0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不继续润色，专门寻找遗漏、冲突、风险与不可执行之处。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EC756-994B-4E91-8EAD-A12C3CFB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EB18B-18B3-4033-B122-218EBD8B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91ECD-5106-42ED-AC57-89565955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风险清单：风险/证据/可能后果/建议措施/必须人工决定。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A5CA0-B299-4B1B-95B8-07CA4480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A7452-BB49-4717-BE6F-66FB2551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52652-50BC-4275-8C17-D675B93F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覆盖安全、未成年人信息、家校沟通、资源、时间和应急；风险有依据。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E9EBC-6069-4D57-A1B5-F1B3B2C8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49EDD-704B-4A2D-B0DA-B3C93565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读取 T03_模拟活动方案.txt。请作为独立审查者，不要替我润色方案。按安全、隐私、资源、时间、沟通、应急六类检查，并指出看似完整但仍缺信息之处。</a:t>
            </a:r>
          </a:p>
        </p:txBody>
      </p:sp>
    </p:spTree>
    <p:extLst>
      <p:ext uri="{BB962C8B-B14F-4D97-AF65-F5344CB8AC3E}">
        <p14:creationId xmlns:p14="http://schemas.microsoft.com/office/powerpoint/2010/main" val="9722791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B1291-C917-4BD5-A5F6-FF7FB943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C6464-D49F-4824-A526-97F1E973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1E6F3-181D-4BB7-9634-EAD5A83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T04｜匿名问卷分析与管理问题识别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EC96B-8F7D-47CA-A3F4-2B96EEC5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47E87-8ABD-43B2-BC95-0DEFEB0E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教师发展 · 数据分析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BE901-F47E-4169-B309-6D508E64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预检通过后选做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EE021-C22E-496F-9412-8FE22A8B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F8A79-D2CE-47A0-94BF-D8D65170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18—25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101AF-80B4-46C3-833C-3B03EF3F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材料包中的 T04_模拟匿名问卷.csv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E6100-2DB7-428E-9592-54523400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5E9D6-13FA-446E-B156-77BB53C7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先检查数据质量，再统计分布并说明数据不能回答什么。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F1AFF-7005-4926-81C8-4953BBD6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B20B8-9BC4-424E-8839-E0BD013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D04D4-2A0A-4F24-B465-EDCFA29A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最多 2 张图 + 三条发现 + 三个待讨论问题 + 局限说明。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15CF9-74C6-47A6-95F8-109B383B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C5903-9FE7-4B8F-8C4F-63B54A2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08127-D5EB-41C9-811E-0A410313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课前用同一环境预检；图表与数据一致；样本量可见；不把相关性写成因果。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B1F49-B6C7-4765-8091-7EBBF545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A5349-5EAD-4ADF-A445-C381BE8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读取 T04_模拟匿名问卷.csv。先检查字段、缺失值、样本量和类别值，再生成最多 2 张管理图表。每条发现写明依据，并单列数据局限。若无法生成图表，只输出数据质量检查和文字摘要。</a:t>
            </a:r>
          </a:p>
        </p:txBody>
      </p:sp>
    </p:spTree>
    <p:extLst>
      <p:ext uri="{BB962C8B-B14F-4D97-AF65-F5344CB8AC3E}">
        <p14:creationId xmlns:p14="http://schemas.microsoft.com/office/powerpoint/2010/main" val="9419251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888D1-FFD7-446A-BCCC-C8262C0B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859EE-DC50-4A75-BF94-FBA89FF0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AC658-74ED-4F77-9679-812DD935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T08｜家校回复草案与人工审批边界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F24A2-3F0A-4F2F-8500-5243EA5D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1B31F-F32D-4334-86A9-1286A969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家校沟通 · 分层表达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B1C29-1E7E-4BBA-B822-C54B31F4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部门作业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0C288-59B6-4162-A904-D76FC00E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EDFAF-7820-43E0-A753-324AA17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12—18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8A245-8E8B-43F2-B83A-B457F022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模拟常见问题；不得包含真实学生信息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6CE15-B99B-4E8D-AC64-9549F6A3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5A43E-D729-49EC-A3AF-C80D72E9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为不同家长关注点生成一致、克制且可人工审批的回复草案。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63439-9EDA-4416-957E-0A693BE9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B445F-F68F-4734-9D78-1AADC7BF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B5361-A2F5-43FC-849B-DFEFFE72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FAQ + 简短回复草案 + 风险词检查 + 必须人工确认项。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75751-1874-408A-83A9-2035FA00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300D6-456C-4A55-9345-A346244B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F5C05-252B-4AE5-96F2-6DD75631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首页标注草案、未经批准；不承诺未决定政策；争议、投诉与个案转人工。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5D5EE-C1D8-4605-A4A3-D43782E8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444D2-67B2-44C9-BF15-55B87735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基于学校已确认信息生成家校回复草案。文件首行写明“草案 - 未经审核不得发送”。不得补造政策或个案信息；把事实、建议与待确认事项分开；标出所有需要管理者审核的句子。</a:t>
            </a:r>
          </a:p>
        </p:txBody>
      </p:sp>
    </p:spTree>
    <p:extLst>
      <p:ext uri="{BB962C8B-B14F-4D97-AF65-F5344CB8AC3E}">
        <p14:creationId xmlns:p14="http://schemas.microsoft.com/office/powerpoint/2010/main" val="117764494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26C70-489A-403D-A0E0-69835311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2B6E6-497F-461B-8740-58968A3D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34384-852C-49F1-8CDD-6383B56D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T06｜多部门周报汇总为管理层简报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F5608-72F8-4C25-B65C-02FA0158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E2667-ECE5-4B60-AEA9-20BEFE49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项目推进 · 多文件综合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29E84-4223-4C4A-8CBB-27B84975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部门作业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B1C7D-14BE-44B4-941F-ED5B6F11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1D8F8-FEA4-493C-A4A1-3AD99AD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18—25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3321A-B1D3-40F4-B495-F8E5740C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3—5 份模拟周报；或部门脱敏副本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3F648-15ED-4546-BAC7-141A603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3CB37-5D41-4F3C-A326-085390EF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合并重复信息，找出跨部门依赖、延误与需要管理层决定的问题。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37599-50C9-4F78-A7AD-C4478BC5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A69BC-4C00-4602-8CA7-546474F1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FCA29-3F5F-4BE2-944A-2636176C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300 字摘要 + 红黄绿事项 + 三个待决策问题 + 依据索引。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549D3-CC5B-4897-B6C8-97B983B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9FC18-9F9C-405B-ABBF-CCDF0246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9099C-B15E-414D-B65A-70F12E8F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每项判断能回到来源文件；不掩盖冲突；缺报或口径不一致要指出。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88447-98DA-4CE8-A206-BD878914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83F79-25B4-4852-A394-B3BFE930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读取工作空间内全部周报。合并重复事项，但保留来源。输出进展、风险、跨部门依赖和待决策问题；遇到口径冲突时并列呈现，不自行裁决。</a:t>
            </a:r>
          </a:p>
        </p:txBody>
      </p:sp>
    </p:spTree>
    <p:extLst>
      <p:ext uri="{BB962C8B-B14F-4D97-AF65-F5344CB8AC3E}">
        <p14:creationId xmlns:p14="http://schemas.microsoft.com/office/powerpoint/2010/main" val="203354994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9E988F-9328-4D4D-9140-76DE4C53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16612-D729-4CBE-8163-C187EDA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756D9-29AB-4F4F-9860-8F505D61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T09｜教研材料的证据式复盘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719B9-EC03-45E7-8F7D-262CDD3B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A8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4F32E-2AA1-4CDE-B3C9-3818C0E6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教研改进 · 资料综合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3499A-CDFA-4971-86E4-0F830783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部门作业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BF252-E722-4FE6-8E80-AFC373F7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79F18-DFD0-4AD7-A097-22807B0F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20—30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97091-08CB-49A2-A197-600CC463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活动方案、观察记录、匿名反馈与成果样例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455CF-4907-4CDB-B8F2-7B46D9B7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DF323-9375-4F79-8B58-6E4F64EE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把“做了什么”改写为“依据什么判断、下一轮改什么”。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0DA0E-0C7A-4B93-B3BD-BC3F0663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057F9-9475-47AF-9C90-DCA4C30B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E33AF-B495-406A-A639-C41E7086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目标—活动—证据—判断—改进链条 + 证据缺口。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25441-4DB3-4D50-B59C-6BF174F3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81FCF-E43F-4FFF-A50D-54D8969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2B546-6E2A-480B-8D30-2FE6375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不把出席和满意度直接当成学习效果；判断对应材料；缺证据明确标注。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8B9C5-EC73-4584-A1AE-E13B3BBA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0B835-9313-49F6-AEB9-11603602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读取教研活动资料，按目标、实施、证据、判断、下一轮改进整理。每个判断注明来自哪份材料；无法判断的地方写成证据缺口，不要用空泛总结补齐。</a:t>
            </a:r>
          </a:p>
        </p:txBody>
      </p:sp>
    </p:spTree>
    <p:extLst>
      <p:ext uri="{BB962C8B-B14F-4D97-AF65-F5344CB8AC3E}">
        <p14:creationId xmlns:p14="http://schemas.microsoft.com/office/powerpoint/2010/main" val="43213934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C3194-3AF9-4E9C-9273-F24505B5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5B8FA-5161-4978-86AF-901CE7EC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022EC-851F-4B98-A95D-0ABD7D41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T02｜政策文件转为学校影响矩阵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A376D-CF2D-4B1D-9A3C-2C43C723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0EDD8-6705-43AD-B596-C72ACA78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政策研判 · 文件阅读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5F3B2-71CE-438F-8BA6-FBFE6E2B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部门作业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CD83F-227C-4F9F-8C9B-3D3ECFA7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41E27-5D00-4499-A6B1-26309352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15—20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A4150-966B-4C1D-A983-5B75E371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提前下载并核验的官方政策文件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DAD32-B96B-4A4D-9C56-753B473B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F7AA6-9916-47DB-9CCD-FAFD639A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区分政策原文、学校推断与管理建议。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8D810-0AD2-4C88-A1F5-DB016294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7023D-B4DE-46DB-8782-C57FFB6C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1162C-57C0-4A5F-8D4C-941A5A0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影响矩阵：要求/出处/涉及部门/影响/待核实/建议动作。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99743-A08C-4280-8493-1933419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75EF0-5B9A-4752-8955-6EF4846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74AFF-4B28-4D88-8C22-A16AA483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不依赖现场网页检索；每项要求标注出处；解释不确定处单列。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33C0C-9AAF-4D36-9AC0-D842A0F9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F42C0-3F82-432A-B7AE-C75A0AA3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只阅读工作空间中的官方政策文件，只提取与 K12 学校相关的条款。输出影响矩阵，并将每一项标记为原文要求、学校推断或行动建议。找不到依据时不要补写。</a:t>
            </a:r>
          </a:p>
        </p:txBody>
      </p:sp>
    </p:spTree>
    <p:extLst>
      <p:ext uri="{BB962C8B-B14F-4D97-AF65-F5344CB8AC3E}">
        <p14:creationId xmlns:p14="http://schemas.microsoft.com/office/powerpoint/2010/main" val="135570313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2EA55-9261-42A9-9A25-54555AF7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D4DCD-74F6-4EB5-AD01-80B60E7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E1D18-0788-4D48-8FAD-D950353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T10｜项目文件只读盘点与改动预览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035B6-A7A2-435B-ADAA-A438D8B7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A8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22C78-5EC5-4C44-8D62-5EC21D2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项目资料 · 文件整理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12AA2-BCDD-48A4-860A-AF758F04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部门作业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B074C-3C0A-4835-AEF9-16D77B43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7B7DD-41E5-41C1-A8D3-624264A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15—25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344DE-E673-4CCA-955B-AFC6F917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只使用副本组成的演练文件夹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188AC-2E8C-4466-AD46-8F4A9C2E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85FEF-6050-4589-B283-DC715147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只读盘点文件，提出分类、命名、重复项和缺件建议。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0E6F9-3E52-4033-A1BC-FFA3F279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F1B1F-C753-4305-91FD-BAB9D8BB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8FF31-378A-4507-BB33-A6B2F187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目录清单 + 重命名建议 + 重复项 + 缺件项 + 改动预览。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76F37-0EF4-4BB3-821F-AB8D6888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3E90D-39DA-4FB0-83F0-C5997F9E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85137-0D65-4342-A191-017693BA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本任务不执行任何移动、重命名、覆盖或删除；结果仅供人工审批。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9F553-F2E7-4991-948D-8467E567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FC099-9440-4E47-BAD1-99EA5AA1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只读盘点此工作空间，不得修改文件。给出建议目录、命名规则、重复项、缺件清单和逐项改动预览。不要移动、重命名、覆盖或删除任何文件。</a:t>
            </a:r>
          </a:p>
        </p:txBody>
      </p:sp>
    </p:spTree>
    <p:extLst>
      <p:ext uri="{BB962C8B-B14F-4D97-AF65-F5344CB8AC3E}">
        <p14:creationId xmlns:p14="http://schemas.microsoft.com/office/powerpoint/2010/main" val="170162875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8BF8B-00B6-4F0B-8C99-9E8F55A3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7B9E1-896D-4EFB-97E4-7414F003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071B5-000E-4131-ABAC-F3B3349C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T05｜学段汇总数据的诊断性分析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DC010-611C-4DC2-A9FF-86CE3D46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C2796-2F7B-4CE5-885B-ACA3F3E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高中与学段管理 · 数据诊断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EB189-285C-4A32-B5D7-064326AD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部门作业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E2A10-FA3B-436C-AFFF-2A1C2D26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368B6-1B53-4C31-BCCD-427D7CB1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20—30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1B431-1AD4-46EE-A05E-CF098B03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模拟年级汇总数据；禁止上传学生明细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E054E-AE73-4622-8332-99622C04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D6FB3-35F0-4854-A9E3-1EDFCFDF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找趋势、差异与异常，形成下一轮需要核查的管理问题。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AA825-CA0F-497D-BB81-CF84E2B6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679C9-0641-486A-A379-DCEA922B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D59E3-67BC-43CC-991F-3E053C5B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趋势摘要 + 异常点 + 可能解释 + 待验证问题，不输出学生评价。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E3F40-F19E-48B8-8087-395156F8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FFBC3-F44E-469A-818F-57F825F5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A9122-96F6-4484-963A-516F9A1A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只用汇总数据；解释与事实分开；没有证据时使用假设语言。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A9619-F33F-471F-9F28-DF37E19D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23B65-C3C1-4E7A-9433-C5CF1405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分析学段汇总数据，只做群体层面的趋势与差异描述。请区分事实、可能解释和待验证问题；不要识别、评价或推断任何单个学生。</a:t>
            </a:r>
          </a:p>
        </p:txBody>
      </p:sp>
    </p:spTree>
    <p:extLst>
      <p:ext uri="{BB962C8B-B14F-4D97-AF65-F5344CB8AC3E}">
        <p14:creationId xmlns:p14="http://schemas.microsoft.com/office/powerpoint/2010/main" val="25683006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A2E31-D50B-439C-A9C6-C0E26994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迁移到华一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BDACB-E01E-4570-861E-8CE3C782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8D3CF-540B-4C3C-B40B-D829A537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试点任务应同时满足五项条件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17BB7-4F60-4D52-92BC-F720C512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FB869-60F9-401C-962E-E7E66383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430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经常发生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82AFD-81AD-4CE3-A02A-E3AF6BDD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每周或每月重复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B9F7C-D795-427F-9EAB-3C520656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D4D1F-F0F4-4500-BC5B-5FD38A02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812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材料明确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098B9-29CE-41A6-9799-40531B14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有稳定输入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D8F5B-20FD-4A5A-8CEE-A801B9AD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C76BE-3EB9-4592-9C02-CE05AC55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194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可检查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A1E9D-C8DB-414C-8021-A24D92DE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194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有完成标准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706A6-F17B-44DF-A852-7E8F704F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268AF-842C-472B-854B-99A4F8C5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576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风险可控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13DC4-8576-4779-83A7-82076900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576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失败不会造成重大后果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21D72-84B9-4E61-94FB-C52AD0E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01E7F-4D52-4C9C-B51B-919E4CE8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958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有人负责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9A5B6-54CD-4A5E-A117-162A4A03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958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业务负责人确认结果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A0570-3AA7-4024-90A3-64DBF168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满足五项条件的任务，可优先进入华一首轮试点。</a:t>
            </a:r>
          </a:p>
        </p:txBody>
      </p:sp>
    </p:spTree>
    <p:extLst>
      <p:ext uri="{BB962C8B-B14F-4D97-AF65-F5344CB8AC3E}">
        <p14:creationId xmlns:p14="http://schemas.microsoft.com/office/powerpoint/2010/main" val="46541181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AE8DD7-201D-49F8-A4E1-D2D5DC05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任务作业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4AE49-BBBE-4792-99A0-A1360E9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DBDA9-825F-4EA7-8F22-7A373E0E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部门作业沿用现场任务记录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34DA3-B0D1-4932-9D01-94D69B8F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48559-DE8C-4449-9256-B4B7C6CC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选任务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B6B6F-1900-45FE-BCCF-22A597E6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低风险、高频、可检查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20847-6BDF-496F-A5FD-FE003529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66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8D286-39F3-49CF-A4C2-A23FDFFC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5262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974FD-A801-4BC8-A380-223DB928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记基线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550A9-6A4C-4E39-B9B9-99AAB1FD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原来需要多久、几次交接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1DD6E-B9EC-4877-84A7-2E583D43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66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F7AC7-7518-490F-ACFA-2FACC1AD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83D94-8617-49F9-BB95-DC4E633F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146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做两轮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986CF-7ED7-4AEA-9FE3-ED9E5424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第一次执行，第二次审查修正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158D9-A0E1-4EFB-8287-D560A16F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66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D2BB3-C94F-48BA-AA4F-9FCD1C89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5262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4BA55-9A7F-449C-BFFE-EBAC973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146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留证据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7C82B-1491-430D-85C3-E66D6A48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3855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保存任务、结果、问题与人工决定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8BFF6-156E-4809-AA51-12D101C8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1051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最低要求：部门完成 2 项——一项文档/审查任务 + 一项数据/交付/文件任务。</a:t>
            </a:r>
          </a:p>
        </p:txBody>
      </p:sp>
    </p:spTree>
    <p:extLst>
      <p:ext uri="{BB962C8B-B14F-4D97-AF65-F5344CB8AC3E}">
        <p14:creationId xmlns:p14="http://schemas.microsoft.com/office/powerpoint/2010/main" val="33802777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0488F-32FF-4BA9-9807-C410D3D8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任务作业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6B9A6-321A-468B-9337-B43E2404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A22DB-B6B5-49DB-9360-44126CD3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任务试点卡记录六项关键信息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7B954-E6DC-4BFB-B145-6A8E19FE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B69B0-8BA4-42AA-9A55-6769208A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我们选择了什么真实任务？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B5A4C-5AF9-4A17-8E97-5E527537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B74C2-89FE-4ADD-A830-B311F2F4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6210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原来的流程与时间基线是什么？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24FEE-0CB7-4D71-ACF7-EC717AEA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C104F-BF5B-45E0-92A9-C24B1BEC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我们给 AI 提供了哪些材料和边界？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77D0A-51FB-48E8-BD22-BC3D7D8E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337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1A577-B006-4503-83FC-2AB43317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 交付了什么，哪里没有完成？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10AC4-BC30-412F-981D-D3C3B5C0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E5D66-438D-467E-8D29-932C8BE5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人工做了哪些判断或接管？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5E515-88C6-425A-A9C4-924658B1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86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C7E74-BBE6-405A-81F1-B64B0D7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这项方法是否值得复用，下一轮改什么？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2B47D-5B1F-491E-AA2D-B5FDDA81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245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评价重点：任务真实性、证据完整性与下一轮改进。</a:t>
            </a:r>
          </a:p>
        </p:txBody>
      </p:sp>
    </p:spTree>
    <p:extLst>
      <p:ext uri="{BB962C8B-B14F-4D97-AF65-F5344CB8AC3E}">
        <p14:creationId xmlns:p14="http://schemas.microsoft.com/office/powerpoint/2010/main" val="61295701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2431E-B7E0-49BF-A3E3-0CDF1290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WorkBuddy 任务参考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4778C-6D57-434E-8A7B-AC5C8A6D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62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C48A8-3D96-4D57-BF8E-F3356DA6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附录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B861C-F1EF-4A7E-B74B-7419523F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000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开放式探索题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24B30-EA3F-4D99-BBC8-C14657A1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以下任务不作为现场能力承诺；先验证可行性，再决定是否进入学校试点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6B9A8-CBAC-4585-ABF5-66C205D9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32058521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E03F8-1B6A-4363-8C15-5896584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B532B-7703-4E0D-81DA-FBEAB799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1529B-DFB7-4567-A83C-38A66043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T07｜开放题：验证 PPT 生成的可用边界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F8D58-BEF2-408C-A32D-2BBF1106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A8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5B716-397B-4DAD-8098-92A7021F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沟通交付 · PPT 制作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A00F1-18FE-41AD-8256-8210F51D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附录开放题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9CB2D-4A94-481C-85E8-FA6F4C0D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BA7FC-CC02-4687-9EF4-65E98501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30—45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2FA1E-5C8B-456C-8CC5-E13A28C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一页结构化项目摘要；不含敏感信息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F4F00-6E13-442B-BBDB-E80D985C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6E541-F55D-4FDC-8F8B-284A3C7F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测试系统能否稳定生成可编辑、可打开、信息不失真的 5 页 PPT。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9320F-D9DB-48E0-86AE-B512BF45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1DD05-BC94-4AB7-809C-987B3C07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25CCF-D51B-4D43-BEC6-2EFDD97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5 页 PPT + 成功项/失败项记录 + 人工修订清单。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81F45-C6EF-4F74-8092-A178E3F4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BE38A-1F6C-421C-9C57-1DD9525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29AEB-AA82-4483-83E1-89281D28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能够打开；无明显溢出；数字和来源一致；讲者备注仅作为可选验证项。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AC442-E862-4788-8E21-1CF514EF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D7FA6-F5B1-4F74-BFD0-EB3CB264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根据摘要生成 5 页可编辑 PPT：背景、关键证据、核心问题、可选行动、需要决定。不要新增无来源数据；在页脚或最后一页列出来源。完成后另写一份生成结果检查记录。</a:t>
            </a:r>
          </a:p>
        </p:txBody>
      </p:sp>
    </p:spTree>
    <p:extLst>
      <p:ext uri="{BB962C8B-B14F-4D97-AF65-F5344CB8AC3E}">
        <p14:creationId xmlns:p14="http://schemas.microsoft.com/office/powerpoint/2010/main" val="136854488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8A78E-44D7-40E5-AF5D-F2EFF1E4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F5EDC-5E38-49DC-BC72-4090EBEB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8485-B881-4B10-A7BB-37B7001B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T11｜开放题：从稳定任务生成 Skill 草案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395C7-E23E-4AD2-AF6E-1EE75C80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A8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3A4C0-0122-4C48-BA06-37A3D48C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组织复用 ·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D167D-8E61-4C19-9E2E-AFAC5755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附录开放题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F6971-65BD-408A-81EC-2D3FF43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C8285-45BF-47C4-B71E-1FFD7B99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30—45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A19F4-1BAD-4AFC-ADA8-9EB798D8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至少两次成功任务记录与人工修订意见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EAD1F-8597-40B2-8786-B4CDE4D2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9F86B-8EDA-4594-BBA2-26E32DA8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抽取稳定的输入、步骤、输出、检查和停止条件，但不直接发布。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ED3F7-A6DB-41BA-B3DA-4360A77F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AD8D2-9EED-4FF5-A79F-6D6EF1EC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9AA42-A47F-468F-B4B9-2A20C10F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Skill 草案 + 示例输入输出 + 失败边界 + 责任人。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750DE-B27D-4340-BC45-28D9A013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42712-78F5-4FD0-A976-B1DC9B55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D8580-507D-4A10-B6FD-00E9D64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用第二份材料复测；关键判断不越权；版本与修改记录可追溯。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BECCD-150F-4FA2-A979-E9A367C6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C9411-12B2-4122-BD53-18C32339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根据两次任务记录，提炼适用范围、所需材料、执行步骤、交付格式、检查标准、停止条件和人工确认点。只生成 Skill 草案，不安装、不发布。</a:t>
            </a:r>
          </a:p>
        </p:txBody>
      </p:sp>
    </p:spTree>
    <p:extLst>
      <p:ext uri="{BB962C8B-B14F-4D97-AF65-F5344CB8AC3E}">
        <p14:creationId xmlns:p14="http://schemas.microsoft.com/office/powerpoint/2010/main" val="108372217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C8044-1F3E-4B49-9C12-F3525FB0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99AEE-DC67-441B-9B8E-BCE62C19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9BC20-494B-4E13-9CCD-2D5F6E20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T12｜开放题：设计自动化试点但暂不启用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AE249-2D7F-46B6-B1AC-FEF0075C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628900" cy="4476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A8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04033-BAFF-4183-8482-F8BBEFA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AFF"/>
                </a:solidFill>
                <a:latin typeface="PingFang SC"/>
                <a:ea typeface="PingFang SC"/>
                <a:cs typeface="PingFang SC"/>
              </a:rPr>
              <a:t>运行机制 · 自动化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23CC4-80B9-4821-B1B0-6B80D307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附录开放题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77AEA-8953-40F4-BB0D-87A20DB7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AAA24-834F-4A75-9FAD-397BE8F3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建议用时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两周人工验证后再评估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D80F9-E611-4EC7-85A5-3C326A55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F1FF"/>
                </a:solidFill>
                <a:latin typeface="PingFang SC"/>
                <a:ea typeface="PingFang SC"/>
                <a:cs typeface="PingFang SC"/>
              </a:rPr>
              <a:t>已人工跑通的固定任务、工作目录与负责人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718E3-4846-4CB3-8DD7-81E179F4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CD0AB-64EE-4027-B0F5-63217E7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形成自动化配置方案，识别运行身份、日志、费用和失败处理要求。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86AEF-BC2E-481A-BB4D-3D0F9661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EAB69-AB82-4819-9BCB-1F25D61F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251BE-1386-488E-B6CC-CFA52820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配置草案 + 手动试运行记录 + 风险清单 + 人工暂停规则。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F435F-39CA-4C66-99A2-236713CE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98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30922-EB03-4162-8EAD-304A4F41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FE053-EB91-475C-B487-050986ED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本练习不创建定时任务；负责人根据日志和异常手动决定是否暂停。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6D447-1AB8-44B2-8A7A-615CCDA2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可直接使用的任务指令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0F27F-AEF3-4987-A68E-8BBF62FF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9819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为已验证任务设计低频自动化试点方案：说明工作目录、触发时间、输入、输出、运行身份、日志、费用、失败处理和人工确认点。只输出方案，不创建或启用自动化。</a:t>
            </a:r>
          </a:p>
        </p:txBody>
      </p:sp>
    </p:spTree>
    <p:extLst>
      <p:ext uri="{BB962C8B-B14F-4D97-AF65-F5344CB8AC3E}">
        <p14:creationId xmlns:p14="http://schemas.microsoft.com/office/powerpoint/2010/main" val="87262036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D2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B66C5-20B8-4F04-822A-AB5463C7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BFD7F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BFD7FA"/>
                </a:solidFill>
                <a:latin typeface="PingFang SC"/>
                <a:ea typeface="PingFang SC"/>
                <a:cs typeface="PingFang SC"/>
              </a:rPr>
              <a:t>培训结束后的行动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620A3-BC06-422E-9532-E67D1475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选择一项真实任务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完成执行、检查与复盘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A09FB-A414-4C22-B3D1-67676306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05187-C2D4-476B-B4B8-95815E13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人员承担目标、判断与责任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AI 系统参与执行、检查与记录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3EBB6-A20D-4930-B6DC-39FDCD7A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342216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2026-08-25T16:12:40.8530000Z</dcterms:created>
  <dcterms:modified xsi:type="dcterms:W3CDTF">2026-08-25T16:12:40.8540000Z</dcterms:modified>
</coreProperties>
</file>